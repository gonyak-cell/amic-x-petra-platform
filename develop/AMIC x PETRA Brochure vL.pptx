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410" r:id="rId5"/>
    <p:sldId id="429" r:id="rId6"/>
    <p:sldId id="427" r:id="rId7"/>
    <p:sldId id="426" r:id="rId8"/>
    <p:sldId id="428" r:id="rId9"/>
    <p:sldId id="434" r:id="rId10"/>
    <p:sldId id="436" r:id="rId11"/>
    <p:sldId id="437" r:id="rId12"/>
    <p:sldId id="438" r:id="rId13"/>
    <p:sldId id="439" r:id="rId14"/>
    <p:sldId id="409" r:id="rId15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5" orient="horz" pos="1139" userDrawn="1">
          <p15:clr>
            <a:srgbClr val="A4A3A4"/>
          </p15:clr>
        </p15:guide>
        <p15:guide id="16" pos="5955" userDrawn="1">
          <p15:clr>
            <a:srgbClr val="A4A3A4"/>
          </p15:clr>
        </p15:guide>
        <p15:guide id="17" orient="horz" pos="1480" userDrawn="1">
          <p15:clr>
            <a:srgbClr val="A4A3A4"/>
          </p15:clr>
        </p15:guide>
        <p15:guide id="18" orient="horz" pos="37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A32"/>
    <a:srgbClr val="26C260"/>
    <a:srgbClr val="E6FDD6"/>
    <a:srgbClr val="FFECEC"/>
    <a:srgbClr val="1C8F57"/>
    <a:srgbClr val="A3E96B"/>
    <a:srgbClr val="6A6A6A"/>
    <a:srgbClr val="F2FEEA"/>
    <a:srgbClr val="F7FEF3"/>
    <a:srgbClr val="2A2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998" y="342"/>
      </p:cViewPr>
      <p:guideLst>
        <p:guide orient="horz" pos="1139"/>
        <p:guide pos="5955"/>
        <p:guide orient="horz" pos="1480"/>
        <p:guide orient="horz" pos="3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won Suh" userId="aeb85e57-4f54-41f6-ba19-ae626f394ff4" providerId="ADAL" clId="{ADBECA36-8387-4DC4-85F1-80BF37091DE5}"/>
    <pc:docChg chg="modSld">
      <pc:chgData name="Jiwon Suh" userId="aeb85e57-4f54-41f6-ba19-ae626f394ff4" providerId="ADAL" clId="{ADBECA36-8387-4DC4-85F1-80BF37091DE5}" dt="2026-02-11T07:47:37.921" v="5" actId="962"/>
      <pc:docMkLst>
        <pc:docMk/>
      </pc:docMkLst>
      <pc:sldChg chg="addSp modSp mod">
        <pc:chgData name="Jiwon Suh" userId="aeb85e57-4f54-41f6-ba19-ae626f394ff4" providerId="ADAL" clId="{ADBECA36-8387-4DC4-85F1-80BF37091DE5}" dt="2026-02-11T07:47:37.921" v="5" actId="962"/>
        <pc:sldMkLst>
          <pc:docMk/>
          <pc:sldMk cId="1826357928" sldId="410"/>
        </pc:sldMkLst>
        <pc:picChg chg="add mod">
          <ac:chgData name="Jiwon Suh" userId="aeb85e57-4f54-41f6-ba19-ae626f394ff4" providerId="ADAL" clId="{ADBECA36-8387-4DC4-85F1-80BF37091DE5}" dt="2026-02-11T07:47:16.581" v="2" actId="962"/>
          <ac:picMkLst>
            <pc:docMk/>
            <pc:sldMk cId="1826357928" sldId="410"/>
            <ac:picMk id="3" creationId="{E65980E0-515D-B1FA-FB16-B5E6D162B778}"/>
          </ac:picMkLst>
        </pc:picChg>
        <pc:picChg chg="add mod">
          <ac:chgData name="Jiwon Suh" userId="aeb85e57-4f54-41f6-ba19-ae626f394ff4" providerId="ADAL" clId="{ADBECA36-8387-4DC4-85F1-80BF37091DE5}" dt="2026-02-11T07:47:37.921" v="5" actId="962"/>
          <ac:picMkLst>
            <pc:docMk/>
            <pc:sldMk cId="1826357928" sldId="410"/>
            <ac:picMk id="7" creationId="{23B46373-37CA-AA7B-8D85-B651E61B5B1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12D9F9-0D73-FA9C-9567-0D2EDC03F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C3307-0AD4-BB88-7BEB-A583A8AF2E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B6DD3-10D0-4E94-9B57-485DC69B4E9D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F0FCC-8CED-378C-8460-87FCC68F3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0BFFF3-C18E-475B-3D21-266D273E3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FF77-EDF0-439C-A29E-838A93E02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7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암초, 어둠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290648-4A35-8FE1-E072-FF4D31F96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G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26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orient="horz" pos="3748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AM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none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/>
              <a:t>Page Title</a:t>
            </a:r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90715" y="6020725"/>
            <a:ext cx="7030286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/>
              <a:t>Footnote Box</a:t>
            </a:r>
            <a:endParaRPr lang="ko-KR" altLang="en-US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7A9B606A-C71E-99A3-542A-CAF7661C1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92725"/>
            <a:ext cx="1285714" cy="144000"/>
          </a:xfrm>
          <a:prstGeom prst="rect">
            <a:avLst/>
          </a:prstGeom>
        </p:spPr>
      </p:pic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AA21F61-8E1B-B989-9499-31671AB77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000" y="981075"/>
            <a:ext cx="9000000" cy="45826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US" altLang="ko-KR"/>
              <a:t>Headline Message</a:t>
            </a:r>
          </a:p>
          <a:p>
            <a:pPr lvl="0"/>
            <a:r>
              <a:rPr lang="en-US" altLang="ko-KR"/>
              <a:t>Max 2 Lines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7132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PE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none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/>
              <a:t>Page Title</a:t>
            </a:r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8749" y="6020725"/>
            <a:ext cx="7472251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/>
              <a:t>Footnote Box</a:t>
            </a:r>
            <a:endParaRPr lang="ko-KR" altLang="en-US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AA21F61-8E1B-B989-9499-31671AB77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000" y="981075"/>
            <a:ext cx="9000000" cy="45826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US" altLang="ko-KR"/>
              <a:t>Headline Message</a:t>
            </a:r>
          </a:p>
          <a:p>
            <a:pPr lvl="0"/>
            <a:r>
              <a:rPr lang="en-US" altLang="ko-KR"/>
              <a:t>Max 2 Lines</a:t>
            </a:r>
            <a:endParaRPr lang="ko-KR" altLang="en-US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83310654-AB4A-87AF-4558-7F68C2083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56725"/>
            <a:ext cx="84375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810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BO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none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/>
              <a:t>Page Title</a:t>
            </a:r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9595" y="6020725"/>
            <a:ext cx="6681405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/>
              <a:t>Footnote Box</a:t>
            </a:r>
            <a:endParaRPr lang="ko-KR" altLang="en-US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3A9C38C0-A080-4289-C06C-6D6DD65AA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56725"/>
            <a:ext cx="1634595" cy="216000"/>
          </a:xfrm>
          <a:prstGeom prst="rect">
            <a:avLst/>
          </a:prstGeom>
        </p:spPr>
      </p:pic>
      <p:sp>
        <p:nvSpPr>
          <p:cNvPr id="8" name="텍스트 개체 틀 5">
            <a:extLst>
              <a:ext uri="{FF2B5EF4-FFF2-40B4-BE49-F238E27FC236}">
                <a16:creationId xmlns:a16="http://schemas.microsoft.com/office/drawing/2014/main" id="{37D89E8B-A619-7CDF-CF6D-5B643099E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000" y="981075"/>
            <a:ext cx="9000000" cy="45826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00" b="1"/>
            </a:lvl1pPr>
          </a:lstStyle>
          <a:p>
            <a:pPr lvl="0"/>
            <a:r>
              <a:rPr lang="en-US" altLang="ko-KR"/>
              <a:t>Headline Message</a:t>
            </a:r>
          </a:p>
          <a:p>
            <a:pPr lvl="0"/>
            <a:r>
              <a:rPr lang="en-US" altLang="ko-KR"/>
              <a:t>Max 2 Lines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2C7A55-5541-E072-FACF-5B951038D15E}"/>
              </a:ext>
            </a:extLst>
          </p:cNvPr>
          <p:cNvGrpSpPr/>
          <p:nvPr userDrawn="1"/>
        </p:nvGrpSpPr>
        <p:grpSpPr>
          <a:xfrm>
            <a:off x="-1332000" y="0"/>
            <a:ext cx="1260000" cy="5147998"/>
            <a:chOff x="-1332000" y="251999"/>
            <a:chExt cx="1260000" cy="514799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9B4B0E-E4CB-BEB4-725A-783E0C8E451B}"/>
                </a:ext>
              </a:extLst>
            </p:cNvPr>
            <p:cNvGrpSpPr/>
            <p:nvPr userDrawn="1"/>
          </p:nvGrpSpPr>
          <p:grpSpPr>
            <a:xfrm>
              <a:off x="-1332000" y="251999"/>
              <a:ext cx="1260000" cy="1440000"/>
              <a:chOff x="-1332000" y="251999"/>
              <a:chExt cx="1260000" cy="144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FBDDD21-17AA-9039-4C59-66C46717204B}"/>
                  </a:ext>
                </a:extLst>
              </p:cNvPr>
              <p:cNvSpPr/>
              <p:nvPr userDrawn="1"/>
            </p:nvSpPr>
            <p:spPr>
              <a:xfrm>
                <a:off x="-1332000" y="251999"/>
                <a:ext cx="1260000" cy="576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>
                    <a:solidFill>
                      <a:schemeClr val="bg1"/>
                    </a:solidFill>
                  </a:rPr>
                  <a:t>Signature Green</a:t>
                </a:r>
              </a:p>
              <a:p>
                <a:pPr algn="l"/>
                <a:r>
                  <a:rPr lang="en-US" altLang="ko-KR" sz="800" b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AA68D9-0007-1137-8E9E-65F8F249E8B3}"/>
                  </a:ext>
                </a:extLst>
              </p:cNvPr>
              <p:cNvSpPr/>
              <p:nvPr userDrawn="1"/>
            </p:nvSpPr>
            <p:spPr>
              <a:xfrm>
                <a:off x="-1332000" y="1115999"/>
                <a:ext cx="1260000" cy="576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>
                    <a:solidFill>
                      <a:schemeClr val="bg1"/>
                    </a:solidFill>
                  </a:rPr>
                  <a:t>Highlight Green</a:t>
                </a:r>
              </a:p>
              <a:p>
                <a:pPr algn="l"/>
                <a:r>
                  <a:rPr lang="en-US" altLang="ko-KR" sz="80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47E68C-019C-8A2F-492D-27B9D3AF84EE}"/>
                  </a:ext>
                </a:extLst>
              </p:cNvPr>
              <p:cNvSpPr/>
              <p:nvPr userDrawn="1"/>
            </p:nvSpPr>
            <p:spPr>
              <a:xfrm>
                <a:off x="-1332000" y="827999"/>
                <a:ext cx="252000" cy="288000"/>
              </a:xfrm>
              <a:prstGeom prst="rect">
                <a:avLst/>
              </a:prstGeom>
              <a:solidFill>
                <a:srgbClr val="E6FD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0D7CC4-4A15-5FED-68A7-1993F1727F1B}"/>
                  </a:ext>
                </a:extLst>
              </p:cNvPr>
              <p:cNvSpPr/>
              <p:nvPr userDrawn="1"/>
            </p:nvSpPr>
            <p:spPr>
              <a:xfrm>
                <a:off x="-828000" y="827999"/>
                <a:ext cx="252000" cy="288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1388674-7E06-90B3-8CC9-C5FBE25B5A8D}"/>
                  </a:ext>
                </a:extLst>
              </p:cNvPr>
              <p:cNvSpPr/>
              <p:nvPr userDrawn="1"/>
            </p:nvSpPr>
            <p:spPr>
              <a:xfrm>
                <a:off x="-576000" y="827999"/>
                <a:ext cx="252000" cy="288000"/>
              </a:xfrm>
              <a:prstGeom prst="rect">
                <a:avLst/>
              </a:prstGeom>
              <a:solidFill>
                <a:srgbClr val="1C8F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E15722A-1E25-70E9-8E06-B675AE8E502C}"/>
                  </a:ext>
                </a:extLst>
              </p:cNvPr>
              <p:cNvSpPr/>
              <p:nvPr userDrawn="1"/>
            </p:nvSpPr>
            <p:spPr>
              <a:xfrm>
                <a:off x="-324000" y="827999"/>
                <a:ext cx="252000" cy="288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A4CDF29-3C6C-C492-9A89-838C3E6FCC2A}"/>
                  </a:ext>
                </a:extLst>
              </p:cNvPr>
              <p:cNvSpPr/>
              <p:nvPr userDrawn="1"/>
            </p:nvSpPr>
            <p:spPr>
              <a:xfrm>
                <a:off x="-1080000" y="827999"/>
                <a:ext cx="252000" cy="288000"/>
              </a:xfrm>
              <a:prstGeom prst="rect">
                <a:avLst/>
              </a:prstGeom>
              <a:solidFill>
                <a:srgbClr val="A3E9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D6BC0DD-AA10-0C54-2348-EEC86A9525F4}"/>
                </a:ext>
              </a:extLst>
            </p:cNvPr>
            <p:cNvGrpSpPr/>
            <p:nvPr userDrawn="1"/>
          </p:nvGrpSpPr>
          <p:grpSpPr>
            <a:xfrm>
              <a:off x="-1332000" y="1871998"/>
              <a:ext cx="1260000" cy="1440000"/>
              <a:chOff x="-1332000" y="1799999"/>
              <a:chExt cx="1260000" cy="144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EBFBD1D-995E-1E73-010F-50D3B0E83929}"/>
                  </a:ext>
                </a:extLst>
              </p:cNvPr>
              <p:cNvSpPr/>
              <p:nvPr userDrawn="1"/>
            </p:nvSpPr>
            <p:spPr>
              <a:xfrm>
                <a:off x="-1332000" y="1799999"/>
                <a:ext cx="1260000" cy="576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>
                    <a:solidFill>
                      <a:schemeClr val="bg1"/>
                    </a:solidFill>
                  </a:rPr>
                  <a:t>Dark Gray</a:t>
                </a:r>
              </a:p>
              <a:p>
                <a:pPr algn="l"/>
                <a:r>
                  <a:rPr lang="en-US" altLang="ko-KR" sz="800" b="0">
                    <a:solidFill>
                      <a:schemeClr val="bg1"/>
                    </a:solidFill>
                  </a:rPr>
                  <a:t>Text Color</a:t>
                </a:r>
                <a:endParaRPr lang="ko-KR" altLang="en-US" sz="80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40A180-6C32-2570-A740-930E8D9B706B}"/>
                  </a:ext>
                </a:extLst>
              </p:cNvPr>
              <p:cNvSpPr/>
              <p:nvPr userDrawn="1"/>
            </p:nvSpPr>
            <p:spPr>
              <a:xfrm>
                <a:off x="-1332000" y="2663999"/>
                <a:ext cx="1260000" cy="576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>
                    <a:solidFill>
                      <a:schemeClr val="bg1"/>
                    </a:solidFill>
                  </a:rPr>
                  <a:t>Mid Gray</a:t>
                </a:r>
              </a:p>
              <a:p>
                <a:pPr algn="l"/>
                <a:r>
                  <a:rPr lang="en-US" altLang="ko-KR" sz="800">
                    <a:solidFill>
                      <a:schemeClr val="bg1"/>
                    </a:solidFill>
                  </a:rPr>
                  <a:t>Line Color</a:t>
                </a:r>
                <a:endParaRPr lang="ko-KR" altLang="en-US" sz="80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409EDCF-481E-435E-718F-1CC9D7D51B2F}"/>
                  </a:ext>
                </a:extLst>
              </p:cNvPr>
              <p:cNvSpPr/>
              <p:nvPr userDrawn="1"/>
            </p:nvSpPr>
            <p:spPr>
              <a:xfrm>
                <a:off x="-1332000" y="2375999"/>
                <a:ext cx="252000" cy="288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B6F4259-DC9C-A7E1-E051-7D220EC304A7}"/>
                  </a:ext>
                </a:extLst>
              </p:cNvPr>
              <p:cNvSpPr/>
              <p:nvPr userDrawn="1"/>
            </p:nvSpPr>
            <p:spPr>
              <a:xfrm>
                <a:off x="-828000" y="2375999"/>
                <a:ext cx="252000" cy="288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3781F1C-B0CE-957D-45AE-27111159DD3D}"/>
                  </a:ext>
                </a:extLst>
              </p:cNvPr>
              <p:cNvSpPr/>
              <p:nvPr userDrawn="1"/>
            </p:nvSpPr>
            <p:spPr>
              <a:xfrm>
                <a:off x="-576000" y="2375999"/>
                <a:ext cx="252000" cy="288000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8F6B58C-2C33-8060-3265-CAEA9C07CF35}"/>
                  </a:ext>
                </a:extLst>
              </p:cNvPr>
              <p:cNvSpPr/>
              <p:nvPr userDrawn="1"/>
            </p:nvSpPr>
            <p:spPr>
              <a:xfrm>
                <a:off x="-324000" y="2375999"/>
                <a:ext cx="252000" cy="288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5F1958F-E80E-E3AB-0F20-4F04A89ED80C}"/>
                  </a:ext>
                </a:extLst>
              </p:cNvPr>
              <p:cNvSpPr/>
              <p:nvPr userDrawn="1"/>
            </p:nvSpPr>
            <p:spPr>
              <a:xfrm>
                <a:off x="-1080000" y="2375999"/>
                <a:ext cx="252000" cy="28800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F573A2-D377-75AA-94BE-1431A1250DA9}"/>
                </a:ext>
              </a:extLst>
            </p:cNvPr>
            <p:cNvGrpSpPr/>
            <p:nvPr userDrawn="1"/>
          </p:nvGrpSpPr>
          <p:grpSpPr>
            <a:xfrm>
              <a:off x="-1332000" y="3491998"/>
              <a:ext cx="1260000" cy="864000"/>
              <a:chOff x="-1332000" y="3491998"/>
              <a:chExt cx="1260000" cy="864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33F5513E-EA52-4A9E-918D-65D6DA5AC603}"/>
                  </a:ext>
                </a:extLst>
              </p:cNvPr>
              <p:cNvSpPr/>
              <p:nvPr userDrawn="1"/>
            </p:nvSpPr>
            <p:spPr>
              <a:xfrm>
                <a:off x="-1332000" y="3491998"/>
                <a:ext cx="1260000" cy="576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>
                    <a:solidFill>
                      <a:schemeClr val="bg1"/>
                    </a:solidFill>
                  </a:rPr>
                  <a:t>Highlight Red</a:t>
                </a:r>
              </a:p>
              <a:p>
                <a:pPr algn="l"/>
                <a:r>
                  <a:rPr lang="en-US" altLang="ko-KR" sz="800" b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FE9F0A4-6AFC-6162-CD7E-F91270632D24}"/>
                  </a:ext>
                </a:extLst>
              </p:cNvPr>
              <p:cNvSpPr/>
              <p:nvPr userDrawn="1"/>
            </p:nvSpPr>
            <p:spPr>
              <a:xfrm>
                <a:off x="-1332000" y="4067998"/>
                <a:ext cx="252000" cy="288000"/>
              </a:xfrm>
              <a:prstGeom prst="rect">
                <a:avLst/>
              </a:prstGeom>
              <a:solidFill>
                <a:srgbClr val="FFEC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D16E1DD-6F4F-B14D-0CC9-A41731A6DAFD}"/>
                  </a:ext>
                </a:extLst>
              </p:cNvPr>
              <p:cNvSpPr/>
              <p:nvPr userDrawn="1"/>
            </p:nvSpPr>
            <p:spPr>
              <a:xfrm>
                <a:off x="-828000" y="4067998"/>
                <a:ext cx="252000" cy="288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6F6BF42-34B7-D0AE-EAF4-6AB933B7626F}"/>
                  </a:ext>
                </a:extLst>
              </p:cNvPr>
              <p:cNvSpPr/>
              <p:nvPr userDrawn="1"/>
            </p:nvSpPr>
            <p:spPr>
              <a:xfrm>
                <a:off x="-576000" y="4067998"/>
                <a:ext cx="252000" cy="288000"/>
              </a:xfrm>
              <a:prstGeom prst="rect">
                <a:avLst/>
              </a:prstGeom>
              <a:solidFill>
                <a:srgbClr val="CC1E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ED8F846-327B-E64A-6409-91C0320EFC7F}"/>
                  </a:ext>
                </a:extLst>
              </p:cNvPr>
              <p:cNvSpPr/>
              <p:nvPr userDrawn="1"/>
            </p:nvSpPr>
            <p:spPr>
              <a:xfrm>
                <a:off x="-324000" y="4067998"/>
                <a:ext cx="252000" cy="288000"/>
              </a:xfrm>
              <a:prstGeom prst="rect">
                <a:avLst/>
              </a:prstGeom>
              <a:solidFill>
                <a:srgbClr val="7A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24FD4E0-95A7-9B35-3797-F2C2D9AF4CB6}"/>
                  </a:ext>
                </a:extLst>
              </p:cNvPr>
              <p:cNvSpPr/>
              <p:nvPr userDrawn="1"/>
            </p:nvSpPr>
            <p:spPr>
              <a:xfrm>
                <a:off x="-1080000" y="4067998"/>
                <a:ext cx="252000" cy="288000"/>
              </a:xfrm>
              <a:prstGeom prst="rect">
                <a:avLst/>
              </a:prstGeom>
              <a:solidFill>
                <a:srgbClr val="FF9A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5F24E7A-A3A7-8789-C4C3-1072BFA9257E}"/>
                </a:ext>
              </a:extLst>
            </p:cNvPr>
            <p:cNvGrpSpPr/>
            <p:nvPr userDrawn="1"/>
          </p:nvGrpSpPr>
          <p:grpSpPr>
            <a:xfrm>
              <a:off x="-1332000" y="4535997"/>
              <a:ext cx="1260000" cy="864000"/>
              <a:chOff x="-1332000" y="4535997"/>
              <a:chExt cx="1260000" cy="864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2C58AB-90B4-524A-B1DC-F11DD04CC494}"/>
                  </a:ext>
                </a:extLst>
              </p:cNvPr>
              <p:cNvSpPr/>
              <p:nvPr userDrawn="1"/>
            </p:nvSpPr>
            <p:spPr>
              <a:xfrm>
                <a:off x="-1332000" y="4535997"/>
                <a:ext cx="1260000" cy="576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>
                    <a:solidFill>
                      <a:schemeClr val="bg1"/>
                    </a:solidFill>
                  </a:rPr>
                  <a:t>Highlight Blue</a:t>
                </a:r>
              </a:p>
              <a:p>
                <a:pPr algn="l"/>
                <a:r>
                  <a:rPr lang="en-US" altLang="ko-KR" sz="80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9D6648-E04D-845B-4453-383C1FB3568D}"/>
                  </a:ext>
                </a:extLst>
              </p:cNvPr>
              <p:cNvSpPr/>
              <p:nvPr userDrawn="1"/>
            </p:nvSpPr>
            <p:spPr>
              <a:xfrm>
                <a:off x="-1332000" y="5111997"/>
                <a:ext cx="252000" cy="288000"/>
              </a:xfrm>
              <a:prstGeom prst="rect">
                <a:avLst/>
              </a:prstGeom>
              <a:solidFill>
                <a:srgbClr val="E3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ED123F4-424D-20D0-1DEB-41A5B1D56E22}"/>
                  </a:ext>
                </a:extLst>
              </p:cNvPr>
              <p:cNvSpPr/>
              <p:nvPr userDrawn="1"/>
            </p:nvSpPr>
            <p:spPr>
              <a:xfrm>
                <a:off x="-828000" y="5111997"/>
                <a:ext cx="252000" cy="288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583118E-ED62-931B-5F6B-35471B66C178}"/>
                  </a:ext>
                </a:extLst>
              </p:cNvPr>
              <p:cNvSpPr/>
              <p:nvPr userDrawn="1"/>
            </p:nvSpPr>
            <p:spPr>
              <a:xfrm>
                <a:off x="-576000" y="5111997"/>
                <a:ext cx="252000" cy="288000"/>
              </a:xfrm>
              <a:prstGeom prst="rect">
                <a:avLst/>
              </a:prstGeom>
              <a:solidFill>
                <a:srgbClr val="166A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1FFE7F6-E2AD-5437-E63B-51D62A7FB2B5}"/>
                  </a:ext>
                </a:extLst>
              </p:cNvPr>
              <p:cNvSpPr/>
              <p:nvPr userDrawn="1"/>
            </p:nvSpPr>
            <p:spPr>
              <a:xfrm>
                <a:off x="-324000" y="5111997"/>
                <a:ext cx="252000" cy="288000"/>
              </a:xfrm>
              <a:prstGeom prst="rect">
                <a:avLst/>
              </a:prstGeom>
              <a:solidFill>
                <a:srgbClr val="0831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B515338-9C5D-CEAA-95E3-1C1186B69108}"/>
                  </a:ext>
                </a:extLst>
              </p:cNvPr>
              <p:cNvSpPr/>
              <p:nvPr userDrawn="1"/>
            </p:nvSpPr>
            <p:spPr>
              <a:xfrm>
                <a:off x="-1080000" y="5111997"/>
                <a:ext cx="252000" cy="288000"/>
              </a:xfrm>
              <a:prstGeom prst="rect">
                <a:avLst/>
              </a:prstGeom>
              <a:solidFill>
                <a:srgbClr val="8AC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9" r:id="rId3"/>
    <p:sldLayoutId id="2147483672" r:id="rId4"/>
    <p:sldLayoutId id="2147483673" r:id="rId5"/>
    <p:sldLayoutId id="2147483668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644BA11C-7443-82B4-9172-171B49050B09}"/>
              </a:ext>
            </a:extLst>
          </p:cNvPr>
          <p:cNvGrpSpPr/>
          <p:nvPr/>
        </p:nvGrpSpPr>
        <p:grpSpPr>
          <a:xfrm>
            <a:off x="2253000" y="2647591"/>
            <a:ext cx="5400000" cy="1562819"/>
            <a:chOff x="2253000" y="2647591"/>
            <a:chExt cx="5400000" cy="1562819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B0EFDBFC-3463-3F01-B0D7-7D648F0E2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53000" y="2647591"/>
              <a:ext cx="5400000" cy="94839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835DAF-ACF7-5E9D-0ECA-0C93E38FAA32}"/>
                </a:ext>
              </a:extLst>
            </p:cNvPr>
            <p:cNvSpPr txBox="1"/>
            <p:nvPr/>
          </p:nvSpPr>
          <p:spPr>
            <a:xfrm>
              <a:off x="2693573" y="3955981"/>
              <a:ext cx="4518866" cy="2544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600" b="1" cap="all">
                  <a:solidFill>
                    <a:schemeClr val="bg1"/>
                  </a:solidFill>
                  <a:latin typeface="SUITE ExtraBold" pitchFamily="50" charset="-127"/>
                  <a:ea typeface="SUITE ExtraBold" pitchFamily="50" charset="-127"/>
                </a:rPr>
                <a:t>Joint Advisory Service Introduction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70E263-A0EE-7DF0-CD49-B40627D05476}"/>
              </a:ext>
            </a:extLst>
          </p:cNvPr>
          <p:cNvSpPr txBox="1"/>
          <p:nvPr/>
        </p:nvSpPr>
        <p:spPr>
          <a:xfrm>
            <a:off x="4352675" y="5759129"/>
            <a:ext cx="1200650" cy="1908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b="1" cap="all">
                <a:solidFill>
                  <a:schemeClr val="bg1"/>
                </a:solidFill>
                <a:latin typeface="SUITE" pitchFamily="50" charset="-127"/>
                <a:ea typeface="SUITE" pitchFamily="50" charset="-127"/>
              </a:rPr>
              <a:t>January 2026</a:t>
            </a:r>
            <a:endParaRPr lang="ko-KR" altLang="en-US" sz="1200" b="1" cap="all" err="1">
              <a:solidFill>
                <a:schemeClr val="bg1"/>
              </a:solidFill>
              <a:latin typeface="SUITE" pitchFamily="50" charset="-127"/>
              <a:ea typeface="SUITE" pitchFamily="50" charset="-127"/>
            </a:endParaRPr>
          </a:p>
        </p:txBody>
      </p:sp>
      <p:pic>
        <p:nvPicPr>
          <p:cNvPr id="3" name="그림 2" descr="텍스트, 폰트, 숲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5980E0-515D-B1FA-FB16-B5E6D162B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4082"/>
            <a:ext cx="9906000" cy="3889835"/>
          </a:xfrm>
          <a:prstGeom prst="rect">
            <a:avLst/>
          </a:prstGeom>
        </p:spPr>
      </p:pic>
      <p:pic>
        <p:nvPicPr>
          <p:cNvPr id="7" name="그림 6" descr="텍스트, 폰트, 숲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B46373-37CA-AA7B-8D85-B651E61B5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4082"/>
            <a:ext cx="9906000" cy="388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5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A7BBC-EF2E-92D9-A6E6-59321FC8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나무, 야외, 폭포, 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C22EEC-40C9-C65D-7D7C-A4FA8E398E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52998" y="549275"/>
            <a:ext cx="4500001" cy="5327650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722DFCC-B2EF-4583-DE76-BD8A6062F4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/>
              <a:t>ABOUT US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20E3AB-A71A-2309-2C19-B624A9BA2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Note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법무법인 </a:t>
            </a:r>
            <a:r>
              <a:rPr lang="ko-KR" altLang="en-US" err="1"/>
              <a:t>아믹과</a:t>
            </a:r>
            <a:r>
              <a:rPr lang="ko-KR" altLang="en-US"/>
              <a:t> 주식회사 </a:t>
            </a:r>
            <a:r>
              <a:rPr lang="ko-KR" altLang="en-US" err="1"/>
              <a:t>페트라브릿지파트너스는</a:t>
            </a:r>
            <a:r>
              <a:rPr lang="ko-KR" altLang="en-US"/>
              <a:t> 각자의 전문성을 바탕으로 협업하여</a:t>
            </a:r>
            <a:r>
              <a:rPr lang="en-US" altLang="ko-KR"/>
              <a:t>,</a:t>
            </a:r>
            <a:r>
              <a:rPr lang="ko-KR" altLang="en-US"/>
              <a:t> 고객에게 종합적인 자문 솔루션을 제공합니다</a:t>
            </a:r>
            <a:r>
              <a:rPr lang="en-US" altLang="ko-KR"/>
              <a:t>. </a:t>
            </a:r>
            <a:r>
              <a:rPr lang="ko-KR" altLang="en-US"/>
              <a:t>양사는 각기 독립된 법인으로 합작 또는 조직적 결합 관계에 있지 않으며</a:t>
            </a:r>
            <a:r>
              <a:rPr lang="en-US" altLang="ko-KR"/>
              <a:t>, </a:t>
            </a:r>
            <a:r>
              <a:rPr lang="ko-KR" altLang="en-US"/>
              <a:t>모든 자문 업무는 각 사의 전문영역 내에서 개별적이고 독립적으로 수행 </a:t>
            </a:r>
            <a:r>
              <a:rPr lang="en-US" altLang="ko-KR"/>
              <a:t>· </a:t>
            </a:r>
            <a:r>
              <a:rPr lang="ko-KR" altLang="en-US"/>
              <a:t>제공됩니다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EE2AE2-8277-D7AE-A5FF-BDB88359B9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1C678-8EEC-0D27-53FF-80134CD06A0D}"/>
              </a:ext>
            </a:extLst>
          </p:cNvPr>
          <p:cNvSpPr txBox="1"/>
          <p:nvPr/>
        </p:nvSpPr>
        <p:spPr>
          <a:xfrm>
            <a:off x="453000" y="1196975"/>
            <a:ext cx="3779275" cy="590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b="1" cap="all">
                <a:solidFill>
                  <a:srgbClr val="26C260"/>
                </a:solidFill>
                <a:latin typeface="+mj-lt"/>
                <a:ea typeface="+mj-ea"/>
              </a:rPr>
              <a:t>Joint Expertise,</a:t>
            </a:r>
          </a:p>
          <a:p>
            <a:pPr algn="l">
              <a:lnSpc>
                <a:spcPct val="110000"/>
              </a:lnSpc>
            </a:pPr>
            <a:r>
              <a:rPr lang="en-US" altLang="ko-KR" b="1" cap="all">
                <a:solidFill>
                  <a:srgbClr val="26C260"/>
                </a:solidFill>
                <a:latin typeface="+mj-lt"/>
                <a:ea typeface="+mj-ea"/>
              </a:rPr>
              <a:t>Integrated Solutions.</a:t>
            </a:r>
            <a:endParaRPr lang="ko-KR" altLang="en-US" b="1" cap="all">
              <a:solidFill>
                <a:srgbClr val="26C260"/>
              </a:solidFill>
              <a:latin typeface="+mj-lt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2B2E71-6C4F-971B-84E3-8B588DE471CC}"/>
              </a:ext>
            </a:extLst>
          </p:cNvPr>
          <p:cNvSpPr txBox="1"/>
          <p:nvPr/>
        </p:nvSpPr>
        <p:spPr>
          <a:xfrm>
            <a:off x="453000" y="2729184"/>
            <a:ext cx="3779275" cy="24305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900"/>
              </a:spcAft>
            </a:pPr>
            <a:r>
              <a:rPr lang="ko-KR" altLang="en-US" sz="1200" spc="-30"/>
              <a:t>세상은 매일 변합니다</a:t>
            </a:r>
            <a:r>
              <a:rPr lang="en-US" altLang="ko-KR" sz="1200" spc="-30"/>
              <a:t>. </a:t>
            </a:r>
            <a:r>
              <a:rPr lang="ko-KR" altLang="en-US" sz="1200" spc="-30"/>
              <a:t>특히 </a:t>
            </a:r>
            <a:r>
              <a:rPr lang="en-US" altLang="ko-KR" sz="1200" spc="-30"/>
              <a:t>AI</a:t>
            </a:r>
            <a:r>
              <a:rPr lang="ko-KR" altLang="en-US" sz="1200" spc="-30"/>
              <a:t>가 산업의 근간을 흔드는 요즘과 같은 시기에는 어제의 정답이 오늘의 오답이 되기도 합니다</a:t>
            </a:r>
            <a:r>
              <a:rPr lang="en-US" altLang="ko-KR" sz="1200" spc="-30"/>
              <a:t>. </a:t>
            </a:r>
            <a:r>
              <a:rPr lang="ko-KR" altLang="en-US" sz="1200" spc="-30"/>
              <a:t>모두가 변화의 속도를 이야기할 때</a:t>
            </a:r>
            <a:r>
              <a:rPr lang="en-US" altLang="ko-KR" sz="1200" spc="-30"/>
              <a:t>, </a:t>
            </a:r>
            <a:r>
              <a:rPr lang="ko-KR" altLang="en-US" sz="1200" spc="-30"/>
              <a:t>우리는 변화의 결을 읽고 방향을 제시합니다</a:t>
            </a:r>
            <a:r>
              <a:rPr lang="en-US" altLang="ko-KR" sz="1200" spc="-30"/>
              <a:t>.</a:t>
            </a:r>
          </a:p>
          <a:p>
            <a:pPr algn="just">
              <a:lnSpc>
                <a:spcPct val="120000"/>
              </a:lnSpc>
              <a:spcAft>
                <a:spcPts val="900"/>
              </a:spcAft>
            </a:pPr>
            <a:r>
              <a:rPr lang="ko-KR" altLang="en-US" sz="1200" spc="-30"/>
              <a:t>남들이 어렵다며 고개를 젓는 일</a:t>
            </a:r>
            <a:r>
              <a:rPr lang="en-US" altLang="ko-KR" sz="1200" spc="-30"/>
              <a:t>, </a:t>
            </a:r>
            <a:r>
              <a:rPr lang="ko-KR" altLang="en-US" sz="1200" spc="-30"/>
              <a:t>실타래처럼 엉켜 어디서부터 손을 대야 할지 모르는 일들에 바로 우리가 있습니다</a:t>
            </a:r>
            <a:r>
              <a:rPr lang="en-US" altLang="ko-KR" sz="1200" spc="-30"/>
              <a:t>. </a:t>
            </a:r>
            <a:r>
              <a:rPr lang="ko-KR" altLang="en-US" sz="1200" spc="-30"/>
              <a:t>젊은 전문가들이 하나로 머리를 맞대어</a:t>
            </a:r>
            <a:r>
              <a:rPr lang="en-US" altLang="ko-KR" sz="1200" spc="-30"/>
              <a:t>, </a:t>
            </a:r>
            <a:r>
              <a:rPr lang="ko-KR" altLang="en-US" sz="1200" spc="-30"/>
              <a:t>문제들을 차분히 풀어 나갑니다</a:t>
            </a:r>
            <a:r>
              <a:rPr lang="en-US" altLang="ko-KR" sz="1200" spc="-30"/>
              <a:t>.</a:t>
            </a:r>
          </a:p>
          <a:p>
            <a:pPr algn="just">
              <a:lnSpc>
                <a:spcPct val="120000"/>
              </a:lnSpc>
              <a:spcAft>
                <a:spcPts val="900"/>
              </a:spcAft>
            </a:pPr>
            <a:r>
              <a:rPr lang="ko-KR" altLang="en-US" sz="1200" spc="-30"/>
              <a:t>어려운 일일수록 정직하게 마주하겠습니다</a:t>
            </a:r>
            <a:r>
              <a:rPr lang="en-US" altLang="ko-KR" sz="1200" spc="-30"/>
              <a:t>. </a:t>
            </a:r>
            <a:r>
              <a:rPr lang="ko-KR" altLang="en-US" sz="1200" spc="-30"/>
              <a:t>막힌 곳을 뚫고</a:t>
            </a:r>
            <a:r>
              <a:rPr lang="en-US" altLang="ko-KR" sz="1200" spc="-30"/>
              <a:t>, </a:t>
            </a:r>
            <a:r>
              <a:rPr lang="ko-KR" altLang="en-US" sz="1200" spc="-30"/>
              <a:t>끊어진 곳을 잇는 단단한 다리가 되겠습니다</a:t>
            </a:r>
            <a:r>
              <a:rPr lang="en-US" altLang="ko-KR" sz="1200" spc="-3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4F8E91-E653-8792-9CC4-4346947819C5}"/>
              </a:ext>
            </a:extLst>
          </p:cNvPr>
          <p:cNvSpPr txBox="1"/>
          <p:nvPr/>
        </p:nvSpPr>
        <p:spPr>
          <a:xfrm>
            <a:off x="453000" y="2147906"/>
            <a:ext cx="3779275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/>
              <a:t>우리는 한 길을 봅니다</a:t>
            </a:r>
            <a:r>
              <a:rPr lang="en-US" altLang="ko-KR" sz="1400" b="1"/>
              <a:t>.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605907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9150-8A2E-A3E0-2968-28C141913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CA07C80-B0EA-9640-8158-DC27A340F1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/>
              <a:t>M&amp;A ADVISORY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2A1D04-F637-CB5F-1857-738D2E57A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Note : </a:t>
            </a:r>
            <a:r>
              <a:rPr lang="ko-KR" altLang="en-US"/>
              <a:t>주식매매계약서</a:t>
            </a:r>
            <a:r>
              <a:rPr lang="en-US" altLang="ko-KR"/>
              <a:t>, </a:t>
            </a:r>
            <a:r>
              <a:rPr lang="ko-KR" altLang="en-US"/>
              <a:t>합병계약서 등 본계약 체결 완료 건에 한하며</a:t>
            </a:r>
            <a:r>
              <a:rPr lang="en-US" altLang="ko-KR"/>
              <a:t>, </a:t>
            </a:r>
            <a:r>
              <a:rPr lang="ko-KR" altLang="en-US"/>
              <a:t>현재 진행 중인 거래는 제외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3D1B3-66C4-79A4-B8D5-2526A966E4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2E514-6AB4-7A26-2621-F222FDE83E18}"/>
              </a:ext>
            </a:extLst>
          </p:cNvPr>
          <p:cNvSpPr txBox="1"/>
          <p:nvPr/>
        </p:nvSpPr>
        <p:spPr>
          <a:xfrm>
            <a:off x="453000" y="1089025"/>
            <a:ext cx="9000563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/>
              <a:t>우리는 고객의 </a:t>
            </a:r>
            <a:r>
              <a:rPr lang="en-US" altLang="ko-KR" sz="1400" b="1"/>
              <a:t>Needs</a:t>
            </a:r>
            <a:r>
              <a:rPr lang="ko-KR" altLang="en-US" sz="1400" b="1"/>
              <a:t>를 정확히 이해하고 상황에 맞는 거래 전략과 구조를 설계하여</a:t>
            </a:r>
            <a:r>
              <a:rPr lang="en-US" altLang="ko-KR" sz="1400" b="1"/>
              <a:t>, </a:t>
            </a:r>
            <a:r>
              <a:rPr lang="ko-KR" altLang="en-US" sz="1400" b="1"/>
              <a:t>다양한 조건과 제약 속에서도 고객의 이익을 극대화하는 결과를 만들어냅니다</a:t>
            </a:r>
            <a:r>
              <a:rPr lang="en-US" altLang="ko-KR" sz="1400" b="1"/>
              <a:t>.</a:t>
            </a:r>
            <a:endParaRPr lang="ko-KR" altLang="en-US" sz="14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3753A5-8572-8999-E90D-D7AF6CB5E0EB}"/>
              </a:ext>
            </a:extLst>
          </p:cNvPr>
          <p:cNvSpPr/>
          <p:nvPr/>
        </p:nvSpPr>
        <p:spPr>
          <a:xfrm>
            <a:off x="453000" y="1808163"/>
            <a:ext cx="4392000" cy="288000"/>
          </a:xfrm>
          <a:prstGeom prst="rect">
            <a:avLst/>
          </a:prstGeom>
          <a:solidFill>
            <a:srgbClr val="0F3A32"/>
          </a:solidFill>
          <a:ln w="6350">
            <a:solidFill>
              <a:srgbClr val="0F3A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>
                <a:solidFill>
                  <a:schemeClr val="bg1"/>
                </a:solidFill>
              </a:rPr>
              <a:t>2025</a:t>
            </a:r>
            <a:r>
              <a:rPr lang="ko-KR" altLang="en-US" sz="1200" b="1">
                <a:solidFill>
                  <a:schemeClr val="bg1"/>
                </a:solidFill>
              </a:rPr>
              <a:t>년 주요 </a:t>
            </a:r>
            <a:r>
              <a:rPr lang="en-US" altLang="ko-KR" sz="1200" b="1">
                <a:solidFill>
                  <a:schemeClr val="bg1"/>
                </a:solidFill>
              </a:rPr>
              <a:t>M&amp;A</a:t>
            </a:r>
            <a:r>
              <a:rPr lang="ko-KR" altLang="en-US" sz="1200" b="1">
                <a:solidFill>
                  <a:schemeClr val="bg1"/>
                </a:solidFill>
              </a:rPr>
              <a:t> 자문 </a:t>
            </a:r>
            <a:r>
              <a:rPr lang="en-US" altLang="ko-KR" sz="1200" b="1">
                <a:solidFill>
                  <a:schemeClr val="bg1"/>
                </a:solidFill>
              </a:rPr>
              <a:t>Track Record </a:t>
            </a:r>
            <a:r>
              <a:rPr lang="en-US" altLang="ko-KR" sz="800">
                <a:solidFill>
                  <a:schemeClr val="bg1"/>
                </a:solidFill>
              </a:rPr>
              <a:t>(2025</a:t>
            </a:r>
            <a:r>
              <a:rPr lang="ko-KR" altLang="en-US" sz="800">
                <a:solidFill>
                  <a:schemeClr val="bg1"/>
                </a:solidFill>
              </a:rPr>
              <a:t>년 </a:t>
            </a:r>
            <a:r>
              <a:rPr lang="en-US" altLang="ko-KR" sz="800">
                <a:solidFill>
                  <a:schemeClr val="bg1"/>
                </a:solidFill>
              </a:rPr>
              <a:t>5</a:t>
            </a:r>
            <a:r>
              <a:rPr lang="ko-KR" altLang="en-US" sz="800">
                <a:solidFill>
                  <a:schemeClr val="bg1"/>
                </a:solidFill>
              </a:rPr>
              <a:t>월 </a:t>
            </a:r>
            <a:r>
              <a:rPr lang="en-US" altLang="ko-KR" sz="800">
                <a:solidFill>
                  <a:schemeClr val="bg1"/>
                </a:solidFill>
              </a:rPr>
              <a:t>~ 12</a:t>
            </a:r>
            <a:r>
              <a:rPr lang="ko-KR" altLang="en-US" sz="800">
                <a:solidFill>
                  <a:schemeClr val="bg1"/>
                </a:solidFill>
              </a:rPr>
              <a:t>월</a:t>
            </a:r>
            <a:r>
              <a:rPr lang="en-US" altLang="ko-KR" sz="800">
                <a:solidFill>
                  <a:schemeClr val="bg1"/>
                </a:solidFill>
              </a:rPr>
              <a:t>)</a:t>
            </a:r>
            <a:endParaRPr lang="ko-KR" altLang="en-US" sz="1200">
              <a:solidFill>
                <a:schemeClr val="bg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586C0E7-055A-FF9D-5AD3-CF39E68F8FFF}"/>
              </a:ext>
            </a:extLst>
          </p:cNvPr>
          <p:cNvGrpSpPr/>
          <p:nvPr/>
        </p:nvGrpSpPr>
        <p:grpSpPr>
          <a:xfrm>
            <a:off x="453000" y="2349499"/>
            <a:ext cx="4320000" cy="1368000"/>
            <a:chOff x="453000" y="2349499"/>
            <a:chExt cx="4320000" cy="136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117366A-5FEE-2AE5-6A3C-36B0E079032D}"/>
                </a:ext>
              </a:extLst>
            </p:cNvPr>
            <p:cNvSpPr/>
            <p:nvPr/>
          </p:nvSpPr>
          <p:spPr>
            <a:xfrm>
              <a:off x="453000" y="2349499"/>
              <a:ext cx="4320000" cy="136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49D40A-A063-F79F-C4C9-3EBFC2B594EC}"/>
                </a:ext>
              </a:extLst>
            </p:cNvPr>
            <p:cNvSpPr txBox="1"/>
            <p:nvPr/>
          </p:nvSpPr>
          <p:spPr>
            <a:xfrm>
              <a:off x="1531874" y="2569847"/>
              <a:ext cx="3241126" cy="927305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200" b="1">
                  <a:solidFill>
                    <a:srgbClr val="0F3A32"/>
                  </a:solidFill>
                </a:rPr>
                <a:t>국내 미디어 </a:t>
              </a:r>
              <a:r>
                <a:rPr lang="en-US" altLang="ko-KR" sz="1200" b="1">
                  <a:solidFill>
                    <a:srgbClr val="0F3A32"/>
                  </a:solidFill>
                </a:rPr>
                <a:t>· </a:t>
              </a:r>
              <a:r>
                <a:rPr lang="ko-KR" altLang="en-US" sz="1200" b="1">
                  <a:solidFill>
                    <a:srgbClr val="0F3A32"/>
                  </a:solidFill>
                </a:rPr>
                <a:t>콘텐츠 업체 </a:t>
              </a:r>
              <a:r>
                <a:rPr lang="en-US" altLang="ko-KR" sz="1200" b="1">
                  <a:solidFill>
                    <a:srgbClr val="0F3A32"/>
                  </a:solidFill>
                </a:rPr>
                <a:t>P</a:t>
              </a:r>
              <a:r>
                <a:rPr lang="ko-KR" altLang="en-US" sz="1200" b="1">
                  <a:solidFill>
                    <a:srgbClr val="0F3A32"/>
                  </a:solidFill>
                </a:rPr>
                <a:t>社의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lang="en-US" altLang="ko-KR" sz="1200" b="1">
                  <a:solidFill>
                    <a:srgbClr val="0F3A32"/>
                  </a:solidFill>
                </a:rPr>
                <a:t>KOSDAQ </a:t>
              </a:r>
              <a:r>
                <a:rPr lang="ko-KR" altLang="en-US" sz="1200" b="1">
                  <a:solidFill>
                    <a:srgbClr val="0F3A32"/>
                  </a:solidFill>
                </a:rPr>
                <a:t>상장사 </a:t>
              </a:r>
              <a:r>
                <a:rPr lang="en-US" altLang="ko-KR" sz="1200" b="1">
                  <a:solidFill>
                    <a:srgbClr val="0F3A32"/>
                  </a:solidFill>
                </a:rPr>
                <a:t>H</a:t>
              </a:r>
              <a:r>
                <a:rPr lang="ko-KR" altLang="en-US" sz="1200" b="1">
                  <a:solidFill>
                    <a:srgbClr val="0F3A32"/>
                  </a:solidFill>
                </a:rPr>
                <a:t>社 인수 자문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국내 상장사의 비공개 </a:t>
              </a:r>
              <a:r>
                <a:rPr lang="en-US" altLang="ko-KR" sz="1200"/>
                <a:t>· </a:t>
              </a:r>
              <a:r>
                <a:rPr lang="ko-KR" altLang="en-US" sz="1200" b="1" u="sng"/>
                <a:t>경쟁입찰 </a:t>
              </a:r>
              <a:r>
                <a:rPr lang="en-US" altLang="ko-KR" sz="1200" b="1" u="sng"/>
                <a:t>Bidding </a:t>
              </a:r>
              <a:r>
                <a:rPr lang="ko-KR" altLang="en-US" sz="1200" b="1" u="sng"/>
                <a:t>성공</a:t>
              </a:r>
              <a:endParaRPr lang="en-US" altLang="ko-KR" sz="1200" b="1" u="sng"/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인수자금 조달 위한 </a:t>
              </a:r>
              <a:r>
                <a:rPr lang="en-US" altLang="ko-KR" sz="1200" b="1" u="sng"/>
                <a:t>FI</a:t>
              </a:r>
              <a:r>
                <a:rPr lang="ko-KR" altLang="en-US" sz="1200" b="1" u="sng"/>
                <a:t> 공동 투자자</a:t>
              </a:r>
              <a:r>
                <a:rPr lang="en-US" altLang="ko-KR" sz="1200" b="1" u="sng"/>
                <a:t> </a:t>
              </a:r>
              <a:r>
                <a:rPr lang="ko-KR" altLang="en-US" sz="1200" b="1" u="sng"/>
                <a:t>유치</a:t>
              </a: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F971E401-99A9-5E26-8412-5DFE8919B652}"/>
                </a:ext>
              </a:extLst>
            </p:cNvPr>
            <p:cNvGrpSpPr/>
            <p:nvPr/>
          </p:nvGrpSpPr>
          <p:grpSpPr>
            <a:xfrm>
              <a:off x="756187" y="2743246"/>
              <a:ext cx="472503" cy="580506"/>
              <a:chOff x="4926450" y="3348450"/>
              <a:chExt cx="472503" cy="580506"/>
            </a:xfrm>
          </p:grpSpPr>
          <p:sp>
            <p:nvSpPr>
              <p:cNvPr id="60" name="자유형: 도형 59">
                <a:extLst>
                  <a:ext uri="{FF2B5EF4-FFF2-40B4-BE49-F238E27FC236}">
                    <a16:creationId xmlns:a16="http://schemas.microsoft.com/office/drawing/2014/main" id="{65CF60D3-5482-613F-7E0E-577091B131A9}"/>
                  </a:ext>
                </a:extLst>
              </p:cNvPr>
              <p:cNvSpPr/>
              <p:nvPr/>
            </p:nvSpPr>
            <p:spPr>
              <a:xfrm>
                <a:off x="4953450" y="3348450"/>
                <a:ext cx="418500" cy="418500"/>
              </a:xfrm>
              <a:custGeom>
                <a:avLst/>
                <a:gdLst>
                  <a:gd name="csX0" fmla="*/ 0 w 418500"/>
                  <a:gd name="csY0" fmla="*/ 209250 h 418500"/>
                  <a:gd name="csX1" fmla="*/ 209250 w 418500"/>
                  <a:gd name="csY1" fmla="*/ 0 h 418500"/>
                  <a:gd name="csX2" fmla="*/ 418500 w 418500"/>
                  <a:gd name="csY2" fmla="*/ 209250 h 418500"/>
                  <a:gd name="csX3" fmla="*/ 209250 w 418500"/>
                  <a:gd name="csY3" fmla="*/ 418500 h 418500"/>
                  <a:gd name="csX4" fmla="*/ 0 w 418500"/>
                  <a:gd name="csY4" fmla="*/ 209250 h 41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500" h="418500">
                    <a:moveTo>
                      <a:pt x="0" y="209250"/>
                    </a:moveTo>
                    <a:cubicBezTo>
                      <a:pt x="0" y="93684"/>
                      <a:pt x="93684" y="0"/>
                      <a:pt x="209250" y="0"/>
                    </a:cubicBezTo>
                    <a:cubicBezTo>
                      <a:pt x="324815" y="0"/>
                      <a:pt x="418500" y="93684"/>
                      <a:pt x="418500" y="209250"/>
                    </a:cubicBezTo>
                    <a:cubicBezTo>
                      <a:pt x="418500" y="324815"/>
                      <a:pt x="324815" y="418500"/>
                      <a:pt x="209250" y="418500"/>
                    </a:cubicBezTo>
                    <a:cubicBezTo>
                      <a:pt x="93684" y="418500"/>
                      <a:pt x="0" y="324815"/>
                      <a:pt x="0" y="209250"/>
                    </a:cubicBezTo>
                    <a:close/>
                  </a:path>
                </a:pathLst>
              </a:custGeom>
              <a:solidFill>
                <a:srgbClr val="0F3A32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86D02E7B-BFF4-D394-9119-10842A5392F5}"/>
                  </a:ext>
                </a:extLst>
              </p:cNvPr>
              <p:cNvSpPr/>
              <p:nvPr/>
            </p:nvSpPr>
            <p:spPr>
              <a:xfrm>
                <a:off x="5054700" y="3437518"/>
                <a:ext cx="216000" cy="215999"/>
              </a:xfrm>
              <a:custGeom>
                <a:avLst/>
                <a:gdLst>
                  <a:gd name="csX0" fmla="*/ 97775 w 216000"/>
                  <a:gd name="csY0" fmla="*/ 6544 h 215999"/>
                  <a:gd name="csX1" fmla="*/ 118225 w 216000"/>
                  <a:gd name="csY1" fmla="*/ 6544 h 215999"/>
                  <a:gd name="csX2" fmla="*/ 143329 w 216000"/>
                  <a:gd name="csY2" fmla="*/ 58000 h 215999"/>
                  <a:gd name="csX3" fmla="*/ 151748 w 216000"/>
                  <a:gd name="csY3" fmla="*/ 64395 h 215999"/>
                  <a:gd name="csX4" fmla="*/ 206318 w 216000"/>
                  <a:gd name="csY4" fmla="*/ 73473 h 215999"/>
                  <a:gd name="csX5" fmla="*/ 212638 w 216000"/>
                  <a:gd name="csY5" fmla="*/ 93776 h 215999"/>
                  <a:gd name="csX6" fmla="*/ 173572 w 216000"/>
                  <a:gd name="csY6" fmla="*/ 134691 h 215999"/>
                  <a:gd name="csX7" fmla="*/ 170362 w 216000"/>
                  <a:gd name="csY7" fmla="*/ 145021 h 215999"/>
                  <a:gd name="csX8" fmla="*/ 178972 w 216000"/>
                  <a:gd name="csY8" fmla="*/ 202124 h 215999"/>
                  <a:gd name="csX9" fmla="*/ 162427 w 216000"/>
                  <a:gd name="csY9" fmla="*/ 214668 h 215999"/>
                  <a:gd name="csX10" fmla="*/ 113208 w 216000"/>
                  <a:gd name="csY10" fmla="*/ 188478 h 215999"/>
                  <a:gd name="csX11" fmla="*/ 102792 w 216000"/>
                  <a:gd name="csY11" fmla="*/ 188478 h 215999"/>
                  <a:gd name="csX12" fmla="*/ 53573 w 216000"/>
                  <a:gd name="csY12" fmla="*/ 214668 h 215999"/>
                  <a:gd name="csX13" fmla="*/ 37028 w 216000"/>
                  <a:gd name="csY13" fmla="*/ 202124 h 215999"/>
                  <a:gd name="csX14" fmla="*/ 45638 w 216000"/>
                  <a:gd name="csY14" fmla="*/ 145021 h 215999"/>
                  <a:gd name="csX15" fmla="*/ 42427 w 216000"/>
                  <a:gd name="csY15" fmla="*/ 134691 h 215999"/>
                  <a:gd name="csX16" fmla="*/ 3362 w 216000"/>
                  <a:gd name="csY16" fmla="*/ 93776 h 215999"/>
                  <a:gd name="csX17" fmla="*/ 9683 w 216000"/>
                  <a:gd name="csY17" fmla="*/ 73473 h 215999"/>
                  <a:gd name="csX18" fmla="*/ 64252 w 216000"/>
                  <a:gd name="csY18" fmla="*/ 64395 h 215999"/>
                  <a:gd name="csX19" fmla="*/ 72670 w 216000"/>
                  <a:gd name="csY19" fmla="*/ 58000 h 215999"/>
                  <a:gd name="csX20" fmla="*/ 97775 w 216000"/>
                  <a:gd name="csY20" fmla="*/ 6544 h 215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16000" h="215999">
                    <a:moveTo>
                      <a:pt x="97775" y="6544"/>
                    </a:moveTo>
                    <a:cubicBezTo>
                      <a:pt x="102033" y="-2181"/>
                      <a:pt x="113967" y="-2181"/>
                      <a:pt x="118225" y="6544"/>
                    </a:cubicBezTo>
                    <a:lnTo>
                      <a:pt x="143329" y="58000"/>
                    </a:lnTo>
                    <a:cubicBezTo>
                      <a:pt x="144995" y="61415"/>
                      <a:pt x="148125" y="63792"/>
                      <a:pt x="151748" y="64395"/>
                    </a:cubicBezTo>
                    <a:lnTo>
                      <a:pt x="206318" y="73473"/>
                    </a:lnTo>
                    <a:cubicBezTo>
                      <a:pt x="215565" y="75011"/>
                      <a:pt x="219251" y="86849"/>
                      <a:pt x="212638" y="93776"/>
                    </a:cubicBezTo>
                    <a:lnTo>
                      <a:pt x="173572" y="134691"/>
                    </a:lnTo>
                    <a:cubicBezTo>
                      <a:pt x="170986" y="137401"/>
                      <a:pt x="169792" y="141240"/>
                      <a:pt x="170362" y="145021"/>
                    </a:cubicBezTo>
                    <a:lnTo>
                      <a:pt x="178972" y="202124"/>
                    </a:lnTo>
                    <a:cubicBezTo>
                      <a:pt x="180430" y="211793"/>
                      <a:pt x="170778" y="219112"/>
                      <a:pt x="162427" y="214668"/>
                    </a:cubicBezTo>
                    <a:lnTo>
                      <a:pt x="113208" y="188478"/>
                    </a:lnTo>
                    <a:cubicBezTo>
                      <a:pt x="109936" y="186737"/>
                      <a:pt x="106064" y="186737"/>
                      <a:pt x="102792" y="188478"/>
                    </a:cubicBezTo>
                    <a:lnTo>
                      <a:pt x="53573" y="214668"/>
                    </a:lnTo>
                    <a:cubicBezTo>
                      <a:pt x="45222" y="219112"/>
                      <a:pt x="35569" y="211793"/>
                      <a:pt x="37028" y="202124"/>
                    </a:cubicBezTo>
                    <a:lnTo>
                      <a:pt x="45638" y="145021"/>
                    </a:lnTo>
                    <a:cubicBezTo>
                      <a:pt x="46208" y="141240"/>
                      <a:pt x="45015" y="137401"/>
                      <a:pt x="42427" y="134691"/>
                    </a:cubicBezTo>
                    <a:lnTo>
                      <a:pt x="3362" y="93776"/>
                    </a:lnTo>
                    <a:cubicBezTo>
                      <a:pt x="-3251" y="86849"/>
                      <a:pt x="434" y="75011"/>
                      <a:pt x="9683" y="73473"/>
                    </a:cubicBezTo>
                    <a:lnTo>
                      <a:pt x="64252" y="64395"/>
                    </a:lnTo>
                    <a:cubicBezTo>
                      <a:pt x="67875" y="63792"/>
                      <a:pt x="71005" y="61415"/>
                      <a:pt x="72670" y="58000"/>
                    </a:cubicBezTo>
                    <a:lnTo>
                      <a:pt x="97775" y="6544"/>
                    </a:lnTo>
                    <a:close/>
                  </a:path>
                </a:pathLst>
              </a:custGeom>
              <a:solidFill>
                <a:schemeClr val="bg1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7C38B074-6FED-2DAA-3206-1E9355862CE5}"/>
                  </a:ext>
                </a:extLst>
              </p:cNvPr>
              <p:cNvSpPr/>
              <p:nvPr/>
            </p:nvSpPr>
            <p:spPr>
              <a:xfrm>
                <a:off x="4926450" y="3718328"/>
                <a:ext cx="214369" cy="210623"/>
              </a:xfrm>
              <a:custGeom>
                <a:avLst/>
                <a:gdLst>
                  <a:gd name="csX0" fmla="*/ 53905 w 214369"/>
                  <a:gd name="csY0" fmla="*/ 0 h 210623"/>
                  <a:gd name="csX1" fmla="*/ 12123 w 214369"/>
                  <a:gd name="csY1" fmla="*/ 85658 h 210623"/>
                  <a:gd name="csX2" fmla="*/ 2554 w 214369"/>
                  <a:gd name="csY2" fmla="*/ 107123 h 210623"/>
                  <a:gd name="csX3" fmla="*/ 358 w 214369"/>
                  <a:gd name="csY3" fmla="*/ 125515 h 210623"/>
                  <a:gd name="csX4" fmla="*/ 1390 w 214369"/>
                  <a:gd name="csY4" fmla="*/ 131039 h 210623"/>
                  <a:gd name="csX5" fmla="*/ 9554 w 214369"/>
                  <a:gd name="csY5" fmla="*/ 141618 h 210623"/>
                  <a:gd name="csX6" fmla="*/ 34502 w 214369"/>
                  <a:gd name="csY6" fmla="*/ 148730 h 210623"/>
                  <a:gd name="csX7" fmla="*/ 64694 w 214369"/>
                  <a:gd name="csY7" fmla="*/ 144658 h 210623"/>
                  <a:gd name="csX8" fmla="*/ 84069 w 214369"/>
                  <a:gd name="csY8" fmla="*/ 139895 h 210623"/>
                  <a:gd name="csX9" fmla="*/ 91778 w 214369"/>
                  <a:gd name="csY9" fmla="*/ 143173 h 210623"/>
                  <a:gd name="csX10" fmla="*/ 99143 w 214369"/>
                  <a:gd name="csY10" fmla="*/ 160499 h 210623"/>
                  <a:gd name="csX11" fmla="*/ 115259 w 214369"/>
                  <a:gd name="csY11" fmla="*/ 191784 h 210623"/>
                  <a:gd name="csX12" fmla="*/ 141415 w 214369"/>
                  <a:gd name="csY12" fmla="*/ 210408 h 210623"/>
                  <a:gd name="csX13" fmla="*/ 147628 w 214369"/>
                  <a:gd name="csY13" fmla="*/ 210360 h 210623"/>
                  <a:gd name="csX14" fmla="*/ 172334 w 214369"/>
                  <a:gd name="csY14" fmla="*/ 189934 h 210623"/>
                  <a:gd name="csX15" fmla="*/ 183843 w 214369"/>
                  <a:gd name="csY15" fmla="*/ 162278 h 210623"/>
                  <a:gd name="csX16" fmla="*/ 214369 w 214369"/>
                  <a:gd name="csY16" fmla="*/ 81402 h 210623"/>
                  <a:gd name="csX17" fmla="*/ 53905 w 214369"/>
                  <a:gd name="csY17" fmla="*/ 0 h 210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69" h="210623">
                    <a:moveTo>
                      <a:pt x="53905" y="0"/>
                    </a:moveTo>
                    <a:lnTo>
                      <a:pt x="12123" y="85658"/>
                    </a:lnTo>
                    <a:cubicBezTo>
                      <a:pt x="8330" y="93428"/>
                      <a:pt x="4688" y="100894"/>
                      <a:pt x="2554" y="107123"/>
                    </a:cubicBezTo>
                    <a:cubicBezTo>
                      <a:pt x="1100" y="111367"/>
                      <a:pt x="-800" y="118109"/>
                      <a:pt x="358" y="125515"/>
                    </a:cubicBezTo>
                    <a:cubicBezTo>
                      <a:pt x="473" y="128021"/>
                      <a:pt x="1028" y="129962"/>
                      <a:pt x="1390" y="131039"/>
                    </a:cubicBezTo>
                    <a:cubicBezTo>
                      <a:pt x="2543" y="134474"/>
                      <a:pt x="6667" y="139566"/>
                      <a:pt x="9554" y="141618"/>
                    </a:cubicBezTo>
                    <a:cubicBezTo>
                      <a:pt x="16982" y="146896"/>
                      <a:pt x="26413" y="148500"/>
                      <a:pt x="34502" y="148730"/>
                    </a:cubicBezTo>
                    <a:cubicBezTo>
                      <a:pt x="43294" y="148978"/>
                      <a:pt x="53495" y="147685"/>
                      <a:pt x="64694" y="144658"/>
                    </a:cubicBezTo>
                    <a:cubicBezTo>
                      <a:pt x="74148" y="142101"/>
                      <a:pt x="79794" y="140600"/>
                      <a:pt x="84069" y="139895"/>
                    </a:cubicBezTo>
                    <a:cubicBezTo>
                      <a:pt x="89018" y="138850"/>
                      <a:pt x="91270" y="141645"/>
                      <a:pt x="91778" y="143173"/>
                    </a:cubicBezTo>
                    <a:cubicBezTo>
                      <a:pt x="93643" y="146699"/>
                      <a:pt x="95671" y="151737"/>
                      <a:pt x="99143" y="160499"/>
                    </a:cubicBezTo>
                    <a:cubicBezTo>
                      <a:pt x="104084" y="172962"/>
                      <a:pt x="109464" y="183665"/>
                      <a:pt x="115259" y="191784"/>
                    </a:cubicBezTo>
                    <a:cubicBezTo>
                      <a:pt x="120220" y="198734"/>
                      <a:pt x="128775" y="208543"/>
                      <a:pt x="141415" y="210408"/>
                    </a:cubicBezTo>
                    <a:cubicBezTo>
                      <a:pt x="143476" y="210711"/>
                      <a:pt x="145572" y="210695"/>
                      <a:pt x="147628" y="210360"/>
                    </a:cubicBezTo>
                    <a:cubicBezTo>
                      <a:pt x="161798" y="208051"/>
                      <a:pt x="168872" y="196498"/>
                      <a:pt x="172334" y="189934"/>
                    </a:cubicBezTo>
                    <a:cubicBezTo>
                      <a:pt x="176106" y="182782"/>
                      <a:pt x="179801" y="172989"/>
                      <a:pt x="183843" y="162278"/>
                    </a:cubicBezTo>
                    <a:lnTo>
                      <a:pt x="214369" y="81402"/>
                    </a:lnTo>
                    <a:cubicBezTo>
                      <a:pt x="150596" y="75711"/>
                      <a:pt x="93912" y="45382"/>
                      <a:pt x="53905" y="0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0931735-A9B1-BCF7-9CF4-0F5F7855D286}"/>
                  </a:ext>
                </a:extLst>
              </p:cNvPr>
              <p:cNvSpPr/>
              <p:nvPr/>
            </p:nvSpPr>
            <p:spPr>
              <a:xfrm>
                <a:off x="5184583" y="3718328"/>
                <a:ext cx="214370" cy="210628"/>
              </a:xfrm>
              <a:custGeom>
                <a:avLst/>
                <a:gdLst>
                  <a:gd name="csX0" fmla="*/ 0 w 214370"/>
                  <a:gd name="csY0" fmla="*/ 81405 h 210628"/>
                  <a:gd name="csX1" fmla="*/ 30529 w 214370"/>
                  <a:gd name="csY1" fmla="*/ 162281 h 210628"/>
                  <a:gd name="csX2" fmla="*/ 42036 w 214370"/>
                  <a:gd name="csY2" fmla="*/ 189937 h 210628"/>
                  <a:gd name="csX3" fmla="*/ 66744 w 214370"/>
                  <a:gd name="csY3" fmla="*/ 210365 h 210628"/>
                  <a:gd name="csX4" fmla="*/ 72957 w 214370"/>
                  <a:gd name="csY4" fmla="*/ 210411 h 210628"/>
                  <a:gd name="csX5" fmla="*/ 99112 w 214370"/>
                  <a:gd name="csY5" fmla="*/ 191786 h 210628"/>
                  <a:gd name="csX6" fmla="*/ 115228 w 214370"/>
                  <a:gd name="csY6" fmla="*/ 160502 h 210628"/>
                  <a:gd name="csX7" fmla="*/ 122593 w 214370"/>
                  <a:gd name="csY7" fmla="*/ 143176 h 210628"/>
                  <a:gd name="csX8" fmla="*/ 130302 w 214370"/>
                  <a:gd name="csY8" fmla="*/ 139898 h 210628"/>
                  <a:gd name="csX9" fmla="*/ 149677 w 214370"/>
                  <a:gd name="csY9" fmla="*/ 144661 h 210628"/>
                  <a:gd name="csX10" fmla="*/ 179869 w 214370"/>
                  <a:gd name="csY10" fmla="*/ 148735 h 210628"/>
                  <a:gd name="csX11" fmla="*/ 204817 w 214370"/>
                  <a:gd name="csY11" fmla="*/ 141620 h 210628"/>
                  <a:gd name="csX12" fmla="*/ 212981 w 214370"/>
                  <a:gd name="csY12" fmla="*/ 131042 h 210628"/>
                  <a:gd name="csX13" fmla="*/ 214013 w 214370"/>
                  <a:gd name="csY13" fmla="*/ 125520 h 210628"/>
                  <a:gd name="csX14" fmla="*/ 211818 w 214370"/>
                  <a:gd name="csY14" fmla="*/ 107125 h 210628"/>
                  <a:gd name="csX15" fmla="*/ 202249 w 214370"/>
                  <a:gd name="csY15" fmla="*/ 85660 h 210628"/>
                  <a:gd name="csX16" fmla="*/ 160464 w 214370"/>
                  <a:gd name="csY16" fmla="*/ 0 h 210628"/>
                  <a:gd name="csX17" fmla="*/ 0 w 214370"/>
                  <a:gd name="csY17" fmla="*/ 81405 h 210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70" h="210628">
                    <a:moveTo>
                      <a:pt x="0" y="81405"/>
                    </a:moveTo>
                    <a:lnTo>
                      <a:pt x="30529" y="162281"/>
                    </a:lnTo>
                    <a:cubicBezTo>
                      <a:pt x="34571" y="172992"/>
                      <a:pt x="38264" y="182787"/>
                      <a:pt x="42036" y="189937"/>
                    </a:cubicBezTo>
                    <a:cubicBezTo>
                      <a:pt x="45500" y="196501"/>
                      <a:pt x="52574" y="208057"/>
                      <a:pt x="66744" y="210365"/>
                    </a:cubicBezTo>
                    <a:cubicBezTo>
                      <a:pt x="68799" y="210700"/>
                      <a:pt x="70897" y="210716"/>
                      <a:pt x="72957" y="210411"/>
                    </a:cubicBezTo>
                    <a:cubicBezTo>
                      <a:pt x="85595" y="208545"/>
                      <a:pt x="94152" y="198736"/>
                      <a:pt x="99112" y="191786"/>
                    </a:cubicBezTo>
                    <a:cubicBezTo>
                      <a:pt x="104908" y="183668"/>
                      <a:pt x="110287" y="172967"/>
                      <a:pt x="115228" y="160502"/>
                    </a:cubicBezTo>
                    <a:cubicBezTo>
                      <a:pt x="118700" y="151740"/>
                      <a:pt x="120728" y="146702"/>
                      <a:pt x="122593" y="143176"/>
                    </a:cubicBezTo>
                    <a:cubicBezTo>
                      <a:pt x="123101" y="141647"/>
                      <a:pt x="125353" y="138853"/>
                      <a:pt x="130302" y="139898"/>
                    </a:cubicBezTo>
                    <a:cubicBezTo>
                      <a:pt x="134576" y="140605"/>
                      <a:pt x="140224" y="142106"/>
                      <a:pt x="149677" y="144661"/>
                    </a:cubicBezTo>
                    <a:cubicBezTo>
                      <a:pt x="160877" y="147690"/>
                      <a:pt x="171077" y="148983"/>
                      <a:pt x="179869" y="148735"/>
                    </a:cubicBezTo>
                    <a:cubicBezTo>
                      <a:pt x="187958" y="148505"/>
                      <a:pt x="197389" y="146899"/>
                      <a:pt x="204817" y="141620"/>
                    </a:cubicBezTo>
                    <a:cubicBezTo>
                      <a:pt x="207706" y="139571"/>
                      <a:pt x="211829" y="134476"/>
                      <a:pt x="212981" y="131042"/>
                    </a:cubicBezTo>
                    <a:cubicBezTo>
                      <a:pt x="213343" y="129964"/>
                      <a:pt x="213899" y="128023"/>
                      <a:pt x="214013" y="125520"/>
                    </a:cubicBezTo>
                    <a:cubicBezTo>
                      <a:pt x="215171" y="118114"/>
                      <a:pt x="213273" y="111372"/>
                      <a:pt x="211818" y="107125"/>
                    </a:cubicBezTo>
                    <a:cubicBezTo>
                      <a:pt x="209685" y="100896"/>
                      <a:pt x="206042" y="93434"/>
                      <a:pt x="202249" y="85660"/>
                    </a:cubicBezTo>
                    <a:lnTo>
                      <a:pt x="160464" y="0"/>
                    </a:lnTo>
                    <a:cubicBezTo>
                      <a:pt x="120458" y="45382"/>
                      <a:pt x="63774" y="75713"/>
                      <a:pt x="0" y="81405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90F0769-F624-B5D4-1FC7-9A0E5F66C9EB}"/>
              </a:ext>
            </a:extLst>
          </p:cNvPr>
          <p:cNvGrpSpPr/>
          <p:nvPr/>
        </p:nvGrpSpPr>
        <p:grpSpPr>
          <a:xfrm>
            <a:off x="5133000" y="2349499"/>
            <a:ext cx="4320000" cy="1368000"/>
            <a:chOff x="5133000" y="2349499"/>
            <a:chExt cx="4320000" cy="13680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8F0F122-F46F-6CCF-34BF-2A3F9E138BD0}"/>
                </a:ext>
              </a:extLst>
            </p:cNvPr>
            <p:cNvSpPr/>
            <p:nvPr/>
          </p:nvSpPr>
          <p:spPr>
            <a:xfrm>
              <a:off x="5133000" y="2349499"/>
              <a:ext cx="4320000" cy="136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44090B-FD13-7739-6F1F-449F1C46DB75}"/>
                </a:ext>
              </a:extLst>
            </p:cNvPr>
            <p:cNvSpPr txBox="1"/>
            <p:nvPr/>
          </p:nvSpPr>
          <p:spPr>
            <a:xfrm>
              <a:off x="6211874" y="2569847"/>
              <a:ext cx="3241126" cy="927305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200" b="1">
                  <a:solidFill>
                    <a:srgbClr val="0F3A32"/>
                  </a:solidFill>
                </a:rPr>
                <a:t>국내 사모펀드 운용사 </a:t>
              </a:r>
              <a:r>
                <a:rPr lang="en-US" altLang="ko-KR" sz="1200" b="1">
                  <a:solidFill>
                    <a:srgbClr val="0F3A32"/>
                  </a:solidFill>
                </a:rPr>
                <a:t>A</a:t>
              </a:r>
              <a:r>
                <a:rPr lang="ko-KR" altLang="en-US" sz="1200" b="1">
                  <a:solidFill>
                    <a:srgbClr val="0F3A32"/>
                  </a:solidFill>
                </a:rPr>
                <a:t>社의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lang="ko-KR" altLang="en-US" sz="1200" b="1">
                  <a:solidFill>
                    <a:srgbClr val="0F3A32"/>
                  </a:solidFill>
                </a:rPr>
                <a:t>블라인드 펀드 </a:t>
              </a:r>
              <a:r>
                <a:rPr lang="en-US" altLang="ko-KR" sz="1200" b="1">
                  <a:solidFill>
                    <a:srgbClr val="0F3A32"/>
                  </a:solidFill>
                </a:rPr>
                <a:t>LP </a:t>
              </a:r>
              <a:r>
                <a:rPr lang="ko-KR" altLang="en-US" sz="1200" b="1">
                  <a:solidFill>
                    <a:srgbClr val="0F3A32"/>
                  </a:solidFill>
                </a:rPr>
                <a:t>투자자 유치 자문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대상펀드 주목적에 부합하는 </a:t>
              </a:r>
              <a:r>
                <a:rPr lang="en-US" altLang="ko-KR" sz="1200" b="1" u="sng"/>
                <a:t>SI LP </a:t>
              </a:r>
              <a:r>
                <a:rPr lang="ko-KR" altLang="en-US" sz="1200" b="1" u="sng"/>
                <a:t>투자자 유치</a:t>
              </a:r>
              <a:endParaRPr lang="en-US" altLang="ko-KR" sz="1200" b="1" u="sng"/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다양한 국내 </a:t>
              </a:r>
              <a:r>
                <a:rPr lang="ko-KR" altLang="en-US" sz="1200" b="1" u="sng"/>
                <a:t>파트너 </a:t>
              </a:r>
              <a:r>
                <a:rPr lang="ko-KR" altLang="en-US" sz="1200" b="1" u="sng" err="1"/>
                <a:t>자문사</a:t>
              </a:r>
              <a:r>
                <a:rPr lang="ko-KR" altLang="en-US" sz="1200" b="1" u="sng"/>
                <a:t> 네트워크</a:t>
              </a:r>
              <a:r>
                <a:rPr lang="ko-KR" altLang="en-US" sz="1200"/>
                <a:t> 활용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CF1143B-4E76-93E3-6C66-4BB6687CFF47}"/>
                </a:ext>
              </a:extLst>
            </p:cNvPr>
            <p:cNvGrpSpPr/>
            <p:nvPr/>
          </p:nvGrpSpPr>
          <p:grpSpPr>
            <a:xfrm>
              <a:off x="5436187" y="2743246"/>
              <a:ext cx="472503" cy="580506"/>
              <a:chOff x="4926450" y="3348450"/>
              <a:chExt cx="472503" cy="580506"/>
            </a:xfrm>
          </p:grpSpPr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BE6D2C30-8CC6-DE04-D3DD-53E736939913}"/>
                  </a:ext>
                </a:extLst>
              </p:cNvPr>
              <p:cNvSpPr/>
              <p:nvPr/>
            </p:nvSpPr>
            <p:spPr>
              <a:xfrm>
                <a:off x="4953450" y="3348450"/>
                <a:ext cx="418500" cy="418500"/>
              </a:xfrm>
              <a:custGeom>
                <a:avLst/>
                <a:gdLst>
                  <a:gd name="csX0" fmla="*/ 0 w 418500"/>
                  <a:gd name="csY0" fmla="*/ 209250 h 418500"/>
                  <a:gd name="csX1" fmla="*/ 209250 w 418500"/>
                  <a:gd name="csY1" fmla="*/ 0 h 418500"/>
                  <a:gd name="csX2" fmla="*/ 418500 w 418500"/>
                  <a:gd name="csY2" fmla="*/ 209250 h 418500"/>
                  <a:gd name="csX3" fmla="*/ 209250 w 418500"/>
                  <a:gd name="csY3" fmla="*/ 418500 h 418500"/>
                  <a:gd name="csX4" fmla="*/ 0 w 418500"/>
                  <a:gd name="csY4" fmla="*/ 209250 h 41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500" h="418500">
                    <a:moveTo>
                      <a:pt x="0" y="209250"/>
                    </a:moveTo>
                    <a:cubicBezTo>
                      <a:pt x="0" y="93684"/>
                      <a:pt x="93684" y="0"/>
                      <a:pt x="209250" y="0"/>
                    </a:cubicBezTo>
                    <a:cubicBezTo>
                      <a:pt x="324815" y="0"/>
                      <a:pt x="418500" y="93684"/>
                      <a:pt x="418500" y="209250"/>
                    </a:cubicBezTo>
                    <a:cubicBezTo>
                      <a:pt x="418500" y="324815"/>
                      <a:pt x="324815" y="418500"/>
                      <a:pt x="209250" y="418500"/>
                    </a:cubicBezTo>
                    <a:cubicBezTo>
                      <a:pt x="93684" y="418500"/>
                      <a:pt x="0" y="324815"/>
                      <a:pt x="0" y="209250"/>
                    </a:cubicBezTo>
                    <a:close/>
                  </a:path>
                </a:pathLst>
              </a:custGeom>
              <a:solidFill>
                <a:srgbClr val="0F3A32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AAAFBE73-C380-F833-DD9B-A1EF79640661}"/>
                  </a:ext>
                </a:extLst>
              </p:cNvPr>
              <p:cNvSpPr/>
              <p:nvPr/>
            </p:nvSpPr>
            <p:spPr>
              <a:xfrm>
                <a:off x="5054700" y="3437518"/>
                <a:ext cx="216000" cy="215999"/>
              </a:xfrm>
              <a:custGeom>
                <a:avLst/>
                <a:gdLst>
                  <a:gd name="csX0" fmla="*/ 97775 w 216000"/>
                  <a:gd name="csY0" fmla="*/ 6544 h 215999"/>
                  <a:gd name="csX1" fmla="*/ 118225 w 216000"/>
                  <a:gd name="csY1" fmla="*/ 6544 h 215999"/>
                  <a:gd name="csX2" fmla="*/ 143329 w 216000"/>
                  <a:gd name="csY2" fmla="*/ 58000 h 215999"/>
                  <a:gd name="csX3" fmla="*/ 151748 w 216000"/>
                  <a:gd name="csY3" fmla="*/ 64395 h 215999"/>
                  <a:gd name="csX4" fmla="*/ 206318 w 216000"/>
                  <a:gd name="csY4" fmla="*/ 73473 h 215999"/>
                  <a:gd name="csX5" fmla="*/ 212638 w 216000"/>
                  <a:gd name="csY5" fmla="*/ 93776 h 215999"/>
                  <a:gd name="csX6" fmla="*/ 173572 w 216000"/>
                  <a:gd name="csY6" fmla="*/ 134691 h 215999"/>
                  <a:gd name="csX7" fmla="*/ 170362 w 216000"/>
                  <a:gd name="csY7" fmla="*/ 145021 h 215999"/>
                  <a:gd name="csX8" fmla="*/ 178972 w 216000"/>
                  <a:gd name="csY8" fmla="*/ 202124 h 215999"/>
                  <a:gd name="csX9" fmla="*/ 162427 w 216000"/>
                  <a:gd name="csY9" fmla="*/ 214668 h 215999"/>
                  <a:gd name="csX10" fmla="*/ 113208 w 216000"/>
                  <a:gd name="csY10" fmla="*/ 188478 h 215999"/>
                  <a:gd name="csX11" fmla="*/ 102792 w 216000"/>
                  <a:gd name="csY11" fmla="*/ 188478 h 215999"/>
                  <a:gd name="csX12" fmla="*/ 53573 w 216000"/>
                  <a:gd name="csY12" fmla="*/ 214668 h 215999"/>
                  <a:gd name="csX13" fmla="*/ 37028 w 216000"/>
                  <a:gd name="csY13" fmla="*/ 202124 h 215999"/>
                  <a:gd name="csX14" fmla="*/ 45638 w 216000"/>
                  <a:gd name="csY14" fmla="*/ 145021 h 215999"/>
                  <a:gd name="csX15" fmla="*/ 42427 w 216000"/>
                  <a:gd name="csY15" fmla="*/ 134691 h 215999"/>
                  <a:gd name="csX16" fmla="*/ 3362 w 216000"/>
                  <a:gd name="csY16" fmla="*/ 93776 h 215999"/>
                  <a:gd name="csX17" fmla="*/ 9683 w 216000"/>
                  <a:gd name="csY17" fmla="*/ 73473 h 215999"/>
                  <a:gd name="csX18" fmla="*/ 64252 w 216000"/>
                  <a:gd name="csY18" fmla="*/ 64395 h 215999"/>
                  <a:gd name="csX19" fmla="*/ 72670 w 216000"/>
                  <a:gd name="csY19" fmla="*/ 58000 h 215999"/>
                  <a:gd name="csX20" fmla="*/ 97775 w 216000"/>
                  <a:gd name="csY20" fmla="*/ 6544 h 215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16000" h="215999">
                    <a:moveTo>
                      <a:pt x="97775" y="6544"/>
                    </a:moveTo>
                    <a:cubicBezTo>
                      <a:pt x="102033" y="-2181"/>
                      <a:pt x="113967" y="-2181"/>
                      <a:pt x="118225" y="6544"/>
                    </a:cubicBezTo>
                    <a:lnTo>
                      <a:pt x="143329" y="58000"/>
                    </a:lnTo>
                    <a:cubicBezTo>
                      <a:pt x="144995" y="61415"/>
                      <a:pt x="148125" y="63792"/>
                      <a:pt x="151748" y="64395"/>
                    </a:cubicBezTo>
                    <a:lnTo>
                      <a:pt x="206318" y="73473"/>
                    </a:lnTo>
                    <a:cubicBezTo>
                      <a:pt x="215565" y="75011"/>
                      <a:pt x="219251" y="86849"/>
                      <a:pt x="212638" y="93776"/>
                    </a:cubicBezTo>
                    <a:lnTo>
                      <a:pt x="173572" y="134691"/>
                    </a:lnTo>
                    <a:cubicBezTo>
                      <a:pt x="170986" y="137401"/>
                      <a:pt x="169792" y="141240"/>
                      <a:pt x="170362" y="145021"/>
                    </a:cubicBezTo>
                    <a:lnTo>
                      <a:pt x="178972" y="202124"/>
                    </a:lnTo>
                    <a:cubicBezTo>
                      <a:pt x="180430" y="211793"/>
                      <a:pt x="170778" y="219112"/>
                      <a:pt x="162427" y="214668"/>
                    </a:cubicBezTo>
                    <a:lnTo>
                      <a:pt x="113208" y="188478"/>
                    </a:lnTo>
                    <a:cubicBezTo>
                      <a:pt x="109936" y="186737"/>
                      <a:pt x="106064" y="186737"/>
                      <a:pt x="102792" y="188478"/>
                    </a:cubicBezTo>
                    <a:lnTo>
                      <a:pt x="53573" y="214668"/>
                    </a:lnTo>
                    <a:cubicBezTo>
                      <a:pt x="45222" y="219112"/>
                      <a:pt x="35569" y="211793"/>
                      <a:pt x="37028" y="202124"/>
                    </a:cubicBezTo>
                    <a:lnTo>
                      <a:pt x="45638" y="145021"/>
                    </a:lnTo>
                    <a:cubicBezTo>
                      <a:pt x="46208" y="141240"/>
                      <a:pt x="45015" y="137401"/>
                      <a:pt x="42427" y="134691"/>
                    </a:cubicBezTo>
                    <a:lnTo>
                      <a:pt x="3362" y="93776"/>
                    </a:lnTo>
                    <a:cubicBezTo>
                      <a:pt x="-3251" y="86849"/>
                      <a:pt x="434" y="75011"/>
                      <a:pt x="9683" y="73473"/>
                    </a:cubicBezTo>
                    <a:lnTo>
                      <a:pt x="64252" y="64395"/>
                    </a:lnTo>
                    <a:cubicBezTo>
                      <a:pt x="67875" y="63792"/>
                      <a:pt x="71005" y="61415"/>
                      <a:pt x="72670" y="58000"/>
                    </a:cubicBezTo>
                    <a:lnTo>
                      <a:pt x="97775" y="6544"/>
                    </a:lnTo>
                    <a:close/>
                  </a:path>
                </a:pathLst>
              </a:custGeom>
              <a:solidFill>
                <a:schemeClr val="bg1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977B3948-095F-FCCD-7959-739E8674AAE2}"/>
                  </a:ext>
                </a:extLst>
              </p:cNvPr>
              <p:cNvSpPr/>
              <p:nvPr/>
            </p:nvSpPr>
            <p:spPr>
              <a:xfrm>
                <a:off x="4926450" y="3718328"/>
                <a:ext cx="214369" cy="210623"/>
              </a:xfrm>
              <a:custGeom>
                <a:avLst/>
                <a:gdLst>
                  <a:gd name="csX0" fmla="*/ 53905 w 214369"/>
                  <a:gd name="csY0" fmla="*/ 0 h 210623"/>
                  <a:gd name="csX1" fmla="*/ 12123 w 214369"/>
                  <a:gd name="csY1" fmla="*/ 85658 h 210623"/>
                  <a:gd name="csX2" fmla="*/ 2554 w 214369"/>
                  <a:gd name="csY2" fmla="*/ 107123 h 210623"/>
                  <a:gd name="csX3" fmla="*/ 358 w 214369"/>
                  <a:gd name="csY3" fmla="*/ 125515 h 210623"/>
                  <a:gd name="csX4" fmla="*/ 1390 w 214369"/>
                  <a:gd name="csY4" fmla="*/ 131039 h 210623"/>
                  <a:gd name="csX5" fmla="*/ 9554 w 214369"/>
                  <a:gd name="csY5" fmla="*/ 141618 h 210623"/>
                  <a:gd name="csX6" fmla="*/ 34502 w 214369"/>
                  <a:gd name="csY6" fmla="*/ 148730 h 210623"/>
                  <a:gd name="csX7" fmla="*/ 64694 w 214369"/>
                  <a:gd name="csY7" fmla="*/ 144658 h 210623"/>
                  <a:gd name="csX8" fmla="*/ 84069 w 214369"/>
                  <a:gd name="csY8" fmla="*/ 139895 h 210623"/>
                  <a:gd name="csX9" fmla="*/ 91778 w 214369"/>
                  <a:gd name="csY9" fmla="*/ 143173 h 210623"/>
                  <a:gd name="csX10" fmla="*/ 99143 w 214369"/>
                  <a:gd name="csY10" fmla="*/ 160499 h 210623"/>
                  <a:gd name="csX11" fmla="*/ 115259 w 214369"/>
                  <a:gd name="csY11" fmla="*/ 191784 h 210623"/>
                  <a:gd name="csX12" fmla="*/ 141415 w 214369"/>
                  <a:gd name="csY12" fmla="*/ 210408 h 210623"/>
                  <a:gd name="csX13" fmla="*/ 147628 w 214369"/>
                  <a:gd name="csY13" fmla="*/ 210360 h 210623"/>
                  <a:gd name="csX14" fmla="*/ 172334 w 214369"/>
                  <a:gd name="csY14" fmla="*/ 189934 h 210623"/>
                  <a:gd name="csX15" fmla="*/ 183843 w 214369"/>
                  <a:gd name="csY15" fmla="*/ 162278 h 210623"/>
                  <a:gd name="csX16" fmla="*/ 214369 w 214369"/>
                  <a:gd name="csY16" fmla="*/ 81402 h 210623"/>
                  <a:gd name="csX17" fmla="*/ 53905 w 214369"/>
                  <a:gd name="csY17" fmla="*/ 0 h 210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69" h="210623">
                    <a:moveTo>
                      <a:pt x="53905" y="0"/>
                    </a:moveTo>
                    <a:lnTo>
                      <a:pt x="12123" y="85658"/>
                    </a:lnTo>
                    <a:cubicBezTo>
                      <a:pt x="8330" y="93428"/>
                      <a:pt x="4688" y="100894"/>
                      <a:pt x="2554" y="107123"/>
                    </a:cubicBezTo>
                    <a:cubicBezTo>
                      <a:pt x="1100" y="111367"/>
                      <a:pt x="-800" y="118109"/>
                      <a:pt x="358" y="125515"/>
                    </a:cubicBezTo>
                    <a:cubicBezTo>
                      <a:pt x="473" y="128021"/>
                      <a:pt x="1028" y="129962"/>
                      <a:pt x="1390" y="131039"/>
                    </a:cubicBezTo>
                    <a:cubicBezTo>
                      <a:pt x="2543" y="134474"/>
                      <a:pt x="6667" y="139566"/>
                      <a:pt x="9554" y="141618"/>
                    </a:cubicBezTo>
                    <a:cubicBezTo>
                      <a:pt x="16982" y="146896"/>
                      <a:pt x="26413" y="148500"/>
                      <a:pt x="34502" y="148730"/>
                    </a:cubicBezTo>
                    <a:cubicBezTo>
                      <a:pt x="43294" y="148978"/>
                      <a:pt x="53495" y="147685"/>
                      <a:pt x="64694" y="144658"/>
                    </a:cubicBezTo>
                    <a:cubicBezTo>
                      <a:pt x="74148" y="142101"/>
                      <a:pt x="79794" y="140600"/>
                      <a:pt x="84069" y="139895"/>
                    </a:cubicBezTo>
                    <a:cubicBezTo>
                      <a:pt x="89018" y="138850"/>
                      <a:pt x="91270" y="141645"/>
                      <a:pt x="91778" y="143173"/>
                    </a:cubicBezTo>
                    <a:cubicBezTo>
                      <a:pt x="93643" y="146699"/>
                      <a:pt x="95671" y="151737"/>
                      <a:pt x="99143" y="160499"/>
                    </a:cubicBezTo>
                    <a:cubicBezTo>
                      <a:pt x="104084" y="172962"/>
                      <a:pt x="109464" y="183665"/>
                      <a:pt x="115259" y="191784"/>
                    </a:cubicBezTo>
                    <a:cubicBezTo>
                      <a:pt x="120220" y="198734"/>
                      <a:pt x="128775" y="208543"/>
                      <a:pt x="141415" y="210408"/>
                    </a:cubicBezTo>
                    <a:cubicBezTo>
                      <a:pt x="143476" y="210711"/>
                      <a:pt x="145572" y="210695"/>
                      <a:pt x="147628" y="210360"/>
                    </a:cubicBezTo>
                    <a:cubicBezTo>
                      <a:pt x="161798" y="208051"/>
                      <a:pt x="168872" y="196498"/>
                      <a:pt x="172334" y="189934"/>
                    </a:cubicBezTo>
                    <a:cubicBezTo>
                      <a:pt x="176106" y="182782"/>
                      <a:pt x="179801" y="172989"/>
                      <a:pt x="183843" y="162278"/>
                    </a:cubicBezTo>
                    <a:lnTo>
                      <a:pt x="214369" y="81402"/>
                    </a:lnTo>
                    <a:cubicBezTo>
                      <a:pt x="150596" y="75711"/>
                      <a:pt x="93912" y="45382"/>
                      <a:pt x="53905" y="0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FBA0ADA4-3997-5F7E-9BAB-9F38132E7A23}"/>
                  </a:ext>
                </a:extLst>
              </p:cNvPr>
              <p:cNvSpPr/>
              <p:nvPr/>
            </p:nvSpPr>
            <p:spPr>
              <a:xfrm>
                <a:off x="5184583" y="3718328"/>
                <a:ext cx="214370" cy="210628"/>
              </a:xfrm>
              <a:custGeom>
                <a:avLst/>
                <a:gdLst>
                  <a:gd name="csX0" fmla="*/ 0 w 214370"/>
                  <a:gd name="csY0" fmla="*/ 81405 h 210628"/>
                  <a:gd name="csX1" fmla="*/ 30529 w 214370"/>
                  <a:gd name="csY1" fmla="*/ 162281 h 210628"/>
                  <a:gd name="csX2" fmla="*/ 42036 w 214370"/>
                  <a:gd name="csY2" fmla="*/ 189937 h 210628"/>
                  <a:gd name="csX3" fmla="*/ 66744 w 214370"/>
                  <a:gd name="csY3" fmla="*/ 210365 h 210628"/>
                  <a:gd name="csX4" fmla="*/ 72957 w 214370"/>
                  <a:gd name="csY4" fmla="*/ 210411 h 210628"/>
                  <a:gd name="csX5" fmla="*/ 99112 w 214370"/>
                  <a:gd name="csY5" fmla="*/ 191786 h 210628"/>
                  <a:gd name="csX6" fmla="*/ 115228 w 214370"/>
                  <a:gd name="csY6" fmla="*/ 160502 h 210628"/>
                  <a:gd name="csX7" fmla="*/ 122593 w 214370"/>
                  <a:gd name="csY7" fmla="*/ 143176 h 210628"/>
                  <a:gd name="csX8" fmla="*/ 130302 w 214370"/>
                  <a:gd name="csY8" fmla="*/ 139898 h 210628"/>
                  <a:gd name="csX9" fmla="*/ 149677 w 214370"/>
                  <a:gd name="csY9" fmla="*/ 144661 h 210628"/>
                  <a:gd name="csX10" fmla="*/ 179869 w 214370"/>
                  <a:gd name="csY10" fmla="*/ 148735 h 210628"/>
                  <a:gd name="csX11" fmla="*/ 204817 w 214370"/>
                  <a:gd name="csY11" fmla="*/ 141620 h 210628"/>
                  <a:gd name="csX12" fmla="*/ 212981 w 214370"/>
                  <a:gd name="csY12" fmla="*/ 131042 h 210628"/>
                  <a:gd name="csX13" fmla="*/ 214013 w 214370"/>
                  <a:gd name="csY13" fmla="*/ 125520 h 210628"/>
                  <a:gd name="csX14" fmla="*/ 211818 w 214370"/>
                  <a:gd name="csY14" fmla="*/ 107125 h 210628"/>
                  <a:gd name="csX15" fmla="*/ 202249 w 214370"/>
                  <a:gd name="csY15" fmla="*/ 85660 h 210628"/>
                  <a:gd name="csX16" fmla="*/ 160464 w 214370"/>
                  <a:gd name="csY16" fmla="*/ 0 h 210628"/>
                  <a:gd name="csX17" fmla="*/ 0 w 214370"/>
                  <a:gd name="csY17" fmla="*/ 81405 h 210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70" h="210628">
                    <a:moveTo>
                      <a:pt x="0" y="81405"/>
                    </a:moveTo>
                    <a:lnTo>
                      <a:pt x="30529" y="162281"/>
                    </a:lnTo>
                    <a:cubicBezTo>
                      <a:pt x="34571" y="172992"/>
                      <a:pt x="38264" y="182787"/>
                      <a:pt x="42036" y="189937"/>
                    </a:cubicBezTo>
                    <a:cubicBezTo>
                      <a:pt x="45500" y="196501"/>
                      <a:pt x="52574" y="208057"/>
                      <a:pt x="66744" y="210365"/>
                    </a:cubicBezTo>
                    <a:cubicBezTo>
                      <a:pt x="68799" y="210700"/>
                      <a:pt x="70897" y="210716"/>
                      <a:pt x="72957" y="210411"/>
                    </a:cubicBezTo>
                    <a:cubicBezTo>
                      <a:pt x="85595" y="208545"/>
                      <a:pt x="94152" y="198736"/>
                      <a:pt x="99112" y="191786"/>
                    </a:cubicBezTo>
                    <a:cubicBezTo>
                      <a:pt x="104908" y="183668"/>
                      <a:pt x="110287" y="172967"/>
                      <a:pt x="115228" y="160502"/>
                    </a:cubicBezTo>
                    <a:cubicBezTo>
                      <a:pt x="118700" y="151740"/>
                      <a:pt x="120728" y="146702"/>
                      <a:pt x="122593" y="143176"/>
                    </a:cubicBezTo>
                    <a:cubicBezTo>
                      <a:pt x="123101" y="141647"/>
                      <a:pt x="125353" y="138853"/>
                      <a:pt x="130302" y="139898"/>
                    </a:cubicBezTo>
                    <a:cubicBezTo>
                      <a:pt x="134576" y="140605"/>
                      <a:pt x="140224" y="142106"/>
                      <a:pt x="149677" y="144661"/>
                    </a:cubicBezTo>
                    <a:cubicBezTo>
                      <a:pt x="160877" y="147690"/>
                      <a:pt x="171077" y="148983"/>
                      <a:pt x="179869" y="148735"/>
                    </a:cubicBezTo>
                    <a:cubicBezTo>
                      <a:pt x="187958" y="148505"/>
                      <a:pt x="197389" y="146899"/>
                      <a:pt x="204817" y="141620"/>
                    </a:cubicBezTo>
                    <a:cubicBezTo>
                      <a:pt x="207706" y="139571"/>
                      <a:pt x="211829" y="134476"/>
                      <a:pt x="212981" y="131042"/>
                    </a:cubicBezTo>
                    <a:cubicBezTo>
                      <a:pt x="213343" y="129964"/>
                      <a:pt x="213899" y="128023"/>
                      <a:pt x="214013" y="125520"/>
                    </a:cubicBezTo>
                    <a:cubicBezTo>
                      <a:pt x="215171" y="118114"/>
                      <a:pt x="213273" y="111372"/>
                      <a:pt x="211818" y="107125"/>
                    </a:cubicBezTo>
                    <a:cubicBezTo>
                      <a:pt x="209685" y="100896"/>
                      <a:pt x="206042" y="93434"/>
                      <a:pt x="202249" y="85660"/>
                    </a:cubicBezTo>
                    <a:lnTo>
                      <a:pt x="160464" y="0"/>
                    </a:lnTo>
                    <a:cubicBezTo>
                      <a:pt x="120458" y="45382"/>
                      <a:pt x="63774" y="75713"/>
                      <a:pt x="0" y="81405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1761E73-9DCA-AF8A-59BC-FBBFA8C25530}"/>
              </a:ext>
            </a:extLst>
          </p:cNvPr>
          <p:cNvGrpSpPr/>
          <p:nvPr/>
        </p:nvGrpSpPr>
        <p:grpSpPr>
          <a:xfrm>
            <a:off x="453000" y="3897498"/>
            <a:ext cx="4320000" cy="1368000"/>
            <a:chOff x="453000" y="4013595"/>
            <a:chExt cx="4320000" cy="1368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C503CD1-31D0-D720-6715-4F71D5FDDE13}"/>
                </a:ext>
              </a:extLst>
            </p:cNvPr>
            <p:cNvSpPr/>
            <p:nvPr/>
          </p:nvSpPr>
          <p:spPr>
            <a:xfrm>
              <a:off x="453000" y="4013595"/>
              <a:ext cx="4320000" cy="136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368463-3D66-AE08-8EF0-EAF2D7C46C26}"/>
                </a:ext>
              </a:extLst>
            </p:cNvPr>
            <p:cNvSpPr txBox="1"/>
            <p:nvPr/>
          </p:nvSpPr>
          <p:spPr>
            <a:xfrm>
              <a:off x="1531874" y="4233943"/>
              <a:ext cx="3241126" cy="927305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200" b="1">
                  <a:solidFill>
                    <a:srgbClr val="0F3A32"/>
                  </a:solidFill>
                </a:rPr>
                <a:t>미국 </a:t>
              </a:r>
              <a:r>
                <a:rPr lang="en-US" altLang="ko-KR" sz="1200" b="1">
                  <a:solidFill>
                    <a:srgbClr val="0F3A32"/>
                  </a:solidFill>
                </a:rPr>
                <a:t>NASDAQ </a:t>
              </a:r>
              <a:r>
                <a:rPr lang="ko-KR" altLang="en-US" sz="1200" b="1">
                  <a:solidFill>
                    <a:srgbClr val="0F3A32"/>
                  </a:solidFill>
                </a:rPr>
                <a:t>상장사 </a:t>
              </a:r>
              <a:r>
                <a:rPr lang="en-US" altLang="ko-KR" sz="1200" b="1">
                  <a:solidFill>
                    <a:srgbClr val="0F3A32"/>
                  </a:solidFill>
                </a:rPr>
                <a:t>K</a:t>
              </a:r>
              <a:r>
                <a:rPr lang="ko-KR" altLang="en-US" sz="1200" b="1">
                  <a:solidFill>
                    <a:srgbClr val="0F3A32"/>
                  </a:solidFill>
                </a:rPr>
                <a:t>社의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lang="ko-KR" altLang="en-US" sz="1200" b="1">
                  <a:solidFill>
                    <a:srgbClr val="0F3A32"/>
                  </a:solidFill>
                </a:rPr>
                <a:t>국내 </a:t>
              </a:r>
              <a:r>
                <a:rPr lang="en-US" altLang="ko-KR" sz="1200" b="1">
                  <a:solidFill>
                    <a:srgbClr val="0F3A32"/>
                  </a:solidFill>
                </a:rPr>
                <a:t>CG · VFX </a:t>
              </a:r>
              <a:r>
                <a:rPr lang="ko-KR" altLang="en-US" sz="1200" b="1">
                  <a:solidFill>
                    <a:srgbClr val="0F3A32"/>
                  </a:solidFill>
                </a:rPr>
                <a:t>제작사 인수 자문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미국 상장사 대상 </a:t>
              </a:r>
              <a:r>
                <a:rPr lang="en-US" altLang="ko-KR" sz="1200" b="1" u="sng"/>
                <a:t>Cross Border </a:t>
              </a:r>
              <a:r>
                <a:rPr lang="ko-KR" altLang="en-US" sz="1200" b="1" u="sng"/>
                <a:t>자문</a:t>
              </a:r>
              <a:r>
                <a:rPr lang="ko-KR" altLang="en-US" sz="1200"/>
                <a:t> 제공</a:t>
              </a:r>
              <a:endParaRPr lang="en-US" altLang="ko-KR" sz="1200"/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en-US" altLang="ko-KR" sz="1200"/>
                <a:t>NASDAQ </a:t>
              </a:r>
              <a:r>
                <a:rPr lang="ko-KR" altLang="en-US" sz="1200"/>
                <a:t>상장 주식의 </a:t>
              </a:r>
              <a:r>
                <a:rPr lang="ko-KR" altLang="en-US" sz="1200" b="1" u="sng"/>
                <a:t>지분 </a:t>
              </a:r>
              <a:r>
                <a:rPr lang="en-US" altLang="ko-KR" sz="1200" b="1" u="sng"/>
                <a:t>Swap </a:t>
              </a:r>
              <a:r>
                <a:rPr lang="ko-KR" altLang="en-US" sz="1200" b="1" u="sng"/>
                <a:t>구조</a:t>
              </a:r>
              <a:r>
                <a:rPr lang="ko-KR" altLang="en-US" sz="1200"/>
                <a:t> 설계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F2BDB16-F13B-4D15-581E-18317B8C2771}"/>
                </a:ext>
              </a:extLst>
            </p:cNvPr>
            <p:cNvGrpSpPr/>
            <p:nvPr/>
          </p:nvGrpSpPr>
          <p:grpSpPr>
            <a:xfrm>
              <a:off x="756187" y="4407342"/>
              <a:ext cx="472503" cy="580506"/>
              <a:chOff x="4926450" y="3348450"/>
              <a:chExt cx="472503" cy="580506"/>
            </a:xfrm>
          </p:grpSpPr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73DDA770-D61A-ECEF-2655-1688A073E023}"/>
                  </a:ext>
                </a:extLst>
              </p:cNvPr>
              <p:cNvSpPr/>
              <p:nvPr/>
            </p:nvSpPr>
            <p:spPr>
              <a:xfrm>
                <a:off x="4953450" y="3348450"/>
                <a:ext cx="418500" cy="418500"/>
              </a:xfrm>
              <a:custGeom>
                <a:avLst/>
                <a:gdLst>
                  <a:gd name="csX0" fmla="*/ 0 w 418500"/>
                  <a:gd name="csY0" fmla="*/ 209250 h 418500"/>
                  <a:gd name="csX1" fmla="*/ 209250 w 418500"/>
                  <a:gd name="csY1" fmla="*/ 0 h 418500"/>
                  <a:gd name="csX2" fmla="*/ 418500 w 418500"/>
                  <a:gd name="csY2" fmla="*/ 209250 h 418500"/>
                  <a:gd name="csX3" fmla="*/ 209250 w 418500"/>
                  <a:gd name="csY3" fmla="*/ 418500 h 418500"/>
                  <a:gd name="csX4" fmla="*/ 0 w 418500"/>
                  <a:gd name="csY4" fmla="*/ 209250 h 41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500" h="418500">
                    <a:moveTo>
                      <a:pt x="0" y="209250"/>
                    </a:moveTo>
                    <a:cubicBezTo>
                      <a:pt x="0" y="93684"/>
                      <a:pt x="93684" y="0"/>
                      <a:pt x="209250" y="0"/>
                    </a:cubicBezTo>
                    <a:cubicBezTo>
                      <a:pt x="324815" y="0"/>
                      <a:pt x="418500" y="93684"/>
                      <a:pt x="418500" y="209250"/>
                    </a:cubicBezTo>
                    <a:cubicBezTo>
                      <a:pt x="418500" y="324815"/>
                      <a:pt x="324815" y="418500"/>
                      <a:pt x="209250" y="418500"/>
                    </a:cubicBezTo>
                    <a:cubicBezTo>
                      <a:pt x="93684" y="418500"/>
                      <a:pt x="0" y="324815"/>
                      <a:pt x="0" y="209250"/>
                    </a:cubicBezTo>
                    <a:close/>
                  </a:path>
                </a:pathLst>
              </a:custGeom>
              <a:solidFill>
                <a:srgbClr val="0F3A32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3D75A929-EE5C-BE6C-7CC3-E2A022092CD8}"/>
                  </a:ext>
                </a:extLst>
              </p:cNvPr>
              <p:cNvSpPr/>
              <p:nvPr/>
            </p:nvSpPr>
            <p:spPr>
              <a:xfrm>
                <a:off x="5054700" y="3437518"/>
                <a:ext cx="216000" cy="215999"/>
              </a:xfrm>
              <a:custGeom>
                <a:avLst/>
                <a:gdLst>
                  <a:gd name="csX0" fmla="*/ 97775 w 216000"/>
                  <a:gd name="csY0" fmla="*/ 6544 h 215999"/>
                  <a:gd name="csX1" fmla="*/ 118225 w 216000"/>
                  <a:gd name="csY1" fmla="*/ 6544 h 215999"/>
                  <a:gd name="csX2" fmla="*/ 143329 w 216000"/>
                  <a:gd name="csY2" fmla="*/ 58000 h 215999"/>
                  <a:gd name="csX3" fmla="*/ 151748 w 216000"/>
                  <a:gd name="csY3" fmla="*/ 64395 h 215999"/>
                  <a:gd name="csX4" fmla="*/ 206318 w 216000"/>
                  <a:gd name="csY4" fmla="*/ 73473 h 215999"/>
                  <a:gd name="csX5" fmla="*/ 212638 w 216000"/>
                  <a:gd name="csY5" fmla="*/ 93776 h 215999"/>
                  <a:gd name="csX6" fmla="*/ 173572 w 216000"/>
                  <a:gd name="csY6" fmla="*/ 134691 h 215999"/>
                  <a:gd name="csX7" fmla="*/ 170362 w 216000"/>
                  <a:gd name="csY7" fmla="*/ 145021 h 215999"/>
                  <a:gd name="csX8" fmla="*/ 178972 w 216000"/>
                  <a:gd name="csY8" fmla="*/ 202124 h 215999"/>
                  <a:gd name="csX9" fmla="*/ 162427 w 216000"/>
                  <a:gd name="csY9" fmla="*/ 214668 h 215999"/>
                  <a:gd name="csX10" fmla="*/ 113208 w 216000"/>
                  <a:gd name="csY10" fmla="*/ 188478 h 215999"/>
                  <a:gd name="csX11" fmla="*/ 102792 w 216000"/>
                  <a:gd name="csY11" fmla="*/ 188478 h 215999"/>
                  <a:gd name="csX12" fmla="*/ 53573 w 216000"/>
                  <a:gd name="csY12" fmla="*/ 214668 h 215999"/>
                  <a:gd name="csX13" fmla="*/ 37028 w 216000"/>
                  <a:gd name="csY13" fmla="*/ 202124 h 215999"/>
                  <a:gd name="csX14" fmla="*/ 45638 w 216000"/>
                  <a:gd name="csY14" fmla="*/ 145021 h 215999"/>
                  <a:gd name="csX15" fmla="*/ 42427 w 216000"/>
                  <a:gd name="csY15" fmla="*/ 134691 h 215999"/>
                  <a:gd name="csX16" fmla="*/ 3362 w 216000"/>
                  <a:gd name="csY16" fmla="*/ 93776 h 215999"/>
                  <a:gd name="csX17" fmla="*/ 9683 w 216000"/>
                  <a:gd name="csY17" fmla="*/ 73473 h 215999"/>
                  <a:gd name="csX18" fmla="*/ 64252 w 216000"/>
                  <a:gd name="csY18" fmla="*/ 64395 h 215999"/>
                  <a:gd name="csX19" fmla="*/ 72670 w 216000"/>
                  <a:gd name="csY19" fmla="*/ 58000 h 215999"/>
                  <a:gd name="csX20" fmla="*/ 97775 w 216000"/>
                  <a:gd name="csY20" fmla="*/ 6544 h 215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16000" h="215999">
                    <a:moveTo>
                      <a:pt x="97775" y="6544"/>
                    </a:moveTo>
                    <a:cubicBezTo>
                      <a:pt x="102033" y="-2181"/>
                      <a:pt x="113967" y="-2181"/>
                      <a:pt x="118225" y="6544"/>
                    </a:cubicBezTo>
                    <a:lnTo>
                      <a:pt x="143329" y="58000"/>
                    </a:lnTo>
                    <a:cubicBezTo>
                      <a:pt x="144995" y="61415"/>
                      <a:pt x="148125" y="63792"/>
                      <a:pt x="151748" y="64395"/>
                    </a:cubicBezTo>
                    <a:lnTo>
                      <a:pt x="206318" y="73473"/>
                    </a:lnTo>
                    <a:cubicBezTo>
                      <a:pt x="215565" y="75011"/>
                      <a:pt x="219251" y="86849"/>
                      <a:pt x="212638" y="93776"/>
                    </a:cubicBezTo>
                    <a:lnTo>
                      <a:pt x="173572" y="134691"/>
                    </a:lnTo>
                    <a:cubicBezTo>
                      <a:pt x="170986" y="137401"/>
                      <a:pt x="169792" y="141240"/>
                      <a:pt x="170362" y="145021"/>
                    </a:cubicBezTo>
                    <a:lnTo>
                      <a:pt x="178972" y="202124"/>
                    </a:lnTo>
                    <a:cubicBezTo>
                      <a:pt x="180430" y="211793"/>
                      <a:pt x="170778" y="219112"/>
                      <a:pt x="162427" y="214668"/>
                    </a:cubicBezTo>
                    <a:lnTo>
                      <a:pt x="113208" y="188478"/>
                    </a:lnTo>
                    <a:cubicBezTo>
                      <a:pt x="109936" y="186737"/>
                      <a:pt x="106064" y="186737"/>
                      <a:pt x="102792" y="188478"/>
                    </a:cubicBezTo>
                    <a:lnTo>
                      <a:pt x="53573" y="214668"/>
                    </a:lnTo>
                    <a:cubicBezTo>
                      <a:pt x="45222" y="219112"/>
                      <a:pt x="35569" y="211793"/>
                      <a:pt x="37028" y="202124"/>
                    </a:cubicBezTo>
                    <a:lnTo>
                      <a:pt x="45638" y="145021"/>
                    </a:lnTo>
                    <a:cubicBezTo>
                      <a:pt x="46208" y="141240"/>
                      <a:pt x="45015" y="137401"/>
                      <a:pt x="42427" y="134691"/>
                    </a:cubicBezTo>
                    <a:lnTo>
                      <a:pt x="3362" y="93776"/>
                    </a:lnTo>
                    <a:cubicBezTo>
                      <a:pt x="-3251" y="86849"/>
                      <a:pt x="434" y="75011"/>
                      <a:pt x="9683" y="73473"/>
                    </a:cubicBezTo>
                    <a:lnTo>
                      <a:pt x="64252" y="64395"/>
                    </a:lnTo>
                    <a:cubicBezTo>
                      <a:pt x="67875" y="63792"/>
                      <a:pt x="71005" y="61415"/>
                      <a:pt x="72670" y="58000"/>
                    </a:cubicBezTo>
                    <a:lnTo>
                      <a:pt x="97775" y="6544"/>
                    </a:lnTo>
                    <a:close/>
                  </a:path>
                </a:pathLst>
              </a:custGeom>
              <a:solidFill>
                <a:schemeClr val="bg1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2DC89F3-73E5-7F8D-30D7-9C7AE1C7E059}"/>
                  </a:ext>
                </a:extLst>
              </p:cNvPr>
              <p:cNvSpPr/>
              <p:nvPr/>
            </p:nvSpPr>
            <p:spPr>
              <a:xfrm>
                <a:off x="4926450" y="3718328"/>
                <a:ext cx="214369" cy="210623"/>
              </a:xfrm>
              <a:custGeom>
                <a:avLst/>
                <a:gdLst>
                  <a:gd name="csX0" fmla="*/ 53905 w 214369"/>
                  <a:gd name="csY0" fmla="*/ 0 h 210623"/>
                  <a:gd name="csX1" fmla="*/ 12123 w 214369"/>
                  <a:gd name="csY1" fmla="*/ 85658 h 210623"/>
                  <a:gd name="csX2" fmla="*/ 2554 w 214369"/>
                  <a:gd name="csY2" fmla="*/ 107123 h 210623"/>
                  <a:gd name="csX3" fmla="*/ 358 w 214369"/>
                  <a:gd name="csY3" fmla="*/ 125515 h 210623"/>
                  <a:gd name="csX4" fmla="*/ 1390 w 214369"/>
                  <a:gd name="csY4" fmla="*/ 131039 h 210623"/>
                  <a:gd name="csX5" fmla="*/ 9554 w 214369"/>
                  <a:gd name="csY5" fmla="*/ 141618 h 210623"/>
                  <a:gd name="csX6" fmla="*/ 34502 w 214369"/>
                  <a:gd name="csY6" fmla="*/ 148730 h 210623"/>
                  <a:gd name="csX7" fmla="*/ 64694 w 214369"/>
                  <a:gd name="csY7" fmla="*/ 144658 h 210623"/>
                  <a:gd name="csX8" fmla="*/ 84069 w 214369"/>
                  <a:gd name="csY8" fmla="*/ 139895 h 210623"/>
                  <a:gd name="csX9" fmla="*/ 91778 w 214369"/>
                  <a:gd name="csY9" fmla="*/ 143173 h 210623"/>
                  <a:gd name="csX10" fmla="*/ 99143 w 214369"/>
                  <a:gd name="csY10" fmla="*/ 160499 h 210623"/>
                  <a:gd name="csX11" fmla="*/ 115259 w 214369"/>
                  <a:gd name="csY11" fmla="*/ 191784 h 210623"/>
                  <a:gd name="csX12" fmla="*/ 141415 w 214369"/>
                  <a:gd name="csY12" fmla="*/ 210408 h 210623"/>
                  <a:gd name="csX13" fmla="*/ 147628 w 214369"/>
                  <a:gd name="csY13" fmla="*/ 210360 h 210623"/>
                  <a:gd name="csX14" fmla="*/ 172334 w 214369"/>
                  <a:gd name="csY14" fmla="*/ 189934 h 210623"/>
                  <a:gd name="csX15" fmla="*/ 183843 w 214369"/>
                  <a:gd name="csY15" fmla="*/ 162278 h 210623"/>
                  <a:gd name="csX16" fmla="*/ 214369 w 214369"/>
                  <a:gd name="csY16" fmla="*/ 81402 h 210623"/>
                  <a:gd name="csX17" fmla="*/ 53905 w 214369"/>
                  <a:gd name="csY17" fmla="*/ 0 h 210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69" h="210623">
                    <a:moveTo>
                      <a:pt x="53905" y="0"/>
                    </a:moveTo>
                    <a:lnTo>
                      <a:pt x="12123" y="85658"/>
                    </a:lnTo>
                    <a:cubicBezTo>
                      <a:pt x="8330" y="93428"/>
                      <a:pt x="4688" y="100894"/>
                      <a:pt x="2554" y="107123"/>
                    </a:cubicBezTo>
                    <a:cubicBezTo>
                      <a:pt x="1100" y="111367"/>
                      <a:pt x="-800" y="118109"/>
                      <a:pt x="358" y="125515"/>
                    </a:cubicBezTo>
                    <a:cubicBezTo>
                      <a:pt x="473" y="128021"/>
                      <a:pt x="1028" y="129962"/>
                      <a:pt x="1390" y="131039"/>
                    </a:cubicBezTo>
                    <a:cubicBezTo>
                      <a:pt x="2543" y="134474"/>
                      <a:pt x="6667" y="139566"/>
                      <a:pt x="9554" y="141618"/>
                    </a:cubicBezTo>
                    <a:cubicBezTo>
                      <a:pt x="16982" y="146896"/>
                      <a:pt x="26413" y="148500"/>
                      <a:pt x="34502" y="148730"/>
                    </a:cubicBezTo>
                    <a:cubicBezTo>
                      <a:pt x="43294" y="148978"/>
                      <a:pt x="53495" y="147685"/>
                      <a:pt x="64694" y="144658"/>
                    </a:cubicBezTo>
                    <a:cubicBezTo>
                      <a:pt x="74148" y="142101"/>
                      <a:pt x="79794" y="140600"/>
                      <a:pt x="84069" y="139895"/>
                    </a:cubicBezTo>
                    <a:cubicBezTo>
                      <a:pt x="89018" y="138850"/>
                      <a:pt x="91270" y="141645"/>
                      <a:pt x="91778" y="143173"/>
                    </a:cubicBezTo>
                    <a:cubicBezTo>
                      <a:pt x="93643" y="146699"/>
                      <a:pt x="95671" y="151737"/>
                      <a:pt x="99143" y="160499"/>
                    </a:cubicBezTo>
                    <a:cubicBezTo>
                      <a:pt x="104084" y="172962"/>
                      <a:pt x="109464" y="183665"/>
                      <a:pt x="115259" y="191784"/>
                    </a:cubicBezTo>
                    <a:cubicBezTo>
                      <a:pt x="120220" y="198734"/>
                      <a:pt x="128775" y="208543"/>
                      <a:pt x="141415" y="210408"/>
                    </a:cubicBezTo>
                    <a:cubicBezTo>
                      <a:pt x="143476" y="210711"/>
                      <a:pt x="145572" y="210695"/>
                      <a:pt x="147628" y="210360"/>
                    </a:cubicBezTo>
                    <a:cubicBezTo>
                      <a:pt x="161798" y="208051"/>
                      <a:pt x="168872" y="196498"/>
                      <a:pt x="172334" y="189934"/>
                    </a:cubicBezTo>
                    <a:cubicBezTo>
                      <a:pt x="176106" y="182782"/>
                      <a:pt x="179801" y="172989"/>
                      <a:pt x="183843" y="162278"/>
                    </a:cubicBezTo>
                    <a:lnTo>
                      <a:pt x="214369" y="81402"/>
                    </a:lnTo>
                    <a:cubicBezTo>
                      <a:pt x="150596" y="75711"/>
                      <a:pt x="93912" y="45382"/>
                      <a:pt x="53905" y="0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921042E5-A6C1-7DA2-3406-14EAAD9A849E}"/>
                  </a:ext>
                </a:extLst>
              </p:cNvPr>
              <p:cNvSpPr/>
              <p:nvPr/>
            </p:nvSpPr>
            <p:spPr>
              <a:xfrm>
                <a:off x="5184583" y="3718328"/>
                <a:ext cx="214370" cy="210628"/>
              </a:xfrm>
              <a:custGeom>
                <a:avLst/>
                <a:gdLst>
                  <a:gd name="csX0" fmla="*/ 0 w 214370"/>
                  <a:gd name="csY0" fmla="*/ 81405 h 210628"/>
                  <a:gd name="csX1" fmla="*/ 30529 w 214370"/>
                  <a:gd name="csY1" fmla="*/ 162281 h 210628"/>
                  <a:gd name="csX2" fmla="*/ 42036 w 214370"/>
                  <a:gd name="csY2" fmla="*/ 189937 h 210628"/>
                  <a:gd name="csX3" fmla="*/ 66744 w 214370"/>
                  <a:gd name="csY3" fmla="*/ 210365 h 210628"/>
                  <a:gd name="csX4" fmla="*/ 72957 w 214370"/>
                  <a:gd name="csY4" fmla="*/ 210411 h 210628"/>
                  <a:gd name="csX5" fmla="*/ 99112 w 214370"/>
                  <a:gd name="csY5" fmla="*/ 191786 h 210628"/>
                  <a:gd name="csX6" fmla="*/ 115228 w 214370"/>
                  <a:gd name="csY6" fmla="*/ 160502 h 210628"/>
                  <a:gd name="csX7" fmla="*/ 122593 w 214370"/>
                  <a:gd name="csY7" fmla="*/ 143176 h 210628"/>
                  <a:gd name="csX8" fmla="*/ 130302 w 214370"/>
                  <a:gd name="csY8" fmla="*/ 139898 h 210628"/>
                  <a:gd name="csX9" fmla="*/ 149677 w 214370"/>
                  <a:gd name="csY9" fmla="*/ 144661 h 210628"/>
                  <a:gd name="csX10" fmla="*/ 179869 w 214370"/>
                  <a:gd name="csY10" fmla="*/ 148735 h 210628"/>
                  <a:gd name="csX11" fmla="*/ 204817 w 214370"/>
                  <a:gd name="csY11" fmla="*/ 141620 h 210628"/>
                  <a:gd name="csX12" fmla="*/ 212981 w 214370"/>
                  <a:gd name="csY12" fmla="*/ 131042 h 210628"/>
                  <a:gd name="csX13" fmla="*/ 214013 w 214370"/>
                  <a:gd name="csY13" fmla="*/ 125520 h 210628"/>
                  <a:gd name="csX14" fmla="*/ 211818 w 214370"/>
                  <a:gd name="csY14" fmla="*/ 107125 h 210628"/>
                  <a:gd name="csX15" fmla="*/ 202249 w 214370"/>
                  <a:gd name="csY15" fmla="*/ 85660 h 210628"/>
                  <a:gd name="csX16" fmla="*/ 160464 w 214370"/>
                  <a:gd name="csY16" fmla="*/ 0 h 210628"/>
                  <a:gd name="csX17" fmla="*/ 0 w 214370"/>
                  <a:gd name="csY17" fmla="*/ 81405 h 210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70" h="210628">
                    <a:moveTo>
                      <a:pt x="0" y="81405"/>
                    </a:moveTo>
                    <a:lnTo>
                      <a:pt x="30529" y="162281"/>
                    </a:lnTo>
                    <a:cubicBezTo>
                      <a:pt x="34571" y="172992"/>
                      <a:pt x="38264" y="182787"/>
                      <a:pt x="42036" y="189937"/>
                    </a:cubicBezTo>
                    <a:cubicBezTo>
                      <a:pt x="45500" y="196501"/>
                      <a:pt x="52574" y="208057"/>
                      <a:pt x="66744" y="210365"/>
                    </a:cubicBezTo>
                    <a:cubicBezTo>
                      <a:pt x="68799" y="210700"/>
                      <a:pt x="70897" y="210716"/>
                      <a:pt x="72957" y="210411"/>
                    </a:cubicBezTo>
                    <a:cubicBezTo>
                      <a:pt x="85595" y="208545"/>
                      <a:pt x="94152" y="198736"/>
                      <a:pt x="99112" y="191786"/>
                    </a:cubicBezTo>
                    <a:cubicBezTo>
                      <a:pt x="104908" y="183668"/>
                      <a:pt x="110287" y="172967"/>
                      <a:pt x="115228" y="160502"/>
                    </a:cubicBezTo>
                    <a:cubicBezTo>
                      <a:pt x="118700" y="151740"/>
                      <a:pt x="120728" y="146702"/>
                      <a:pt x="122593" y="143176"/>
                    </a:cubicBezTo>
                    <a:cubicBezTo>
                      <a:pt x="123101" y="141647"/>
                      <a:pt x="125353" y="138853"/>
                      <a:pt x="130302" y="139898"/>
                    </a:cubicBezTo>
                    <a:cubicBezTo>
                      <a:pt x="134576" y="140605"/>
                      <a:pt x="140224" y="142106"/>
                      <a:pt x="149677" y="144661"/>
                    </a:cubicBezTo>
                    <a:cubicBezTo>
                      <a:pt x="160877" y="147690"/>
                      <a:pt x="171077" y="148983"/>
                      <a:pt x="179869" y="148735"/>
                    </a:cubicBezTo>
                    <a:cubicBezTo>
                      <a:pt x="187958" y="148505"/>
                      <a:pt x="197389" y="146899"/>
                      <a:pt x="204817" y="141620"/>
                    </a:cubicBezTo>
                    <a:cubicBezTo>
                      <a:pt x="207706" y="139571"/>
                      <a:pt x="211829" y="134476"/>
                      <a:pt x="212981" y="131042"/>
                    </a:cubicBezTo>
                    <a:cubicBezTo>
                      <a:pt x="213343" y="129964"/>
                      <a:pt x="213899" y="128023"/>
                      <a:pt x="214013" y="125520"/>
                    </a:cubicBezTo>
                    <a:cubicBezTo>
                      <a:pt x="215171" y="118114"/>
                      <a:pt x="213273" y="111372"/>
                      <a:pt x="211818" y="107125"/>
                    </a:cubicBezTo>
                    <a:cubicBezTo>
                      <a:pt x="209685" y="100896"/>
                      <a:pt x="206042" y="93434"/>
                      <a:pt x="202249" y="85660"/>
                    </a:cubicBezTo>
                    <a:lnTo>
                      <a:pt x="160464" y="0"/>
                    </a:lnTo>
                    <a:cubicBezTo>
                      <a:pt x="120458" y="45382"/>
                      <a:pt x="63774" y="75713"/>
                      <a:pt x="0" y="81405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42527D2-19AA-8AA0-5AFB-A04DACD348CC}"/>
              </a:ext>
            </a:extLst>
          </p:cNvPr>
          <p:cNvGrpSpPr/>
          <p:nvPr/>
        </p:nvGrpSpPr>
        <p:grpSpPr>
          <a:xfrm>
            <a:off x="5133000" y="3897498"/>
            <a:ext cx="4320000" cy="1368000"/>
            <a:chOff x="5133000" y="4013595"/>
            <a:chExt cx="4320000" cy="1368000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4397673-A336-8153-5F1E-5FD42952B1EC}"/>
                </a:ext>
              </a:extLst>
            </p:cNvPr>
            <p:cNvSpPr/>
            <p:nvPr/>
          </p:nvSpPr>
          <p:spPr>
            <a:xfrm>
              <a:off x="5133000" y="4013595"/>
              <a:ext cx="4320000" cy="136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33C973-A411-879B-8D1D-DA7C44DABC8B}"/>
                </a:ext>
              </a:extLst>
            </p:cNvPr>
            <p:cNvSpPr txBox="1"/>
            <p:nvPr/>
          </p:nvSpPr>
          <p:spPr>
            <a:xfrm>
              <a:off x="6211874" y="4233943"/>
              <a:ext cx="3241126" cy="927305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200" b="1">
                  <a:solidFill>
                    <a:srgbClr val="0F3A32"/>
                  </a:solidFill>
                </a:rPr>
                <a:t>국내 제조 </a:t>
              </a:r>
              <a:r>
                <a:rPr lang="en-US" altLang="ko-KR" sz="1200" b="1">
                  <a:solidFill>
                    <a:srgbClr val="0F3A32"/>
                  </a:solidFill>
                </a:rPr>
                <a:t>AI </a:t>
              </a:r>
              <a:r>
                <a:rPr lang="ko-KR" altLang="en-US" sz="1200" b="1">
                  <a:solidFill>
                    <a:srgbClr val="0F3A32"/>
                  </a:solidFill>
                </a:rPr>
                <a:t>솔루션 업체 </a:t>
              </a:r>
              <a:r>
                <a:rPr lang="en-US" altLang="ko-KR" sz="1200" b="1">
                  <a:solidFill>
                    <a:srgbClr val="0F3A32"/>
                  </a:solidFill>
                </a:rPr>
                <a:t>W</a:t>
              </a:r>
              <a:r>
                <a:rPr lang="ko-KR" altLang="en-US" sz="1200" b="1">
                  <a:solidFill>
                    <a:srgbClr val="0F3A32"/>
                  </a:solidFill>
                </a:rPr>
                <a:t>社의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lang="ko-KR" altLang="en-US" sz="1200" b="1">
                  <a:solidFill>
                    <a:srgbClr val="0F3A32"/>
                  </a:solidFill>
                </a:rPr>
                <a:t>경영권 매각 자문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다수의 </a:t>
              </a:r>
              <a:r>
                <a:rPr lang="en-US" altLang="ko-KR" sz="1200" b="1" u="sng"/>
                <a:t>FI </a:t>
              </a:r>
              <a:r>
                <a:rPr lang="ko-KR" altLang="en-US" sz="1200" b="1" u="sng"/>
                <a:t>지분 포함 경영권 매각</a:t>
              </a:r>
              <a:r>
                <a:rPr lang="ko-KR" altLang="en-US" sz="1200"/>
                <a:t> 자문 수행</a:t>
              </a:r>
              <a:endParaRPr lang="en-US" altLang="ko-KR" sz="1200"/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en-US" altLang="ko-KR" sz="1200"/>
                <a:t>SI </a:t>
              </a:r>
              <a:r>
                <a:rPr lang="ko-KR" altLang="en-US" sz="1200"/>
                <a:t>투자자 유치 및 </a:t>
              </a:r>
              <a:r>
                <a:rPr lang="ko-KR" altLang="en-US" sz="1200" b="1" u="sng"/>
                <a:t>구주인수 </a:t>
              </a:r>
              <a:r>
                <a:rPr lang="en-US" altLang="ko-KR" sz="1200" b="1" u="sng"/>
                <a:t>· </a:t>
              </a:r>
              <a:r>
                <a:rPr lang="ko-KR" altLang="en-US" sz="1200" b="1" u="sng"/>
                <a:t>합병 구조</a:t>
              </a:r>
              <a:r>
                <a:rPr lang="ko-KR" altLang="en-US" sz="1200"/>
                <a:t> 설계</a:t>
              </a: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FEC59F0-B59C-FB45-1879-564FCA1813F8}"/>
                </a:ext>
              </a:extLst>
            </p:cNvPr>
            <p:cNvGrpSpPr/>
            <p:nvPr/>
          </p:nvGrpSpPr>
          <p:grpSpPr>
            <a:xfrm>
              <a:off x="5436187" y="4407342"/>
              <a:ext cx="472503" cy="580506"/>
              <a:chOff x="4926450" y="3348450"/>
              <a:chExt cx="472503" cy="580506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B49BAFD9-9A30-EDEF-D7E6-DDE3208C6E2F}"/>
                  </a:ext>
                </a:extLst>
              </p:cNvPr>
              <p:cNvSpPr/>
              <p:nvPr/>
            </p:nvSpPr>
            <p:spPr>
              <a:xfrm>
                <a:off x="4953450" y="3348450"/>
                <a:ext cx="418500" cy="418500"/>
              </a:xfrm>
              <a:custGeom>
                <a:avLst/>
                <a:gdLst>
                  <a:gd name="csX0" fmla="*/ 0 w 418500"/>
                  <a:gd name="csY0" fmla="*/ 209250 h 418500"/>
                  <a:gd name="csX1" fmla="*/ 209250 w 418500"/>
                  <a:gd name="csY1" fmla="*/ 0 h 418500"/>
                  <a:gd name="csX2" fmla="*/ 418500 w 418500"/>
                  <a:gd name="csY2" fmla="*/ 209250 h 418500"/>
                  <a:gd name="csX3" fmla="*/ 209250 w 418500"/>
                  <a:gd name="csY3" fmla="*/ 418500 h 418500"/>
                  <a:gd name="csX4" fmla="*/ 0 w 418500"/>
                  <a:gd name="csY4" fmla="*/ 209250 h 41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500" h="418500">
                    <a:moveTo>
                      <a:pt x="0" y="209250"/>
                    </a:moveTo>
                    <a:cubicBezTo>
                      <a:pt x="0" y="93684"/>
                      <a:pt x="93684" y="0"/>
                      <a:pt x="209250" y="0"/>
                    </a:cubicBezTo>
                    <a:cubicBezTo>
                      <a:pt x="324815" y="0"/>
                      <a:pt x="418500" y="93684"/>
                      <a:pt x="418500" y="209250"/>
                    </a:cubicBezTo>
                    <a:cubicBezTo>
                      <a:pt x="418500" y="324815"/>
                      <a:pt x="324815" y="418500"/>
                      <a:pt x="209250" y="418500"/>
                    </a:cubicBezTo>
                    <a:cubicBezTo>
                      <a:pt x="93684" y="418500"/>
                      <a:pt x="0" y="324815"/>
                      <a:pt x="0" y="209250"/>
                    </a:cubicBezTo>
                    <a:close/>
                  </a:path>
                </a:pathLst>
              </a:custGeom>
              <a:solidFill>
                <a:srgbClr val="0F3A32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D183A7F1-319A-17A5-446E-555CF4C67ED2}"/>
                  </a:ext>
                </a:extLst>
              </p:cNvPr>
              <p:cNvSpPr/>
              <p:nvPr/>
            </p:nvSpPr>
            <p:spPr>
              <a:xfrm>
                <a:off x="5054700" y="3437518"/>
                <a:ext cx="216000" cy="215999"/>
              </a:xfrm>
              <a:custGeom>
                <a:avLst/>
                <a:gdLst>
                  <a:gd name="csX0" fmla="*/ 97775 w 216000"/>
                  <a:gd name="csY0" fmla="*/ 6544 h 215999"/>
                  <a:gd name="csX1" fmla="*/ 118225 w 216000"/>
                  <a:gd name="csY1" fmla="*/ 6544 h 215999"/>
                  <a:gd name="csX2" fmla="*/ 143329 w 216000"/>
                  <a:gd name="csY2" fmla="*/ 58000 h 215999"/>
                  <a:gd name="csX3" fmla="*/ 151748 w 216000"/>
                  <a:gd name="csY3" fmla="*/ 64395 h 215999"/>
                  <a:gd name="csX4" fmla="*/ 206318 w 216000"/>
                  <a:gd name="csY4" fmla="*/ 73473 h 215999"/>
                  <a:gd name="csX5" fmla="*/ 212638 w 216000"/>
                  <a:gd name="csY5" fmla="*/ 93776 h 215999"/>
                  <a:gd name="csX6" fmla="*/ 173572 w 216000"/>
                  <a:gd name="csY6" fmla="*/ 134691 h 215999"/>
                  <a:gd name="csX7" fmla="*/ 170362 w 216000"/>
                  <a:gd name="csY7" fmla="*/ 145021 h 215999"/>
                  <a:gd name="csX8" fmla="*/ 178972 w 216000"/>
                  <a:gd name="csY8" fmla="*/ 202124 h 215999"/>
                  <a:gd name="csX9" fmla="*/ 162427 w 216000"/>
                  <a:gd name="csY9" fmla="*/ 214668 h 215999"/>
                  <a:gd name="csX10" fmla="*/ 113208 w 216000"/>
                  <a:gd name="csY10" fmla="*/ 188478 h 215999"/>
                  <a:gd name="csX11" fmla="*/ 102792 w 216000"/>
                  <a:gd name="csY11" fmla="*/ 188478 h 215999"/>
                  <a:gd name="csX12" fmla="*/ 53573 w 216000"/>
                  <a:gd name="csY12" fmla="*/ 214668 h 215999"/>
                  <a:gd name="csX13" fmla="*/ 37028 w 216000"/>
                  <a:gd name="csY13" fmla="*/ 202124 h 215999"/>
                  <a:gd name="csX14" fmla="*/ 45638 w 216000"/>
                  <a:gd name="csY14" fmla="*/ 145021 h 215999"/>
                  <a:gd name="csX15" fmla="*/ 42427 w 216000"/>
                  <a:gd name="csY15" fmla="*/ 134691 h 215999"/>
                  <a:gd name="csX16" fmla="*/ 3362 w 216000"/>
                  <a:gd name="csY16" fmla="*/ 93776 h 215999"/>
                  <a:gd name="csX17" fmla="*/ 9683 w 216000"/>
                  <a:gd name="csY17" fmla="*/ 73473 h 215999"/>
                  <a:gd name="csX18" fmla="*/ 64252 w 216000"/>
                  <a:gd name="csY18" fmla="*/ 64395 h 215999"/>
                  <a:gd name="csX19" fmla="*/ 72670 w 216000"/>
                  <a:gd name="csY19" fmla="*/ 58000 h 215999"/>
                  <a:gd name="csX20" fmla="*/ 97775 w 216000"/>
                  <a:gd name="csY20" fmla="*/ 6544 h 215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16000" h="215999">
                    <a:moveTo>
                      <a:pt x="97775" y="6544"/>
                    </a:moveTo>
                    <a:cubicBezTo>
                      <a:pt x="102033" y="-2181"/>
                      <a:pt x="113967" y="-2181"/>
                      <a:pt x="118225" y="6544"/>
                    </a:cubicBezTo>
                    <a:lnTo>
                      <a:pt x="143329" y="58000"/>
                    </a:lnTo>
                    <a:cubicBezTo>
                      <a:pt x="144995" y="61415"/>
                      <a:pt x="148125" y="63792"/>
                      <a:pt x="151748" y="64395"/>
                    </a:cubicBezTo>
                    <a:lnTo>
                      <a:pt x="206318" y="73473"/>
                    </a:lnTo>
                    <a:cubicBezTo>
                      <a:pt x="215565" y="75011"/>
                      <a:pt x="219251" y="86849"/>
                      <a:pt x="212638" y="93776"/>
                    </a:cubicBezTo>
                    <a:lnTo>
                      <a:pt x="173572" y="134691"/>
                    </a:lnTo>
                    <a:cubicBezTo>
                      <a:pt x="170986" y="137401"/>
                      <a:pt x="169792" y="141240"/>
                      <a:pt x="170362" y="145021"/>
                    </a:cubicBezTo>
                    <a:lnTo>
                      <a:pt x="178972" y="202124"/>
                    </a:lnTo>
                    <a:cubicBezTo>
                      <a:pt x="180430" y="211793"/>
                      <a:pt x="170778" y="219112"/>
                      <a:pt x="162427" y="214668"/>
                    </a:cubicBezTo>
                    <a:lnTo>
                      <a:pt x="113208" y="188478"/>
                    </a:lnTo>
                    <a:cubicBezTo>
                      <a:pt x="109936" y="186737"/>
                      <a:pt x="106064" y="186737"/>
                      <a:pt x="102792" y="188478"/>
                    </a:cubicBezTo>
                    <a:lnTo>
                      <a:pt x="53573" y="214668"/>
                    </a:lnTo>
                    <a:cubicBezTo>
                      <a:pt x="45222" y="219112"/>
                      <a:pt x="35569" y="211793"/>
                      <a:pt x="37028" y="202124"/>
                    </a:cubicBezTo>
                    <a:lnTo>
                      <a:pt x="45638" y="145021"/>
                    </a:lnTo>
                    <a:cubicBezTo>
                      <a:pt x="46208" y="141240"/>
                      <a:pt x="45015" y="137401"/>
                      <a:pt x="42427" y="134691"/>
                    </a:cubicBezTo>
                    <a:lnTo>
                      <a:pt x="3362" y="93776"/>
                    </a:lnTo>
                    <a:cubicBezTo>
                      <a:pt x="-3251" y="86849"/>
                      <a:pt x="434" y="75011"/>
                      <a:pt x="9683" y="73473"/>
                    </a:cubicBezTo>
                    <a:lnTo>
                      <a:pt x="64252" y="64395"/>
                    </a:lnTo>
                    <a:cubicBezTo>
                      <a:pt x="67875" y="63792"/>
                      <a:pt x="71005" y="61415"/>
                      <a:pt x="72670" y="58000"/>
                    </a:cubicBezTo>
                    <a:lnTo>
                      <a:pt x="97775" y="6544"/>
                    </a:lnTo>
                    <a:close/>
                  </a:path>
                </a:pathLst>
              </a:custGeom>
              <a:solidFill>
                <a:schemeClr val="bg1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65D0EC13-468F-7B1B-2D8C-877020B6EAB3}"/>
                  </a:ext>
                </a:extLst>
              </p:cNvPr>
              <p:cNvSpPr/>
              <p:nvPr/>
            </p:nvSpPr>
            <p:spPr>
              <a:xfrm>
                <a:off x="4926450" y="3718328"/>
                <a:ext cx="214369" cy="210623"/>
              </a:xfrm>
              <a:custGeom>
                <a:avLst/>
                <a:gdLst>
                  <a:gd name="csX0" fmla="*/ 53905 w 214369"/>
                  <a:gd name="csY0" fmla="*/ 0 h 210623"/>
                  <a:gd name="csX1" fmla="*/ 12123 w 214369"/>
                  <a:gd name="csY1" fmla="*/ 85658 h 210623"/>
                  <a:gd name="csX2" fmla="*/ 2554 w 214369"/>
                  <a:gd name="csY2" fmla="*/ 107123 h 210623"/>
                  <a:gd name="csX3" fmla="*/ 358 w 214369"/>
                  <a:gd name="csY3" fmla="*/ 125515 h 210623"/>
                  <a:gd name="csX4" fmla="*/ 1390 w 214369"/>
                  <a:gd name="csY4" fmla="*/ 131039 h 210623"/>
                  <a:gd name="csX5" fmla="*/ 9554 w 214369"/>
                  <a:gd name="csY5" fmla="*/ 141618 h 210623"/>
                  <a:gd name="csX6" fmla="*/ 34502 w 214369"/>
                  <a:gd name="csY6" fmla="*/ 148730 h 210623"/>
                  <a:gd name="csX7" fmla="*/ 64694 w 214369"/>
                  <a:gd name="csY7" fmla="*/ 144658 h 210623"/>
                  <a:gd name="csX8" fmla="*/ 84069 w 214369"/>
                  <a:gd name="csY8" fmla="*/ 139895 h 210623"/>
                  <a:gd name="csX9" fmla="*/ 91778 w 214369"/>
                  <a:gd name="csY9" fmla="*/ 143173 h 210623"/>
                  <a:gd name="csX10" fmla="*/ 99143 w 214369"/>
                  <a:gd name="csY10" fmla="*/ 160499 h 210623"/>
                  <a:gd name="csX11" fmla="*/ 115259 w 214369"/>
                  <a:gd name="csY11" fmla="*/ 191784 h 210623"/>
                  <a:gd name="csX12" fmla="*/ 141415 w 214369"/>
                  <a:gd name="csY12" fmla="*/ 210408 h 210623"/>
                  <a:gd name="csX13" fmla="*/ 147628 w 214369"/>
                  <a:gd name="csY13" fmla="*/ 210360 h 210623"/>
                  <a:gd name="csX14" fmla="*/ 172334 w 214369"/>
                  <a:gd name="csY14" fmla="*/ 189934 h 210623"/>
                  <a:gd name="csX15" fmla="*/ 183843 w 214369"/>
                  <a:gd name="csY15" fmla="*/ 162278 h 210623"/>
                  <a:gd name="csX16" fmla="*/ 214369 w 214369"/>
                  <a:gd name="csY16" fmla="*/ 81402 h 210623"/>
                  <a:gd name="csX17" fmla="*/ 53905 w 214369"/>
                  <a:gd name="csY17" fmla="*/ 0 h 210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69" h="210623">
                    <a:moveTo>
                      <a:pt x="53905" y="0"/>
                    </a:moveTo>
                    <a:lnTo>
                      <a:pt x="12123" y="85658"/>
                    </a:lnTo>
                    <a:cubicBezTo>
                      <a:pt x="8330" y="93428"/>
                      <a:pt x="4688" y="100894"/>
                      <a:pt x="2554" y="107123"/>
                    </a:cubicBezTo>
                    <a:cubicBezTo>
                      <a:pt x="1100" y="111367"/>
                      <a:pt x="-800" y="118109"/>
                      <a:pt x="358" y="125515"/>
                    </a:cubicBezTo>
                    <a:cubicBezTo>
                      <a:pt x="473" y="128021"/>
                      <a:pt x="1028" y="129962"/>
                      <a:pt x="1390" y="131039"/>
                    </a:cubicBezTo>
                    <a:cubicBezTo>
                      <a:pt x="2543" y="134474"/>
                      <a:pt x="6667" y="139566"/>
                      <a:pt x="9554" y="141618"/>
                    </a:cubicBezTo>
                    <a:cubicBezTo>
                      <a:pt x="16982" y="146896"/>
                      <a:pt x="26413" y="148500"/>
                      <a:pt x="34502" y="148730"/>
                    </a:cubicBezTo>
                    <a:cubicBezTo>
                      <a:pt x="43294" y="148978"/>
                      <a:pt x="53495" y="147685"/>
                      <a:pt x="64694" y="144658"/>
                    </a:cubicBezTo>
                    <a:cubicBezTo>
                      <a:pt x="74148" y="142101"/>
                      <a:pt x="79794" y="140600"/>
                      <a:pt x="84069" y="139895"/>
                    </a:cubicBezTo>
                    <a:cubicBezTo>
                      <a:pt x="89018" y="138850"/>
                      <a:pt x="91270" y="141645"/>
                      <a:pt x="91778" y="143173"/>
                    </a:cubicBezTo>
                    <a:cubicBezTo>
                      <a:pt x="93643" y="146699"/>
                      <a:pt x="95671" y="151737"/>
                      <a:pt x="99143" y="160499"/>
                    </a:cubicBezTo>
                    <a:cubicBezTo>
                      <a:pt x="104084" y="172962"/>
                      <a:pt x="109464" y="183665"/>
                      <a:pt x="115259" y="191784"/>
                    </a:cubicBezTo>
                    <a:cubicBezTo>
                      <a:pt x="120220" y="198734"/>
                      <a:pt x="128775" y="208543"/>
                      <a:pt x="141415" y="210408"/>
                    </a:cubicBezTo>
                    <a:cubicBezTo>
                      <a:pt x="143476" y="210711"/>
                      <a:pt x="145572" y="210695"/>
                      <a:pt x="147628" y="210360"/>
                    </a:cubicBezTo>
                    <a:cubicBezTo>
                      <a:pt x="161798" y="208051"/>
                      <a:pt x="168872" y="196498"/>
                      <a:pt x="172334" y="189934"/>
                    </a:cubicBezTo>
                    <a:cubicBezTo>
                      <a:pt x="176106" y="182782"/>
                      <a:pt x="179801" y="172989"/>
                      <a:pt x="183843" y="162278"/>
                    </a:cubicBezTo>
                    <a:lnTo>
                      <a:pt x="214369" y="81402"/>
                    </a:lnTo>
                    <a:cubicBezTo>
                      <a:pt x="150596" y="75711"/>
                      <a:pt x="93912" y="45382"/>
                      <a:pt x="53905" y="0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041B4309-70D2-7D87-FC47-5F90435404E7}"/>
                  </a:ext>
                </a:extLst>
              </p:cNvPr>
              <p:cNvSpPr/>
              <p:nvPr/>
            </p:nvSpPr>
            <p:spPr>
              <a:xfrm>
                <a:off x="5184583" y="3718328"/>
                <a:ext cx="214370" cy="210628"/>
              </a:xfrm>
              <a:custGeom>
                <a:avLst/>
                <a:gdLst>
                  <a:gd name="csX0" fmla="*/ 0 w 214370"/>
                  <a:gd name="csY0" fmla="*/ 81405 h 210628"/>
                  <a:gd name="csX1" fmla="*/ 30529 w 214370"/>
                  <a:gd name="csY1" fmla="*/ 162281 h 210628"/>
                  <a:gd name="csX2" fmla="*/ 42036 w 214370"/>
                  <a:gd name="csY2" fmla="*/ 189937 h 210628"/>
                  <a:gd name="csX3" fmla="*/ 66744 w 214370"/>
                  <a:gd name="csY3" fmla="*/ 210365 h 210628"/>
                  <a:gd name="csX4" fmla="*/ 72957 w 214370"/>
                  <a:gd name="csY4" fmla="*/ 210411 h 210628"/>
                  <a:gd name="csX5" fmla="*/ 99112 w 214370"/>
                  <a:gd name="csY5" fmla="*/ 191786 h 210628"/>
                  <a:gd name="csX6" fmla="*/ 115228 w 214370"/>
                  <a:gd name="csY6" fmla="*/ 160502 h 210628"/>
                  <a:gd name="csX7" fmla="*/ 122593 w 214370"/>
                  <a:gd name="csY7" fmla="*/ 143176 h 210628"/>
                  <a:gd name="csX8" fmla="*/ 130302 w 214370"/>
                  <a:gd name="csY8" fmla="*/ 139898 h 210628"/>
                  <a:gd name="csX9" fmla="*/ 149677 w 214370"/>
                  <a:gd name="csY9" fmla="*/ 144661 h 210628"/>
                  <a:gd name="csX10" fmla="*/ 179869 w 214370"/>
                  <a:gd name="csY10" fmla="*/ 148735 h 210628"/>
                  <a:gd name="csX11" fmla="*/ 204817 w 214370"/>
                  <a:gd name="csY11" fmla="*/ 141620 h 210628"/>
                  <a:gd name="csX12" fmla="*/ 212981 w 214370"/>
                  <a:gd name="csY12" fmla="*/ 131042 h 210628"/>
                  <a:gd name="csX13" fmla="*/ 214013 w 214370"/>
                  <a:gd name="csY13" fmla="*/ 125520 h 210628"/>
                  <a:gd name="csX14" fmla="*/ 211818 w 214370"/>
                  <a:gd name="csY14" fmla="*/ 107125 h 210628"/>
                  <a:gd name="csX15" fmla="*/ 202249 w 214370"/>
                  <a:gd name="csY15" fmla="*/ 85660 h 210628"/>
                  <a:gd name="csX16" fmla="*/ 160464 w 214370"/>
                  <a:gd name="csY16" fmla="*/ 0 h 210628"/>
                  <a:gd name="csX17" fmla="*/ 0 w 214370"/>
                  <a:gd name="csY17" fmla="*/ 81405 h 210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70" h="210628">
                    <a:moveTo>
                      <a:pt x="0" y="81405"/>
                    </a:moveTo>
                    <a:lnTo>
                      <a:pt x="30529" y="162281"/>
                    </a:lnTo>
                    <a:cubicBezTo>
                      <a:pt x="34571" y="172992"/>
                      <a:pt x="38264" y="182787"/>
                      <a:pt x="42036" y="189937"/>
                    </a:cubicBezTo>
                    <a:cubicBezTo>
                      <a:pt x="45500" y="196501"/>
                      <a:pt x="52574" y="208057"/>
                      <a:pt x="66744" y="210365"/>
                    </a:cubicBezTo>
                    <a:cubicBezTo>
                      <a:pt x="68799" y="210700"/>
                      <a:pt x="70897" y="210716"/>
                      <a:pt x="72957" y="210411"/>
                    </a:cubicBezTo>
                    <a:cubicBezTo>
                      <a:pt x="85595" y="208545"/>
                      <a:pt x="94152" y="198736"/>
                      <a:pt x="99112" y="191786"/>
                    </a:cubicBezTo>
                    <a:cubicBezTo>
                      <a:pt x="104908" y="183668"/>
                      <a:pt x="110287" y="172967"/>
                      <a:pt x="115228" y="160502"/>
                    </a:cubicBezTo>
                    <a:cubicBezTo>
                      <a:pt x="118700" y="151740"/>
                      <a:pt x="120728" y="146702"/>
                      <a:pt x="122593" y="143176"/>
                    </a:cubicBezTo>
                    <a:cubicBezTo>
                      <a:pt x="123101" y="141647"/>
                      <a:pt x="125353" y="138853"/>
                      <a:pt x="130302" y="139898"/>
                    </a:cubicBezTo>
                    <a:cubicBezTo>
                      <a:pt x="134576" y="140605"/>
                      <a:pt x="140224" y="142106"/>
                      <a:pt x="149677" y="144661"/>
                    </a:cubicBezTo>
                    <a:cubicBezTo>
                      <a:pt x="160877" y="147690"/>
                      <a:pt x="171077" y="148983"/>
                      <a:pt x="179869" y="148735"/>
                    </a:cubicBezTo>
                    <a:cubicBezTo>
                      <a:pt x="187958" y="148505"/>
                      <a:pt x="197389" y="146899"/>
                      <a:pt x="204817" y="141620"/>
                    </a:cubicBezTo>
                    <a:cubicBezTo>
                      <a:pt x="207706" y="139571"/>
                      <a:pt x="211829" y="134476"/>
                      <a:pt x="212981" y="131042"/>
                    </a:cubicBezTo>
                    <a:cubicBezTo>
                      <a:pt x="213343" y="129964"/>
                      <a:pt x="213899" y="128023"/>
                      <a:pt x="214013" y="125520"/>
                    </a:cubicBezTo>
                    <a:cubicBezTo>
                      <a:pt x="215171" y="118114"/>
                      <a:pt x="213273" y="111372"/>
                      <a:pt x="211818" y="107125"/>
                    </a:cubicBezTo>
                    <a:cubicBezTo>
                      <a:pt x="209685" y="100896"/>
                      <a:pt x="206042" y="93434"/>
                      <a:pt x="202249" y="85660"/>
                    </a:cubicBezTo>
                    <a:lnTo>
                      <a:pt x="160464" y="0"/>
                    </a:lnTo>
                    <a:cubicBezTo>
                      <a:pt x="120458" y="45382"/>
                      <a:pt x="63774" y="75713"/>
                      <a:pt x="0" y="81405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76E0564-58C8-0449-F755-F17E15E36FC6}"/>
              </a:ext>
            </a:extLst>
          </p:cNvPr>
          <p:cNvSpPr/>
          <p:nvPr/>
        </p:nvSpPr>
        <p:spPr>
          <a:xfrm>
            <a:off x="453000" y="5445498"/>
            <a:ext cx="9000000" cy="432000"/>
          </a:xfrm>
          <a:prstGeom prst="rect">
            <a:avLst/>
          </a:prstGeom>
          <a:solidFill>
            <a:srgbClr val="26C260"/>
          </a:solidFill>
          <a:ln w="19050">
            <a:solidFill>
              <a:srgbClr val="0F3A3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/>
          <a:lstStyle/>
          <a:p>
            <a:pPr marL="216000" indent="-216000">
              <a:buFont typeface="Pretendard" panose="02000503000000020004" pitchFamily="50" charset="-127"/>
              <a:buChar char="▶"/>
            </a:pPr>
            <a:r>
              <a:rPr lang="en-US" altLang="ko-KR" sz="1200" b="1">
                <a:solidFill>
                  <a:schemeClr val="bg1"/>
                </a:solidFill>
              </a:rPr>
              <a:t>2025</a:t>
            </a:r>
            <a:r>
              <a:rPr lang="ko-KR" altLang="en-US" sz="1200" b="1">
                <a:solidFill>
                  <a:schemeClr val="bg1"/>
                </a:solidFill>
              </a:rPr>
              <a:t>년 </a:t>
            </a:r>
            <a:r>
              <a:rPr lang="en-US" altLang="ko-KR" sz="1200" b="1">
                <a:solidFill>
                  <a:schemeClr val="bg1"/>
                </a:solidFill>
              </a:rPr>
              <a:t>5</a:t>
            </a:r>
            <a:r>
              <a:rPr lang="ko-KR" altLang="en-US" sz="1200" b="1">
                <a:solidFill>
                  <a:schemeClr val="bg1"/>
                </a:solidFill>
              </a:rPr>
              <a:t>월부터 단 </a:t>
            </a:r>
            <a:r>
              <a:rPr lang="en-US" altLang="ko-KR" sz="1200" b="1">
                <a:solidFill>
                  <a:schemeClr val="bg1"/>
                </a:solidFill>
              </a:rPr>
              <a:t>7</a:t>
            </a:r>
            <a:r>
              <a:rPr lang="ko-KR" altLang="en-US" sz="1200" b="1">
                <a:solidFill>
                  <a:schemeClr val="bg1"/>
                </a:solidFill>
              </a:rPr>
              <a:t>개월 내 </a:t>
            </a:r>
            <a:r>
              <a:rPr lang="ko-KR" altLang="en-US" sz="1200" b="1" u="sng">
                <a:solidFill>
                  <a:schemeClr val="bg1"/>
                </a:solidFill>
              </a:rPr>
              <a:t>총 </a:t>
            </a:r>
            <a:r>
              <a:rPr lang="en-US" altLang="ko-KR" sz="1200" b="1" u="sng">
                <a:solidFill>
                  <a:schemeClr val="bg1"/>
                </a:solidFill>
              </a:rPr>
              <a:t>4</a:t>
            </a:r>
            <a:r>
              <a:rPr lang="ko-KR" altLang="en-US" sz="1200" b="1" u="sng">
                <a:solidFill>
                  <a:schemeClr val="bg1"/>
                </a:solidFill>
              </a:rPr>
              <a:t>건 </a:t>
            </a:r>
            <a:r>
              <a:rPr lang="en-US" altLang="ko-KR" sz="1200" b="1" u="sng">
                <a:solidFill>
                  <a:schemeClr val="bg1"/>
                </a:solidFill>
              </a:rPr>
              <a:t>· 1,810</a:t>
            </a:r>
            <a:r>
              <a:rPr lang="ko-KR" altLang="en-US" sz="1200" b="1" u="sng">
                <a:solidFill>
                  <a:schemeClr val="bg1"/>
                </a:solidFill>
              </a:rPr>
              <a:t>억원</a:t>
            </a:r>
            <a:r>
              <a:rPr lang="en-US" altLang="ko-KR" sz="1200" b="1" u="sng" baseline="30000">
                <a:solidFill>
                  <a:schemeClr val="bg1"/>
                </a:solidFill>
              </a:rPr>
              <a:t>(1)</a:t>
            </a:r>
            <a:r>
              <a:rPr lang="ko-KR" altLang="en-US" sz="1200" b="1">
                <a:solidFill>
                  <a:schemeClr val="bg1"/>
                </a:solidFill>
              </a:rPr>
              <a:t>의 </a:t>
            </a:r>
            <a:r>
              <a:rPr lang="en-US" altLang="ko-KR" sz="1200" b="1">
                <a:solidFill>
                  <a:schemeClr val="bg1"/>
                </a:solidFill>
              </a:rPr>
              <a:t>M&amp;A </a:t>
            </a:r>
            <a:r>
              <a:rPr lang="ko-KR" altLang="en-US" sz="1200" b="1">
                <a:solidFill>
                  <a:schemeClr val="bg1"/>
                </a:solidFill>
              </a:rPr>
              <a:t>거래에 대한 성공적인 매각 </a:t>
            </a:r>
            <a:r>
              <a:rPr lang="en-US" altLang="ko-KR" sz="1200" b="1">
                <a:solidFill>
                  <a:schemeClr val="bg1"/>
                </a:solidFill>
              </a:rPr>
              <a:t>·</a:t>
            </a:r>
            <a:r>
              <a:rPr lang="ko-KR" altLang="en-US" sz="1200" b="1">
                <a:solidFill>
                  <a:schemeClr val="bg1"/>
                </a:solidFill>
              </a:rPr>
              <a:t> 인수 </a:t>
            </a:r>
            <a:r>
              <a:rPr lang="en-US" altLang="ko-KR" sz="1200" b="1">
                <a:solidFill>
                  <a:schemeClr val="bg1"/>
                </a:solidFill>
              </a:rPr>
              <a:t>·</a:t>
            </a:r>
            <a:r>
              <a:rPr lang="ko-KR" altLang="en-US" sz="1200" b="1">
                <a:solidFill>
                  <a:schemeClr val="bg1"/>
                </a:solidFill>
              </a:rPr>
              <a:t> 투자유치 자문 수행</a:t>
            </a:r>
          </a:p>
        </p:txBody>
      </p:sp>
    </p:spTree>
    <p:extLst>
      <p:ext uri="{BB962C8B-B14F-4D97-AF65-F5344CB8AC3E}">
        <p14:creationId xmlns:p14="http://schemas.microsoft.com/office/powerpoint/2010/main" val="212888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2888F76-3D5A-F1C9-98A5-418BC22987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LEGAL &amp; TAX ADVISORY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E367E1-81BD-FF9F-8BE2-07E0847660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3CC95-2615-F45F-95AD-2C54BB6687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895D5-D7C2-B0E2-55AD-42E7AA9751BD}"/>
              </a:ext>
            </a:extLst>
          </p:cNvPr>
          <p:cNvSpPr txBox="1"/>
          <p:nvPr/>
        </p:nvSpPr>
        <p:spPr>
          <a:xfrm>
            <a:off x="453000" y="1089025"/>
            <a:ext cx="9000563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/>
              <a:t>우리는 가장 복잡한 법률 </a:t>
            </a:r>
            <a:r>
              <a:rPr lang="en-US" altLang="ko-KR" sz="1400" b="1"/>
              <a:t>· </a:t>
            </a:r>
            <a:r>
              <a:rPr lang="ko-KR" altLang="en-US" sz="1400" b="1"/>
              <a:t>세무 이슈도 예리하게 판단하는 전문성을 바탕으로</a:t>
            </a:r>
            <a:r>
              <a:rPr lang="en-US" altLang="ko-KR" sz="1400" b="1"/>
              <a:t>, </a:t>
            </a:r>
            <a:r>
              <a:rPr lang="ko-KR" altLang="en-US" sz="1400" b="1"/>
              <a:t>고객이 가장 신뢰할 수 있는 최적의 해법을 제시합니다</a:t>
            </a:r>
            <a:r>
              <a:rPr lang="en-US" altLang="ko-KR" sz="1400" b="1"/>
              <a:t>.</a:t>
            </a:r>
            <a:endParaRPr lang="ko-KR" altLang="en-US" sz="1400" b="1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C5CAAC-7C16-90FC-9698-A1F0F71CB255}"/>
              </a:ext>
            </a:extLst>
          </p:cNvPr>
          <p:cNvSpPr/>
          <p:nvPr/>
        </p:nvSpPr>
        <p:spPr>
          <a:xfrm>
            <a:off x="453000" y="1808163"/>
            <a:ext cx="4392000" cy="288000"/>
          </a:xfrm>
          <a:prstGeom prst="rect">
            <a:avLst/>
          </a:prstGeom>
          <a:solidFill>
            <a:srgbClr val="0F3A32"/>
          </a:solidFill>
          <a:ln w="6350">
            <a:solidFill>
              <a:srgbClr val="0F3A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>
                <a:solidFill>
                  <a:schemeClr val="bg1"/>
                </a:solidFill>
              </a:rPr>
              <a:t>2025</a:t>
            </a:r>
            <a:r>
              <a:rPr lang="ko-KR" altLang="en-US" sz="1200" b="1">
                <a:solidFill>
                  <a:schemeClr val="bg1"/>
                </a:solidFill>
              </a:rPr>
              <a:t>년 주요 법률 </a:t>
            </a:r>
            <a:r>
              <a:rPr lang="en-US" altLang="ko-KR" sz="1200" b="1">
                <a:solidFill>
                  <a:schemeClr val="bg1"/>
                </a:solidFill>
              </a:rPr>
              <a:t>· </a:t>
            </a:r>
            <a:r>
              <a:rPr lang="ko-KR" altLang="en-US" sz="1200" b="1">
                <a:solidFill>
                  <a:schemeClr val="bg1"/>
                </a:solidFill>
              </a:rPr>
              <a:t>세무 자문 </a:t>
            </a:r>
            <a:r>
              <a:rPr lang="en-US" altLang="ko-KR" sz="1200" b="1">
                <a:solidFill>
                  <a:schemeClr val="bg1"/>
                </a:solidFill>
              </a:rPr>
              <a:t>Track Record</a:t>
            </a:r>
            <a:endParaRPr lang="ko-KR" altLang="en-US" sz="1200" b="1">
              <a:solidFill>
                <a:schemeClr val="bg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878088-0824-029A-2B04-8B96962F060B}"/>
              </a:ext>
            </a:extLst>
          </p:cNvPr>
          <p:cNvGrpSpPr/>
          <p:nvPr/>
        </p:nvGrpSpPr>
        <p:grpSpPr>
          <a:xfrm>
            <a:off x="453000" y="2349499"/>
            <a:ext cx="4320000" cy="1368000"/>
            <a:chOff x="453000" y="2349499"/>
            <a:chExt cx="4320000" cy="13680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313F4A5-E07C-B7A6-2387-4B2E07677BB0}"/>
                </a:ext>
              </a:extLst>
            </p:cNvPr>
            <p:cNvSpPr/>
            <p:nvPr/>
          </p:nvSpPr>
          <p:spPr>
            <a:xfrm>
              <a:off x="453000" y="2349499"/>
              <a:ext cx="4320000" cy="136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5E4D805-77B0-74FB-015D-A094C154A117}"/>
                </a:ext>
              </a:extLst>
            </p:cNvPr>
            <p:cNvGrpSpPr/>
            <p:nvPr/>
          </p:nvGrpSpPr>
          <p:grpSpPr>
            <a:xfrm>
              <a:off x="756187" y="2743246"/>
              <a:ext cx="472503" cy="580506"/>
              <a:chOff x="4926450" y="3348450"/>
              <a:chExt cx="472503" cy="580506"/>
            </a:xfrm>
          </p:grpSpPr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0AD42F9-4687-DA1D-2215-C34470B081A8}"/>
                  </a:ext>
                </a:extLst>
              </p:cNvPr>
              <p:cNvSpPr/>
              <p:nvPr/>
            </p:nvSpPr>
            <p:spPr>
              <a:xfrm>
                <a:off x="4953450" y="3348450"/>
                <a:ext cx="418500" cy="418500"/>
              </a:xfrm>
              <a:custGeom>
                <a:avLst/>
                <a:gdLst>
                  <a:gd name="csX0" fmla="*/ 0 w 418500"/>
                  <a:gd name="csY0" fmla="*/ 209250 h 418500"/>
                  <a:gd name="csX1" fmla="*/ 209250 w 418500"/>
                  <a:gd name="csY1" fmla="*/ 0 h 418500"/>
                  <a:gd name="csX2" fmla="*/ 418500 w 418500"/>
                  <a:gd name="csY2" fmla="*/ 209250 h 418500"/>
                  <a:gd name="csX3" fmla="*/ 209250 w 418500"/>
                  <a:gd name="csY3" fmla="*/ 418500 h 418500"/>
                  <a:gd name="csX4" fmla="*/ 0 w 418500"/>
                  <a:gd name="csY4" fmla="*/ 209250 h 41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500" h="418500">
                    <a:moveTo>
                      <a:pt x="0" y="209250"/>
                    </a:moveTo>
                    <a:cubicBezTo>
                      <a:pt x="0" y="93684"/>
                      <a:pt x="93684" y="0"/>
                      <a:pt x="209250" y="0"/>
                    </a:cubicBezTo>
                    <a:cubicBezTo>
                      <a:pt x="324815" y="0"/>
                      <a:pt x="418500" y="93684"/>
                      <a:pt x="418500" y="209250"/>
                    </a:cubicBezTo>
                    <a:cubicBezTo>
                      <a:pt x="418500" y="324815"/>
                      <a:pt x="324815" y="418500"/>
                      <a:pt x="209250" y="418500"/>
                    </a:cubicBezTo>
                    <a:cubicBezTo>
                      <a:pt x="93684" y="418500"/>
                      <a:pt x="0" y="324815"/>
                      <a:pt x="0" y="209250"/>
                    </a:cubicBezTo>
                    <a:close/>
                  </a:path>
                </a:pathLst>
              </a:custGeom>
              <a:solidFill>
                <a:srgbClr val="0F3A32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13E95539-9CEF-9797-8FE9-AFF14289D919}"/>
                  </a:ext>
                </a:extLst>
              </p:cNvPr>
              <p:cNvSpPr/>
              <p:nvPr/>
            </p:nvSpPr>
            <p:spPr>
              <a:xfrm>
                <a:off x="5054700" y="3437518"/>
                <a:ext cx="216000" cy="215999"/>
              </a:xfrm>
              <a:custGeom>
                <a:avLst/>
                <a:gdLst>
                  <a:gd name="csX0" fmla="*/ 97775 w 216000"/>
                  <a:gd name="csY0" fmla="*/ 6544 h 215999"/>
                  <a:gd name="csX1" fmla="*/ 118225 w 216000"/>
                  <a:gd name="csY1" fmla="*/ 6544 h 215999"/>
                  <a:gd name="csX2" fmla="*/ 143329 w 216000"/>
                  <a:gd name="csY2" fmla="*/ 58000 h 215999"/>
                  <a:gd name="csX3" fmla="*/ 151748 w 216000"/>
                  <a:gd name="csY3" fmla="*/ 64395 h 215999"/>
                  <a:gd name="csX4" fmla="*/ 206318 w 216000"/>
                  <a:gd name="csY4" fmla="*/ 73473 h 215999"/>
                  <a:gd name="csX5" fmla="*/ 212638 w 216000"/>
                  <a:gd name="csY5" fmla="*/ 93776 h 215999"/>
                  <a:gd name="csX6" fmla="*/ 173572 w 216000"/>
                  <a:gd name="csY6" fmla="*/ 134691 h 215999"/>
                  <a:gd name="csX7" fmla="*/ 170362 w 216000"/>
                  <a:gd name="csY7" fmla="*/ 145021 h 215999"/>
                  <a:gd name="csX8" fmla="*/ 178972 w 216000"/>
                  <a:gd name="csY8" fmla="*/ 202124 h 215999"/>
                  <a:gd name="csX9" fmla="*/ 162427 w 216000"/>
                  <a:gd name="csY9" fmla="*/ 214668 h 215999"/>
                  <a:gd name="csX10" fmla="*/ 113208 w 216000"/>
                  <a:gd name="csY10" fmla="*/ 188478 h 215999"/>
                  <a:gd name="csX11" fmla="*/ 102792 w 216000"/>
                  <a:gd name="csY11" fmla="*/ 188478 h 215999"/>
                  <a:gd name="csX12" fmla="*/ 53573 w 216000"/>
                  <a:gd name="csY12" fmla="*/ 214668 h 215999"/>
                  <a:gd name="csX13" fmla="*/ 37028 w 216000"/>
                  <a:gd name="csY13" fmla="*/ 202124 h 215999"/>
                  <a:gd name="csX14" fmla="*/ 45638 w 216000"/>
                  <a:gd name="csY14" fmla="*/ 145021 h 215999"/>
                  <a:gd name="csX15" fmla="*/ 42427 w 216000"/>
                  <a:gd name="csY15" fmla="*/ 134691 h 215999"/>
                  <a:gd name="csX16" fmla="*/ 3362 w 216000"/>
                  <a:gd name="csY16" fmla="*/ 93776 h 215999"/>
                  <a:gd name="csX17" fmla="*/ 9683 w 216000"/>
                  <a:gd name="csY17" fmla="*/ 73473 h 215999"/>
                  <a:gd name="csX18" fmla="*/ 64252 w 216000"/>
                  <a:gd name="csY18" fmla="*/ 64395 h 215999"/>
                  <a:gd name="csX19" fmla="*/ 72670 w 216000"/>
                  <a:gd name="csY19" fmla="*/ 58000 h 215999"/>
                  <a:gd name="csX20" fmla="*/ 97775 w 216000"/>
                  <a:gd name="csY20" fmla="*/ 6544 h 215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16000" h="215999">
                    <a:moveTo>
                      <a:pt x="97775" y="6544"/>
                    </a:moveTo>
                    <a:cubicBezTo>
                      <a:pt x="102033" y="-2181"/>
                      <a:pt x="113967" y="-2181"/>
                      <a:pt x="118225" y="6544"/>
                    </a:cubicBezTo>
                    <a:lnTo>
                      <a:pt x="143329" y="58000"/>
                    </a:lnTo>
                    <a:cubicBezTo>
                      <a:pt x="144995" y="61415"/>
                      <a:pt x="148125" y="63792"/>
                      <a:pt x="151748" y="64395"/>
                    </a:cubicBezTo>
                    <a:lnTo>
                      <a:pt x="206318" y="73473"/>
                    </a:lnTo>
                    <a:cubicBezTo>
                      <a:pt x="215565" y="75011"/>
                      <a:pt x="219251" y="86849"/>
                      <a:pt x="212638" y="93776"/>
                    </a:cubicBezTo>
                    <a:lnTo>
                      <a:pt x="173572" y="134691"/>
                    </a:lnTo>
                    <a:cubicBezTo>
                      <a:pt x="170986" y="137401"/>
                      <a:pt x="169792" y="141240"/>
                      <a:pt x="170362" y="145021"/>
                    </a:cubicBezTo>
                    <a:lnTo>
                      <a:pt x="178972" y="202124"/>
                    </a:lnTo>
                    <a:cubicBezTo>
                      <a:pt x="180430" y="211793"/>
                      <a:pt x="170778" y="219112"/>
                      <a:pt x="162427" y="214668"/>
                    </a:cubicBezTo>
                    <a:lnTo>
                      <a:pt x="113208" y="188478"/>
                    </a:lnTo>
                    <a:cubicBezTo>
                      <a:pt x="109936" y="186737"/>
                      <a:pt x="106064" y="186737"/>
                      <a:pt x="102792" y="188478"/>
                    </a:cubicBezTo>
                    <a:lnTo>
                      <a:pt x="53573" y="214668"/>
                    </a:lnTo>
                    <a:cubicBezTo>
                      <a:pt x="45222" y="219112"/>
                      <a:pt x="35569" y="211793"/>
                      <a:pt x="37028" y="202124"/>
                    </a:cubicBezTo>
                    <a:lnTo>
                      <a:pt x="45638" y="145021"/>
                    </a:lnTo>
                    <a:cubicBezTo>
                      <a:pt x="46208" y="141240"/>
                      <a:pt x="45015" y="137401"/>
                      <a:pt x="42427" y="134691"/>
                    </a:cubicBezTo>
                    <a:lnTo>
                      <a:pt x="3362" y="93776"/>
                    </a:lnTo>
                    <a:cubicBezTo>
                      <a:pt x="-3251" y="86849"/>
                      <a:pt x="434" y="75011"/>
                      <a:pt x="9683" y="73473"/>
                    </a:cubicBezTo>
                    <a:lnTo>
                      <a:pt x="64252" y="64395"/>
                    </a:lnTo>
                    <a:cubicBezTo>
                      <a:pt x="67875" y="63792"/>
                      <a:pt x="71005" y="61415"/>
                      <a:pt x="72670" y="58000"/>
                    </a:cubicBezTo>
                    <a:lnTo>
                      <a:pt x="97775" y="6544"/>
                    </a:lnTo>
                    <a:close/>
                  </a:path>
                </a:pathLst>
              </a:custGeom>
              <a:solidFill>
                <a:schemeClr val="bg1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2A9B5267-2850-EA59-62C0-396A2DD68186}"/>
                  </a:ext>
                </a:extLst>
              </p:cNvPr>
              <p:cNvSpPr/>
              <p:nvPr/>
            </p:nvSpPr>
            <p:spPr>
              <a:xfrm>
                <a:off x="4926450" y="3718328"/>
                <a:ext cx="214369" cy="210623"/>
              </a:xfrm>
              <a:custGeom>
                <a:avLst/>
                <a:gdLst>
                  <a:gd name="csX0" fmla="*/ 53905 w 214369"/>
                  <a:gd name="csY0" fmla="*/ 0 h 210623"/>
                  <a:gd name="csX1" fmla="*/ 12123 w 214369"/>
                  <a:gd name="csY1" fmla="*/ 85658 h 210623"/>
                  <a:gd name="csX2" fmla="*/ 2554 w 214369"/>
                  <a:gd name="csY2" fmla="*/ 107123 h 210623"/>
                  <a:gd name="csX3" fmla="*/ 358 w 214369"/>
                  <a:gd name="csY3" fmla="*/ 125515 h 210623"/>
                  <a:gd name="csX4" fmla="*/ 1390 w 214369"/>
                  <a:gd name="csY4" fmla="*/ 131039 h 210623"/>
                  <a:gd name="csX5" fmla="*/ 9554 w 214369"/>
                  <a:gd name="csY5" fmla="*/ 141618 h 210623"/>
                  <a:gd name="csX6" fmla="*/ 34502 w 214369"/>
                  <a:gd name="csY6" fmla="*/ 148730 h 210623"/>
                  <a:gd name="csX7" fmla="*/ 64694 w 214369"/>
                  <a:gd name="csY7" fmla="*/ 144658 h 210623"/>
                  <a:gd name="csX8" fmla="*/ 84069 w 214369"/>
                  <a:gd name="csY8" fmla="*/ 139895 h 210623"/>
                  <a:gd name="csX9" fmla="*/ 91778 w 214369"/>
                  <a:gd name="csY9" fmla="*/ 143173 h 210623"/>
                  <a:gd name="csX10" fmla="*/ 99143 w 214369"/>
                  <a:gd name="csY10" fmla="*/ 160499 h 210623"/>
                  <a:gd name="csX11" fmla="*/ 115259 w 214369"/>
                  <a:gd name="csY11" fmla="*/ 191784 h 210623"/>
                  <a:gd name="csX12" fmla="*/ 141415 w 214369"/>
                  <a:gd name="csY12" fmla="*/ 210408 h 210623"/>
                  <a:gd name="csX13" fmla="*/ 147628 w 214369"/>
                  <a:gd name="csY13" fmla="*/ 210360 h 210623"/>
                  <a:gd name="csX14" fmla="*/ 172334 w 214369"/>
                  <a:gd name="csY14" fmla="*/ 189934 h 210623"/>
                  <a:gd name="csX15" fmla="*/ 183843 w 214369"/>
                  <a:gd name="csY15" fmla="*/ 162278 h 210623"/>
                  <a:gd name="csX16" fmla="*/ 214369 w 214369"/>
                  <a:gd name="csY16" fmla="*/ 81402 h 210623"/>
                  <a:gd name="csX17" fmla="*/ 53905 w 214369"/>
                  <a:gd name="csY17" fmla="*/ 0 h 210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69" h="210623">
                    <a:moveTo>
                      <a:pt x="53905" y="0"/>
                    </a:moveTo>
                    <a:lnTo>
                      <a:pt x="12123" y="85658"/>
                    </a:lnTo>
                    <a:cubicBezTo>
                      <a:pt x="8330" y="93428"/>
                      <a:pt x="4688" y="100894"/>
                      <a:pt x="2554" y="107123"/>
                    </a:cubicBezTo>
                    <a:cubicBezTo>
                      <a:pt x="1100" y="111367"/>
                      <a:pt x="-800" y="118109"/>
                      <a:pt x="358" y="125515"/>
                    </a:cubicBezTo>
                    <a:cubicBezTo>
                      <a:pt x="473" y="128021"/>
                      <a:pt x="1028" y="129962"/>
                      <a:pt x="1390" y="131039"/>
                    </a:cubicBezTo>
                    <a:cubicBezTo>
                      <a:pt x="2543" y="134474"/>
                      <a:pt x="6667" y="139566"/>
                      <a:pt x="9554" y="141618"/>
                    </a:cubicBezTo>
                    <a:cubicBezTo>
                      <a:pt x="16982" y="146896"/>
                      <a:pt x="26413" y="148500"/>
                      <a:pt x="34502" y="148730"/>
                    </a:cubicBezTo>
                    <a:cubicBezTo>
                      <a:pt x="43294" y="148978"/>
                      <a:pt x="53495" y="147685"/>
                      <a:pt x="64694" y="144658"/>
                    </a:cubicBezTo>
                    <a:cubicBezTo>
                      <a:pt x="74148" y="142101"/>
                      <a:pt x="79794" y="140600"/>
                      <a:pt x="84069" y="139895"/>
                    </a:cubicBezTo>
                    <a:cubicBezTo>
                      <a:pt x="89018" y="138850"/>
                      <a:pt x="91270" y="141645"/>
                      <a:pt x="91778" y="143173"/>
                    </a:cubicBezTo>
                    <a:cubicBezTo>
                      <a:pt x="93643" y="146699"/>
                      <a:pt x="95671" y="151737"/>
                      <a:pt x="99143" y="160499"/>
                    </a:cubicBezTo>
                    <a:cubicBezTo>
                      <a:pt x="104084" y="172962"/>
                      <a:pt x="109464" y="183665"/>
                      <a:pt x="115259" y="191784"/>
                    </a:cubicBezTo>
                    <a:cubicBezTo>
                      <a:pt x="120220" y="198734"/>
                      <a:pt x="128775" y="208543"/>
                      <a:pt x="141415" y="210408"/>
                    </a:cubicBezTo>
                    <a:cubicBezTo>
                      <a:pt x="143476" y="210711"/>
                      <a:pt x="145572" y="210695"/>
                      <a:pt x="147628" y="210360"/>
                    </a:cubicBezTo>
                    <a:cubicBezTo>
                      <a:pt x="161798" y="208051"/>
                      <a:pt x="168872" y="196498"/>
                      <a:pt x="172334" y="189934"/>
                    </a:cubicBezTo>
                    <a:cubicBezTo>
                      <a:pt x="176106" y="182782"/>
                      <a:pt x="179801" y="172989"/>
                      <a:pt x="183843" y="162278"/>
                    </a:cubicBezTo>
                    <a:lnTo>
                      <a:pt x="214369" y="81402"/>
                    </a:lnTo>
                    <a:cubicBezTo>
                      <a:pt x="150596" y="75711"/>
                      <a:pt x="93912" y="45382"/>
                      <a:pt x="53905" y="0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0ADBBCF2-B7A6-ACF1-D5AE-9DBBC26A5AC9}"/>
                  </a:ext>
                </a:extLst>
              </p:cNvPr>
              <p:cNvSpPr/>
              <p:nvPr/>
            </p:nvSpPr>
            <p:spPr>
              <a:xfrm>
                <a:off x="5184583" y="3718328"/>
                <a:ext cx="214370" cy="210628"/>
              </a:xfrm>
              <a:custGeom>
                <a:avLst/>
                <a:gdLst>
                  <a:gd name="csX0" fmla="*/ 0 w 214370"/>
                  <a:gd name="csY0" fmla="*/ 81405 h 210628"/>
                  <a:gd name="csX1" fmla="*/ 30529 w 214370"/>
                  <a:gd name="csY1" fmla="*/ 162281 h 210628"/>
                  <a:gd name="csX2" fmla="*/ 42036 w 214370"/>
                  <a:gd name="csY2" fmla="*/ 189937 h 210628"/>
                  <a:gd name="csX3" fmla="*/ 66744 w 214370"/>
                  <a:gd name="csY3" fmla="*/ 210365 h 210628"/>
                  <a:gd name="csX4" fmla="*/ 72957 w 214370"/>
                  <a:gd name="csY4" fmla="*/ 210411 h 210628"/>
                  <a:gd name="csX5" fmla="*/ 99112 w 214370"/>
                  <a:gd name="csY5" fmla="*/ 191786 h 210628"/>
                  <a:gd name="csX6" fmla="*/ 115228 w 214370"/>
                  <a:gd name="csY6" fmla="*/ 160502 h 210628"/>
                  <a:gd name="csX7" fmla="*/ 122593 w 214370"/>
                  <a:gd name="csY7" fmla="*/ 143176 h 210628"/>
                  <a:gd name="csX8" fmla="*/ 130302 w 214370"/>
                  <a:gd name="csY8" fmla="*/ 139898 h 210628"/>
                  <a:gd name="csX9" fmla="*/ 149677 w 214370"/>
                  <a:gd name="csY9" fmla="*/ 144661 h 210628"/>
                  <a:gd name="csX10" fmla="*/ 179869 w 214370"/>
                  <a:gd name="csY10" fmla="*/ 148735 h 210628"/>
                  <a:gd name="csX11" fmla="*/ 204817 w 214370"/>
                  <a:gd name="csY11" fmla="*/ 141620 h 210628"/>
                  <a:gd name="csX12" fmla="*/ 212981 w 214370"/>
                  <a:gd name="csY12" fmla="*/ 131042 h 210628"/>
                  <a:gd name="csX13" fmla="*/ 214013 w 214370"/>
                  <a:gd name="csY13" fmla="*/ 125520 h 210628"/>
                  <a:gd name="csX14" fmla="*/ 211818 w 214370"/>
                  <a:gd name="csY14" fmla="*/ 107125 h 210628"/>
                  <a:gd name="csX15" fmla="*/ 202249 w 214370"/>
                  <a:gd name="csY15" fmla="*/ 85660 h 210628"/>
                  <a:gd name="csX16" fmla="*/ 160464 w 214370"/>
                  <a:gd name="csY16" fmla="*/ 0 h 210628"/>
                  <a:gd name="csX17" fmla="*/ 0 w 214370"/>
                  <a:gd name="csY17" fmla="*/ 81405 h 210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70" h="210628">
                    <a:moveTo>
                      <a:pt x="0" y="81405"/>
                    </a:moveTo>
                    <a:lnTo>
                      <a:pt x="30529" y="162281"/>
                    </a:lnTo>
                    <a:cubicBezTo>
                      <a:pt x="34571" y="172992"/>
                      <a:pt x="38264" y="182787"/>
                      <a:pt x="42036" y="189937"/>
                    </a:cubicBezTo>
                    <a:cubicBezTo>
                      <a:pt x="45500" y="196501"/>
                      <a:pt x="52574" y="208057"/>
                      <a:pt x="66744" y="210365"/>
                    </a:cubicBezTo>
                    <a:cubicBezTo>
                      <a:pt x="68799" y="210700"/>
                      <a:pt x="70897" y="210716"/>
                      <a:pt x="72957" y="210411"/>
                    </a:cubicBezTo>
                    <a:cubicBezTo>
                      <a:pt x="85595" y="208545"/>
                      <a:pt x="94152" y="198736"/>
                      <a:pt x="99112" y="191786"/>
                    </a:cubicBezTo>
                    <a:cubicBezTo>
                      <a:pt x="104908" y="183668"/>
                      <a:pt x="110287" y="172967"/>
                      <a:pt x="115228" y="160502"/>
                    </a:cubicBezTo>
                    <a:cubicBezTo>
                      <a:pt x="118700" y="151740"/>
                      <a:pt x="120728" y="146702"/>
                      <a:pt x="122593" y="143176"/>
                    </a:cubicBezTo>
                    <a:cubicBezTo>
                      <a:pt x="123101" y="141647"/>
                      <a:pt x="125353" y="138853"/>
                      <a:pt x="130302" y="139898"/>
                    </a:cubicBezTo>
                    <a:cubicBezTo>
                      <a:pt x="134576" y="140605"/>
                      <a:pt x="140224" y="142106"/>
                      <a:pt x="149677" y="144661"/>
                    </a:cubicBezTo>
                    <a:cubicBezTo>
                      <a:pt x="160877" y="147690"/>
                      <a:pt x="171077" y="148983"/>
                      <a:pt x="179869" y="148735"/>
                    </a:cubicBezTo>
                    <a:cubicBezTo>
                      <a:pt x="187958" y="148505"/>
                      <a:pt x="197389" y="146899"/>
                      <a:pt x="204817" y="141620"/>
                    </a:cubicBezTo>
                    <a:cubicBezTo>
                      <a:pt x="207706" y="139571"/>
                      <a:pt x="211829" y="134476"/>
                      <a:pt x="212981" y="131042"/>
                    </a:cubicBezTo>
                    <a:cubicBezTo>
                      <a:pt x="213343" y="129964"/>
                      <a:pt x="213899" y="128023"/>
                      <a:pt x="214013" y="125520"/>
                    </a:cubicBezTo>
                    <a:cubicBezTo>
                      <a:pt x="215171" y="118114"/>
                      <a:pt x="213273" y="111372"/>
                      <a:pt x="211818" y="107125"/>
                    </a:cubicBezTo>
                    <a:cubicBezTo>
                      <a:pt x="209685" y="100896"/>
                      <a:pt x="206042" y="93434"/>
                      <a:pt x="202249" y="85660"/>
                    </a:cubicBezTo>
                    <a:lnTo>
                      <a:pt x="160464" y="0"/>
                    </a:lnTo>
                    <a:cubicBezTo>
                      <a:pt x="120458" y="45382"/>
                      <a:pt x="63774" y="75713"/>
                      <a:pt x="0" y="81405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C31820-5BCA-27CA-2D92-BB2EE07658E9}"/>
                </a:ext>
              </a:extLst>
            </p:cNvPr>
            <p:cNvSpPr txBox="1"/>
            <p:nvPr/>
          </p:nvSpPr>
          <p:spPr>
            <a:xfrm>
              <a:off x="1531874" y="2569847"/>
              <a:ext cx="3241126" cy="927305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200" b="1">
                  <a:solidFill>
                    <a:srgbClr val="0F3A32"/>
                  </a:solidFill>
                </a:rPr>
                <a:t>KONEX</a:t>
              </a:r>
              <a:r>
                <a:rPr lang="ko-KR" altLang="en-US" sz="1200" b="1">
                  <a:solidFill>
                    <a:srgbClr val="0F3A32"/>
                  </a:solidFill>
                </a:rPr>
                <a:t> 상장 바이오 제조사 </a:t>
              </a:r>
              <a:r>
                <a:rPr lang="en-US" altLang="ko-KR" sz="1200" b="1">
                  <a:solidFill>
                    <a:srgbClr val="0F3A32"/>
                  </a:solidFill>
                </a:rPr>
                <a:t>U</a:t>
              </a:r>
              <a:r>
                <a:rPr lang="ko-KR" altLang="en-US" sz="1200" b="1">
                  <a:solidFill>
                    <a:srgbClr val="0F3A32"/>
                  </a:solidFill>
                </a:rPr>
                <a:t>社의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lang="ko-KR" altLang="en-US" sz="1200" b="1">
                  <a:solidFill>
                    <a:srgbClr val="0F3A32"/>
                  </a:solidFill>
                </a:rPr>
                <a:t>경영권 분쟁 해소 자문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적대적 대형 </a:t>
              </a:r>
              <a:r>
                <a:rPr lang="en-US" altLang="ko-KR" sz="1200"/>
                <a:t>SI</a:t>
              </a:r>
              <a:r>
                <a:rPr lang="ko-KR" altLang="en-US" sz="1200"/>
                <a:t>의 </a:t>
              </a:r>
              <a:r>
                <a:rPr lang="ko-KR" altLang="en-US" sz="1200" b="1" u="sng"/>
                <a:t>투자금 조기상환 리스크 해소</a:t>
              </a:r>
              <a:endParaRPr lang="en-US" altLang="ko-KR" sz="1200" b="1" u="sng"/>
            </a:p>
            <a:p>
              <a:pPr marL="171450" indent="-171450" algn="l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 b="1" u="sng"/>
                <a:t>법적 대응 </a:t>
              </a:r>
              <a:r>
                <a:rPr lang="en-US" altLang="ko-KR" sz="1200" b="1" u="sng"/>
                <a:t>· </a:t>
              </a:r>
              <a:r>
                <a:rPr lang="ko-KR" altLang="en-US" sz="1200" b="1" u="sng"/>
                <a:t>협상 병행</a:t>
              </a:r>
              <a:r>
                <a:rPr lang="ko-KR" altLang="en-US" sz="1200"/>
                <a:t> 통한 성공적 합의 도출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E7E00F3-9F35-A5FF-4C60-3D84AE4D98FF}"/>
              </a:ext>
            </a:extLst>
          </p:cNvPr>
          <p:cNvSpPr/>
          <p:nvPr/>
        </p:nvSpPr>
        <p:spPr>
          <a:xfrm>
            <a:off x="453000" y="5445498"/>
            <a:ext cx="9000000" cy="432000"/>
          </a:xfrm>
          <a:prstGeom prst="rect">
            <a:avLst/>
          </a:prstGeom>
          <a:solidFill>
            <a:srgbClr val="26C260"/>
          </a:solidFill>
          <a:ln w="19050">
            <a:solidFill>
              <a:srgbClr val="0F3A3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/>
          <a:lstStyle/>
          <a:p>
            <a:pPr marL="216000" indent="-216000">
              <a:buFont typeface="Pretendard" panose="02000503000000020004" pitchFamily="50" charset="-127"/>
              <a:buChar char="▶"/>
            </a:pPr>
            <a:r>
              <a:rPr lang="ko-KR" altLang="en-US" sz="1200" b="1">
                <a:solidFill>
                  <a:schemeClr val="bg1"/>
                </a:solidFill>
              </a:rPr>
              <a:t>다양한 이해관계</a:t>
            </a:r>
            <a:r>
              <a:rPr lang="en-US" altLang="ko-KR" sz="1200" b="1">
                <a:solidFill>
                  <a:schemeClr val="bg1"/>
                </a:solidFill>
              </a:rPr>
              <a:t>, </a:t>
            </a:r>
            <a:r>
              <a:rPr lang="ko-KR" altLang="en-US" sz="1200" b="1">
                <a:solidFill>
                  <a:schemeClr val="bg1"/>
                </a:solidFill>
              </a:rPr>
              <a:t>규제환경 및 산업분야에 대해 다수의 성공적 자문 </a:t>
            </a:r>
            <a:r>
              <a:rPr lang="en-US" altLang="ko-KR" sz="1200" b="1">
                <a:solidFill>
                  <a:schemeClr val="bg1"/>
                </a:solidFill>
              </a:rPr>
              <a:t>· </a:t>
            </a:r>
            <a:r>
              <a:rPr lang="ko-KR" altLang="en-US" sz="1200" b="1">
                <a:solidFill>
                  <a:schemeClr val="bg1"/>
                </a:solidFill>
              </a:rPr>
              <a:t>소송 대리 사례를 통해 </a:t>
            </a:r>
            <a:r>
              <a:rPr lang="ko-KR" altLang="en-US" sz="1200" b="1" u="sng">
                <a:solidFill>
                  <a:schemeClr val="bg1"/>
                </a:solidFill>
              </a:rPr>
              <a:t>검증된 고도의 전문역량</a:t>
            </a:r>
            <a:r>
              <a:rPr lang="ko-KR" altLang="en-US" sz="1200" b="1">
                <a:solidFill>
                  <a:schemeClr val="bg1"/>
                </a:solidFill>
              </a:rPr>
              <a:t> 보유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81944C5-27E2-E74B-82A2-C55FF23CA429}"/>
              </a:ext>
            </a:extLst>
          </p:cNvPr>
          <p:cNvGrpSpPr/>
          <p:nvPr/>
        </p:nvGrpSpPr>
        <p:grpSpPr>
          <a:xfrm>
            <a:off x="5133000" y="2349499"/>
            <a:ext cx="4320000" cy="1368000"/>
            <a:chOff x="5133000" y="2349499"/>
            <a:chExt cx="4320000" cy="1368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4CED58C-BB8B-9342-BA39-91C6A70AEF7D}"/>
                </a:ext>
              </a:extLst>
            </p:cNvPr>
            <p:cNvSpPr/>
            <p:nvPr/>
          </p:nvSpPr>
          <p:spPr>
            <a:xfrm>
              <a:off x="5133000" y="2349499"/>
              <a:ext cx="4320000" cy="136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82752A6-10C6-05C6-D04F-9F7AD420E4B0}"/>
                </a:ext>
              </a:extLst>
            </p:cNvPr>
            <p:cNvGrpSpPr/>
            <p:nvPr/>
          </p:nvGrpSpPr>
          <p:grpSpPr>
            <a:xfrm>
              <a:off x="5436187" y="2743246"/>
              <a:ext cx="472503" cy="580506"/>
              <a:chOff x="4926450" y="3348450"/>
              <a:chExt cx="472503" cy="580506"/>
            </a:xfrm>
          </p:grpSpPr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C2426A2B-68CB-B0B9-5DD2-CE5BE151FAF6}"/>
                  </a:ext>
                </a:extLst>
              </p:cNvPr>
              <p:cNvSpPr/>
              <p:nvPr/>
            </p:nvSpPr>
            <p:spPr>
              <a:xfrm>
                <a:off x="4953450" y="3348450"/>
                <a:ext cx="418500" cy="418500"/>
              </a:xfrm>
              <a:custGeom>
                <a:avLst/>
                <a:gdLst>
                  <a:gd name="csX0" fmla="*/ 0 w 418500"/>
                  <a:gd name="csY0" fmla="*/ 209250 h 418500"/>
                  <a:gd name="csX1" fmla="*/ 209250 w 418500"/>
                  <a:gd name="csY1" fmla="*/ 0 h 418500"/>
                  <a:gd name="csX2" fmla="*/ 418500 w 418500"/>
                  <a:gd name="csY2" fmla="*/ 209250 h 418500"/>
                  <a:gd name="csX3" fmla="*/ 209250 w 418500"/>
                  <a:gd name="csY3" fmla="*/ 418500 h 418500"/>
                  <a:gd name="csX4" fmla="*/ 0 w 418500"/>
                  <a:gd name="csY4" fmla="*/ 209250 h 41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500" h="418500">
                    <a:moveTo>
                      <a:pt x="0" y="209250"/>
                    </a:moveTo>
                    <a:cubicBezTo>
                      <a:pt x="0" y="93684"/>
                      <a:pt x="93684" y="0"/>
                      <a:pt x="209250" y="0"/>
                    </a:cubicBezTo>
                    <a:cubicBezTo>
                      <a:pt x="324815" y="0"/>
                      <a:pt x="418500" y="93684"/>
                      <a:pt x="418500" y="209250"/>
                    </a:cubicBezTo>
                    <a:cubicBezTo>
                      <a:pt x="418500" y="324815"/>
                      <a:pt x="324815" y="418500"/>
                      <a:pt x="209250" y="418500"/>
                    </a:cubicBezTo>
                    <a:cubicBezTo>
                      <a:pt x="93684" y="418500"/>
                      <a:pt x="0" y="324815"/>
                      <a:pt x="0" y="209250"/>
                    </a:cubicBezTo>
                    <a:close/>
                  </a:path>
                </a:pathLst>
              </a:custGeom>
              <a:solidFill>
                <a:srgbClr val="0F3A32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F3CFD180-5836-83FE-CD01-490B858C2247}"/>
                  </a:ext>
                </a:extLst>
              </p:cNvPr>
              <p:cNvSpPr/>
              <p:nvPr/>
            </p:nvSpPr>
            <p:spPr>
              <a:xfrm>
                <a:off x="5054700" y="3437518"/>
                <a:ext cx="216000" cy="215999"/>
              </a:xfrm>
              <a:custGeom>
                <a:avLst/>
                <a:gdLst>
                  <a:gd name="csX0" fmla="*/ 97775 w 216000"/>
                  <a:gd name="csY0" fmla="*/ 6544 h 215999"/>
                  <a:gd name="csX1" fmla="*/ 118225 w 216000"/>
                  <a:gd name="csY1" fmla="*/ 6544 h 215999"/>
                  <a:gd name="csX2" fmla="*/ 143329 w 216000"/>
                  <a:gd name="csY2" fmla="*/ 58000 h 215999"/>
                  <a:gd name="csX3" fmla="*/ 151748 w 216000"/>
                  <a:gd name="csY3" fmla="*/ 64395 h 215999"/>
                  <a:gd name="csX4" fmla="*/ 206318 w 216000"/>
                  <a:gd name="csY4" fmla="*/ 73473 h 215999"/>
                  <a:gd name="csX5" fmla="*/ 212638 w 216000"/>
                  <a:gd name="csY5" fmla="*/ 93776 h 215999"/>
                  <a:gd name="csX6" fmla="*/ 173572 w 216000"/>
                  <a:gd name="csY6" fmla="*/ 134691 h 215999"/>
                  <a:gd name="csX7" fmla="*/ 170362 w 216000"/>
                  <a:gd name="csY7" fmla="*/ 145021 h 215999"/>
                  <a:gd name="csX8" fmla="*/ 178972 w 216000"/>
                  <a:gd name="csY8" fmla="*/ 202124 h 215999"/>
                  <a:gd name="csX9" fmla="*/ 162427 w 216000"/>
                  <a:gd name="csY9" fmla="*/ 214668 h 215999"/>
                  <a:gd name="csX10" fmla="*/ 113208 w 216000"/>
                  <a:gd name="csY10" fmla="*/ 188478 h 215999"/>
                  <a:gd name="csX11" fmla="*/ 102792 w 216000"/>
                  <a:gd name="csY11" fmla="*/ 188478 h 215999"/>
                  <a:gd name="csX12" fmla="*/ 53573 w 216000"/>
                  <a:gd name="csY12" fmla="*/ 214668 h 215999"/>
                  <a:gd name="csX13" fmla="*/ 37028 w 216000"/>
                  <a:gd name="csY13" fmla="*/ 202124 h 215999"/>
                  <a:gd name="csX14" fmla="*/ 45638 w 216000"/>
                  <a:gd name="csY14" fmla="*/ 145021 h 215999"/>
                  <a:gd name="csX15" fmla="*/ 42427 w 216000"/>
                  <a:gd name="csY15" fmla="*/ 134691 h 215999"/>
                  <a:gd name="csX16" fmla="*/ 3362 w 216000"/>
                  <a:gd name="csY16" fmla="*/ 93776 h 215999"/>
                  <a:gd name="csX17" fmla="*/ 9683 w 216000"/>
                  <a:gd name="csY17" fmla="*/ 73473 h 215999"/>
                  <a:gd name="csX18" fmla="*/ 64252 w 216000"/>
                  <a:gd name="csY18" fmla="*/ 64395 h 215999"/>
                  <a:gd name="csX19" fmla="*/ 72670 w 216000"/>
                  <a:gd name="csY19" fmla="*/ 58000 h 215999"/>
                  <a:gd name="csX20" fmla="*/ 97775 w 216000"/>
                  <a:gd name="csY20" fmla="*/ 6544 h 215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16000" h="215999">
                    <a:moveTo>
                      <a:pt x="97775" y="6544"/>
                    </a:moveTo>
                    <a:cubicBezTo>
                      <a:pt x="102033" y="-2181"/>
                      <a:pt x="113967" y="-2181"/>
                      <a:pt x="118225" y="6544"/>
                    </a:cubicBezTo>
                    <a:lnTo>
                      <a:pt x="143329" y="58000"/>
                    </a:lnTo>
                    <a:cubicBezTo>
                      <a:pt x="144995" y="61415"/>
                      <a:pt x="148125" y="63792"/>
                      <a:pt x="151748" y="64395"/>
                    </a:cubicBezTo>
                    <a:lnTo>
                      <a:pt x="206318" y="73473"/>
                    </a:lnTo>
                    <a:cubicBezTo>
                      <a:pt x="215565" y="75011"/>
                      <a:pt x="219251" y="86849"/>
                      <a:pt x="212638" y="93776"/>
                    </a:cubicBezTo>
                    <a:lnTo>
                      <a:pt x="173572" y="134691"/>
                    </a:lnTo>
                    <a:cubicBezTo>
                      <a:pt x="170986" y="137401"/>
                      <a:pt x="169792" y="141240"/>
                      <a:pt x="170362" y="145021"/>
                    </a:cubicBezTo>
                    <a:lnTo>
                      <a:pt x="178972" y="202124"/>
                    </a:lnTo>
                    <a:cubicBezTo>
                      <a:pt x="180430" y="211793"/>
                      <a:pt x="170778" y="219112"/>
                      <a:pt x="162427" y="214668"/>
                    </a:cubicBezTo>
                    <a:lnTo>
                      <a:pt x="113208" y="188478"/>
                    </a:lnTo>
                    <a:cubicBezTo>
                      <a:pt x="109936" y="186737"/>
                      <a:pt x="106064" y="186737"/>
                      <a:pt x="102792" y="188478"/>
                    </a:cubicBezTo>
                    <a:lnTo>
                      <a:pt x="53573" y="214668"/>
                    </a:lnTo>
                    <a:cubicBezTo>
                      <a:pt x="45222" y="219112"/>
                      <a:pt x="35569" y="211793"/>
                      <a:pt x="37028" y="202124"/>
                    </a:cubicBezTo>
                    <a:lnTo>
                      <a:pt x="45638" y="145021"/>
                    </a:lnTo>
                    <a:cubicBezTo>
                      <a:pt x="46208" y="141240"/>
                      <a:pt x="45015" y="137401"/>
                      <a:pt x="42427" y="134691"/>
                    </a:cubicBezTo>
                    <a:lnTo>
                      <a:pt x="3362" y="93776"/>
                    </a:lnTo>
                    <a:cubicBezTo>
                      <a:pt x="-3251" y="86849"/>
                      <a:pt x="434" y="75011"/>
                      <a:pt x="9683" y="73473"/>
                    </a:cubicBezTo>
                    <a:lnTo>
                      <a:pt x="64252" y="64395"/>
                    </a:lnTo>
                    <a:cubicBezTo>
                      <a:pt x="67875" y="63792"/>
                      <a:pt x="71005" y="61415"/>
                      <a:pt x="72670" y="58000"/>
                    </a:cubicBezTo>
                    <a:lnTo>
                      <a:pt x="97775" y="6544"/>
                    </a:lnTo>
                    <a:close/>
                  </a:path>
                </a:pathLst>
              </a:custGeom>
              <a:solidFill>
                <a:schemeClr val="bg1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8A520046-3C24-A0AD-0ADA-263B40C411DC}"/>
                  </a:ext>
                </a:extLst>
              </p:cNvPr>
              <p:cNvSpPr/>
              <p:nvPr/>
            </p:nvSpPr>
            <p:spPr>
              <a:xfrm>
                <a:off x="4926450" y="3718328"/>
                <a:ext cx="214369" cy="210623"/>
              </a:xfrm>
              <a:custGeom>
                <a:avLst/>
                <a:gdLst>
                  <a:gd name="csX0" fmla="*/ 53905 w 214369"/>
                  <a:gd name="csY0" fmla="*/ 0 h 210623"/>
                  <a:gd name="csX1" fmla="*/ 12123 w 214369"/>
                  <a:gd name="csY1" fmla="*/ 85658 h 210623"/>
                  <a:gd name="csX2" fmla="*/ 2554 w 214369"/>
                  <a:gd name="csY2" fmla="*/ 107123 h 210623"/>
                  <a:gd name="csX3" fmla="*/ 358 w 214369"/>
                  <a:gd name="csY3" fmla="*/ 125515 h 210623"/>
                  <a:gd name="csX4" fmla="*/ 1390 w 214369"/>
                  <a:gd name="csY4" fmla="*/ 131039 h 210623"/>
                  <a:gd name="csX5" fmla="*/ 9554 w 214369"/>
                  <a:gd name="csY5" fmla="*/ 141618 h 210623"/>
                  <a:gd name="csX6" fmla="*/ 34502 w 214369"/>
                  <a:gd name="csY6" fmla="*/ 148730 h 210623"/>
                  <a:gd name="csX7" fmla="*/ 64694 w 214369"/>
                  <a:gd name="csY7" fmla="*/ 144658 h 210623"/>
                  <a:gd name="csX8" fmla="*/ 84069 w 214369"/>
                  <a:gd name="csY8" fmla="*/ 139895 h 210623"/>
                  <a:gd name="csX9" fmla="*/ 91778 w 214369"/>
                  <a:gd name="csY9" fmla="*/ 143173 h 210623"/>
                  <a:gd name="csX10" fmla="*/ 99143 w 214369"/>
                  <a:gd name="csY10" fmla="*/ 160499 h 210623"/>
                  <a:gd name="csX11" fmla="*/ 115259 w 214369"/>
                  <a:gd name="csY11" fmla="*/ 191784 h 210623"/>
                  <a:gd name="csX12" fmla="*/ 141415 w 214369"/>
                  <a:gd name="csY12" fmla="*/ 210408 h 210623"/>
                  <a:gd name="csX13" fmla="*/ 147628 w 214369"/>
                  <a:gd name="csY13" fmla="*/ 210360 h 210623"/>
                  <a:gd name="csX14" fmla="*/ 172334 w 214369"/>
                  <a:gd name="csY14" fmla="*/ 189934 h 210623"/>
                  <a:gd name="csX15" fmla="*/ 183843 w 214369"/>
                  <a:gd name="csY15" fmla="*/ 162278 h 210623"/>
                  <a:gd name="csX16" fmla="*/ 214369 w 214369"/>
                  <a:gd name="csY16" fmla="*/ 81402 h 210623"/>
                  <a:gd name="csX17" fmla="*/ 53905 w 214369"/>
                  <a:gd name="csY17" fmla="*/ 0 h 210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69" h="210623">
                    <a:moveTo>
                      <a:pt x="53905" y="0"/>
                    </a:moveTo>
                    <a:lnTo>
                      <a:pt x="12123" y="85658"/>
                    </a:lnTo>
                    <a:cubicBezTo>
                      <a:pt x="8330" y="93428"/>
                      <a:pt x="4688" y="100894"/>
                      <a:pt x="2554" y="107123"/>
                    </a:cubicBezTo>
                    <a:cubicBezTo>
                      <a:pt x="1100" y="111367"/>
                      <a:pt x="-800" y="118109"/>
                      <a:pt x="358" y="125515"/>
                    </a:cubicBezTo>
                    <a:cubicBezTo>
                      <a:pt x="473" y="128021"/>
                      <a:pt x="1028" y="129962"/>
                      <a:pt x="1390" y="131039"/>
                    </a:cubicBezTo>
                    <a:cubicBezTo>
                      <a:pt x="2543" y="134474"/>
                      <a:pt x="6667" y="139566"/>
                      <a:pt x="9554" y="141618"/>
                    </a:cubicBezTo>
                    <a:cubicBezTo>
                      <a:pt x="16982" y="146896"/>
                      <a:pt x="26413" y="148500"/>
                      <a:pt x="34502" y="148730"/>
                    </a:cubicBezTo>
                    <a:cubicBezTo>
                      <a:pt x="43294" y="148978"/>
                      <a:pt x="53495" y="147685"/>
                      <a:pt x="64694" y="144658"/>
                    </a:cubicBezTo>
                    <a:cubicBezTo>
                      <a:pt x="74148" y="142101"/>
                      <a:pt x="79794" y="140600"/>
                      <a:pt x="84069" y="139895"/>
                    </a:cubicBezTo>
                    <a:cubicBezTo>
                      <a:pt x="89018" y="138850"/>
                      <a:pt x="91270" y="141645"/>
                      <a:pt x="91778" y="143173"/>
                    </a:cubicBezTo>
                    <a:cubicBezTo>
                      <a:pt x="93643" y="146699"/>
                      <a:pt x="95671" y="151737"/>
                      <a:pt x="99143" y="160499"/>
                    </a:cubicBezTo>
                    <a:cubicBezTo>
                      <a:pt x="104084" y="172962"/>
                      <a:pt x="109464" y="183665"/>
                      <a:pt x="115259" y="191784"/>
                    </a:cubicBezTo>
                    <a:cubicBezTo>
                      <a:pt x="120220" y="198734"/>
                      <a:pt x="128775" y="208543"/>
                      <a:pt x="141415" y="210408"/>
                    </a:cubicBezTo>
                    <a:cubicBezTo>
                      <a:pt x="143476" y="210711"/>
                      <a:pt x="145572" y="210695"/>
                      <a:pt x="147628" y="210360"/>
                    </a:cubicBezTo>
                    <a:cubicBezTo>
                      <a:pt x="161798" y="208051"/>
                      <a:pt x="168872" y="196498"/>
                      <a:pt x="172334" y="189934"/>
                    </a:cubicBezTo>
                    <a:cubicBezTo>
                      <a:pt x="176106" y="182782"/>
                      <a:pt x="179801" y="172989"/>
                      <a:pt x="183843" y="162278"/>
                    </a:cubicBezTo>
                    <a:lnTo>
                      <a:pt x="214369" y="81402"/>
                    </a:lnTo>
                    <a:cubicBezTo>
                      <a:pt x="150596" y="75711"/>
                      <a:pt x="93912" y="45382"/>
                      <a:pt x="53905" y="0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89BC2D23-C343-AAF4-EBDF-A01B84D53B3F}"/>
                  </a:ext>
                </a:extLst>
              </p:cNvPr>
              <p:cNvSpPr/>
              <p:nvPr/>
            </p:nvSpPr>
            <p:spPr>
              <a:xfrm>
                <a:off x="5184583" y="3718328"/>
                <a:ext cx="214370" cy="210628"/>
              </a:xfrm>
              <a:custGeom>
                <a:avLst/>
                <a:gdLst>
                  <a:gd name="csX0" fmla="*/ 0 w 214370"/>
                  <a:gd name="csY0" fmla="*/ 81405 h 210628"/>
                  <a:gd name="csX1" fmla="*/ 30529 w 214370"/>
                  <a:gd name="csY1" fmla="*/ 162281 h 210628"/>
                  <a:gd name="csX2" fmla="*/ 42036 w 214370"/>
                  <a:gd name="csY2" fmla="*/ 189937 h 210628"/>
                  <a:gd name="csX3" fmla="*/ 66744 w 214370"/>
                  <a:gd name="csY3" fmla="*/ 210365 h 210628"/>
                  <a:gd name="csX4" fmla="*/ 72957 w 214370"/>
                  <a:gd name="csY4" fmla="*/ 210411 h 210628"/>
                  <a:gd name="csX5" fmla="*/ 99112 w 214370"/>
                  <a:gd name="csY5" fmla="*/ 191786 h 210628"/>
                  <a:gd name="csX6" fmla="*/ 115228 w 214370"/>
                  <a:gd name="csY6" fmla="*/ 160502 h 210628"/>
                  <a:gd name="csX7" fmla="*/ 122593 w 214370"/>
                  <a:gd name="csY7" fmla="*/ 143176 h 210628"/>
                  <a:gd name="csX8" fmla="*/ 130302 w 214370"/>
                  <a:gd name="csY8" fmla="*/ 139898 h 210628"/>
                  <a:gd name="csX9" fmla="*/ 149677 w 214370"/>
                  <a:gd name="csY9" fmla="*/ 144661 h 210628"/>
                  <a:gd name="csX10" fmla="*/ 179869 w 214370"/>
                  <a:gd name="csY10" fmla="*/ 148735 h 210628"/>
                  <a:gd name="csX11" fmla="*/ 204817 w 214370"/>
                  <a:gd name="csY11" fmla="*/ 141620 h 210628"/>
                  <a:gd name="csX12" fmla="*/ 212981 w 214370"/>
                  <a:gd name="csY12" fmla="*/ 131042 h 210628"/>
                  <a:gd name="csX13" fmla="*/ 214013 w 214370"/>
                  <a:gd name="csY13" fmla="*/ 125520 h 210628"/>
                  <a:gd name="csX14" fmla="*/ 211818 w 214370"/>
                  <a:gd name="csY14" fmla="*/ 107125 h 210628"/>
                  <a:gd name="csX15" fmla="*/ 202249 w 214370"/>
                  <a:gd name="csY15" fmla="*/ 85660 h 210628"/>
                  <a:gd name="csX16" fmla="*/ 160464 w 214370"/>
                  <a:gd name="csY16" fmla="*/ 0 h 210628"/>
                  <a:gd name="csX17" fmla="*/ 0 w 214370"/>
                  <a:gd name="csY17" fmla="*/ 81405 h 210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70" h="210628">
                    <a:moveTo>
                      <a:pt x="0" y="81405"/>
                    </a:moveTo>
                    <a:lnTo>
                      <a:pt x="30529" y="162281"/>
                    </a:lnTo>
                    <a:cubicBezTo>
                      <a:pt x="34571" y="172992"/>
                      <a:pt x="38264" y="182787"/>
                      <a:pt x="42036" y="189937"/>
                    </a:cubicBezTo>
                    <a:cubicBezTo>
                      <a:pt x="45500" y="196501"/>
                      <a:pt x="52574" y="208057"/>
                      <a:pt x="66744" y="210365"/>
                    </a:cubicBezTo>
                    <a:cubicBezTo>
                      <a:pt x="68799" y="210700"/>
                      <a:pt x="70897" y="210716"/>
                      <a:pt x="72957" y="210411"/>
                    </a:cubicBezTo>
                    <a:cubicBezTo>
                      <a:pt x="85595" y="208545"/>
                      <a:pt x="94152" y="198736"/>
                      <a:pt x="99112" y="191786"/>
                    </a:cubicBezTo>
                    <a:cubicBezTo>
                      <a:pt x="104908" y="183668"/>
                      <a:pt x="110287" y="172967"/>
                      <a:pt x="115228" y="160502"/>
                    </a:cubicBezTo>
                    <a:cubicBezTo>
                      <a:pt x="118700" y="151740"/>
                      <a:pt x="120728" y="146702"/>
                      <a:pt x="122593" y="143176"/>
                    </a:cubicBezTo>
                    <a:cubicBezTo>
                      <a:pt x="123101" y="141647"/>
                      <a:pt x="125353" y="138853"/>
                      <a:pt x="130302" y="139898"/>
                    </a:cubicBezTo>
                    <a:cubicBezTo>
                      <a:pt x="134576" y="140605"/>
                      <a:pt x="140224" y="142106"/>
                      <a:pt x="149677" y="144661"/>
                    </a:cubicBezTo>
                    <a:cubicBezTo>
                      <a:pt x="160877" y="147690"/>
                      <a:pt x="171077" y="148983"/>
                      <a:pt x="179869" y="148735"/>
                    </a:cubicBezTo>
                    <a:cubicBezTo>
                      <a:pt x="187958" y="148505"/>
                      <a:pt x="197389" y="146899"/>
                      <a:pt x="204817" y="141620"/>
                    </a:cubicBezTo>
                    <a:cubicBezTo>
                      <a:pt x="207706" y="139571"/>
                      <a:pt x="211829" y="134476"/>
                      <a:pt x="212981" y="131042"/>
                    </a:cubicBezTo>
                    <a:cubicBezTo>
                      <a:pt x="213343" y="129964"/>
                      <a:pt x="213899" y="128023"/>
                      <a:pt x="214013" y="125520"/>
                    </a:cubicBezTo>
                    <a:cubicBezTo>
                      <a:pt x="215171" y="118114"/>
                      <a:pt x="213273" y="111372"/>
                      <a:pt x="211818" y="107125"/>
                    </a:cubicBezTo>
                    <a:cubicBezTo>
                      <a:pt x="209685" y="100896"/>
                      <a:pt x="206042" y="93434"/>
                      <a:pt x="202249" y="85660"/>
                    </a:cubicBezTo>
                    <a:lnTo>
                      <a:pt x="160464" y="0"/>
                    </a:lnTo>
                    <a:cubicBezTo>
                      <a:pt x="120458" y="45382"/>
                      <a:pt x="63774" y="75713"/>
                      <a:pt x="0" y="81405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DE53905-62DE-9F3D-9D7E-72D587E3C1A3}"/>
                </a:ext>
              </a:extLst>
            </p:cNvPr>
            <p:cNvSpPr txBox="1"/>
            <p:nvPr/>
          </p:nvSpPr>
          <p:spPr>
            <a:xfrm>
              <a:off x="6211874" y="2493929"/>
              <a:ext cx="3241126" cy="1079142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200" b="1">
                  <a:solidFill>
                    <a:srgbClr val="0F3A32"/>
                  </a:solidFill>
                </a:rPr>
                <a:t>국내 과세당국의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algn="l">
                <a:lnSpc>
                  <a:spcPct val="110000"/>
                </a:lnSpc>
              </a:pPr>
              <a:r>
                <a:rPr lang="ko-KR" altLang="en-US" sz="1200" b="1">
                  <a:solidFill>
                    <a:srgbClr val="0F3A32"/>
                  </a:solidFill>
                </a:rPr>
                <a:t>글로벌 네트워크 마케팅 업체 </a:t>
              </a:r>
              <a:r>
                <a:rPr lang="en-US" altLang="ko-KR" sz="1200" b="1">
                  <a:solidFill>
                    <a:srgbClr val="0F3A32"/>
                  </a:solidFill>
                </a:rPr>
                <a:t>A</a:t>
              </a:r>
              <a:r>
                <a:rPr lang="ko-KR" altLang="en-US" sz="1200" b="1">
                  <a:solidFill>
                    <a:srgbClr val="0F3A32"/>
                  </a:solidFill>
                </a:rPr>
                <a:t>社 </a:t>
              </a:r>
              <a:r>
                <a:rPr lang="en-US" altLang="ko-KR" sz="1200" b="1">
                  <a:solidFill>
                    <a:srgbClr val="0F3A32"/>
                  </a:solidFill>
                </a:rPr>
                <a:t>BO </a:t>
              </a:r>
              <a:r>
                <a:rPr lang="ko-KR" altLang="en-US" sz="1200" b="1">
                  <a:solidFill>
                    <a:srgbClr val="0F3A32"/>
                  </a:solidFill>
                </a:rPr>
                <a:t>소송 대리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marL="171450" indent="-171450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en-US" altLang="ko-KR" sz="1200"/>
                <a:t>BO </a:t>
              </a:r>
              <a:r>
                <a:rPr lang="ko-KR" altLang="en-US" sz="1200"/>
                <a:t>쟁점 </a:t>
              </a:r>
              <a:r>
                <a:rPr lang="ko-KR" altLang="en-US" sz="1200" b="1" u="sng"/>
                <a:t>국제조세 소송</a:t>
              </a:r>
              <a:r>
                <a:rPr lang="ko-KR" altLang="en-US" sz="1200"/>
                <a:t>의 국내 과세당국 대리</a:t>
              </a:r>
              <a:endParaRPr lang="en-US" altLang="ko-KR" sz="1200"/>
            </a:p>
            <a:p>
              <a:pPr marL="171450" indent="-171450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국내 과세관청이 승소한 전례가 없는 쟁점에 대해</a:t>
              </a:r>
              <a:r>
                <a:rPr lang="en-US" altLang="ko-KR" sz="1200"/>
                <a:t>, 1</a:t>
              </a:r>
              <a:r>
                <a:rPr lang="ko-KR" altLang="en-US" sz="1200"/>
                <a:t>심 패소 사건을 </a:t>
              </a:r>
              <a:r>
                <a:rPr lang="ko-KR" altLang="en-US" sz="1200" b="1" u="sng"/>
                <a:t>항소심 승소 </a:t>
              </a:r>
              <a:r>
                <a:rPr lang="en-US" altLang="ko-KR" sz="1200" b="1" u="sng"/>
                <a:t>·</a:t>
              </a:r>
              <a:r>
                <a:rPr lang="ko-KR" altLang="en-US" sz="1200" b="1" u="sng"/>
                <a:t> 성공적 역전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40F85FD-EA5A-8A13-8FA4-9BECE9376AD7}"/>
              </a:ext>
            </a:extLst>
          </p:cNvPr>
          <p:cNvGrpSpPr/>
          <p:nvPr/>
        </p:nvGrpSpPr>
        <p:grpSpPr>
          <a:xfrm>
            <a:off x="453000" y="3897498"/>
            <a:ext cx="4320000" cy="1368000"/>
            <a:chOff x="453000" y="3897498"/>
            <a:chExt cx="4320000" cy="13680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28B85C8-4F37-4B97-DF0E-EA89F65BC20D}"/>
                </a:ext>
              </a:extLst>
            </p:cNvPr>
            <p:cNvSpPr/>
            <p:nvPr/>
          </p:nvSpPr>
          <p:spPr>
            <a:xfrm>
              <a:off x="453000" y="3897498"/>
              <a:ext cx="4320000" cy="136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01134423-D48F-3FF7-EF65-D243A4A09E8F}"/>
                </a:ext>
              </a:extLst>
            </p:cNvPr>
            <p:cNvGrpSpPr/>
            <p:nvPr/>
          </p:nvGrpSpPr>
          <p:grpSpPr>
            <a:xfrm>
              <a:off x="756187" y="4291245"/>
              <a:ext cx="472503" cy="580506"/>
              <a:chOff x="4926450" y="3348450"/>
              <a:chExt cx="472503" cy="580506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20D1AB69-F1FA-1E44-DBFC-D13B14ACC6AE}"/>
                  </a:ext>
                </a:extLst>
              </p:cNvPr>
              <p:cNvSpPr/>
              <p:nvPr/>
            </p:nvSpPr>
            <p:spPr>
              <a:xfrm>
                <a:off x="4953450" y="3348450"/>
                <a:ext cx="418500" cy="418500"/>
              </a:xfrm>
              <a:custGeom>
                <a:avLst/>
                <a:gdLst>
                  <a:gd name="csX0" fmla="*/ 0 w 418500"/>
                  <a:gd name="csY0" fmla="*/ 209250 h 418500"/>
                  <a:gd name="csX1" fmla="*/ 209250 w 418500"/>
                  <a:gd name="csY1" fmla="*/ 0 h 418500"/>
                  <a:gd name="csX2" fmla="*/ 418500 w 418500"/>
                  <a:gd name="csY2" fmla="*/ 209250 h 418500"/>
                  <a:gd name="csX3" fmla="*/ 209250 w 418500"/>
                  <a:gd name="csY3" fmla="*/ 418500 h 418500"/>
                  <a:gd name="csX4" fmla="*/ 0 w 418500"/>
                  <a:gd name="csY4" fmla="*/ 209250 h 41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500" h="418500">
                    <a:moveTo>
                      <a:pt x="0" y="209250"/>
                    </a:moveTo>
                    <a:cubicBezTo>
                      <a:pt x="0" y="93684"/>
                      <a:pt x="93684" y="0"/>
                      <a:pt x="209250" y="0"/>
                    </a:cubicBezTo>
                    <a:cubicBezTo>
                      <a:pt x="324815" y="0"/>
                      <a:pt x="418500" y="93684"/>
                      <a:pt x="418500" y="209250"/>
                    </a:cubicBezTo>
                    <a:cubicBezTo>
                      <a:pt x="418500" y="324815"/>
                      <a:pt x="324815" y="418500"/>
                      <a:pt x="209250" y="418500"/>
                    </a:cubicBezTo>
                    <a:cubicBezTo>
                      <a:pt x="93684" y="418500"/>
                      <a:pt x="0" y="324815"/>
                      <a:pt x="0" y="209250"/>
                    </a:cubicBezTo>
                    <a:close/>
                  </a:path>
                </a:pathLst>
              </a:custGeom>
              <a:solidFill>
                <a:srgbClr val="0F3A32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539CC9BD-E702-96D0-5E50-B21AA056391A}"/>
                  </a:ext>
                </a:extLst>
              </p:cNvPr>
              <p:cNvSpPr/>
              <p:nvPr/>
            </p:nvSpPr>
            <p:spPr>
              <a:xfrm>
                <a:off x="5054700" y="3437518"/>
                <a:ext cx="216000" cy="215999"/>
              </a:xfrm>
              <a:custGeom>
                <a:avLst/>
                <a:gdLst>
                  <a:gd name="csX0" fmla="*/ 97775 w 216000"/>
                  <a:gd name="csY0" fmla="*/ 6544 h 215999"/>
                  <a:gd name="csX1" fmla="*/ 118225 w 216000"/>
                  <a:gd name="csY1" fmla="*/ 6544 h 215999"/>
                  <a:gd name="csX2" fmla="*/ 143329 w 216000"/>
                  <a:gd name="csY2" fmla="*/ 58000 h 215999"/>
                  <a:gd name="csX3" fmla="*/ 151748 w 216000"/>
                  <a:gd name="csY3" fmla="*/ 64395 h 215999"/>
                  <a:gd name="csX4" fmla="*/ 206318 w 216000"/>
                  <a:gd name="csY4" fmla="*/ 73473 h 215999"/>
                  <a:gd name="csX5" fmla="*/ 212638 w 216000"/>
                  <a:gd name="csY5" fmla="*/ 93776 h 215999"/>
                  <a:gd name="csX6" fmla="*/ 173572 w 216000"/>
                  <a:gd name="csY6" fmla="*/ 134691 h 215999"/>
                  <a:gd name="csX7" fmla="*/ 170362 w 216000"/>
                  <a:gd name="csY7" fmla="*/ 145021 h 215999"/>
                  <a:gd name="csX8" fmla="*/ 178972 w 216000"/>
                  <a:gd name="csY8" fmla="*/ 202124 h 215999"/>
                  <a:gd name="csX9" fmla="*/ 162427 w 216000"/>
                  <a:gd name="csY9" fmla="*/ 214668 h 215999"/>
                  <a:gd name="csX10" fmla="*/ 113208 w 216000"/>
                  <a:gd name="csY10" fmla="*/ 188478 h 215999"/>
                  <a:gd name="csX11" fmla="*/ 102792 w 216000"/>
                  <a:gd name="csY11" fmla="*/ 188478 h 215999"/>
                  <a:gd name="csX12" fmla="*/ 53573 w 216000"/>
                  <a:gd name="csY12" fmla="*/ 214668 h 215999"/>
                  <a:gd name="csX13" fmla="*/ 37028 w 216000"/>
                  <a:gd name="csY13" fmla="*/ 202124 h 215999"/>
                  <a:gd name="csX14" fmla="*/ 45638 w 216000"/>
                  <a:gd name="csY14" fmla="*/ 145021 h 215999"/>
                  <a:gd name="csX15" fmla="*/ 42427 w 216000"/>
                  <a:gd name="csY15" fmla="*/ 134691 h 215999"/>
                  <a:gd name="csX16" fmla="*/ 3362 w 216000"/>
                  <a:gd name="csY16" fmla="*/ 93776 h 215999"/>
                  <a:gd name="csX17" fmla="*/ 9683 w 216000"/>
                  <a:gd name="csY17" fmla="*/ 73473 h 215999"/>
                  <a:gd name="csX18" fmla="*/ 64252 w 216000"/>
                  <a:gd name="csY18" fmla="*/ 64395 h 215999"/>
                  <a:gd name="csX19" fmla="*/ 72670 w 216000"/>
                  <a:gd name="csY19" fmla="*/ 58000 h 215999"/>
                  <a:gd name="csX20" fmla="*/ 97775 w 216000"/>
                  <a:gd name="csY20" fmla="*/ 6544 h 215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16000" h="215999">
                    <a:moveTo>
                      <a:pt x="97775" y="6544"/>
                    </a:moveTo>
                    <a:cubicBezTo>
                      <a:pt x="102033" y="-2181"/>
                      <a:pt x="113967" y="-2181"/>
                      <a:pt x="118225" y="6544"/>
                    </a:cubicBezTo>
                    <a:lnTo>
                      <a:pt x="143329" y="58000"/>
                    </a:lnTo>
                    <a:cubicBezTo>
                      <a:pt x="144995" y="61415"/>
                      <a:pt x="148125" y="63792"/>
                      <a:pt x="151748" y="64395"/>
                    </a:cubicBezTo>
                    <a:lnTo>
                      <a:pt x="206318" y="73473"/>
                    </a:lnTo>
                    <a:cubicBezTo>
                      <a:pt x="215565" y="75011"/>
                      <a:pt x="219251" y="86849"/>
                      <a:pt x="212638" y="93776"/>
                    </a:cubicBezTo>
                    <a:lnTo>
                      <a:pt x="173572" y="134691"/>
                    </a:lnTo>
                    <a:cubicBezTo>
                      <a:pt x="170986" y="137401"/>
                      <a:pt x="169792" y="141240"/>
                      <a:pt x="170362" y="145021"/>
                    </a:cubicBezTo>
                    <a:lnTo>
                      <a:pt x="178972" y="202124"/>
                    </a:lnTo>
                    <a:cubicBezTo>
                      <a:pt x="180430" y="211793"/>
                      <a:pt x="170778" y="219112"/>
                      <a:pt x="162427" y="214668"/>
                    </a:cubicBezTo>
                    <a:lnTo>
                      <a:pt x="113208" y="188478"/>
                    </a:lnTo>
                    <a:cubicBezTo>
                      <a:pt x="109936" y="186737"/>
                      <a:pt x="106064" y="186737"/>
                      <a:pt x="102792" y="188478"/>
                    </a:cubicBezTo>
                    <a:lnTo>
                      <a:pt x="53573" y="214668"/>
                    </a:lnTo>
                    <a:cubicBezTo>
                      <a:pt x="45222" y="219112"/>
                      <a:pt x="35569" y="211793"/>
                      <a:pt x="37028" y="202124"/>
                    </a:cubicBezTo>
                    <a:lnTo>
                      <a:pt x="45638" y="145021"/>
                    </a:lnTo>
                    <a:cubicBezTo>
                      <a:pt x="46208" y="141240"/>
                      <a:pt x="45015" y="137401"/>
                      <a:pt x="42427" y="134691"/>
                    </a:cubicBezTo>
                    <a:lnTo>
                      <a:pt x="3362" y="93776"/>
                    </a:lnTo>
                    <a:cubicBezTo>
                      <a:pt x="-3251" y="86849"/>
                      <a:pt x="434" y="75011"/>
                      <a:pt x="9683" y="73473"/>
                    </a:cubicBezTo>
                    <a:lnTo>
                      <a:pt x="64252" y="64395"/>
                    </a:lnTo>
                    <a:cubicBezTo>
                      <a:pt x="67875" y="63792"/>
                      <a:pt x="71005" y="61415"/>
                      <a:pt x="72670" y="58000"/>
                    </a:cubicBezTo>
                    <a:lnTo>
                      <a:pt x="97775" y="6544"/>
                    </a:lnTo>
                    <a:close/>
                  </a:path>
                </a:pathLst>
              </a:custGeom>
              <a:solidFill>
                <a:schemeClr val="bg1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F54490DF-2D98-68EE-E2E6-512344D16AA8}"/>
                  </a:ext>
                </a:extLst>
              </p:cNvPr>
              <p:cNvSpPr/>
              <p:nvPr/>
            </p:nvSpPr>
            <p:spPr>
              <a:xfrm>
                <a:off x="4926450" y="3718328"/>
                <a:ext cx="214369" cy="210623"/>
              </a:xfrm>
              <a:custGeom>
                <a:avLst/>
                <a:gdLst>
                  <a:gd name="csX0" fmla="*/ 53905 w 214369"/>
                  <a:gd name="csY0" fmla="*/ 0 h 210623"/>
                  <a:gd name="csX1" fmla="*/ 12123 w 214369"/>
                  <a:gd name="csY1" fmla="*/ 85658 h 210623"/>
                  <a:gd name="csX2" fmla="*/ 2554 w 214369"/>
                  <a:gd name="csY2" fmla="*/ 107123 h 210623"/>
                  <a:gd name="csX3" fmla="*/ 358 w 214369"/>
                  <a:gd name="csY3" fmla="*/ 125515 h 210623"/>
                  <a:gd name="csX4" fmla="*/ 1390 w 214369"/>
                  <a:gd name="csY4" fmla="*/ 131039 h 210623"/>
                  <a:gd name="csX5" fmla="*/ 9554 w 214369"/>
                  <a:gd name="csY5" fmla="*/ 141618 h 210623"/>
                  <a:gd name="csX6" fmla="*/ 34502 w 214369"/>
                  <a:gd name="csY6" fmla="*/ 148730 h 210623"/>
                  <a:gd name="csX7" fmla="*/ 64694 w 214369"/>
                  <a:gd name="csY7" fmla="*/ 144658 h 210623"/>
                  <a:gd name="csX8" fmla="*/ 84069 w 214369"/>
                  <a:gd name="csY8" fmla="*/ 139895 h 210623"/>
                  <a:gd name="csX9" fmla="*/ 91778 w 214369"/>
                  <a:gd name="csY9" fmla="*/ 143173 h 210623"/>
                  <a:gd name="csX10" fmla="*/ 99143 w 214369"/>
                  <a:gd name="csY10" fmla="*/ 160499 h 210623"/>
                  <a:gd name="csX11" fmla="*/ 115259 w 214369"/>
                  <a:gd name="csY11" fmla="*/ 191784 h 210623"/>
                  <a:gd name="csX12" fmla="*/ 141415 w 214369"/>
                  <a:gd name="csY12" fmla="*/ 210408 h 210623"/>
                  <a:gd name="csX13" fmla="*/ 147628 w 214369"/>
                  <a:gd name="csY13" fmla="*/ 210360 h 210623"/>
                  <a:gd name="csX14" fmla="*/ 172334 w 214369"/>
                  <a:gd name="csY14" fmla="*/ 189934 h 210623"/>
                  <a:gd name="csX15" fmla="*/ 183843 w 214369"/>
                  <a:gd name="csY15" fmla="*/ 162278 h 210623"/>
                  <a:gd name="csX16" fmla="*/ 214369 w 214369"/>
                  <a:gd name="csY16" fmla="*/ 81402 h 210623"/>
                  <a:gd name="csX17" fmla="*/ 53905 w 214369"/>
                  <a:gd name="csY17" fmla="*/ 0 h 210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69" h="210623">
                    <a:moveTo>
                      <a:pt x="53905" y="0"/>
                    </a:moveTo>
                    <a:lnTo>
                      <a:pt x="12123" y="85658"/>
                    </a:lnTo>
                    <a:cubicBezTo>
                      <a:pt x="8330" y="93428"/>
                      <a:pt x="4688" y="100894"/>
                      <a:pt x="2554" y="107123"/>
                    </a:cubicBezTo>
                    <a:cubicBezTo>
                      <a:pt x="1100" y="111367"/>
                      <a:pt x="-800" y="118109"/>
                      <a:pt x="358" y="125515"/>
                    </a:cubicBezTo>
                    <a:cubicBezTo>
                      <a:pt x="473" y="128021"/>
                      <a:pt x="1028" y="129962"/>
                      <a:pt x="1390" y="131039"/>
                    </a:cubicBezTo>
                    <a:cubicBezTo>
                      <a:pt x="2543" y="134474"/>
                      <a:pt x="6667" y="139566"/>
                      <a:pt x="9554" y="141618"/>
                    </a:cubicBezTo>
                    <a:cubicBezTo>
                      <a:pt x="16982" y="146896"/>
                      <a:pt x="26413" y="148500"/>
                      <a:pt x="34502" y="148730"/>
                    </a:cubicBezTo>
                    <a:cubicBezTo>
                      <a:pt x="43294" y="148978"/>
                      <a:pt x="53495" y="147685"/>
                      <a:pt x="64694" y="144658"/>
                    </a:cubicBezTo>
                    <a:cubicBezTo>
                      <a:pt x="74148" y="142101"/>
                      <a:pt x="79794" y="140600"/>
                      <a:pt x="84069" y="139895"/>
                    </a:cubicBezTo>
                    <a:cubicBezTo>
                      <a:pt x="89018" y="138850"/>
                      <a:pt x="91270" y="141645"/>
                      <a:pt x="91778" y="143173"/>
                    </a:cubicBezTo>
                    <a:cubicBezTo>
                      <a:pt x="93643" y="146699"/>
                      <a:pt x="95671" y="151737"/>
                      <a:pt x="99143" y="160499"/>
                    </a:cubicBezTo>
                    <a:cubicBezTo>
                      <a:pt x="104084" y="172962"/>
                      <a:pt x="109464" y="183665"/>
                      <a:pt x="115259" y="191784"/>
                    </a:cubicBezTo>
                    <a:cubicBezTo>
                      <a:pt x="120220" y="198734"/>
                      <a:pt x="128775" y="208543"/>
                      <a:pt x="141415" y="210408"/>
                    </a:cubicBezTo>
                    <a:cubicBezTo>
                      <a:pt x="143476" y="210711"/>
                      <a:pt x="145572" y="210695"/>
                      <a:pt x="147628" y="210360"/>
                    </a:cubicBezTo>
                    <a:cubicBezTo>
                      <a:pt x="161798" y="208051"/>
                      <a:pt x="168872" y="196498"/>
                      <a:pt x="172334" y="189934"/>
                    </a:cubicBezTo>
                    <a:cubicBezTo>
                      <a:pt x="176106" y="182782"/>
                      <a:pt x="179801" y="172989"/>
                      <a:pt x="183843" y="162278"/>
                    </a:cubicBezTo>
                    <a:lnTo>
                      <a:pt x="214369" y="81402"/>
                    </a:lnTo>
                    <a:cubicBezTo>
                      <a:pt x="150596" y="75711"/>
                      <a:pt x="93912" y="45382"/>
                      <a:pt x="53905" y="0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97E37AA7-69E4-E2C0-6883-BC0C4C89B6D6}"/>
                  </a:ext>
                </a:extLst>
              </p:cNvPr>
              <p:cNvSpPr/>
              <p:nvPr/>
            </p:nvSpPr>
            <p:spPr>
              <a:xfrm>
                <a:off x="5184583" y="3718328"/>
                <a:ext cx="214370" cy="210628"/>
              </a:xfrm>
              <a:custGeom>
                <a:avLst/>
                <a:gdLst>
                  <a:gd name="csX0" fmla="*/ 0 w 214370"/>
                  <a:gd name="csY0" fmla="*/ 81405 h 210628"/>
                  <a:gd name="csX1" fmla="*/ 30529 w 214370"/>
                  <a:gd name="csY1" fmla="*/ 162281 h 210628"/>
                  <a:gd name="csX2" fmla="*/ 42036 w 214370"/>
                  <a:gd name="csY2" fmla="*/ 189937 h 210628"/>
                  <a:gd name="csX3" fmla="*/ 66744 w 214370"/>
                  <a:gd name="csY3" fmla="*/ 210365 h 210628"/>
                  <a:gd name="csX4" fmla="*/ 72957 w 214370"/>
                  <a:gd name="csY4" fmla="*/ 210411 h 210628"/>
                  <a:gd name="csX5" fmla="*/ 99112 w 214370"/>
                  <a:gd name="csY5" fmla="*/ 191786 h 210628"/>
                  <a:gd name="csX6" fmla="*/ 115228 w 214370"/>
                  <a:gd name="csY6" fmla="*/ 160502 h 210628"/>
                  <a:gd name="csX7" fmla="*/ 122593 w 214370"/>
                  <a:gd name="csY7" fmla="*/ 143176 h 210628"/>
                  <a:gd name="csX8" fmla="*/ 130302 w 214370"/>
                  <a:gd name="csY8" fmla="*/ 139898 h 210628"/>
                  <a:gd name="csX9" fmla="*/ 149677 w 214370"/>
                  <a:gd name="csY9" fmla="*/ 144661 h 210628"/>
                  <a:gd name="csX10" fmla="*/ 179869 w 214370"/>
                  <a:gd name="csY10" fmla="*/ 148735 h 210628"/>
                  <a:gd name="csX11" fmla="*/ 204817 w 214370"/>
                  <a:gd name="csY11" fmla="*/ 141620 h 210628"/>
                  <a:gd name="csX12" fmla="*/ 212981 w 214370"/>
                  <a:gd name="csY12" fmla="*/ 131042 h 210628"/>
                  <a:gd name="csX13" fmla="*/ 214013 w 214370"/>
                  <a:gd name="csY13" fmla="*/ 125520 h 210628"/>
                  <a:gd name="csX14" fmla="*/ 211818 w 214370"/>
                  <a:gd name="csY14" fmla="*/ 107125 h 210628"/>
                  <a:gd name="csX15" fmla="*/ 202249 w 214370"/>
                  <a:gd name="csY15" fmla="*/ 85660 h 210628"/>
                  <a:gd name="csX16" fmla="*/ 160464 w 214370"/>
                  <a:gd name="csY16" fmla="*/ 0 h 210628"/>
                  <a:gd name="csX17" fmla="*/ 0 w 214370"/>
                  <a:gd name="csY17" fmla="*/ 81405 h 210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70" h="210628">
                    <a:moveTo>
                      <a:pt x="0" y="81405"/>
                    </a:moveTo>
                    <a:lnTo>
                      <a:pt x="30529" y="162281"/>
                    </a:lnTo>
                    <a:cubicBezTo>
                      <a:pt x="34571" y="172992"/>
                      <a:pt x="38264" y="182787"/>
                      <a:pt x="42036" y="189937"/>
                    </a:cubicBezTo>
                    <a:cubicBezTo>
                      <a:pt x="45500" y="196501"/>
                      <a:pt x="52574" y="208057"/>
                      <a:pt x="66744" y="210365"/>
                    </a:cubicBezTo>
                    <a:cubicBezTo>
                      <a:pt x="68799" y="210700"/>
                      <a:pt x="70897" y="210716"/>
                      <a:pt x="72957" y="210411"/>
                    </a:cubicBezTo>
                    <a:cubicBezTo>
                      <a:pt x="85595" y="208545"/>
                      <a:pt x="94152" y="198736"/>
                      <a:pt x="99112" y="191786"/>
                    </a:cubicBezTo>
                    <a:cubicBezTo>
                      <a:pt x="104908" y="183668"/>
                      <a:pt x="110287" y="172967"/>
                      <a:pt x="115228" y="160502"/>
                    </a:cubicBezTo>
                    <a:cubicBezTo>
                      <a:pt x="118700" y="151740"/>
                      <a:pt x="120728" y="146702"/>
                      <a:pt x="122593" y="143176"/>
                    </a:cubicBezTo>
                    <a:cubicBezTo>
                      <a:pt x="123101" y="141647"/>
                      <a:pt x="125353" y="138853"/>
                      <a:pt x="130302" y="139898"/>
                    </a:cubicBezTo>
                    <a:cubicBezTo>
                      <a:pt x="134576" y="140605"/>
                      <a:pt x="140224" y="142106"/>
                      <a:pt x="149677" y="144661"/>
                    </a:cubicBezTo>
                    <a:cubicBezTo>
                      <a:pt x="160877" y="147690"/>
                      <a:pt x="171077" y="148983"/>
                      <a:pt x="179869" y="148735"/>
                    </a:cubicBezTo>
                    <a:cubicBezTo>
                      <a:pt x="187958" y="148505"/>
                      <a:pt x="197389" y="146899"/>
                      <a:pt x="204817" y="141620"/>
                    </a:cubicBezTo>
                    <a:cubicBezTo>
                      <a:pt x="207706" y="139571"/>
                      <a:pt x="211829" y="134476"/>
                      <a:pt x="212981" y="131042"/>
                    </a:cubicBezTo>
                    <a:cubicBezTo>
                      <a:pt x="213343" y="129964"/>
                      <a:pt x="213899" y="128023"/>
                      <a:pt x="214013" y="125520"/>
                    </a:cubicBezTo>
                    <a:cubicBezTo>
                      <a:pt x="215171" y="118114"/>
                      <a:pt x="213273" y="111372"/>
                      <a:pt x="211818" y="107125"/>
                    </a:cubicBezTo>
                    <a:cubicBezTo>
                      <a:pt x="209685" y="100896"/>
                      <a:pt x="206042" y="93434"/>
                      <a:pt x="202249" y="85660"/>
                    </a:cubicBezTo>
                    <a:lnTo>
                      <a:pt x="160464" y="0"/>
                    </a:lnTo>
                    <a:cubicBezTo>
                      <a:pt x="120458" y="45382"/>
                      <a:pt x="63774" y="75713"/>
                      <a:pt x="0" y="81405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A2FA51F-6DD4-C6C8-236C-382B30EEEC19}"/>
                </a:ext>
              </a:extLst>
            </p:cNvPr>
            <p:cNvSpPr txBox="1"/>
            <p:nvPr/>
          </p:nvSpPr>
          <p:spPr>
            <a:xfrm>
              <a:off x="1531874" y="4117846"/>
              <a:ext cx="3241126" cy="927305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200" b="1">
                  <a:solidFill>
                    <a:srgbClr val="0F3A32"/>
                  </a:solidFill>
                </a:rPr>
                <a:t>국내 자동차 부품 제조사 </a:t>
              </a:r>
              <a:r>
                <a:rPr lang="en-US" altLang="ko-KR" sz="1200" b="1">
                  <a:solidFill>
                    <a:srgbClr val="0F3A32"/>
                  </a:solidFill>
                </a:rPr>
                <a:t>J</a:t>
              </a:r>
              <a:r>
                <a:rPr lang="ko-KR" altLang="en-US" sz="1200" b="1">
                  <a:solidFill>
                    <a:srgbClr val="0F3A32"/>
                  </a:solidFill>
                </a:rPr>
                <a:t>社의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lang="ko-KR" altLang="en-US" sz="1200" b="1">
                  <a:solidFill>
                    <a:srgbClr val="0F3A32"/>
                  </a:solidFill>
                </a:rPr>
                <a:t>경영권 매각 법률 자문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marL="171450" indent="-171450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 b="1" u="sng"/>
                <a:t>주식양수도 </a:t>
              </a:r>
              <a:r>
                <a:rPr lang="en-US" altLang="ko-KR" sz="1200" b="1" u="sng"/>
                <a:t>· </a:t>
              </a:r>
              <a:r>
                <a:rPr lang="ko-KR" altLang="en-US" sz="1200" b="1" u="sng"/>
                <a:t>영업양수도 결합</a:t>
              </a:r>
              <a:r>
                <a:rPr lang="ko-KR" altLang="en-US" sz="1200"/>
                <a:t>된 거래구조 자문</a:t>
              </a:r>
              <a:endParaRPr lang="en-US" altLang="ko-KR" sz="1200"/>
            </a:p>
            <a:p>
              <a:pPr marL="171450" indent="-171450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다자간 이해관계 조정 및 </a:t>
              </a:r>
              <a:r>
                <a:rPr lang="ko-KR" altLang="en-US" sz="1200" b="1" u="sng"/>
                <a:t>성공적 협상 주도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BBE93C5-1ADD-7200-1920-F84DE496F2FC}"/>
              </a:ext>
            </a:extLst>
          </p:cNvPr>
          <p:cNvGrpSpPr/>
          <p:nvPr/>
        </p:nvGrpSpPr>
        <p:grpSpPr>
          <a:xfrm>
            <a:off x="5133000" y="3897498"/>
            <a:ext cx="4320000" cy="1368000"/>
            <a:chOff x="5133000" y="3897498"/>
            <a:chExt cx="4320000" cy="1368000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6E6E874-0040-E251-394C-74734EC3ECFB}"/>
                </a:ext>
              </a:extLst>
            </p:cNvPr>
            <p:cNvSpPr/>
            <p:nvPr/>
          </p:nvSpPr>
          <p:spPr>
            <a:xfrm>
              <a:off x="5133000" y="3897498"/>
              <a:ext cx="4320000" cy="136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EC7B3780-887D-1C4F-E45F-7A06B7072DF0}"/>
                </a:ext>
              </a:extLst>
            </p:cNvPr>
            <p:cNvGrpSpPr/>
            <p:nvPr/>
          </p:nvGrpSpPr>
          <p:grpSpPr>
            <a:xfrm>
              <a:off x="5436187" y="4291245"/>
              <a:ext cx="472503" cy="580506"/>
              <a:chOff x="4926450" y="3348450"/>
              <a:chExt cx="472503" cy="580506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7B8C5380-AB28-E15A-93E8-ABF976D272B6}"/>
                  </a:ext>
                </a:extLst>
              </p:cNvPr>
              <p:cNvSpPr/>
              <p:nvPr/>
            </p:nvSpPr>
            <p:spPr>
              <a:xfrm>
                <a:off x="4953450" y="3348450"/>
                <a:ext cx="418500" cy="418500"/>
              </a:xfrm>
              <a:custGeom>
                <a:avLst/>
                <a:gdLst>
                  <a:gd name="csX0" fmla="*/ 0 w 418500"/>
                  <a:gd name="csY0" fmla="*/ 209250 h 418500"/>
                  <a:gd name="csX1" fmla="*/ 209250 w 418500"/>
                  <a:gd name="csY1" fmla="*/ 0 h 418500"/>
                  <a:gd name="csX2" fmla="*/ 418500 w 418500"/>
                  <a:gd name="csY2" fmla="*/ 209250 h 418500"/>
                  <a:gd name="csX3" fmla="*/ 209250 w 418500"/>
                  <a:gd name="csY3" fmla="*/ 418500 h 418500"/>
                  <a:gd name="csX4" fmla="*/ 0 w 418500"/>
                  <a:gd name="csY4" fmla="*/ 209250 h 41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500" h="418500">
                    <a:moveTo>
                      <a:pt x="0" y="209250"/>
                    </a:moveTo>
                    <a:cubicBezTo>
                      <a:pt x="0" y="93684"/>
                      <a:pt x="93684" y="0"/>
                      <a:pt x="209250" y="0"/>
                    </a:cubicBezTo>
                    <a:cubicBezTo>
                      <a:pt x="324815" y="0"/>
                      <a:pt x="418500" y="93684"/>
                      <a:pt x="418500" y="209250"/>
                    </a:cubicBezTo>
                    <a:cubicBezTo>
                      <a:pt x="418500" y="324815"/>
                      <a:pt x="324815" y="418500"/>
                      <a:pt x="209250" y="418500"/>
                    </a:cubicBezTo>
                    <a:cubicBezTo>
                      <a:pt x="93684" y="418500"/>
                      <a:pt x="0" y="324815"/>
                      <a:pt x="0" y="209250"/>
                    </a:cubicBezTo>
                    <a:close/>
                  </a:path>
                </a:pathLst>
              </a:custGeom>
              <a:solidFill>
                <a:srgbClr val="0F3A32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E5357D64-CFA6-2939-8B2B-62D68DD7126B}"/>
                  </a:ext>
                </a:extLst>
              </p:cNvPr>
              <p:cNvSpPr/>
              <p:nvPr/>
            </p:nvSpPr>
            <p:spPr>
              <a:xfrm>
                <a:off x="5054700" y="3437518"/>
                <a:ext cx="216000" cy="215999"/>
              </a:xfrm>
              <a:custGeom>
                <a:avLst/>
                <a:gdLst>
                  <a:gd name="csX0" fmla="*/ 97775 w 216000"/>
                  <a:gd name="csY0" fmla="*/ 6544 h 215999"/>
                  <a:gd name="csX1" fmla="*/ 118225 w 216000"/>
                  <a:gd name="csY1" fmla="*/ 6544 h 215999"/>
                  <a:gd name="csX2" fmla="*/ 143329 w 216000"/>
                  <a:gd name="csY2" fmla="*/ 58000 h 215999"/>
                  <a:gd name="csX3" fmla="*/ 151748 w 216000"/>
                  <a:gd name="csY3" fmla="*/ 64395 h 215999"/>
                  <a:gd name="csX4" fmla="*/ 206318 w 216000"/>
                  <a:gd name="csY4" fmla="*/ 73473 h 215999"/>
                  <a:gd name="csX5" fmla="*/ 212638 w 216000"/>
                  <a:gd name="csY5" fmla="*/ 93776 h 215999"/>
                  <a:gd name="csX6" fmla="*/ 173572 w 216000"/>
                  <a:gd name="csY6" fmla="*/ 134691 h 215999"/>
                  <a:gd name="csX7" fmla="*/ 170362 w 216000"/>
                  <a:gd name="csY7" fmla="*/ 145021 h 215999"/>
                  <a:gd name="csX8" fmla="*/ 178972 w 216000"/>
                  <a:gd name="csY8" fmla="*/ 202124 h 215999"/>
                  <a:gd name="csX9" fmla="*/ 162427 w 216000"/>
                  <a:gd name="csY9" fmla="*/ 214668 h 215999"/>
                  <a:gd name="csX10" fmla="*/ 113208 w 216000"/>
                  <a:gd name="csY10" fmla="*/ 188478 h 215999"/>
                  <a:gd name="csX11" fmla="*/ 102792 w 216000"/>
                  <a:gd name="csY11" fmla="*/ 188478 h 215999"/>
                  <a:gd name="csX12" fmla="*/ 53573 w 216000"/>
                  <a:gd name="csY12" fmla="*/ 214668 h 215999"/>
                  <a:gd name="csX13" fmla="*/ 37028 w 216000"/>
                  <a:gd name="csY13" fmla="*/ 202124 h 215999"/>
                  <a:gd name="csX14" fmla="*/ 45638 w 216000"/>
                  <a:gd name="csY14" fmla="*/ 145021 h 215999"/>
                  <a:gd name="csX15" fmla="*/ 42427 w 216000"/>
                  <a:gd name="csY15" fmla="*/ 134691 h 215999"/>
                  <a:gd name="csX16" fmla="*/ 3362 w 216000"/>
                  <a:gd name="csY16" fmla="*/ 93776 h 215999"/>
                  <a:gd name="csX17" fmla="*/ 9683 w 216000"/>
                  <a:gd name="csY17" fmla="*/ 73473 h 215999"/>
                  <a:gd name="csX18" fmla="*/ 64252 w 216000"/>
                  <a:gd name="csY18" fmla="*/ 64395 h 215999"/>
                  <a:gd name="csX19" fmla="*/ 72670 w 216000"/>
                  <a:gd name="csY19" fmla="*/ 58000 h 215999"/>
                  <a:gd name="csX20" fmla="*/ 97775 w 216000"/>
                  <a:gd name="csY20" fmla="*/ 6544 h 215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16000" h="215999">
                    <a:moveTo>
                      <a:pt x="97775" y="6544"/>
                    </a:moveTo>
                    <a:cubicBezTo>
                      <a:pt x="102033" y="-2181"/>
                      <a:pt x="113967" y="-2181"/>
                      <a:pt x="118225" y="6544"/>
                    </a:cubicBezTo>
                    <a:lnTo>
                      <a:pt x="143329" y="58000"/>
                    </a:lnTo>
                    <a:cubicBezTo>
                      <a:pt x="144995" y="61415"/>
                      <a:pt x="148125" y="63792"/>
                      <a:pt x="151748" y="64395"/>
                    </a:cubicBezTo>
                    <a:lnTo>
                      <a:pt x="206318" y="73473"/>
                    </a:lnTo>
                    <a:cubicBezTo>
                      <a:pt x="215565" y="75011"/>
                      <a:pt x="219251" y="86849"/>
                      <a:pt x="212638" y="93776"/>
                    </a:cubicBezTo>
                    <a:lnTo>
                      <a:pt x="173572" y="134691"/>
                    </a:lnTo>
                    <a:cubicBezTo>
                      <a:pt x="170986" y="137401"/>
                      <a:pt x="169792" y="141240"/>
                      <a:pt x="170362" y="145021"/>
                    </a:cubicBezTo>
                    <a:lnTo>
                      <a:pt x="178972" y="202124"/>
                    </a:lnTo>
                    <a:cubicBezTo>
                      <a:pt x="180430" y="211793"/>
                      <a:pt x="170778" y="219112"/>
                      <a:pt x="162427" y="214668"/>
                    </a:cubicBezTo>
                    <a:lnTo>
                      <a:pt x="113208" y="188478"/>
                    </a:lnTo>
                    <a:cubicBezTo>
                      <a:pt x="109936" y="186737"/>
                      <a:pt x="106064" y="186737"/>
                      <a:pt x="102792" y="188478"/>
                    </a:cubicBezTo>
                    <a:lnTo>
                      <a:pt x="53573" y="214668"/>
                    </a:lnTo>
                    <a:cubicBezTo>
                      <a:pt x="45222" y="219112"/>
                      <a:pt x="35569" y="211793"/>
                      <a:pt x="37028" y="202124"/>
                    </a:cubicBezTo>
                    <a:lnTo>
                      <a:pt x="45638" y="145021"/>
                    </a:lnTo>
                    <a:cubicBezTo>
                      <a:pt x="46208" y="141240"/>
                      <a:pt x="45015" y="137401"/>
                      <a:pt x="42427" y="134691"/>
                    </a:cubicBezTo>
                    <a:lnTo>
                      <a:pt x="3362" y="93776"/>
                    </a:lnTo>
                    <a:cubicBezTo>
                      <a:pt x="-3251" y="86849"/>
                      <a:pt x="434" y="75011"/>
                      <a:pt x="9683" y="73473"/>
                    </a:cubicBezTo>
                    <a:lnTo>
                      <a:pt x="64252" y="64395"/>
                    </a:lnTo>
                    <a:cubicBezTo>
                      <a:pt x="67875" y="63792"/>
                      <a:pt x="71005" y="61415"/>
                      <a:pt x="72670" y="58000"/>
                    </a:cubicBezTo>
                    <a:lnTo>
                      <a:pt x="97775" y="6544"/>
                    </a:lnTo>
                    <a:close/>
                  </a:path>
                </a:pathLst>
              </a:custGeom>
              <a:solidFill>
                <a:schemeClr val="bg1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E56F82AD-FAEB-8BEE-BF71-15FD8C74EA6D}"/>
                  </a:ext>
                </a:extLst>
              </p:cNvPr>
              <p:cNvSpPr/>
              <p:nvPr/>
            </p:nvSpPr>
            <p:spPr>
              <a:xfrm>
                <a:off x="4926450" y="3718328"/>
                <a:ext cx="214369" cy="210623"/>
              </a:xfrm>
              <a:custGeom>
                <a:avLst/>
                <a:gdLst>
                  <a:gd name="csX0" fmla="*/ 53905 w 214369"/>
                  <a:gd name="csY0" fmla="*/ 0 h 210623"/>
                  <a:gd name="csX1" fmla="*/ 12123 w 214369"/>
                  <a:gd name="csY1" fmla="*/ 85658 h 210623"/>
                  <a:gd name="csX2" fmla="*/ 2554 w 214369"/>
                  <a:gd name="csY2" fmla="*/ 107123 h 210623"/>
                  <a:gd name="csX3" fmla="*/ 358 w 214369"/>
                  <a:gd name="csY3" fmla="*/ 125515 h 210623"/>
                  <a:gd name="csX4" fmla="*/ 1390 w 214369"/>
                  <a:gd name="csY4" fmla="*/ 131039 h 210623"/>
                  <a:gd name="csX5" fmla="*/ 9554 w 214369"/>
                  <a:gd name="csY5" fmla="*/ 141618 h 210623"/>
                  <a:gd name="csX6" fmla="*/ 34502 w 214369"/>
                  <a:gd name="csY6" fmla="*/ 148730 h 210623"/>
                  <a:gd name="csX7" fmla="*/ 64694 w 214369"/>
                  <a:gd name="csY7" fmla="*/ 144658 h 210623"/>
                  <a:gd name="csX8" fmla="*/ 84069 w 214369"/>
                  <a:gd name="csY8" fmla="*/ 139895 h 210623"/>
                  <a:gd name="csX9" fmla="*/ 91778 w 214369"/>
                  <a:gd name="csY9" fmla="*/ 143173 h 210623"/>
                  <a:gd name="csX10" fmla="*/ 99143 w 214369"/>
                  <a:gd name="csY10" fmla="*/ 160499 h 210623"/>
                  <a:gd name="csX11" fmla="*/ 115259 w 214369"/>
                  <a:gd name="csY11" fmla="*/ 191784 h 210623"/>
                  <a:gd name="csX12" fmla="*/ 141415 w 214369"/>
                  <a:gd name="csY12" fmla="*/ 210408 h 210623"/>
                  <a:gd name="csX13" fmla="*/ 147628 w 214369"/>
                  <a:gd name="csY13" fmla="*/ 210360 h 210623"/>
                  <a:gd name="csX14" fmla="*/ 172334 w 214369"/>
                  <a:gd name="csY14" fmla="*/ 189934 h 210623"/>
                  <a:gd name="csX15" fmla="*/ 183843 w 214369"/>
                  <a:gd name="csY15" fmla="*/ 162278 h 210623"/>
                  <a:gd name="csX16" fmla="*/ 214369 w 214369"/>
                  <a:gd name="csY16" fmla="*/ 81402 h 210623"/>
                  <a:gd name="csX17" fmla="*/ 53905 w 214369"/>
                  <a:gd name="csY17" fmla="*/ 0 h 2106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69" h="210623">
                    <a:moveTo>
                      <a:pt x="53905" y="0"/>
                    </a:moveTo>
                    <a:lnTo>
                      <a:pt x="12123" y="85658"/>
                    </a:lnTo>
                    <a:cubicBezTo>
                      <a:pt x="8330" y="93428"/>
                      <a:pt x="4688" y="100894"/>
                      <a:pt x="2554" y="107123"/>
                    </a:cubicBezTo>
                    <a:cubicBezTo>
                      <a:pt x="1100" y="111367"/>
                      <a:pt x="-800" y="118109"/>
                      <a:pt x="358" y="125515"/>
                    </a:cubicBezTo>
                    <a:cubicBezTo>
                      <a:pt x="473" y="128021"/>
                      <a:pt x="1028" y="129962"/>
                      <a:pt x="1390" y="131039"/>
                    </a:cubicBezTo>
                    <a:cubicBezTo>
                      <a:pt x="2543" y="134474"/>
                      <a:pt x="6667" y="139566"/>
                      <a:pt x="9554" y="141618"/>
                    </a:cubicBezTo>
                    <a:cubicBezTo>
                      <a:pt x="16982" y="146896"/>
                      <a:pt x="26413" y="148500"/>
                      <a:pt x="34502" y="148730"/>
                    </a:cubicBezTo>
                    <a:cubicBezTo>
                      <a:pt x="43294" y="148978"/>
                      <a:pt x="53495" y="147685"/>
                      <a:pt x="64694" y="144658"/>
                    </a:cubicBezTo>
                    <a:cubicBezTo>
                      <a:pt x="74148" y="142101"/>
                      <a:pt x="79794" y="140600"/>
                      <a:pt x="84069" y="139895"/>
                    </a:cubicBezTo>
                    <a:cubicBezTo>
                      <a:pt x="89018" y="138850"/>
                      <a:pt x="91270" y="141645"/>
                      <a:pt x="91778" y="143173"/>
                    </a:cubicBezTo>
                    <a:cubicBezTo>
                      <a:pt x="93643" y="146699"/>
                      <a:pt x="95671" y="151737"/>
                      <a:pt x="99143" y="160499"/>
                    </a:cubicBezTo>
                    <a:cubicBezTo>
                      <a:pt x="104084" y="172962"/>
                      <a:pt x="109464" y="183665"/>
                      <a:pt x="115259" y="191784"/>
                    </a:cubicBezTo>
                    <a:cubicBezTo>
                      <a:pt x="120220" y="198734"/>
                      <a:pt x="128775" y="208543"/>
                      <a:pt x="141415" y="210408"/>
                    </a:cubicBezTo>
                    <a:cubicBezTo>
                      <a:pt x="143476" y="210711"/>
                      <a:pt x="145572" y="210695"/>
                      <a:pt x="147628" y="210360"/>
                    </a:cubicBezTo>
                    <a:cubicBezTo>
                      <a:pt x="161798" y="208051"/>
                      <a:pt x="168872" y="196498"/>
                      <a:pt x="172334" y="189934"/>
                    </a:cubicBezTo>
                    <a:cubicBezTo>
                      <a:pt x="176106" y="182782"/>
                      <a:pt x="179801" y="172989"/>
                      <a:pt x="183843" y="162278"/>
                    </a:cubicBezTo>
                    <a:lnTo>
                      <a:pt x="214369" y="81402"/>
                    </a:lnTo>
                    <a:cubicBezTo>
                      <a:pt x="150596" y="75711"/>
                      <a:pt x="93912" y="45382"/>
                      <a:pt x="53905" y="0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CF4549E6-DA92-B6A8-3688-460A54E5A585}"/>
                  </a:ext>
                </a:extLst>
              </p:cNvPr>
              <p:cNvSpPr/>
              <p:nvPr/>
            </p:nvSpPr>
            <p:spPr>
              <a:xfrm>
                <a:off x="5184583" y="3718328"/>
                <a:ext cx="214370" cy="210628"/>
              </a:xfrm>
              <a:custGeom>
                <a:avLst/>
                <a:gdLst>
                  <a:gd name="csX0" fmla="*/ 0 w 214370"/>
                  <a:gd name="csY0" fmla="*/ 81405 h 210628"/>
                  <a:gd name="csX1" fmla="*/ 30529 w 214370"/>
                  <a:gd name="csY1" fmla="*/ 162281 h 210628"/>
                  <a:gd name="csX2" fmla="*/ 42036 w 214370"/>
                  <a:gd name="csY2" fmla="*/ 189937 h 210628"/>
                  <a:gd name="csX3" fmla="*/ 66744 w 214370"/>
                  <a:gd name="csY3" fmla="*/ 210365 h 210628"/>
                  <a:gd name="csX4" fmla="*/ 72957 w 214370"/>
                  <a:gd name="csY4" fmla="*/ 210411 h 210628"/>
                  <a:gd name="csX5" fmla="*/ 99112 w 214370"/>
                  <a:gd name="csY5" fmla="*/ 191786 h 210628"/>
                  <a:gd name="csX6" fmla="*/ 115228 w 214370"/>
                  <a:gd name="csY6" fmla="*/ 160502 h 210628"/>
                  <a:gd name="csX7" fmla="*/ 122593 w 214370"/>
                  <a:gd name="csY7" fmla="*/ 143176 h 210628"/>
                  <a:gd name="csX8" fmla="*/ 130302 w 214370"/>
                  <a:gd name="csY8" fmla="*/ 139898 h 210628"/>
                  <a:gd name="csX9" fmla="*/ 149677 w 214370"/>
                  <a:gd name="csY9" fmla="*/ 144661 h 210628"/>
                  <a:gd name="csX10" fmla="*/ 179869 w 214370"/>
                  <a:gd name="csY10" fmla="*/ 148735 h 210628"/>
                  <a:gd name="csX11" fmla="*/ 204817 w 214370"/>
                  <a:gd name="csY11" fmla="*/ 141620 h 210628"/>
                  <a:gd name="csX12" fmla="*/ 212981 w 214370"/>
                  <a:gd name="csY12" fmla="*/ 131042 h 210628"/>
                  <a:gd name="csX13" fmla="*/ 214013 w 214370"/>
                  <a:gd name="csY13" fmla="*/ 125520 h 210628"/>
                  <a:gd name="csX14" fmla="*/ 211818 w 214370"/>
                  <a:gd name="csY14" fmla="*/ 107125 h 210628"/>
                  <a:gd name="csX15" fmla="*/ 202249 w 214370"/>
                  <a:gd name="csY15" fmla="*/ 85660 h 210628"/>
                  <a:gd name="csX16" fmla="*/ 160464 w 214370"/>
                  <a:gd name="csY16" fmla="*/ 0 h 210628"/>
                  <a:gd name="csX17" fmla="*/ 0 w 214370"/>
                  <a:gd name="csY17" fmla="*/ 81405 h 210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14370" h="210628">
                    <a:moveTo>
                      <a:pt x="0" y="81405"/>
                    </a:moveTo>
                    <a:lnTo>
                      <a:pt x="30529" y="162281"/>
                    </a:lnTo>
                    <a:cubicBezTo>
                      <a:pt x="34571" y="172992"/>
                      <a:pt x="38264" y="182787"/>
                      <a:pt x="42036" y="189937"/>
                    </a:cubicBezTo>
                    <a:cubicBezTo>
                      <a:pt x="45500" y="196501"/>
                      <a:pt x="52574" y="208057"/>
                      <a:pt x="66744" y="210365"/>
                    </a:cubicBezTo>
                    <a:cubicBezTo>
                      <a:pt x="68799" y="210700"/>
                      <a:pt x="70897" y="210716"/>
                      <a:pt x="72957" y="210411"/>
                    </a:cubicBezTo>
                    <a:cubicBezTo>
                      <a:pt x="85595" y="208545"/>
                      <a:pt x="94152" y="198736"/>
                      <a:pt x="99112" y="191786"/>
                    </a:cubicBezTo>
                    <a:cubicBezTo>
                      <a:pt x="104908" y="183668"/>
                      <a:pt x="110287" y="172967"/>
                      <a:pt x="115228" y="160502"/>
                    </a:cubicBezTo>
                    <a:cubicBezTo>
                      <a:pt x="118700" y="151740"/>
                      <a:pt x="120728" y="146702"/>
                      <a:pt x="122593" y="143176"/>
                    </a:cubicBezTo>
                    <a:cubicBezTo>
                      <a:pt x="123101" y="141647"/>
                      <a:pt x="125353" y="138853"/>
                      <a:pt x="130302" y="139898"/>
                    </a:cubicBezTo>
                    <a:cubicBezTo>
                      <a:pt x="134576" y="140605"/>
                      <a:pt x="140224" y="142106"/>
                      <a:pt x="149677" y="144661"/>
                    </a:cubicBezTo>
                    <a:cubicBezTo>
                      <a:pt x="160877" y="147690"/>
                      <a:pt x="171077" y="148983"/>
                      <a:pt x="179869" y="148735"/>
                    </a:cubicBezTo>
                    <a:cubicBezTo>
                      <a:pt x="187958" y="148505"/>
                      <a:pt x="197389" y="146899"/>
                      <a:pt x="204817" y="141620"/>
                    </a:cubicBezTo>
                    <a:cubicBezTo>
                      <a:pt x="207706" y="139571"/>
                      <a:pt x="211829" y="134476"/>
                      <a:pt x="212981" y="131042"/>
                    </a:cubicBezTo>
                    <a:cubicBezTo>
                      <a:pt x="213343" y="129964"/>
                      <a:pt x="213899" y="128023"/>
                      <a:pt x="214013" y="125520"/>
                    </a:cubicBezTo>
                    <a:cubicBezTo>
                      <a:pt x="215171" y="118114"/>
                      <a:pt x="213273" y="111372"/>
                      <a:pt x="211818" y="107125"/>
                    </a:cubicBezTo>
                    <a:cubicBezTo>
                      <a:pt x="209685" y="100896"/>
                      <a:pt x="206042" y="93434"/>
                      <a:pt x="202249" y="85660"/>
                    </a:cubicBezTo>
                    <a:lnTo>
                      <a:pt x="160464" y="0"/>
                    </a:lnTo>
                    <a:cubicBezTo>
                      <a:pt x="120458" y="45382"/>
                      <a:pt x="63774" y="75713"/>
                      <a:pt x="0" y="81405"/>
                    </a:cubicBezTo>
                    <a:close/>
                  </a:path>
                </a:pathLst>
              </a:custGeom>
              <a:solidFill>
                <a:srgbClr val="26C260"/>
              </a:solidFill>
              <a:ln w="269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58FBBC7-1A4E-CD48-4CC5-3EB8853C43D7}"/>
                </a:ext>
              </a:extLst>
            </p:cNvPr>
            <p:cNvSpPr txBox="1"/>
            <p:nvPr/>
          </p:nvSpPr>
          <p:spPr>
            <a:xfrm>
              <a:off x="6211874" y="4117846"/>
              <a:ext cx="3241126" cy="927305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200" b="1">
                  <a:solidFill>
                    <a:srgbClr val="0F3A32"/>
                  </a:solidFill>
                </a:rPr>
                <a:t>글로벌 가상자산 플랫폼 </a:t>
              </a:r>
              <a:r>
                <a:rPr lang="en-US" altLang="ko-KR" sz="1200" b="1">
                  <a:solidFill>
                    <a:srgbClr val="0F3A32"/>
                  </a:solidFill>
                </a:rPr>
                <a:t>T</a:t>
              </a:r>
              <a:r>
                <a:rPr lang="ko-KR" altLang="en-US" sz="1200" b="1">
                  <a:solidFill>
                    <a:srgbClr val="0F3A32"/>
                  </a:solidFill>
                </a:rPr>
                <a:t>社의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lang="ko-KR" altLang="en-US" sz="1200" b="1">
                  <a:solidFill>
                    <a:srgbClr val="0F3A32"/>
                  </a:solidFill>
                </a:rPr>
                <a:t>기업 지배구조 개편 자문</a:t>
              </a:r>
              <a:endParaRPr lang="en-US" altLang="ko-KR" sz="1200" b="1">
                <a:solidFill>
                  <a:srgbClr val="0F3A32"/>
                </a:solidFill>
              </a:endParaRPr>
            </a:p>
            <a:p>
              <a:pPr marL="171450" indent="-171450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 b="1" u="sng"/>
                <a:t>가상자산 규제 환경에 부합</a:t>
              </a:r>
              <a:r>
                <a:rPr lang="ko-KR" altLang="en-US" sz="1200"/>
                <a:t>하는 지배구조 설계</a:t>
              </a:r>
              <a:endParaRPr lang="en-US" altLang="ko-KR" sz="1200"/>
            </a:p>
            <a:p>
              <a:pPr marL="171450" indent="-171450">
                <a:lnSpc>
                  <a:spcPct val="110000"/>
                </a:lnSpc>
                <a:spcBef>
                  <a:spcPts val="300"/>
                </a:spcBef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</a:pPr>
              <a:r>
                <a:rPr lang="ko-KR" altLang="en-US" sz="1200"/>
                <a:t>거주자 세무이슈</a:t>
              </a:r>
              <a:r>
                <a:rPr lang="en-US" altLang="ko-KR" sz="1200"/>
                <a:t>, </a:t>
              </a:r>
              <a:r>
                <a:rPr lang="ko-KR" altLang="en-US" sz="1200"/>
                <a:t>외국환 이슈 등 </a:t>
              </a:r>
              <a:r>
                <a:rPr lang="ko-KR" altLang="en-US" sz="1200" b="1" u="sng"/>
                <a:t>종합 솔루션 제시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54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42D1CD9-56C4-1127-7DC0-5831A2D327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OUR TEAM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B71656-5AE0-3287-E558-9B12708B31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A606B4-783C-C274-997C-CC97FD81A9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</a:t>
            </a:fld>
            <a:endParaRPr 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57BD43-316D-84F4-27A4-0FB4825164AB}"/>
              </a:ext>
            </a:extLst>
          </p:cNvPr>
          <p:cNvSpPr/>
          <p:nvPr/>
        </p:nvSpPr>
        <p:spPr>
          <a:xfrm>
            <a:off x="453000" y="2672161"/>
            <a:ext cx="9000000" cy="2734725"/>
          </a:xfrm>
          <a:prstGeom prst="rect">
            <a:avLst/>
          </a:prstGeom>
          <a:solidFill>
            <a:srgbClr val="F2FEEA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D413C-1FA0-6605-7B17-E65777530910}"/>
              </a:ext>
            </a:extLst>
          </p:cNvPr>
          <p:cNvSpPr txBox="1"/>
          <p:nvPr/>
        </p:nvSpPr>
        <p:spPr>
          <a:xfrm>
            <a:off x="2253000" y="3436397"/>
            <a:ext cx="1846289" cy="1799404"/>
          </a:xfrm>
          <a:prstGeom prst="rect">
            <a:avLst/>
          </a:prstGeom>
          <a:noFill/>
        </p:spPr>
        <p:txBody>
          <a:bodyPr wrap="square" lIns="108000" tIns="0" rIns="108000" bIns="0" rtlCol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sz="1400" b="1" dirty="0">
                <a:solidFill>
                  <a:srgbClr val="0F3A32"/>
                </a:solidFill>
              </a:rPr>
              <a:t>박   병   준</a:t>
            </a:r>
            <a:endParaRPr lang="en-US" altLang="ko-KR" sz="1400" b="1" dirty="0">
              <a:solidFill>
                <a:srgbClr val="0F3A3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lang="ko-KR" altLang="en-US" sz="900" b="1" dirty="0">
                <a:solidFill>
                  <a:srgbClr val="0F3A32"/>
                </a:solidFill>
              </a:rPr>
              <a:t>법무법인 </a:t>
            </a:r>
            <a:r>
              <a:rPr lang="ko-KR" altLang="en-US" sz="900" b="1" dirty="0" err="1">
                <a:solidFill>
                  <a:srgbClr val="0F3A32"/>
                </a:solidFill>
              </a:rPr>
              <a:t>아믹</a:t>
            </a:r>
            <a:endParaRPr lang="en-US" altLang="ko-KR" sz="900" b="1" dirty="0">
              <a:solidFill>
                <a:srgbClr val="0F3A32"/>
              </a:solidFill>
            </a:endParaRP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ko-KR" altLang="en-US" sz="900" dirty="0">
                <a:solidFill>
                  <a:srgbClr val="0F3A32"/>
                </a:solidFill>
              </a:rPr>
              <a:t>대표변호사</a:t>
            </a:r>
            <a:endParaRPr lang="en-US" altLang="ko-KR" sz="900" dirty="0">
              <a:solidFill>
                <a:srgbClr val="0F3A32"/>
              </a:solidFill>
            </a:endParaR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sz="1000" b="1" dirty="0"/>
              <a:t>김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장 출시 소송 </a:t>
            </a:r>
            <a:r>
              <a:rPr lang="en-US" altLang="ko-KR" sz="1000" b="1" dirty="0"/>
              <a:t>· </a:t>
            </a:r>
            <a:r>
              <a:rPr lang="ko-KR" altLang="en-US" sz="1000" b="1" dirty="0"/>
              <a:t>분쟁 전문가</a:t>
            </a:r>
            <a:endParaRPr lang="en-US" altLang="ko-KR" sz="1000" b="1" spc="-30" dirty="0">
              <a:highlight>
                <a:srgbClr val="FFFF00"/>
              </a:highlight>
            </a:endParaRPr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 dirty="0"/>
              <a:t>김</a:t>
            </a:r>
            <a:r>
              <a:rPr lang="en-US" altLang="ko-KR" sz="900" spc="-30" dirty="0"/>
              <a:t>·</a:t>
            </a:r>
            <a:r>
              <a:rPr lang="ko-KR" altLang="en-US" sz="900" spc="-30" dirty="0"/>
              <a:t>장 법률사무소 변호사</a:t>
            </a:r>
            <a:endParaRPr lang="en-US" altLang="ko-KR" sz="900" spc="-30" dirty="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 dirty="0"/>
              <a:t>사법연수원 제</a:t>
            </a:r>
            <a:r>
              <a:rPr lang="en-US" altLang="ko-KR" sz="900" spc="-30" dirty="0"/>
              <a:t>44</a:t>
            </a:r>
            <a:r>
              <a:rPr lang="ko-KR" altLang="en-US" sz="900" spc="-30" dirty="0"/>
              <a:t>기</a:t>
            </a:r>
            <a:endParaRPr lang="en-US" altLang="ko-KR" sz="900" spc="-30" dirty="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 dirty="0"/>
              <a:t>미국 캘리포니아/텍사스주 변호사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A60636-5E12-98B9-05BC-E2B4E40AB270}"/>
              </a:ext>
            </a:extLst>
          </p:cNvPr>
          <p:cNvSpPr txBox="1"/>
          <p:nvPr/>
        </p:nvSpPr>
        <p:spPr>
          <a:xfrm>
            <a:off x="453000" y="3464162"/>
            <a:ext cx="1800000" cy="1452898"/>
          </a:xfrm>
          <a:prstGeom prst="rect">
            <a:avLst/>
          </a:prstGeom>
          <a:noFill/>
        </p:spPr>
        <p:txBody>
          <a:bodyPr wrap="square" lIns="108000" tIns="0" rIns="108000" bIns="0" rtlCol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sz="1400" b="1">
                <a:solidFill>
                  <a:srgbClr val="0F3A32"/>
                </a:solidFill>
              </a:rPr>
              <a:t>임   영   훈</a:t>
            </a:r>
            <a:endParaRPr lang="en-US" altLang="ko-KR" sz="1400" b="1">
              <a:solidFill>
                <a:srgbClr val="0F3A3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lang="ko-KR" altLang="en-US" sz="900" b="1">
                <a:solidFill>
                  <a:srgbClr val="0F3A32"/>
                </a:solidFill>
              </a:rPr>
              <a:t>법무법인 </a:t>
            </a:r>
            <a:r>
              <a:rPr lang="ko-KR" altLang="en-US" sz="900" b="1" err="1">
                <a:solidFill>
                  <a:srgbClr val="0F3A32"/>
                </a:solidFill>
              </a:rPr>
              <a:t>아믹</a:t>
            </a:r>
            <a:endParaRPr lang="en-US" altLang="ko-KR" sz="900" b="1">
              <a:solidFill>
                <a:srgbClr val="0F3A32"/>
              </a:solidFill>
            </a:endParaRP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ko-KR" altLang="en-US" sz="900">
                <a:solidFill>
                  <a:srgbClr val="0F3A32"/>
                </a:solidFill>
              </a:rPr>
              <a:t>대표변호사</a:t>
            </a:r>
            <a:endParaRPr lang="en-US" altLang="ko-KR" sz="900">
              <a:solidFill>
                <a:srgbClr val="0F3A32"/>
              </a:solidFill>
            </a:endParaR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sz="1000" b="1" spc="-30"/>
              <a:t>김</a:t>
            </a:r>
            <a:r>
              <a:rPr lang="en-US" altLang="ko-KR" sz="1000" b="1" spc="-30"/>
              <a:t>·</a:t>
            </a:r>
            <a:r>
              <a:rPr lang="ko-KR" altLang="en-US" sz="1000" b="1" spc="-30"/>
              <a:t>장 출신 기업분쟁 </a:t>
            </a:r>
            <a:r>
              <a:rPr lang="en-US" altLang="ko-KR" sz="1000" b="1" spc="-30"/>
              <a:t>·</a:t>
            </a:r>
            <a:r>
              <a:rPr lang="ko-KR" altLang="en-US" sz="1000" b="1" spc="-30"/>
              <a:t> 세무 전문가</a:t>
            </a:r>
            <a:endParaRPr lang="en-US" altLang="ko-KR" sz="1000" b="1" spc="-30">
              <a:highlight>
                <a:srgbClr val="FFFF00"/>
              </a:highlight>
            </a:endParaRPr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/>
              <a:t>김</a:t>
            </a:r>
            <a:r>
              <a:rPr lang="en-US" altLang="ko-KR" sz="900" spc="-30"/>
              <a:t>·</a:t>
            </a:r>
            <a:r>
              <a:rPr lang="ko-KR" altLang="en-US" sz="900" spc="-30"/>
              <a:t>장 법률사무소 변호사</a:t>
            </a:r>
            <a:endParaRPr lang="en-US" altLang="ko-KR" sz="900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/>
              <a:t>삼성전자 법무실 변호사</a:t>
            </a:r>
            <a:endParaRPr lang="en-US" altLang="ko-KR" sz="900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/>
              <a:t>사법연수원 제</a:t>
            </a:r>
            <a:r>
              <a:rPr lang="en-US" altLang="ko-KR" sz="900" spc="-30"/>
              <a:t>46</a:t>
            </a:r>
            <a:r>
              <a:rPr lang="ko-KR" altLang="en-US" sz="900" spc="-30"/>
              <a:t>기 </a:t>
            </a:r>
            <a:r>
              <a:rPr lang="en-US" altLang="ko-KR" sz="900" spc="-30"/>
              <a:t>· </a:t>
            </a:r>
            <a:r>
              <a:rPr lang="ko-KR" altLang="en-US" sz="900" spc="-30"/>
              <a:t>공인회계사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CBAA02-038D-53D5-6459-F86545BAC4CF}"/>
              </a:ext>
            </a:extLst>
          </p:cNvPr>
          <p:cNvSpPr txBox="1"/>
          <p:nvPr/>
        </p:nvSpPr>
        <p:spPr>
          <a:xfrm>
            <a:off x="4053000" y="3464162"/>
            <a:ext cx="1800000" cy="1427250"/>
          </a:xfrm>
          <a:prstGeom prst="rect">
            <a:avLst/>
          </a:prstGeom>
          <a:noFill/>
        </p:spPr>
        <p:txBody>
          <a:bodyPr wrap="square" lIns="108000" tIns="0" rIns="108000" bIns="0" rtlCol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sz="1400" b="1">
                <a:solidFill>
                  <a:srgbClr val="0F3A32"/>
                </a:solidFill>
              </a:rPr>
              <a:t>서   지   원</a:t>
            </a:r>
            <a:endParaRPr lang="en-US" altLang="ko-KR" sz="1400" b="1">
              <a:solidFill>
                <a:srgbClr val="0F3A3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lang="ko-KR" altLang="en-US" sz="900" b="1">
                <a:solidFill>
                  <a:srgbClr val="0F3A32"/>
                </a:solidFill>
              </a:rPr>
              <a:t>법무법인 </a:t>
            </a:r>
            <a:r>
              <a:rPr lang="ko-KR" altLang="en-US" sz="900" b="1" err="1">
                <a:solidFill>
                  <a:srgbClr val="0F3A32"/>
                </a:solidFill>
              </a:rPr>
              <a:t>아믹</a:t>
            </a:r>
            <a:endParaRPr lang="en-US" altLang="ko-KR" sz="900" b="1">
              <a:solidFill>
                <a:srgbClr val="0F3A32"/>
              </a:solidFill>
            </a:endParaRP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ko-KR" altLang="en-US" sz="900">
                <a:solidFill>
                  <a:srgbClr val="0F3A32"/>
                </a:solidFill>
              </a:rPr>
              <a:t>대표변호사</a:t>
            </a:r>
            <a:endParaRPr lang="en-US" altLang="ko-KR" sz="900" spc="-30"/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ko-KR" altLang="en-US" sz="1000" b="1"/>
              <a:t>김</a:t>
            </a:r>
            <a:r>
              <a:rPr lang="en-US" altLang="ko-KR" sz="1000" b="1"/>
              <a:t>·</a:t>
            </a:r>
            <a:r>
              <a:rPr lang="ko-KR" altLang="en-US" sz="1000" b="1"/>
              <a:t>장 출신 </a:t>
            </a:r>
            <a:r>
              <a:rPr lang="en-US" altLang="ko-KR" sz="1000" b="1"/>
              <a:t>M&amp;A </a:t>
            </a:r>
            <a:r>
              <a:rPr lang="ko-KR" altLang="en-US" sz="1000" b="1"/>
              <a:t>전문가</a:t>
            </a:r>
            <a:endParaRPr lang="en-US" altLang="ko-KR" sz="1000" b="1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/>
              <a:t>김</a:t>
            </a:r>
            <a:r>
              <a:rPr lang="en-US" altLang="ko-KR" sz="900" spc="-30"/>
              <a:t>·</a:t>
            </a:r>
            <a:r>
              <a:rPr lang="ko-KR" altLang="en-US" sz="900" spc="-30"/>
              <a:t>장 법률사무소 변호사</a:t>
            </a:r>
            <a:endParaRPr lang="en-US" altLang="ko-KR" sz="900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/>
              <a:t>국방부</a:t>
            </a:r>
            <a:r>
              <a:rPr lang="en-US" altLang="ko-KR" sz="900" spc="-30"/>
              <a:t>/</a:t>
            </a:r>
            <a:r>
              <a:rPr lang="ko-KR" altLang="en-US" sz="900" spc="-30"/>
              <a:t>해군 법무관</a:t>
            </a:r>
            <a:endParaRPr lang="en-US" altLang="ko-KR" sz="900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ko-KR" altLang="en-US" sz="900" spc="-30"/>
              <a:t>사법연수원 제</a:t>
            </a:r>
            <a:r>
              <a:rPr lang="en-US" altLang="ko-KR" sz="900" spc="-30"/>
              <a:t>46</a:t>
            </a:r>
            <a:r>
              <a:rPr lang="ko-KR" altLang="en-US" sz="900" spc="-30"/>
              <a:t>기</a:t>
            </a:r>
            <a:endParaRPr lang="en-US" altLang="ko-KR" sz="900" spc="-3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14A2D5-AA19-CE72-6FA8-5F6370087629}"/>
              </a:ext>
            </a:extLst>
          </p:cNvPr>
          <p:cNvSpPr txBox="1"/>
          <p:nvPr/>
        </p:nvSpPr>
        <p:spPr>
          <a:xfrm>
            <a:off x="5853000" y="3464162"/>
            <a:ext cx="1800000" cy="1452898"/>
          </a:xfrm>
          <a:prstGeom prst="rect">
            <a:avLst/>
          </a:prstGeom>
          <a:noFill/>
        </p:spPr>
        <p:txBody>
          <a:bodyPr wrap="square" lIns="108000" tIns="0" rIns="108000" bIns="0" rtlCol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sz="1400" b="1">
                <a:solidFill>
                  <a:srgbClr val="26C260"/>
                </a:solidFill>
              </a:rPr>
              <a:t>김   양   태</a:t>
            </a:r>
            <a:endParaRPr lang="en-US" altLang="ko-KR" sz="1400" b="1">
              <a:solidFill>
                <a:srgbClr val="26C260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lang="ko-KR" altLang="en-US" sz="900" b="1" err="1">
                <a:solidFill>
                  <a:srgbClr val="26C260"/>
                </a:solidFill>
              </a:rPr>
              <a:t>페트라브릿지파트너스</a:t>
            </a:r>
            <a:endParaRPr lang="en-US" altLang="ko-KR" sz="900" b="1">
              <a:solidFill>
                <a:srgbClr val="26C260"/>
              </a:solidFill>
            </a:endParaRP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ko-KR" altLang="en-US" sz="900">
                <a:solidFill>
                  <a:srgbClr val="26C260"/>
                </a:solidFill>
              </a:rPr>
              <a:t>대표이사 </a:t>
            </a:r>
            <a:r>
              <a:rPr lang="en-US" altLang="ko-KR" sz="900">
                <a:solidFill>
                  <a:srgbClr val="26C260"/>
                </a:solidFill>
              </a:rPr>
              <a:t>· </a:t>
            </a:r>
            <a:r>
              <a:rPr lang="ko-KR" altLang="en-US" sz="900">
                <a:solidFill>
                  <a:srgbClr val="26C260"/>
                </a:solidFill>
              </a:rPr>
              <a:t>공인회계사</a:t>
            </a:r>
            <a:endParaRPr lang="en-US" altLang="ko-KR" sz="900">
              <a:solidFill>
                <a:srgbClr val="26C260"/>
              </a:solidFill>
            </a:endParaR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1000" b="1" spc="-30"/>
              <a:t>KPMG </a:t>
            </a:r>
            <a:r>
              <a:rPr lang="ko-KR" altLang="en-US" sz="1000" b="1" spc="-30"/>
              <a:t>파트너 출신 </a:t>
            </a:r>
            <a:r>
              <a:rPr lang="en-US" altLang="ko-KR" sz="1000" b="1" spc="-30"/>
              <a:t>M&amp;A</a:t>
            </a:r>
            <a:r>
              <a:rPr lang="ko-KR" altLang="en-US" sz="1000" b="1" spc="-30"/>
              <a:t> 전문가</a:t>
            </a:r>
            <a:endParaRPr lang="en-US" altLang="ko-KR" sz="1000" b="1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altLang="ko-KR" sz="900" spc="-30"/>
              <a:t>KPMG Deal Advisory </a:t>
            </a:r>
            <a:r>
              <a:rPr lang="ko-KR" altLang="en-US" sz="900" spc="-30"/>
              <a:t>파트너</a:t>
            </a:r>
            <a:endParaRPr lang="en-US" altLang="ko-KR" sz="900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altLang="ko-KR" sz="900" spc="-30"/>
              <a:t>KPMG China </a:t>
            </a:r>
            <a:r>
              <a:rPr lang="ko-KR" altLang="en-US" sz="900" spc="-30"/>
              <a:t>베이징 사무소</a:t>
            </a:r>
            <a:endParaRPr lang="en-US" altLang="ko-KR" sz="900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ko-KR" altLang="en-US" sz="900" spc="-30"/>
              <a:t>중국 베이징 </a:t>
            </a:r>
            <a:r>
              <a:rPr lang="en-US" altLang="ko-KR" sz="900" spc="-30"/>
              <a:t>UIBE </a:t>
            </a:r>
            <a:r>
              <a:rPr lang="ko-KR" altLang="en-US" sz="900" spc="-30"/>
              <a:t>대학교 </a:t>
            </a:r>
            <a:r>
              <a:rPr lang="en-US" altLang="ko-KR" sz="900" spc="-30"/>
              <a:t>MBA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C59385-87B2-4D42-92CE-0CBFAA453321}"/>
              </a:ext>
            </a:extLst>
          </p:cNvPr>
          <p:cNvSpPr txBox="1"/>
          <p:nvPr/>
        </p:nvSpPr>
        <p:spPr>
          <a:xfrm>
            <a:off x="7653000" y="3464162"/>
            <a:ext cx="1800000" cy="1452898"/>
          </a:xfrm>
          <a:prstGeom prst="rect">
            <a:avLst/>
          </a:prstGeom>
          <a:noFill/>
        </p:spPr>
        <p:txBody>
          <a:bodyPr wrap="square" lIns="108000" tIns="0" rIns="108000" bIns="0" rtlCol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sz="1400" b="1">
                <a:solidFill>
                  <a:srgbClr val="26C260"/>
                </a:solidFill>
              </a:rPr>
              <a:t>조   우   상</a:t>
            </a:r>
            <a:endParaRPr lang="en-US" altLang="ko-KR" sz="1400" b="1">
              <a:solidFill>
                <a:srgbClr val="26C260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lang="ko-KR" altLang="en-US" sz="900" b="1">
                <a:solidFill>
                  <a:srgbClr val="26C260"/>
                </a:solidFill>
              </a:rPr>
              <a:t>페트라브릿지파트너스</a:t>
            </a:r>
            <a:endParaRPr lang="en-US" altLang="ko-KR" sz="900" b="1">
              <a:solidFill>
                <a:srgbClr val="26C260"/>
              </a:solidFill>
            </a:endParaRP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ko-KR" altLang="en-US" sz="900">
                <a:solidFill>
                  <a:srgbClr val="26C260"/>
                </a:solidFill>
              </a:rPr>
              <a:t>이사 </a:t>
            </a:r>
            <a:r>
              <a:rPr lang="en-US" altLang="ko-KR" sz="900">
                <a:solidFill>
                  <a:srgbClr val="26C260"/>
                </a:solidFill>
              </a:rPr>
              <a:t>· </a:t>
            </a:r>
            <a:r>
              <a:rPr lang="ko-KR" altLang="en-US" sz="900">
                <a:solidFill>
                  <a:srgbClr val="26C260"/>
                </a:solidFill>
              </a:rPr>
              <a:t>컨설턴트</a:t>
            </a:r>
            <a:endParaRPr lang="en-US" altLang="ko-KR" sz="900">
              <a:solidFill>
                <a:srgbClr val="26C260"/>
              </a:solidFill>
            </a:endParaR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1000" b="1" spc="-30"/>
              <a:t>M&amp;A </a:t>
            </a:r>
            <a:r>
              <a:rPr lang="ko-KR" altLang="en-US" sz="1000" b="1" spc="-30"/>
              <a:t>전략 </a:t>
            </a:r>
            <a:r>
              <a:rPr lang="en-US" altLang="ko-KR" sz="1000" b="1" spc="-30"/>
              <a:t>· </a:t>
            </a:r>
            <a:r>
              <a:rPr lang="ko-KR" altLang="en-US" sz="1000" b="1" spc="-30"/>
              <a:t>구조 설계 전문가</a:t>
            </a:r>
            <a:endParaRPr lang="en-US" altLang="ko-KR" sz="1000" b="1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altLang="ko-KR" sz="900" spc="-30"/>
              <a:t>KPMG Deal Advisory </a:t>
            </a:r>
            <a:r>
              <a:rPr lang="ko-KR" altLang="en-US" sz="900" spc="-30"/>
              <a:t>부문</a:t>
            </a:r>
            <a:endParaRPr lang="en-US" altLang="ko-KR" sz="900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altLang="ko-KR" sz="900" spc="-30"/>
              <a:t>KPMG</a:t>
            </a:r>
            <a:r>
              <a:rPr lang="ko-KR" altLang="en-US" sz="900" spc="-30"/>
              <a:t> </a:t>
            </a:r>
            <a:r>
              <a:rPr lang="en-US" altLang="ko-KR" sz="900" spc="-30"/>
              <a:t>Consulting</a:t>
            </a:r>
            <a:r>
              <a:rPr lang="ko-KR" altLang="en-US" sz="900" spc="-30"/>
              <a:t> 부문</a:t>
            </a:r>
            <a:endParaRPr lang="en-US" altLang="ko-KR" sz="900" spc="-3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ko-KR" altLang="en-US" sz="900" spc="-30"/>
              <a:t>프랑스 파리정치대학 경제학 석사</a:t>
            </a:r>
            <a:endParaRPr lang="en-US" altLang="ko-KR" sz="900" spc="-3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63D4121-7D1F-0358-A9C2-30AFA4C92472}"/>
              </a:ext>
            </a:extLst>
          </p:cNvPr>
          <p:cNvCxnSpPr>
            <a:cxnSpLocks/>
          </p:cNvCxnSpPr>
          <p:nvPr/>
        </p:nvCxnSpPr>
        <p:spPr>
          <a:xfrm>
            <a:off x="2253000" y="3419734"/>
            <a:ext cx="0" cy="1512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2FA9777-964D-2934-5C84-8749F6583641}"/>
              </a:ext>
            </a:extLst>
          </p:cNvPr>
          <p:cNvCxnSpPr>
            <a:cxnSpLocks/>
          </p:cNvCxnSpPr>
          <p:nvPr/>
        </p:nvCxnSpPr>
        <p:spPr>
          <a:xfrm>
            <a:off x="4053000" y="3419734"/>
            <a:ext cx="0" cy="1512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5992E4F-2B20-158F-B742-508CEAC1322A}"/>
              </a:ext>
            </a:extLst>
          </p:cNvPr>
          <p:cNvCxnSpPr>
            <a:cxnSpLocks/>
          </p:cNvCxnSpPr>
          <p:nvPr/>
        </p:nvCxnSpPr>
        <p:spPr>
          <a:xfrm>
            <a:off x="5853000" y="3419734"/>
            <a:ext cx="0" cy="1512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E7D2A9D-C6C0-9032-4DEC-DA094B62846D}"/>
              </a:ext>
            </a:extLst>
          </p:cNvPr>
          <p:cNvCxnSpPr>
            <a:cxnSpLocks/>
          </p:cNvCxnSpPr>
          <p:nvPr/>
        </p:nvCxnSpPr>
        <p:spPr>
          <a:xfrm>
            <a:off x="7653000" y="3419734"/>
            <a:ext cx="0" cy="1512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CB5AC8E-199E-EA12-2215-52113DA66C4C}"/>
              </a:ext>
            </a:extLst>
          </p:cNvPr>
          <p:cNvCxnSpPr>
            <a:cxnSpLocks/>
          </p:cNvCxnSpPr>
          <p:nvPr/>
        </p:nvCxnSpPr>
        <p:spPr>
          <a:xfrm>
            <a:off x="5853000" y="3419734"/>
            <a:ext cx="0" cy="1512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86CA4C7-1AAE-A2BF-E3D5-202A9ADC612F}"/>
              </a:ext>
            </a:extLst>
          </p:cNvPr>
          <p:cNvGrpSpPr>
            <a:grpSpLocks noChangeAspect="1"/>
          </p:cNvGrpSpPr>
          <p:nvPr/>
        </p:nvGrpSpPr>
        <p:grpSpPr>
          <a:xfrm>
            <a:off x="777000" y="1808163"/>
            <a:ext cx="1152000" cy="1440000"/>
            <a:chOff x="-2588" y="1994193"/>
            <a:chExt cx="2160000" cy="270000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DBD9998-6CA0-A7C9-A353-461FCBEC30B0}"/>
                </a:ext>
              </a:extLst>
            </p:cNvPr>
            <p:cNvSpPr/>
            <p:nvPr/>
          </p:nvSpPr>
          <p:spPr>
            <a:xfrm>
              <a:off x="-2588" y="2534193"/>
              <a:ext cx="2160000" cy="2160000"/>
            </a:xfrm>
            <a:prstGeom prst="ellipse">
              <a:avLst/>
            </a:prstGeom>
            <a:solidFill>
              <a:srgbClr val="0F3A3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pic>
          <p:nvPicPr>
            <p:cNvPr id="36" name="그림 35" descr="의류, 사람, 슈트, 블레이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723DA34-0644-2A76-DD15-788FC76C3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2588" y="1994193"/>
              <a:ext cx="2160000" cy="2700000"/>
            </a:xfrm>
            <a:custGeom>
              <a:avLst/>
              <a:gdLst>
                <a:gd name="csX0" fmla="*/ 0 w 2160000"/>
                <a:gd name="csY0" fmla="*/ 0 h 2700000"/>
                <a:gd name="csX1" fmla="*/ 2160000 w 2160000"/>
                <a:gd name="csY1" fmla="*/ 0 h 2700000"/>
                <a:gd name="csX2" fmla="*/ 2160000 w 2160000"/>
                <a:gd name="csY2" fmla="*/ 1620000 h 2700000"/>
                <a:gd name="csX3" fmla="*/ 1080000 w 2160000"/>
                <a:gd name="csY3" fmla="*/ 2700000 h 2700000"/>
                <a:gd name="csX4" fmla="*/ 0 w 2160000"/>
                <a:gd name="csY4" fmla="*/ 1620000 h 27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60000" h="2700000">
                  <a:moveTo>
                    <a:pt x="0" y="0"/>
                  </a:moveTo>
                  <a:lnTo>
                    <a:pt x="2160000" y="0"/>
                  </a:lnTo>
                  <a:lnTo>
                    <a:pt x="2160000" y="1620000"/>
                  </a:lnTo>
                  <a:cubicBezTo>
                    <a:pt x="2160000" y="2216468"/>
                    <a:pt x="1676468" y="2700000"/>
                    <a:pt x="1080000" y="2700000"/>
                  </a:cubicBezTo>
                  <a:cubicBezTo>
                    <a:pt x="483532" y="2700000"/>
                    <a:pt x="0" y="2216468"/>
                    <a:pt x="0" y="1620000"/>
                  </a:cubicBezTo>
                  <a:close/>
                </a:path>
              </a:pathLst>
            </a:cu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319EAD9-A006-FBB0-F27E-2A6BF0DFC2A8}"/>
              </a:ext>
            </a:extLst>
          </p:cNvPr>
          <p:cNvGrpSpPr>
            <a:grpSpLocks noChangeAspect="1"/>
          </p:cNvGrpSpPr>
          <p:nvPr/>
        </p:nvGrpSpPr>
        <p:grpSpPr>
          <a:xfrm>
            <a:off x="4377000" y="1808163"/>
            <a:ext cx="1152000" cy="1440000"/>
            <a:chOff x="3077558" y="2671175"/>
            <a:chExt cx="2160000" cy="2700000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4B3CF7F-50E4-D9C9-A629-AC8F24DDCEBC}"/>
                </a:ext>
              </a:extLst>
            </p:cNvPr>
            <p:cNvSpPr/>
            <p:nvPr/>
          </p:nvSpPr>
          <p:spPr>
            <a:xfrm>
              <a:off x="3077558" y="3211175"/>
              <a:ext cx="2160000" cy="2160000"/>
            </a:xfrm>
            <a:prstGeom prst="ellipse">
              <a:avLst/>
            </a:prstGeom>
            <a:solidFill>
              <a:srgbClr val="0F3A3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pic>
          <p:nvPicPr>
            <p:cNvPr id="42" name="그림 41" descr="의류, 사람, 슈트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FF1D4BD-081B-64BE-C20C-73E66CBF1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077558" y="2671175"/>
              <a:ext cx="2160000" cy="2700000"/>
            </a:xfrm>
            <a:custGeom>
              <a:avLst/>
              <a:gdLst>
                <a:gd name="csX0" fmla="*/ 0 w 2160000"/>
                <a:gd name="csY0" fmla="*/ 0 h 2700000"/>
                <a:gd name="csX1" fmla="*/ 2160000 w 2160000"/>
                <a:gd name="csY1" fmla="*/ 0 h 2700000"/>
                <a:gd name="csX2" fmla="*/ 2160000 w 2160000"/>
                <a:gd name="csY2" fmla="*/ 1620000 h 2700000"/>
                <a:gd name="csX3" fmla="*/ 1080000 w 2160000"/>
                <a:gd name="csY3" fmla="*/ 2700000 h 2700000"/>
                <a:gd name="csX4" fmla="*/ 0 w 2160000"/>
                <a:gd name="csY4" fmla="*/ 1620000 h 27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60000" h="2700000">
                  <a:moveTo>
                    <a:pt x="0" y="0"/>
                  </a:moveTo>
                  <a:lnTo>
                    <a:pt x="2160000" y="0"/>
                  </a:lnTo>
                  <a:lnTo>
                    <a:pt x="2160000" y="1620000"/>
                  </a:lnTo>
                  <a:cubicBezTo>
                    <a:pt x="2160000" y="2216468"/>
                    <a:pt x="1676468" y="2700000"/>
                    <a:pt x="1080000" y="2700000"/>
                  </a:cubicBezTo>
                  <a:cubicBezTo>
                    <a:pt x="483532" y="2700000"/>
                    <a:pt x="0" y="2216468"/>
                    <a:pt x="0" y="1620000"/>
                  </a:cubicBezTo>
                  <a:close/>
                </a:path>
              </a:pathLst>
            </a:cu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BE91DEB-934D-587C-20D1-2036F2C39E36}"/>
              </a:ext>
            </a:extLst>
          </p:cNvPr>
          <p:cNvGrpSpPr>
            <a:grpSpLocks noChangeAspect="1"/>
          </p:cNvGrpSpPr>
          <p:nvPr/>
        </p:nvGrpSpPr>
        <p:grpSpPr>
          <a:xfrm>
            <a:off x="6177000" y="1808163"/>
            <a:ext cx="1152000" cy="1440000"/>
            <a:chOff x="5117269" y="2901824"/>
            <a:chExt cx="2160000" cy="2700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BE60B26-AB54-6745-DB9A-F7CC2B24A779}"/>
                </a:ext>
              </a:extLst>
            </p:cNvPr>
            <p:cNvSpPr/>
            <p:nvPr/>
          </p:nvSpPr>
          <p:spPr>
            <a:xfrm>
              <a:off x="5117269" y="3441824"/>
              <a:ext cx="2160000" cy="2160000"/>
            </a:xfrm>
            <a:prstGeom prst="ellipse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pic>
          <p:nvPicPr>
            <p:cNvPr id="45" name="그림 44" descr="사람, 의류, 슈트, 정장 차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676B0F0-18AA-0FE7-511D-34ED322AB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117269" y="2901824"/>
              <a:ext cx="2160000" cy="2700000"/>
            </a:xfrm>
            <a:custGeom>
              <a:avLst/>
              <a:gdLst>
                <a:gd name="csX0" fmla="*/ 0 w 2160000"/>
                <a:gd name="csY0" fmla="*/ 0 h 2700000"/>
                <a:gd name="csX1" fmla="*/ 2160000 w 2160000"/>
                <a:gd name="csY1" fmla="*/ 0 h 2700000"/>
                <a:gd name="csX2" fmla="*/ 2160000 w 2160000"/>
                <a:gd name="csY2" fmla="*/ 1620000 h 2700000"/>
                <a:gd name="csX3" fmla="*/ 1080000 w 2160000"/>
                <a:gd name="csY3" fmla="*/ 2700000 h 2700000"/>
                <a:gd name="csX4" fmla="*/ 0 w 2160000"/>
                <a:gd name="csY4" fmla="*/ 1620000 h 27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60000" h="2700000">
                  <a:moveTo>
                    <a:pt x="0" y="0"/>
                  </a:moveTo>
                  <a:lnTo>
                    <a:pt x="2160000" y="0"/>
                  </a:lnTo>
                  <a:lnTo>
                    <a:pt x="2160000" y="1620000"/>
                  </a:lnTo>
                  <a:cubicBezTo>
                    <a:pt x="2160000" y="2216468"/>
                    <a:pt x="1676468" y="2700000"/>
                    <a:pt x="1080000" y="2700000"/>
                  </a:cubicBezTo>
                  <a:cubicBezTo>
                    <a:pt x="483532" y="2700000"/>
                    <a:pt x="0" y="2216468"/>
                    <a:pt x="0" y="1620000"/>
                  </a:cubicBezTo>
                  <a:close/>
                </a:path>
              </a:pathLst>
            </a:cu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FAFD6EF-A74B-2716-671A-AD82B395EE63}"/>
              </a:ext>
            </a:extLst>
          </p:cNvPr>
          <p:cNvGrpSpPr>
            <a:grpSpLocks noChangeAspect="1"/>
          </p:cNvGrpSpPr>
          <p:nvPr/>
        </p:nvGrpSpPr>
        <p:grpSpPr>
          <a:xfrm>
            <a:off x="8000625" y="1808163"/>
            <a:ext cx="1152000" cy="1440000"/>
            <a:chOff x="6938550" y="-173932"/>
            <a:chExt cx="2160000" cy="2700000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B853E51-6794-45A2-3A9A-9D5647D5D2C3}"/>
                </a:ext>
              </a:extLst>
            </p:cNvPr>
            <p:cNvSpPr/>
            <p:nvPr/>
          </p:nvSpPr>
          <p:spPr>
            <a:xfrm>
              <a:off x="6938550" y="366068"/>
              <a:ext cx="2160000" cy="2160000"/>
            </a:xfrm>
            <a:prstGeom prst="ellipse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pic>
          <p:nvPicPr>
            <p:cNvPr id="48" name="그림 47" descr="사람, 의류, 인간의 얼굴, 블레이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AC6FD3E-AAB0-F0D8-03D4-71884680C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38550" y="-173932"/>
              <a:ext cx="2160000" cy="2700000"/>
            </a:xfrm>
            <a:custGeom>
              <a:avLst/>
              <a:gdLst>
                <a:gd name="csX0" fmla="*/ 0 w 2160000"/>
                <a:gd name="csY0" fmla="*/ 0 h 2700000"/>
                <a:gd name="csX1" fmla="*/ 2160000 w 2160000"/>
                <a:gd name="csY1" fmla="*/ 0 h 2700000"/>
                <a:gd name="csX2" fmla="*/ 2160000 w 2160000"/>
                <a:gd name="csY2" fmla="*/ 1620000 h 2700000"/>
                <a:gd name="csX3" fmla="*/ 1080000 w 2160000"/>
                <a:gd name="csY3" fmla="*/ 2700000 h 2700000"/>
                <a:gd name="csX4" fmla="*/ 0 w 2160000"/>
                <a:gd name="csY4" fmla="*/ 1620000 h 27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60000" h="2700000">
                  <a:moveTo>
                    <a:pt x="0" y="0"/>
                  </a:moveTo>
                  <a:lnTo>
                    <a:pt x="2160000" y="0"/>
                  </a:lnTo>
                  <a:lnTo>
                    <a:pt x="2160000" y="1620000"/>
                  </a:lnTo>
                  <a:cubicBezTo>
                    <a:pt x="2160000" y="2216468"/>
                    <a:pt x="1676468" y="2700000"/>
                    <a:pt x="1080000" y="2700000"/>
                  </a:cubicBezTo>
                  <a:cubicBezTo>
                    <a:pt x="483532" y="2700000"/>
                    <a:pt x="0" y="2216468"/>
                    <a:pt x="0" y="1620000"/>
                  </a:cubicBezTo>
                  <a:close/>
                </a:path>
              </a:pathLst>
            </a:cu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64E75AC-31D4-690E-8894-AFA5BE41E1A3}"/>
              </a:ext>
            </a:extLst>
          </p:cNvPr>
          <p:cNvSpPr txBox="1"/>
          <p:nvPr/>
        </p:nvSpPr>
        <p:spPr>
          <a:xfrm>
            <a:off x="453000" y="1089025"/>
            <a:ext cx="9000563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/>
              <a:t>우리는 국내 대표 법무법인</a:t>
            </a:r>
            <a:r>
              <a:rPr lang="en-US" altLang="ko-KR" sz="1400" b="1"/>
              <a:t>, </a:t>
            </a:r>
            <a:r>
              <a:rPr lang="ko-KR" altLang="en-US" sz="1400" b="1"/>
              <a:t>회계법인</a:t>
            </a:r>
            <a:r>
              <a:rPr lang="en-US" altLang="ko-KR" sz="1400" b="1"/>
              <a:t>, </a:t>
            </a:r>
            <a:r>
              <a:rPr lang="ko-KR" altLang="en-US" sz="1400" b="1"/>
              <a:t>법원 등에서 다년간 실무 경험을 쌓아온 젊은 전문가들이 </a:t>
            </a:r>
            <a:r>
              <a:rPr lang="en-US" altLang="ko-KR" sz="1400" b="1"/>
              <a:t>One Team</a:t>
            </a:r>
            <a:r>
              <a:rPr lang="ko-KR" altLang="en-US" sz="1400" b="1"/>
              <a:t>으로 긴밀히 협업하며 오로지 고객을 위한 최적의 솔루션을 제시합니다</a:t>
            </a:r>
            <a:r>
              <a:rPr lang="en-US" altLang="ko-KR" sz="1400" b="1"/>
              <a:t>.</a:t>
            </a:r>
            <a:endParaRPr lang="ko-KR" altLang="en-US" sz="1400" b="1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2E02EA6-3CE3-BAF7-A306-03033D5D71FD}"/>
              </a:ext>
            </a:extLst>
          </p:cNvPr>
          <p:cNvGrpSpPr/>
          <p:nvPr/>
        </p:nvGrpSpPr>
        <p:grpSpPr>
          <a:xfrm>
            <a:off x="2577000" y="1808164"/>
            <a:ext cx="1152000" cy="1439999"/>
            <a:chOff x="3303188" y="1645242"/>
            <a:chExt cx="1152000" cy="1439999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2E03931-2285-6573-F09A-6F4958A77A25}"/>
                </a:ext>
              </a:extLst>
            </p:cNvPr>
            <p:cNvSpPr/>
            <p:nvPr/>
          </p:nvSpPr>
          <p:spPr>
            <a:xfrm>
              <a:off x="3303188" y="1933241"/>
              <a:ext cx="1152000" cy="1152000"/>
            </a:xfrm>
            <a:prstGeom prst="ellipse">
              <a:avLst/>
            </a:prstGeom>
            <a:solidFill>
              <a:srgbClr val="0F3A3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7" name="그림 6" descr="의류, 사람, 인간의 얼굴, 슈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0903306-45BA-EDD6-A67D-D994C6CF3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303188" y="1645242"/>
              <a:ext cx="1152000" cy="1439999"/>
            </a:xfrm>
            <a:custGeom>
              <a:avLst/>
              <a:gdLst>
                <a:gd name="csX0" fmla="*/ 0 w 1152000"/>
                <a:gd name="csY0" fmla="*/ 0 h 1439999"/>
                <a:gd name="csX1" fmla="*/ 1152000 w 1152000"/>
                <a:gd name="csY1" fmla="*/ 0 h 1439999"/>
                <a:gd name="csX2" fmla="*/ 1152000 w 1152000"/>
                <a:gd name="csY2" fmla="*/ 864000 h 1439999"/>
                <a:gd name="csX3" fmla="*/ 692084 w 1152000"/>
                <a:gd name="csY3" fmla="*/ 1428298 h 1439999"/>
                <a:gd name="csX4" fmla="*/ 576010 w 1152000"/>
                <a:gd name="csY4" fmla="*/ 1439999 h 1439999"/>
                <a:gd name="csX5" fmla="*/ 575990 w 1152000"/>
                <a:gd name="csY5" fmla="*/ 1439999 h 1439999"/>
                <a:gd name="csX6" fmla="*/ 459916 w 1152000"/>
                <a:gd name="csY6" fmla="*/ 1428298 h 1439999"/>
                <a:gd name="csX7" fmla="*/ 0 w 1152000"/>
                <a:gd name="csY7" fmla="*/ 864000 h 1439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52000" h="1439999">
                  <a:moveTo>
                    <a:pt x="0" y="0"/>
                  </a:moveTo>
                  <a:lnTo>
                    <a:pt x="1152000" y="0"/>
                  </a:lnTo>
                  <a:lnTo>
                    <a:pt x="1152000" y="864000"/>
                  </a:lnTo>
                  <a:cubicBezTo>
                    <a:pt x="1152000" y="1142352"/>
                    <a:pt x="954558" y="1374588"/>
                    <a:pt x="692084" y="1428298"/>
                  </a:cubicBezTo>
                  <a:lnTo>
                    <a:pt x="576010" y="1439999"/>
                  </a:lnTo>
                  <a:lnTo>
                    <a:pt x="575990" y="1439999"/>
                  </a:lnTo>
                  <a:lnTo>
                    <a:pt x="459916" y="1428298"/>
                  </a:lnTo>
                  <a:cubicBezTo>
                    <a:pt x="197442" y="1374588"/>
                    <a:pt x="0" y="1142352"/>
                    <a:pt x="0" y="86400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48539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인테리어 디자인, 실내, 부지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0D834F-C14C-CBEC-293D-B0F3811107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3068638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C08731-72E4-7320-7BEA-687A595800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/>
              <a:t>OUR TEAM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61356F-BFC0-E669-BFEA-0EB97FBC96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468370-2295-933F-A53F-C89E5F0AE5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</a:t>
            </a:fld>
            <a:endParaRPr lang="en-US"/>
          </a:p>
        </p:txBody>
      </p:sp>
      <p:pic>
        <p:nvPicPr>
          <p:cNvPr id="15" name="그림 14" descr="의류, 사람, 슈트, 블레이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87660A-4B27-B3EF-3A48-7027BA03D5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53000" y="549274"/>
            <a:ext cx="4500000" cy="25193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CFB35E-7F80-9F71-32DE-60B71588130A}"/>
              </a:ext>
            </a:extLst>
          </p:cNvPr>
          <p:cNvSpPr txBox="1"/>
          <p:nvPr/>
        </p:nvSpPr>
        <p:spPr>
          <a:xfrm>
            <a:off x="453000" y="1196975"/>
            <a:ext cx="1221488" cy="9671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2400" b="1">
                <a:solidFill>
                  <a:srgbClr val="0F3A32"/>
                </a:solidFill>
              </a:rPr>
              <a:t>임   영   훈</a:t>
            </a:r>
            <a:endParaRPr lang="en-US" altLang="ko-KR" sz="2400" b="1">
              <a:solidFill>
                <a:srgbClr val="0F3A32"/>
              </a:solidFill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/>
              <a:t>법무법인 </a:t>
            </a:r>
            <a:r>
              <a:rPr lang="ko-KR" altLang="en-US" sz="1400" b="1" err="1"/>
              <a:t>아믹</a:t>
            </a:r>
            <a:endParaRPr lang="en-US" altLang="ko-KR" sz="1400" b="1"/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1400"/>
              <a:t>대표변호사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112DCF-145A-3B20-A73F-E7F353A412D8}"/>
              </a:ext>
            </a:extLst>
          </p:cNvPr>
          <p:cNvSpPr txBox="1"/>
          <p:nvPr/>
        </p:nvSpPr>
        <p:spPr>
          <a:xfrm>
            <a:off x="453000" y="3429950"/>
            <a:ext cx="4392000" cy="13720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경력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2026 ~ </a:t>
            </a:r>
            <a:r>
              <a:rPr lang="ko-KR" altLang="en-US" sz="1200"/>
              <a:t>현재</a:t>
            </a:r>
            <a:r>
              <a:rPr lang="en-US" altLang="ko-KR" sz="1200"/>
              <a:t>				</a:t>
            </a:r>
            <a:r>
              <a:rPr lang="ko-KR" altLang="en-US" sz="1200"/>
              <a:t>법무법인 </a:t>
            </a:r>
            <a:r>
              <a:rPr lang="ko-KR" altLang="en-US" sz="1200" err="1"/>
              <a:t>아믹</a:t>
            </a:r>
            <a:r>
              <a:rPr lang="ko-KR" altLang="en-US" sz="1200"/>
              <a:t> 대표변호사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2023 ~ 2025			</a:t>
            </a:r>
            <a:r>
              <a:rPr lang="ko-KR" altLang="en-US" sz="1200"/>
              <a:t>법무법인 </a:t>
            </a:r>
            <a:r>
              <a:rPr lang="ko-KR" altLang="en-US" sz="1200" err="1"/>
              <a:t>에스엘파트너스</a:t>
            </a:r>
            <a:r>
              <a:rPr lang="ko-KR" altLang="en-US" sz="1200"/>
              <a:t> 대표변호사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2021 ~ 2023			</a:t>
            </a:r>
            <a:r>
              <a:rPr lang="ko-KR" altLang="en-US" sz="1200"/>
              <a:t>삼성전자 주식회사 법무팀 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2017 ~ 2021			</a:t>
            </a:r>
            <a:r>
              <a:rPr lang="ko-KR" altLang="en-US" sz="1200"/>
              <a:t>김</a:t>
            </a:r>
            <a:r>
              <a:rPr lang="en-US" altLang="ko-KR" sz="1200"/>
              <a:t>·</a:t>
            </a:r>
            <a:r>
              <a:rPr lang="ko-KR" altLang="en-US" sz="1200"/>
              <a:t>장 법률사무소 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2011 ~ 2012			</a:t>
            </a:r>
            <a:r>
              <a:rPr lang="ko-KR" altLang="en-US" sz="1200" err="1"/>
              <a:t>딜로이트</a:t>
            </a:r>
            <a:r>
              <a:rPr lang="ko-KR" altLang="en-US" sz="1200"/>
              <a:t> </a:t>
            </a:r>
            <a:r>
              <a:rPr lang="ko-KR" altLang="en-US" sz="1200" err="1"/>
              <a:t>안진회계법인</a:t>
            </a:r>
            <a:r>
              <a:rPr lang="ko-KR" altLang="en-US" sz="1200"/>
              <a:t> 공인회계사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D8A56E-6807-5E30-A705-35141320D2D0}"/>
              </a:ext>
            </a:extLst>
          </p:cNvPr>
          <p:cNvSpPr txBox="1"/>
          <p:nvPr/>
        </p:nvSpPr>
        <p:spPr>
          <a:xfrm>
            <a:off x="5061000" y="3429950"/>
            <a:ext cx="4392000" cy="15387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학력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2017				</a:t>
            </a:r>
            <a:r>
              <a:rPr lang="ko-KR" altLang="en-US" sz="1200"/>
              <a:t>대법원 사법연수원 제</a:t>
            </a:r>
            <a:r>
              <a:rPr lang="en-US" altLang="ko-KR" sz="1200"/>
              <a:t>46</a:t>
            </a:r>
            <a:r>
              <a:rPr lang="ko-KR" altLang="en-US" sz="1200"/>
              <a:t>기 수료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2015				</a:t>
            </a:r>
            <a:r>
              <a:rPr lang="ko-KR" altLang="en-US" sz="1200"/>
              <a:t>연세대학교 경제학과 학사 졸업</a:t>
            </a:r>
            <a:endParaRPr lang="en-US" altLang="ko-KR" sz="1200"/>
          </a:p>
          <a:p>
            <a:pPr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자격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변호사</a:t>
            </a:r>
            <a:r>
              <a:rPr lang="en-US" altLang="ko-KR" sz="1200"/>
              <a:t>, </a:t>
            </a:r>
            <a:r>
              <a:rPr lang="ko-KR" altLang="en-US" sz="1200"/>
              <a:t>대한민국 </a:t>
            </a:r>
            <a:r>
              <a:rPr lang="en-US" altLang="ko-KR" sz="1200"/>
              <a:t>(2017)</a:t>
            </a:r>
          </a:p>
          <a:p>
            <a:pPr marL="171450" indent="-171450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공인회계사</a:t>
            </a:r>
            <a:r>
              <a:rPr lang="en-US" altLang="ko-KR" sz="1200"/>
              <a:t>, </a:t>
            </a:r>
            <a:r>
              <a:rPr lang="ko-KR" altLang="en-US" sz="1200"/>
              <a:t>대한민국 </a:t>
            </a:r>
            <a:r>
              <a:rPr lang="en-US" altLang="ko-KR" sz="1200"/>
              <a:t>(2010)</a:t>
            </a:r>
          </a:p>
        </p:txBody>
      </p:sp>
    </p:spTree>
    <p:extLst>
      <p:ext uri="{BB962C8B-B14F-4D97-AF65-F5344CB8AC3E}">
        <p14:creationId xmlns:p14="http://schemas.microsoft.com/office/powerpoint/2010/main" val="164185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6C77-37FC-986B-5161-6084BCBD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인테리어 디자인, 실내, 부지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8235D8-730A-25DF-F338-7B15D5FB8B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3068638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9BAEB79-3A9F-DABA-A450-BEB01DF114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/>
              <a:t>OUR TEAM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2ACA0D-DCD0-3FF1-02B6-BB073C3814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CF45A3-E275-FE17-F729-601945D412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CDD39-3064-D358-FEFD-714DFC2C9321}"/>
              </a:ext>
            </a:extLst>
          </p:cNvPr>
          <p:cNvSpPr txBox="1"/>
          <p:nvPr/>
        </p:nvSpPr>
        <p:spPr>
          <a:xfrm>
            <a:off x="453000" y="1196975"/>
            <a:ext cx="1259960" cy="9671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2400" b="1">
                <a:solidFill>
                  <a:srgbClr val="0F3A32"/>
                </a:solidFill>
              </a:rPr>
              <a:t>박   병   준</a:t>
            </a:r>
            <a:endParaRPr lang="en-US" altLang="ko-KR" sz="2400" b="1">
              <a:solidFill>
                <a:srgbClr val="0F3A32"/>
              </a:solidFill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/>
              <a:t>법무법인 </a:t>
            </a:r>
            <a:r>
              <a:rPr lang="ko-KR" altLang="en-US" sz="1400" b="1" err="1"/>
              <a:t>아믹</a:t>
            </a:r>
            <a:endParaRPr lang="en-US" altLang="ko-KR" sz="1400" b="1"/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1400"/>
              <a:t>대표변호사</a:t>
            </a:r>
            <a:endParaRPr lang="en-US" altLang="ko-KR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904A26-384D-10AA-B66F-21FE2C3237E6}"/>
              </a:ext>
            </a:extLst>
          </p:cNvPr>
          <p:cNvSpPr txBox="1"/>
          <p:nvPr/>
        </p:nvSpPr>
        <p:spPr>
          <a:xfrm>
            <a:off x="453000" y="3429950"/>
            <a:ext cx="4392000" cy="13720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경력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2026 ~ </a:t>
            </a:r>
            <a:r>
              <a:rPr lang="ko-KR" altLang="en-US" sz="1200"/>
              <a:t>현재</a:t>
            </a:r>
            <a:r>
              <a:rPr lang="en-US" altLang="ko-KR" sz="1200"/>
              <a:t>				</a:t>
            </a:r>
            <a:r>
              <a:rPr lang="ko-KR" altLang="en-US" sz="1200"/>
              <a:t>법무법인 </a:t>
            </a:r>
            <a:r>
              <a:rPr lang="ko-KR" altLang="en-US" sz="1200" err="1"/>
              <a:t>아믹</a:t>
            </a:r>
            <a:r>
              <a:rPr lang="ko-KR" altLang="en-US" sz="1200"/>
              <a:t> 대표변호사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2024 ~ 2025			</a:t>
            </a:r>
            <a:r>
              <a:rPr lang="ko-KR" altLang="en-US" sz="1200"/>
              <a:t>미국 고리컴퍼니 고문변호사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2017 ~ 2024			</a:t>
            </a:r>
            <a:r>
              <a:rPr lang="ko-KR" altLang="en-US" sz="1200"/>
              <a:t>김</a:t>
            </a:r>
            <a:r>
              <a:rPr lang="en-US" altLang="ko-KR" sz="1200"/>
              <a:t>·</a:t>
            </a:r>
            <a:r>
              <a:rPr lang="ko-KR" altLang="en-US" sz="1200"/>
              <a:t>장 법률사무소 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2015 ~ 2017			</a:t>
            </a:r>
            <a:r>
              <a:rPr lang="ko-KR" altLang="en-US" sz="1200"/>
              <a:t>서울고등법원 재판연구원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2012 ~ 2013			</a:t>
            </a:r>
            <a:r>
              <a:rPr lang="ko-KR" altLang="en-US" sz="1200"/>
              <a:t>서울북부지방법원 법원사무관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65711-1F07-6E3F-60CE-AEBE6D8B5AB5}"/>
              </a:ext>
            </a:extLst>
          </p:cNvPr>
          <p:cNvSpPr txBox="1"/>
          <p:nvPr/>
        </p:nvSpPr>
        <p:spPr>
          <a:xfrm>
            <a:off x="5061000" y="3429950"/>
            <a:ext cx="4392000" cy="22250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 dirty="0">
                <a:solidFill>
                  <a:srgbClr val="0F3A32"/>
                </a:solidFill>
              </a:rPr>
              <a:t>학력</a:t>
            </a:r>
            <a:endParaRPr lang="en-US" altLang="ko-KR" sz="1200" b="1" dirty="0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2024				UC Berkeley School of Law, LL.M.</a:t>
            </a: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2021				</a:t>
            </a:r>
            <a:r>
              <a:rPr lang="ko-KR" altLang="en-US" sz="1200" dirty="0"/>
              <a:t>서울대학교 대학원 법학과 석사 수료</a:t>
            </a:r>
            <a:endParaRPr lang="en-US" altLang="ko-KR" sz="1200" dirty="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2015				</a:t>
            </a:r>
            <a:r>
              <a:rPr lang="ko-KR" altLang="en-US" sz="1200" dirty="0"/>
              <a:t>대법원 사법연수원 제</a:t>
            </a:r>
            <a:r>
              <a:rPr lang="en-US" altLang="ko-KR" sz="1200" dirty="0"/>
              <a:t>44</a:t>
            </a:r>
            <a:r>
              <a:rPr lang="ko-KR" altLang="en-US" sz="1200" dirty="0"/>
              <a:t>기 수료</a:t>
            </a:r>
            <a:endParaRPr lang="en-US" altLang="ko-KR" sz="1200" dirty="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2013				</a:t>
            </a:r>
            <a:r>
              <a:rPr lang="ko-KR" altLang="en-US" sz="1200" dirty="0"/>
              <a:t>성균관대학교 물리학과 학사 졸업</a:t>
            </a:r>
            <a:endParaRPr lang="en-US" altLang="ko-KR" sz="1200" dirty="0"/>
          </a:p>
          <a:p>
            <a:pPr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 dirty="0">
                <a:solidFill>
                  <a:srgbClr val="0F3A32"/>
                </a:solidFill>
              </a:rPr>
              <a:t>자격</a:t>
            </a:r>
            <a:endParaRPr lang="en-US" altLang="ko-KR" sz="1200" b="1" dirty="0">
              <a:solidFill>
                <a:srgbClr val="0F3A32"/>
              </a:solidFill>
            </a:endParaRPr>
          </a:p>
          <a:p>
            <a:pPr marL="171450" indent="-171450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변호사</a:t>
            </a:r>
            <a:r>
              <a:rPr lang="en-US" altLang="ko-KR" sz="1200" dirty="0"/>
              <a:t>, </a:t>
            </a:r>
            <a:r>
              <a:rPr lang="ko-KR" altLang="en-US" sz="1200" dirty="0"/>
              <a:t>미국 </a:t>
            </a:r>
            <a:r>
              <a:rPr lang="en-US" altLang="ko-KR" sz="1200" dirty="0"/>
              <a:t>(</a:t>
            </a:r>
            <a:r>
              <a:rPr lang="ko-KR" altLang="en-US" sz="1200" dirty="0"/>
              <a:t>캘리포니아주</a:t>
            </a:r>
            <a:r>
              <a:rPr lang="en-US" altLang="ko-KR" sz="1200" dirty="0"/>
              <a:t>, 2024 / </a:t>
            </a:r>
            <a:r>
              <a:rPr lang="ko-KR" altLang="en-US" sz="1200" dirty="0"/>
              <a:t>텍사스주</a:t>
            </a:r>
            <a:r>
              <a:rPr lang="en-US" altLang="ko-KR" sz="1200" dirty="0"/>
              <a:t>, 2025)</a:t>
            </a:r>
          </a:p>
          <a:p>
            <a:pPr marL="171450" indent="-171450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변호사</a:t>
            </a:r>
            <a:r>
              <a:rPr lang="en-US" altLang="ko-KR" sz="1200" dirty="0"/>
              <a:t>, </a:t>
            </a:r>
            <a:r>
              <a:rPr lang="ko-KR" altLang="en-US" sz="1200" dirty="0"/>
              <a:t>대한민국 </a:t>
            </a:r>
            <a:r>
              <a:rPr lang="en-US" altLang="ko-KR" sz="1200" dirty="0"/>
              <a:t>(2015)</a:t>
            </a:r>
          </a:p>
          <a:p>
            <a:pPr marL="171450" indent="-171450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법원행정고등고시 </a:t>
            </a:r>
            <a:r>
              <a:rPr lang="en-US" altLang="ko-KR" sz="1200" dirty="0"/>
              <a:t>(2011)</a:t>
            </a:r>
          </a:p>
        </p:txBody>
      </p:sp>
      <p:pic>
        <p:nvPicPr>
          <p:cNvPr id="7" name="그림 6" descr="의류, 사람, 인간의 얼굴, 슈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1DED36-553A-2867-FE38-5D075494FC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53000" y="0"/>
            <a:ext cx="4500000" cy="306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2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A294F-CFCC-7B73-BC75-F2FF1921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인테리어 디자인, 실내, 부지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DDEC26-B57C-C73A-1FDC-7C7443DB58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3068638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1551DF8-0D61-7CCF-C7C1-5A62FFA3FA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/>
              <a:t>OUR TEAM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D1D380-EB2E-8A6A-E481-09CD644D64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9AD600-B0B8-CABD-CAFB-3DD803B260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AF708-3BCF-08FF-EECA-DA3ABF0D7DCA}"/>
              </a:ext>
            </a:extLst>
          </p:cNvPr>
          <p:cNvSpPr txBox="1"/>
          <p:nvPr/>
        </p:nvSpPr>
        <p:spPr>
          <a:xfrm>
            <a:off x="453000" y="1196975"/>
            <a:ext cx="1221488" cy="9671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2400" b="1">
                <a:solidFill>
                  <a:srgbClr val="0F3A32"/>
                </a:solidFill>
              </a:rPr>
              <a:t>서   지   원</a:t>
            </a:r>
            <a:endParaRPr lang="en-US" altLang="ko-KR" sz="2400" b="1">
              <a:solidFill>
                <a:srgbClr val="0F3A32"/>
              </a:solidFill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/>
              <a:t>법무법인 </a:t>
            </a:r>
            <a:r>
              <a:rPr lang="ko-KR" altLang="en-US" sz="1400" b="1" err="1"/>
              <a:t>아믹</a:t>
            </a:r>
            <a:endParaRPr lang="en-US" altLang="ko-KR" sz="1400" b="1"/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1400"/>
              <a:t>대표변호사</a:t>
            </a:r>
          </a:p>
        </p:txBody>
      </p:sp>
      <p:pic>
        <p:nvPicPr>
          <p:cNvPr id="6" name="그림 5" descr="의류, 사람, 슈트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4FDEC8-625A-9CCF-9013-364388979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53000" y="549275"/>
            <a:ext cx="4500000" cy="25193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F83DD4-2835-9115-9864-C77D1FEF116C}"/>
              </a:ext>
            </a:extLst>
          </p:cNvPr>
          <p:cNvSpPr txBox="1"/>
          <p:nvPr/>
        </p:nvSpPr>
        <p:spPr>
          <a:xfrm>
            <a:off x="453000" y="3429950"/>
            <a:ext cx="4392000" cy="1600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경력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2026 ~ </a:t>
            </a:r>
            <a:r>
              <a:rPr lang="ko-KR" altLang="en-US" sz="1200"/>
              <a:t>현재</a:t>
            </a:r>
            <a:r>
              <a:rPr lang="en-US" altLang="ko-KR" sz="1200"/>
              <a:t>				</a:t>
            </a:r>
            <a:r>
              <a:rPr lang="ko-KR" altLang="en-US" sz="1200"/>
              <a:t>법무법인 </a:t>
            </a:r>
            <a:r>
              <a:rPr lang="ko-KR" altLang="en-US" sz="1200" err="1"/>
              <a:t>아믹</a:t>
            </a:r>
            <a:r>
              <a:rPr lang="ko-KR" altLang="en-US" sz="1200"/>
              <a:t> 대표변호사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2024 ~ 2025			</a:t>
            </a:r>
            <a:r>
              <a:rPr lang="ko-KR" altLang="en-US" sz="1200"/>
              <a:t>법무법인 </a:t>
            </a:r>
            <a:r>
              <a:rPr lang="ko-KR" altLang="en-US" sz="1200" err="1"/>
              <a:t>에스엘파트너스</a:t>
            </a:r>
            <a:r>
              <a:rPr lang="ko-KR" altLang="en-US" sz="1200"/>
              <a:t> 파트너변호사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2020 ~ 2024			</a:t>
            </a:r>
            <a:r>
              <a:rPr lang="ko-KR" altLang="en-US" sz="1200"/>
              <a:t>김</a:t>
            </a:r>
            <a:r>
              <a:rPr lang="en-US" altLang="ko-KR" sz="1200"/>
              <a:t>·</a:t>
            </a:r>
            <a:r>
              <a:rPr lang="ko-KR" altLang="en-US" sz="1200"/>
              <a:t>장 법률사무소 변호사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2019 ~ 2020			</a:t>
            </a:r>
            <a:r>
              <a:rPr lang="ko-KR" altLang="en-US" sz="1200"/>
              <a:t>국방부 법무관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2018 ~ 2019			</a:t>
            </a:r>
            <a:r>
              <a:rPr lang="ko-KR" altLang="en-US" sz="1200"/>
              <a:t>해군본부 법무관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2017 ~ 2018			</a:t>
            </a:r>
            <a:r>
              <a:rPr lang="ko-KR" altLang="en-US" sz="1200"/>
              <a:t>해병대 제</a:t>
            </a:r>
            <a:r>
              <a:rPr lang="en-US" altLang="ko-KR" sz="1200"/>
              <a:t>1</a:t>
            </a:r>
            <a:r>
              <a:rPr lang="ko-KR" altLang="en-US" sz="1200"/>
              <a:t>사단 법무관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AF77D-34DA-2083-3991-995DE4508423}"/>
              </a:ext>
            </a:extLst>
          </p:cNvPr>
          <p:cNvSpPr txBox="1"/>
          <p:nvPr/>
        </p:nvSpPr>
        <p:spPr>
          <a:xfrm>
            <a:off x="5061000" y="3429950"/>
            <a:ext cx="4392000" cy="1309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학력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2017				</a:t>
            </a:r>
            <a:r>
              <a:rPr lang="ko-KR" altLang="en-US" sz="1200"/>
              <a:t>대법원 사법연수원 제</a:t>
            </a:r>
            <a:r>
              <a:rPr lang="en-US" altLang="ko-KR" sz="1200"/>
              <a:t>46</a:t>
            </a:r>
            <a:r>
              <a:rPr lang="ko-KR" altLang="en-US" sz="1200"/>
              <a:t>기 수료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2015				</a:t>
            </a:r>
            <a:r>
              <a:rPr lang="ko-KR" altLang="en-US" sz="1200"/>
              <a:t>서울대학교 교육학과 학사 졸업</a:t>
            </a:r>
            <a:endParaRPr lang="en-US" altLang="ko-KR" sz="1200"/>
          </a:p>
          <a:p>
            <a:pPr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자격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변호사</a:t>
            </a:r>
            <a:r>
              <a:rPr lang="en-US" altLang="ko-KR" sz="1200"/>
              <a:t>, </a:t>
            </a:r>
            <a:r>
              <a:rPr lang="ko-KR" altLang="en-US" sz="1200"/>
              <a:t>대한민국 </a:t>
            </a:r>
            <a:r>
              <a:rPr lang="en-US" altLang="ko-KR" sz="1200"/>
              <a:t>(2017)</a:t>
            </a:r>
          </a:p>
        </p:txBody>
      </p:sp>
    </p:spTree>
    <p:extLst>
      <p:ext uri="{BB962C8B-B14F-4D97-AF65-F5344CB8AC3E}">
        <p14:creationId xmlns:p14="http://schemas.microsoft.com/office/powerpoint/2010/main" val="149452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C36C-DDD1-236E-7EFF-85723F96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인테리어 디자인, 실내, 부지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8FA5F2-0062-486C-6F27-7329581339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3068638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59C446-5D66-DA27-7634-3EEED0E805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/>
              <a:t>OUR TEAM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01AE5-F6A7-D037-40F2-E1406271A7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B57843-1BB7-FBD1-D662-021D1E5EE5D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3EA09-27D2-D5E8-E3E7-226A4D271A34}"/>
              </a:ext>
            </a:extLst>
          </p:cNvPr>
          <p:cNvSpPr txBox="1"/>
          <p:nvPr/>
        </p:nvSpPr>
        <p:spPr>
          <a:xfrm>
            <a:off x="453000" y="1196975"/>
            <a:ext cx="2221762" cy="9671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2400" b="1">
                <a:solidFill>
                  <a:srgbClr val="0F3A32"/>
                </a:solidFill>
              </a:rPr>
              <a:t>김   양   태</a:t>
            </a:r>
            <a:endParaRPr lang="en-US" altLang="ko-KR" sz="2400" b="1">
              <a:solidFill>
                <a:srgbClr val="0F3A32"/>
              </a:solidFill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/>
              <a:t>주식회사 </a:t>
            </a:r>
            <a:r>
              <a:rPr lang="ko-KR" altLang="en-US" sz="1400" b="1" err="1"/>
              <a:t>페트라브릿지파트너스</a:t>
            </a:r>
            <a:endParaRPr lang="en-US" altLang="ko-KR" sz="1400" b="1"/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1400"/>
              <a:t>대표이사 </a:t>
            </a:r>
            <a:r>
              <a:rPr lang="en-US" altLang="ko-KR" sz="1400"/>
              <a:t>· </a:t>
            </a:r>
            <a:r>
              <a:rPr lang="ko-KR" altLang="en-US" sz="1400"/>
              <a:t>공인회계사</a:t>
            </a:r>
          </a:p>
        </p:txBody>
      </p:sp>
      <p:pic>
        <p:nvPicPr>
          <p:cNvPr id="6" name="그림 5" descr="사람, 의류, 슈트, 정장 차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1A3F20-2996-26B9-9313-F6293C36BF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53000" y="549275"/>
            <a:ext cx="4500000" cy="25193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63CBFC-AC9F-283F-A6BC-E55B89213EBB}"/>
              </a:ext>
            </a:extLst>
          </p:cNvPr>
          <p:cNvSpPr txBox="1"/>
          <p:nvPr/>
        </p:nvSpPr>
        <p:spPr>
          <a:xfrm>
            <a:off x="453000" y="3429950"/>
            <a:ext cx="4392000" cy="1600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경력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2026 ~ </a:t>
            </a:r>
            <a:r>
              <a:rPr lang="ko-KR" altLang="en-US" sz="1200"/>
              <a:t>현재</a:t>
            </a:r>
            <a:r>
              <a:rPr lang="en-US" altLang="ko-KR" sz="1200"/>
              <a:t>				</a:t>
            </a:r>
            <a:r>
              <a:rPr lang="ko-KR" altLang="en-US" sz="1200"/>
              <a:t>주식회사 </a:t>
            </a:r>
            <a:r>
              <a:rPr lang="ko-KR" altLang="en-US" sz="1200" err="1"/>
              <a:t>페트라브릿지파트너스</a:t>
            </a:r>
            <a:r>
              <a:rPr lang="ko-KR" altLang="en-US" sz="1200"/>
              <a:t> 대표이사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2017 ~ 2025			KPMG</a:t>
            </a:r>
            <a:r>
              <a:rPr lang="ko-KR" altLang="en-US" sz="1200"/>
              <a:t> </a:t>
            </a:r>
            <a:r>
              <a:rPr lang="ko-KR" altLang="en-US" sz="1200" err="1"/>
              <a:t>삼정회계법인</a:t>
            </a:r>
            <a:r>
              <a:rPr lang="ko-KR" altLang="en-US" sz="1200"/>
              <a:t> </a:t>
            </a:r>
            <a:r>
              <a:rPr lang="en-US" altLang="ko-KR" sz="1200"/>
              <a:t>Deal Advisory </a:t>
            </a:r>
            <a:r>
              <a:rPr lang="ko-KR" altLang="en-US" sz="1200"/>
              <a:t>부문 파트너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2016 ~ 2017			KPMG China </a:t>
            </a:r>
            <a:r>
              <a:rPr lang="ko-KR" altLang="en-US" sz="1200"/>
              <a:t>베이징 사무소 국제조세 부문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2015 ~ 2016			KPMG </a:t>
            </a:r>
            <a:r>
              <a:rPr lang="ko-KR" altLang="en-US" sz="1200" err="1"/>
              <a:t>삼정회계법인</a:t>
            </a:r>
            <a:r>
              <a:rPr lang="ko-KR" altLang="en-US" sz="1200"/>
              <a:t> </a:t>
            </a:r>
            <a:r>
              <a:rPr lang="en-US" altLang="ko-KR" sz="1200"/>
              <a:t>Deal Advisory </a:t>
            </a:r>
            <a:r>
              <a:rPr lang="ko-KR" altLang="en-US" sz="1200"/>
              <a:t>부문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2013 ~ 2015			KCBC Beijing </a:t>
            </a:r>
            <a:r>
              <a:rPr lang="ko-KR" altLang="en-US" sz="1200"/>
              <a:t>세무자문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2010 ~ 2013			</a:t>
            </a:r>
            <a:r>
              <a:rPr lang="ko-KR" altLang="en-US" sz="1200" err="1"/>
              <a:t>딜로이트</a:t>
            </a:r>
            <a:r>
              <a:rPr lang="ko-KR" altLang="en-US" sz="1200"/>
              <a:t> </a:t>
            </a:r>
            <a:r>
              <a:rPr lang="ko-KR" altLang="en-US" sz="1200" err="1"/>
              <a:t>안진회계법인</a:t>
            </a:r>
            <a:r>
              <a:rPr lang="ko-KR" altLang="en-US" sz="1200"/>
              <a:t> 회계감사 부문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42958-BFDF-A828-802F-A0682CB59AE4}"/>
              </a:ext>
            </a:extLst>
          </p:cNvPr>
          <p:cNvSpPr txBox="1"/>
          <p:nvPr/>
        </p:nvSpPr>
        <p:spPr>
          <a:xfrm>
            <a:off x="5061000" y="3429950"/>
            <a:ext cx="4392000" cy="1309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학력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2015				</a:t>
            </a:r>
            <a:r>
              <a:rPr lang="ko-KR" altLang="en-US" sz="1200"/>
              <a:t>중국 베이징 </a:t>
            </a:r>
            <a:r>
              <a:rPr lang="en-US" altLang="ko-KR" sz="1200"/>
              <a:t>UIBE </a:t>
            </a:r>
            <a:r>
              <a:rPr lang="ko-KR" altLang="en-US" sz="1200"/>
              <a:t>경영석사</a:t>
            </a:r>
            <a:r>
              <a:rPr lang="en-US" altLang="ko-KR" sz="1200"/>
              <a:t>(MBA) </a:t>
            </a:r>
            <a:r>
              <a:rPr lang="ko-KR" altLang="en-US" sz="1200"/>
              <a:t>졸업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2013				</a:t>
            </a:r>
            <a:r>
              <a:rPr lang="ko-KR" altLang="en-US" sz="1200"/>
              <a:t>서울시립대학교 세무학과 학사 졸업</a:t>
            </a:r>
            <a:endParaRPr lang="en-US" altLang="ko-KR" sz="1200"/>
          </a:p>
          <a:p>
            <a:pPr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자격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공인회계사</a:t>
            </a:r>
            <a:r>
              <a:rPr lang="en-US" altLang="ko-KR" sz="1200"/>
              <a:t>, </a:t>
            </a:r>
            <a:r>
              <a:rPr lang="ko-KR" altLang="en-US" sz="1200"/>
              <a:t>대한민국 </a:t>
            </a:r>
            <a:r>
              <a:rPr lang="en-US" altLang="ko-KR" sz="1200"/>
              <a:t>(2010)</a:t>
            </a:r>
          </a:p>
        </p:txBody>
      </p:sp>
    </p:spTree>
    <p:extLst>
      <p:ext uri="{BB962C8B-B14F-4D97-AF65-F5344CB8AC3E}">
        <p14:creationId xmlns:p14="http://schemas.microsoft.com/office/powerpoint/2010/main" val="81092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76AFE-810E-3DF0-64A4-F142C680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인테리어 디자인, 실내, 부지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3F1EB4-D6B0-CEAF-A6C6-256CE79155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3068638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F910492-6ECC-33F0-B547-AC10B300C9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/>
              <a:t>OUR TEAM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C59FA5-4509-89E5-55C5-463F2079B4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FE7DB-B706-3FA2-9E2C-DA300E365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2E0D2-A874-38FB-3C6D-612072E7DBE5}"/>
              </a:ext>
            </a:extLst>
          </p:cNvPr>
          <p:cNvSpPr txBox="1"/>
          <p:nvPr/>
        </p:nvSpPr>
        <p:spPr>
          <a:xfrm>
            <a:off x="453000" y="1196975"/>
            <a:ext cx="2221762" cy="96712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2400" b="1">
                <a:solidFill>
                  <a:srgbClr val="0F3A32"/>
                </a:solidFill>
              </a:rPr>
              <a:t>조   우   상</a:t>
            </a:r>
            <a:endParaRPr lang="en-US" altLang="ko-KR" sz="2400" b="1">
              <a:solidFill>
                <a:srgbClr val="0F3A32"/>
              </a:solidFill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/>
              <a:t>주식회사 </a:t>
            </a:r>
            <a:r>
              <a:rPr lang="ko-KR" altLang="en-US" sz="1400" b="1" err="1"/>
              <a:t>페트라브릿지파트너스</a:t>
            </a:r>
            <a:endParaRPr lang="en-US" altLang="ko-KR" sz="1400" b="1"/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ko-KR" altLang="en-US" sz="1400"/>
              <a:t>이사 </a:t>
            </a:r>
            <a:r>
              <a:rPr lang="en-US" altLang="ko-KR" sz="1400"/>
              <a:t>· </a:t>
            </a:r>
            <a:r>
              <a:rPr lang="ko-KR" altLang="en-US" sz="1400"/>
              <a:t>컨설턴트</a:t>
            </a:r>
          </a:p>
        </p:txBody>
      </p:sp>
      <p:pic>
        <p:nvPicPr>
          <p:cNvPr id="6" name="그림 5" descr="사람, 의류, 인간의 얼굴, 블레이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C9D01B-B106-9AB7-7478-6C3B609030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53000" y="549275"/>
            <a:ext cx="4500000" cy="2519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E3C33E-633D-871B-54DA-FBDA255BBC1E}"/>
              </a:ext>
            </a:extLst>
          </p:cNvPr>
          <p:cNvSpPr txBox="1"/>
          <p:nvPr/>
        </p:nvSpPr>
        <p:spPr>
          <a:xfrm>
            <a:off x="453000" y="3429950"/>
            <a:ext cx="4392000" cy="6857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경력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2026 ~ </a:t>
            </a:r>
            <a:r>
              <a:rPr lang="ko-KR" altLang="en-US" sz="1200"/>
              <a:t>현재</a:t>
            </a:r>
            <a:r>
              <a:rPr lang="en-US" altLang="ko-KR" sz="1200"/>
              <a:t>				</a:t>
            </a:r>
            <a:r>
              <a:rPr lang="ko-KR" altLang="en-US" sz="1200"/>
              <a:t>주식회사 </a:t>
            </a:r>
            <a:r>
              <a:rPr lang="ko-KR" altLang="en-US" sz="1200" err="1"/>
              <a:t>페트라브릿지파트너스</a:t>
            </a:r>
            <a:r>
              <a:rPr lang="ko-KR" altLang="en-US" sz="1200"/>
              <a:t> 이사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2017 ~ 2025			KPMG </a:t>
            </a:r>
            <a:r>
              <a:rPr lang="ko-KR" altLang="en-US" sz="1200" err="1"/>
              <a:t>삼정회계법인</a:t>
            </a:r>
            <a:r>
              <a:rPr lang="ko-KR" altLang="en-US" sz="1200"/>
              <a:t> </a:t>
            </a:r>
            <a:r>
              <a:rPr lang="en-US" altLang="ko-KR" sz="1200"/>
              <a:t>Deal Advisory </a:t>
            </a:r>
            <a:r>
              <a:rPr lang="ko-KR" altLang="en-US" sz="1200"/>
              <a:t>부문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17D810-8EB9-B60D-DB3A-73FDED9EE706}"/>
              </a:ext>
            </a:extLst>
          </p:cNvPr>
          <p:cNvSpPr txBox="1"/>
          <p:nvPr/>
        </p:nvSpPr>
        <p:spPr>
          <a:xfrm>
            <a:off x="5061000" y="3429950"/>
            <a:ext cx="4392000" cy="6857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ko-KR" altLang="en-US" sz="1200" b="1">
                <a:solidFill>
                  <a:srgbClr val="0F3A32"/>
                </a:solidFill>
              </a:rPr>
              <a:t>학력</a:t>
            </a:r>
            <a:endParaRPr lang="en-US" altLang="ko-KR" sz="1200" b="1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2015				</a:t>
            </a:r>
            <a:r>
              <a:rPr lang="ko-KR" altLang="en-US" sz="1200"/>
              <a:t>프랑스 파리정치대학 공공정책경제학 석사 졸업</a:t>
            </a:r>
            <a:endParaRPr lang="en-US" altLang="ko-KR" sz="1200"/>
          </a:p>
          <a:p>
            <a:pPr marL="171450" indent="-171450" algn="l" defTabSz="108000">
              <a:lnSpc>
                <a:spcPct val="110000"/>
              </a:lnSpc>
              <a:spcBef>
                <a:spcPts val="200"/>
              </a:spcBef>
              <a:buClr>
                <a:srgbClr val="0F3A32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2013				</a:t>
            </a:r>
            <a:r>
              <a:rPr lang="ko-KR" altLang="en-US" sz="1200"/>
              <a:t>미국 </a:t>
            </a:r>
            <a:r>
              <a:rPr lang="ko-KR" altLang="en-US" sz="1200" err="1"/>
              <a:t>브랜다이즈대학교</a:t>
            </a:r>
            <a:r>
              <a:rPr lang="ko-KR" altLang="en-US" sz="1200"/>
              <a:t> 경제학 </a:t>
            </a:r>
            <a:r>
              <a:rPr lang="en-US" altLang="ko-KR" sz="1200"/>
              <a:t>· </a:t>
            </a:r>
            <a:r>
              <a:rPr lang="ko-KR" altLang="en-US" sz="1200"/>
              <a:t>수학 학사 졸업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563220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421D2C59-EFB0-DDC0-65E9-BF959C9EAAFF}"/>
              </a:ext>
            </a:extLst>
          </p:cNvPr>
          <p:cNvSpPr txBox="1"/>
          <p:nvPr/>
        </p:nvSpPr>
        <p:spPr>
          <a:xfrm>
            <a:off x="453000" y="5488949"/>
            <a:ext cx="1631857" cy="819776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 defTabSz="252000">
              <a:lnSpc>
                <a:spcPct val="110000"/>
              </a:lnSpc>
            </a:pPr>
            <a:r>
              <a:rPr lang="ko-KR" altLang="en-US" sz="1000">
                <a:solidFill>
                  <a:schemeClr val="bg1"/>
                </a:solidFill>
              </a:rPr>
              <a:t>서울특별시 강남구 테헤란로 </a:t>
            </a:r>
            <a:r>
              <a:rPr lang="en-US" altLang="ko-KR" sz="1000">
                <a:solidFill>
                  <a:schemeClr val="bg1"/>
                </a:solidFill>
              </a:rPr>
              <a:t>521</a:t>
            </a:r>
          </a:p>
          <a:p>
            <a:pPr algn="l" defTabSz="252000">
              <a:lnSpc>
                <a:spcPct val="110000"/>
              </a:lnSpc>
            </a:pPr>
            <a:r>
              <a:rPr lang="ko-KR" altLang="en-US" sz="1000" err="1">
                <a:solidFill>
                  <a:schemeClr val="bg1"/>
                </a:solidFill>
              </a:rPr>
              <a:t>파르나스타워</a:t>
            </a:r>
            <a:r>
              <a:rPr lang="ko-KR" altLang="en-US" sz="1000">
                <a:solidFill>
                  <a:schemeClr val="bg1"/>
                </a:solidFill>
              </a:rPr>
              <a:t> </a:t>
            </a:r>
            <a:r>
              <a:rPr lang="en-US" altLang="ko-KR" sz="1000">
                <a:solidFill>
                  <a:schemeClr val="bg1"/>
                </a:solidFill>
              </a:rPr>
              <a:t>29</a:t>
            </a:r>
            <a:r>
              <a:rPr lang="ko-KR" altLang="en-US" sz="1000">
                <a:solidFill>
                  <a:schemeClr val="bg1"/>
                </a:solidFill>
              </a:rPr>
              <a:t>층</a:t>
            </a:r>
            <a:endParaRPr lang="en-US" altLang="ko-KR" sz="1000">
              <a:solidFill>
                <a:schemeClr val="bg1"/>
              </a:solidFill>
            </a:endParaRPr>
          </a:p>
          <a:p>
            <a:pPr algn="l" defTabSz="252000">
              <a:lnSpc>
                <a:spcPct val="110000"/>
              </a:lnSpc>
              <a:spcBef>
                <a:spcPts val="1200"/>
              </a:spcBef>
            </a:pPr>
            <a:r>
              <a:rPr lang="en-US" altLang="ko-KR" sz="1000">
                <a:solidFill>
                  <a:schemeClr val="bg1"/>
                </a:solidFill>
              </a:rPr>
              <a:t>Tel.		02 6953 9930</a:t>
            </a:r>
          </a:p>
          <a:p>
            <a:pPr algn="l" defTabSz="252000">
              <a:lnSpc>
                <a:spcPct val="110000"/>
              </a:lnSpc>
            </a:pPr>
            <a:r>
              <a:rPr lang="en-US" altLang="ko-KR" sz="1000">
                <a:solidFill>
                  <a:schemeClr val="bg1"/>
                </a:solidFill>
              </a:rPr>
              <a:t>Fax.		02 6442 9930</a:t>
            </a:r>
            <a:endParaRPr lang="ko-KR" altLang="en-US" sz="140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86759B-1B29-51B6-E857-352732E95A96}"/>
              </a:ext>
            </a:extLst>
          </p:cNvPr>
          <p:cNvSpPr txBox="1"/>
          <p:nvPr/>
        </p:nvSpPr>
        <p:spPr>
          <a:xfrm>
            <a:off x="453000" y="549275"/>
            <a:ext cx="1415452" cy="2544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600">
                <a:solidFill>
                  <a:schemeClr val="bg1"/>
                </a:solidFill>
                <a:latin typeface="+mj-lt"/>
                <a:ea typeface="+mj-ea"/>
              </a:rPr>
              <a:t>CONTACT US</a:t>
            </a:r>
            <a:endParaRPr lang="ko-KR" altLang="en-US" sz="160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B938B-B01F-2FB9-0FBC-5F6001FA458E}"/>
              </a:ext>
            </a:extLst>
          </p:cNvPr>
          <p:cNvSpPr txBox="1"/>
          <p:nvPr/>
        </p:nvSpPr>
        <p:spPr>
          <a:xfrm>
            <a:off x="453000" y="1269275"/>
            <a:ext cx="2183931" cy="85363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 defTabSz="180000">
              <a:lnSpc>
                <a:spcPct val="110000"/>
              </a:lnSpc>
              <a:spcAft>
                <a:spcPts val="1200"/>
              </a:spcAft>
            </a:pPr>
            <a:r>
              <a:rPr lang="ko-KR" altLang="en-US" sz="1200" b="1">
                <a:solidFill>
                  <a:schemeClr val="bg1"/>
                </a:solidFill>
              </a:rPr>
              <a:t>법무법인 </a:t>
            </a:r>
            <a:r>
              <a:rPr lang="ko-KR" altLang="en-US" sz="1200" b="1" err="1">
                <a:solidFill>
                  <a:schemeClr val="bg1"/>
                </a:solidFill>
              </a:rPr>
              <a:t>아믹</a:t>
            </a:r>
            <a:endParaRPr lang="en-US" altLang="ko-KR" sz="1200" b="1">
              <a:solidFill>
                <a:schemeClr val="bg1"/>
              </a:solidFill>
            </a:endParaRPr>
          </a:p>
          <a:p>
            <a:pPr algn="l" defTabSz="180000">
              <a:lnSpc>
                <a:spcPct val="110000"/>
              </a:lnSpc>
            </a:pPr>
            <a:r>
              <a:rPr lang="ko-KR" altLang="en-US" sz="1000" b="1">
                <a:solidFill>
                  <a:schemeClr val="bg1"/>
                </a:solidFill>
              </a:rPr>
              <a:t>임  영  훈</a:t>
            </a:r>
            <a:r>
              <a:rPr lang="en-US" altLang="ko-KR" sz="1000" b="1">
                <a:solidFill>
                  <a:schemeClr val="bg1"/>
                </a:solidFill>
              </a:rPr>
              <a:t>	</a:t>
            </a:r>
            <a:r>
              <a:rPr lang="ko-KR" altLang="en-US" sz="1000">
                <a:solidFill>
                  <a:schemeClr val="bg1"/>
                </a:solidFill>
              </a:rPr>
              <a:t>대표변호사</a:t>
            </a:r>
            <a:r>
              <a:rPr lang="en-US" altLang="ko-KR" sz="1000">
                <a:solidFill>
                  <a:schemeClr val="bg1"/>
                </a:solidFill>
              </a:rPr>
              <a:t>	yhlim@amic.kr</a:t>
            </a:r>
          </a:p>
          <a:p>
            <a:pPr algn="l" defTabSz="180000">
              <a:lnSpc>
                <a:spcPct val="110000"/>
              </a:lnSpc>
            </a:pPr>
            <a:r>
              <a:rPr lang="ko-KR" altLang="en-US" sz="1000" b="1">
                <a:solidFill>
                  <a:schemeClr val="bg1"/>
                </a:solidFill>
              </a:rPr>
              <a:t>박  병  준</a:t>
            </a:r>
            <a:r>
              <a:rPr lang="en-US" altLang="ko-KR" sz="1000" b="1">
                <a:solidFill>
                  <a:schemeClr val="bg1"/>
                </a:solidFill>
              </a:rPr>
              <a:t>	</a:t>
            </a:r>
            <a:r>
              <a:rPr lang="ko-KR" altLang="en-US" sz="1000">
                <a:solidFill>
                  <a:schemeClr val="bg1"/>
                </a:solidFill>
              </a:rPr>
              <a:t>대표변호사</a:t>
            </a:r>
            <a:r>
              <a:rPr lang="en-US" altLang="ko-KR" sz="1000">
                <a:solidFill>
                  <a:schemeClr val="bg1"/>
                </a:solidFill>
              </a:rPr>
              <a:t>	bj.park@amic.kr</a:t>
            </a:r>
          </a:p>
          <a:p>
            <a:pPr algn="l" defTabSz="180000">
              <a:lnSpc>
                <a:spcPct val="110000"/>
              </a:lnSpc>
            </a:pPr>
            <a:r>
              <a:rPr lang="ko-KR" altLang="en-US" sz="1000" b="1">
                <a:solidFill>
                  <a:schemeClr val="bg1"/>
                </a:solidFill>
              </a:rPr>
              <a:t>서  지  원</a:t>
            </a:r>
            <a:r>
              <a:rPr lang="en-US" altLang="ko-KR" sz="1000" b="1">
                <a:solidFill>
                  <a:schemeClr val="bg1"/>
                </a:solidFill>
              </a:rPr>
              <a:t>	</a:t>
            </a:r>
            <a:r>
              <a:rPr lang="ko-KR" altLang="en-US" sz="1000">
                <a:solidFill>
                  <a:schemeClr val="bg1"/>
                </a:solidFill>
              </a:rPr>
              <a:t>대표변호사</a:t>
            </a:r>
            <a:r>
              <a:rPr lang="en-US" altLang="ko-KR" sz="1000">
                <a:solidFill>
                  <a:schemeClr val="bg1"/>
                </a:solidFill>
              </a:rPr>
              <a:t>	jwsuh@amic.kr</a:t>
            </a:r>
            <a:endParaRPr lang="ko-KR" altLang="en-US" sz="14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6CB056-F6ED-BCED-4142-E601D049E07C}"/>
              </a:ext>
            </a:extLst>
          </p:cNvPr>
          <p:cNvSpPr txBox="1"/>
          <p:nvPr/>
        </p:nvSpPr>
        <p:spPr>
          <a:xfrm>
            <a:off x="453000" y="2529274"/>
            <a:ext cx="2106987" cy="68435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 defTabSz="180000">
              <a:lnSpc>
                <a:spcPct val="110000"/>
              </a:lnSpc>
              <a:spcAft>
                <a:spcPts val="1200"/>
              </a:spcAft>
            </a:pPr>
            <a:r>
              <a:rPr lang="ko-KR" altLang="en-US" sz="1200" b="1">
                <a:solidFill>
                  <a:schemeClr val="bg1"/>
                </a:solidFill>
              </a:rPr>
              <a:t>주식회사 </a:t>
            </a:r>
            <a:r>
              <a:rPr lang="ko-KR" altLang="en-US" sz="1200" b="1" err="1">
                <a:solidFill>
                  <a:schemeClr val="bg1"/>
                </a:solidFill>
              </a:rPr>
              <a:t>페트라브릿지파트너스</a:t>
            </a:r>
            <a:endParaRPr lang="en-US" altLang="ko-KR" sz="1200" b="1">
              <a:solidFill>
                <a:schemeClr val="bg1"/>
              </a:solidFill>
            </a:endParaRPr>
          </a:p>
          <a:p>
            <a:pPr algn="l" defTabSz="180000">
              <a:lnSpc>
                <a:spcPct val="110000"/>
              </a:lnSpc>
            </a:pPr>
            <a:r>
              <a:rPr lang="ko-KR" altLang="en-US" sz="1000" b="1">
                <a:solidFill>
                  <a:schemeClr val="bg1"/>
                </a:solidFill>
              </a:rPr>
              <a:t>김  양  태</a:t>
            </a:r>
            <a:r>
              <a:rPr lang="en-US" altLang="ko-KR" sz="1000" b="1">
                <a:solidFill>
                  <a:schemeClr val="bg1"/>
                </a:solidFill>
              </a:rPr>
              <a:t>	</a:t>
            </a:r>
            <a:r>
              <a:rPr lang="ko-KR" altLang="en-US" sz="1000">
                <a:solidFill>
                  <a:schemeClr val="bg1"/>
                </a:solidFill>
              </a:rPr>
              <a:t>대표이사</a:t>
            </a:r>
            <a:r>
              <a:rPr lang="en-US" altLang="ko-KR" sz="1000">
                <a:solidFill>
                  <a:schemeClr val="bg1"/>
                </a:solidFill>
              </a:rPr>
              <a:t>		ytkim@amic.kr</a:t>
            </a:r>
          </a:p>
          <a:p>
            <a:pPr algn="l" defTabSz="180000">
              <a:lnSpc>
                <a:spcPct val="110000"/>
              </a:lnSpc>
            </a:pPr>
            <a:r>
              <a:rPr lang="ko-KR" altLang="en-US" sz="1000" b="1">
                <a:solidFill>
                  <a:schemeClr val="bg1"/>
                </a:solidFill>
              </a:rPr>
              <a:t>조  우  상</a:t>
            </a:r>
            <a:r>
              <a:rPr lang="en-US" altLang="ko-KR" sz="1000" b="1">
                <a:solidFill>
                  <a:schemeClr val="bg1"/>
                </a:solidFill>
              </a:rPr>
              <a:t>	</a:t>
            </a:r>
            <a:r>
              <a:rPr lang="ko-KR" altLang="en-US" sz="1000">
                <a:solidFill>
                  <a:schemeClr val="bg1"/>
                </a:solidFill>
              </a:rPr>
              <a:t>이사</a:t>
            </a:r>
            <a:r>
              <a:rPr lang="en-US" altLang="ko-KR" sz="1000">
                <a:solidFill>
                  <a:schemeClr val="bg1"/>
                </a:solidFill>
              </a:rPr>
              <a:t>			wsjo@amic.kr</a:t>
            </a:r>
            <a:endParaRPr lang="ko-KR" altLang="en-US" sz="1400">
              <a:solidFill>
                <a:schemeClr val="bg1"/>
              </a:solidFill>
            </a:endParaRPr>
          </a:p>
        </p:txBody>
      </p:sp>
      <p:pic>
        <p:nvPicPr>
          <p:cNvPr id="25" name="그래픽 24">
            <a:extLst>
              <a:ext uri="{FF2B5EF4-FFF2-40B4-BE49-F238E27FC236}">
                <a16:creationId xmlns:a16="http://schemas.microsoft.com/office/drawing/2014/main" id="{F30F279B-FADB-2F31-524E-91001CD99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4768949"/>
            <a:ext cx="204979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7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AMIC_PETRA">
      <a:dk1>
        <a:srgbClr val="2A2A2A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SUITE Heavy"/>
        <a:ea typeface="SUITE Heavy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1FF"/>
        </a:solidFill>
        <a:ln w="6350">
          <a:solidFill>
            <a:srgbClr val="6A6A6A"/>
          </a:solidFill>
        </a:ln>
      </a:spPr>
      <a:bodyPr lIns="0" tIns="0" rIns="0" bIns="0"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6A6A6A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6C23E32CFBE4749A02FB7D3CB79F4F4" ma:contentTypeVersion="12" ma:contentTypeDescription="새 문서를 만듭니다." ma:contentTypeScope="" ma:versionID="a60711900e40b9cd0ee8439124f15097">
  <xsd:schema xmlns:xsd="http://www.w3.org/2001/XMLSchema" xmlns:xs="http://www.w3.org/2001/XMLSchema" xmlns:p="http://schemas.microsoft.com/office/2006/metadata/properties" xmlns:ns3="47e355a8-92c5-4a95-b562-38235c6e062a" targetNamespace="http://schemas.microsoft.com/office/2006/metadata/properties" ma:root="true" ma:fieldsID="3bc8467cbe7c962fb23215aca11cb133" ns3:_="">
    <xsd:import namespace="47e355a8-92c5-4a95-b562-38235c6e062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e355a8-92c5-4a95-b562-38235c6e062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e355a8-92c5-4a95-b562-38235c6e062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DCB9B1-77C2-48C8-B07A-671B0D790F1F}">
  <ds:schemaRefs>
    <ds:schemaRef ds:uri="47e355a8-92c5-4a95-b562-38235c6e06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4940D7D-B65A-43D2-8555-5802FD9535D1}">
  <ds:schemaRefs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47e355a8-92c5-4a95-b562-38235c6e062a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8A119AD-B9E3-4E8D-B4EA-B53266A8CC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1230</Words>
  <Application>Microsoft Office PowerPoint</Application>
  <PresentationFormat>A4 용지(210x297mm)</PresentationFormat>
  <Paragraphs>186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Pretendard</vt:lpstr>
      <vt:lpstr>SUITE</vt:lpstr>
      <vt:lpstr>SUITE ExtraBold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 Sang Jo</dc:creator>
  <cp:lastModifiedBy>Jiwon Suh (AMIC Law)</cp:lastModifiedBy>
  <cp:revision>3</cp:revision>
  <cp:lastPrinted>2025-12-22T07:04:28Z</cp:lastPrinted>
  <dcterms:created xsi:type="dcterms:W3CDTF">2025-05-07T02:47:43Z</dcterms:created>
  <dcterms:modified xsi:type="dcterms:W3CDTF">2026-02-11T07:47:38Z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ContentTypeId">
    <vt:lpwstr>0x01010026C23E32CFBE4749A02FB7D3CB79F4F4</vt:lpwstr>
  </property>
</Properties>
</file>