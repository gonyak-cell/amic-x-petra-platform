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charts/chart39.xml" ContentType="application/vnd.openxmlformats-officedocument.drawingml.chart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rts/chart28.xml" ContentType="application/vnd.openxmlformats-officedocument.drawingml.chart+xml"/>
  <Override PartName="/ppt/charts/colors6.xml" ContentType="application/vnd.ms-office.chartcolorstyl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charts/chart17.xml" ContentType="application/vnd.openxmlformats-officedocument.drawingml.chart+xml"/>
  <Override PartName="/ppt/charts/chart35.xml" ContentType="application/vnd.openxmlformats-officedocument.drawingml.char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charts/chart13.xml" ContentType="application/vnd.openxmlformats-officedocument.drawingml.chart+xml"/>
  <Override PartName="/ppt/charts/chart24.xml" ContentType="application/vnd.openxmlformats-officedocument.drawingml.chart+xml"/>
  <Override PartName="/ppt/charts/colors2.xml" ContentType="application/vnd.ms-office.chartcolorstyl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charts/chart31.xml" ContentType="application/vnd.openxmlformats-officedocument.drawingml.chart+xml"/>
  <Override PartName="/docProps/custom.xml" ContentType="application/vnd.openxmlformats-officedocument.custom-properties+xml"/>
  <Override PartName="/ppt/charts/chart7.xml" ContentType="application/vnd.openxmlformats-officedocument.drawingml.chart+xml"/>
  <Override PartName="/ppt/charts/chart20.xml" ContentType="application/vnd.openxmlformats-officedocument.drawingml.chart+xml"/>
  <Override PartName="/ppt/charts/style9.xml" ContentType="application/vnd.ms-office.chartstyle+xml"/>
  <Default Extension="xlsx" ContentType="application/haansoftxlsx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style5.xml" ContentType="application/vnd.ms-office.chartstyl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charts/chart29.xml" ContentType="application/vnd.openxmlformats-officedocument.drawingml.chart+xml"/>
  <Override PartName="/ppt/charts/style1.xml" ContentType="application/vnd.ms-office.chartstyl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rts/chart18.xml" ContentType="application/vnd.openxmlformats-officedocument.drawingml.chart+xml"/>
  <Override PartName="/ppt/charts/chart36.xml" ContentType="application/vnd.openxmlformats-officedocument.drawingml.chart+xml"/>
  <Override PartName="/ppt/charts/colors7.xml" ContentType="application/vnd.ms-office.chartcolor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charts/chart25.xml" ContentType="application/vnd.openxmlformats-officedocument.drawingml.char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charts/chart14.xml" ContentType="application/vnd.openxmlformats-officedocument.drawingml.chart+xml"/>
  <Override PartName="/ppt/charts/chart23.xml" ContentType="application/vnd.openxmlformats-officedocument.drawingml.chart+xml"/>
  <Override PartName="/ppt/charts/chart32.xml" ContentType="application/vnd.openxmlformats-officedocument.drawingml.chart+xml"/>
  <Override PartName="/docProps/app.xml" ContentType="application/vnd.openxmlformats-officedocument.extended-properties+xml"/>
  <Override PartName="/ppt/charts/colors3.xml" ContentType="application/vnd.ms-office.chartcolorstyle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charts/chart8.xml" ContentType="application/vnd.openxmlformats-officedocument.drawingml.chart+xml"/>
  <Override PartName="/ppt/charts/chart12.xml" ContentType="application/vnd.openxmlformats-officedocument.drawingml.chart+xml"/>
  <Override PartName="/ppt/charts/chart21.xml" ContentType="application/vnd.openxmlformats-officedocument.drawingml.chart+xml"/>
  <Override PartName="/ppt/charts/chart30.xml" ContentType="application/vnd.openxmlformats-officedocument.drawingml.chart+xml"/>
  <Override PartName="/ppt/charts/chart41.xml" ContentType="application/vnd.openxmlformats-officedocument.drawingml.chart+xml"/>
  <Override PartName="/ppt/charts/colors1.xml" ContentType="application/vnd.ms-office.chartcolorstyle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10.xml" ContentType="application/vnd.openxmlformats-officedocument.drawingml.chart+xml"/>
  <Override PartName="/ppt/notesSlides/notesSlide8.xml" ContentType="application/vnd.openxmlformats-officedocument.presentationml.notesSlide+xml"/>
  <Override PartName="/ppt/charts/style8.xml" ContentType="application/vnd.ms-office.chartstyl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style6.xml" ContentType="application/vnd.ms-office.chartstyl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charts/style4.xml" ContentType="application/vnd.ms-office.chartstyle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charts/colors8.xml" ContentType="application/vnd.ms-office.chartcolorstyle+xml"/>
  <Override PartName="/ppt/charts/style2.xml" ContentType="application/vnd.ms-office.chart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charts/chart19.xml" ContentType="application/vnd.openxmlformats-officedocument.drawingml.chart+xml"/>
  <Override PartName="/ppt/charts/chart37.xml" ContentType="application/vnd.openxmlformats-officedocument.drawingml.char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charts/chart26.xml" ContentType="application/vnd.openxmlformats-officedocument.drawingml.chart+xml"/>
  <Override PartName="/ppt/charts/colors4.xml" ContentType="application/vnd.ms-office.chartcolorstyl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charts/chart15.xml" ContentType="application/vnd.openxmlformats-officedocument.drawingml.chart+xml"/>
  <Override PartName="/ppt/charts/chart33.xml" ContentType="application/vnd.openxmlformats-officedocument.drawingml.char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charts/chart9.xml" ContentType="application/vnd.openxmlformats-officedocument.drawingml.chart+xml"/>
  <Override PartName="/ppt/charts/chart11.xml" ContentType="application/vnd.openxmlformats-officedocument.drawingml.chart+xml"/>
  <Override PartName="/ppt/charts/chart22.xml" ContentType="application/vnd.openxmlformats-officedocument.drawingml.chart+xml"/>
  <Override PartName="/ppt/charts/chart40.xml" ContentType="application/vnd.openxmlformats-officedocument.drawingml.chart+xml"/>
  <Override PartName="/ppt/commentAuthors.xml" ContentType="application/vnd.openxmlformats-officedocument.presentationml.commentAuthors+xml"/>
  <Override PartName="/ppt/notesSlides/notesSlide9.xml" ContentType="application/vnd.openxmlformats-officedocument.presentationml.notesSlide+xml"/>
  <Override PartName="/ppt/charts/style7.xml" ContentType="application/vnd.ms-office.chartstyl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style3.xml" ContentType="application/vnd.ms-office.chartstyl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charts/colors9.xml" ContentType="application/vnd.ms-office.chartcolor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rts/chart27.xml" ContentType="application/vnd.openxmlformats-officedocument.drawingml.chart+xml"/>
  <Override PartName="/ppt/charts/chart38.xml" ContentType="application/vnd.openxmlformats-officedocument.drawingml.char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Layouts/slideLayout16.xml" ContentType="application/vnd.openxmlformats-officedocument.presentationml.slideLayout+xml"/>
  <Default Extension="jpeg" ContentType="image/jpeg"/>
  <Override PartName="/ppt/charts/chart16.xml" ContentType="application/vnd.openxmlformats-officedocument.drawingml.chart+xml"/>
  <Override PartName="/ppt/charts/chart34.xml" ContentType="application/vnd.openxmlformats-officedocument.drawingml.chart+xml"/>
  <Override PartName="/ppt/charts/colors5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737" r:id="rId1"/>
  </p:sldMasterIdLst>
  <p:notesMasterIdLst>
    <p:notesMasterId r:id="rId43"/>
  </p:notesMasterIdLst>
  <p:handoutMasterIdLst>
    <p:handoutMasterId r:id="rId44"/>
  </p:handoutMasterIdLst>
  <p:sldIdLst>
    <p:sldId id="635" r:id="rId2"/>
    <p:sldId id="637" r:id="rId3"/>
    <p:sldId id="694" r:id="rId4"/>
    <p:sldId id="712" r:id="rId5"/>
    <p:sldId id="696" r:id="rId6"/>
    <p:sldId id="698" r:id="rId7"/>
    <p:sldId id="699" r:id="rId8"/>
    <p:sldId id="714" r:id="rId9"/>
    <p:sldId id="701" r:id="rId10"/>
    <p:sldId id="680" r:id="rId11"/>
    <p:sldId id="695" r:id="rId12"/>
    <p:sldId id="673" r:id="rId13"/>
    <p:sldId id="682" r:id="rId14"/>
    <p:sldId id="720" r:id="rId15"/>
    <p:sldId id="654" r:id="rId16"/>
    <p:sldId id="683" r:id="rId17"/>
    <p:sldId id="715" r:id="rId18"/>
    <p:sldId id="684" r:id="rId19"/>
    <p:sldId id="685" r:id="rId20"/>
    <p:sldId id="716" r:id="rId21"/>
    <p:sldId id="713" r:id="rId22"/>
    <p:sldId id="719" r:id="rId23"/>
    <p:sldId id="722" r:id="rId24"/>
    <p:sldId id="687" r:id="rId25"/>
    <p:sldId id="688" r:id="rId26"/>
    <p:sldId id="690" r:id="rId27"/>
    <p:sldId id="691" r:id="rId28"/>
    <p:sldId id="702" r:id="rId29"/>
    <p:sldId id="723" r:id="rId30"/>
    <p:sldId id="724" r:id="rId31"/>
    <p:sldId id="725" r:id="rId32"/>
    <p:sldId id="726" r:id="rId33"/>
    <p:sldId id="727" r:id="rId34"/>
    <p:sldId id="729" r:id="rId35"/>
    <p:sldId id="731" r:id="rId36"/>
    <p:sldId id="728" r:id="rId37"/>
    <p:sldId id="732" r:id="rId38"/>
    <p:sldId id="703" r:id="rId39"/>
    <p:sldId id="705" r:id="rId40"/>
    <p:sldId id="709" r:id="rId41"/>
    <p:sldId id="711" r:id="rId42"/>
  </p:sldIdLst>
  <p:sldSz cx="9144000" cy="6858000" type="screen4x3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249" userDrawn="1">
          <p15:clr>
            <a:srgbClr val="A4A3A4"/>
          </p15:clr>
        </p15:guide>
        <p15:guide id="4" orient="horz" pos="1706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26B97"/>
    <a:srgbClr val="4190B1"/>
    <a:srgbClr val="FEFDC4"/>
    <a:srgbClr val="86B4DE"/>
    <a:srgbClr val="3C5A91"/>
    <a:srgbClr val="D9D9D9"/>
    <a:srgbClr val="2D436D"/>
    <a:srgbClr val="80B5CB"/>
    <a:srgbClr val="1871C0"/>
    <a:srgbClr val="F5F5F5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7908" autoAdjust="0"/>
    <p:restoredTop sz="95320" autoAdjust="0"/>
  </p:normalViewPr>
  <p:slideViewPr>
    <p:cSldViewPr>
      <p:cViewPr varScale="1">
        <p:scale>
          <a:sx n="115" d="100"/>
          <a:sy n="115" d="100"/>
        </p:scale>
        <p:origin x="-96" y="-108"/>
      </p:cViewPr>
      <p:guideLst>
        <p:guide orient="horz" pos="2160"/>
        <p:guide orient="horz" pos="1706"/>
        <p:guide pos="2880"/>
        <p:guide pos="249"/>
      </p:guideLst>
    </p:cSldViewPr>
  </p:slideViewPr>
  <p:outlineViewPr>
    <p:cViewPr>
      <p:scale>
        <a:sx n="33" d="100"/>
        <a:sy n="33" d="100"/>
      </p:scale>
      <p:origin x="0" y="-57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5512"/>
    </p:cViewPr>
  </p:sorterViewPr>
  <p:notesViewPr>
    <p:cSldViewPr>
      <p:cViewPr varScale="1">
        <p:scale>
          <a:sx n="60" d="100"/>
          <a:sy n="60" d="100"/>
        </p:scale>
        <p:origin x="2778" y="84"/>
      </p:cViewPr>
      <p:guideLst>
        <p:guide orient="horz" pos="3110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11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222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3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444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555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666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777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888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999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01010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china\Desktop\191028_Appendix%20&#52280;&#44256;&#51088;&#47308;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1111111.xlsx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Office_Excel_____121212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31313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41414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51515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61616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7171717.xlsx"/></Relationships>
</file>

<file path=ppt/charts/_rels/chart19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Office_Excel_____181818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91919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202020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212121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222222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232323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2424.xlsx"/></Relationships>
</file>

<file path=ppt/charts/_rels/chart26.xml.rels><?xml version="1.0" encoding="UTF-8" standalone="yes"?>
<Relationships xmlns="http://schemas.openxmlformats.org/package/2006/relationships"><Relationship Id="rId3" Type="http://schemas.microsoft.com/office/2011/relationships/chartStyle" Target="style3.xml"/><Relationship Id="rId2" Type="http://schemas.microsoft.com/office/2011/relationships/chartColorStyle" Target="colors3.xml"/><Relationship Id="rId1" Type="http://schemas.openxmlformats.org/officeDocument/2006/relationships/package" Target="../embeddings/Microsoft_Office_Excel_____25252525.xlsx"/></Relationships>
</file>

<file path=ppt/charts/_rels/chart27.xml.rels><?xml version="1.0" encoding="UTF-8" standalone="yes"?>
<Relationships xmlns="http://schemas.openxmlformats.org/package/2006/relationships"><Relationship Id="rId3" Type="http://schemas.microsoft.com/office/2011/relationships/chartStyle" Target="style4.xml"/><Relationship Id="rId2" Type="http://schemas.microsoft.com/office/2011/relationships/chartColorStyle" Target="colors4.xml"/><Relationship Id="rId1" Type="http://schemas.openxmlformats.org/officeDocument/2006/relationships/package" Target="../embeddings/Microsoft_Office_Excel_____262626.xlsx"/></Relationships>
</file>

<file path=ppt/charts/_rels/chart28.xml.rels><?xml version="1.0" encoding="UTF-8" standalone="yes"?>
<Relationships xmlns="http://schemas.openxmlformats.org/package/2006/relationships"><Relationship Id="rId3" Type="http://schemas.microsoft.com/office/2011/relationships/chartStyle" Target="style5.xml"/><Relationship Id="rId2" Type="http://schemas.microsoft.com/office/2011/relationships/chartColorStyle" Target="colors5.xml"/><Relationship Id="rId1" Type="http://schemas.openxmlformats.org/officeDocument/2006/relationships/package" Target="../embeddings/Microsoft_Office_Excel_____272727.xlsx"/></Relationships>
</file>

<file path=ppt/charts/_rels/chart29.xml.rels><?xml version="1.0" encoding="UTF-8" standalone="yes"?>
<Relationships xmlns="http://schemas.openxmlformats.org/package/2006/relationships"><Relationship Id="rId3" Type="http://schemas.microsoft.com/office/2011/relationships/chartStyle" Target="style6.xml"/><Relationship Id="rId2" Type="http://schemas.microsoft.com/office/2011/relationships/chartColorStyle" Target="colors6.xml"/><Relationship Id="rId1" Type="http://schemas.openxmlformats.org/officeDocument/2006/relationships/package" Target="../embeddings/Microsoft_Office_Excel_____282828.xlsx"/></Relationships>
</file>

<file path=ppt/charts/_rels/chart30.xml.rels><?xml version="1.0" encoding="UTF-8" standalone="yes"?>
<Relationships xmlns="http://schemas.openxmlformats.org/package/2006/relationships"><Relationship Id="rId3" Type="http://schemas.microsoft.com/office/2011/relationships/chartStyle" Target="style7.xml"/><Relationship Id="rId2" Type="http://schemas.microsoft.com/office/2011/relationships/chartColorStyle" Target="colors7.xml"/><Relationship Id="rId1" Type="http://schemas.openxmlformats.org/officeDocument/2006/relationships/package" Target="../embeddings/Microsoft_Office_Excel_____292929.xlsx"/></Relationships>
</file>

<file path=ppt/charts/_rels/chart31.xml.rels><?xml version="1.0" encoding="UTF-8" standalone="yes"?>
<Relationships xmlns="http://schemas.openxmlformats.org/package/2006/relationships"><Relationship Id="rId3" Type="http://schemas.microsoft.com/office/2011/relationships/chartStyle" Target="style8.xml"/><Relationship Id="rId2" Type="http://schemas.microsoft.com/office/2011/relationships/chartColorStyle" Target="colors8.xml"/><Relationship Id="rId1" Type="http://schemas.openxmlformats.org/officeDocument/2006/relationships/package" Target="../embeddings/Microsoft_Office_Excel_____303030.xlsx"/></Relationships>
</file>

<file path=ppt/charts/_rels/chart32.xml.rels><?xml version="1.0" encoding="UTF-8" standalone="yes"?>
<Relationships xmlns="http://schemas.openxmlformats.org/package/2006/relationships"><Relationship Id="rId3" Type="http://schemas.microsoft.com/office/2011/relationships/chartStyle" Target="style9.xml"/><Relationship Id="rId2" Type="http://schemas.microsoft.com/office/2011/relationships/chartColorStyle" Target="colors9.xml"/><Relationship Id="rId1" Type="http://schemas.openxmlformats.org/officeDocument/2006/relationships/package" Target="../embeddings/Microsoft_Office_Excel_____3131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3232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3333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32323434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35353535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36363636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37373737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38383838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39393939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4040404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2D436D"/>
            </a:solidFill>
            <a:ln>
              <a:solidFill>
                <a:schemeClr val="tx1"/>
              </a:solidFill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'00</c:v>
                </c:pt>
                <c:pt idx="1">
                  <c:v>'05</c:v>
                </c:pt>
                <c:pt idx="2">
                  <c:v>'10</c:v>
                </c:pt>
                <c:pt idx="3">
                  <c:v>'15</c:v>
                </c:pt>
                <c:pt idx="4">
                  <c:v>'20E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9.1</c:v>
                </c:pt>
                <c:pt idx="1">
                  <c:v>13.3</c:v>
                </c:pt>
                <c:pt idx="2">
                  <c:v>19.399999999999999</c:v>
                </c:pt>
                <c:pt idx="3">
                  <c:v>28.4</c:v>
                </c:pt>
                <c:pt idx="4">
                  <c:v>41.5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D54-4356-BA14-7373E07AA8D1}"/>
            </c:ext>
          </c:extLst>
        </c:ser>
        <c:dLbls>
          <c:showVal val="1"/>
        </c:dLbls>
        <c:overlap val="-27"/>
        <c:axId val="170723968"/>
        <c:axId val="170725760"/>
      </c:barChart>
      <c:catAx>
        <c:axId val="170723968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0725760"/>
        <c:crosses val="autoZero"/>
        <c:auto val="1"/>
        <c:lblAlgn val="ctr"/>
        <c:lblOffset val="100"/>
      </c:catAx>
      <c:valAx>
        <c:axId val="170725760"/>
        <c:scaling>
          <c:orientation val="minMax"/>
        </c:scaling>
        <c:delete val="1"/>
        <c:axPos val="l"/>
        <c:numFmt formatCode="General" sourceLinked="1"/>
        <c:majorTickMark val="none"/>
        <c:tickLblPos val="nextTo"/>
        <c:crossAx val="170723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3.9491590298355146E-2"/>
          <c:y val="8.431891502017437E-2"/>
          <c:w val="0.92101681940328972"/>
          <c:h val="0.83136216995964685"/>
        </c:manualLayout>
      </c:layout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22225">
                <a:solidFill>
                  <a:srgbClr val="FF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'05</c:v>
                </c:pt>
                <c:pt idx="1">
                  <c:v>'10</c:v>
                </c:pt>
                <c:pt idx="2">
                  <c:v>'15</c:v>
                </c:pt>
                <c:pt idx="3">
                  <c:v>'16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32.300000000000004</c:v>
                </c:pt>
                <c:pt idx="1">
                  <c:v>45.6</c:v>
                </c:pt>
                <c:pt idx="2">
                  <c:v>59.4</c:v>
                </c:pt>
                <c:pt idx="3">
                  <c:v>60.5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16F-4D58-AAD6-D48B7F8D0DCD}"/>
            </c:ext>
          </c:extLst>
        </c:ser>
        <c:marker val="1"/>
        <c:axId val="170824064"/>
        <c:axId val="170825600"/>
      </c:lineChart>
      <c:catAx>
        <c:axId val="170824064"/>
        <c:scaling>
          <c:orientation val="minMax"/>
        </c:scaling>
        <c:delete val="1"/>
        <c:axPos val="b"/>
        <c:numFmt formatCode="General" sourceLinked="1"/>
        <c:majorTickMark val="none"/>
        <c:tickLblPos val="nextTo"/>
        <c:crossAx val="170825600"/>
        <c:crosses val="autoZero"/>
        <c:auto val="1"/>
        <c:lblAlgn val="ctr"/>
        <c:lblOffset val="100"/>
      </c:catAx>
      <c:valAx>
        <c:axId val="170825600"/>
        <c:scaling>
          <c:orientation val="minMax"/>
        </c:scaling>
        <c:delete val="1"/>
        <c:axPos val="l"/>
        <c:numFmt formatCode="General" sourceLinked="1"/>
        <c:majorTickMark val="none"/>
        <c:tickLblPos val="nextTo"/>
        <c:crossAx val="170824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3.3968217225411844E-2"/>
          <c:y val="6.4933537712069403E-2"/>
          <c:w val="0.7900146571519997"/>
          <c:h val="0.76005063793366545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일반주택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accent1"/>
              </a:solidFill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'05</c:v>
                </c:pt>
                <c:pt idx="1">
                  <c:v>'10</c:v>
                </c:pt>
                <c:pt idx="2">
                  <c:v>'15</c:v>
                </c:pt>
                <c:pt idx="3">
                  <c:v>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84.600000000000009</c:v>
                </c:pt>
                <c:pt idx="1">
                  <c:v>75.500000000000014</c:v>
                </c:pt>
                <c:pt idx="2">
                  <c:v>66.399999999999991</c:v>
                </c:pt>
                <c:pt idx="3">
                  <c:v>65.800000000000011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6B3-40AE-A14B-8A81556163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노후주택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'05</c:v>
                </c:pt>
                <c:pt idx="1">
                  <c:v>'10</c:v>
                </c:pt>
                <c:pt idx="2">
                  <c:v>'15</c:v>
                </c:pt>
                <c:pt idx="3">
                  <c:v>20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40.300000000000011</c:v>
                </c:pt>
                <c:pt idx="1">
                  <c:v>63.3</c:v>
                </c:pt>
                <c:pt idx="2">
                  <c:v>97.3</c:v>
                </c:pt>
                <c:pt idx="3">
                  <c:v>101.1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66B3-40AE-A14B-8A8155616302}"/>
            </c:ext>
          </c:extLst>
        </c:ser>
        <c:dLbls>
          <c:showVal val="1"/>
        </c:dLbls>
        <c:overlap val="100"/>
        <c:axId val="170867712"/>
        <c:axId val="170869504"/>
      </c:barChart>
      <c:catAx>
        <c:axId val="170867712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0869504"/>
        <c:crosses val="autoZero"/>
        <c:auto val="1"/>
        <c:lblAlgn val="ctr"/>
        <c:lblOffset val="100"/>
      </c:catAx>
      <c:valAx>
        <c:axId val="170869504"/>
        <c:scaling>
          <c:orientation val="minMax"/>
        </c:scaling>
        <c:delete val="1"/>
        <c:axPos val="l"/>
        <c:numFmt formatCode="General" sourceLinked="1"/>
        <c:majorTickMark val="none"/>
        <c:tickLblPos val="nextTo"/>
        <c:crossAx val="170867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858719449271942"/>
          <c:y val="0.51232868027441869"/>
          <c:w val="0.1736206277773942"/>
          <c:h val="0.22397264406297834"/>
        </c:manualLayout>
      </c:layout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0.45212326518354246"/>
          <c:y val="6.518472894911212E-2"/>
          <c:w val="0.52848293116217748"/>
          <c:h val="0.8696305421017787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rgbClr val="026B97"/>
              </a:solidFill>
            </a:ln>
          </c:spPr>
          <c:dPt>
            <c:idx val="7"/>
            <c:spPr>
              <a:solidFill>
                <a:srgbClr val="026B97"/>
              </a:solidFill>
              <a:ln>
                <a:solidFill>
                  <a:srgbClr val="026B97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C5E5-4522-BA8D-3DB0FD3CAA6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인테리어업체 직원 상담</c:v>
                </c:pt>
                <c:pt idx="1">
                  <c:v>인테리어 TV 프로그램</c:v>
                </c:pt>
                <c:pt idx="2">
                  <c:v>인테리어 업체 홈페이지</c:v>
                </c:pt>
                <c:pt idx="3">
                  <c:v>인테리어 책/잡지/신문</c:v>
                </c:pt>
                <c:pt idx="4">
                  <c:v>친구, 가족 및 지인</c:v>
                </c:pt>
                <c:pt idx="5">
                  <c:v>오프라인 매장</c:v>
                </c:pt>
                <c:pt idx="6">
                  <c:v>인터넷 포털 사이트</c:v>
                </c:pt>
                <c:pt idx="7">
                  <c:v>온라인 커뮤니티</c:v>
                </c:pt>
              </c:strCache>
            </c:strRef>
          </c:cat>
          <c:val>
            <c:numRef>
              <c:f>Sheet1!$B$2:$B$9</c:f>
              <c:numCache>
                <c:formatCode>0.0%</c:formatCode>
                <c:ptCount val="8"/>
                <c:pt idx="0">
                  <c:v>2.1000000000000012E-2</c:v>
                </c:pt>
                <c:pt idx="1">
                  <c:v>4.7000000000000014E-2</c:v>
                </c:pt>
                <c:pt idx="2">
                  <c:v>4.3000000000000003E-2</c:v>
                </c:pt>
                <c:pt idx="3">
                  <c:v>4.9000000000000113E-2</c:v>
                </c:pt>
                <c:pt idx="4">
                  <c:v>7.5999999999999998E-2</c:v>
                </c:pt>
                <c:pt idx="5">
                  <c:v>0.15100000000000041</c:v>
                </c:pt>
                <c:pt idx="6">
                  <c:v>0.26400000000000001</c:v>
                </c:pt>
                <c:pt idx="7">
                  <c:v>0.34800000000000031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C5E5-4522-BA8D-3DB0FD3CAA6B}"/>
            </c:ext>
          </c:extLst>
        </c:ser>
        <c:gapWidth val="80"/>
        <c:axId val="170989056"/>
        <c:axId val="170990592"/>
      </c:barChart>
      <c:catAx>
        <c:axId val="170989056"/>
        <c:scaling>
          <c:orientation val="minMax"/>
        </c:scaling>
        <c:axPos val="l"/>
        <c:numFmt formatCode="General" sourceLinked="0"/>
        <c:majorTickMark val="none"/>
        <c:tickLblPos val="nextTo"/>
        <c:txPr>
          <a:bodyPr/>
          <a:lstStyle/>
          <a:p>
            <a:pPr>
              <a:defRPr sz="1000">
                <a:solidFill>
                  <a:schemeClr val="tx1"/>
                </a:solidFill>
              </a:defRPr>
            </a:pPr>
            <a:endParaRPr lang="ko-KR"/>
          </a:p>
        </c:txPr>
        <c:crossAx val="170990592"/>
        <c:crosses val="autoZero"/>
        <c:auto val="1"/>
        <c:lblAlgn val="ctr"/>
        <c:lblOffset val="100"/>
      </c:catAx>
      <c:valAx>
        <c:axId val="170990592"/>
        <c:scaling>
          <c:orientation val="minMax"/>
        </c:scaling>
        <c:delete val="1"/>
        <c:axPos val="b"/>
        <c:numFmt formatCode="0.0%" sourceLinked="1"/>
        <c:tickLblPos val="nextTo"/>
        <c:crossAx val="17098905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0.11793650793650826"/>
          <c:y val="0.11338028169014085"/>
          <c:w val="0.7641269841269841"/>
          <c:h val="0.7533646322378750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spPr>
              <a:solidFill>
                <a:schemeClr val="bg1"/>
              </a:solidFill>
              <a:ln w="19050">
                <a:solidFill>
                  <a:schemeClr val="accen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FB6-46C0-B325-C9FC8521C56D}"/>
              </c:ext>
            </c:extLst>
          </c:dPt>
          <c:dPt>
            <c:idx val="1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FB6-46C0-B325-C9FC8521C56D}"/>
              </c:ext>
            </c:extLst>
          </c:dPt>
          <c:dPt>
            <c:idx val="2"/>
            <c:spPr>
              <a:solidFill>
                <a:schemeClr val="accent1">
                  <a:lumMod val="75000"/>
                </a:schemeClr>
              </a:solidFill>
              <a:ln w="19050">
                <a:solidFill>
                  <a:schemeClr val="accen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FB6-46C0-B325-C9FC8521C56D}"/>
              </c:ext>
            </c:extLst>
          </c:dPt>
          <c:dPt>
            <c:idx val="3"/>
            <c:spPr>
              <a:solidFill>
                <a:schemeClr val="bg1"/>
              </a:solidFill>
              <a:ln w="19050">
                <a:solidFill>
                  <a:schemeClr val="accen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1FB6-46C0-B325-C9FC8521C56D}"/>
              </c:ext>
            </c:extLst>
          </c:dPt>
          <c:dPt>
            <c:idx val="4"/>
            <c:spPr>
              <a:solidFill>
                <a:schemeClr val="bg1"/>
              </a:solidFill>
              <a:ln w="19050">
                <a:solidFill>
                  <a:schemeClr val="accen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1FB6-46C0-B325-C9FC8521C56D}"/>
              </c:ext>
            </c:extLst>
          </c:dPt>
          <c:dLbls>
            <c:dLbl>
              <c:idx val="0"/>
              <c:layout/>
              <c:tx>
                <c:rich>
                  <a:bodyPr/>
                  <a:lstStyle/>
                  <a:p>
                    <a:pPr>
                      <a:defRPr sz="1200">
                        <a:solidFill>
                          <a:schemeClr val="tx1"/>
                        </a:solidFill>
                      </a:defRPr>
                    </a:pPr>
                    <a:r>
                      <a:rPr lang="en-US" altLang="ko-KR" smtClean="0"/>
                      <a:t>20</a:t>
                    </a:r>
                    <a:r>
                      <a:rPr lang="ko-KR" altLang="en-US" smtClean="0"/>
                      <a:t>대</a:t>
                    </a:r>
                  </a:p>
                  <a:p>
                    <a:pPr>
                      <a:defRPr sz="1200">
                        <a:solidFill>
                          <a:schemeClr val="tx1"/>
                        </a:solidFill>
                      </a:defRPr>
                    </a:pPr>
                    <a:r>
                      <a:rPr lang="en-US" altLang="ko-KR" smtClean="0"/>
                      <a:t>21</a:t>
                    </a:r>
                    <a:r>
                      <a:rPr lang="en-US" altLang="ko-KR"/>
                      <a:t>%</a:t>
                    </a:r>
                  </a:p>
                </c:rich>
              </c:tx>
              <c:spPr/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FB6-46C0-B325-C9FC8521C56D}"/>
                </c:ext>
              </c:extLst>
            </c:dLbl>
            <c:dLbl>
              <c:idx val="1"/>
              <c:layout>
                <c:manualLayout>
                  <c:x val="0"/>
                  <c:y val="-2.98122065727701E-2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 smtClean="0"/>
                      <a:t>30</a:t>
                    </a:r>
                    <a:r>
                      <a:rPr lang="ko-KR" altLang="en-US" dirty="0" smtClean="0"/>
                      <a:t>대</a:t>
                    </a:r>
                  </a:p>
                  <a:p>
                    <a:r>
                      <a:rPr lang="en-US" altLang="ko-KR" dirty="0" smtClean="0"/>
                      <a:t>49</a:t>
                    </a:r>
                    <a:r>
                      <a:rPr lang="en-US" altLang="ko-KR" dirty="0"/>
                      <a:t>%</a:t>
                    </a:r>
                  </a:p>
                </c:rich>
              </c:tx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FB6-46C0-B325-C9FC8521C56D}"/>
                </c:ext>
              </c:extLst>
            </c:dLbl>
            <c:dLbl>
              <c:idx val="2"/>
              <c:layout>
                <c:manualLayout>
                  <c:x val="2.309827814026522E-17"/>
                  <c:y val="-9.9374021909234226E-3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smtClean="0"/>
                      <a:t>40</a:t>
                    </a:r>
                    <a:r>
                      <a:rPr lang="ko-KR" altLang="en-US" smtClean="0"/>
                      <a:t>대</a:t>
                    </a:r>
                  </a:p>
                  <a:p>
                    <a:r>
                      <a:rPr lang="en-US" altLang="ko-KR" smtClean="0"/>
                      <a:t>21</a:t>
                    </a:r>
                    <a:r>
                      <a:rPr lang="en-US" altLang="ko-KR"/>
                      <a:t>%</a:t>
                    </a:r>
                  </a:p>
                </c:rich>
              </c:tx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FB6-46C0-B325-C9FC8521C56D}"/>
                </c:ext>
              </c:extLst>
            </c:dLbl>
            <c:dLbl>
              <c:idx val="3"/>
              <c:layout>
                <c:manualLayout>
                  <c:x val="-3.6999206349206351E-2"/>
                  <c:y val="-2.9812597809076691E-2"/>
                </c:manualLayout>
              </c:layout>
              <c:tx>
                <c:rich>
                  <a:bodyPr/>
                  <a:lstStyle/>
                  <a:p>
                    <a:pPr>
                      <a:defRPr sz="1200">
                        <a:solidFill>
                          <a:schemeClr val="tx1"/>
                        </a:solidFill>
                      </a:defRPr>
                    </a:pPr>
                    <a:r>
                      <a:rPr lang="en-US" altLang="en-US" dirty="0" smtClean="0"/>
                      <a:t>7</a:t>
                    </a:r>
                    <a:r>
                      <a:rPr lang="en-US" altLang="en-US" dirty="0"/>
                      <a:t>%</a:t>
                    </a:r>
                  </a:p>
                </c:rich>
              </c:tx>
              <c:spPr/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FB6-46C0-B325-C9FC8521C56D}"/>
                </c:ext>
              </c:extLst>
            </c:dLbl>
            <c:dLbl>
              <c:idx val="4"/>
              <c:layout>
                <c:manualLayout>
                  <c:x val="-2.0158730158730157E-2"/>
                  <c:y val="-3.9567292644757411E-2"/>
                </c:manualLayout>
              </c:layout>
              <c:tx>
                <c:rich>
                  <a:bodyPr/>
                  <a:lstStyle/>
                  <a:p>
                    <a:pPr>
                      <a:defRPr sz="1200">
                        <a:solidFill>
                          <a:schemeClr val="tx1"/>
                        </a:solidFill>
                      </a:defRPr>
                    </a:pPr>
                    <a:r>
                      <a:rPr lang="en-US" altLang="en-US" dirty="0" smtClean="0"/>
                      <a:t>2%</a:t>
                    </a:r>
                    <a:endParaRPr lang="en-US" altLang="en-US" dirty="0"/>
                  </a:p>
                </c:rich>
              </c:tx>
              <c:spPr/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FB6-46C0-B325-C9FC8521C5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chemeClr val="bg1"/>
                    </a:solidFill>
                  </a:defRPr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60대이상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0.20800000000000021</c:v>
                </c:pt>
                <c:pt idx="1">
                  <c:v>0.48700000000000032</c:v>
                </c:pt>
                <c:pt idx="2">
                  <c:v>0.21000000000000021</c:v>
                </c:pt>
                <c:pt idx="3">
                  <c:v>7.1999999999999995E-2</c:v>
                </c:pt>
                <c:pt idx="4">
                  <c:v>4.0000000000000022E-2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A-1FB6-46C0-B325-C9FC8521C56D}"/>
            </c:ext>
          </c:extLst>
        </c:ser>
        <c:firstSliceAng val="334"/>
        <c:holeSize val="38"/>
      </c:doughnutChart>
      <c:spPr>
        <a:noFill/>
        <a:ln w="25400">
          <a:noFill/>
        </a:ln>
        <a:effectLst/>
      </c:spPr>
    </c:plotArea>
    <c:plotVisOnly val="1"/>
    <c:dispBlanksAs val="zero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explosion val="4"/>
          <c:dPt>
            <c:idx val="1"/>
            <c:spPr>
              <a:solidFill>
                <a:srgbClr val="D9D9D9"/>
              </a:solidFill>
              <a:ln>
                <a:solidFill>
                  <a:schemeClr val="bg1">
                    <a:lumMod val="50000"/>
                  </a:schemeClr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159B-4700-92AA-E62549A59B5B}"/>
              </c:ext>
            </c:extLst>
          </c:dPt>
          <c:dLbls>
            <c:dLbl>
              <c:idx val="0"/>
              <c:layout>
                <c:manualLayout>
                  <c:x val="-0.12706294362596579"/>
                  <c:y val="-5.7777373386712953E-2"/>
                </c:manualLayout>
              </c:layout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59B-4700-92AA-E62549A59B5B}"/>
                </c:ext>
              </c:extLst>
            </c:dLbl>
            <c:dLbl>
              <c:idx val="1"/>
              <c:layout>
                <c:manualLayout>
                  <c:x val="0.11976900584795322"/>
                  <c:y val="7.1495562585738678E-2"/>
                </c:manualLayout>
              </c:layout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59B-4700-92AA-E62549A59B5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/>
                </a:pPr>
                <a:endParaRPr lang="ko-KR"/>
              </a:p>
            </c:txPr>
            <c:showVal val="1"/>
            <c:showLeaderLines val="1"/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여성</c:v>
                </c:pt>
                <c:pt idx="1">
                  <c:v>남성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0.70000000000000062</c:v>
                </c:pt>
                <c:pt idx="1">
                  <c:v>0.30000000000000032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59B-4700-92AA-E62549A59B5B}"/>
            </c:ext>
          </c:extLst>
        </c:ser>
        <c:firstSliceAng val="0"/>
        <c:holeSize val="65"/>
      </c:doughnutChart>
    </c:plotArea>
    <c:legend>
      <c:legendPos val="b"/>
      <c:layout>
        <c:manualLayout>
          <c:xMode val="edge"/>
          <c:yMode val="edge"/>
          <c:x val="0.20448617449163492"/>
          <c:y val="0.8000267964628669"/>
          <c:w val="0.47141374269005881"/>
          <c:h val="9.8946814020549292E-2"/>
        </c:manualLayout>
      </c:layout>
      <c:txPr>
        <a:bodyPr/>
        <a:lstStyle/>
        <a:p>
          <a:pPr>
            <a:defRPr sz="1050">
              <a:solidFill>
                <a:schemeClr val="tx1">
                  <a:lumMod val="75000"/>
                  <a:lumOff val="25000"/>
                </a:schemeClr>
              </a:solidFill>
            </a:defRPr>
          </a:pPr>
          <a:endParaRPr lang="ko-KR"/>
        </a:p>
      </c:txPr>
    </c:legend>
    <c:plotVisOnly val="1"/>
    <c:dispBlanksAs val="zero"/>
  </c:chart>
  <c:txPr>
    <a:bodyPr/>
    <a:lstStyle/>
    <a:p>
      <a:pPr>
        <a:defRPr sz="1800"/>
      </a:pPr>
      <a:endParaRPr lang="ko-KR"/>
    </a:p>
  </c:txPr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plotArea>
      <c:layout>
        <c:manualLayout>
          <c:layoutTarget val="inner"/>
          <c:xMode val="edge"/>
          <c:yMode val="edge"/>
          <c:x val="6.0633680555555833E-2"/>
          <c:y val="9.6729390681004265E-2"/>
          <c:w val="0.86770833333333974"/>
          <c:h val="0.6849466845878136"/>
        </c:manualLayout>
      </c:layout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dPt>
            <c:idx val="0"/>
            <c:spPr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0766-40EC-BD5A-1079A07652DC}"/>
              </c:ext>
            </c:extLst>
          </c:dPt>
          <c:dPt>
            <c:idx val="1"/>
            <c:spPr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766-40EC-BD5A-1079A07652DC}"/>
              </c:ext>
            </c:extLst>
          </c:dPt>
          <c:dPt>
            <c:idx val="4"/>
            <c:spPr>
              <a:solidFill>
                <a:srgbClr val="FFFFFF">
                  <a:lumMod val="75000"/>
                </a:srgbClr>
              </a:solidFill>
              <a:ln>
                <a:solidFill>
                  <a:schemeClr val="accent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0766-40EC-BD5A-1079A07652DC}"/>
              </c:ext>
            </c:extLst>
          </c:dPt>
          <c:dPt>
            <c:idx val="5"/>
            <c:spPr>
              <a:solidFill>
                <a:srgbClr val="FFFFFF">
                  <a:lumMod val="75000"/>
                </a:srgbClr>
              </a:solidFill>
              <a:ln>
                <a:solidFill>
                  <a:schemeClr val="accent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0766-40EC-BD5A-1079A07652DC}"/>
              </c:ext>
            </c:extLst>
          </c:dPt>
          <c:dLbls>
            <c:dLbl>
              <c:idx val="0"/>
              <c:layout>
                <c:manualLayout>
                  <c:x val="-5.5121527777777755E-3"/>
                  <c:y val="-0.12420743727598572"/>
                </c:manualLayout>
              </c:layout>
              <c:tx>
                <c:rich>
                  <a:bodyPr/>
                  <a:lstStyle/>
                  <a:p>
                    <a:r>
                      <a:rPr lang="en-US" altLang="en-US" dirty="0" smtClean="0"/>
                      <a:t>2%</a:t>
                    </a:r>
                    <a:endParaRPr lang="en-US" altLang="en-US" dirty="0"/>
                  </a:p>
                </c:rich>
              </c:tx>
              <c:dLblPos val="inEnd"/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766-40EC-BD5A-1079A07652DC}"/>
                </c:ext>
              </c:extLst>
            </c:dLbl>
            <c:dLbl>
              <c:idx val="1"/>
              <c:layout>
                <c:manualLayout>
                  <c:x val="0"/>
                  <c:y val="-0.12373566308243809"/>
                </c:manualLayout>
              </c:layout>
              <c:tx>
                <c:rich>
                  <a:bodyPr/>
                  <a:lstStyle/>
                  <a:p>
                    <a:r>
                      <a:rPr lang="en-US" altLang="en-US" dirty="0" smtClean="0"/>
                      <a:t>17%</a:t>
                    </a:r>
                    <a:endParaRPr lang="en-US" altLang="en-US" dirty="0"/>
                  </a:p>
                </c:rich>
              </c:tx>
              <c:dLblPos val="inEnd"/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766-40EC-BD5A-1079A07652DC}"/>
                </c:ext>
              </c:extLst>
            </c:dLbl>
            <c:dLbl>
              <c:idx val="2"/>
              <c:layout>
                <c:manualLayout>
                  <c:x val="0"/>
                  <c:y val="-0.11379928315412192"/>
                </c:manualLayout>
              </c:layout>
              <c:tx>
                <c:rich>
                  <a:bodyPr/>
                  <a:lstStyle/>
                  <a:p>
                    <a:r>
                      <a:rPr lang="en-US" altLang="en-US" smtClean="0"/>
                      <a:t>41%</a:t>
                    </a:r>
                    <a:endParaRPr lang="en-US" altLang="en-US" dirty="0"/>
                  </a:p>
                </c:rich>
              </c:tx>
              <c:dLblPos val="inEnd"/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766-40EC-BD5A-1079A07652DC}"/>
                </c:ext>
              </c:extLst>
            </c:dLbl>
            <c:dLbl>
              <c:idx val="3"/>
              <c:layout>
                <c:manualLayout>
                  <c:x val="0"/>
                  <c:y val="-0.10241935483870968"/>
                </c:manualLayout>
              </c:layout>
              <c:tx>
                <c:rich>
                  <a:bodyPr/>
                  <a:lstStyle/>
                  <a:p>
                    <a:r>
                      <a:rPr lang="en-US" altLang="en-US" smtClean="0"/>
                      <a:t>28%</a:t>
                    </a:r>
                    <a:endParaRPr lang="en-US" altLang="en-US" dirty="0"/>
                  </a:p>
                </c:rich>
              </c:tx>
              <c:dLblPos val="inEnd"/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766-40EC-BD5A-1079A07652DC}"/>
                </c:ext>
              </c:extLst>
            </c:dLbl>
            <c:dLbl>
              <c:idx val="4"/>
              <c:layout>
                <c:manualLayout>
                  <c:x val="0"/>
                  <c:y val="-0.11828181003584225"/>
                </c:manualLayout>
              </c:layout>
              <c:tx>
                <c:rich>
                  <a:bodyPr/>
                  <a:lstStyle/>
                  <a:p>
                    <a:r>
                      <a:rPr lang="en-US" altLang="en-US" dirty="0" smtClean="0"/>
                      <a:t>9%</a:t>
                    </a:r>
                    <a:endParaRPr lang="en-US" altLang="en-US" dirty="0"/>
                  </a:p>
                </c:rich>
              </c:tx>
              <c:dLblPos val="inEnd"/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766-40EC-BD5A-1079A07652DC}"/>
                </c:ext>
              </c:extLst>
            </c:dLbl>
            <c:dLbl>
              <c:idx val="5"/>
              <c:layout>
                <c:manualLayout>
                  <c:x val="1.0105496686366198E-16"/>
                  <c:y val="-0.12895385304659499"/>
                </c:manualLayout>
              </c:layout>
              <c:tx>
                <c:rich>
                  <a:bodyPr/>
                  <a:lstStyle/>
                  <a:p>
                    <a:r>
                      <a:rPr lang="en-US" altLang="en-US" dirty="0" smtClean="0"/>
                      <a:t>3%</a:t>
                    </a:r>
                    <a:endParaRPr lang="en-US" altLang="en-US" dirty="0"/>
                  </a:p>
                </c:rich>
              </c:tx>
              <c:dLblPos val="inEnd"/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766-40EC-BD5A-1079A07652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ko-KR"/>
              </a:p>
            </c:txPr>
            <c:dLblPos val="inEnd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10대</c:v>
                </c:pt>
                <c:pt idx="1">
                  <c:v>20대</c:v>
                </c:pt>
                <c:pt idx="2">
                  <c:v>30대</c:v>
                </c:pt>
                <c:pt idx="3">
                  <c:v>40대</c:v>
                </c:pt>
                <c:pt idx="4">
                  <c:v>50대</c:v>
                </c:pt>
                <c:pt idx="5">
                  <c:v>60대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40</c:v>
                </c:pt>
                <c:pt idx="2">
                  <c:v>100</c:v>
                </c:pt>
                <c:pt idx="3">
                  <c:v>65</c:v>
                </c:pt>
                <c:pt idx="4">
                  <c:v>25</c:v>
                </c:pt>
                <c:pt idx="5">
                  <c:v>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0766-40EC-BD5A-1079A07652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</c:spPr>
          <c:cat>
            <c:strRef>
              <c:f>Sheet1!$A$2:$A$7</c:f>
              <c:strCache>
                <c:ptCount val="6"/>
                <c:pt idx="0">
                  <c:v>10대</c:v>
                </c:pt>
                <c:pt idx="1">
                  <c:v>20대</c:v>
                </c:pt>
                <c:pt idx="2">
                  <c:v>30대</c:v>
                </c:pt>
                <c:pt idx="3">
                  <c:v>40대</c:v>
                </c:pt>
                <c:pt idx="4">
                  <c:v>50대</c:v>
                </c:pt>
                <c:pt idx="5">
                  <c:v>60대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60</c:v>
                </c:pt>
                <c:pt idx="2">
                  <c:v>0</c:v>
                </c:pt>
                <c:pt idx="3">
                  <c:v>35</c:v>
                </c:pt>
                <c:pt idx="4">
                  <c:v>75</c:v>
                </c:pt>
                <c:pt idx="5">
                  <c:v>92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0766-40EC-BD5A-1079A07652DC}"/>
            </c:ext>
          </c:extLst>
        </c:ser>
        <c:gapWidth val="70"/>
        <c:overlap val="100"/>
        <c:axId val="171721472"/>
        <c:axId val="171723008"/>
      </c:barChart>
      <c:catAx>
        <c:axId val="171721472"/>
        <c:scaling>
          <c:orientation val="minMax"/>
        </c:scaling>
        <c:axPos val="b"/>
        <c:numFmt formatCode="General" sourceLinked="0"/>
        <c:majorTickMark val="none"/>
        <c:tickLblPos val="low"/>
        <c:txPr>
          <a:bodyPr/>
          <a:lstStyle/>
          <a:p>
            <a: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ko-KR"/>
          </a:p>
        </c:txPr>
        <c:crossAx val="171723008"/>
        <c:crosses val="autoZero"/>
        <c:auto val="1"/>
        <c:lblAlgn val="ctr"/>
        <c:lblOffset val="100"/>
      </c:catAx>
      <c:valAx>
        <c:axId val="171723008"/>
        <c:scaling>
          <c:orientation val="minMax"/>
        </c:scaling>
        <c:delete val="1"/>
        <c:axPos val="l"/>
        <c:numFmt formatCode="0%" sourceLinked="1"/>
        <c:tickLblPos val="nextTo"/>
        <c:crossAx val="171721472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title>
      <c:tx>
        <c:rich>
          <a:bodyPr/>
          <a:lstStyle/>
          <a:p>
            <a:pPr>
              <a:defRPr sz="1200"/>
            </a:pPr>
            <a:r>
              <a:rPr lang="ko-KR" altLang="en-US" sz="1200" dirty="0" err="1" smtClean="0"/>
              <a:t>홈퍼니싱</a:t>
            </a:r>
            <a:r>
              <a:rPr lang="ko-KR" altLang="en-US" sz="1200" dirty="0" smtClean="0"/>
              <a:t> 제품 </a:t>
            </a:r>
            <a:r>
              <a:rPr lang="ko-KR" altLang="en-US" sz="1200" dirty="0"/>
              <a:t>온라인 </a:t>
            </a:r>
            <a:r>
              <a:rPr lang="ko-KR" altLang="en-US" sz="1200" dirty="0" smtClean="0"/>
              <a:t>판매비중</a:t>
            </a:r>
            <a:endParaRPr lang="ko-KR" altLang="en-US" sz="1200" baseline="30000" dirty="0"/>
          </a:p>
        </c:rich>
      </c:tx>
      <c:layout/>
    </c:title>
    <c:plotArea>
      <c:layout>
        <c:manualLayout>
          <c:layoutTarget val="inner"/>
          <c:xMode val="edge"/>
          <c:yMode val="edge"/>
          <c:x val="3.0176026823134954E-2"/>
          <c:y val="0.21527636520320295"/>
          <c:w val="0.92623637887678056"/>
          <c:h val="0.57849795386294456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가구시장 온라인 판매비중</c:v>
                </c:pt>
              </c:strCache>
            </c:strRef>
          </c:tx>
          <c:dLbls>
            <c:dLbl>
              <c:idx val="3"/>
              <c:spPr/>
              <c:txPr>
                <a:bodyPr/>
                <a:lstStyle/>
                <a:p>
                  <a:pPr>
                    <a:defRPr sz="1300">
                      <a:solidFill>
                        <a:srgbClr val="FF0000"/>
                      </a:solidFill>
                    </a:defRPr>
                  </a:pPr>
                  <a:endParaRPr lang="ko-KR"/>
                </a:p>
              </c:txPr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'14</c:v>
                </c:pt>
                <c:pt idx="1">
                  <c:v>'15</c:v>
                </c:pt>
                <c:pt idx="2">
                  <c:v>'16</c:v>
                </c:pt>
                <c:pt idx="3">
                  <c:v>'17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0.22</c:v>
                </c:pt>
                <c:pt idx="1">
                  <c:v>0.25</c:v>
                </c:pt>
                <c:pt idx="2">
                  <c:v>0.30000000000000032</c:v>
                </c:pt>
                <c:pt idx="3">
                  <c:v>0.48000000000000032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7850-4F91-8FC6-6E0C3EAC7E68}"/>
            </c:ext>
          </c:extLst>
        </c:ser>
        <c:gapWidth val="80"/>
        <c:axId val="178996736"/>
        <c:axId val="178998272"/>
      </c:barChart>
      <c:catAx>
        <c:axId val="178996736"/>
        <c:scaling>
          <c:orientation val="minMax"/>
        </c:scaling>
        <c:axPos val="b"/>
        <c:numFmt formatCode="General" sourceLinked="0"/>
        <c:maj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ko-KR"/>
          </a:p>
        </c:txPr>
        <c:crossAx val="178998272"/>
        <c:crosses val="autoZero"/>
        <c:auto val="1"/>
        <c:lblAlgn val="ctr"/>
        <c:lblOffset val="100"/>
      </c:catAx>
      <c:valAx>
        <c:axId val="178998272"/>
        <c:scaling>
          <c:orientation val="minMax"/>
          <c:min val="0.15000000000000024"/>
        </c:scaling>
        <c:delete val="1"/>
        <c:axPos val="l"/>
        <c:numFmt formatCode="0%" sourceLinked="1"/>
        <c:tickLblPos val="nextTo"/>
        <c:crossAx val="17899673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 smtClean="0">
                <a:solidFill>
                  <a:schemeClr val="tx1"/>
                </a:solidFill>
              </a:rPr>
              <a:t>가구 구매 채널</a:t>
            </a:r>
            <a:endParaRPr lang="en-US" altLang="ko-KR" sz="10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38904376486710646"/>
          <c:y val="0"/>
        </c:manualLayout>
      </c:layout>
      <c:spPr>
        <a:noFill/>
        <a:ln>
          <a:noFill/>
        </a:ln>
        <a:effectLst/>
      </c:spPr>
    </c:title>
    <c:plotArea>
      <c:layout>
        <c:manualLayout>
          <c:layoutTarget val="inner"/>
          <c:xMode val="edge"/>
          <c:yMode val="edge"/>
          <c:x val="0.30720463542880239"/>
          <c:y val="0.18265792056327881"/>
          <c:w val="0.61746632599567397"/>
          <c:h val="0.74305816965313065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026B97"/>
              </a:solidFill>
            </a:ln>
            <a:effectLst/>
          </c:spPr>
          <c:dPt>
            <c:idx val="4"/>
            <c:spPr>
              <a:solidFill>
                <a:srgbClr val="026B97"/>
              </a:solidFill>
              <a:ln>
                <a:solidFill>
                  <a:srgbClr val="026B97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292C-4E44-BC82-4CF813AD532D}"/>
              </c:ext>
            </c:extLst>
          </c:dPt>
          <c:dPt>
            <c:idx val="5"/>
            <c:spPr>
              <a:solidFill>
                <a:srgbClr val="026B97"/>
              </a:solidFill>
              <a:ln>
                <a:solidFill>
                  <a:srgbClr val="026B97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D03-4863-97FC-606A2F8D9206}"/>
              </c:ext>
            </c:extLst>
          </c:dPt>
          <c:dPt>
            <c:idx val="6"/>
            <c:spPr>
              <a:solidFill>
                <a:srgbClr val="026B97"/>
              </a:solidFill>
              <a:ln>
                <a:solidFill>
                  <a:srgbClr val="026B97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292C-4E44-BC82-4CF813AD532D}"/>
              </c:ext>
            </c:extLst>
          </c:dPt>
          <c:dLbls>
            <c:dLbl>
              <c:idx val="7"/>
              <c:layout>
                <c:manualLayout>
                  <c:x val="-6.0263231694094414E-3"/>
                  <c:y val="8.1409786738409831E-3"/>
                </c:manualLayout>
              </c:layout>
              <c:dLblPos val="outEnd"/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D03-4863-97FC-606A2F8D92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그 외 </c:v>
                </c:pt>
                <c:pt idx="1">
                  <c:v>백화점</c:v>
                </c:pt>
                <c:pt idx="2">
                  <c:v>생활용품 매장</c:v>
                </c:pt>
                <c:pt idx="3">
                  <c:v>대형마트</c:v>
                </c:pt>
                <c:pt idx="4">
                  <c:v>인터넷 포털</c:v>
                </c:pt>
                <c:pt idx="5">
                  <c:v>가구 브랜드 사이트</c:v>
                </c:pt>
                <c:pt idx="6">
                  <c:v>쇼핑 사이트</c:v>
                </c:pt>
                <c:pt idx="7">
                  <c:v>오프라인 매장</c:v>
                </c:pt>
              </c:strCache>
            </c:strRef>
          </c:cat>
          <c:val>
            <c:numRef>
              <c:f>Sheet1!$B$2:$B$9</c:f>
              <c:numCache>
                <c:formatCode>0.0%</c:formatCode>
                <c:ptCount val="8"/>
                <c:pt idx="0">
                  <c:v>0.15800000000000053</c:v>
                </c:pt>
                <c:pt idx="1">
                  <c:v>0.05</c:v>
                </c:pt>
                <c:pt idx="2">
                  <c:v>5.6000000000000001E-2</c:v>
                </c:pt>
                <c:pt idx="3">
                  <c:v>8.1000000000000003E-2</c:v>
                </c:pt>
                <c:pt idx="4">
                  <c:v>0.10700000000000012</c:v>
                </c:pt>
                <c:pt idx="5">
                  <c:v>0.127</c:v>
                </c:pt>
                <c:pt idx="6">
                  <c:v>0.15500000000000044</c:v>
                </c:pt>
                <c:pt idx="7">
                  <c:v>0.26600000000000001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92C-4E44-BC82-4CF813AD532D}"/>
            </c:ext>
          </c:extLst>
        </c:ser>
        <c:dLbls>
          <c:showVal val="1"/>
        </c:dLbls>
        <c:gapWidth val="65"/>
        <c:axId val="179058944"/>
        <c:axId val="179060736"/>
      </c:barChart>
      <c:catAx>
        <c:axId val="179058944"/>
        <c:scaling>
          <c:orientation val="minMax"/>
        </c:scaling>
        <c:axPos val="l"/>
        <c:numFmt formatCode="General" sourceLinked="1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060736"/>
        <c:crosses val="autoZero"/>
        <c:auto val="1"/>
        <c:lblAlgn val="ctr"/>
        <c:lblOffset val="100"/>
      </c:catAx>
      <c:valAx>
        <c:axId val="179060736"/>
        <c:scaling>
          <c:orientation val="minMax"/>
        </c:scaling>
        <c:delete val="1"/>
        <c:axPos val="b"/>
        <c:numFmt formatCode="0.0%" sourceLinked="1"/>
        <c:tickLblPos val="nextTo"/>
        <c:crossAx val="17905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 smtClean="0">
                <a:solidFill>
                  <a:schemeClr val="tx1"/>
                </a:solidFill>
              </a:rPr>
              <a:t>인테리어 소품</a:t>
            </a:r>
            <a:r>
              <a:rPr lang="ko-KR" altLang="en-US" sz="1000" b="1" baseline="0" dirty="0" smtClean="0">
                <a:solidFill>
                  <a:schemeClr val="tx1"/>
                </a:solidFill>
              </a:rPr>
              <a:t> 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구매 채널</a:t>
            </a:r>
            <a:endParaRPr lang="en-US" altLang="ko-KR" sz="10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3730179491307159"/>
          <c:y val="0"/>
        </c:manualLayout>
      </c:layout>
      <c:spPr>
        <a:noFill/>
        <a:ln>
          <a:noFill/>
        </a:ln>
        <a:effectLst/>
      </c:spPr>
    </c:title>
    <c:plotArea>
      <c:layout>
        <c:manualLayout>
          <c:layoutTarget val="inner"/>
          <c:xMode val="edge"/>
          <c:yMode val="edge"/>
          <c:x val="0.3436450138581707"/>
          <c:y val="0.18367329932070905"/>
          <c:w val="0.58691102774433757"/>
          <c:h val="0.74305816965313065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026B97"/>
              </a:solidFill>
            </a:ln>
            <a:effectLst/>
          </c:spPr>
          <c:dPt>
            <c:idx val="2"/>
            <c:spPr>
              <a:solidFill>
                <a:srgbClr val="026B97"/>
              </a:solidFill>
              <a:ln>
                <a:solidFill>
                  <a:srgbClr val="026B97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A28-446F-9352-B94176D68923}"/>
              </c:ext>
            </c:extLst>
          </c:dPt>
          <c:dPt>
            <c:idx val="5"/>
            <c:spPr>
              <a:solidFill>
                <a:srgbClr val="026B97"/>
              </a:solidFill>
              <a:ln>
                <a:solidFill>
                  <a:srgbClr val="026B97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2961-4A9D-955A-77699A374CF2}"/>
              </c:ext>
            </c:extLst>
          </c:dPt>
          <c:dPt>
            <c:idx val="6"/>
            <c:spPr>
              <a:solidFill>
                <a:srgbClr val="026B97"/>
              </a:solidFill>
              <a:ln>
                <a:solidFill>
                  <a:srgbClr val="026B97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1A28-446F-9352-B94176D689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그 외 </c:v>
                </c:pt>
                <c:pt idx="1">
                  <c:v>백화점</c:v>
                </c:pt>
                <c:pt idx="2">
                  <c:v>소품 브랜드 사이트</c:v>
                </c:pt>
                <c:pt idx="3">
                  <c:v>생활용품 매장</c:v>
                </c:pt>
                <c:pt idx="4">
                  <c:v>대형마트</c:v>
                </c:pt>
                <c:pt idx="5">
                  <c:v>인터넷 포털</c:v>
                </c:pt>
                <c:pt idx="6">
                  <c:v>쇼핑 사이트</c:v>
                </c:pt>
                <c:pt idx="7">
                  <c:v>오프라인 매장</c:v>
                </c:pt>
              </c:strCache>
            </c:strRef>
          </c:cat>
          <c:val>
            <c:numRef>
              <c:f>Sheet1!$B$2:$B$9</c:f>
              <c:numCache>
                <c:formatCode>0.0%</c:formatCode>
                <c:ptCount val="8"/>
                <c:pt idx="0">
                  <c:v>0.14800000000000021</c:v>
                </c:pt>
                <c:pt idx="1">
                  <c:v>5.1000000000000004E-2</c:v>
                </c:pt>
                <c:pt idx="2">
                  <c:v>7.5999999999999998E-2</c:v>
                </c:pt>
                <c:pt idx="3">
                  <c:v>0.111</c:v>
                </c:pt>
                <c:pt idx="4">
                  <c:v>0.128</c:v>
                </c:pt>
                <c:pt idx="5">
                  <c:v>0.129</c:v>
                </c:pt>
                <c:pt idx="6">
                  <c:v>0.17800000000000021</c:v>
                </c:pt>
                <c:pt idx="7">
                  <c:v>0.17900000000000021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1A28-446F-9352-B94176D68923}"/>
            </c:ext>
          </c:extLst>
        </c:ser>
        <c:dLbls>
          <c:showVal val="1"/>
        </c:dLbls>
        <c:gapWidth val="65"/>
        <c:axId val="178964736"/>
        <c:axId val="178974720"/>
      </c:barChart>
      <c:catAx>
        <c:axId val="178964736"/>
        <c:scaling>
          <c:orientation val="minMax"/>
        </c:scaling>
        <c:axPos val="l"/>
        <c:numFmt formatCode="General" sourceLinked="1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8974720"/>
        <c:crosses val="autoZero"/>
        <c:auto val="1"/>
        <c:lblAlgn val="ctr"/>
        <c:lblOffset val="100"/>
      </c:catAx>
      <c:valAx>
        <c:axId val="178974720"/>
        <c:scaling>
          <c:orientation val="minMax"/>
        </c:scaling>
        <c:delete val="1"/>
        <c:axPos val="b"/>
        <c:numFmt formatCode="0.0%" sourceLinked="1"/>
        <c:tickLblPos val="nextTo"/>
        <c:crossAx val="178964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plotArea>
      <c:layout>
        <c:manualLayout>
          <c:layoutTarget val="inner"/>
          <c:xMode val="edge"/>
          <c:yMode val="edge"/>
          <c:x val="0.24547207226273254"/>
          <c:y val="2.7199401575858682E-2"/>
          <c:w val="0.69941103367576174"/>
          <c:h val="0.90711020703932443"/>
        </c:manualLayout>
      </c:layout>
      <c:barChart>
        <c:barDir val="bar"/>
        <c:grouping val="clustered"/>
        <c:ser>
          <c:idx val="0"/>
          <c:order val="0"/>
          <c:spPr>
            <a:ln w="12700">
              <a:solidFill>
                <a:schemeClr val="accent1"/>
              </a:solidFill>
            </a:ln>
          </c:spPr>
          <c:dPt>
            <c:idx val="1"/>
            <c:spPr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accent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4B5-4525-987F-3989CCA30C0D}"/>
              </c:ext>
            </c:extLst>
          </c:dPt>
          <c:dPt>
            <c:idx val="2"/>
            <c:spPr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accent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B4B5-4525-987F-3989CCA30C0D}"/>
              </c:ext>
            </c:extLst>
          </c:dPt>
          <c:dPt>
            <c:idx val="3"/>
            <c:spPr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accent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B4B5-4525-987F-3989CCA30C0D}"/>
              </c:ext>
            </c:extLst>
          </c:dPt>
          <c:dLbls>
            <c:dLbl>
              <c:idx val="0"/>
              <c:layout>
                <c:manualLayout>
                  <c:x val="-2.5913189628461821E-3"/>
                  <c:y val="3.7832843902443317E-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200" b="1">
                      <a:solidFill>
                        <a:srgbClr val="C00000"/>
                      </a:solidFill>
                    </a:defRPr>
                  </a:pPr>
                  <a:endParaRPr lang="ko-KR"/>
                </a:p>
              </c:txPr>
              <c:dLblPos val="outEnd"/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4B5-4525-987F-3989CCA30C0D}"/>
                </c:ext>
              </c:extLst>
            </c:dLbl>
            <c:dLbl>
              <c:idx val="1"/>
              <c:layout>
                <c:manualLayout>
                  <c:x val="-2.410529267764358E-4"/>
                  <c:y val="4.8049715236356963E-3"/>
                </c:manualLayout>
              </c:layout>
              <c:dLblPos val="outEnd"/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B5-4525-987F-3989CCA30C0D}"/>
                </c:ext>
              </c:extLst>
            </c:dLbl>
            <c:dLbl>
              <c:idx val="2"/>
              <c:layout>
                <c:manualLayout>
                  <c:x val="-1.1148697863407461E-2"/>
                  <c:y val="3.7832843911251994E-7"/>
                </c:manualLayout>
              </c:layout>
              <c:dLblPos val="outEnd"/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B5-4525-987F-3989CCA30C0D}"/>
                </c:ext>
              </c:extLst>
            </c:dLbl>
            <c:dLbl>
              <c:idx val="3"/>
              <c:layout>
                <c:manualLayout>
                  <c:x val="-1.1615856537445545E-2"/>
                  <c:y val="4.8047711756103511E-3"/>
                </c:manualLayout>
              </c:layout>
              <c:dLblPos val="outEnd"/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4B5-4525-987F-3989CCA30C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inEnd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Sheet1!$C$27:$C$30</c:f>
              <c:strCache>
                <c:ptCount val="4"/>
                <c:pt idx="0">
                  <c:v>하우스앱</c:v>
                </c:pt>
                <c:pt idx="1">
                  <c:v>오늘의 집</c:v>
                </c:pt>
                <c:pt idx="2">
                  <c:v>집꾸미기</c:v>
                </c:pt>
                <c:pt idx="3">
                  <c:v>집닥</c:v>
                </c:pt>
              </c:strCache>
            </c:strRef>
          </c:cat>
          <c:val>
            <c:numRef>
              <c:f>Sheet1!$D$27:$D$30</c:f>
              <c:numCache>
                <c:formatCode>0%</c:formatCode>
                <c:ptCount val="4"/>
                <c:pt idx="0">
                  <c:v>0.85000000000000064</c:v>
                </c:pt>
                <c:pt idx="1">
                  <c:v>0.71000000000000063</c:v>
                </c:pt>
                <c:pt idx="2">
                  <c:v>0.73000000000000065</c:v>
                </c:pt>
                <c:pt idx="3">
                  <c:v>0.77000000000000135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B4B5-4525-987F-3989CCA30C0D}"/>
            </c:ext>
          </c:extLst>
        </c:ser>
        <c:gapWidth val="100"/>
        <c:axId val="147141760"/>
        <c:axId val="147143296"/>
      </c:barChart>
      <c:catAx>
        <c:axId val="147141760"/>
        <c:scaling>
          <c:orientation val="maxMin"/>
        </c:scaling>
        <c:axPos val="l"/>
        <c:numFmt formatCode="General" sourceLinked="0"/>
        <c:majorTickMark val="none"/>
        <c:tickLblPos val="nextTo"/>
        <c:txPr>
          <a:bodyPr/>
          <a:lstStyle/>
          <a:p>
            <a:pPr>
              <a:defRPr sz="1200" b="1"/>
            </a:pPr>
            <a:endParaRPr lang="ko-KR"/>
          </a:p>
        </c:txPr>
        <c:crossAx val="147143296"/>
        <c:crosses val="autoZero"/>
        <c:auto val="1"/>
        <c:lblAlgn val="ctr"/>
        <c:lblOffset val="100"/>
      </c:catAx>
      <c:valAx>
        <c:axId val="147143296"/>
        <c:scaling>
          <c:orientation val="minMax"/>
          <c:min val="0.65000000000000413"/>
        </c:scaling>
        <c:delete val="1"/>
        <c:axPos val="t"/>
        <c:numFmt formatCode="0%" sourceLinked="1"/>
        <c:tickLblPos val="nextTo"/>
        <c:crossAx val="14714176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</c:chart>
  <c:externalData r:id="rId1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explosion val="5"/>
          <c:dPt>
            <c:idx val="2"/>
            <c:spPr>
              <a:ln w="12700">
                <a:noFill/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5067-4F19-B944-6ACBD86F9C98}"/>
              </c:ext>
            </c:extLst>
          </c:dPt>
          <c:dPt>
            <c:idx val="3"/>
            <c:spPr>
              <a:ln w="28575">
                <a:noFill/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067-4F19-B944-6ACBD86F9C98}"/>
              </c:ext>
            </c:extLst>
          </c:dPt>
          <c:dLbls>
            <c:dLbl>
              <c:idx val="0"/>
              <c:delete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067-4F19-B944-6ACBD86F9C98}"/>
                </c:ext>
              </c:extLst>
            </c:dLbl>
            <c:dLbl>
              <c:idx val="1"/>
              <c:delete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67-4F19-B944-6ACBD86F9C98}"/>
                </c:ext>
              </c:extLst>
            </c:dLbl>
            <c:dLbl>
              <c:idx val="2"/>
              <c:layout>
                <c:manualLayout>
                  <c:x val="-3.6302083333333332E-2"/>
                  <c:y val="4.9382370415994034E-3"/>
                </c:manualLayout>
              </c:layout>
              <c:tx>
                <c:rich>
                  <a:bodyPr/>
                  <a:lstStyle/>
                  <a:p>
                    <a:r>
                      <a:rPr lang="en-US" altLang="en-US" b="1" dirty="0"/>
                      <a:t>25-34
41%</a:t>
                    </a:r>
                  </a:p>
                </c:rich>
              </c:tx>
              <c:dLblPos val="inEnd"/>
              <c:showVal val="1"/>
              <c:showCatName val="1"/>
              <c:separator>
</c:separator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067-4F19-B944-6ACBD86F9C98}"/>
                </c:ext>
              </c:extLst>
            </c:dLbl>
            <c:dLbl>
              <c:idx val="3"/>
              <c:layout>
                <c:manualLayout>
                  <c:x val="-6.7088125499509535E-3"/>
                  <c:y val="-5.4320607457593706E-2"/>
                </c:manualLayout>
              </c:layout>
              <c:dLblPos val="inEnd"/>
              <c:showVal val="1"/>
              <c:showCatName val="1"/>
              <c:separator>
</c:separator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67-4F19-B944-6ACBD86F9C98}"/>
                </c:ext>
              </c:extLst>
            </c:dLbl>
            <c:dLbl>
              <c:idx val="4"/>
              <c:layout/>
              <c:spPr/>
              <c:txPr>
                <a:bodyPr/>
                <a:lstStyle/>
                <a:p>
                  <a:pPr>
                    <a:defRPr sz="1300" b="1"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  <c:dLblPos val="inEnd"/>
              <c:showVal val="1"/>
              <c:showCatName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067-4F19-B944-6ACBD86F9C98}"/>
                </c:ext>
              </c:extLst>
            </c:dLbl>
            <c:dLbl>
              <c:idx val="5"/>
              <c:layout/>
              <c:tx>
                <c:rich>
                  <a:bodyPr/>
                  <a:lstStyle/>
                  <a:p>
                    <a:r>
                      <a:rPr lang="en-US" altLang="en-US" dirty="0"/>
                      <a:t>
</a:t>
                    </a:r>
                    <a:r>
                      <a:rPr lang="en-US" altLang="en-US" dirty="0">
                        <a:solidFill>
                          <a:schemeClr val="tx1"/>
                        </a:solidFill>
                      </a:rPr>
                      <a:t>5%</a:t>
                    </a:r>
                  </a:p>
                </c:rich>
              </c:tx>
              <c:dLblPos val="inEnd"/>
              <c:showVal val="1"/>
              <c:showCatName val="1"/>
              <c:separator>
</c:separator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67-4F19-B944-6ACBD86F9C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Val val="1"/>
            <c:showCatName val="1"/>
            <c:separator>
</c:separator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13-17</c:v>
                </c:pt>
                <c:pt idx="1">
                  <c:v>18-24</c:v>
                </c:pt>
                <c:pt idx="2">
                  <c:v>25-34</c:v>
                </c:pt>
                <c:pt idx="3">
                  <c:v>35-44</c:v>
                </c:pt>
                <c:pt idx="4">
                  <c:v>45-54</c:v>
                </c:pt>
                <c:pt idx="5">
                  <c:v>55-64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 formatCode="0.0%">
                  <c:v>1.4999999999999998E-2</c:v>
                </c:pt>
                <c:pt idx="1">
                  <c:v>7.0000000000000021E-2</c:v>
                </c:pt>
                <c:pt idx="2">
                  <c:v>0.41000000000000031</c:v>
                </c:pt>
                <c:pt idx="3">
                  <c:v>0.30000000000000032</c:v>
                </c:pt>
                <c:pt idx="4">
                  <c:v>0.16</c:v>
                </c:pt>
                <c:pt idx="5">
                  <c:v>0.05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5067-4F19-B944-6ACBD86F9C98}"/>
            </c:ext>
          </c:extLst>
        </c:ser>
        <c:firstSliceAng val="0"/>
      </c:pieChart>
    </c:plotArea>
    <c:plotVisOnly val="1"/>
    <c:dispBlanksAs val="zero"/>
  </c:chart>
  <c:txPr>
    <a:bodyPr/>
    <a:lstStyle/>
    <a:p>
      <a:pPr>
        <a:defRPr sz="1800"/>
      </a:pPr>
      <a:endParaRPr lang="ko-KR"/>
    </a:p>
  </c:txPr>
  <c:externalData r:id="rId1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8.2718343790805546E-2"/>
          <c:y val="7.1113879634554886E-2"/>
          <c:w val="0.90050962998413286"/>
          <c:h val="0.71542551174856295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'17</c:v>
                </c:pt>
                <c:pt idx="1">
                  <c:v>'18</c:v>
                </c:pt>
                <c:pt idx="2">
                  <c:v>'19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0.18000000000000008</c:v>
                </c:pt>
                <c:pt idx="1">
                  <c:v>0.32000000000000017</c:v>
                </c:pt>
                <c:pt idx="2">
                  <c:v>0.42000000000000015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F5EC-49D8-A77E-509DA7DFC0BC}"/>
            </c:ext>
          </c:extLst>
        </c:ser>
        <c:gapWidth val="125"/>
        <c:overlap val="-27"/>
        <c:axId val="181100544"/>
        <c:axId val="181102080"/>
      </c:barChart>
      <c:catAx>
        <c:axId val="181100544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1102080"/>
        <c:crosses val="autoZero"/>
        <c:auto val="1"/>
        <c:lblAlgn val="ctr"/>
        <c:lblOffset val="100"/>
      </c:catAx>
      <c:valAx>
        <c:axId val="181102080"/>
        <c:scaling>
          <c:orientation val="minMax"/>
          <c:min val="0.1"/>
        </c:scaling>
        <c:delete val="1"/>
        <c:axPos val="l"/>
        <c:numFmt formatCode="0%" sourceLinked="1"/>
        <c:majorTickMark val="none"/>
        <c:tickLblPos val="nextTo"/>
        <c:crossAx val="181100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dLbls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altLang="en-US" b="1" dirty="0" smtClean="0"/>
                      <a:t>68</a:t>
                    </a:r>
                    <a:r>
                      <a:rPr lang="en-US" altLang="en-US" dirty="0" smtClean="0"/>
                      <a:t>%</a:t>
                    </a:r>
                    <a:endParaRPr lang="en-US" altLang="en-US" dirty="0"/>
                  </a:p>
                </c:rich>
              </c:tx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43D-4F92-82BE-9DA8692D56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'18</c:v>
                </c:pt>
                <c:pt idx="1">
                  <c:v>'19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0.57299999999999995</c:v>
                </c:pt>
                <c:pt idx="1">
                  <c:v>0.67800000000000171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443D-4F92-82BE-9DA8692D56CF}"/>
            </c:ext>
          </c:extLst>
        </c:ser>
        <c:axId val="181134848"/>
        <c:axId val="181136384"/>
      </c:barChart>
      <c:catAx>
        <c:axId val="181134848"/>
        <c:scaling>
          <c:orientation val="minMax"/>
        </c:scaling>
        <c:axPos val="b"/>
        <c:numFmt formatCode="General" sourceLinked="0"/>
        <c:maj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ko-KR"/>
          </a:p>
        </c:txPr>
        <c:crossAx val="181136384"/>
        <c:crosses val="autoZero"/>
        <c:auto val="1"/>
        <c:lblAlgn val="ctr"/>
        <c:lblOffset val="100"/>
      </c:catAx>
      <c:valAx>
        <c:axId val="181136384"/>
        <c:scaling>
          <c:orientation val="minMax"/>
        </c:scaling>
        <c:delete val="1"/>
        <c:axPos val="l"/>
        <c:numFmt formatCode="0%" sourceLinked="1"/>
        <c:tickLblPos val="nextTo"/>
        <c:crossAx val="181134848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dLbls>
            <c:dLbl>
              <c:idx val="2"/>
              <c:spPr/>
              <c:txPr>
                <a:bodyPr anchor="t"/>
                <a:lstStyle/>
                <a:p>
                  <a:pPr>
                    <a:defRPr sz="1200" b="1"/>
                  </a:pPr>
                  <a:endParaRPr lang="ko-KR"/>
                </a:p>
              </c:txPr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'17</c:v>
                </c:pt>
                <c:pt idx="1">
                  <c:v>'18</c:v>
                </c:pt>
                <c:pt idx="2">
                  <c:v>'19</c:v>
                </c:pt>
              </c:strCache>
            </c:strRef>
          </c:cat>
          <c:val>
            <c:numRef>
              <c:f>Sheet1!$B$2:$B$4</c:f>
              <c:numCache>
                <c:formatCode>_-* #,##0_-;\-* #,##0_-;_-* "-"_-;_-@_-</c:formatCode>
                <c:ptCount val="3"/>
                <c:pt idx="0">
                  <c:v>46095</c:v>
                </c:pt>
                <c:pt idx="1">
                  <c:v>290086</c:v>
                </c:pt>
                <c:pt idx="2">
                  <c:v>358599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7EDE-479A-A698-97A5E3F4FB0F}"/>
            </c:ext>
          </c:extLst>
        </c:ser>
        <c:gapWidth val="110"/>
        <c:axId val="181173248"/>
        <c:axId val="181191424"/>
      </c:barChart>
      <c:catAx>
        <c:axId val="181173248"/>
        <c:scaling>
          <c:orientation val="minMax"/>
        </c:scaling>
        <c:axPos val="b"/>
        <c:numFmt formatCode="General" sourceLinked="0"/>
        <c:maj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ko-KR"/>
          </a:p>
        </c:txPr>
        <c:crossAx val="181191424"/>
        <c:crosses val="autoZero"/>
        <c:auto val="1"/>
        <c:lblAlgn val="ctr"/>
        <c:lblOffset val="100"/>
      </c:catAx>
      <c:valAx>
        <c:axId val="181191424"/>
        <c:scaling>
          <c:orientation val="minMax"/>
        </c:scaling>
        <c:delete val="1"/>
        <c:axPos val="l"/>
        <c:numFmt formatCode="_-* #,##0_-;\-* #,##0_-;_-* &quot;-&quot;_-;_-@_-" sourceLinked="1"/>
        <c:tickLblPos val="nextTo"/>
        <c:crossAx val="181173248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3.1578912469775018E-2"/>
          <c:y val="3.2876683959284683E-2"/>
          <c:w val="0.84786402327446264"/>
          <c:h val="0.753586010517580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평균단가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가전</c:v>
                </c:pt>
                <c:pt idx="1">
                  <c:v>가구</c:v>
                </c:pt>
                <c:pt idx="2">
                  <c:v>주방생활</c:v>
                </c:pt>
                <c:pt idx="3">
                  <c:v>패브릭</c:v>
                </c:pt>
              </c:strCache>
            </c:strRef>
          </c:cat>
          <c:val>
            <c:numRef>
              <c:f>Sheet1!$B$2:$B$5</c:f>
              <c:numCache>
                <c:formatCode>_-* #,##0_-;\-* #,##0_-;_-* "-"_-;_-@_-</c:formatCode>
                <c:ptCount val="4"/>
                <c:pt idx="0">
                  <c:v>103603.90476190476</c:v>
                </c:pt>
                <c:pt idx="1">
                  <c:v>69896.809523809512</c:v>
                </c:pt>
                <c:pt idx="2">
                  <c:v>15343.285714285705</c:v>
                </c:pt>
                <c:pt idx="3">
                  <c:v>21631.428571428572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FF0-4E0E-BAC1-26E2BF74ECC3}"/>
            </c:ext>
          </c:extLst>
        </c:ser>
        <c:gapWidth val="80"/>
        <c:axId val="184204288"/>
        <c:axId val="184210176"/>
      </c:barChart>
      <c:catAx>
        <c:axId val="184204288"/>
        <c:scaling>
          <c:orientation val="minMax"/>
        </c:scaling>
        <c:axPos val="b"/>
        <c:numFmt formatCode="General" sourceLinked="0"/>
        <c:maj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ko-KR"/>
          </a:p>
        </c:txPr>
        <c:crossAx val="184210176"/>
        <c:crosses val="autoZero"/>
        <c:auto val="1"/>
        <c:lblAlgn val="ctr"/>
        <c:lblOffset val="100"/>
      </c:catAx>
      <c:valAx>
        <c:axId val="184210176"/>
        <c:scaling>
          <c:orientation val="minMax"/>
        </c:scaling>
        <c:delete val="1"/>
        <c:axPos val="l"/>
        <c:numFmt formatCode="_-* #,##0_-;\-* #,##0_-;_-* &quot;-&quot;_-;_-@_-" sourceLinked="1"/>
        <c:tickLblPos val="nextTo"/>
        <c:crossAx val="1842042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6661236026505204"/>
          <c:y val="0.31956481744409776"/>
          <c:w val="0.21941731603511783"/>
          <c:h val="9.8902815796057239E-2"/>
        </c:manualLayout>
      </c:layout>
      <c:spPr>
        <a:ln w="12700"/>
      </c:spPr>
      <c:txPr>
        <a:bodyPr/>
        <a:lstStyle/>
        <a:p>
          <a:pPr>
            <a:defRPr sz="1000"/>
          </a:pPr>
          <a:endParaRPr lang="ko-KR"/>
        </a:p>
      </c:txPr>
    </c:legend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2.9450625157648277E-2"/>
          <c:y val="5.8294407519323993E-2"/>
          <c:w val="0.70873525390431025"/>
          <c:h val="0.75694313890400666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Basket당
구입물품수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'18</c:v>
                </c:pt>
                <c:pt idx="1">
                  <c:v>'19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3.3</c:v>
                </c:pt>
                <c:pt idx="1">
                  <c:v>4.1199999999999966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8511-48D5-96BE-F7AE8B244877}"/>
            </c:ext>
          </c:extLst>
        </c:ser>
        <c:gapWidth val="120"/>
        <c:overlap val="-21"/>
        <c:axId val="184432896"/>
        <c:axId val="184446976"/>
      </c:barChart>
      <c:catAx>
        <c:axId val="184432896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4446976"/>
        <c:crosses val="autoZero"/>
        <c:auto val="1"/>
        <c:lblAlgn val="ctr"/>
        <c:lblOffset val="100"/>
      </c:catAx>
      <c:valAx>
        <c:axId val="184446976"/>
        <c:scaling>
          <c:orientation val="minMax"/>
          <c:min val="2.7"/>
        </c:scaling>
        <c:delete val="1"/>
        <c:axPos val="l"/>
        <c:numFmt formatCode="0.0" sourceLinked="1"/>
        <c:majorTickMark val="none"/>
        <c:tickLblPos val="nextTo"/>
        <c:crossAx val="18443289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layout>
        <c:manualLayout>
          <c:xMode val="edge"/>
          <c:yMode val="edge"/>
          <c:x val="0.71869281178166933"/>
          <c:y val="0.32435255682216557"/>
          <c:w val="0.26766438146989302"/>
          <c:h val="0.26982222661983313"/>
        </c:manualLayout>
      </c:layout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7.9749314570127461E-2"/>
          <c:y val="0.18396854186219921"/>
          <c:w val="0.70935356532937643"/>
          <c:h val="0.81603145813780165"/>
        </c:manualLayout>
      </c:layout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총 상품개수</c:v>
                </c:pt>
              </c:strCache>
            </c:strRef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22225">
                <a:solidFill>
                  <a:srgbClr val="FF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/>
                </a:pPr>
                <a:endParaRPr lang="ko-KR"/>
              </a:p>
            </c:txPr>
            <c:dLblPos val="t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'18</c:v>
                </c:pt>
                <c:pt idx="1">
                  <c:v>'19</c:v>
                </c:pt>
              </c:strCache>
            </c:strRef>
          </c:cat>
          <c:val>
            <c:numRef>
              <c:f>Sheet1!$B$2:$B$3</c:f>
              <c:numCache>
                <c:formatCode>_-* #,##0_-;\-* #,##0_-;_-* "-"_-;_-@_-</c:formatCode>
                <c:ptCount val="2"/>
                <c:pt idx="0">
                  <c:v>46589</c:v>
                </c:pt>
                <c:pt idx="1">
                  <c:v>58598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16F-4D58-AAD6-D48B7F8D0DCD}"/>
            </c:ext>
          </c:extLst>
        </c:ser>
        <c:marker val="1"/>
        <c:axId val="184524800"/>
        <c:axId val="184526336"/>
      </c:lineChart>
      <c:catAx>
        <c:axId val="184524800"/>
        <c:scaling>
          <c:orientation val="minMax"/>
        </c:scaling>
        <c:delete val="1"/>
        <c:axPos val="b"/>
        <c:numFmt formatCode="General" sourceLinked="1"/>
        <c:tickLblPos val="nextTo"/>
        <c:crossAx val="184526336"/>
        <c:crosses val="autoZero"/>
        <c:auto val="1"/>
        <c:lblAlgn val="ctr"/>
        <c:lblOffset val="100"/>
      </c:catAx>
      <c:valAx>
        <c:axId val="184526336"/>
        <c:scaling>
          <c:orientation val="minMax"/>
          <c:min val="30000"/>
        </c:scaling>
        <c:delete val="1"/>
        <c:axPos val="l"/>
        <c:numFmt formatCode="_-* #,##0_-;\-* #,##0_-;_-* &quot;-&quot;_-;_-@_-" sourceLinked="1"/>
        <c:tickLblPos val="nextTo"/>
        <c:crossAx val="184524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297397484272818"/>
          <c:y val="0.61980921110209208"/>
          <c:w val="0.2737338671295389"/>
          <c:h val="0.24987973841218494"/>
        </c:manualLayout>
      </c:layout>
      <c:txPr>
        <a:bodyPr/>
        <a:lstStyle/>
        <a:p>
          <a:pPr>
            <a:defRPr sz="1000" b="1"/>
          </a:pPr>
          <a:endParaRPr lang="ko-KR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4.0251554719305346E-2"/>
          <c:y val="0.10747501329824463"/>
          <c:w val="0.89434009805045367"/>
          <c:h val="0.61245135642095261"/>
        </c:manualLayout>
      </c:layout>
      <c:barChart>
        <c:barDir val="col"/>
        <c:grouping val="clustered"/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rgbClr val="026B97"/>
            </a:solidFill>
            <a:ln>
              <a:noFill/>
            </a:ln>
            <a:effectLst/>
          </c:spPr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'17</c:v>
                </c:pt>
                <c:pt idx="1">
                  <c:v>'18</c:v>
                </c:pt>
                <c:pt idx="2">
                  <c:v>'19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2.1000000000000012E-2</c:v>
                </c:pt>
                <c:pt idx="1">
                  <c:v>3.5999999999999997E-2</c:v>
                </c:pt>
                <c:pt idx="2">
                  <c:v>0.12000000000000002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7F12-4A05-9626-5A1FFD762DFE}"/>
            </c:ext>
          </c:extLst>
        </c:ser>
        <c:axId val="185187712"/>
        <c:axId val="185186176"/>
      </c:barChart>
      <c:lineChart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accent1"/>
                </a:solidFill>
              </a:ln>
              <a:effectLst/>
            </c:spPr>
          </c:marker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'17</c:v>
                </c:pt>
                <c:pt idx="1">
                  <c:v>'18</c:v>
                </c:pt>
                <c:pt idx="2">
                  <c:v>'19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18</c:v>
                </c:pt>
                <c:pt idx="2">
                  <c:v>37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7F12-4A05-9626-5A1FFD762DFE}"/>
            </c:ext>
          </c:extLst>
        </c:ser>
        <c:marker val="1"/>
        <c:axId val="185203328"/>
        <c:axId val="185201792"/>
      </c:lineChart>
      <c:valAx>
        <c:axId val="185186176"/>
        <c:scaling>
          <c:orientation val="minMax"/>
          <c:max val="0.2"/>
          <c:min val="0"/>
        </c:scaling>
        <c:axPos val="r"/>
        <c:numFmt formatCode="0.0%" sourceLinked="1"/>
        <c:maj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5187712"/>
        <c:crosses val="max"/>
        <c:crossBetween val="between"/>
      </c:valAx>
      <c:catAx>
        <c:axId val="185187712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5186176"/>
        <c:crosses val="autoZero"/>
        <c:auto val="1"/>
        <c:lblAlgn val="ctr"/>
        <c:lblOffset val="100"/>
      </c:catAx>
      <c:valAx>
        <c:axId val="185201792"/>
        <c:scaling>
          <c:orientation val="minMax"/>
          <c:max val="40"/>
          <c:min val="-20"/>
        </c:scaling>
        <c:axPos val="l"/>
        <c:numFmt formatCode="General" sourceLinked="1"/>
        <c:maj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5203328"/>
        <c:crosses val="autoZero"/>
        <c:crossBetween val="between"/>
      </c:valAx>
      <c:catAx>
        <c:axId val="185203328"/>
        <c:scaling>
          <c:orientation val="minMax"/>
        </c:scaling>
        <c:delete val="1"/>
        <c:axPos val="b"/>
        <c:numFmt formatCode="General" sourceLinked="1"/>
        <c:majorTickMark val="none"/>
        <c:tickLblPos val="nextTo"/>
        <c:crossAx val="185201792"/>
        <c:crosses val="autoZero"/>
        <c:auto val="1"/>
        <c:lblAlgn val="ctr"/>
        <c:lblOffset val="100"/>
      </c:catAx>
      <c:spPr>
        <a:noFill/>
        <a:ln>
          <a:noFill/>
        </a:ln>
        <a:effectLst/>
      </c:spPr>
    </c:plotArea>
    <c:plotVisOnly val="1"/>
    <c:dispBlanksAs val="zero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plotArea>
      <c:layout>
        <c:manualLayout>
          <c:layoutTarget val="inner"/>
          <c:xMode val="edge"/>
          <c:yMode val="edge"/>
          <c:x val="3.0085259514974903E-2"/>
          <c:y val="6.6414320772136631E-2"/>
          <c:w val="0.73943021059681824"/>
          <c:h val="0.57593957009920005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
일반상품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rgbClr val="026B97">
                  <a:shade val="95000"/>
                  <a:satMod val="105000"/>
                </a:srgbClr>
              </a:solidFill>
            </a:ln>
          </c:spP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가전</c:v>
                </c:pt>
                <c:pt idx="1">
                  <c:v>가구</c:v>
                </c:pt>
                <c:pt idx="2">
                  <c:v>주방생활</c:v>
                </c:pt>
                <c:pt idx="3">
                  <c:v>패브릭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0.16</c:v>
                </c:pt>
                <c:pt idx="1">
                  <c:v>0.15000000000000019</c:v>
                </c:pt>
                <c:pt idx="2">
                  <c:v>0.18000000000000019</c:v>
                </c:pt>
                <c:pt idx="3">
                  <c:v>0.17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498-48CB-9226-65CC1E8EC2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
PB상품</c:v>
                </c:pt>
              </c:strCache>
            </c:strRef>
          </c:tx>
          <c:spPr>
            <a:solidFill>
              <a:srgbClr val="026B97"/>
            </a:solidFill>
          </c:spP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가전</c:v>
                </c:pt>
                <c:pt idx="1">
                  <c:v>가구</c:v>
                </c:pt>
                <c:pt idx="2">
                  <c:v>주방생활</c:v>
                </c:pt>
                <c:pt idx="3">
                  <c:v>패브릭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0.28000000000000008</c:v>
                </c:pt>
                <c:pt idx="1">
                  <c:v>0.22</c:v>
                </c:pt>
                <c:pt idx="2">
                  <c:v>0.37000000000000038</c:v>
                </c:pt>
                <c:pt idx="3">
                  <c:v>0.26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9498-48CB-9226-65CC1E8EC25B}"/>
            </c:ext>
          </c:extLst>
        </c:ser>
        <c:gapWidth val="80"/>
        <c:axId val="185237504"/>
        <c:axId val="185239040"/>
      </c:barChart>
      <c:catAx>
        <c:axId val="185237504"/>
        <c:scaling>
          <c:orientation val="minMax"/>
        </c:scaling>
        <c:axPos val="b"/>
        <c:numFmt formatCode="General" sourceLinked="0"/>
        <c:majorTickMark val="none"/>
        <c:tickLblPos val="nextTo"/>
        <c:txPr>
          <a:bodyPr/>
          <a:lstStyle/>
          <a:p>
            <a:pPr>
              <a:defRPr sz="1100">
                <a:solidFill>
                  <a:schemeClr val="tx1"/>
                </a:solidFill>
              </a:defRPr>
            </a:pPr>
            <a:endParaRPr lang="ko-KR"/>
          </a:p>
        </c:txPr>
        <c:crossAx val="185239040"/>
        <c:crosses val="autoZero"/>
        <c:auto val="1"/>
        <c:lblAlgn val="ctr"/>
        <c:lblOffset val="100"/>
      </c:catAx>
      <c:valAx>
        <c:axId val="185239040"/>
        <c:scaling>
          <c:orientation val="minMax"/>
        </c:scaling>
        <c:delete val="1"/>
        <c:axPos val="l"/>
        <c:numFmt formatCode="0%" sourceLinked="1"/>
        <c:tickLblPos val="nextTo"/>
        <c:crossAx val="18523750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6627361900558044"/>
          <c:y val="0.18948579868538457"/>
          <c:w val="0.15377379416686277"/>
          <c:h val="0.34278826546247315"/>
        </c:manualLayout>
      </c:layout>
      <c:txPr>
        <a:bodyPr/>
        <a:lstStyle/>
        <a:p>
          <a:pPr>
            <a:defRPr sz="1000"/>
          </a:pPr>
          <a:endParaRPr lang="ko-KR"/>
        </a:p>
      </c:txPr>
    </c:legend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0.12743522983171349"/>
          <c:y val="0.12132256875425777"/>
          <c:w val="0.85852964844538093"/>
          <c:h val="0.71035489981989064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FFFFFF">
                <a:lumMod val="85000"/>
              </a:srgbClr>
            </a:solidFill>
            <a:ln>
              <a:solidFill>
                <a:schemeClr val="accent1"/>
              </a:solidFill>
            </a:ln>
          </c:spPr>
          <c:dPt>
            <c:idx val="1"/>
            <c:spPr>
              <a:solidFill>
                <a:srgbClr val="026B97"/>
              </a:solidFill>
              <a:ln>
                <a:solidFill>
                  <a:schemeClr val="accent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35DB-48A1-89AA-538FD36E0A2B}"/>
              </c:ext>
            </c:extLst>
          </c:dPt>
          <c:dLbls>
            <c:dLbl>
              <c:idx val="1"/>
              <c:spPr/>
              <c:txPr>
                <a:bodyPr/>
                <a:lstStyle/>
                <a:p>
                  <a:pPr>
                    <a:defRPr sz="1200" b="1"/>
                  </a:pPr>
                  <a:endParaRPr lang="ko-KR"/>
                </a:p>
              </c:txPr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경쟁사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_-* #,##0_-;\-* #,##0_-;_-* "-"_-;_-@_-</c:formatCode>
                <c:ptCount val="2"/>
                <c:pt idx="0">
                  <c:v>1645</c:v>
                </c:pt>
                <c:pt idx="1">
                  <c:v>4220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35DB-48A1-89AA-538FD36E0A2B}"/>
            </c:ext>
          </c:extLst>
        </c:ser>
        <c:gapWidth val="130"/>
        <c:axId val="184862592"/>
        <c:axId val="184864128"/>
      </c:barChart>
      <c:catAx>
        <c:axId val="184862592"/>
        <c:scaling>
          <c:orientation val="minMax"/>
        </c:scaling>
        <c:axPos val="b"/>
        <c:numFmt formatCode="General" sourceLinked="0"/>
        <c:majorTickMark val="none"/>
        <c:tickLblPos val="nextTo"/>
        <c:txPr>
          <a:bodyPr/>
          <a:lstStyle/>
          <a:p>
            <a:pPr>
              <a:defRPr sz="1200"/>
            </a:pPr>
            <a:endParaRPr lang="ko-KR"/>
          </a:p>
        </c:txPr>
        <c:crossAx val="184864128"/>
        <c:crosses val="autoZero"/>
        <c:auto val="1"/>
        <c:lblAlgn val="ctr"/>
        <c:lblOffset val="100"/>
      </c:catAx>
      <c:valAx>
        <c:axId val="184864128"/>
        <c:scaling>
          <c:orientation val="minMax"/>
          <c:min val="500"/>
        </c:scaling>
        <c:delete val="1"/>
        <c:axPos val="l"/>
        <c:numFmt formatCode="_-* #,##0_-;\-* #,##0_-;_-* &quot;-&quot;_-;_-@_-" sourceLinked="1"/>
        <c:tickLblPos val="nextTo"/>
        <c:crossAx val="184862592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3.9528701045224088E-2"/>
          <c:y val="0.28820685143245389"/>
          <c:w val="0.85809882966151685"/>
          <c:h val="0.5235566114575201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FFFFFF">
                <a:lumMod val="85000"/>
              </a:srgbClr>
            </a:solidFill>
            <a:ln>
              <a:solidFill>
                <a:schemeClr val="accent1"/>
              </a:solidFill>
            </a:ln>
          </c:spPr>
          <c:dPt>
            <c:idx val="1"/>
            <c:spPr>
              <a:solidFill>
                <a:srgbClr val="026B97"/>
              </a:solidFill>
              <a:ln>
                <a:solidFill>
                  <a:schemeClr val="accent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530B-4C31-B6F6-3BCE9ED9DF94}"/>
              </c:ext>
            </c:extLst>
          </c:dPt>
          <c:dLbls>
            <c:dLbl>
              <c:idx val="1"/>
              <c:layout/>
              <c:tx>
                <c:rich>
                  <a:bodyPr/>
                  <a:lstStyle/>
                  <a:p>
                    <a:pPr>
                      <a:defRPr sz="1300" b="1"/>
                    </a:pPr>
                    <a:r>
                      <a:rPr lang="en-US" altLang="en-US" dirty="0" smtClean="0"/>
                      <a:t> 21 </a:t>
                    </a:r>
                    <a:endParaRPr lang="en-US" altLang="en-US" dirty="0"/>
                  </a:p>
                </c:rich>
              </c:tx>
              <c:spPr/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30B-4C31-B6F6-3BCE9ED9DF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경쟁사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_-* #,##0_-;\-* #,##0_-;_-* "-"_-;_-@_-</c:formatCode>
                <c:ptCount val="2"/>
                <c:pt idx="0">
                  <c:v>7</c:v>
                </c:pt>
                <c:pt idx="1">
                  <c:v>24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30B-4C31-B6F6-3BCE9ED9DF94}"/>
            </c:ext>
          </c:extLst>
        </c:ser>
        <c:gapWidth val="130"/>
        <c:axId val="185602816"/>
        <c:axId val="185604352"/>
      </c:barChart>
      <c:catAx>
        <c:axId val="185602816"/>
        <c:scaling>
          <c:orientation val="minMax"/>
        </c:scaling>
        <c:axPos val="b"/>
        <c:numFmt formatCode="General" sourceLinked="0"/>
        <c:majorTickMark val="none"/>
        <c:tickLblPos val="nextTo"/>
        <c:txPr>
          <a:bodyPr/>
          <a:lstStyle/>
          <a:p>
            <a:pPr>
              <a:defRPr sz="1200"/>
            </a:pPr>
            <a:endParaRPr lang="ko-KR"/>
          </a:p>
        </c:txPr>
        <c:crossAx val="185604352"/>
        <c:crosses val="autoZero"/>
        <c:auto val="1"/>
        <c:lblAlgn val="ctr"/>
        <c:lblOffset val="100"/>
      </c:catAx>
      <c:valAx>
        <c:axId val="185604352"/>
        <c:scaling>
          <c:orientation val="minMax"/>
          <c:max val="30"/>
          <c:min val="3"/>
        </c:scaling>
        <c:delete val="1"/>
        <c:axPos val="l"/>
        <c:numFmt formatCode="_-* #,##0_-;\-* #,##0_-;_-* &quot;-&quot;_-;_-@_-" sourceLinked="1"/>
        <c:tickLblPos val="nextTo"/>
        <c:crossAx val="185602816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8.1358358735862876E-2"/>
          <c:y val="5.5729874425806583E-2"/>
          <c:w val="0.85809882966151685"/>
          <c:h val="0.66915528688674664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FFFFFF">
                <a:lumMod val="85000"/>
              </a:srgbClr>
            </a:solidFill>
            <a:ln>
              <a:solidFill>
                <a:schemeClr val="accent1"/>
              </a:solidFill>
            </a:ln>
          </c:spPr>
          <c:dPt>
            <c:idx val="1"/>
            <c:spPr>
              <a:solidFill>
                <a:srgbClr val="026B97"/>
              </a:solidFill>
              <a:ln>
                <a:solidFill>
                  <a:schemeClr val="accent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BB2E-49B1-B40B-DF7B96EE08C6}"/>
              </c:ext>
            </c:extLst>
          </c:dPt>
          <c:dLbls>
            <c:dLbl>
              <c:idx val="1"/>
              <c:spPr/>
              <c:txPr>
                <a:bodyPr/>
                <a:lstStyle/>
                <a:p>
                  <a:pPr>
                    <a:defRPr sz="1300" b="1"/>
                  </a:pPr>
                  <a:endParaRPr lang="ko-KR"/>
                </a:p>
              </c:txPr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경쟁사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0.19</c:v>
                </c:pt>
                <c:pt idx="1">
                  <c:v>0.21000000000000021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BB2E-49B1-B40B-DF7B96EE08C6}"/>
            </c:ext>
          </c:extLst>
        </c:ser>
        <c:gapWidth val="130"/>
        <c:axId val="185625600"/>
        <c:axId val="185631488"/>
      </c:barChart>
      <c:catAx>
        <c:axId val="185625600"/>
        <c:scaling>
          <c:orientation val="minMax"/>
        </c:scaling>
        <c:axPos val="b"/>
        <c:numFmt formatCode="General" sourceLinked="0"/>
        <c:majorTickMark val="none"/>
        <c:tickLblPos val="nextTo"/>
        <c:txPr>
          <a:bodyPr/>
          <a:lstStyle/>
          <a:p>
            <a:pPr>
              <a:defRPr sz="1200"/>
            </a:pPr>
            <a:endParaRPr lang="ko-KR"/>
          </a:p>
        </c:txPr>
        <c:crossAx val="185631488"/>
        <c:crosses val="autoZero"/>
        <c:auto val="1"/>
        <c:lblAlgn val="ctr"/>
        <c:lblOffset val="100"/>
      </c:catAx>
      <c:valAx>
        <c:axId val="185631488"/>
        <c:scaling>
          <c:orientation val="minMax"/>
          <c:max val="0.23"/>
          <c:min val="0.17"/>
        </c:scaling>
        <c:delete val="1"/>
        <c:axPos val="l"/>
        <c:numFmt formatCode="0%" sourceLinked="1"/>
        <c:tickLblPos val="nextTo"/>
        <c:crossAx val="185625600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7.6528299813669431E-2"/>
          <c:y val="0.10154196753966205"/>
          <c:w val="0.9151257034071506"/>
          <c:h val="0.61558545239770412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FFFFFF">
                <a:lumMod val="85000"/>
              </a:srgbClr>
            </a:solidFill>
            <a:ln>
              <a:solidFill>
                <a:schemeClr val="accent1"/>
              </a:solidFill>
            </a:ln>
          </c:spPr>
          <c:dPt>
            <c:idx val="1"/>
            <c:spPr>
              <a:solidFill>
                <a:srgbClr val="026B97"/>
              </a:solidFill>
              <a:ln>
                <a:solidFill>
                  <a:schemeClr val="accent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6ACC-40C9-AB5A-B075445EE108}"/>
              </c:ext>
            </c:extLst>
          </c:dPt>
          <c:dLbls>
            <c:dLbl>
              <c:idx val="1"/>
              <c:spPr/>
              <c:txPr>
                <a:bodyPr/>
                <a:lstStyle/>
                <a:p>
                  <a:pPr>
                    <a:defRPr sz="1300" b="1"/>
                  </a:pPr>
                  <a:endParaRPr lang="ko-KR"/>
                </a:p>
              </c:txPr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경쟁사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_-* #,##0_-;\-* #,##0_-;_-* "-"_-;_-@_-</c:formatCode>
                <c:ptCount val="2"/>
                <c:pt idx="0">
                  <c:v>229</c:v>
                </c:pt>
                <c:pt idx="1">
                  <c:v>196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6ACC-40C9-AB5A-B075445EE108}"/>
            </c:ext>
          </c:extLst>
        </c:ser>
        <c:gapWidth val="130"/>
        <c:axId val="185538048"/>
        <c:axId val="185539584"/>
      </c:barChart>
      <c:catAx>
        <c:axId val="185538048"/>
        <c:scaling>
          <c:orientation val="minMax"/>
        </c:scaling>
        <c:axPos val="b"/>
        <c:numFmt formatCode="General" sourceLinked="0"/>
        <c:majorTickMark val="none"/>
        <c:tickLblPos val="nextTo"/>
        <c:txPr>
          <a:bodyPr/>
          <a:lstStyle/>
          <a:p>
            <a:pPr>
              <a:defRPr sz="1200"/>
            </a:pPr>
            <a:endParaRPr lang="ko-KR"/>
          </a:p>
        </c:txPr>
        <c:crossAx val="185539584"/>
        <c:crosses val="autoZero"/>
        <c:auto val="1"/>
        <c:lblAlgn val="ctr"/>
        <c:lblOffset val="100"/>
      </c:catAx>
      <c:valAx>
        <c:axId val="185539584"/>
        <c:scaling>
          <c:orientation val="minMax"/>
          <c:max val="250"/>
          <c:min val="0"/>
        </c:scaling>
        <c:delete val="1"/>
        <c:axPos val="l"/>
        <c:numFmt formatCode="_-* #,##0_-;\-* #,##0_-;_-* &quot;-&quot;_-;_-@_-" sourceLinked="1"/>
        <c:tickLblPos val="nextTo"/>
        <c:crossAx val="185538048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dPt>
            <c:idx val="1"/>
            <c:spPr>
              <a:solidFill>
                <a:schemeClr val="accent1">
                  <a:lumMod val="75000"/>
                </a:schemeClr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CE69-4BC9-A7E6-5AD4EDA52300}"/>
              </c:ext>
            </c:extLst>
          </c:dPt>
          <c:dPt>
            <c:idx val="5"/>
            <c:spPr>
              <a:solidFill>
                <a:schemeClr val="accent1">
                  <a:lumMod val="75000"/>
                </a:schemeClr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69-4BC9-A7E6-5AD4EDA52300}"/>
              </c:ext>
            </c:extLst>
          </c:dPt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 i="0">
                      <a:solidFill>
                        <a:schemeClr val="tx1"/>
                      </a:solidFill>
                    </a:defRPr>
                  </a:pPr>
                  <a:endParaRPr lang="ko-KR"/>
                </a:p>
              </c:txPr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0"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outEnd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18.2Q</c:v>
                </c:pt>
                <c:pt idx="1">
                  <c:v>18.3Q</c:v>
                </c:pt>
                <c:pt idx="2">
                  <c:v>18.4Q</c:v>
                </c:pt>
                <c:pt idx="3">
                  <c:v>19.1Q</c:v>
                </c:pt>
                <c:pt idx="4">
                  <c:v>19.2Q</c:v>
                </c:pt>
                <c:pt idx="5">
                  <c:v>19.3Q</c:v>
                </c:pt>
                <c:pt idx="6">
                  <c:v>19.4Q</c:v>
                </c:pt>
                <c:pt idx="7">
                  <c:v>20.1Q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152</c:v>
                </c:pt>
                <c:pt idx="1">
                  <c:v>155</c:v>
                </c:pt>
                <c:pt idx="2">
                  <c:v>188</c:v>
                </c:pt>
                <c:pt idx="3">
                  <c:v>144</c:v>
                </c:pt>
                <c:pt idx="4">
                  <c:v>255</c:v>
                </c:pt>
                <c:pt idx="5">
                  <c:v>280</c:v>
                </c:pt>
                <c:pt idx="6">
                  <c:v>325</c:v>
                </c:pt>
                <c:pt idx="7">
                  <c:v>231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CE69-4BC9-A7E6-5AD4EDA52300}"/>
            </c:ext>
          </c:extLst>
        </c:ser>
        <c:axId val="183809920"/>
        <c:axId val="183814400"/>
      </c:barChart>
      <c:catAx>
        <c:axId val="183809920"/>
        <c:scaling>
          <c:orientation val="minMax"/>
        </c:scaling>
        <c:axPos val="b"/>
        <c:numFmt formatCode="yy&quot;/&quot;m&quot;/&quot;d;@" sourceLinked="0"/>
        <c:majorTickMark val="none"/>
        <c:tickLblPos val="nextTo"/>
        <c:txPr>
          <a:bodyPr/>
          <a:lstStyle/>
          <a:p>
            <a:pPr>
              <a:defRPr sz="900" b="0"/>
            </a:pPr>
            <a:endParaRPr lang="ko-KR"/>
          </a:p>
        </c:txPr>
        <c:crossAx val="183814400"/>
        <c:crosses val="autoZero"/>
        <c:auto val="1"/>
        <c:lblAlgn val="ctr"/>
        <c:lblOffset val="100"/>
      </c:catAx>
      <c:valAx>
        <c:axId val="183814400"/>
        <c:scaling>
          <c:orientation val="minMax"/>
        </c:scaling>
        <c:delete val="1"/>
        <c:axPos val="l"/>
        <c:numFmt formatCode="General" sourceLinked="1"/>
        <c:tickLblPos val="nextTo"/>
        <c:crossAx val="18380992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</c:chart>
  <c:txPr>
    <a:bodyPr/>
    <a:lstStyle/>
    <a:p>
      <a:pPr>
        <a:defRPr sz="1000"/>
      </a:pPr>
      <a:endParaRPr lang="ko-KR"/>
    </a:p>
  </c:txPr>
  <c:externalData r:id="rId1"/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</c:v>
                </c:pt>
              </c:strCache>
            </c:strRef>
          </c:tx>
          <c:spPr>
            <a:solidFill>
              <a:schemeClr val="tx2"/>
            </a:solidFill>
            <a:ln>
              <a:solidFill>
                <a:schemeClr val="accent1"/>
              </a:solidFill>
            </a:ln>
            <a:effectLst/>
          </c:spPr>
          <c:dLbls>
            <c:delete val="1"/>
          </c:dLbls>
          <c:cat>
            <c:strRef>
              <c:f>Sheet1!$A$2:$A$4</c:f>
              <c:strCache>
                <c:ptCount val="3"/>
                <c:pt idx="0">
                  <c:v>'16</c:v>
                </c:pt>
                <c:pt idx="1">
                  <c:v>'17</c:v>
                </c:pt>
                <c:pt idx="2">
                  <c:v>'18</c:v>
                </c:pt>
              </c:strCache>
            </c:strRef>
          </c:cat>
          <c:val>
            <c:numRef>
              <c:f>Sheet1!$B$2:$B$4</c:f>
              <c:numCache>
                <c:formatCode>_-* #,##0_-;\-* #,##0_-;_-* "-"_-;_-@_-</c:formatCode>
                <c:ptCount val="3"/>
                <c:pt idx="0">
                  <c:v>920</c:v>
                </c:pt>
                <c:pt idx="1">
                  <c:v>4676</c:v>
                </c:pt>
                <c:pt idx="2">
                  <c:v>8179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F10E-4E6B-9D3F-B9D2B650D526}"/>
            </c:ext>
          </c:extLst>
        </c:ser>
        <c:dLbls>
          <c:showVal val="1"/>
        </c:dLbls>
        <c:gapWidth val="70"/>
        <c:overlap val="-27"/>
        <c:axId val="183852032"/>
        <c:axId val="183862016"/>
      </c:barChart>
      <c:catAx>
        <c:axId val="183852032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3862016"/>
        <c:crosses val="autoZero"/>
        <c:auto val="1"/>
        <c:lblAlgn val="ctr"/>
        <c:lblOffset val="100"/>
      </c:catAx>
      <c:valAx>
        <c:axId val="183862016"/>
        <c:scaling>
          <c:orientation val="minMax"/>
        </c:scaling>
        <c:delete val="1"/>
        <c:axPos val="l"/>
        <c:numFmt formatCode="_-* #,##0_-;\-* #,##0_-;_-* &quot;-&quot;_-;_-@_-" sourceLinked="1"/>
        <c:majorTickMark val="none"/>
        <c:tickLblPos val="nextTo"/>
        <c:crossAx val="183852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1270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2700">
                <a:solidFill>
                  <a:srgbClr val="C0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Sheet1!$A$2:$A$40</c:f>
              <c:numCache>
                <c:formatCode>[$-409]mmm"-"yy;@</c:formatCode>
                <c:ptCount val="39"/>
                <c:pt idx="0">
                  <c:v>42736</c:v>
                </c:pt>
                <c:pt idx="1">
                  <c:v>42767</c:v>
                </c:pt>
                <c:pt idx="2">
                  <c:v>42795</c:v>
                </c:pt>
                <c:pt idx="3">
                  <c:v>42826</c:v>
                </c:pt>
                <c:pt idx="4">
                  <c:v>42856</c:v>
                </c:pt>
                <c:pt idx="5">
                  <c:v>42887</c:v>
                </c:pt>
                <c:pt idx="6">
                  <c:v>42917</c:v>
                </c:pt>
                <c:pt idx="7">
                  <c:v>42948</c:v>
                </c:pt>
                <c:pt idx="8">
                  <c:v>42979</c:v>
                </c:pt>
                <c:pt idx="9">
                  <c:v>43009</c:v>
                </c:pt>
                <c:pt idx="10">
                  <c:v>43040</c:v>
                </c:pt>
                <c:pt idx="11">
                  <c:v>43070</c:v>
                </c:pt>
                <c:pt idx="12">
                  <c:v>43101</c:v>
                </c:pt>
                <c:pt idx="13">
                  <c:v>43132</c:v>
                </c:pt>
                <c:pt idx="14">
                  <c:v>43160</c:v>
                </c:pt>
                <c:pt idx="15">
                  <c:v>43191</c:v>
                </c:pt>
                <c:pt idx="16">
                  <c:v>43221</c:v>
                </c:pt>
                <c:pt idx="17">
                  <c:v>43252</c:v>
                </c:pt>
                <c:pt idx="18">
                  <c:v>43282</c:v>
                </c:pt>
                <c:pt idx="19">
                  <c:v>43313</c:v>
                </c:pt>
                <c:pt idx="20">
                  <c:v>43344</c:v>
                </c:pt>
                <c:pt idx="21">
                  <c:v>43374</c:v>
                </c:pt>
                <c:pt idx="22">
                  <c:v>43405</c:v>
                </c:pt>
                <c:pt idx="23">
                  <c:v>43435</c:v>
                </c:pt>
                <c:pt idx="24">
                  <c:v>43466</c:v>
                </c:pt>
                <c:pt idx="25">
                  <c:v>43497</c:v>
                </c:pt>
                <c:pt idx="26">
                  <c:v>43525</c:v>
                </c:pt>
                <c:pt idx="27">
                  <c:v>43556</c:v>
                </c:pt>
                <c:pt idx="28">
                  <c:v>43586</c:v>
                </c:pt>
                <c:pt idx="29">
                  <c:v>43617</c:v>
                </c:pt>
                <c:pt idx="30">
                  <c:v>43647</c:v>
                </c:pt>
                <c:pt idx="31">
                  <c:v>43678</c:v>
                </c:pt>
                <c:pt idx="32">
                  <c:v>43709</c:v>
                </c:pt>
                <c:pt idx="33">
                  <c:v>43739</c:v>
                </c:pt>
                <c:pt idx="34">
                  <c:v>43770</c:v>
                </c:pt>
                <c:pt idx="35">
                  <c:v>43800</c:v>
                </c:pt>
                <c:pt idx="36">
                  <c:v>43831</c:v>
                </c:pt>
                <c:pt idx="37">
                  <c:v>43862</c:v>
                </c:pt>
                <c:pt idx="38">
                  <c:v>43891</c:v>
                </c:pt>
              </c:numCache>
            </c:numRef>
          </c:cat>
          <c:val>
            <c:numRef>
              <c:f>Sheet1!$B$2:$B$40</c:f>
              <c:numCache>
                <c:formatCode>_-* #,##0_-;\-* #,##0_-;_-* "-"??_-;_-@_-</c:formatCode>
                <c:ptCount val="39"/>
                <c:pt idx="0">
                  <c:v>17.867899999999999</c:v>
                </c:pt>
                <c:pt idx="1">
                  <c:v>18.27559999999999</c:v>
                </c:pt>
                <c:pt idx="2">
                  <c:v>17.658899999999999</c:v>
                </c:pt>
                <c:pt idx="3">
                  <c:v>18.347300000000001</c:v>
                </c:pt>
                <c:pt idx="4">
                  <c:v>27.762899999999984</c:v>
                </c:pt>
                <c:pt idx="5">
                  <c:v>20.189699999999984</c:v>
                </c:pt>
                <c:pt idx="6">
                  <c:v>19.892199999999988</c:v>
                </c:pt>
                <c:pt idx="7">
                  <c:v>31.150200000000005</c:v>
                </c:pt>
                <c:pt idx="8">
                  <c:v>22.414000000000001</c:v>
                </c:pt>
                <c:pt idx="9">
                  <c:v>23.431699999999992</c:v>
                </c:pt>
                <c:pt idx="10">
                  <c:v>29.302</c:v>
                </c:pt>
                <c:pt idx="11">
                  <c:v>30.285099999999989</c:v>
                </c:pt>
                <c:pt idx="12">
                  <c:v>40.581200000000003</c:v>
                </c:pt>
                <c:pt idx="13">
                  <c:v>43.767800000000001</c:v>
                </c:pt>
                <c:pt idx="14">
                  <c:v>47.4236</c:v>
                </c:pt>
                <c:pt idx="15">
                  <c:v>51.852800000000002</c:v>
                </c:pt>
                <c:pt idx="16">
                  <c:v>55.629500000000014</c:v>
                </c:pt>
                <c:pt idx="17">
                  <c:v>62.755100000000013</c:v>
                </c:pt>
                <c:pt idx="18">
                  <c:v>62.88</c:v>
                </c:pt>
                <c:pt idx="19">
                  <c:v>69.337199999999996</c:v>
                </c:pt>
                <c:pt idx="20">
                  <c:v>55.061800000000005</c:v>
                </c:pt>
                <c:pt idx="21">
                  <c:v>47.036700000000003</c:v>
                </c:pt>
                <c:pt idx="22">
                  <c:v>39.926200000000001</c:v>
                </c:pt>
                <c:pt idx="23">
                  <c:v>41.027500000000003</c:v>
                </c:pt>
                <c:pt idx="24">
                  <c:v>44.934800000000003</c:v>
                </c:pt>
                <c:pt idx="25">
                  <c:v>39.408900000000003</c:v>
                </c:pt>
                <c:pt idx="26">
                  <c:v>39.760800000000003</c:v>
                </c:pt>
                <c:pt idx="27">
                  <c:v>38.112000000000002</c:v>
                </c:pt>
                <c:pt idx="28">
                  <c:v>36.0595</c:v>
                </c:pt>
                <c:pt idx="29">
                  <c:v>26.911799999999992</c:v>
                </c:pt>
                <c:pt idx="30">
                  <c:v>38.282600000000002</c:v>
                </c:pt>
                <c:pt idx="31">
                  <c:v>43.234300000000012</c:v>
                </c:pt>
                <c:pt idx="32">
                  <c:v>44.9056</c:v>
                </c:pt>
                <c:pt idx="33">
                  <c:v>50.359099999999998</c:v>
                </c:pt>
                <c:pt idx="34">
                  <c:v>53.084899999999998</c:v>
                </c:pt>
                <c:pt idx="35" formatCode="#,##0_ ">
                  <c:v>49</c:v>
                </c:pt>
                <c:pt idx="36" formatCode="#,##0_ ">
                  <c:v>34</c:v>
                </c:pt>
                <c:pt idx="37" formatCode="#,##0_ ">
                  <c:v>30</c:v>
                </c:pt>
                <c:pt idx="38" formatCode="#,##0_ ">
                  <c:v>31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33A-4FBE-AE6C-4C316D5E43E1}"/>
            </c:ext>
          </c:extLst>
        </c:ser>
        <c:marker val="1"/>
        <c:axId val="186094336"/>
        <c:axId val="186095872"/>
      </c:lineChart>
      <c:dateAx>
        <c:axId val="186094336"/>
        <c:scaling>
          <c:orientation val="minMax"/>
        </c:scaling>
        <c:axPos val="b"/>
        <c:numFmt formatCode="[$-409]mmm&quot;-&quot;yy;@" sourceLinked="1"/>
        <c:maj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6095872"/>
        <c:crosses val="autoZero"/>
        <c:auto val="1"/>
        <c:lblOffset val="100"/>
        <c:baseTimeUnit val="months"/>
      </c:dateAx>
      <c:valAx>
        <c:axId val="186095872"/>
        <c:scaling>
          <c:orientation val="minMax"/>
        </c:scaling>
        <c:delete val="1"/>
        <c:axPos val="l"/>
        <c:numFmt formatCode="_-* #,##0_-;\-* #,##0_-;_-* &quot;-&quot;??_-;_-@_-" sourceLinked="1"/>
        <c:majorTickMark val="none"/>
        <c:tickLblPos val="nextTo"/>
        <c:crossAx val="186094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Sheet1!$A$2:$A$40</c:f>
              <c:numCache>
                <c:formatCode>[$-409]mmm"-"yy;@</c:formatCode>
                <c:ptCount val="39"/>
                <c:pt idx="0">
                  <c:v>42736</c:v>
                </c:pt>
                <c:pt idx="1">
                  <c:v>42767</c:v>
                </c:pt>
                <c:pt idx="2">
                  <c:v>42795</c:v>
                </c:pt>
                <c:pt idx="3">
                  <c:v>42826</c:v>
                </c:pt>
                <c:pt idx="4">
                  <c:v>42856</c:v>
                </c:pt>
                <c:pt idx="5">
                  <c:v>42887</c:v>
                </c:pt>
                <c:pt idx="6">
                  <c:v>42917</c:v>
                </c:pt>
                <c:pt idx="7">
                  <c:v>42948</c:v>
                </c:pt>
                <c:pt idx="8">
                  <c:v>42979</c:v>
                </c:pt>
                <c:pt idx="9">
                  <c:v>43009</c:v>
                </c:pt>
                <c:pt idx="10">
                  <c:v>43040</c:v>
                </c:pt>
                <c:pt idx="11">
                  <c:v>43070</c:v>
                </c:pt>
                <c:pt idx="12">
                  <c:v>43101</c:v>
                </c:pt>
                <c:pt idx="13">
                  <c:v>43132</c:v>
                </c:pt>
                <c:pt idx="14">
                  <c:v>43160</c:v>
                </c:pt>
                <c:pt idx="15">
                  <c:v>43191</c:v>
                </c:pt>
                <c:pt idx="16">
                  <c:v>43221</c:v>
                </c:pt>
                <c:pt idx="17">
                  <c:v>43252</c:v>
                </c:pt>
                <c:pt idx="18">
                  <c:v>43282</c:v>
                </c:pt>
                <c:pt idx="19">
                  <c:v>43313</c:v>
                </c:pt>
                <c:pt idx="20">
                  <c:v>43344</c:v>
                </c:pt>
                <c:pt idx="21">
                  <c:v>43374</c:v>
                </c:pt>
                <c:pt idx="22">
                  <c:v>43405</c:v>
                </c:pt>
                <c:pt idx="23">
                  <c:v>43435</c:v>
                </c:pt>
                <c:pt idx="24">
                  <c:v>43466</c:v>
                </c:pt>
                <c:pt idx="25">
                  <c:v>43497</c:v>
                </c:pt>
                <c:pt idx="26">
                  <c:v>43525</c:v>
                </c:pt>
                <c:pt idx="27">
                  <c:v>43556</c:v>
                </c:pt>
                <c:pt idx="28">
                  <c:v>43586</c:v>
                </c:pt>
                <c:pt idx="29">
                  <c:v>43617</c:v>
                </c:pt>
                <c:pt idx="30">
                  <c:v>43647</c:v>
                </c:pt>
                <c:pt idx="31">
                  <c:v>43678</c:v>
                </c:pt>
                <c:pt idx="32">
                  <c:v>43709</c:v>
                </c:pt>
                <c:pt idx="33">
                  <c:v>43739</c:v>
                </c:pt>
                <c:pt idx="34">
                  <c:v>43770</c:v>
                </c:pt>
                <c:pt idx="35">
                  <c:v>43800</c:v>
                </c:pt>
                <c:pt idx="36">
                  <c:v>43831</c:v>
                </c:pt>
                <c:pt idx="37">
                  <c:v>43862</c:v>
                </c:pt>
                <c:pt idx="38">
                  <c:v>43891</c:v>
                </c:pt>
              </c:numCache>
            </c:numRef>
          </c:cat>
          <c:val>
            <c:numRef>
              <c:f>Sheet1!$B$2:$B$40</c:f>
              <c:numCache>
                <c:formatCode>_-* #,##0_-;\-* #,##0_-;_-* "-"_-;_-@_-</c:formatCode>
                <c:ptCount val="39"/>
                <c:pt idx="0">
                  <c:v>2.6404555999999997</c:v>
                </c:pt>
                <c:pt idx="1">
                  <c:v>3.2283307000000012</c:v>
                </c:pt>
                <c:pt idx="2">
                  <c:v>3.8260392999999997</c:v>
                </c:pt>
                <c:pt idx="3">
                  <c:v>4.3</c:v>
                </c:pt>
                <c:pt idx="4">
                  <c:v>5.2918247000000003</c:v>
                </c:pt>
                <c:pt idx="5">
                  <c:v>4.3305683000000004</c:v>
                </c:pt>
                <c:pt idx="6">
                  <c:v>5.5756831000000018</c:v>
                </c:pt>
                <c:pt idx="7">
                  <c:v>4.6021860999999964</c:v>
                </c:pt>
                <c:pt idx="8">
                  <c:v>3.7246076000000001</c:v>
                </c:pt>
                <c:pt idx="9">
                  <c:v>4.7011640000000003</c:v>
                </c:pt>
                <c:pt idx="10">
                  <c:v>5.7370705599999976</c:v>
                </c:pt>
                <c:pt idx="11">
                  <c:v>5.8016254900000019</c:v>
                </c:pt>
                <c:pt idx="12">
                  <c:v>7.0052501200000004</c:v>
                </c:pt>
                <c:pt idx="13">
                  <c:v>7.8132945899999982</c:v>
                </c:pt>
                <c:pt idx="14">
                  <c:v>9.9709427000000002</c:v>
                </c:pt>
                <c:pt idx="15">
                  <c:v>9.3528046200000041</c:v>
                </c:pt>
                <c:pt idx="16">
                  <c:v>9.6970359899999998</c:v>
                </c:pt>
                <c:pt idx="17">
                  <c:v>10.418225</c:v>
                </c:pt>
                <c:pt idx="18">
                  <c:v>10.582707580000005</c:v>
                </c:pt>
                <c:pt idx="19">
                  <c:v>10.34962389</c:v>
                </c:pt>
                <c:pt idx="20">
                  <c:v>7.3924547399999962</c:v>
                </c:pt>
                <c:pt idx="21">
                  <c:v>9.234639640000001</c:v>
                </c:pt>
                <c:pt idx="22">
                  <c:v>9.3879716700000007</c:v>
                </c:pt>
                <c:pt idx="23">
                  <c:v>7.795447079999998</c:v>
                </c:pt>
                <c:pt idx="24">
                  <c:v>10.458061349999999</c:v>
                </c:pt>
                <c:pt idx="25">
                  <c:v>8.0311282799999972</c:v>
                </c:pt>
                <c:pt idx="26">
                  <c:v>9.4292051200000024</c:v>
                </c:pt>
                <c:pt idx="27">
                  <c:v>8.8246655700000005</c:v>
                </c:pt>
                <c:pt idx="28">
                  <c:v>8.4200570400000014</c:v>
                </c:pt>
                <c:pt idx="29">
                  <c:v>5.4632294900000025</c:v>
                </c:pt>
                <c:pt idx="30">
                  <c:v>6.2884406000000004</c:v>
                </c:pt>
                <c:pt idx="31">
                  <c:v>7.6909273099999975</c:v>
                </c:pt>
                <c:pt idx="32">
                  <c:v>7.076076180000002</c:v>
                </c:pt>
                <c:pt idx="33">
                  <c:v>9.1937368900000038</c:v>
                </c:pt>
                <c:pt idx="34">
                  <c:v>8.300532300000004</c:v>
                </c:pt>
                <c:pt idx="35">
                  <c:v>7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CD6-4F0B-BEF7-242A555EDE8E}"/>
            </c:ext>
          </c:extLst>
        </c:ser>
        <c:marker val="1"/>
        <c:axId val="186378112"/>
        <c:axId val="186379648"/>
      </c:lineChart>
      <c:dateAx>
        <c:axId val="186378112"/>
        <c:scaling>
          <c:orientation val="minMax"/>
        </c:scaling>
        <c:axPos val="b"/>
        <c:numFmt formatCode="[$-409]mmm&quot;-&quot;yy;@" sourceLinked="1"/>
        <c:majorTickMark val="none"/>
        <c:tickLblPos val="nextTo"/>
        <c:spPr>
          <a:noFill/>
          <a:ln w="9525" cap="flat" cmpd="sng" algn="ctr">
            <a:solidFill>
              <a:schemeClr val="tx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6379648"/>
        <c:crosses val="autoZero"/>
        <c:auto val="1"/>
        <c:lblOffset val="100"/>
        <c:baseTimeUnit val="months"/>
      </c:dateAx>
      <c:valAx>
        <c:axId val="186379648"/>
        <c:scaling>
          <c:orientation val="minMax"/>
        </c:scaling>
        <c:delete val="1"/>
        <c:axPos val="l"/>
        <c:numFmt formatCode="_-* #,##0_-;\-* #,##0_-;_-* &quot;-&quot;_-;_-@_-" sourceLinked="1"/>
        <c:majorTickMark val="none"/>
        <c:tickLblPos val="nextTo"/>
        <c:crossAx val="186378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1270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2700">
                <a:solidFill>
                  <a:srgbClr val="C0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Sheet1!$A$2:$A$36</c:f>
              <c:numCache>
                <c:formatCode>[$-409]mmm"-"yy;@</c:formatCode>
                <c:ptCount val="35"/>
                <c:pt idx="0">
                  <c:v>42856</c:v>
                </c:pt>
                <c:pt idx="1">
                  <c:v>42887</c:v>
                </c:pt>
                <c:pt idx="2">
                  <c:v>42917</c:v>
                </c:pt>
                <c:pt idx="3">
                  <c:v>42948</c:v>
                </c:pt>
                <c:pt idx="4">
                  <c:v>42979</c:v>
                </c:pt>
                <c:pt idx="5">
                  <c:v>43009</c:v>
                </c:pt>
                <c:pt idx="6">
                  <c:v>43040</c:v>
                </c:pt>
                <c:pt idx="7">
                  <c:v>43070</c:v>
                </c:pt>
                <c:pt idx="8">
                  <c:v>43101</c:v>
                </c:pt>
                <c:pt idx="9">
                  <c:v>43132</c:v>
                </c:pt>
                <c:pt idx="10">
                  <c:v>43160</c:v>
                </c:pt>
                <c:pt idx="11">
                  <c:v>43191</c:v>
                </c:pt>
                <c:pt idx="12">
                  <c:v>43221</c:v>
                </c:pt>
                <c:pt idx="13">
                  <c:v>43252</c:v>
                </c:pt>
                <c:pt idx="14">
                  <c:v>43282</c:v>
                </c:pt>
                <c:pt idx="15">
                  <c:v>43313</c:v>
                </c:pt>
                <c:pt idx="16">
                  <c:v>43344</c:v>
                </c:pt>
                <c:pt idx="17">
                  <c:v>43374</c:v>
                </c:pt>
                <c:pt idx="18">
                  <c:v>43405</c:v>
                </c:pt>
                <c:pt idx="19">
                  <c:v>43435</c:v>
                </c:pt>
                <c:pt idx="20">
                  <c:v>43466</c:v>
                </c:pt>
                <c:pt idx="21">
                  <c:v>43497</c:v>
                </c:pt>
                <c:pt idx="22">
                  <c:v>43525</c:v>
                </c:pt>
                <c:pt idx="23">
                  <c:v>43556</c:v>
                </c:pt>
                <c:pt idx="24">
                  <c:v>43586</c:v>
                </c:pt>
                <c:pt idx="25">
                  <c:v>43617</c:v>
                </c:pt>
                <c:pt idx="26">
                  <c:v>43647</c:v>
                </c:pt>
                <c:pt idx="27">
                  <c:v>43678</c:v>
                </c:pt>
                <c:pt idx="28">
                  <c:v>43709</c:v>
                </c:pt>
                <c:pt idx="29">
                  <c:v>43739</c:v>
                </c:pt>
                <c:pt idx="30">
                  <c:v>43770</c:v>
                </c:pt>
                <c:pt idx="31">
                  <c:v>43800</c:v>
                </c:pt>
                <c:pt idx="32">
                  <c:v>43831</c:v>
                </c:pt>
                <c:pt idx="33">
                  <c:v>43862</c:v>
                </c:pt>
                <c:pt idx="34">
                  <c:v>43891</c:v>
                </c:pt>
              </c:numCache>
            </c:numRef>
          </c:cat>
          <c:val>
            <c:numRef>
              <c:f>Sheet1!$B$2:$B$36</c:f>
              <c:numCache>
                <c:formatCode>0%</c:formatCode>
                <c:ptCount val="35"/>
                <c:pt idx="0">
                  <c:v>0.45</c:v>
                </c:pt>
                <c:pt idx="1">
                  <c:v>0.5</c:v>
                </c:pt>
                <c:pt idx="2">
                  <c:v>0.55000000000000004</c:v>
                </c:pt>
                <c:pt idx="3">
                  <c:v>0.49823865875356749</c:v>
                </c:pt>
                <c:pt idx="4">
                  <c:v>0.57070787050652694</c:v>
                </c:pt>
                <c:pt idx="5">
                  <c:v>0.59674331517051338</c:v>
                </c:pt>
                <c:pt idx="6">
                  <c:v>0.53188415649750165</c:v>
                </c:pt>
                <c:pt idx="7">
                  <c:v>0.56252940699278031</c:v>
                </c:pt>
                <c:pt idx="8">
                  <c:v>0.53557988178779359</c:v>
                </c:pt>
                <c:pt idx="9">
                  <c:v>0.56545903764769223</c:v>
                </c:pt>
                <c:pt idx="10">
                  <c:v>0.59875890962007261</c:v>
                </c:pt>
                <c:pt idx="11">
                  <c:v>0.6390266173583532</c:v>
                </c:pt>
                <c:pt idx="12">
                  <c:v>0.62611016921896456</c:v>
                </c:pt>
                <c:pt idx="13">
                  <c:v>0.67805211784387176</c:v>
                </c:pt>
                <c:pt idx="14">
                  <c:v>0.65430207204797763</c:v>
                </c:pt>
                <c:pt idx="15">
                  <c:v>0.66375237992599778</c:v>
                </c:pt>
                <c:pt idx="16">
                  <c:v>0.79248040997185432</c:v>
                </c:pt>
                <c:pt idx="17">
                  <c:v>0.77688225220286122</c:v>
                </c:pt>
                <c:pt idx="18">
                  <c:v>0.8434538795223171</c:v>
                </c:pt>
                <c:pt idx="19">
                  <c:v>0.73536210944554792</c:v>
                </c:pt>
                <c:pt idx="20">
                  <c:v>0.69418934713641678</c:v>
                </c:pt>
                <c:pt idx="21">
                  <c:v>0.73672333497406384</c:v>
                </c:pt>
                <c:pt idx="22">
                  <c:v>0.76048958944943768</c:v>
                </c:pt>
                <c:pt idx="23">
                  <c:v>0.77675485215470053</c:v>
                </c:pt>
                <c:pt idx="24">
                  <c:v>0.82532641446267163</c:v>
                </c:pt>
                <c:pt idx="25">
                  <c:v>0.89981296451247728</c:v>
                </c:pt>
                <c:pt idx="26">
                  <c:v>0.82845235732713407</c:v>
                </c:pt>
                <c:pt idx="27">
                  <c:v>0.74095858513802715</c:v>
                </c:pt>
                <c:pt idx="28">
                  <c:v>0.73796831637372851</c:v>
                </c:pt>
                <c:pt idx="29">
                  <c:v>0.76527399520179862</c:v>
                </c:pt>
                <c:pt idx="30">
                  <c:v>0.79228885289223283</c:v>
                </c:pt>
                <c:pt idx="31">
                  <c:v>0.8</c:v>
                </c:pt>
                <c:pt idx="32">
                  <c:v>0.94000000000000017</c:v>
                </c:pt>
                <c:pt idx="33">
                  <c:v>0.93</c:v>
                </c:pt>
                <c:pt idx="34">
                  <c:v>0.93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37A-4D9D-B9D8-A2A0C18A45BF}"/>
            </c:ext>
          </c:extLst>
        </c:ser>
        <c:marker val="1"/>
        <c:axId val="186666368"/>
        <c:axId val="186565760"/>
      </c:lineChart>
      <c:dateAx>
        <c:axId val="186666368"/>
        <c:scaling>
          <c:orientation val="minMax"/>
        </c:scaling>
        <c:axPos val="b"/>
        <c:numFmt formatCode="[$-409]mmm&quot;-&quot;yy;@" sourceLinked="1"/>
        <c:maj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6565760"/>
        <c:crosses val="autoZero"/>
        <c:auto val="1"/>
        <c:lblOffset val="100"/>
        <c:baseTimeUnit val="months"/>
      </c:dateAx>
      <c:valAx>
        <c:axId val="186565760"/>
        <c:scaling>
          <c:orientation val="minMax"/>
        </c:scaling>
        <c:delete val="1"/>
        <c:axPos val="l"/>
        <c:numFmt formatCode="0%" sourceLinked="1"/>
        <c:majorTickMark val="none"/>
        <c:tickLblPos val="nextTo"/>
        <c:crossAx val="186666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계열 2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Sheet1!$A$2:$A$36</c:f>
              <c:numCache>
                <c:formatCode>[$-409]mmm"-"yy;@</c:formatCode>
                <c:ptCount val="35"/>
                <c:pt idx="0">
                  <c:v>42856</c:v>
                </c:pt>
                <c:pt idx="1">
                  <c:v>42887</c:v>
                </c:pt>
                <c:pt idx="2">
                  <c:v>42917</c:v>
                </c:pt>
                <c:pt idx="3">
                  <c:v>42948</c:v>
                </c:pt>
                <c:pt idx="4">
                  <c:v>42979</c:v>
                </c:pt>
                <c:pt idx="5">
                  <c:v>43009</c:v>
                </c:pt>
                <c:pt idx="6">
                  <c:v>43040</c:v>
                </c:pt>
                <c:pt idx="7">
                  <c:v>43070</c:v>
                </c:pt>
                <c:pt idx="8">
                  <c:v>43101</c:v>
                </c:pt>
                <c:pt idx="9">
                  <c:v>43132</c:v>
                </c:pt>
                <c:pt idx="10">
                  <c:v>43160</c:v>
                </c:pt>
                <c:pt idx="11">
                  <c:v>43191</c:v>
                </c:pt>
                <c:pt idx="12">
                  <c:v>43221</c:v>
                </c:pt>
                <c:pt idx="13">
                  <c:v>43252</c:v>
                </c:pt>
                <c:pt idx="14">
                  <c:v>43282</c:v>
                </c:pt>
                <c:pt idx="15">
                  <c:v>43313</c:v>
                </c:pt>
                <c:pt idx="16">
                  <c:v>43344</c:v>
                </c:pt>
                <c:pt idx="17">
                  <c:v>43374</c:v>
                </c:pt>
                <c:pt idx="18">
                  <c:v>43405</c:v>
                </c:pt>
                <c:pt idx="19">
                  <c:v>43435</c:v>
                </c:pt>
                <c:pt idx="20">
                  <c:v>43466</c:v>
                </c:pt>
                <c:pt idx="21">
                  <c:v>43497</c:v>
                </c:pt>
                <c:pt idx="22">
                  <c:v>43525</c:v>
                </c:pt>
                <c:pt idx="23">
                  <c:v>43556</c:v>
                </c:pt>
                <c:pt idx="24">
                  <c:v>43586</c:v>
                </c:pt>
                <c:pt idx="25">
                  <c:v>43617</c:v>
                </c:pt>
                <c:pt idx="26">
                  <c:v>43647</c:v>
                </c:pt>
                <c:pt idx="27">
                  <c:v>43678</c:v>
                </c:pt>
                <c:pt idx="28">
                  <c:v>43709</c:v>
                </c:pt>
                <c:pt idx="29">
                  <c:v>43739</c:v>
                </c:pt>
                <c:pt idx="30">
                  <c:v>43770</c:v>
                </c:pt>
                <c:pt idx="31">
                  <c:v>43800</c:v>
                </c:pt>
                <c:pt idx="32">
                  <c:v>43831</c:v>
                </c:pt>
                <c:pt idx="33">
                  <c:v>43862</c:v>
                </c:pt>
                <c:pt idx="34">
                  <c:v>43891</c:v>
                </c:pt>
              </c:numCache>
            </c:numRef>
          </c:cat>
          <c:val>
            <c:numRef>
              <c:f>Sheet1!$B$2:$B$36</c:f>
              <c:numCache>
                <c:formatCode>0%</c:formatCode>
                <c:ptCount val="35"/>
                <c:pt idx="0">
                  <c:v>2.5700000000000001E-2</c:v>
                </c:pt>
                <c:pt idx="1">
                  <c:v>2.3699999999999999E-2</c:v>
                </c:pt>
                <c:pt idx="2">
                  <c:v>2.5700000000000001E-2</c:v>
                </c:pt>
                <c:pt idx="3">
                  <c:v>2.2200000000000008E-2</c:v>
                </c:pt>
                <c:pt idx="4">
                  <c:v>1.8200000000000008E-2</c:v>
                </c:pt>
                <c:pt idx="5">
                  <c:v>2.6200000000000008E-2</c:v>
                </c:pt>
                <c:pt idx="6">
                  <c:v>3.4200000000000001E-2</c:v>
                </c:pt>
                <c:pt idx="7">
                  <c:v>3.3700000000000001E-2</c:v>
                </c:pt>
                <c:pt idx="8">
                  <c:v>2.9800000000000007E-2</c:v>
                </c:pt>
                <c:pt idx="9">
                  <c:v>3.09E-2</c:v>
                </c:pt>
                <c:pt idx="10">
                  <c:v>3.5500000000000004E-2</c:v>
                </c:pt>
                <c:pt idx="11">
                  <c:v>3.4099999999999998E-2</c:v>
                </c:pt>
                <c:pt idx="12">
                  <c:v>3.570000000000001E-2</c:v>
                </c:pt>
                <c:pt idx="13">
                  <c:v>4.5699999999999998E-2</c:v>
                </c:pt>
                <c:pt idx="14">
                  <c:v>4.0800000000000003E-2</c:v>
                </c:pt>
                <c:pt idx="15">
                  <c:v>3.9300000000000002E-2</c:v>
                </c:pt>
                <c:pt idx="16">
                  <c:v>3.5099999999999999E-2</c:v>
                </c:pt>
                <c:pt idx="17">
                  <c:v>3.85E-2</c:v>
                </c:pt>
                <c:pt idx="18">
                  <c:v>4.2400000000000014E-2</c:v>
                </c:pt>
                <c:pt idx="19">
                  <c:v>4.6899999999999997E-2</c:v>
                </c:pt>
                <c:pt idx="20">
                  <c:v>4.4299999999999999E-2</c:v>
                </c:pt>
                <c:pt idx="21">
                  <c:v>4.1599999999999998E-2</c:v>
                </c:pt>
                <c:pt idx="22">
                  <c:v>4.6100000000000002E-2</c:v>
                </c:pt>
                <c:pt idx="23">
                  <c:v>4.4500000000000019E-2</c:v>
                </c:pt>
                <c:pt idx="24">
                  <c:v>4.5800000000000014E-2</c:v>
                </c:pt>
                <c:pt idx="25">
                  <c:v>4.2400000000000014E-2</c:v>
                </c:pt>
                <c:pt idx="26">
                  <c:v>3.7200000000000011E-2</c:v>
                </c:pt>
                <c:pt idx="27">
                  <c:v>3.3300000000000003E-2</c:v>
                </c:pt>
                <c:pt idx="28">
                  <c:v>3.0579324699352449E-2</c:v>
                </c:pt>
                <c:pt idx="29">
                  <c:v>3.7009903980046652E-2</c:v>
                </c:pt>
                <c:pt idx="30">
                  <c:v>3.4199280189738002E-2</c:v>
                </c:pt>
                <c:pt idx="31">
                  <c:v>3.1300000000000001E-2</c:v>
                </c:pt>
                <c:pt idx="32">
                  <c:v>2.7700000000000002E-2</c:v>
                </c:pt>
                <c:pt idx="33">
                  <c:v>3.5600000000000014E-2</c:v>
                </c:pt>
                <c:pt idx="34">
                  <c:v>3.7200000000000011E-2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85C-4D8C-AA60-F7D64C925758}"/>
            </c:ext>
          </c:extLst>
        </c:ser>
        <c:marker val="1"/>
        <c:axId val="186700544"/>
        <c:axId val="186702080"/>
      </c:lineChart>
      <c:dateAx>
        <c:axId val="186700544"/>
        <c:scaling>
          <c:orientation val="minMax"/>
        </c:scaling>
        <c:axPos val="b"/>
        <c:numFmt formatCode="[$-409]mmm&quot;-&quot;yy;@" sourceLinked="1"/>
        <c:majorTickMark val="none"/>
        <c:tickLblPos val="nextTo"/>
        <c:spPr>
          <a:noFill/>
          <a:ln w="9525" cap="flat" cmpd="sng" algn="ctr">
            <a:solidFill>
              <a:schemeClr val="tx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6702080"/>
        <c:crosses val="autoZero"/>
        <c:auto val="1"/>
        <c:lblOffset val="100"/>
        <c:baseTimeUnit val="months"/>
      </c:dateAx>
      <c:valAx>
        <c:axId val="186702080"/>
        <c:scaling>
          <c:orientation val="minMax"/>
        </c:scaling>
        <c:delete val="1"/>
        <c:axPos val="l"/>
        <c:numFmt formatCode="0%" sourceLinked="1"/>
        <c:majorTickMark val="none"/>
        <c:tickLblPos val="nextTo"/>
        <c:crossAx val="186700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1270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2700">
                <a:solidFill>
                  <a:srgbClr val="C0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Sheet1!$A$2:$A$25</c:f>
              <c:numCache>
                <c:formatCode>yyyy\-mm</c:formatCode>
                <c:ptCount val="2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</c:numCache>
            </c:numRef>
          </c:cat>
          <c:val>
            <c:numRef>
              <c:f>Sheet1!$B$2:$B$25</c:f>
              <c:numCache>
                <c:formatCode>0%</c:formatCode>
                <c:ptCount val="24"/>
                <c:pt idx="0">
                  <c:v>0.13266610402388293</c:v>
                </c:pt>
                <c:pt idx="1">
                  <c:v>0.13816400416092084</c:v>
                </c:pt>
                <c:pt idx="2">
                  <c:v>0.14174624911560091</c:v>
                </c:pt>
                <c:pt idx="3">
                  <c:v>0.13518391602103116</c:v>
                </c:pt>
                <c:pt idx="4">
                  <c:v>0.13306403198863626</c:v>
                </c:pt>
                <c:pt idx="5">
                  <c:v>0.14038659739942511</c:v>
                </c:pt>
                <c:pt idx="6">
                  <c:v>0.14536884641603542</c:v>
                </c:pt>
                <c:pt idx="7">
                  <c:v>0.14528130607488415</c:v>
                </c:pt>
                <c:pt idx="8">
                  <c:v>0.14189435943189893</c:v>
                </c:pt>
                <c:pt idx="9">
                  <c:v>0.14189881868769186</c:v>
                </c:pt>
                <c:pt idx="10">
                  <c:v>0.12893727318092757</c:v>
                </c:pt>
                <c:pt idx="11">
                  <c:v>0.14107147225314343</c:v>
                </c:pt>
                <c:pt idx="12">
                  <c:v>0.14743186971656405</c:v>
                </c:pt>
                <c:pt idx="13">
                  <c:v>0.13690054685980474</c:v>
                </c:pt>
                <c:pt idx="14">
                  <c:v>0.14497785863952348</c:v>
                </c:pt>
                <c:pt idx="15">
                  <c:v>0.1378022520539407</c:v>
                </c:pt>
                <c:pt idx="16">
                  <c:v>0.14078792136656226</c:v>
                </c:pt>
                <c:pt idx="17">
                  <c:v>0.1702565160277234</c:v>
                </c:pt>
                <c:pt idx="18">
                  <c:v>0.18666346979741147</c:v>
                </c:pt>
                <c:pt idx="19">
                  <c:v>0.18702427393272891</c:v>
                </c:pt>
                <c:pt idx="20">
                  <c:v>0.18010047432229653</c:v>
                </c:pt>
                <c:pt idx="21">
                  <c:v>0.19430242049188606</c:v>
                </c:pt>
                <c:pt idx="22">
                  <c:v>0.19150621441052179</c:v>
                </c:pt>
                <c:pt idx="23" formatCode="#,##0_ ">
                  <c:v>0.18164816814980092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33A-4FBE-AE6C-4C316D5E43E1}"/>
            </c:ext>
          </c:extLst>
        </c:ser>
        <c:marker val="1"/>
        <c:axId val="186845824"/>
        <c:axId val="186844672"/>
      </c:lineChart>
      <c:dateAx>
        <c:axId val="186845824"/>
        <c:scaling>
          <c:orientation val="minMax"/>
        </c:scaling>
        <c:axPos val="b"/>
        <c:numFmt formatCode="yyyy\-mm" sourceLinked="1"/>
        <c:maj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6844672"/>
        <c:crosses val="autoZero"/>
        <c:auto val="1"/>
        <c:lblOffset val="100"/>
        <c:baseTimeUnit val="months"/>
      </c:dateAx>
      <c:valAx>
        <c:axId val="186844672"/>
        <c:scaling>
          <c:orientation val="minMax"/>
        </c:scaling>
        <c:delete val="1"/>
        <c:axPos val="l"/>
        <c:numFmt formatCode="0%" sourceLinked="1"/>
        <c:majorTickMark val="none"/>
        <c:tickLblPos val="nextTo"/>
        <c:crossAx val="186845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Sheet1!$A$2:$A$25</c:f>
              <c:numCache>
                <c:formatCode>yyyy\-mm</c:formatCode>
                <c:ptCount val="2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</c:numCache>
            </c:numRef>
          </c:cat>
          <c:val>
            <c:numRef>
              <c:f>Sheet1!$B$2:$B$25</c:f>
              <c:numCache>
                <c:formatCode>0%</c:formatCode>
                <c:ptCount val="24"/>
                <c:pt idx="0">
                  <c:v>3.582527328802932E-2</c:v>
                </c:pt>
                <c:pt idx="1">
                  <c:v>2.7744762149048832E-2</c:v>
                </c:pt>
                <c:pt idx="2">
                  <c:v>2.7209363062531699E-2</c:v>
                </c:pt>
                <c:pt idx="3">
                  <c:v>2.9574016697464185E-2</c:v>
                </c:pt>
                <c:pt idx="4">
                  <c:v>1.6142716203325143E-2</c:v>
                </c:pt>
                <c:pt idx="5">
                  <c:v>1.7578666231531762E-2</c:v>
                </c:pt>
                <c:pt idx="6">
                  <c:v>1.7404997597032724E-2</c:v>
                </c:pt>
                <c:pt idx="7">
                  <c:v>2.8758919470261071E-2</c:v>
                </c:pt>
                <c:pt idx="8">
                  <c:v>3.6411450521778924E-2</c:v>
                </c:pt>
                <c:pt idx="9">
                  <c:v>8.0000000000000029E-2</c:v>
                </c:pt>
                <c:pt idx="10">
                  <c:v>0.05</c:v>
                </c:pt>
                <c:pt idx="11">
                  <c:v>4.0000000000000015E-2</c:v>
                </c:pt>
                <c:pt idx="12">
                  <c:v>3.0000000000000002E-2</c:v>
                </c:pt>
                <c:pt idx="13">
                  <c:v>4.0000000000000015E-2</c:v>
                </c:pt>
                <c:pt idx="14">
                  <c:v>8.0000000000000029E-2</c:v>
                </c:pt>
                <c:pt idx="15">
                  <c:v>9.0000000000000024E-2</c:v>
                </c:pt>
                <c:pt idx="16">
                  <c:v>0.1</c:v>
                </c:pt>
                <c:pt idx="17">
                  <c:v>0.11</c:v>
                </c:pt>
                <c:pt idx="18">
                  <c:v>8.0000000000000029E-2</c:v>
                </c:pt>
                <c:pt idx="19">
                  <c:v>0.11</c:v>
                </c:pt>
                <c:pt idx="20">
                  <c:v>9.0000000000000024E-2</c:v>
                </c:pt>
                <c:pt idx="21">
                  <c:v>0.13</c:v>
                </c:pt>
                <c:pt idx="22">
                  <c:v>0.11</c:v>
                </c:pt>
                <c:pt idx="23">
                  <c:v>0.11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CD6-4F0B-BEF7-242A555EDE8E}"/>
            </c:ext>
          </c:extLst>
        </c:ser>
        <c:marker val="1"/>
        <c:axId val="186982784"/>
        <c:axId val="186984320"/>
      </c:lineChart>
      <c:dateAx>
        <c:axId val="186982784"/>
        <c:scaling>
          <c:orientation val="minMax"/>
        </c:scaling>
        <c:axPos val="b"/>
        <c:numFmt formatCode="yyyy\-mm" sourceLinked="1"/>
        <c:majorTickMark val="none"/>
        <c:tickLblPos val="nextTo"/>
        <c:spPr>
          <a:noFill/>
          <a:ln w="9525" cap="flat" cmpd="sng" algn="ctr">
            <a:solidFill>
              <a:schemeClr val="tx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6984320"/>
        <c:crosses val="autoZero"/>
        <c:auto val="1"/>
        <c:lblOffset val="100"/>
        <c:baseTimeUnit val="months"/>
      </c:dateAx>
      <c:valAx>
        <c:axId val="186984320"/>
        <c:scaling>
          <c:orientation val="minMax"/>
        </c:scaling>
        <c:delete val="1"/>
        <c:axPos val="l"/>
        <c:numFmt formatCode="0%" sourceLinked="1"/>
        <c:majorTickMark val="none"/>
        <c:tickLblPos val="nextTo"/>
        <c:crossAx val="18698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/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chart>
    <c:autoTitleDeleted val="1"/>
    <c:plotArea>
      <c:layout>
        <c:manualLayout>
          <c:layoutTarget val="inner"/>
          <c:xMode val="edge"/>
          <c:yMode val="edge"/>
          <c:x val="9.897905847562144E-2"/>
          <c:y val="2.3307461876570755E-2"/>
          <c:w val="0.90102094152437862"/>
          <c:h val="0.83952814382347685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광고</c:v>
                </c:pt>
              </c:strCache>
            </c:strRef>
          </c:tx>
          <c:spPr>
            <a:solidFill>
              <a:srgbClr val="FFFF00"/>
            </a:solidFill>
          </c:spPr>
          <c:dLbls>
            <c:showVal val="1"/>
          </c:dLbls>
          <c:cat>
            <c:strRef>
              <c:f>Sheet1!$A$2:$A$6</c:f>
              <c:strCache>
                <c:ptCount val="5"/>
                <c:pt idx="0">
                  <c:v>M+12</c:v>
                </c:pt>
                <c:pt idx="1">
                  <c:v>M+23</c:v>
                </c:pt>
                <c:pt idx="2">
                  <c:v>M+36</c:v>
                </c:pt>
                <c:pt idx="3">
                  <c:v>M+48</c:v>
                </c:pt>
                <c:pt idx="4">
                  <c:v>M+60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0.15000000000000002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PB</c:v>
                </c:pt>
              </c:strCache>
            </c:strRef>
          </c:tx>
          <c:dLbls>
            <c:showVal val="1"/>
          </c:dLbls>
          <c:cat>
            <c:strRef>
              <c:f>Sheet1!$A$2:$A$6</c:f>
              <c:strCache>
                <c:ptCount val="5"/>
                <c:pt idx="0">
                  <c:v>M+12</c:v>
                </c:pt>
                <c:pt idx="1">
                  <c:v>M+23</c:v>
                </c:pt>
                <c:pt idx="2">
                  <c:v>M+36</c:v>
                </c:pt>
                <c:pt idx="3">
                  <c:v>M+48</c:v>
                </c:pt>
                <c:pt idx="4">
                  <c:v>M+60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114</c:v>
                </c:pt>
                <c:pt idx="2">
                  <c:v>275</c:v>
                </c:pt>
                <c:pt idx="3">
                  <c:v>376</c:v>
                </c:pt>
                <c:pt idx="4">
                  <c:v>456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입점상품매출</c:v>
                </c:pt>
              </c:strCache>
            </c:strRef>
          </c:tx>
          <c:spPr>
            <a:solidFill>
              <a:srgbClr val="4190B1"/>
            </a:solidFill>
          </c:spPr>
          <c:dLbls>
            <c:txPr>
              <a:bodyPr/>
              <a:lstStyle/>
              <a:p>
                <a:pPr>
                  <a:defRPr sz="1100"/>
                </a:pPr>
                <a:endParaRPr lang="ko-KR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M+12</c:v>
                </c:pt>
                <c:pt idx="1">
                  <c:v>M+23</c:v>
                </c:pt>
                <c:pt idx="2">
                  <c:v>M+36</c:v>
                </c:pt>
                <c:pt idx="3">
                  <c:v>M+48</c:v>
                </c:pt>
                <c:pt idx="4">
                  <c:v>M+60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26</c:v>
                </c:pt>
                <c:pt idx="1">
                  <c:v>59</c:v>
                </c:pt>
                <c:pt idx="2">
                  <c:v>77</c:v>
                </c:pt>
                <c:pt idx="3">
                  <c:v>82</c:v>
                </c:pt>
                <c:pt idx="4">
                  <c:v>102</c:v>
                </c:pt>
              </c:numCache>
            </c:numRef>
          </c:val>
        </c:ser>
        <c:gapWidth val="75"/>
        <c:overlap val="100"/>
        <c:axId val="187638528"/>
        <c:axId val="187640064"/>
      </c:barChart>
      <c:catAx>
        <c:axId val="187638528"/>
        <c:scaling>
          <c:orientation val="minMax"/>
        </c:scaling>
        <c:axPos val="b"/>
        <c:majorTickMark val="none"/>
        <c:tickLblPos val="nextTo"/>
        <c:txPr>
          <a:bodyPr/>
          <a:lstStyle/>
          <a:p>
            <a:pPr>
              <a:defRPr sz="1100"/>
            </a:pPr>
            <a:endParaRPr lang="ko-KR"/>
          </a:p>
        </c:txPr>
        <c:crossAx val="187640064"/>
        <c:crosses val="autoZero"/>
        <c:auto val="1"/>
        <c:lblAlgn val="ctr"/>
        <c:lblOffset val="100"/>
      </c:catAx>
      <c:valAx>
        <c:axId val="187640064"/>
        <c:scaling>
          <c:orientation val="minMax"/>
        </c:scaling>
        <c:delete val="1"/>
        <c:axPos val="l"/>
        <c:numFmt formatCode="General" sourceLinked="1"/>
        <c:majorTickMark val="none"/>
        <c:tickLblPos val="nextTo"/>
        <c:crossAx val="187638528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200"/>
      </a:pPr>
      <a:endParaRPr lang="ko-KR"/>
    </a:p>
  </c:txPr>
  <c:externalData r:id="rId1"/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9.8979058475621481E-2"/>
          <c:y val="2.3307461876570755E-2"/>
          <c:w val="0.90102094152437862"/>
          <c:h val="0.83952814382347685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매출원가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</c:spPr>
          <c:dLbls>
            <c:showVal val="1"/>
          </c:dLbls>
          <c:cat>
            <c:strRef>
              <c:f>Sheet1!$A$2:$A$6</c:f>
              <c:strCache>
                <c:ptCount val="5"/>
                <c:pt idx="0">
                  <c:v>M+12</c:v>
                </c:pt>
                <c:pt idx="1">
                  <c:v>M+23</c:v>
                </c:pt>
                <c:pt idx="2">
                  <c:v>M+36</c:v>
                </c:pt>
                <c:pt idx="3">
                  <c:v>M+48</c:v>
                </c:pt>
                <c:pt idx="4">
                  <c:v>M+60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68</c:v>
                </c:pt>
                <c:pt idx="2">
                  <c:v>165</c:v>
                </c:pt>
                <c:pt idx="3">
                  <c:v>225</c:v>
                </c:pt>
                <c:pt idx="4">
                  <c:v>274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마케팅비</c:v>
                </c:pt>
              </c:strCache>
            </c:strRef>
          </c:tx>
          <c:dLbls>
            <c:showVal val="1"/>
          </c:dLbls>
          <c:cat>
            <c:strRef>
              <c:f>Sheet1!$A$2:$A$6</c:f>
              <c:strCache>
                <c:ptCount val="5"/>
                <c:pt idx="0">
                  <c:v>M+12</c:v>
                </c:pt>
                <c:pt idx="1">
                  <c:v>M+23</c:v>
                </c:pt>
                <c:pt idx="2">
                  <c:v>M+36</c:v>
                </c:pt>
                <c:pt idx="3">
                  <c:v>M+48</c:v>
                </c:pt>
                <c:pt idx="4">
                  <c:v>M+60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</c:v>
                </c:pt>
                <c:pt idx="1">
                  <c:v>59</c:v>
                </c:pt>
                <c:pt idx="2">
                  <c:v>99</c:v>
                </c:pt>
                <c:pt idx="3">
                  <c:v>105</c:v>
                </c:pt>
                <c:pt idx="4">
                  <c:v>126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운영/인건비</c:v>
                </c:pt>
              </c:strCache>
            </c:strRef>
          </c:tx>
          <c:spPr>
            <a:solidFill>
              <a:srgbClr val="4190B1"/>
            </a:solidFill>
          </c:spPr>
          <c:dLbls>
            <c:txPr>
              <a:bodyPr/>
              <a:lstStyle/>
              <a:p>
                <a:pPr>
                  <a:defRPr sz="1100"/>
                </a:pPr>
                <a:endParaRPr lang="ko-KR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M+12</c:v>
                </c:pt>
                <c:pt idx="1">
                  <c:v>M+23</c:v>
                </c:pt>
                <c:pt idx="2">
                  <c:v>M+36</c:v>
                </c:pt>
                <c:pt idx="3">
                  <c:v>M+48</c:v>
                </c:pt>
                <c:pt idx="4">
                  <c:v>M+60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17</c:v>
                </c:pt>
                <c:pt idx="1">
                  <c:v>41</c:v>
                </c:pt>
                <c:pt idx="2">
                  <c:v>72</c:v>
                </c:pt>
                <c:pt idx="3">
                  <c:v>83</c:v>
                </c:pt>
                <c:pt idx="4">
                  <c:v>113</c:v>
                </c:pt>
              </c:numCache>
            </c:numRef>
          </c:val>
        </c:ser>
        <c:gapWidth val="75"/>
        <c:overlap val="100"/>
        <c:axId val="187927168"/>
        <c:axId val="187933056"/>
      </c:barChart>
      <c:catAx>
        <c:axId val="187927168"/>
        <c:scaling>
          <c:orientation val="minMax"/>
        </c:scaling>
        <c:axPos val="b"/>
        <c:majorTickMark val="none"/>
        <c:tickLblPos val="nextTo"/>
        <c:txPr>
          <a:bodyPr/>
          <a:lstStyle/>
          <a:p>
            <a:pPr>
              <a:defRPr sz="1100"/>
            </a:pPr>
            <a:endParaRPr lang="ko-KR"/>
          </a:p>
        </c:txPr>
        <c:crossAx val="187933056"/>
        <c:crosses val="autoZero"/>
        <c:auto val="1"/>
        <c:lblAlgn val="ctr"/>
        <c:lblOffset val="100"/>
      </c:catAx>
      <c:valAx>
        <c:axId val="187933056"/>
        <c:scaling>
          <c:orientation val="minMax"/>
        </c:scaling>
        <c:delete val="1"/>
        <c:axPos val="l"/>
        <c:numFmt formatCode="General" sourceLinked="1"/>
        <c:majorTickMark val="none"/>
        <c:tickLblPos val="nextTo"/>
        <c:crossAx val="187927168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200"/>
      </a:pPr>
      <a:endParaRPr lang="ko-KR"/>
    </a:p>
  </c:txPr>
  <c:externalData r:id="rId1"/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1.506121946620028E-2"/>
          <c:y val="8.564878324950001E-2"/>
          <c:w val="0.91828433363777162"/>
          <c:h val="0.7756758774508540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2</c:v>
                </c:pt>
              </c:strCache>
            </c:strRef>
          </c:tx>
          <c:dLbls>
            <c:dLbl>
              <c:idx val="10"/>
              <c:spPr/>
              <c:txPr>
                <a:bodyPr/>
                <a:lstStyle/>
                <a:p>
                  <a:pPr>
                    <a:defRPr sz="1300" b="0"/>
                  </a:pPr>
                  <a:endParaRPr lang="ko-KR"/>
                </a:p>
              </c:txPr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17.1Q</c:v>
                </c:pt>
                <c:pt idx="1">
                  <c:v>17.2Q</c:v>
                </c:pt>
                <c:pt idx="2">
                  <c:v>17.3Q</c:v>
                </c:pt>
                <c:pt idx="3">
                  <c:v>17.4Q</c:v>
                </c:pt>
                <c:pt idx="4">
                  <c:v>18.1Q</c:v>
                </c:pt>
                <c:pt idx="5">
                  <c:v>18.2Q</c:v>
                </c:pt>
                <c:pt idx="6">
                  <c:v>18.3Q</c:v>
                </c:pt>
                <c:pt idx="7">
                  <c:v>18.4Q</c:v>
                </c:pt>
                <c:pt idx="8">
                  <c:v>19.1Q</c:v>
                </c:pt>
                <c:pt idx="9">
                  <c:v>19.2Q</c:v>
                </c:pt>
                <c:pt idx="10">
                  <c:v>19.3Q</c:v>
                </c:pt>
                <c:pt idx="11">
                  <c:v>19.4Q</c:v>
                </c:pt>
                <c:pt idx="12">
                  <c:v>20.1Q</c:v>
                </c:pt>
              </c:strCache>
            </c:strRef>
          </c:cat>
          <c:val>
            <c:numRef>
              <c:f>Sheet1!$B$2:$B$14</c:f>
              <c:numCache>
                <c:formatCode>#,##0</c:formatCode>
                <c:ptCount val="13"/>
                <c:pt idx="0">
                  <c:v>1648637830</c:v>
                </c:pt>
                <c:pt idx="1">
                  <c:v>3637271690</c:v>
                </c:pt>
                <c:pt idx="2">
                  <c:v>5027519370</c:v>
                </c:pt>
                <c:pt idx="3">
                  <c:v>6651505375</c:v>
                </c:pt>
                <c:pt idx="4">
                  <c:v>9130454116</c:v>
                </c:pt>
                <c:pt idx="5">
                  <c:v>12077260677</c:v>
                </c:pt>
                <c:pt idx="6">
                  <c:v>14909739298</c:v>
                </c:pt>
                <c:pt idx="7">
                  <c:v>17551545137</c:v>
                </c:pt>
                <c:pt idx="8">
                  <c:v>20343384612</c:v>
                </c:pt>
                <c:pt idx="9">
                  <c:v>22614179822</c:v>
                </c:pt>
                <c:pt idx="10">
                  <c:v>24012116613</c:v>
                </c:pt>
                <c:pt idx="11">
                  <c:v>26476275643</c:v>
                </c:pt>
                <c:pt idx="12">
                  <c:v>27635583116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A401-41BD-8A97-86B64DA3EDF3}"/>
            </c:ext>
          </c:extLst>
        </c:ser>
        <c:gapWidth val="80"/>
        <c:axId val="188334080"/>
        <c:axId val="188335616"/>
      </c:barChart>
      <c:catAx>
        <c:axId val="188334080"/>
        <c:scaling>
          <c:orientation val="minMax"/>
        </c:scaling>
        <c:axPos val="b"/>
        <c:numFmt formatCode="General" sourceLinked="0"/>
        <c:maj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ko-KR"/>
          </a:p>
        </c:txPr>
        <c:crossAx val="188335616"/>
        <c:crosses val="autoZero"/>
        <c:auto val="1"/>
        <c:lblAlgn val="ctr"/>
        <c:lblOffset val="100"/>
        <c:tickLblSkip val="1"/>
      </c:catAx>
      <c:valAx>
        <c:axId val="188335616"/>
        <c:scaling>
          <c:orientation val="minMax"/>
        </c:scaling>
        <c:delete val="1"/>
        <c:axPos val="l"/>
        <c:numFmt formatCode="#,##0" sourceLinked="1"/>
        <c:tickLblPos val="nextTo"/>
        <c:crossAx val="188334080"/>
        <c:crosses val="autoZero"/>
        <c:crossBetween val="between"/>
        <c:majorUnit val="10000000000"/>
        <c:dispUnits>
          <c:builtInUnit val="millions"/>
        </c:dispUnits>
      </c:valAx>
    </c:plotArea>
    <c:plotVisOnly val="1"/>
    <c:dispBlanksAs val="gap"/>
  </c:chart>
  <c:txPr>
    <a:bodyPr/>
    <a:lstStyle/>
    <a:p>
      <a:pPr>
        <a:defRPr sz="1000"/>
      </a:pPr>
      <a:endParaRPr lang="ko-KR"/>
    </a:p>
  </c:txPr>
  <c:externalData r:id="rId1"/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plotArea>
      <c:layout>
        <c:manualLayout>
          <c:layoutTarget val="inner"/>
          <c:xMode val="edge"/>
          <c:yMode val="edge"/>
          <c:x val="4.2798054360528123E-2"/>
          <c:y val="5.1461628117720114E-2"/>
          <c:w val="0.92757252338987561"/>
          <c:h val="0.8970767437645595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연평균</c:v>
                </c:pt>
              </c:strCache>
            </c:strRef>
          </c:tx>
          <c:dLbls>
            <c:dLbl>
              <c:idx val="0"/>
              <c:layout>
                <c:manualLayout>
                  <c:x val="-1.6460794094084099E-2"/>
                  <c:y val="1.0426851019340603E-2"/>
                </c:manualLayout>
              </c:layout>
              <c:tx>
                <c:rich>
                  <a:bodyPr/>
                  <a:lstStyle/>
                  <a:p>
                    <a:r>
                      <a:rPr lang="ko-KR" altLang="en-US" sz="1200" b="1" dirty="0" smtClean="0"/>
                      <a:t>연평균</a:t>
                    </a:r>
                    <a:br>
                      <a:rPr lang="ko-KR" altLang="en-US" sz="1200" b="1" dirty="0" smtClean="0"/>
                    </a:br>
                    <a:r>
                      <a:rPr lang="ko-KR" altLang="en-US" sz="1200" b="1" dirty="0" smtClean="0"/>
                      <a:t>  </a:t>
                    </a:r>
                    <a:r>
                      <a:rPr lang="en-US" altLang="ko-KR" sz="1200" dirty="0" smtClean="0"/>
                      <a:t>119</a:t>
                    </a:r>
                    <a:endParaRPr lang="ko-KR" altLang="en-US" sz="1200" dirty="0"/>
                  </a:p>
                </c:rich>
              </c:tx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813-4F6C-9E58-921437F3B6D5}"/>
                </c:ext>
              </c:extLst>
            </c:dLbl>
            <c:numFmt formatCode="#,##0,;[Red]\(\-\)#,##0,;\-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'17</c:v>
                </c:pt>
                <c:pt idx="1">
                  <c:v>'18</c:v>
                </c:pt>
                <c:pt idx="2">
                  <c:v>'19</c:v>
                </c:pt>
              </c:strCache>
            </c:strRef>
          </c:cat>
          <c:val>
            <c:numRef>
              <c:f>Sheet1!$B$2:$B$4</c:f>
              <c:numCache>
                <c:formatCode>_-* #,##0_-;\-* #,##0_-;_-* "-"_-;_-@_-</c:formatCode>
                <c:ptCount val="3"/>
                <c:pt idx="0">
                  <c:v>118789.08333333333</c:v>
                </c:pt>
                <c:pt idx="1">
                  <c:v>228770.125</c:v>
                </c:pt>
                <c:pt idx="2">
                  <c:v>179287.11111111112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6813-4F6C-9E58-921437F3B6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최대치</c:v>
                </c:pt>
              </c:strCache>
            </c:strRef>
          </c:tx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ko-KR" altLang="en-US" sz="1200" b="1" dirty="0" smtClean="0"/>
                      <a:t>최대치</a:t>
                    </a:r>
                    <a:br>
                      <a:rPr lang="ko-KR" altLang="en-US" sz="1200" b="1" dirty="0" smtClean="0"/>
                    </a:br>
                    <a:r>
                      <a:rPr lang="en-US" altLang="ko-KR" sz="1200" dirty="0" smtClean="0"/>
                      <a:t>173</a:t>
                    </a:r>
                    <a:endParaRPr lang="ko-KR" altLang="en-US" sz="1200" dirty="0"/>
                  </a:p>
                </c:rich>
              </c:tx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813-4F6C-9E58-921437F3B6D5}"/>
                </c:ext>
              </c:extLst>
            </c:dLbl>
            <c:numFmt formatCode="#,##0,;[Red]\(\-\)#,##0,;\-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'17</c:v>
                </c:pt>
                <c:pt idx="1">
                  <c:v>'18</c:v>
                </c:pt>
                <c:pt idx="2">
                  <c:v>'19</c:v>
                </c:pt>
              </c:strCache>
            </c:strRef>
          </c:cat>
          <c:val>
            <c:numRef>
              <c:f>Sheet1!$C$2:$C$4</c:f>
              <c:numCache>
                <c:formatCode>_-* #,##0_-;\-* #,##0_-;_-* "-"_-;_-@_-</c:formatCode>
                <c:ptCount val="3"/>
                <c:pt idx="0">
                  <c:v>172936</c:v>
                </c:pt>
                <c:pt idx="1">
                  <c:v>263937</c:v>
                </c:pt>
                <c:pt idx="2">
                  <c:v>209434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6813-4F6C-9E58-921437F3B6D5}"/>
            </c:ext>
          </c:extLst>
        </c:ser>
        <c:gapWidth val="80"/>
        <c:overlap val="-10"/>
        <c:axId val="187802752"/>
        <c:axId val="187804288"/>
      </c:barChart>
      <c:catAx>
        <c:axId val="187802752"/>
        <c:scaling>
          <c:orientation val="minMax"/>
        </c:scaling>
        <c:axPos val="b"/>
        <c:numFmt formatCode="General" sourceLinked="1"/>
        <c:maj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ko-KR"/>
          </a:p>
        </c:txPr>
        <c:crossAx val="187804288"/>
        <c:crosses val="autoZero"/>
        <c:auto val="1"/>
        <c:lblAlgn val="ctr"/>
        <c:lblOffset val="100"/>
      </c:catAx>
      <c:valAx>
        <c:axId val="187804288"/>
        <c:scaling>
          <c:orientation val="minMax"/>
          <c:max val="350000"/>
        </c:scaling>
        <c:delete val="1"/>
        <c:axPos val="l"/>
        <c:numFmt formatCode="_-* #,##0_-;\-* #,##0_-;_-* &quot;-&quot;_-;_-@_-" sourceLinked="1"/>
        <c:tickLblPos val="nextTo"/>
        <c:crossAx val="187802752"/>
        <c:crosses val="autoZero"/>
        <c:crossBetween val="between"/>
        <c:majorUnit val="100000"/>
      </c:valAx>
    </c:plotArea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연평균</c:v>
                </c:pt>
              </c:strCache>
            </c:strRef>
          </c:tx>
          <c:dLbls>
            <c:dLbl>
              <c:idx val="0"/>
              <c:layout>
                <c:manualLayout>
                  <c:x val="-3.0756336837569561E-2"/>
                  <c:y val="1.4677024562636224E-2"/>
                </c:manualLayout>
              </c:layout>
              <c:tx>
                <c:rich>
                  <a:bodyPr/>
                  <a:lstStyle/>
                  <a:p>
                    <a:r>
                      <a:rPr lang="ko-KR" altLang="en-US" sz="1200" b="1" dirty="0" smtClean="0"/>
                      <a:t>연평균</a:t>
                    </a:r>
                    <a:br>
                      <a:rPr lang="ko-KR" altLang="en-US" sz="1200" b="1" dirty="0" smtClean="0"/>
                    </a:br>
                    <a:r>
                      <a:rPr lang="ko-KR" altLang="en-US" sz="1200" b="1" dirty="0" smtClean="0"/>
                      <a:t>    </a:t>
                    </a:r>
                    <a:r>
                      <a:rPr lang="en-US" altLang="ko-KR" sz="1200" dirty="0" smtClean="0"/>
                      <a:t>178</a:t>
                    </a:r>
                    <a:endParaRPr lang="ko-KR" altLang="en-US" sz="1200" dirty="0"/>
                  </a:p>
                </c:rich>
              </c:tx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79-4A0B-991A-EED8BF4F864C}"/>
                </c:ext>
              </c:extLst>
            </c:dLbl>
            <c:numFmt formatCode="#,##0,;[Red]\(\-\)#,##0,;\-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'17</c:v>
                </c:pt>
                <c:pt idx="1">
                  <c:v>'18</c:v>
                </c:pt>
                <c:pt idx="2">
                  <c:v>'19</c:v>
                </c:pt>
              </c:strCache>
            </c:strRef>
          </c:cat>
          <c:val>
            <c:numRef>
              <c:f>Sheet1!$B$2:$B$4</c:f>
              <c:numCache>
                <c:formatCode>_-* #,##0_-;\-* #,##0_-;_-* "-"_-;_-@_-</c:formatCode>
                <c:ptCount val="3"/>
                <c:pt idx="0">
                  <c:v>177936.5</c:v>
                </c:pt>
                <c:pt idx="1">
                  <c:v>333593.66666666669</c:v>
                </c:pt>
                <c:pt idx="2">
                  <c:v>265942.2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9A79-4A0B-991A-EED8BF4F86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최대치</c:v>
                </c:pt>
              </c:strCache>
            </c:strRef>
          </c:tx>
          <c:dLbls>
            <c:dLbl>
              <c:idx val="0"/>
              <c:layout>
                <c:manualLayout>
                  <c:x val="-8.086765585456587E-3"/>
                  <c:y val="4.8915710733951423E-3"/>
                </c:manualLayout>
              </c:layout>
              <c:tx>
                <c:rich>
                  <a:bodyPr/>
                  <a:lstStyle/>
                  <a:p>
                    <a:r>
                      <a:rPr lang="ko-KR" altLang="en-US" sz="1200" b="1" dirty="0" smtClean="0"/>
                      <a:t>최대치</a:t>
                    </a:r>
                    <a:br>
                      <a:rPr lang="ko-KR" altLang="en-US" sz="1200" b="1" dirty="0" smtClean="0"/>
                    </a:br>
                    <a:r>
                      <a:rPr lang="en-US" altLang="ko-KR" sz="1200" dirty="0" smtClean="0"/>
                      <a:t>180</a:t>
                    </a:r>
                    <a:endParaRPr lang="ko-KR" altLang="en-US" sz="1200" dirty="0"/>
                  </a:p>
                </c:rich>
              </c:tx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A79-4A0B-991A-EED8BF4F864C}"/>
                </c:ext>
              </c:extLst>
            </c:dLbl>
            <c:numFmt formatCode="#,##0,;[Red]\(\-\)#,##0,;\-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'17</c:v>
                </c:pt>
                <c:pt idx="1">
                  <c:v>'18</c:v>
                </c:pt>
                <c:pt idx="2">
                  <c:v>'19</c:v>
                </c:pt>
              </c:strCache>
            </c:strRef>
          </c:cat>
          <c:val>
            <c:numRef>
              <c:f>Sheet1!$C$2:$C$4</c:f>
              <c:numCache>
                <c:formatCode>_-* #,##0_-;\-* #,##0_-;_-* "-"_-;_-@_-</c:formatCode>
                <c:ptCount val="3"/>
                <c:pt idx="0">
                  <c:v>180211</c:v>
                </c:pt>
                <c:pt idx="1">
                  <c:v>451376</c:v>
                </c:pt>
                <c:pt idx="2">
                  <c:v>358850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9A79-4A0B-991A-EED8BF4F864C}"/>
            </c:ext>
          </c:extLst>
        </c:ser>
        <c:gapWidth val="80"/>
        <c:overlap val="-10"/>
        <c:axId val="188400384"/>
        <c:axId val="188401920"/>
      </c:barChart>
      <c:catAx>
        <c:axId val="188400384"/>
        <c:scaling>
          <c:orientation val="minMax"/>
        </c:scaling>
        <c:axPos val="b"/>
        <c:numFmt formatCode="General" sourceLinked="1"/>
        <c:maj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ko-KR"/>
          </a:p>
        </c:txPr>
        <c:crossAx val="188401920"/>
        <c:crosses val="autoZero"/>
        <c:auto val="1"/>
        <c:lblAlgn val="ctr"/>
        <c:lblOffset val="100"/>
      </c:catAx>
      <c:valAx>
        <c:axId val="188401920"/>
        <c:scaling>
          <c:orientation val="minMax"/>
        </c:scaling>
        <c:delete val="1"/>
        <c:axPos val="l"/>
        <c:numFmt formatCode="_-* #,##0_-;\-* #,##0_-;_-* &quot;-&quot;_-;_-@_-" sourceLinked="1"/>
        <c:tickLblPos val="nextTo"/>
        <c:crossAx val="188400384"/>
        <c:crosses val="autoZero"/>
        <c:crossBetween val="between"/>
        <c:majorUnit val="100000"/>
      </c:valAx>
    </c:plotArea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outEnd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'17</c:v>
                </c:pt>
                <c:pt idx="1">
                  <c:v>'18</c:v>
                </c:pt>
                <c:pt idx="2">
                  <c:v>'19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3.5999999999999997E-2</c:v>
                </c:pt>
                <c:pt idx="1">
                  <c:v>3.7999999999999999E-2</c:v>
                </c:pt>
                <c:pt idx="2">
                  <c:v>4.2000000000000023E-2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3FF-4694-8CAF-5F4E6B1FD930}"/>
            </c:ext>
          </c:extLst>
        </c:ser>
        <c:gapWidth val="90"/>
        <c:axId val="188541952"/>
        <c:axId val="188543744"/>
      </c:barChart>
      <c:catAx>
        <c:axId val="188541952"/>
        <c:scaling>
          <c:orientation val="minMax"/>
        </c:scaling>
        <c:axPos val="b"/>
        <c:numFmt formatCode="General" sourceLinked="1"/>
        <c:maj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ko-KR"/>
          </a:p>
        </c:txPr>
        <c:crossAx val="188543744"/>
        <c:crosses val="autoZero"/>
        <c:auto val="1"/>
        <c:lblAlgn val="ctr"/>
        <c:lblOffset val="100"/>
      </c:catAx>
      <c:valAx>
        <c:axId val="188543744"/>
        <c:scaling>
          <c:orientation val="minMax"/>
        </c:scaling>
        <c:delete val="1"/>
        <c:axPos val="l"/>
        <c:numFmt formatCode="0.0%" sourceLinked="1"/>
        <c:tickLblPos val="nextTo"/>
        <c:crossAx val="188541952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M+1</c:v>
                </c:pt>
              </c:strCache>
            </c:strRef>
          </c:tx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altLang="en-US" smtClean="0"/>
                      <a:t>38.66</a:t>
                    </a:r>
                    <a:r>
                      <a:rPr lang="en-US" altLang="en-US" dirty="0"/>
                      <a:t>%</a:t>
                    </a:r>
                  </a:p>
                </c:rich>
              </c:tx>
              <c:showVal val="1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1개월 이내</c:v>
                </c:pt>
                <c:pt idx="1">
                  <c:v>2개월 이내</c:v>
                </c:pt>
                <c:pt idx="2">
                  <c:v>3개월 이내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0.33660000000000201</c:v>
                </c:pt>
                <c:pt idx="1">
                  <c:v>0.23669999999999999</c:v>
                </c:pt>
                <c:pt idx="2">
                  <c:v>0.18290000000000106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B84-4CCD-B01D-10265CCB403F}"/>
            </c:ext>
          </c:extLst>
        </c:ser>
        <c:gapWidth val="90"/>
        <c:overlap val="-66"/>
        <c:axId val="159620480"/>
        <c:axId val="159655040"/>
      </c:barChart>
      <c:catAx>
        <c:axId val="159620480"/>
        <c:scaling>
          <c:orientation val="minMax"/>
        </c:scaling>
        <c:axPos val="b"/>
        <c:numFmt formatCode="General" sourceLinked="1"/>
        <c:majorTickMark val="none"/>
        <c:tickLblPos val="nextTo"/>
        <c:txPr>
          <a:bodyPr/>
          <a:lstStyle/>
          <a:p>
            <a:pPr>
              <a:defRPr sz="1200"/>
            </a:pPr>
            <a:endParaRPr lang="ko-KR"/>
          </a:p>
        </c:txPr>
        <c:crossAx val="159655040"/>
        <c:crosses val="autoZero"/>
        <c:auto val="1"/>
        <c:lblAlgn val="ctr"/>
        <c:lblOffset val="100"/>
      </c:catAx>
      <c:valAx>
        <c:axId val="159655040"/>
        <c:scaling>
          <c:orientation val="minMax"/>
        </c:scaling>
        <c:delete val="1"/>
        <c:axPos val="l"/>
        <c:numFmt formatCode="0.00%" sourceLinked="1"/>
        <c:tickLblPos val="nextTo"/>
        <c:crossAx val="159620480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5.9596172520913523E-2"/>
          <c:y val="6.0519670977899023E-2"/>
          <c:w val="0.93691800424279481"/>
          <c:h val="0.79863657997143922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dLbls>
            <c:dLbl>
              <c:idx val="1"/>
              <c:layout/>
              <c:tx>
                <c:rich>
                  <a:bodyPr/>
                  <a:lstStyle/>
                  <a:p>
                    <a:pPr>
                      <a:defRPr sz="1600" b="1"/>
                    </a:pPr>
                    <a:r>
                      <a:rPr lang="en-US" altLang="en-US" b="1" smtClean="0"/>
                      <a:t>799</a:t>
                    </a:r>
                    <a:endParaRPr lang="en-US" altLang="en-US" b="1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Val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AD4-42BD-86B3-033057A0D41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/>
                </a:pPr>
                <a:endParaRPr lang="ko-KR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'18</c:v>
                </c:pt>
                <c:pt idx="1">
                  <c:v>'19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526</c:v>
                </c:pt>
                <c:pt idx="1">
                  <c:v>799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AD4-42BD-86B3-033057A0D419}"/>
            </c:ext>
          </c:extLst>
        </c:ser>
        <c:axId val="159728000"/>
        <c:axId val="159729536"/>
      </c:barChart>
      <c:catAx>
        <c:axId val="159728000"/>
        <c:scaling>
          <c:orientation val="minMax"/>
        </c:scaling>
        <c:axPos val="b"/>
        <c:numFmt formatCode="General" sourceLinked="0"/>
        <c:maj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ko-KR"/>
          </a:p>
        </c:txPr>
        <c:crossAx val="159729536"/>
        <c:crosses val="autoZero"/>
        <c:auto val="1"/>
        <c:lblAlgn val="ctr"/>
        <c:lblOffset val="100"/>
      </c:catAx>
      <c:valAx>
        <c:axId val="159729536"/>
        <c:scaling>
          <c:orientation val="minMax"/>
        </c:scaling>
        <c:delete val="1"/>
        <c:axPos val="l"/>
        <c:numFmt formatCode="General" sourceLinked="1"/>
        <c:tickLblPos val="nextTo"/>
        <c:crossAx val="159728000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ko-KR"/>
    </a:p>
  </c:txPr>
  <c:externalData r:id="rId1"/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autoTitleDeleted val="1"/>
    <c:plotArea>
      <c:layout>
        <c:manualLayout>
          <c:layoutTarget val="inner"/>
          <c:xMode val="edge"/>
          <c:yMode val="edge"/>
          <c:x val="0.10142415047367612"/>
          <c:y val="5.5872624813524722E-2"/>
          <c:w val="0.7971516990526476"/>
          <c:h val="0.8882547503729501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explosion val="2"/>
          <c:dLbls>
            <c:dLbl>
              <c:idx val="0"/>
              <c:layout>
                <c:manualLayout>
                  <c:x val="-5.4421387805381374E-2"/>
                  <c:y val="8.4652159248312566E-3"/>
                </c:manualLayout>
              </c:layout>
              <c:tx>
                <c:rich>
                  <a:bodyPr/>
                  <a:lstStyle/>
                  <a:p>
                    <a:r>
                      <a:rPr lang="ko-KR" altLang="en-US" sz="1100" dirty="0"/>
                      <a:t>서울
</a:t>
                    </a:r>
                    <a:r>
                      <a:rPr lang="en-US" altLang="ko-KR" sz="1100" dirty="0"/>
                      <a:t>435 </a:t>
                    </a:r>
                  </a:p>
                </c:rich>
              </c:tx>
              <c:dLblPos val="inEnd"/>
              <c:showVal val="1"/>
              <c:showCatName val="1"/>
              <c:separator>
</c:separator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6CA-430C-B407-5DFAAFCDFEEE}"/>
                </c:ext>
              </c:extLst>
            </c:dLbl>
            <c:dLbl>
              <c:idx val="1"/>
              <c:layout>
                <c:manualLayout>
                  <c:x val="7.2561850407174815E-3"/>
                  <c:y val="-8.4655492141704689E-2"/>
                </c:manualLayout>
              </c:layout>
              <c:tx>
                <c:rich>
                  <a:bodyPr/>
                  <a:lstStyle/>
                  <a:p>
                    <a:r>
                      <a:rPr lang="ko-KR" altLang="en-US" sz="1100" dirty="0"/>
                      <a:t>경기
</a:t>
                    </a:r>
                    <a:r>
                      <a:rPr lang="en-US" altLang="ko-KR" sz="1100" dirty="0"/>
                      <a:t>491 </a:t>
                    </a:r>
                  </a:p>
                </c:rich>
              </c:tx>
              <c:dLblPos val="inEnd"/>
              <c:showVal val="1"/>
              <c:showCatName val="1"/>
              <c:separator>
</c:separator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6CA-430C-B407-5DFAAFCDFEEE}"/>
                </c:ext>
              </c:extLst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ko-KR" altLang="en-US" sz="1100" dirty="0"/>
                      <a:t>부산
</a:t>
                    </a:r>
                    <a:r>
                      <a:rPr lang="en-US" altLang="ko-KR" sz="1100" dirty="0"/>
                      <a:t>93 </a:t>
                    </a:r>
                  </a:p>
                </c:rich>
              </c:tx>
              <c:dLblPos val="inEnd"/>
              <c:showVal val="1"/>
              <c:showCatName val="1"/>
              <c:separator>
</c:separator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6CA-430C-B407-5DFAAFCDFEEE}"/>
                </c:ext>
              </c:extLst>
            </c:dLbl>
            <c:dLbl>
              <c:idx val="3"/>
              <c:layout>
                <c:manualLayout>
                  <c:x val="-3.1908608576488418E-2"/>
                  <c:y val="-2.0317318114008952E-2"/>
                </c:manualLayout>
              </c:layout>
              <c:tx>
                <c:rich>
                  <a:bodyPr/>
                  <a:lstStyle/>
                  <a:p>
                    <a:pPr>
                      <a:defRPr sz="1100" b="1">
                        <a:solidFill>
                          <a:schemeClr val="tx1"/>
                        </a:solidFill>
                      </a:defRPr>
                    </a:pPr>
                    <a:r>
                      <a:rPr lang="ko-KR" altLang="en-US" sz="1100" dirty="0">
                        <a:solidFill>
                          <a:schemeClr val="tx1"/>
                        </a:solidFill>
                      </a:rPr>
                      <a:t>인천
</a:t>
                    </a:r>
                    <a:r>
                      <a:rPr lang="en-US" altLang="ko-KR" sz="1100" dirty="0">
                        <a:solidFill>
                          <a:schemeClr val="tx1"/>
                        </a:solidFill>
                      </a:rPr>
                      <a:t>82 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inEnd"/>
              <c:showVal val="1"/>
              <c:showCatName val="1"/>
              <c:separator>
</c:separator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6CA-430C-B407-5DFAAFCDFEEE}"/>
                </c:ext>
              </c:extLst>
            </c:dLbl>
            <c:dLbl>
              <c:idx val="4"/>
              <c:layout>
                <c:manualLayout>
                  <c:x val="-3.6280925203587409E-2"/>
                  <c:y val="-7.1957168320448364E-2"/>
                </c:manualLayout>
              </c:layout>
              <c:tx>
                <c:rich>
                  <a:bodyPr/>
                  <a:lstStyle/>
                  <a:p>
                    <a:pPr>
                      <a:defRPr sz="1100" b="1">
                        <a:solidFill>
                          <a:schemeClr val="tx1"/>
                        </a:solidFill>
                      </a:defRPr>
                    </a:pPr>
                    <a:r>
                      <a:rPr lang="ko-KR" altLang="en-US" sz="1100" dirty="0">
                        <a:solidFill>
                          <a:schemeClr val="tx1"/>
                        </a:solidFill>
                      </a:rPr>
                      <a:t>충청
</a:t>
                    </a:r>
                    <a:r>
                      <a:rPr lang="en-US" altLang="ko-KR" sz="1100" dirty="0">
                        <a:solidFill>
                          <a:schemeClr val="tx1"/>
                        </a:solidFill>
                      </a:rPr>
                      <a:t>55 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inEnd"/>
              <c:showVal val="1"/>
              <c:showCatName val="1"/>
              <c:separator>
</c:separator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6CA-430C-B407-5DFAAFCDFEEE}"/>
                </c:ext>
              </c:extLst>
            </c:dLbl>
            <c:dLbl>
              <c:idx val="5"/>
              <c:layout>
                <c:manualLayout>
                  <c:x val="-2.1768555122152387E-2"/>
                  <c:y val="-8.0422717534618479E-2"/>
                </c:manualLayout>
              </c:layout>
              <c:tx>
                <c:rich>
                  <a:bodyPr/>
                  <a:lstStyle/>
                  <a:p>
                    <a:pPr>
                      <a:defRPr sz="1100" b="1">
                        <a:solidFill>
                          <a:schemeClr val="tx1"/>
                        </a:solidFill>
                      </a:defRPr>
                    </a:pPr>
                    <a:r>
                      <a:rPr lang="ko-KR" altLang="en-US" sz="1100" dirty="0">
                        <a:solidFill>
                          <a:schemeClr val="tx1"/>
                        </a:solidFill>
                      </a:rPr>
                      <a:t>경상
</a:t>
                    </a:r>
                    <a:r>
                      <a:rPr lang="en-US" altLang="ko-KR" sz="1100" dirty="0">
                        <a:solidFill>
                          <a:schemeClr val="tx1"/>
                        </a:solidFill>
                      </a:rPr>
                      <a:t>50 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inEnd"/>
              <c:showVal val="1"/>
              <c:showCatName val="1"/>
              <c:separator>
</c:separator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6CA-430C-B407-5DFAAFCDFEEE}"/>
                </c:ext>
              </c:extLst>
            </c:dLbl>
            <c:dLbl>
              <c:idx val="6"/>
              <c:layout>
                <c:manualLayout>
                  <c:x val="7.2561850407174815E-3"/>
                  <c:y val="-4.2327746070851893E-3"/>
                </c:manualLayout>
              </c:layout>
              <c:tx>
                <c:rich>
                  <a:bodyPr/>
                  <a:lstStyle/>
                  <a:p>
                    <a:pPr>
                      <a:defRPr sz="1100" b="1">
                        <a:solidFill>
                          <a:schemeClr val="tx1"/>
                        </a:solidFill>
                      </a:defRPr>
                    </a:pPr>
                    <a:r>
                      <a:rPr lang="ko-KR" altLang="en-US" sz="1100" dirty="0">
                        <a:solidFill>
                          <a:schemeClr val="tx1"/>
                        </a:solidFill>
                      </a:rPr>
                      <a:t>기타
</a:t>
                    </a:r>
                    <a:r>
                      <a:rPr lang="en-US" altLang="ko-KR" sz="1100" dirty="0">
                        <a:solidFill>
                          <a:schemeClr val="tx1"/>
                        </a:solidFill>
                      </a:rPr>
                      <a:t>119 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inEnd"/>
              <c:showVal val="1"/>
              <c:showCatName val="1"/>
              <c:separator>
</c:separator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6CA-430C-B407-5DFAAFCDFEEE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ko-KR" altLang="en-US" sz="1100" b="1" smtClean="0">
                        <a:solidFill>
                          <a:schemeClr val="bg1"/>
                        </a:solidFill>
                      </a:rPr>
                      <a:t>기타</a:t>
                    </a:r>
                    <a:r>
                      <a:rPr lang="en-US" altLang="ko-KR" sz="1100" b="1" smtClean="0">
                        <a:solidFill>
                          <a:schemeClr val="bg1"/>
                        </a:solidFill>
                      </a:rPr>
                      <a:t> </a:t>
                    </a:r>
                    <a:endParaRPr lang="ko-KR" altLang="en-US" sz="1100" b="1" dirty="0">
                      <a:solidFill>
                        <a:schemeClr val="bg1"/>
                      </a:solidFill>
                    </a:endParaRPr>
                  </a:p>
                </c:rich>
              </c:tx>
              <c:dLblPos val="inEnd"/>
              <c:showVal val="1"/>
              <c:showCatName val="1"/>
              <c:separator>
</c:separator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6CA-430C-B407-5DFAAFCDFEEE}"/>
                </c:ext>
              </c:extLst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 b="1"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inEnd"/>
            <c:showVal val="1"/>
            <c:showCatName val="1"/>
            <c:separator>
</c:separator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서울</c:v>
                </c:pt>
                <c:pt idx="1">
                  <c:v>경기</c:v>
                </c:pt>
                <c:pt idx="2">
                  <c:v>부산</c:v>
                </c:pt>
                <c:pt idx="3">
                  <c:v>인천</c:v>
                </c:pt>
                <c:pt idx="4">
                  <c:v>충청</c:v>
                </c:pt>
                <c:pt idx="5">
                  <c:v>경상</c:v>
                </c:pt>
                <c:pt idx="6">
                  <c:v>기타</c:v>
                </c:pt>
              </c:strCache>
            </c:strRef>
          </c:cat>
          <c:val>
            <c:numRef>
              <c:f>Sheet1!$B$2:$B$8</c:f>
              <c:numCache>
                <c:formatCode>0_);[Red]\(0\)</c:formatCode>
                <c:ptCount val="7"/>
                <c:pt idx="0">
                  <c:v>435</c:v>
                </c:pt>
                <c:pt idx="1">
                  <c:v>491</c:v>
                </c:pt>
                <c:pt idx="2">
                  <c:v>93</c:v>
                </c:pt>
                <c:pt idx="3">
                  <c:v>82</c:v>
                </c:pt>
                <c:pt idx="4">
                  <c:v>55</c:v>
                </c:pt>
                <c:pt idx="5">
                  <c:v>50</c:v>
                </c:pt>
                <c:pt idx="6">
                  <c:v>119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B6CA-430C-B407-5DFAAFCDFEEE}"/>
            </c:ext>
          </c:extLst>
        </c:ser>
        <c:firstSliceAng val="0"/>
      </c:pieChart>
    </c:plotArea>
    <c:plotVisOnly val="1"/>
    <c:dispBlanksAs val="zero"/>
  </c:chart>
  <c:txPr>
    <a:bodyPr/>
    <a:lstStyle/>
    <a:p>
      <a:pPr>
        <a:defRPr sz="1800"/>
      </a:pPr>
      <a:endParaRPr lang="ko-KR"/>
    </a:p>
  </c:txPr>
  <c:externalData r:id="rId1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3713"/>
          </a:xfrm>
          <a:prstGeom prst="rect">
            <a:avLst/>
          </a:prstGeom>
        </p:spPr>
        <p:txBody>
          <a:bodyPr vert="horz" lIns="91146" tIns="45573" rIns="91146" bIns="45573" rtlCol="0"/>
          <a:lstStyle>
            <a:lvl1pPr algn="l">
              <a:defRPr sz="1200"/>
            </a:lvl1pPr>
          </a:lstStyle>
          <a:p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3713"/>
          </a:xfrm>
          <a:prstGeom prst="rect">
            <a:avLst/>
          </a:prstGeom>
        </p:spPr>
        <p:txBody>
          <a:bodyPr vert="horz" lIns="91146" tIns="45573" rIns="91146" bIns="45573" rtlCol="0"/>
          <a:lstStyle>
            <a:lvl1pPr algn="r">
              <a:defRPr sz="1200"/>
            </a:lvl1pPr>
          </a:lstStyle>
          <a:p>
            <a:fld id="{35F05CFF-548C-4E04-B325-CF1209D66BDC}" type="datetimeFigureOut">
              <a:rPr lang="en-US" altLang="ko-KR" smtClean="0">
                <a:latin typeface="Arial" pitchFamily="34" charset="0"/>
                <a:cs typeface="Arial" pitchFamily="34" charset="0"/>
              </a:rPr>
              <a:pPr/>
              <a:t>6/25/2020</a:t>
            </a:fld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378824"/>
            <a:ext cx="2945659" cy="493713"/>
          </a:xfrm>
          <a:prstGeom prst="rect">
            <a:avLst/>
          </a:prstGeom>
        </p:spPr>
        <p:txBody>
          <a:bodyPr vert="horz" lIns="91146" tIns="45573" rIns="91146" bIns="45573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378824"/>
            <a:ext cx="2945659" cy="493713"/>
          </a:xfrm>
          <a:prstGeom prst="rect">
            <a:avLst/>
          </a:prstGeom>
        </p:spPr>
        <p:txBody>
          <a:bodyPr vert="horz" lIns="91146" tIns="45573" rIns="91146" bIns="45573" rtlCol="0" anchor="b"/>
          <a:lstStyle>
            <a:lvl1pPr algn="r">
              <a:defRPr sz="1200"/>
            </a:lvl1pPr>
          </a:lstStyle>
          <a:p>
            <a:fld id="{4EE90EF7-3E10-491C-87C2-59674BB3AAF6}" type="slidenum">
              <a:rPr lang="en-US" altLang="ko-KR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70246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3713"/>
          </a:xfrm>
          <a:prstGeom prst="rect">
            <a:avLst/>
          </a:prstGeom>
        </p:spPr>
        <p:txBody>
          <a:bodyPr vert="horz" lIns="91146" tIns="45573" rIns="91146" bIns="45573" rtlCol="0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3713"/>
          </a:xfrm>
          <a:prstGeom prst="rect">
            <a:avLst/>
          </a:prstGeom>
        </p:spPr>
        <p:txBody>
          <a:bodyPr vert="horz" lIns="91146" tIns="45573" rIns="91146" bIns="45573" rtlCol="0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5EFB8DA3-BCA9-4B7D-B50D-14F47506B614}" type="datetimeFigureOut">
              <a:rPr lang="en-US" altLang="ko-KR" smtClean="0"/>
              <a:pPr/>
              <a:t>6/25/2020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46" tIns="45573" rIns="91146" bIns="45573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146" tIns="45573" rIns="91146" bIns="45573" rtlCol="0">
            <a:normAutofit/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378824"/>
            <a:ext cx="2945659" cy="493713"/>
          </a:xfrm>
          <a:prstGeom prst="rect">
            <a:avLst/>
          </a:prstGeom>
        </p:spPr>
        <p:txBody>
          <a:bodyPr vert="horz" lIns="91146" tIns="45573" rIns="91146" bIns="45573" rtlCol="0" anchor="b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378824"/>
            <a:ext cx="2945659" cy="493713"/>
          </a:xfrm>
          <a:prstGeom prst="rect">
            <a:avLst/>
          </a:prstGeom>
        </p:spPr>
        <p:txBody>
          <a:bodyPr vert="horz" lIns="91146" tIns="45573" rIns="91146" bIns="45573" rtlCol="0" anchor="b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F07B8F03-BC93-4120-96CA-A36DF640BE2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577826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B8F03-BC93-4120-96CA-A36DF640BE24}" type="slidenum">
              <a:rPr lang="en-US" altLang="ko-KR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1113267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B8F03-BC93-4120-96CA-A36DF640BE24}" type="slidenum">
              <a:rPr lang="en-US" altLang="ko-KR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753242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B8F03-BC93-4120-96CA-A36DF640BE24}" type="slidenum">
              <a:rPr lang="en-US" altLang="ko-KR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719008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B8F03-BC93-4120-96CA-A36DF640BE24}" type="slidenum">
              <a:rPr lang="en-US" altLang="ko-KR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4072285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B8F03-BC93-4120-96CA-A36DF640BE24}" type="slidenum">
              <a:rPr lang="en-US" altLang="ko-KR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1285624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B8F03-BC93-4120-96CA-A36DF640BE24}" type="slidenum">
              <a:rPr lang="en-US" altLang="ko-KR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1279899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B8F03-BC93-4120-96CA-A36DF640BE24}" type="slidenum">
              <a:rPr lang="en-US" altLang="ko-KR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1902961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B8F03-BC93-4120-96CA-A36DF640BE24}" type="slidenum">
              <a:rPr lang="en-US" altLang="ko-KR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1902961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B8F03-BC93-4120-96CA-A36DF640BE24}" type="slidenum">
              <a:rPr lang="en-US" altLang="ko-KR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3951353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B8F03-BC93-4120-96CA-A36DF640BE24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1808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6"/>
          <p:cNvSpPr>
            <a:spLocks noGrp="1"/>
          </p:cNvSpPr>
          <p:nvPr>
            <p:ph sz="quarter" idx="17" hasCustomPrompt="1"/>
          </p:nvPr>
        </p:nvSpPr>
        <p:spPr>
          <a:xfrm>
            <a:off x="1259632" y="2492896"/>
            <a:ext cx="6840000" cy="622800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381000" y="112474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 userDrawn="1"/>
        </p:nvSpPr>
        <p:spPr>
          <a:xfrm>
            <a:off x="381001" y="704728"/>
            <a:ext cx="1238672" cy="432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600" b="1" dirty="0">
                <a:solidFill>
                  <a:srgbClr val="233A63"/>
                </a:solidFill>
              </a:rPr>
              <a:t>Contents</a:t>
            </a:r>
            <a:endParaRPr lang="ko-KR" altLang="en-US" sz="1600" b="1" dirty="0" err="1">
              <a:solidFill>
                <a:srgbClr val="233A63"/>
              </a:solidFill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3474584" y="3321278"/>
            <a:ext cx="219483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98968"/>
            <a:r>
              <a:rPr lang="ko-KR" altLang="en-US" sz="800" dirty="0">
                <a:solidFill>
                  <a:srgbClr val="FFFFFF"/>
                </a:solidFill>
              </a:rPr>
              <a:t>ⓒ </a:t>
            </a:r>
            <a:r>
              <a:rPr lang="en-US" altLang="ko-KR" sz="800" dirty="0">
                <a:solidFill>
                  <a:srgbClr val="FFFFFF"/>
                </a:solidFill>
              </a:rPr>
              <a:t>2019 INDUSTRIAL X All rights reserved. </a:t>
            </a:r>
          </a:p>
        </p:txBody>
      </p:sp>
    </p:spTree>
    <p:extLst>
      <p:ext uri="{BB962C8B-B14F-4D97-AF65-F5344CB8AC3E}">
        <p14:creationId xmlns="" xmlns:p14="http://schemas.microsoft.com/office/powerpoint/2010/main" val="4000846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losing Statement">
    <p:bg>
      <p:bgPr>
        <a:solidFill>
          <a:srgbClr val="23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205" y="3212976"/>
            <a:ext cx="8096909" cy="518586"/>
          </a:xfrm>
        </p:spPr>
        <p:txBody>
          <a:bodyPr/>
          <a:lstStyle>
            <a:lvl1pPr>
              <a:defRPr sz="2823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cxnSp>
        <p:nvCxnSpPr>
          <p:cNvPr id="7" name="Shape 6"/>
          <p:cNvCxnSpPr/>
          <p:nvPr/>
        </p:nvCxnSpPr>
        <p:spPr>
          <a:xfrm rot="5400000" flipH="1" flipV="1">
            <a:off x="4402682" y="-3020542"/>
            <a:ext cx="1523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4"/>
          <p:cNvSpPr txBox="1">
            <a:spLocks noChangeArrowheads="1"/>
          </p:cNvSpPr>
          <p:nvPr userDrawn="1"/>
        </p:nvSpPr>
        <p:spPr bwMode="auto">
          <a:xfrm>
            <a:off x="6540280" y="416698"/>
            <a:ext cx="1488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FFFFFF"/>
                </a:solidFill>
                <a:ea typeface="돋움" pitchFamily="50" charset="-127"/>
                <a:cs typeface="Arial" charset="0"/>
              </a:rPr>
              <a:t>Synergy Realization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358868"/>
            <a:ext cx="565298" cy="577324"/>
          </a:xfrm>
          <a:prstGeom prst="rect">
            <a:avLst/>
          </a:prstGeom>
        </p:spPr>
      </p:pic>
      <p:sp>
        <p:nvSpPr>
          <p:cNvPr id="12" name="내용 개체 틀 1"/>
          <p:cNvSpPr txBox="1">
            <a:spLocks/>
          </p:cNvSpPr>
          <p:nvPr userDrawn="1"/>
        </p:nvSpPr>
        <p:spPr>
          <a:xfrm>
            <a:off x="3636656" y="6333200"/>
            <a:ext cx="1871448" cy="3361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Tx/>
              <a:buFontTx/>
              <a:buNone/>
              <a:tabLst/>
              <a:defRPr sz="1600" b="1" kern="1200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2pPr>
            <a:lvl3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-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3pPr>
            <a:lvl4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5pPr>
            <a:lvl6pPr marL="274320" marR="0" indent="-27432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6pPr>
            <a:lvl7pPr marL="54864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alpha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7pPr>
            <a:lvl8pPr marL="82296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roman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8pPr>
            <a:lvl9pPr marL="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None/>
              <a:defRPr sz="2000" b="1" kern="1200" baseline="0">
                <a:solidFill>
                  <a:schemeClr val="tx2"/>
                </a:solidFill>
                <a:latin typeface="Georgia" pitchFamily="18" charset="0"/>
                <a:ea typeface="+mn-ea"/>
                <a:cs typeface="+mn-cs"/>
              </a:defRPr>
            </a:lvl9pPr>
          </a:lstStyle>
          <a:p>
            <a:pPr indent="0" algn="ctr">
              <a:buClr>
                <a:srgbClr val="233A63"/>
              </a:buClr>
            </a:pPr>
            <a:r>
              <a:rPr lang="en-US" altLang="ko-KR" sz="1300" dirty="0">
                <a:solidFill>
                  <a:srgbClr val="FFFFFF"/>
                </a:solidFill>
              </a:rPr>
              <a:t>INDUSTIRAL X</a:t>
            </a:r>
          </a:p>
        </p:txBody>
      </p:sp>
    </p:spTree>
    <p:extLst>
      <p:ext uri="{BB962C8B-B14F-4D97-AF65-F5344CB8AC3E}">
        <p14:creationId xmlns="" xmlns:p14="http://schemas.microsoft.com/office/powerpoint/2010/main" val="2807784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884368" y="6237312"/>
            <a:ext cx="712800" cy="262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rgbClr val="233A63"/>
                </a:solidFill>
                <a:latin typeface="+mn-lt"/>
              </a:defRPr>
            </a:lvl1pPr>
          </a:lstStyle>
          <a:p>
            <a:fld id="{B68BC80C-B1D2-42DA-B465-5CACDB325AF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6" name="Content Placeholder 26"/>
          <p:cNvSpPr>
            <a:spLocks noGrp="1"/>
          </p:cNvSpPr>
          <p:nvPr>
            <p:ph sz="quarter" idx="15" hasCustomPrompt="1"/>
          </p:nvPr>
        </p:nvSpPr>
        <p:spPr>
          <a:xfrm>
            <a:off x="423610" y="6285440"/>
            <a:ext cx="6084000" cy="263624"/>
          </a:xfrm>
        </p:spPr>
        <p:txBody>
          <a:bodyPr/>
          <a:lstStyle>
            <a:lvl1pPr latinLnBrk="0">
              <a:defRPr sz="1000" b="0" baseline="0">
                <a:latin typeface="+mn-lt"/>
                <a:ea typeface="맑은 고딕" panose="020B0503020000020004" pitchFamily="50" charset="-127"/>
              </a:defRPr>
            </a:lvl1pPr>
            <a:lvl2pPr latinLnBrk="0">
              <a:defRPr sz="10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0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0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0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1" y="332656"/>
            <a:ext cx="6513095" cy="326488"/>
          </a:xfrm>
        </p:spPr>
        <p:txBody>
          <a:bodyPr/>
          <a:lstStyle>
            <a:lvl1pPr>
              <a:defRPr sz="1800" baseline="0">
                <a:solidFill>
                  <a:srgbClr val="233A63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4" name="직선 연결선 3"/>
          <p:cNvCxnSpPr>
            <a:cxnSpLocks/>
          </p:cNvCxnSpPr>
          <p:nvPr userDrawn="1"/>
        </p:nvCxnSpPr>
        <p:spPr>
          <a:xfrm>
            <a:off x="251520" y="1124744"/>
            <a:ext cx="8641655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6"/>
          <p:cNvSpPr>
            <a:spLocks noGrp="1"/>
          </p:cNvSpPr>
          <p:nvPr>
            <p:ph sz="quarter" idx="16" hasCustomPrompt="1"/>
          </p:nvPr>
        </p:nvSpPr>
        <p:spPr>
          <a:xfrm>
            <a:off x="381001" y="695058"/>
            <a:ext cx="6513095" cy="389801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cxnSp>
        <p:nvCxnSpPr>
          <p:cNvPr id="11" name="직선 연결선 10"/>
          <p:cNvCxnSpPr/>
          <p:nvPr/>
        </p:nvCxnSpPr>
        <p:spPr>
          <a:xfrm flipV="1">
            <a:off x="8609834" y="6237328"/>
            <a:ext cx="0" cy="21600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 flipV="1">
            <a:off x="8609834" y="6237328"/>
            <a:ext cx="0" cy="21600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 userDrawn="1"/>
        </p:nvCxnSpPr>
        <p:spPr>
          <a:xfrm flipV="1">
            <a:off x="8609834" y="6237328"/>
            <a:ext cx="0" cy="21600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3">
            <a:extLst>
              <a:ext uri="{FF2B5EF4-FFF2-40B4-BE49-F238E27FC236}">
                <a16:creationId xmlns="" xmlns:a16="http://schemas.microsoft.com/office/drawing/2014/main" id="{A78797A1-C972-4185-BA1F-BA179BD098E7}"/>
              </a:ext>
            </a:extLst>
          </p:cNvPr>
          <p:cNvCxnSpPr>
            <a:cxnSpLocks/>
          </p:cNvCxnSpPr>
          <p:nvPr userDrawn="1"/>
        </p:nvCxnSpPr>
        <p:spPr>
          <a:xfrm>
            <a:off x="251520" y="6165304"/>
            <a:ext cx="8641655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545767660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787" userDrawn="1">
          <p15:clr>
            <a:srgbClr val="FBAE40"/>
          </p15:clr>
        </p15:guide>
        <p15:guide id="2" pos="5602" userDrawn="1">
          <p15:clr>
            <a:srgbClr val="FBAE40"/>
          </p15:clr>
        </p15:guide>
        <p15:guide id="3" pos="158" userDrawn="1">
          <p15:clr>
            <a:srgbClr val="FBAE40"/>
          </p15:clr>
        </p15:guide>
        <p15:guide id="4" pos="1973" userDrawn="1">
          <p15:clr>
            <a:srgbClr val="FBAE40"/>
          </p15:clr>
        </p15:guide>
        <p15:guide id="5" pos="2880" userDrawn="1">
          <p15:clr>
            <a:srgbClr val="FBAE40"/>
          </p15:clr>
        </p15:guide>
        <p15:guide id="6" orient="horz" pos="3793" userDrawn="1">
          <p15:clr>
            <a:srgbClr val="FBAE40"/>
          </p15:clr>
        </p15:guide>
        <p15:guide id="7" orient="horz" pos="1117" userDrawn="1">
          <p15:clr>
            <a:srgbClr val="FBAE40"/>
          </p15:clr>
        </p15:guide>
        <p15:guide id="8" orient="horz" pos="13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6"/>
          <p:cNvSpPr>
            <a:spLocks noGrp="1"/>
          </p:cNvSpPr>
          <p:nvPr>
            <p:ph sz="quarter" idx="17" hasCustomPrompt="1"/>
          </p:nvPr>
        </p:nvSpPr>
        <p:spPr>
          <a:xfrm>
            <a:off x="396296" y="3429000"/>
            <a:ext cx="6840000" cy="481385"/>
          </a:xfrm>
        </p:spPr>
        <p:txBody>
          <a:bodyPr/>
          <a:lstStyle>
            <a:lvl1pPr latinLnBrk="0">
              <a:defRPr sz="18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sp>
        <p:nvSpPr>
          <p:cNvPr id="24" name="Content Placeholder 26"/>
          <p:cNvSpPr>
            <a:spLocks noGrp="1"/>
          </p:cNvSpPr>
          <p:nvPr>
            <p:ph sz="quarter" idx="18" hasCustomPrompt="1"/>
          </p:nvPr>
        </p:nvSpPr>
        <p:spPr>
          <a:xfrm>
            <a:off x="396296" y="2852936"/>
            <a:ext cx="6840000" cy="482642"/>
          </a:xfrm>
        </p:spPr>
        <p:txBody>
          <a:bodyPr/>
          <a:lstStyle>
            <a:lvl1pPr latinLnBrk="0">
              <a:defRPr sz="24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sp>
        <p:nvSpPr>
          <p:cNvPr id="25" name="Content Placeholder 26"/>
          <p:cNvSpPr>
            <a:spLocks noGrp="1"/>
          </p:cNvSpPr>
          <p:nvPr>
            <p:ph sz="quarter" idx="19" hasCustomPrompt="1"/>
          </p:nvPr>
        </p:nvSpPr>
        <p:spPr>
          <a:xfrm>
            <a:off x="396296" y="4174352"/>
            <a:ext cx="6840000" cy="338626"/>
          </a:xfrm>
        </p:spPr>
        <p:txBody>
          <a:bodyPr/>
          <a:lstStyle>
            <a:lvl1pPr latinLnBrk="0">
              <a:defRPr sz="1400" b="1" baseline="0">
                <a:solidFill>
                  <a:schemeClr val="accent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cxnSp>
        <p:nvCxnSpPr>
          <p:cNvPr id="57" name="직선 연결선 56"/>
          <p:cNvCxnSpPr/>
          <p:nvPr userDrawn="1"/>
        </p:nvCxnSpPr>
        <p:spPr>
          <a:xfrm>
            <a:off x="381000" y="453318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22929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81000" y="609600"/>
            <a:ext cx="8229600" cy="0"/>
          </a:xfrm>
          <a:prstGeom prst="line">
            <a:avLst/>
          </a:prstGeom>
          <a:ln w="1905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077200" cy="276944"/>
          </a:xfrm>
        </p:spPr>
        <p:txBody>
          <a:bodyPr anchor="ctr"/>
          <a:lstStyle>
            <a:lvl1pPr>
              <a:defRPr sz="1600" i="0">
                <a:solidFill>
                  <a:srgbClr val="233A63"/>
                </a:solidFill>
                <a:latin typeface="+mn-lt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67544" y="706810"/>
            <a:ext cx="8077200" cy="623664"/>
          </a:xfrm>
        </p:spPr>
        <p:txBody>
          <a:bodyPr/>
          <a:lstStyle>
            <a:lvl1pPr latinLnBrk="0">
              <a:defRPr sz="1600" b="1" baseline="0">
                <a:latin typeface="+mn-lt"/>
                <a:ea typeface="맑은 고딕" panose="020B0503020000020004" pitchFamily="50" charset="-127"/>
              </a:defRPr>
            </a:lvl1pPr>
            <a:lvl2pPr latinLnBrk="0">
              <a:defRPr sz="16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6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6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6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ko-KR" altLang="en-US" noProof="0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381000" y="609600"/>
            <a:ext cx="8229600" cy="0"/>
          </a:xfrm>
          <a:prstGeom prst="line">
            <a:avLst/>
          </a:prstGeom>
          <a:ln w="1905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 userDrawn="1"/>
        </p:nvCxnSpPr>
        <p:spPr>
          <a:xfrm>
            <a:off x="381000" y="609600"/>
            <a:ext cx="8229600" cy="0"/>
          </a:xfrm>
          <a:prstGeom prst="line">
            <a:avLst/>
          </a:prstGeom>
          <a:ln w="1905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72682746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204" userDrawn="1">
          <p15:clr>
            <a:srgbClr val="FBAE40"/>
          </p15:clr>
        </p15:guide>
        <p15:guide id="2" pos="446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: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366936"/>
          </a:xfrm>
        </p:spPr>
        <p:txBody>
          <a:bodyPr wrap="square"/>
          <a:lstStyle>
            <a:lvl1pPr>
              <a:defRPr sz="1800" i="0"/>
            </a:lvl1pPr>
          </a:lstStyle>
          <a:p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cxnSp>
        <p:nvCxnSpPr>
          <p:cNvPr id="15" name="Shape 14"/>
          <p:cNvCxnSpPr/>
          <p:nvPr/>
        </p:nvCxnSpPr>
        <p:spPr>
          <a:xfrm rot="5400000" flipH="1" flipV="1">
            <a:off x="4419602" y="-3429000"/>
            <a:ext cx="152399" cy="8229600"/>
          </a:xfrm>
          <a:prstGeom prst="bentConnector2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889684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6"/>
          <p:cNvSpPr>
            <a:spLocks noGrp="1"/>
          </p:cNvSpPr>
          <p:nvPr>
            <p:ph sz="quarter" idx="16" hasCustomPrompt="1"/>
          </p:nvPr>
        </p:nvSpPr>
        <p:spPr>
          <a:xfrm>
            <a:off x="467544" y="429072"/>
            <a:ext cx="8077200" cy="623664"/>
          </a:xfrm>
        </p:spPr>
        <p:txBody>
          <a:bodyPr/>
          <a:lstStyle>
            <a:lvl1pPr latinLnBrk="0">
              <a:defRPr sz="1800" b="1" baseline="0"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381000" y="1124744"/>
            <a:ext cx="8229600" cy="0"/>
          </a:xfrm>
          <a:prstGeom prst="line">
            <a:avLst/>
          </a:prstGeom>
          <a:ln w="28575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>
            <a:off x="381000" y="1124744"/>
            <a:ext cx="8229600" cy="0"/>
          </a:xfrm>
          <a:prstGeom prst="line">
            <a:avLst/>
          </a:prstGeom>
          <a:ln w="28575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 userDrawn="1"/>
        </p:nvCxnSpPr>
        <p:spPr>
          <a:xfrm>
            <a:off x="381000" y="1124744"/>
            <a:ext cx="8229600" cy="0"/>
          </a:xfrm>
          <a:prstGeom prst="line">
            <a:avLst/>
          </a:prstGeom>
          <a:ln w="28575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97421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381000" y="609600"/>
            <a:ext cx="8229600" cy="0"/>
          </a:xfrm>
          <a:prstGeom prst="line">
            <a:avLst/>
          </a:prstGeom>
          <a:ln w="254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 bwMode="ltGray">
          <a:xfrm>
            <a:off x="347592" y="331712"/>
            <a:ext cx="1980000" cy="20493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b="1" dirty="0">
                <a:solidFill>
                  <a:srgbClr val="233A63"/>
                </a:solidFill>
                <a:latin typeface="Franklin Gothic Demi Cond" panose="020B0706030402020204" pitchFamily="34" charset="0"/>
                <a:ea typeface="문체부 바탕체" panose="02030609000101010101" pitchFamily="17" charset="-127"/>
              </a:rPr>
              <a:t>INDUSTRIAL</a:t>
            </a:r>
            <a:r>
              <a:rPr lang="en-US" altLang="ko-KR" sz="2000" b="1" dirty="0">
                <a:solidFill>
                  <a:srgbClr val="233A63"/>
                </a:solidFill>
                <a:latin typeface="Franklin Gothic Demi Cond" panose="020B0706030402020204" pitchFamily="34" charset="0"/>
              </a:rPr>
              <a:t> X</a:t>
            </a:r>
            <a:endParaRPr lang="ko-KR" altLang="en-US" sz="2000" b="1" dirty="0">
              <a:solidFill>
                <a:srgbClr val="233A63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Content Placeholder 26"/>
          <p:cNvSpPr>
            <a:spLocks noGrp="1"/>
          </p:cNvSpPr>
          <p:nvPr>
            <p:ph sz="quarter" idx="16" hasCustomPrompt="1"/>
          </p:nvPr>
        </p:nvSpPr>
        <p:spPr>
          <a:xfrm>
            <a:off x="431632" y="681008"/>
            <a:ext cx="8184848" cy="623664"/>
          </a:xfrm>
        </p:spPr>
        <p:txBody>
          <a:bodyPr/>
          <a:lstStyle>
            <a:lvl1pPr latinLnBrk="0">
              <a:defRPr sz="1800" b="1" baseline="0"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81000" y="609600"/>
            <a:ext cx="8229600" cy="0"/>
          </a:xfrm>
          <a:prstGeom prst="line">
            <a:avLst/>
          </a:prstGeom>
          <a:ln w="254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 bwMode="ltGray">
          <a:xfrm>
            <a:off x="347592" y="331712"/>
            <a:ext cx="1980000" cy="20493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b="1" dirty="0">
                <a:solidFill>
                  <a:srgbClr val="233A63"/>
                </a:solidFill>
                <a:latin typeface="Franklin Gothic Demi Cond" panose="020B0706030402020204" pitchFamily="34" charset="0"/>
                <a:ea typeface="문체부 바탕체" panose="02030609000101010101" pitchFamily="17" charset="-127"/>
              </a:rPr>
              <a:t>INDUSTRIAL</a:t>
            </a:r>
            <a:r>
              <a:rPr lang="en-US" altLang="ko-KR" sz="2000" b="1" dirty="0">
                <a:solidFill>
                  <a:srgbClr val="233A63"/>
                </a:solidFill>
                <a:latin typeface="Franklin Gothic Demi Cond" panose="020B0706030402020204" pitchFamily="34" charset="0"/>
              </a:rPr>
              <a:t> X</a:t>
            </a:r>
            <a:endParaRPr lang="ko-KR" altLang="en-US" sz="2000" b="1" dirty="0">
              <a:solidFill>
                <a:srgbClr val="233A63"/>
              </a:solidFill>
              <a:latin typeface="Franklin Gothic Demi Cond" panose="020B0706030402020204" pitchFamily="34" charset="0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381000" y="609600"/>
            <a:ext cx="8229600" cy="0"/>
          </a:xfrm>
          <a:prstGeom prst="line">
            <a:avLst/>
          </a:prstGeom>
          <a:ln w="254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 userDrawn="1"/>
        </p:nvSpPr>
        <p:spPr bwMode="ltGray">
          <a:xfrm>
            <a:off x="347592" y="331712"/>
            <a:ext cx="1980000" cy="20493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b="1" dirty="0">
                <a:solidFill>
                  <a:srgbClr val="233A63"/>
                </a:solidFill>
                <a:latin typeface="Franklin Gothic Demi Cond" panose="020B0706030402020204" pitchFamily="34" charset="0"/>
                <a:ea typeface="문체부 바탕체" panose="02030609000101010101" pitchFamily="17" charset="-127"/>
              </a:rPr>
              <a:t>INDUSTRIAL</a:t>
            </a:r>
            <a:r>
              <a:rPr lang="en-US" altLang="ko-KR" sz="2000" b="1" dirty="0">
                <a:solidFill>
                  <a:srgbClr val="233A63"/>
                </a:solidFill>
                <a:latin typeface="Franklin Gothic Demi Cond" panose="020B0706030402020204" pitchFamily="34" charset="0"/>
              </a:rPr>
              <a:t> X</a:t>
            </a:r>
            <a:endParaRPr lang="ko-KR" altLang="en-US" sz="2000" b="1" dirty="0">
              <a:solidFill>
                <a:srgbClr val="233A63"/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01036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75321" y="366208"/>
            <a:ext cx="7418929" cy="326488"/>
          </a:xfrm>
        </p:spPr>
        <p:txBody>
          <a:bodyPr/>
          <a:lstStyle>
            <a:lvl1pPr>
              <a:defRPr sz="1800" baseline="0">
                <a:solidFill>
                  <a:srgbClr val="233A63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368752"/>
            <a:ext cx="565298" cy="577324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381000" y="112474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6"/>
          <p:cNvSpPr>
            <a:spLocks noGrp="1"/>
          </p:cNvSpPr>
          <p:nvPr>
            <p:ph sz="quarter" idx="16" hasCustomPrompt="1"/>
          </p:nvPr>
        </p:nvSpPr>
        <p:spPr>
          <a:xfrm>
            <a:off x="1175321" y="717104"/>
            <a:ext cx="7435280" cy="623664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368752"/>
            <a:ext cx="565298" cy="577324"/>
          </a:xfrm>
          <a:prstGeom prst="rect">
            <a:avLst/>
          </a:prstGeom>
        </p:spPr>
      </p:pic>
      <p:cxnSp>
        <p:nvCxnSpPr>
          <p:cNvPr id="9" name="직선 연결선 8"/>
          <p:cNvCxnSpPr/>
          <p:nvPr/>
        </p:nvCxnSpPr>
        <p:spPr>
          <a:xfrm>
            <a:off x="381000" y="112474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368752"/>
            <a:ext cx="565298" cy="577324"/>
          </a:xfrm>
          <a:prstGeom prst="rect">
            <a:avLst/>
          </a:prstGeom>
        </p:spPr>
      </p:pic>
      <p:cxnSp>
        <p:nvCxnSpPr>
          <p:cNvPr id="12" name="직선 연결선 11"/>
          <p:cNvCxnSpPr/>
          <p:nvPr userDrawn="1"/>
        </p:nvCxnSpPr>
        <p:spPr>
          <a:xfrm>
            <a:off x="381000" y="112474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957545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="" xmlns:p14="http://schemas.microsoft.com/office/powerpoint/2010/main" val="3743089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tatement">
    <p:bg>
      <p:bgPr>
        <a:solidFill>
          <a:srgbClr val="23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3399" y="6097073"/>
            <a:ext cx="5497314" cy="762197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defTabSz="898968"/>
            <a:r>
              <a:rPr lang="ko-KR" altLang="en-US" sz="794" dirty="0">
                <a:solidFill>
                  <a:srgbClr val="FFFFFF"/>
                </a:solidFill>
              </a:rPr>
              <a:t>ⓒ </a:t>
            </a:r>
            <a:r>
              <a:rPr lang="en-US" altLang="ko-KR" sz="794" dirty="0">
                <a:solidFill>
                  <a:srgbClr val="FFFFFF"/>
                </a:solidFill>
              </a:rPr>
              <a:t>2019 INDUSTRIAL X All rights reserved. </a:t>
            </a:r>
          </a:p>
          <a:p>
            <a:pPr defTabSz="898968"/>
            <a:endParaRPr lang="en-US" altLang="ko-KR" sz="794" dirty="0">
              <a:solidFill>
                <a:srgbClr val="FFFFFF"/>
              </a:solidFill>
            </a:endParaRPr>
          </a:p>
          <a:p>
            <a:pPr defTabSz="898968"/>
            <a:endParaRPr lang="ko-KR" altLang="en-US" sz="794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694" y="685801"/>
            <a:ext cx="8096909" cy="518586"/>
          </a:xfrm>
        </p:spPr>
        <p:txBody>
          <a:bodyPr/>
          <a:lstStyle>
            <a:lvl1pPr>
              <a:defRPr sz="2823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cxnSp>
        <p:nvCxnSpPr>
          <p:cNvPr id="7" name="Shape 6"/>
          <p:cNvCxnSpPr/>
          <p:nvPr/>
        </p:nvCxnSpPr>
        <p:spPr>
          <a:xfrm rot="5400000" flipH="1" flipV="1">
            <a:off x="4419603" y="-3429000"/>
            <a:ext cx="1523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3399" y="6097073"/>
            <a:ext cx="5497314" cy="762197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defTabSz="898968"/>
            <a:r>
              <a:rPr lang="ko-KR" altLang="en-US" sz="794" dirty="0">
                <a:solidFill>
                  <a:srgbClr val="FFFFFF"/>
                </a:solidFill>
              </a:rPr>
              <a:t>ⓒ </a:t>
            </a:r>
            <a:r>
              <a:rPr lang="en-US" altLang="ko-KR" sz="794" dirty="0">
                <a:solidFill>
                  <a:srgbClr val="FFFFFF"/>
                </a:solidFill>
              </a:rPr>
              <a:t>2019 INDUSTRIAL X All rights reserved. </a:t>
            </a:r>
          </a:p>
          <a:p>
            <a:pPr defTabSz="898968"/>
            <a:endParaRPr lang="en-US" altLang="ko-KR" sz="794" dirty="0">
              <a:solidFill>
                <a:srgbClr val="FFFFFF"/>
              </a:solidFill>
            </a:endParaRPr>
          </a:p>
          <a:p>
            <a:pPr defTabSz="898968"/>
            <a:endParaRPr lang="ko-KR" altLang="en-US" sz="794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533399" y="6097073"/>
            <a:ext cx="5497314" cy="762197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defTabSz="898968"/>
            <a:r>
              <a:rPr lang="ko-KR" altLang="en-US" sz="794" dirty="0">
                <a:solidFill>
                  <a:srgbClr val="FFFFFF"/>
                </a:solidFill>
              </a:rPr>
              <a:t>ⓒ </a:t>
            </a:r>
            <a:r>
              <a:rPr lang="en-US" altLang="ko-KR" sz="794" dirty="0">
                <a:solidFill>
                  <a:srgbClr val="FFFFFF"/>
                </a:solidFill>
              </a:rPr>
              <a:t>2019 INDUSTRIAL X All rights reserved. </a:t>
            </a:r>
          </a:p>
          <a:p>
            <a:pPr defTabSz="898968"/>
            <a:endParaRPr lang="en-US" altLang="ko-KR" sz="794" dirty="0">
              <a:solidFill>
                <a:srgbClr val="FFFFFF"/>
              </a:solidFill>
            </a:endParaRPr>
          </a:p>
          <a:p>
            <a:pPr defTabSz="898968"/>
            <a:endParaRPr lang="ko-KR" altLang="en-US" sz="794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81119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point: Colour">
    <p:bg>
      <p:bgPr>
        <a:solidFill>
          <a:srgbClr val="23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914400"/>
          </a:xfrm>
        </p:spPr>
        <p:txBody>
          <a:bodyPr/>
          <a:lstStyle>
            <a:lvl1pPr>
              <a:lnSpc>
                <a:spcPct val="100000"/>
              </a:lnSpc>
              <a:defRPr i="0" baseline="0">
                <a:solidFill>
                  <a:schemeClr val="bg1"/>
                </a:solidFill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077200" cy="4419600"/>
          </a:xfrm>
        </p:spPr>
        <p:txBody>
          <a:bodyPr>
            <a:noAutofit/>
          </a:bodyPr>
          <a:lstStyle>
            <a:lvl1pPr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defRPr sz="3200" baseline="0">
                <a:solidFill>
                  <a:schemeClr val="bg1"/>
                </a:solidFill>
              </a:defRPr>
            </a:lvl1pPr>
            <a:lvl2pPr marL="444500" indent="-263525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2pPr>
            <a:lvl3pPr marL="714375" indent="-266700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3pPr>
            <a:lvl4pPr marL="984250" indent="-266700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4pPr>
            <a:lvl5pPr marL="1341438" indent="-266700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5pPr>
            <a:lvl6pPr marL="1611313" indent="-271463">
              <a:lnSpc>
                <a:spcPts val="3600"/>
              </a:lnSpc>
              <a:spcBef>
                <a:spcPts val="0"/>
              </a:spcBef>
              <a:spcAft>
                <a:spcPts val="60"/>
              </a:spcAft>
              <a:buClr>
                <a:schemeClr val="bg1"/>
              </a:buClr>
              <a:buFont typeface="Arial" pitchFamily="34" charset="0"/>
              <a:buNone/>
              <a:defRPr sz="2800">
                <a:solidFill>
                  <a:schemeClr val="bg1"/>
                </a:solidFill>
              </a:defRPr>
            </a:lvl6pPr>
            <a:lvl7pPr>
              <a:defRPr sz="2800">
                <a:solidFill>
                  <a:schemeClr val="bg1"/>
                </a:solidFill>
              </a:defRPr>
            </a:lvl7pPr>
            <a:lvl8pPr>
              <a:lnSpc>
                <a:spcPts val="3600"/>
              </a:lnSpc>
              <a:defRPr sz="2800">
                <a:solidFill>
                  <a:schemeClr val="bg1"/>
                </a:solidFill>
              </a:defRPr>
            </a:lvl8pPr>
            <a:lvl9pPr>
              <a:defRPr sz="2800">
                <a:solidFill>
                  <a:schemeClr val="bg1"/>
                </a:solidFill>
              </a:defRPr>
            </a:lvl9pPr>
          </a:lstStyle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ko-KR" altLang="en-US" noProof="0" dirty="0"/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4419602" y="-3429000"/>
            <a:ext cx="152399" cy="82296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244563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6"/>
          <p:cNvSpPr>
            <a:spLocks noGrp="1"/>
          </p:cNvSpPr>
          <p:nvPr>
            <p:ph sz="quarter" idx="17" hasCustomPrompt="1"/>
          </p:nvPr>
        </p:nvSpPr>
        <p:spPr>
          <a:xfrm>
            <a:off x="1259632" y="2492896"/>
            <a:ext cx="6840000" cy="622800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302" y="368752"/>
            <a:ext cx="565298" cy="577324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381000" y="112474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6540280" y="416698"/>
            <a:ext cx="1488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233A63"/>
                </a:solidFill>
                <a:ea typeface="돋움" pitchFamily="50" charset="-127"/>
                <a:cs typeface="Arial" charset="0"/>
              </a:rPr>
              <a:t>Synergy Realization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1" y="704728"/>
            <a:ext cx="1238672" cy="432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600" b="1" dirty="0">
                <a:solidFill>
                  <a:srgbClr val="233A63"/>
                </a:solidFill>
              </a:rPr>
              <a:t>Contents</a:t>
            </a:r>
            <a:endParaRPr lang="ko-KR" altLang="en-US" sz="1600" b="1" dirty="0" err="1">
              <a:solidFill>
                <a:srgbClr val="233A63"/>
              </a:solidFill>
            </a:endParaRPr>
          </a:p>
        </p:txBody>
      </p:sp>
      <p:sp>
        <p:nvSpPr>
          <p:cNvPr id="21" name="내용 개체 틀 1"/>
          <p:cNvSpPr txBox="1">
            <a:spLocks/>
          </p:cNvSpPr>
          <p:nvPr/>
        </p:nvSpPr>
        <p:spPr>
          <a:xfrm>
            <a:off x="3636656" y="6333200"/>
            <a:ext cx="1871448" cy="3361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Tx/>
              <a:buFontTx/>
              <a:buNone/>
              <a:tabLst/>
              <a:defRPr sz="1600" b="1" kern="1200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2pPr>
            <a:lvl3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-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3pPr>
            <a:lvl4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5pPr>
            <a:lvl6pPr marL="274320" marR="0" indent="-27432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6pPr>
            <a:lvl7pPr marL="54864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alpha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7pPr>
            <a:lvl8pPr marL="82296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roman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8pPr>
            <a:lvl9pPr marL="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None/>
              <a:defRPr sz="2000" b="1" kern="1200" baseline="0">
                <a:solidFill>
                  <a:schemeClr val="tx2"/>
                </a:solidFill>
                <a:latin typeface="Georgia" pitchFamily="18" charset="0"/>
                <a:ea typeface="+mn-ea"/>
                <a:cs typeface="+mn-cs"/>
              </a:defRPr>
            </a:lvl9pPr>
          </a:lstStyle>
          <a:p>
            <a:pPr indent="0" algn="ctr">
              <a:buClr>
                <a:srgbClr val="233A63"/>
              </a:buClr>
            </a:pPr>
            <a:r>
              <a:rPr lang="en-US" altLang="ko-KR" sz="1300" dirty="0"/>
              <a:t>INDUSTIRAL X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302" y="368752"/>
            <a:ext cx="565298" cy="577324"/>
          </a:xfrm>
          <a:prstGeom prst="rect">
            <a:avLst/>
          </a:prstGeom>
        </p:spPr>
      </p:pic>
      <p:cxnSp>
        <p:nvCxnSpPr>
          <p:cNvPr id="11" name="직선 연결선 10"/>
          <p:cNvCxnSpPr/>
          <p:nvPr userDrawn="1"/>
        </p:nvCxnSpPr>
        <p:spPr>
          <a:xfrm>
            <a:off x="381000" y="112474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4"/>
          <p:cNvSpPr txBox="1">
            <a:spLocks noChangeArrowheads="1"/>
          </p:cNvSpPr>
          <p:nvPr userDrawn="1"/>
        </p:nvSpPr>
        <p:spPr bwMode="auto">
          <a:xfrm>
            <a:off x="6540280" y="416698"/>
            <a:ext cx="1488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233A63"/>
                </a:solidFill>
                <a:ea typeface="돋움" pitchFamily="50" charset="-127"/>
                <a:cs typeface="Arial" charset="0"/>
              </a:rPr>
              <a:t>Synergy Realization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381001" y="704728"/>
            <a:ext cx="1238672" cy="432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600" b="1" dirty="0">
                <a:solidFill>
                  <a:srgbClr val="233A63"/>
                </a:solidFill>
              </a:rPr>
              <a:t>Contents</a:t>
            </a:r>
            <a:endParaRPr lang="ko-KR" altLang="en-US" sz="1600" b="1" dirty="0" err="1">
              <a:solidFill>
                <a:srgbClr val="233A63"/>
              </a:solidFill>
            </a:endParaRPr>
          </a:p>
        </p:txBody>
      </p:sp>
      <p:sp>
        <p:nvSpPr>
          <p:cNvPr id="16" name="내용 개체 틀 1"/>
          <p:cNvSpPr txBox="1">
            <a:spLocks/>
          </p:cNvSpPr>
          <p:nvPr userDrawn="1"/>
        </p:nvSpPr>
        <p:spPr>
          <a:xfrm>
            <a:off x="3636656" y="6333200"/>
            <a:ext cx="1871448" cy="3361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Tx/>
              <a:buFontTx/>
              <a:buNone/>
              <a:tabLst/>
              <a:defRPr sz="1600" b="1" kern="1200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2pPr>
            <a:lvl3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-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3pPr>
            <a:lvl4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5pPr>
            <a:lvl6pPr marL="274320" marR="0" indent="-27432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6pPr>
            <a:lvl7pPr marL="54864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alpha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7pPr>
            <a:lvl8pPr marL="82296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roman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8pPr>
            <a:lvl9pPr marL="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None/>
              <a:defRPr sz="2000" b="1" kern="1200" baseline="0">
                <a:solidFill>
                  <a:schemeClr val="tx2"/>
                </a:solidFill>
                <a:latin typeface="Georgia" pitchFamily="18" charset="0"/>
                <a:ea typeface="+mn-ea"/>
                <a:cs typeface="+mn-cs"/>
              </a:defRPr>
            </a:lvl9pPr>
          </a:lstStyle>
          <a:p>
            <a:pPr indent="0" algn="ctr">
              <a:buClr>
                <a:srgbClr val="233A63"/>
              </a:buClr>
            </a:pPr>
            <a:r>
              <a:rPr lang="en-US" altLang="ko-KR" sz="1300" dirty="0"/>
              <a:t>INDUSTIRAL X</a:t>
            </a:r>
          </a:p>
        </p:txBody>
      </p:sp>
    </p:spTree>
    <p:extLst>
      <p:ext uri="{BB962C8B-B14F-4D97-AF65-F5344CB8AC3E}">
        <p14:creationId xmlns="" xmlns:p14="http://schemas.microsoft.com/office/powerpoint/2010/main" val="1827021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6"/>
          <p:cNvSpPr>
            <a:spLocks noGrp="1"/>
          </p:cNvSpPr>
          <p:nvPr>
            <p:ph sz="quarter" idx="17" hasCustomPrompt="1"/>
          </p:nvPr>
        </p:nvSpPr>
        <p:spPr>
          <a:xfrm>
            <a:off x="1259632" y="2492896"/>
            <a:ext cx="6840000" cy="622800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302" y="368752"/>
            <a:ext cx="565298" cy="577324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381000" y="112474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6540280" y="416698"/>
            <a:ext cx="1488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233A63"/>
                </a:solidFill>
                <a:ea typeface="돋움" pitchFamily="50" charset="-127"/>
                <a:cs typeface="Arial" charset="0"/>
              </a:rPr>
              <a:t>Synergy Realization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1" y="704728"/>
            <a:ext cx="1238672" cy="432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600" b="1" dirty="0">
                <a:solidFill>
                  <a:srgbClr val="233A63"/>
                </a:solidFill>
              </a:rPr>
              <a:t>Contents</a:t>
            </a:r>
            <a:endParaRPr lang="ko-KR" altLang="en-US" sz="1600" b="1" dirty="0" err="1">
              <a:solidFill>
                <a:srgbClr val="233A63"/>
              </a:solidFill>
            </a:endParaRPr>
          </a:p>
        </p:txBody>
      </p:sp>
      <p:sp>
        <p:nvSpPr>
          <p:cNvPr id="21" name="내용 개체 틀 1"/>
          <p:cNvSpPr txBox="1">
            <a:spLocks/>
          </p:cNvSpPr>
          <p:nvPr/>
        </p:nvSpPr>
        <p:spPr>
          <a:xfrm>
            <a:off x="3636656" y="6333200"/>
            <a:ext cx="1871448" cy="3361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Tx/>
              <a:buFontTx/>
              <a:buNone/>
              <a:tabLst/>
              <a:defRPr sz="1600" b="1" kern="1200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2pPr>
            <a:lvl3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-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3pPr>
            <a:lvl4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5pPr>
            <a:lvl6pPr marL="274320" marR="0" indent="-27432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6pPr>
            <a:lvl7pPr marL="54864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alpha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7pPr>
            <a:lvl8pPr marL="82296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roman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8pPr>
            <a:lvl9pPr marL="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None/>
              <a:defRPr sz="2000" b="1" kern="1200" baseline="0">
                <a:solidFill>
                  <a:schemeClr val="tx2"/>
                </a:solidFill>
                <a:latin typeface="Georgia" pitchFamily="18" charset="0"/>
                <a:ea typeface="+mn-ea"/>
                <a:cs typeface="+mn-cs"/>
              </a:defRPr>
            </a:lvl9pPr>
          </a:lstStyle>
          <a:p>
            <a:pPr indent="0" algn="ctr">
              <a:buClr>
                <a:srgbClr val="233A63"/>
              </a:buClr>
            </a:pPr>
            <a:r>
              <a:rPr lang="en-US" altLang="ko-KR" sz="1300" dirty="0"/>
              <a:t>INDUSTIRAL X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302" y="368752"/>
            <a:ext cx="565298" cy="577324"/>
          </a:xfrm>
          <a:prstGeom prst="rect">
            <a:avLst/>
          </a:prstGeom>
        </p:spPr>
      </p:pic>
      <p:cxnSp>
        <p:nvCxnSpPr>
          <p:cNvPr id="11" name="직선 연결선 10"/>
          <p:cNvCxnSpPr>
            <a:cxnSpLocks/>
          </p:cNvCxnSpPr>
          <p:nvPr userDrawn="1"/>
        </p:nvCxnSpPr>
        <p:spPr>
          <a:xfrm>
            <a:off x="250825" y="1124744"/>
            <a:ext cx="864235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4"/>
          <p:cNvSpPr txBox="1">
            <a:spLocks noChangeArrowheads="1"/>
          </p:cNvSpPr>
          <p:nvPr userDrawn="1"/>
        </p:nvSpPr>
        <p:spPr bwMode="auto">
          <a:xfrm>
            <a:off x="6540280" y="416698"/>
            <a:ext cx="1488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233A63"/>
                </a:solidFill>
                <a:ea typeface="돋움" pitchFamily="50" charset="-127"/>
                <a:cs typeface="Arial" charset="0"/>
              </a:rPr>
              <a:t>Synergy Realization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381001" y="704728"/>
            <a:ext cx="1238672" cy="432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600" b="1" dirty="0">
                <a:solidFill>
                  <a:srgbClr val="233A63"/>
                </a:solidFill>
              </a:rPr>
              <a:t>Contents</a:t>
            </a:r>
            <a:endParaRPr lang="ko-KR" altLang="en-US" sz="1600" b="1" dirty="0" err="1">
              <a:solidFill>
                <a:srgbClr val="233A63"/>
              </a:solidFill>
            </a:endParaRPr>
          </a:p>
        </p:txBody>
      </p:sp>
      <p:sp>
        <p:nvSpPr>
          <p:cNvPr id="16" name="내용 개체 틀 1"/>
          <p:cNvSpPr txBox="1">
            <a:spLocks/>
          </p:cNvSpPr>
          <p:nvPr userDrawn="1"/>
        </p:nvSpPr>
        <p:spPr>
          <a:xfrm>
            <a:off x="3636656" y="6333200"/>
            <a:ext cx="1871448" cy="3361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Tx/>
              <a:buFontTx/>
              <a:buNone/>
              <a:tabLst/>
              <a:defRPr sz="1600" b="1" kern="1200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2pPr>
            <a:lvl3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-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3pPr>
            <a:lvl4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5pPr>
            <a:lvl6pPr marL="274320" marR="0" indent="-27432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6pPr>
            <a:lvl7pPr marL="54864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alpha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7pPr>
            <a:lvl8pPr marL="82296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roman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8pPr>
            <a:lvl9pPr marL="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None/>
              <a:defRPr sz="2000" b="1" kern="1200" baseline="0">
                <a:solidFill>
                  <a:schemeClr val="tx2"/>
                </a:solidFill>
                <a:latin typeface="Georgia" pitchFamily="18" charset="0"/>
                <a:ea typeface="+mn-ea"/>
                <a:cs typeface="+mn-cs"/>
              </a:defRPr>
            </a:lvl9pPr>
          </a:lstStyle>
          <a:p>
            <a:pPr indent="0" algn="ctr">
              <a:buClr>
                <a:srgbClr val="233A63"/>
              </a:buClr>
            </a:pPr>
            <a:r>
              <a:rPr lang="en-US" altLang="ko-KR" sz="1300" dirty="0"/>
              <a:t>INDUSTIRAL X</a:t>
            </a:r>
          </a:p>
        </p:txBody>
      </p:sp>
    </p:spTree>
    <p:extLst>
      <p:ext uri="{BB962C8B-B14F-4D97-AF65-F5344CB8AC3E}">
        <p14:creationId xmlns="" xmlns:p14="http://schemas.microsoft.com/office/powerpoint/2010/main" val="98733257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158" userDrawn="1">
          <p15:clr>
            <a:srgbClr val="FBAE40"/>
          </p15:clr>
        </p15:guide>
        <p15:guide id="2" pos="5602" userDrawn="1">
          <p15:clr>
            <a:srgbClr val="FBAE40"/>
          </p15:clr>
        </p15:guide>
        <p15:guide id="3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884368" y="6237312"/>
            <a:ext cx="712800" cy="262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rgbClr val="233A63"/>
                </a:solidFill>
                <a:latin typeface="+mn-lt"/>
              </a:defRPr>
            </a:lvl1pPr>
          </a:lstStyle>
          <a:p>
            <a:fld id="{B68BC80C-B1D2-42DA-B465-5CACDB325AF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6" name="Content Placeholder 26"/>
          <p:cNvSpPr>
            <a:spLocks noGrp="1"/>
          </p:cNvSpPr>
          <p:nvPr>
            <p:ph sz="quarter" idx="15" hasCustomPrompt="1"/>
          </p:nvPr>
        </p:nvSpPr>
        <p:spPr>
          <a:xfrm>
            <a:off x="423610" y="6285440"/>
            <a:ext cx="6084000" cy="263624"/>
          </a:xfrm>
        </p:spPr>
        <p:txBody>
          <a:bodyPr/>
          <a:lstStyle>
            <a:lvl1pPr latinLnBrk="0">
              <a:defRPr sz="1000" b="0" baseline="0">
                <a:latin typeface="+mn-lt"/>
                <a:ea typeface="맑은 고딕" panose="020B0503020000020004" pitchFamily="50" charset="-127"/>
              </a:defRPr>
            </a:lvl1pPr>
            <a:lvl2pPr latinLnBrk="0">
              <a:defRPr sz="10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0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0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0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1" y="366208"/>
            <a:ext cx="6513095" cy="326488"/>
          </a:xfrm>
        </p:spPr>
        <p:txBody>
          <a:bodyPr/>
          <a:lstStyle>
            <a:lvl1pPr>
              <a:defRPr sz="1800" baseline="0">
                <a:solidFill>
                  <a:srgbClr val="233A63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302" y="368752"/>
            <a:ext cx="565298" cy="577324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381000" y="112474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6"/>
          <p:cNvSpPr>
            <a:spLocks noGrp="1"/>
          </p:cNvSpPr>
          <p:nvPr>
            <p:ph sz="quarter" idx="16" hasCustomPrompt="1"/>
          </p:nvPr>
        </p:nvSpPr>
        <p:spPr>
          <a:xfrm>
            <a:off x="381001" y="728610"/>
            <a:ext cx="6513095" cy="389801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6540280" y="416698"/>
            <a:ext cx="1488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233A63"/>
                </a:solidFill>
                <a:ea typeface="돋움" pitchFamily="50" charset="-127"/>
                <a:cs typeface="Arial" charset="0"/>
              </a:rPr>
              <a:t>Synergy Realization</a:t>
            </a:r>
          </a:p>
        </p:txBody>
      </p:sp>
      <p:cxnSp>
        <p:nvCxnSpPr>
          <p:cNvPr id="11" name="직선 연결선 10"/>
          <p:cNvCxnSpPr/>
          <p:nvPr/>
        </p:nvCxnSpPr>
        <p:spPr>
          <a:xfrm flipV="1">
            <a:off x="8609834" y="6237328"/>
            <a:ext cx="0" cy="21600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302" y="368752"/>
            <a:ext cx="565298" cy="577324"/>
          </a:xfrm>
          <a:prstGeom prst="rect">
            <a:avLst/>
          </a:prstGeom>
        </p:spPr>
      </p:pic>
      <p:cxnSp>
        <p:nvCxnSpPr>
          <p:cNvPr id="13" name="직선 연결선 12"/>
          <p:cNvCxnSpPr/>
          <p:nvPr userDrawn="1"/>
        </p:nvCxnSpPr>
        <p:spPr>
          <a:xfrm>
            <a:off x="381000" y="112474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4"/>
          <p:cNvSpPr txBox="1">
            <a:spLocks noChangeArrowheads="1"/>
          </p:cNvSpPr>
          <p:nvPr userDrawn="1"/>
        </p:nvSpPr>
        <p:spPr bwMode="auto">
          <a:xfrm>
            <a:off x="6540280" y="416698"/>
            <a:ext cx="1488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233A63"/>
                </a:solidFill>
                <a:ea typeface="돋움" pitchFamily="50" charset="-127"/>
                <a:cs typeface="Arial" charset="0"/>
              </a:rPr>
              <a:t>Synergy Realization</a:t>
            </a:r>
          </a:p>
        </p:txBody>
      </p:sp>
      <p:cxnSp>
        <p:nvCxnSpPr>
          <p:cNvPr id="18" name="직선 연결선 17"/>
          <p:cNvCxnSpPr/>
          <p:nvPr userDrawn="1"/>
        </p:nvCxnSpPr>
        <p:spPr>
          <a:xfrm flipV="1">
            <a:off x="8609834" y="6237328"/>
            <a:ext cx="0" cy="21600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095632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: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366936"/>
          </a:xfrm>
        </p:spPr>
        <p:txBody>
          <a:bodyPr wrap="square"/>
          <a:lstStyle>
            <a:lvl1pPr>
              <a:defRPr sz="1800" i="0"/>
            </a:lvl1pPr>
          </a:lstStyle>
          <a:p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cxnSp>
        <p:nvCxnSpPr>
          <p:cNvPr id="15" name="Shape 14"/>
          <p:cNvCxnSpPr/>
          <p:nvPr/>
        </p:nvCxnSpPr>
        <p:spPr>
          <a:xfrm rot="5400000" flipH="1" flipV="1">
            <a:off x="4419602" y="-3429000"/>
            <a:ext cx="152399" cy="8229600"/>
          </a:xfrm>
          <a:prstGeom prst="bentConnector2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8428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6"/>
          <p:cNvSpPr>
            <a:spLocks noGrp="1"/>
          </p:cNvSpPr>
          <p:nvPr>
            <p:ph sz="quarter" idx="16" hasCustomPrompt="1"/>
          </p:nvPr>
        </p:nvSpPr>
        <p:spPr>
          <a:xfrm>
            <a:off x="467544" y="429072"/>
            <a:ext cx="8077200" cy="623664"/>
          </a:xfrm>
        </p:spPr>
        <p:txBody>
          <a:bodyPr/>
          <a:lstStyle>
            <a:lvl1pPr latinLnBrk="0">
              <a:defRPr sz="1800" b="1" baseline="0"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381000" y="1124744"/>
            <a:ext cx="8229600" cy="0"/>
          </a:xfrm>
          <a:prstGeom prst="line">
            <a:avLst/>
          </a:prstGeom>
          <a:ln w="28575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 userDrawn="1"/>
        </p:nvCxnSpPr>
        <p:spPr>
          <a:xfrm>
            <a:off x="381000" y="1124744"/>
            <a:ext cx="8229600" cy="0"/>
          </a:xfrm>
          <a:prstGeom prst="line">
            <a:avLst/>
          </a:prstGeom>
          <a:ln w="28575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106891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381000" y="609600"/>
            <a:ext cx="8229600" cy="0"/>
          </a:xfrm>
          <a:prstGeom prst="line">
            <a:avLst/>
          </a:prstGeom>
          <a:ln w="254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 bwMode="ltGray">
          <a:xfrm>
            <a:off x="347592" y="331712"/>
            <a:ext cx="1980000" cy="20493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b="1" dirty="0">
                <a:solidFill>
                  <a:srgbClr val="233A63"/>
                </a:solidFill>
                <a:latin typeface="Franklin Gothic Demi Cond" panose="020B0706030402020204" pitchFamily="34" charset="0"/>
                <a:ea typeface="문체부 바탕체" panose="02030609000101010101" pitchFamily="17" charset="-127"/>
              </a:rPr>
              <a:t>INDUSTRIAL</a:t>
            </a:r>
            <a:r>
              <a:rPr lang="en-US" altLang="ko-KR" sz="2000" b="1" dirty="0">
                <a:solidFill>
                  <a:srgbClr val="233A63"/>
                </a:solidFill>
                <a:latin typeface="Franklin Gothic Demi Cond" panose="020B0706030402020204" pitchFamily="34" charset="0"/>
              </a:rPr>
              <a:t> X</a:t>
            </a:r>
            <a:endParaRPr lang="ko-KR" altLang="en-US" sz="2000" b="1" dirty="0">
              <a:solidFill>
                <a:srgbClr val="233A63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Content Placeholder 26"/>
          <p:cNvSpPr>
            <a:spLocks noGrp="1"/>
          </p:cNvSpPr>
          <p:nvPr>
            <p:ph sz="quarter" idx="16" hasCustomPrompt="1"/>
          </p:nvPr>
        </p:nvSpPr>
        <p:spPr>
          <a:xfrm>
            <a:off x="431632" y="681008"/>
            <a:ext cx="8184848" cy="623664"/>
          </a:xfrm>
        </p:spPr>
        <p:txBody>
          <a:bodyPr/>
          <a:lstStyle>
            <a:lvl1pPr latinLnBrk="0">
              <a:defRPr sz="1800" b="1" baseline="0"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381000" y="609600"/>
            <a:ext cx="8229600" cy="0"/>
          </a:xfrm>
          <a:prstGeom prst="line">
            <a:avLst/>
          </a:prstGeom>
          <a:ln w="254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 userDrawn="1"/>
        </p:nvSpPr>
        <p:spPr bwMode="ltGray">
          <a:xfrm>
            <a:off x="347592" y="331712"/>
            <a:ext cx="1980000" cy="20493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b="1" dirty="0">
                <a:solidFill>
                  <a:srgbClr val="233A63"/>
                </a:solidFill>
                <a:latin typeface="Franklin Gothic Demi Cond" panose="020B0706030402020204" pitchFamily="34" charset="0"/>
                <a:ea typeface="문체부 바탕체" panose="02030609000101010101" pitchFamily="17" charset="-127"/>
              </a:rPr>
              <a:t>INDUSTRIAL</a:t>
            </a:r>
            <a:r>
              <a:rPr lang="en-US" altLang="ko-KR" sz="2000" b="1" dirty="0">
                <a:solidFill>
                  <a:srgbClr val="233A63"/>
                </a:solidFill>
                <a:latin typeface="Franklin Gothic Demi Cond" panose="020B0706030402020204" pitchFamily="34" charset="0"/>
              </a:rPr>
              <a:t> X</a:t>
            </a:r>
            <a:endParaRPr lang="ko-KR" altLang="en-US" sz="2000" b="1" dirty="0">
              <a:solidFill>
                <a:srgbClr val="233A63"/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60378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75321" y="366208"/>
            <a:ext cx="7418929" cy="326488"/>
          </a:xfrm>
        </p:spPr>
        <p:txBody>
          <a:bodyPr/>
          <a:lstStyle>
            <a:lvl1pPr>
              <a:defRPr sz="1800" baseline="0">
                <a:solidFill>
                  <a:srgbClr val="233A63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368752"/>
            <a:ext cx="565298" cy="577324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381000" y="112474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6"/>
          <p:cNvSpPr>
            <a:spLocks noGrp="1"/>
          </p:cNvSpPr>
          <p:nvPr>
            <p:ph sz="quarter" idx="16" hasCustomPrompt="1"/>
          </p:nvPr>
        </p:nvSpPr>
        <p:spPr>
          <a:xfrm>
            <a:off x="1175321" y="717104"/>
            <a:ext cx="7435280" cy="623664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381000" y="112474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 userDrawn="1"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6963908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="" xmlns:p14="http://schemas.microsoft.com/office/powerpoint/2010/main" val="4015095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losing Statement">
    <p:bg>
      <p:bgPr>
        <a:solidFill>
          <a:srgbClr val="23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3399" y="6097073"/>
            <a:ext cx="5497314" cy="762197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defTabSz="898968"/>
            <a:r>
              <a:rPr lang="ko-KR" altLang="en-US" sz="794" dirty="0">
                <a:solidFill>
                  <a:srgbClr val="FFFFFF"/>
                </a:solidFill>
              </a:rPr>
              <a:t>ⓒ </a:t>
            </a:r>
            <a:r>
              <a:rPr lang="en-US" altLang="ko-KR" sz="794" dirty="0">
                <a:solidFill>
                  <a:srgbClr val="FFFFFF"/>
                </a:solidFill>
              </a:rPr>
              <a:t>2019 INDUSTRIAL X All rights reserved. </a:t>
            </a:r>
          </a:p>
          <a:p>
            <a:pPr defTabSz="898968"/>
            <a:endParaRPr lang="en-US" altLang="ko-KR" sz="794" dirty="0">
              <a:solidFill>
                <a:srgbClr val="FFFFFF"/>
              </a:solidFill>
            </a:endParaRPr>
          </a:p>
          <a:p>
            <a:pPr defTabSz="898968"/>
            <a:endParaRPr lang="ko-KR" altLang="en-US" sz="794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694" y="685801"/>
            <a:ext cx="8096909" cy="518586"/>
          </a:xfrm>
        </p:spPr>
        <p:txBody>
          <a:bodyPr/>
          <a:lstStyle>
            <a:lvl1pPr>
              <a:defRPr sz="2823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cxnSp>
        <p:nvCxnSpPr>
          <p:cNvPr id="7" name="Shape 6"/>
          <p:cNvCxnSpPr/>
          <p:nvPr/>
        </p:nvCxnSpPr>
        <p:spPr>
          <a:xfrm rot="5400000" flipH="1" flipV="1">
            <a:off x="4419603" y="-3429000"/>
            <a:ext cx="1523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 userDrawn="1"/>
        </p:nvSpPr>
        <p:spPr>
          <a:xfrm>
            <a:off x="533399" y="6097073"/>
            <a:ext cx="5497314" cy="762197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defTabSz="898968"/>
            <a:r>
              <a:rPr lang="ko-KR" altLang="en-US" sz="794" dirty="0">
                <a:solidFill>
                  <a:srgbClr val="FFFFFF"/>
                </a:solidFill>
              </a:rPr>
              <a:t>ⓒ </a:t>
            </a:r>
            <a:r>
              <a:rPr lang="en-US" altLang="ko-KR" sz="794" dirty="0">
                <a:solidFill>
                  <a:srgbClr val="FFFFFF"/>
                </a:solidFill>
              </a:rPr>
              <a:t>2019 INDUSTRIAL X All rights reserved. </a:t>
            </a:r>
          </a:p>
          <a:p>
            <a:pPr defTabSz="898968"/>
            <a:endParaRPr lang="en-US" altLang="ko-KR" sz="794" dirty="0">
              <a:solidFill>
                <a:srgbClr val="FFFFFF"/>
              </a:solidFill>
            </a:endParaRPr>
          </a:p>
          <a:p>
            <a:pPr defTabSz="898968"/>
            <a:endParaRPr lang="ko-KR" altLang="en-US" sz="794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28679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6"/>
          <p:cNvSpPr>
            <a:spLocks noGrp="1"/>
          </p:cNvSpPr>
          <p:nvPr>
            <p:ph sz="quarter" idx="17" hasCustomPrompt="1"/>
          </p:nvPr>
        </p:nvSpPr>
        <p:spPr>
          <a:xfrm>
            <a:off x="1259632" y="2492896"/>
            <a:ext cx="6840000" cy="622800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381000" y="112474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 userDrawn="1"/>
        </p:nvSpPr>
        <p:spPr>
          <a:xfrm>
            <a:off x="381001" y="704728"/>
            <a:ext cx="1238672" cy="432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600" b="1" dirty="0">
                <a:solidFill>
                  <a:srgbClr val="233A63"/>
                </a:solidFill>
              </a:rPr>
              <a:t>Contents</a:t>
            </a:r>
            <a:endParaRPr lang="ko-KR" altLang="en-US" sz="1600" b="1" dirty="0" err="1">
              <a:solidFill>
                <a:srgbClr val="233A63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9318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6"/>
          <p:cNvSpPr>
            <a:spLocks noGrp="1"/>
          </p:cNvSpPr>
          <p:nvPr>
            <p:ph sz="quarter" idx="17" hasCustomPrompt="1"/>
          </p:nvPr>
        </p:nvSpPr>
        <p:spPr>
          <a:xfrm>
            <a:off x="1259632" y="2492896"/>
            <a:ext cx="6840000" cy="622800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381000" y="112474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 userDrawn="1"/>
        </p:nvSpPr>
        <p:spPr>
          <a:xfrm>
            <a:off x="381001" y="704728"/>
            <a:ext cx="1238672" cy="432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600" b="1" dirty="0">
                <a:solidFill>
                  <a:srgbClr val="233A63"/>
                </a:solidFill>
              </a:rPr>
              <a:t>Contents</a:t>
            </a:r>
            <a:endParaRPr lang="ko-KR" altLang="en-US" sz="1600" b="1" dirty="0" err="1">
              <a:solidFill>
                <a:srgbClr val="233A63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597095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884368" y="6237312"/>
            <a:ext cx="712800" cy="262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rgbClr val="233A63"/>
                </a:solidFill>
                <a:latin typeface="+mn-lt"/>
              </a:defRPr>
            </a:lvl1pPr>
          </a:lstStyle>
          <a:p>
            <a:fld id="{B68BC80C-B1D2-42DA-B465-5CACDB325AF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6" name="Content Placeholder 26"/>
          <p:cNvSpPr>
            <a:spLocks noGrp="1"/>
          </p:cNvSpPr>
          <p:nvPr>
            <p:ph sz="quarter" idx="15" hasCustomPrompt="1"/>
          </p:nvPr>
        </p:nvSpPr>
        <p:spPr>
          <a:xfrm>
            <a:off x="423610" y="6285440"/>
            <a:ext cx="6084000" cy="263624"/>
          </a:xfrm>
        </p:spPr>
        <p:txBody>
          <a:bodyPr/>
          <a:lstStyle>
            <a:lvl1pPr latinLnBrk="0">
              <a:defRPr sz="1000" b="0" baseline="0">
                <a:latin typeface="+mn-lt"/>
                <a:ea typeface="맑은 고딕" panose="020B0503020000020004" pitchFamily="50" charset="-127"/>
              </a:defRPr>
            </a:lvl1pPr>
            <a:lvl2pPr latinLnBrk="0">
              <a:defRPr sz="10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0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0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0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1" y="366208"/>
            <a:ext cx="6513095" cy="326488"/>
          </a:xfrm>
        </p:spPr>
        <p:txBody>
          <a:bodyPr/>
          <a:lstStyle>
            <a:lvl1pPr>
              <a:defRPr sz="1800" baseline="0">
                <a:solidFill>
                  <a:srgbClr val="233A63"/>
                </a:solidFill>
              </a:defRPr>
            </a:lvl1pPr>
          </a:lstStyle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302" y="368752"/>
            <a:ext cx="565298" cy="577324"/>
          </a:xfrm>
          <a:prstGeom prst="rect">
            <a:avLst/>
          </a:prstGeom>
        </p:spPr>
      </p:pic>
      <p:cxnSp>
        <p:nvCxnSpPr>
          <p:cNvPr id="4" name="직선 연결선 3"/>
          <p:cNvCxnSpPr/>
          <p:nvPr userDrawn="1"/>
        </p:nvCxnSpPr>
        <p:spPr>
          <a:xfrm>
            <a:off x="381000" y="112474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6"/>
          <p:cNvSpPr>
            <a:spLocks noGrp="1"/>
          </p:cNvSpPr>
          <p:nvPr>
            <p:ph sz="quarter" idx="16" hasCustomPrompt="1"/>
          </p:nvPr>
        </p:nvSpPr>
        <p:spPr>
          <a:xfrm>
            <a:off x="381001" y="728610"/>
            <a:ext cx="6513095" cy="389801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4"/>
          <p:cNvSpPr txBox="1">
            <a:spLocks noChangeArrowheads="1"/>
          </p:cNvSpPr>
          <p:nvPr userDrawn="1"/>
        </p:nvSpPr>
        <p:spPr bwMode="auto">
          <a:xfrm>
            <a:off x="6540280" y="416698"/>
            <a:ext cx="1488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rgbClr val="233A63"/>
                </a:solidFill>
                <a:ea typeface="돋움" pitchFamily="50" charset="-127"/>
                <a:cs typeface="Arial" charset="0"/>
              </a:rPr>
              <a:t>Synergy Realization</a:t>
            </a:r>
          </a:p>
        </p:txBody>
      </p:sp>
      <p:cxnSp>
        <p:nvCxnSpPr>
          <p:cNvPr id="11" name="직선 연결선 10"/>
          <p:cNvCxnSpPr/>
          <p:nvPr userDrawn="1"/>
        </p:nvCxnSpPr>
        <p:spPr>
          <a:xfrm flipV="1">
            <a:off x="8609834" y="6237328"/>
            <a:ext cx="0" cy="21600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8290744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: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366936"/>
          </a:xfrm>
        </p:spPr>
        <p:txBody>
          <a:bodyPr wrap="square"/>
          <a:lstStyle>
            <a:lvl1pPr>
              <a:defRPr sz="1800" i="0"/>
            </a:lvl1pPr>
          </a:lstStyle>
          <a:p>
            <a:r>
              <a:rPr lang="ko-KR" altLang="en-US" noProof="0" dirty="0"/>
              <a:t>마스터 제목 스타일 편집</a:t>
            </a:r>
          </a:p>
        </p:txBody>
      </p:sp>
      <p:cxnSp>
        <p:nvCxnSpPr>
          <p:cNvPr id="15" name="Shape 14"/>
          <p:cNvCxnSpPr/>
          <p:nvPr/>
        </p:nvCxnSpPr>
        <p:spPr>
          <a:xfrm rot="5400000" flipH="1" flipV="1">
            <a:off x="4419602" y="-3429000"/>
            <a:ext cx="152399" cy="8229600"/>
          </a:xfrm>
          <a:prstGeom prst="bentConnector2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468057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6"/>
          <p:cNvSpPr>
            <a:spLocks noGrp="1"/>
          </p:cNvSpPr>
          <p:nvPr>
            <p:ph sz="quarter" idx="16" hasCustomPrompt="1"/>
          </p:nvPr>
        </p:nvSpPr>
        <p:spPr>
          <a:xfrm>
            <a:off x="467544" y="429072"/>
            <a:ext cx="8077200" cy="623664"/>
          </a:xfrm>
        </p:spPr>
        <p:txBody>
          <a:bodyPr/>
          <a:lstStyle>
            <a:lvl1pPr latinLnBrk="0">
              <a:defRPr sz="1800" b="1" baseline="0"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381000" y="1124744"/>
            <a:ext cx="8229600" cy="0"/>
          </a:xfrm>
          <a:prstGeom prst="line">
            <a:avLst/>
          </a:prstGeom>
          <a:ln w="28575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7625904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381000" y="609600"/>
            <a:ext cx="8229600" cy="0"/>
          </a:xfrm>
          <a:prstGeom prst="line">
            <a:avLst/>
          </a:prstGeom>
          <a:ln w="254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 bwMode="ltGray">
          <a:xfrm>
            <a:off x="347592" y="331712"/>
            <a:ext cx="1980000" cy="20493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b="1" dirty="0">
                <a:solidFill>
                  <a:srgbClr val="233A63"/>
                </a:solidFill>
                <a:latin typeface="Franklin Gothic Demi Cond" panose="020B0706030402020204" pitchFamily="34" charset="0"/>
                <a:ea typeface="문체부 바탕체" panose="02030609000101010101" pitchFamily="17" charset="-127"/>
              </a:rPr>
              <a:t>INDUSTRIAL</a:t>
            </a:r>
            <a:r>
              <a:rPr lang="en-US" altLang="ko-KR" sz="2000" b="1" dirty="0">
                <a:solidFill>
                  <a:srgbClr val="233A63"/>
                </a:solidFill>
                <a:latin typeface="Franklin Gothic Demi Cond" panose="020B0706030402020204" pitchFamily="34" charset="0"/>
              </a:rPr>
              <a:t> X</a:t>
            </a:r>
            <a:endParaRPr lang="ko-KR" altLang="en-US" sz="2000" b="1" dirty="0">
              <a:solidFill>
                <a:srgbClr val="233A63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Content Placeholder 26"/>
          <p:cNvSpPr>
            <a:spLocks noGrp="1"/>
          </p:cNvSpPr>
          <p:nvPr>
            <p:ph sz="quarter" idx="16" hasCustomPrompt="1"/>
          </p:nvPr>
        </p:nvSpPr>
        <p:spPr>
          <a:xfrm>
            <a:off x="431632" y="681008"/>
            <a:ext cx="8184848" cy="623664"/>
          </a:xfrm>
        </p:spPr>
        <p:txBody>
          <a:bodyPr/>
          <a:lstStyle>
            <a:lvl1pPr latinLnBrk="0">
              <a:defRPr sz="1800" b="1" baseline="0"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</p:spTree>
    <p:extLst>
      <p:ext uri="{BB962C8B-B14F-4D97-AF65-F5344CB8AC3E}">
        <p14:creationId xmlns="" xmlns:p14="http://schemas.microsoft.com/office/powerpoint/2010/main" val="18727842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75321" y="366208"/>
            <a:ext cx="7418929" cy="326488"/>
          </a:xfrm>
        </p:spPr>
        <p:txBody>
          <a:bodyPr/>
          <a:lstStyle>
            <a:lvl1pPr>
              <a:defRPr sz="1800" baseline="0">
                <a:solidFill>
                  <a:srgbClr val="233A63"/>
                </a:solidFill>
              </a:defRPr>
            </a:lvl1pPr>
          </a:lstStyle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368752"/>
            <a:ext cx="565298" cy="577324"/>
          </a:xfrm>
          <a:prstGeom prst="rect">
            <a:avLst/>
          </a:prstGeom>
        </p:spPr>
      </p:pic>
      <p:cxnSp>
        <p:nvCxnSpPr>
          <p:cNvPr id="4" name="직선 연결선 3"/>
          <p:cNvCxnSpPr/>
          <p:nvPr userDrawn="1"/>
        </p:nvCxnSpPr>
        <p:spPr>
          <a:xfrm>
            <a:off x="381000" y="1124744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6"/>
          <p:cNvSpPr>
            <a:spLocks noGrp="1"/>
          </p:cNvSpPr>
          <p:nvPr>
            <p:ph sz="quarter" idx="16" hasCustomPrompt="1"/>
          </p:nvPr>
        </p:nvSpPr>
        <p:spPr>
          <a:xfrm>
            <a:off x="1175321" y="717104"/>
            <a:ext cx="7435280" cy="623664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81000" y="623731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4716034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="" xmlns:p14="http://schemas.microsoft.com/office/powerpoint/2010/main" val="10612471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losing Statement">
    <p:bg>
      <p:bgPr>
        <a:solidFill>
          <a:srgbClr val="23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533399" y="6097073"/>
            <a:ext cx="5497314" cy="762197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/>
          <a:p>
            <a:pPr defTabSz="898968"/>
            <a:r>
              <a:rPr lang="ko-KR" altLang="en-US" sz="794" dirty="0">
                <a:solidFill>
                  <a:srgbClr val="FFFFFF"/>
                </a:solidFill>
              </a:rPr>
              <a:t>ⓒ </a:t>
            </a:r>
            <a:r>
              <a:rPr lang="en-US" altLang="ko-KR" sz="794" dirty="0">
                <a:solidFill>
                  <a:srgbClr val="FFFFFF"/>
                </a:solidFill>
              </a:rPr>
              <a:t>2019 INDUSTRIAL X All rights reserved. </a:t>
            </a:r>
          </a:p>
          <a:p>
            <a:pPr defTabSz="898968"/>
            <a:endParaRPr lang="en-US" altLang="ko-KR" sz="794" dirty="0">
              <a:solidFill>
                <a:srgbClr val="FFFFFF"/>
              </a:solidFill>
            </a:endParaRPr>
          </a:p>
          <a:p>
            <a:pPr defTabSz="898968"/>
            <a:endParaRPr lang="ko-KR" altLang="en-US" sz="794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694" y="685801"/>
            <a:ext cx="8096909" cy="518586"/>
          </a:xfrm>
        </p:spPr>
        <p:txBody>
          <a:bodyPr/>
          <a:lstStyle>
            <a:lvl1pPr>
              <a:defRPr sz="2823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ko-KR" altLang="en-US" noProof="0" dirty="0"/>
              <a:t>마스터 제목 스타일 편집</a:t>
            </a:r>
          </a:p>
        </p:txBody>
      </p:sp>
      <p:cxnSp>
        <p:nvCxnSpPr>
          <p:cNvPr id="7" name="Shape 6"/>
          <p:cNvCxnSpPr/>
          <p:nvPr/>
        </p:nvCxnSpPr>
        <p:spPr>
          <a:xfrm rot="5400000" flipH="1" flipV="1">
            <a:off x="4419603" y="-3429000"/>
            <a:ext cx="1523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287464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6"/>
          <p:cNvSpPr>
            <a:spLocks noGrp="1"/>
          </p:cNvSpPr>
          <p:nvPr>
            <p:ph sz="quarter" idx="17" hasCustomPrompt="1"/>
          </p:nvPr>
        </p:nvSpPr>
        <p:spPr>
          <a:xfrm>
            <a:off x="1259632" y="2492896"/>
            <a:ext cx="6840000" cy="622800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381001" y="704728"/>
            <a:ext cx="1238672" cy="432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endParaRPr lang="ko-KR" altLang="en-US" sz="1600" b="1" dirty="0" err="1">
              <a:solidFill>
                <a:srgbClr val="233A63"/>
              </a:solidFill>
            </a:endParaRPr>
          </a:p>
        </p:txBody>
      </p:sp>
      <p:sp>
        <p:nvSpPr>
          <p:cNvPr id="23" name="Content Placeholder 26"/>
          <p:cNvSpPr>
            <a:spLocks noGrp="1"/>
          </p:cNvSpPr>
          <p:nvPr>
            <p:ph sz="quarter" idx="15" hasCustomPrompt="1"/>
          </p:nvPr>
        </p:nvSpPr>
        <p:spPr>
          <a:xfrm>
            <a:off x="417260" y="6213978"/>
            <a:ext cx="6084000" cy="263624"/>
          </a:xfrm>
        </p:spPr>
        <p:txBody>
          <a:bodyPr/>
          <a:lstStyle>
            <a:lvl1pPr latinLnBrk="0">
              <a:defRPr sz="1000" b="0" baseline="0">
                <a:latin typeface="+mn-lt"/>
                <a:ea typeface="맑은 고딕" panose="020B0503020000020004" pitchFamily="50" charset="-127"/>
              </a:defRPr>
            </a:lvl1pPr>
            <a:lvl2pPr latinLnBrk="0">
              <a:defRPr sz="10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0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0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0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 smtClean="0"/>
              <a:t>마스터 텍스트 스타일을 편집합니다</a:t>
            </a:r>
          </a:p>
        </p:txBody>
      </p:sp>
      <p:sp>
        <p:nvSpPr>
          <p:cNvPr id="24" name="제목 1"/>
          <p:cNvSpPr>
            <a:spLocks noGrp="1"/>
          </p:cNvSpPr>
          <p:nvPr>
            <p:ph type="title"/>
          </p:nvPr>
        </p:nvSpPr>
        <p:spPr>
          <a:xfrm>
            <a:off x="374651" y="294746"/>
            <a:ext cx="6513095" cy="326488"/>
          </a:xfrm>
        </p:spPr>
        <p:txBody>
          <a:bodyPr/>
          <a:lstStyle>
            <a:lvl1pPr>
              <a:defRPr sz="1800" baseline="0">
                <a:solidFill>
                  <a:srgbClr val="233A63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25" name="Content Placeholder 26"/>
          <p:cNvSpPr>
            <a:spLocks noGrp="1"/>
          </p:cNvSpPr>
          <p:nvPr>
            <p:ph sz="quarter" idx="16" hasCustomPrompt="1"/>
          </p:nvPr>
        </p:nvSpPr>
        <p:spPr>
          <a:xfrm>
            <a:off x="374651" y="657148"/>
            <a:ext cx="6513095" cy="389801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 smtClean="0"/>
              <a:t>마스터 텍스트 스타일을 편집합니다</a:t>
            </a:r>
          </a:p>
        </p:txBody>
      </p:sp>
      <p:cxnSp>
        <p:nvCxnSpPr>
          <p:cNvPr id="26" name="직선 연결선 25"/>
          <p:cNvCxnSpPr/>
          <p:nvPr userDrawn="1"/>
        </p:nvCxnSpPr>
        <p:spPr>
          <a:xfrm>
            <a:off x="374650" y="1053282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 userDrawn="1"/>
        </p:nvCxnSpPr>
        <p:spPr>
          <a:xfrm>
            <a:off x="374650" y="6165850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1693185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6"/>
          <p:cNvSpPr>
            <a:spLocks noGrp="1"/>
          </p:cNvSpPr>
          <p:nvPr>
            <p:ph sz="quarter" idx="17" hasCustomPrompt="1"/>
          </p:nvPr>
        </p:nvSpPr>
        <p:spPr>
          <a:xfrm>
            <a:off x="1259632" y="2492896"/>
            <a:ext cx="6840000" cy="622800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381001" y="704728"/>
            <a:ext cx="1238672" cy="432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endParaRPr lang="ko-KR" altLang="en-US" sz="1600" b="1" dirty="0" err="1">
              <a:solidFill>
                <a:srgbClr val="233A63"/>
              </a:solidFill>
            </a:endParaRPr>
          </a:p>
        </p:txBody>
      </p:sp>
      <p:sp>
        <p:nvSpPr>
          <p:cNvPr id="23" name="Content Placeholder 26"/>
          <p:cNvSpPr>
            <a:spLocks noGrp="1"/>
          </p:cNvSpPr>
          <p:nvPr>
            <p:ph sz="quarter" idx="15" hasCustomPrompt="1"/>
          </p:nvPr>
        </p:nvSpPr>
        <p:spPr>
          <a:xfrm>
            <a:off x="417260" y="6213978"/>
            <a:ext cx="6084000" cy="263624"/>
          </a:xfrm>
        </p:spPr>
        <p:txBody>
          <a:bodyPr/>
          <a:lstStyle>
            <a:lvl1pPr latinLnBrk="0">
              <a:defRPr sz="1000" b="0" baseline="0">
                <a:latin typeface="+mn-lt"/>
                <a:ea typeface="맑은 고딕" panose="020B0503020000020004" pitchFamily="50" charset="-127"/>
              </a:defRPr>
            </a:lvl1pPr>
            <a:lvl2pPr latinLnBrk="0">
              <a:defRPr sz="10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0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0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0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 smtClean="0"/>
              <a:t>마스터 텍스트 스타일을 편집합니다</a:t>
            </a:r>
          </a:p>
        </p:txBody>
      </p:sp>
      <p:sp>
        <p:nvSpPr>
          <p:cNvPr id="24" name="제목 1"/>
          <p:cNvSpPr>
            <a:spLocks noGrp="1"/>
          </p:cNvSpPr>
          <p:nvPr>
            <p:ph type="title"/>
          </p:nvPr>
        </p:nvSpPr>
        <p:spPr>
          <a:xfrm>
            <a:off x="374651" y="294746"/>
            <a:ext cx="6513095" cy="326488"/>
          </a:xfrm>
        </p:spPr>
        <p:txBody>
          <a:bodyPr/>
          <a:lstStyle>
            <a:lvl1pPr>
              <a:defRPr sz="1800" baseline="0">
                <a:solidFill>
                  <a:srgbClr val="233A63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25" name="Content Placeholder 26"/>
          <p:cNvSpPr>
            <a:spLocks noGrp="1"/>
          </p:cNvSpPr>
          <p:nvPr>
            <p:ph sz="quarter" idx="16" hasCustomPrompt="1"/>
          </p:nvPr>
        </p:nvSpPr>
        <p:spPr>
          <a:xfrm>
            <a:off x="374651" y="657148"/>
            <a:ext cx="6513095" cy="389801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 smtClean="0"/>
              <a:t>마스터 텍스트 스타일을 편집합니다</a:t>
            </a:r>
          </a:p>
        </p:txBody>
      </p:sp>
      <p:cxnSp>
        <p:nvCxnSpPr>
          <p:cNvPr id="27" name="직선 연결선 26"/>
          <p:cNvCxnSpPr/>
          <p:nvPr userDrawn="1"/>
        </p:nvCxnSpPr>
        <p:spPr>
          <a:xfrm>
            <a:off x="374650" y="6165850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884368" y="6237312"/>
            <a:ext cx="712800" cy="262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rgbClr val="233A63"/>
                </a:solidFill>
                <a:latin typeface="+mn-lt"/>
              </a:defRPr>
            </a:lvl1pPr>
          </a:lstStyle>
          <a:p>
            <a:fld id="{B68BC80C-B1D2-42DA-B465-5CACDB325AF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10" name="직선 연결선 9"/>
          <p:cNvCxnSpPr>
            <a:cxnSpLocks/>
          </p:cNvCxnSpPr>
          <p:nvPr userDrawn="1"/>
        </p:nvCxnSpPr>
        <p:spPr>
          <a:xfrm>
            <a:off x="251520" y="1124744"/>
            <a:ext cx="8641655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1693185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6"/>
          <p:cNvSpPr>
            <a:spLocks noGrp="1"/>
          </p:cNvSpPr>
          <p:nvPr>
            <p:ph sz="quarter" idx="17" hasCustomPrompt="1"/>
          </p:nvPr>
        </p:nvSpPr>
        <p:spPr>
          <a:xfrm>
            <a:off x="1259632" y="2492896"/>
            <a:ext cx="6840000" cy="622800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381001" y="704728"/>
            <a:ext cx="1238672" cy="432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endParaRPr lang="ko-KR" altLang="en-US" sz="1600" b="1" dirty="0" err="1">
              <a:solidFill>
                <a:srgbClr val="233A63"/>
              </a:solidFill>
            </a:endParaRPr>
          </a:p>
        </p:txBody>
      </p:sp>
      <p:sp>
        <p:nvSpPr>
          <p:cNvPr id="23" name="Content Placeholder 26"/>
          <p:cNvSpPr>
            <a:spLocks noGrp="1"/>
          </p:cNvSpPr>
          <p:nvPr>
            <p:ph sz="quarter" idx="15" hasCustomPrompt="1"/>
          </p:nvPr>
        </p:nvSpPr>
        <p:spPr>
          <a:xfrm>
            <a:off x="417260" y="6213978"/>
            <a:ext cx="6084000" cy="263624"/>
          </a:xfrm>
        </p:spPr>
        <p:txBody>
          <a:bodyPr/>
          <a:lstStyle>
            <a:lvl1pPr latinLnBrk="0">
              <a:defRPr sz="1000" b="0" baseline="0">
                <a:latin typeface="+mn-lt"/>
                <a:ea typeface="맑은 고딕" panose="020B0503020000020004" pitchFamily="50" charset="-127"/>
              </a:defRPr>
            </a:lvl1pPr>
            <a:lvl2pPr latinLnBrk="0">
              <a:defRPr sz="10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0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0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0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 smtClean="0"/>
              <a:t>마스터 텍스트 스타일을 편집합니다</a:t>
            </a:r>
          </a:p>
        </p:txBody>
      </p:sp>
      <p:sp>
        <p:nvSpPr>
          <p:cNvPr id="24" name="제목 1"/>
          <p:cNvSpPr>
            <a:spLocks noGrp="1"/>
          </p:cNvSpPr>
          <p:nvPr>
            <p:ph type="title"/>
          </p:nvPr>
        </p:nvSpPr>
        <p:spPr>
          <a:xfrm>
            <a:off x="374651" y="294746"/>
            <a:ext cx="6513095" cy="326488"/>
          </a:xfrm>
        </p:spPr>
        <p:txBody>
          <a:bodyPr/>
          <a:lstStyle>
            <a:lvl1pPr>
              <a:defRPr sz="1800" baseline="0">
                <a:solidFill>
                  <a:srgbClr val="233A63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25" name="Content Placeholder 26"/>
          <p:cNvSpPr>
            <a:spLocks noGrp="1"/>
          </p:cNvSpPr>
          <p:nvPr>
            <p:ph sz="quarter" idx="16" hasCustomPrompt="1"/>
          </p:nvPr>
        </p:nvSpPr>
        <p:spPr>
          <a:xfrm>
            <a:off x="374651" y="657148"/>
            <a:ext cx="6513095" cy="389801"/>
          </a:xfrm>
        </p:spPr>
        <p:txBody>
          <a:bodyPr/>
          <a:lstStyle>
            <a:lvl1pPr latinLnBrk="0">
              <a:defRPr sz="1600" b="1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</a:defRPr>
            </a:lvl1pPr>
            <a:lvl2pPr latinLnBrk="0">
              <a:defRPr sz="1800">
                <a:latin typeface="+mn-lt"/>
                <a:ea typeface="맑은 고딕" panose="020B0503020000020004" pitchFamily="50" charset="-127"/>
              </a:defRPr>
            </a:lvl2pPr>
            <a:lvl3pPr latinLnBrk="0">
              <a:defRPr sz="1800">
                <a:latin typeface="+mn-lt"/>
                <a:ea typeface="맑은 고딕" panose="020B0503020000020004" pitchFamily="50" charset="-127"/>
              </a:defRPr>
            </a:lvl3pPr>
            <a:lvl4pPr latinLnBrk="0">
              <a:defRPr sz="1800">
                <a:latin typeface="+mn-lt"/>
                <a:ea typeface="맑은 고딕" panose="020B0503020000020004" pitchFamily="50" charset="-127"/>
              </a:defRPr>
            </a:lvl4pPr>
            <a:lvl5pPr latinLnBrk="0">
              <a:defRPr sz="1800">
                <a:latin typeface="+mn-lt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 smtClean="0"/>
              <a:t>마스터 텍스트 스타일을 편집합니다</a:t>
            </a:r>
          </a:p>
        </p:txBody>
      </p:sp>
      <p:cxnSp>
        <p:nvCxnSpPr>
          <p:cNvPr id="27" name="직선 연결선 26"/>
          <p:cNvCxnSpPr/>
          <p:nvPr userDrawn="1"/>
        </p:nvCxnSpPr>
        <p:spPr>
          <a:xfrm>
            <a:off x="374650" y="6165850"/>
            <a:ext cx="8229600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884368" y="6237312"/>
            <a:ext cx="712800" cy="262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rgbClr val="233A63"/>
                </a:solidFill>
                <a:latin typeface="+mn-lt"/>
              </a:defRPr>
            </a:lvl1pPr>
          </a:lstStyle>
          <a:p>
            <a:fld id="{B68BC80C-B1D2-42DA-B465-5CACDB325AF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10" name="직선 연결선 9"/>
          <p:cNvCxnSpPr>
            <a:cxnSpLocks/>
          </p:cNvCxnSpPr>
          <p:nvPr userDrawn="1"/>
        </p:nvCxnSpPr>
        <p:spPr>
          <a:xfrm>
            <a:off x="251520" y="1124744"/>
            <a:ext cx="8641655" cy="0"/>
          </a:xfrm>
          <a:prstGeom prst="line">
            <a:avLst/>
          </a:prstGeom>
          <a:ln w="12700">
            <a:solidFill>
              <a:srgbClr val="233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169318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1" y="685800"/>
            <a:ext cx="8077201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ko-KR" noProof="0" dirty="0"/>
              <a:t>Click to edit</a:t>
            </a:r>
            <a:br>
              <a:rPr lang="en-US" altLang="ko-KR" noProof="0" dirty="0"/>
            </a:br>
            <a:r>
              <a:rPr lang="en-US" altLang="ko-KR" noProof="0" dirty="0"/>
              <a:t>Master title style</a:t>
            </a:r>
            <a:endParaRPr lang="ko-KR" alt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2" y="1752600"/>
            <a:ext cx="8077199" cy="441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</p:spTree>
    <p:extLst>
      <p:ext uri="{BB962C8B-B14F-4D97-AF65-F5344CB8AC3E}">
        <p14:creationId xmlns="" xmlns:p14="http://schemas.microsoft.com/office/powerpoint/2010/main" val="1579859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  <p:sldLayoutId id="2147483758" r:id="rId21"/>
    <p:sldLayoutId id="2147483759" r:id="rId22"/>
    <p:sldLayoutId id="2147483760" r:id="rId23"/>
    <p:sldLayoutId id="2147483761" r:id="rId24"/>
    <p:sldLayoutId id="2147483762" r:id="rId25"/>
    <p:sldLayoutId id="2147483763" r:id="rId26"/>
    <p:sldLayoutId id="2147483764" r:id="rId27"/>
    <p:sldLayoutId id="2147483765" r:id="rId28"/>
    <p:sldLayoutId id="2147483766" r:id="rId29"/>
    <p:sldLayoutId id="2147483767" r:id="rId30"/>
    <p:sldLayoutId id="2147483768" r:id="rId31"/>
    <p:sldLayoutId id="2147483769" r:id="rId32"/>
    <p:sldLayoutId id="2147483771" r:id="rId33"/>
  </p:sldLayoutIdLst>
  <p:hf hdr="0" ftr="0" dt="0"/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-274320" algn="l" defTabSz="914400" rtl="0" eaLnBrk="1" fontAlgn="auto" latinLnBrk="1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SzTx/>
        <a:buFontTx/>
        <a:buNone/>
        <a:tabLst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1pPr>
      <a:lvl2pPr marL="274320" indent="-274320" algn="l" defTabSz="914400" rtl="0" eaLnBrk="1" latinLnBrk="1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•"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2pPr>
      <a:lvl3pPr marL="548640" indent="-274320" algn="l" defTabSz="914400" rtl="0" eaLnBrk="1" latinLnBrk="1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-"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3pPr>
      <a:lvl4pPr marL="822960" indent="-274320" algn="l" defTabSz="914400" rtl="0" eaLnBrk="1" latinLnBrk="1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◦"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4pPr>
      <a:lvl5pPr marL="1097280" indent="-274320" algn="l" defTabSz="914400" rtl="0" eaLnBrk="1" latinLnBrk="1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›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5pPr>
      <a:lvl6pPr marL="274320" marR="0" indent="-274320" algn="l" defTabSz="914400" rtl="0" eaLnBrk="1" fontAlgn="auto" latinLnBrk="1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SzPct val="100000"/>
        <a:buFont typeface="+mj-lt"/>
        <a:buAutoNum type="arabicPeriod"/>
        <a:tabLst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6pPr>
      <a:lvl7pPr marL="548640" indent="-274320" algn="l" defTabSz="914400" rtl="0" eaLnBrk="1" latinLnBrk="1" hangingPunct="1">
        <a:lnSpc>
          <a:spcPct val="100000"/>
        </a:lnSpc>
        <a:spcBef>
          <a:spcPts val="0"/>
        </a:spcBef>
        <a:spcAft>
          <a:spcPts val="900"/>
        </a:spcAft>
        <a:buSzPct val="100000"/>
        <a:buFont typeface="+mj-lt"/>
        <a:buAutoNum type="alphaLcPeriod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7pPr>
      <a:lvl8pPr marL="822960" indent="-274320" algn="l" defTabSz="914400" rtl="0" eaLnBrk="1" latinLnBrk="1" hangingPunct="1">
        <a:lnSpc>
          <a:spcPct val="100000"/>
        </a:lnSpc>
        <a:spcBef>
          <a:spcPts val="0"/>
        </a:spcBef>
        <a:spcAft>
          <a:spcPts val="900"/>
        </a:spcAft>
        <a:buSzPct val="100000"/>
        <a:buFont typeface="+mj-lt"/>
        <a:buAutoNum type="romanLcPeriod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8pPr>
      <a:lvl9pPr marL="0" indent="-274320" algn="l" defTabSz="914400" rtl="0" eaLnBrk="1" latinLnBrk="1" hangingPunct="1">
        <a:lnSpc>
          <a:spcPct val="100000"/>
        </a:lnSpc>
        <a:spcBef>
          <a:spcPts val="0"/>
        </a:spcBef>
        <a:spcAft>
          <a:spcPts val="900"/>
        </a:spcAft>
        <a:buFont typeface="Arial" pitchFamily="34" charset="0"/>
        <a:buNone/>
        <a:defRPr sz="2000" b="1" kern="1200" baseline="0">
          <a:solidFill>
            <a:schemeClr val="tx2"/>
          </a:solidFill>
          <a:latin typeface="Georgia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24.xml"/><Relationship Id="rId4" Type="http://schemas.openxmlformats.org/officeDocument/2006/relationships/chart" Target="../charts/char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5.xml"/><Relationship Id="rId1" Type="http://schemas.openxmlformats.org/officeDocument/2006/relationships/slideLayout" Target="../slideLayouts/slideLayout3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7.xml"/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3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chart" Target="../charts/chart3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chart" Target="../charts/chart4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Information Memorandum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ko-KR" altLang="en-US" dirty="0" smtClean="0"/>
              <a:t>㈜하우스미디어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altLang="ko-KR" dirty="0" smtClean="0"/>
              <a:t>2020.06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5720" y="6500834"/>
            <a:ext cx="6858048" cy="21431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900" dirty="0" smtClean="0">
                <a:latin typeface="Georgia" pitchFamily="18" charset="0"/>
              </a:rPr>
              <a:t>본 자료는 ㈜하우스미디어의 </a:t>
            </a:r>
            <a:r>
              <a:rPr lang="ko-KR" altLang="en-US" sz="900" dirty="0" err="1" smtClean="0">
                <a:latin typeface="Georgia" pitchFamily="18" charset="0"/>
              </a:rPr>
              <a:t>동의없이</a:t>
            </a:r>
            <a:r>
              <a:rPr lang="ko-KR" altLang="en-US" sz="900" dirty="0" smtClean="0">
                <a:latin typeface="Georgia" pitchFamily="18" charset="0"/>
              </a:rPr>
              <a:t> 외부유출이 금지됩니다 </a:t>
            </a:r>
          </a:p>
        </p:txBody>
      </p:sp>
    </p:spTree>
    <p:extLst>
      <p:ext uri="{BB962C8B-B14F-4D97-AF65-F5344CB8AC3E}">
        <p14:creationId xmlns="" xmlns:p14="http://schemas.microsoft.com/office/powerpoint/2010/main" val="45675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/>
          </p:cNvSpPr>
          <p:nvPr/>
        </p:nvSpPr>
        <p:spPr>
          <a:xfrm>
            <a:off x="1259632" y="2492896"/>
            <a:ext cx="6840000" cy="622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Tx/>
              <a:buFontTx/>
              <a:buNone/>
              <a:tabLst/>
              <a:defRPr sz="1600" b="1" kern="1200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2pPr>
            <a:lvl3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-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3pPr>
            <a:lvl4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5pPr>
            <a:lvl6pPr marL="274320" marR="0" indent="-27432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6pPr>
            <a:lvl7pPr marL="54864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alpha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7pPr>
            <a:lvl8pPr marL="82296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roman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8pPr>
            <a:lvl9pPr marL="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None/>
              <a:defRPr sz="2000" b="1" kern="1200" baseline="0">
                <a:solidFill>
                  <a:schemeClr val="tx2"/>
                </a:solidFill>
                <a:latin typeface="Georgia" pitchFamily="18" charset="0"/>
                <a:ea typeface="+mn-ea"/>
                <a:cs typeface="+mn-cs"/>
              </a:defRPr>
            </a:lvl9pPr>
          </a:lstStyle>
          <a:p>
            <a:r>
              <a:rPr lang="en-US" altLang="ko-KR" dirty="0"/>
              <a:t>I. Target Overview</a:t>
            </a:r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120435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㈜하우스미디어</a:t>
            </a:r>
            <a:r>
              <a:rPr lang="en-US" altLang="ko-KR" dirty="0" smtClean="0"/>
              <a:t> </a:t>
            </a:r>
            <a:r>
              <a:rPr lang="ko-KR" altLang="en-US" dirty="0"/>
              <a:t>소개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/>
              <a:t>사업 및 재무 성과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6066ED6E-FC10-4B75-B247-81351B267F90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smtClean="0">
                <a:latin typeface="Georgia" pitchFamily="18" charset="0"/>
              </a:rPr>
              <a:t>하우스미디어는 </a:t>
            </a:r>
            <a:r>
              <a:rPr lang="ko-KR" altLang="en-US" sz="1400" dirty="0">
                <a:latin typeface="Georgia" pitchFamily="18" charset="0"/>
              </a:rPr>
              <a:t>커뮤니티</a:t>
            </a:r>
            <a:r>
              <a:rPr lang="en-US" altLang="ko-KR" sz="1400" dirty="0">
                <a:latin typeface="Georgia" pitchFamily="18" charset="0"/>
              </a:rPr>
              <a:t>, </a:t>
            </a:r>
            <a:r>
              <a:rPr lang="ko-KR" altLang="en-US" sz="1400" dirty="0">
                <a:latin typeface="Georgia" pitchFamily="18" charset="0"/>
              </a:rPr>
              <a:t>커머스</a:t>
            </a:r>
            <a:r>
              <a:rPr lang="en-US" altLang="ko-KR" sz="1400" dirty="0">
                <a:latin typeface="Georgia" pitchFamily="18" charset="0"/>
              </a:rPr>
              <a:t>, </a:t>
            </a:r>
            <a:r>
              <a:rPr lang="ko-KR" altLang="en-US" sz="1400" dirty="0" err="1">
                <a:latin typeface="Georgia" pitchFamily="18" charset="0"/>
              </a:rPr>
              <a:t>리모델링</a:t>
            </a:r>
            <a:r>
              <a:rPr lang="ko-KR" altLang="en-US" sz="1400" dirty="0">
                <a:latin typeface="Georgia" pitchFamily="18" charset="0"/>
              </a:rPr>
              <a:t> </a:t>
            </a:r>
            <a:r>
              <a:rPr lang="ko-KR" altLang="en-US" sz="1400" dirty="0" smtClean="0">
                <a:latin typeface="Georgia" pitchFamily="18" charset="0"/>
              </a:rPr>
              <a:t>세 가지 사업영역을 영위하고 있으며 </a:t>
            </a:r>
            <a:r>
              <a:rPr lang="en-US" altLang="ko-KR" sz="1400" dirty="0" smtClean="0">
                <a:latin typeface="Georgia" pitchFamily="18" charset="0"/>
              </a:rPr>
              <a:t>’19</a:t>
            </a:r>
            <a:r>
              <a:rPr lang="ko-KR" altLang="en-US" sz="1400" dirty="0" smtClean="0">
                <a:latin typeface="Georgia" pitchFamily="18" charset="0"/>
              </a:rPr>
              <a:t>년 </a:t>
            </a:r>
            <a:r>
              <a:rPr lang="ko-KR" altLang="en-US" sz="1400" dirty="0">
                <a:latin typeface="Georgia" pitchFamily="18" charset="0"/>
              </a:rPr>
              <a:t>기준 </a:t>
            </a:r>
            <a:r>
              <a:rPr lang="ko-KR" altLang="en-US" sz="1400" dirty="0" smtClean="0">
                <a:latin typeface="Georgia" pitchFamily="18" charset="0"/>
              </a:rPr>
              <a:t>매출 </a:t>
            </a:r>
            <a:r>
              <a:rPr lang="en-US" altLang="ko-KR" sz="1400" dirty="0" smtClean="0">
                <a:latin typeface="Georgia" pitchFamily="18" charset="0"/>
              </a:rPr>
              <a:t>75</a:t>
            </a:r>
            <a:r>
              <a:rPr lang="ko-KR" altLang="en-US" sz="1400" dirty="0" smtClean="0">
                <a:latin typeface="Georgia" pitchFamily="18" charset="0"/>
              </a:rPr>
              <a:t>억임</a:t>
            </a:r>
            <a:endParaRPr lang="en-US" sz="1400" dirty="0">
              <a:latin typeface="Georgia" pitchFamily="18" charset="0"/>
            </a:endParaRPr>
          </a:p>
        </p:txBody>
      </p:sp>
      <p:sp>
        <p:nvSpPr>
          <p:cNvPr id="6" name="내용 개체 틀 5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grpSp>
        <p:nvGrpSpPr>
          <p:cNvPr id="3" name="그룹 30"/>
          <p:cNvGrpSpPr/>
          <p:nvPr/>
        </p:nvGrpSpPr>
        <p:grpSpPr>
          <a:xfrm>
            <a:off x="5076056" y="1844520"/>
            <a:ext cx="3750293" cy="360344"/>
            <a:chOff x="245643" y="1844520"/>
            <a:chExt cx="4118545" cy="288336"/>
          </a:xfrm>
        </p:grpSpPr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701B9D24-3EBD-4D8A-830B-4F86793C9ADA}"/>
                </a:ext>
              </a:extLst>
            </p:cNvPr>
            <p:cNvSpPr txBox="1"/>
            <p:nvPr/>
          </p:nvSpPr>
          <p:spPr>
            <a:xfrm>
              <a:off x="245643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ko-KR" altLang="en-US" sz="1200" b="1" dirty="0" smtClean="0">
                  <a:latin typeface="Georgia" pitchFamily="18" charset="0"/>
                </a:rPr>
                <a:t>재무제표</a:t>
              </a:r>
              <a:endParaRPr lang="en-US" sz="1200" b="1" dirty="0">
                <a:latin typeface="Georgia" pitchFamily="18" charset="0"/>
              </a:endParaRPr>
            </a:p>
          </p:txBody>
        </p:sp>
        <p:cxnSp>
          <p:nvCxnSpPr>
            <p:cNvPr id="33" name="Straight Connector 11">
              <a:extLst>
                <a:ext uri="{FF2B5EF4-FFF2-40B4-BE49-F238E27FC236}">
                  <a16:creationId xmlns="" xmlns:a16="http://schemas.microsoft.com/office/drawing/2014/main" id="{B61497FC-483D-4DAD-9749-67F335D44DE2}"/>
                </a:ext>
              </a:extLst>
            </p:cNvPr>
            <p:cNvCxnSpPr/>
            <p:nvPr/>
          </p:nvCxnSpPr>
          <p:spPr>
            <a:xfrm>
              <a:off x="251520" y="2132856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34" name="내용 개체 틀 25">
            <a:extLst>
              <a:ext uri="{FF2B5EF4-FFF2-40B4-BE49-F238E27FC236}">
                <a16:creationId xmlns="" xmlns:a16="http://schemas.microsoft.com/office/drawing/2014/main" id="{D8ADE266-28B6-4205-9958-1F99CA7448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215117345"/>
              </p:ext>
            </p:extLst>
          </p:nvPr>
        </p:nvGraphicFramePr>
        <p:xfrm>
          <a:off x="5076056" y="2294715"/>
          <a:ext cx="3750296" cy="37359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1107">
                  <a:extLst>
                    <a:ext uri="{9D8B030D-6E8A-4147-A177-3AD203B41FA5}">
                      <a16:colId xmlns="" xmlns:a16="http://schemas.microsoft.com/office/drawing/2014/main" val="2034312446"/>
                    </a:ext>
                  </a:extLst>
                </a:gridCol>
                <a:gridCol w="805035">
                  <a:extLst>
                    <a:ext uri="{9D8B030D-6E8A-4147-A177-3AD203B41FA5}">
                      <a16:colId xmlns="" xmlns:a16="http://schemas.microsoft.com/office/drawing/2014/main" val="3847743013"/>
                    </a:ext>
                  </a:extLst>
                </a:gridCol>
                <a:gridCol w="642942">
                  <a:extLst>
                    <a:ext uri="{9D8B030D-6E8A-4147-A177-3AD203B41FA5}">
                      <a16:colId xmlns="" xmlns:a16="http://schemas.microsoft.com/office/drawing/2014/main" val="452441874"/>
                    </a:ext>
                  </a:extLst>
                </a:gridCol>
                <a:gridCol w="714380">
                  <a:extLst>
                    <a:ext uri="{9D8B030D-6E8A-4147-A177-3AD203B41FA5}">
                      <a16:colId xmlns="" xmlns:a16="http://schemas.microsoft.com/office/drawing/2014/main" val="59173545"/>
                    </a:ext>
                  </a:extLst>
                </a:gridCol>
                <a:gridCol w="714380">
                  <a:extLst>
                    <a:ext uri="{9D8B030D-6E8A-4147-A177-3AD203B41FA5}">
                      <a16:colId xmlns="" xmlns:a16="http://schemas.microsoft.com/office/drawing/2014/main" val="2473494501"/>
                    </a:ext>
                  </a:extLst>
                </a:gridCol>
                <a:gridCol w="682452"/>
              </a:tblGrid>
              <a:tr h="41510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단위</a:t>
                      </a:r>
                      <a:r>
                        <a:rPr lang="en-US" altLang="ko-K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백만 원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436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2016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436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2017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436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2018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436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Georgia" pitchFamily="18" charset="0"/>
                        </a:rPr>
                        <a:t>2019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436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86545428"/>
                  </a:ext>
                </a:extLst>
              </a:tr>
              <a:tr h="41510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u="none" strike="noStrike" dirty="0">
                          <a:effectLst/>
                        </a:rPr>
                        <a:t>매출액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 smtClean="0">
                          <a:effectLst/>
                        </a:rPr>
                        <a:t>920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         </a:t>
                      </a:r>
                      <a:r>
                        <a:rPr lang="en-US" sz="1000" u="none" strike="noStrike" dirty="0" smtClean="0">
                          <a:effectLst/>
                        </a:rPr>
                        <a:t> </a:t>
                      </a:r>
                      <a:r>
                        <a:rPr lang="en-US" sz="1000" u="none" strike="noStrike" dirty="0">
                          <a:effectLst/>
                        </a:rPr>
                        <a:t>4,676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       </a:t>
                      </a:r>
                      <a:r>
                        <a:rPr lang="en-US" sz="1000" u="none" strike="noStrike" dirty="0" smtClean="0">
                          <a:effectLst/>
                        </a:rPr>
                        <a:t>   </a:t>
                      </a:r>
                      <a:r>
                        <a:rPr lang="en-US" sz="1000" u="none" strike="noStrike" dirty="0">
                          <a:effectLst/>
                        </a:rPr>
                        <a:t>8,179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eorgia" pitchFamily="18" charset="0"/>
                        </a:rPr>
                        <a:t>7,476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36000" marR="36000" marT="36000" marB="36000" anchor="ctr">
                    <a:lnT>
                      <a:noFill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2535016854"/>
                  </a:ext>
                </a:extLst>
              </a:tr>
              <a:tr h="415108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i="1" u="none" strike="noStrike" dirty="0">
                          <a:effectLst/>
                        </a:rPr>
                        <a:t>YoY %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u="none" strike="noStrike" dirty="0" smtClean="0">
                          <a:effectLst/>
                        </a:rPr>
                        <a:t>408.5%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u="none" strike="noStrike" dirty="0" smtClean="0">
                          <a:effectLst/>
                        </a:rPr>
                        <a:t>74.9%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Georgia" pitchFamily="18" charset="0"/>
                        </a:rPr>
                        <a:t>-8.6%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="" xmlns:a16="http://schemas.microsoft.com/office/drawing/2014/main" val="923858609"/>
                  </a:ext>
                </a:extLst>
              </a:tr>
              <a:tr h="41510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 dirty="0">
                          <a:effectLst/>
                        </a:rPr>
                        <a:t>EBIT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  </a:t>
                      </a:r>
                      <a:r>
                        <a:rPr lang="en-US" sz="1000" u="none" strike="noStrike" dirty="0" smtClean="0">
                          <a:effectLst/>
                        </a:rPr>
                        <a:t>(</a:t>
                      </a:r>
                      <a:r>
                        <a:rPr lang="en-US" sz="1000" u="none" strike="noStrike" dirty="0">
                          <a:effectLst/>
                        </a:rPr>
                        <a:t>159)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   </a:t>
                      </a:r>
                      <a:r>
                        <a:rPr lang="en-US" sz="1000" u="none" strike="noStrike" dirty="0" smtClean="0">
                          <a:effectLst/>
                        </a:rPr>
                        <a:t>(</a:t>
                      </a:r>
                      <a:r>
                        <a:rPr lang="en-US" sz="1000" u="none" strike="noStrike" dirty="0">
                          <a:effectLst/>
                        </a:rPr>
                        <a:t>529)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    </a:t>
                      </a:r>
                      <a:r>
                        <a:rPr lang="en-US" sz="1000" u="none" strike="noStrike" dirty="0" smtClean="0">
                          <a:effectLst/>
                        </a:rPr>
                        <a:t> (</a:t>
                      </a:r>
                      <a:r>
                        <a:rPr lang="en-US" sz="1000" u="none" strike="noStrike" dirty="0">
                          <a:effectLst/>
                        </a:rPr>
                        <a:t>1,594)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eorgia" pitchFamily="18" charset="0"/>
                        </a:rPr>
                        <a:t>(742)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="" xmlns:a16="http://schemas.microsoft.com/office/drawing/2014/main" val="70261231"/>
                  </a:ext>
                </a:extLst>
              </a:tr>
              <a:tr h="415108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i="1" u="none" strike="noStrike" dirty="0">
                          <a:effectLst/>
                        </a:rPr>
                        <a:t>% of sales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u="none" strike="noStrike" dirty="0" smtClean="0">
                          <a:effectLst/>
                        </a:rPr>
                        <a:t>-17.3%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u="none" strike="noStrike" dirty="0">
                          <a:effectLst/>
                        </a:rPr>
                        <a:t>-</a:t>
                      </a:r>
                      <a:r>
                        <a:rPr lang="en-US" sz="1000" u="none" strike="noStrike" dirty="0" smtClean="0">
                          <a:effectLst/>
                        </a:rPr>
                        <a:t>11.3%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u="none" strike="noStrike" dirty="0">
                          <a:effectLst/>
                        </a:rPr>
                        <a:t>-</a:t>
                      </a:r>
                      <a:r>
                        <a:rPr lang="en-US" sz="1000" u="none" strike="noStrike" dirty="0" smtClean="0">
                          <a:effectLst/>
                        </a:rPr>
                        <a:t>19.5%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Georgia" pitchFamily="18" charset="0"/>
                        </a:rPr>
                        <a:t>-10%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="" xmlns:a16="http://schemas.microsoft.com/office/drawing/2014/main" val="618016057"/>
                  </a:ext>
                </a:extLst>
              </a:tr>
              <a:tr h="41510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u="none" strike="noStrike" dirty="0">
                          <a:effectLst/>
                        </a:rPr>
                        <a:t>순이익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       </a:t>
                      </a:r>
                      <a:r>
                        <a:rPr lang="en-US" sz="1000" u="none" strike="noStrike" dirty="0" smtClean="0">
                          <a:effectLst/>
                        </a:rPr>
                        <a:t> </a:t>
                      </a:r>
                      <a:r>
                        <a:rPr lang="en-US" sz="1000" u="none" strike="noStrike" dirty="0">
                          <a:effectLst/>
                        </a:rPr>
                        <a:t>82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    </a:t>
                      </a:r>
                      <a:r>
                        <a:rPr lang="en-US" sz="1000" u="none" strike="noStrike" dirty="0" smtClean="0">
                          <a:effectLst/>
                        </a:rPr>
                        <a:t> </a:t>
                      </a:r>
                      <a:r>
                        <a:rPr lang="en-US" sz="1000" u="none" strike="noStrike" dirty="0">
                          <a:effectLst/>
                        </a:rPr>
                        <a:t>(571)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 smtClean="0">
                          <a:effectLst/>
                        </a:rPr>
                        <a:t> (</a:t>
                      </a:r>
                      <a:r>
                        <a:rPr lang="en-US" sz="1000" u="none" strike="noStrike" dirty="0">
                          <a:effectLst/>
                        </a:rPr>
                        <a:t>1,582)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eorgia" pitchFamily="18" charset="0"/>
                        </a:rPr>
                        <a:t>(745)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="" xmlns:a16="http://schemas.microsoft.com/office/drawing/2014/main" val="1057752524"/>
                  </a:ext>
                </a:extLst>
              </a:tr>
              <a:tr h="415108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b">
                    <a:lnB w="317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i="1" u="none" strike="noStrike" dirty="0">
                          <a:effectLst/>
                        </a:rPr>
                        <a:t>% of sales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B w="317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u="none" strike="noStrike" dirty="0" smtClean="0">
                          <a:effectLst/>
                        </a:rPr>
                        <a:t>8.9</a:t>
                      </a:r>
                      <a:r>
                        <a:rPr lang="en-US" sz="1000" u="none" strike="noStrike" dirty="0">
                          <a:effectLst/>
                        </a:rPr>
                        <a:t>%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B w="317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u="none" strike="noStrike" dirty="0">
                          <a:effectLst/>
                        </a:rPr>
                        <a:t>-</a:t>
                      </a:r>
                      <a:r>
                        <a:rPr lang="en-US" sz="1000" u="none" strike="noStrike" dirty="0" smtClean="0">
                          <a:effectLst/>
                        </a:rPr>
                        <a:t>12.2%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B w="317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u="none" strike="noStrike" dirty="0">
                          <a:effectLst/>
                        </a:rPr>
                        <a:t>-</a:t>
                      </a:r>
                      <a:r>
                        <a:rPr lang="en-US" sz="1000" u="none" strike="noStrike" dirty="0" smtClean="0">
                          <a:effectLst/>
                        </a:rPr>
                        <a:t>19.3%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B w="317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Georgia" pitchFamily="18" charset="0"/>
                        </a:rPr>
                        <a:t>-10%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36000" marR="36000" marT="36000" marB="36000" anchor="ctr">
                    <a:lnB w="317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66633138"/>
                  </a:ext>
                </a:extLst>
              </a:tr>
              <a:tr h="41510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u="none" strike="noStrike" dirty="0">
                          <a:effectLst/>
                        </a:rPr>
                        <a:t>자산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                 </a:t>
                      </a:r>
                      <a:r>
                        <a:rPr lang="en-US" sz="1000" u="none" strike="noStrike" dirty="0" smtClean="0">
                          <a:effectLst/>
                        </a:rPr>
                        <a:t>474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 smtClean="0">
                          <a:effectLst/>
                        </a:rPr>
                        <a:t>740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              </a:t>
                      </a:r>
                      <a:r>
                        <a:rPr lang="en-US" sz="1000" u="none" strike="noStrike" dirty="0" smtClean="0">
                          <a:effectLst/>
                        </a:rPr>
                        <a:t> </a:t>
                      </a:r>
                      <a:r>
                        <a:rPr lang="en-US" sz="1000" u="none" strike="noStrike" dirty="0">
                          <a:effectLst/>
                        </a:rPr>
                        <a:t>98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eorgia" pitchFamily="18" charset="0"/>
                        </a:rPr>
                        <a:t>121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3883498247"/>
                  </a:ext>
                </a:extLst>
              </a:tr>
              <a:tr h="41510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u="none" strike="noStrike" dirty="0">
                          <a:effectLst/>
                        </a:rPr>
                        <a:t>부채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B w="19050" cap="flat" cmpd="sng" algn="ctr">
                      <a:solidFill>
                        <a:srgbClr val="2D4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                  </a:t>
                      </a:r>
                      <a:r>
                        <a:rPr lang="en-US" sz="1000" u="none" strike="noStrike" dirty="0" smtClean="0">
                          <a:effectLst/>
                        </a:rPr>
                        <a:t>137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B w="19050" cap="flat" cmpd="sng" algn="ctr">
                      <a:solidFill>
                        <a:srgbClr val="2D4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               974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B w="19050" cap="flat" cmpd="sng" algn="ctr">
                      <a:solidFill>
                        <a:srgbClr val="2D4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       </a:t>
                      </a:r>
                      <a:r>
                        <a:rPr lang="en-US" sz="1000" u="none" strike="noStrike" dirty="0" smtClean="0">
                          <a:effectLst/>
                        </a:rPr>
                        <a:t> </a:t>
                      </a:r>
                      <a:r>
                        <a:rPr lang="en-US" sz="1000" u="none" strike="noStrike" dirty="0">
                          <a:effectLst/>
                        </a:rPr>
                        <a:t>1,914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B w="19050" cap="flat" cmpd="sng" algn="ctr">
                      <a:solidFill>
                        <a:srgbClr val="2D4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eorgia" pitchFamily="18" charset="0"/>
                        </a:rPr>
                        <a:t>2683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Georgia" pitchFamily="18" charset="0"/>
                      </a:endParaRPr>
                    </a:p>
                  </a:txBody>
                  <a:tcPr marL="36000" marR="36000" marT="36000" marB="36000" anchor="ctr">
                    <a:lnB w="19050" cap="flat" cmpd="sng" algn="ctr">
                      <a:solidFill>
                        <a:srgbClr val="2D43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744170627"/>
                  </a:ext>
                </a:extLst>
              </a:tr>
            </a:tbl>
          </a:graphicData>
        </a:graphic>
      </p:graphicFrame>
      <p:grpSp>
        <p:nvGrpSpPr>
          <p:cNvPr id="7" name="그룹 34"/>
          <p:cNvGrpSpPr/>
          <p:nvPr/>
        </p:nvGrpSpPr>
        <p:grpSpPr>
          <a:xfrm>
            <a:off x="304530" y="1844520"/>
            <a:ext cx="4111827" cy="360344"/>
            <a:chOff x="245643" y="1844520"/>
            <a:chExt cx="4118545" cy="288336"/>
          </a:xfrm>
        </p:grpSpPr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701B9D24-3EBD-4D8A-830B-4F86793C9ADA}"/>
                </a:ext>
              </a:extLst>
            </p:cNvPr>
            <p:cNvSpPr txBox="1"/>
            <p:nvPr/>
          </p:nvSpPr>
          <p:spPr>
            <a:xfrm>
              <a:off x="245643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ko-KR" altLang="en-US" sz="1200" b="1" dirty="0" smtClean="0">
                  <a:latin typeface="Georgia" pitchFamily="18" charset="0"/>
                </a:rPr>
                <a:t>하우스미디어 </a:t>
              </a:r>
              <a:r>
                <a:rPr lang="en-US" sz="1200" b="1" dirty="0" smtClean="0">
                  <a:latin typeface="Georgia" pitchFamily="18" charset="0"/>
                </a:rPr>
                <a:t> </a:t>
              </a:r>
              <a:r>
                <a:rPr lang="en-US" sz="1200" b="1" dirty="0">
                  <a:latin typeface="Georgia" pitchFamily="18" charset="0"/>
                </a:rPr>
                <a:t>Overview</a:t>
              </a:r>
            </a:p>
          </p:txBody>
        </p:sp>
        <p:cxnSp>
          <p:nvCxnSpPr>
            <p:cNvPr id="37" name="Straight Connector 11">
              <a:extLst>
                <a:ext uri="{FF2B5EF4-FFF2-40B4-BE49-F238E27FC236}">
                  <a16:creationId xmlns="" xmlns:a16="http://schemas.microsoft.com/office/drawing/2014/main" id="{B61497FC-483D-4DAD-9749-67F335D44DE2}"/>
                </a:ext>
              </a:extLst>
            </p:cNvPr>
            <p:cNvCxnSpPr/>
            <p:nvPr/>
          </p:nvCxnSpPr>
          <p:spPr>
            <a:xfrm>
              <a:off x="251520" y="2132856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4" name="직사각형 43"/>
          <p:cNvSpPr/>
          <p:nvPr/>
        </p:nvSpPr>
        <p:spPr bwMode="auto">
          <a:xfrm>
            <a:off x="2551864" y="5072198"/>
            <a:ext cx="1864493" cy="9742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2551864" y="3855027"/>
            <a:ext cx="1864493" cy="9742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2551864" y="2637856"/>
            <a:ext cx="1864493" cy="9742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47" name="Rectangle 14">
            <a:extLst>
              <a:ext uri="{FF2B5EF4-FFF2-40B4-BE49-F238E27FC236}">
                <a16:creationId xmlns="" xmlns:a16="http://schemas.microsoft.com/office/drawing/2014/main" id="{DCCA5859-D53E-48A6-A803-5287605F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864" y="3861048"/>
            <a:ext cx="1864493" cy="96824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ctr"/>
          <a:lstStyle/>
          <a:p>
            <a:pPr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200" b="1" u="sng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커머스</a:t>
            </a:r>
            <a:endParaRPr lang="en-US" altLang="ko-KR" sz="1200" b="1" u="sng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1450" indent="-1714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2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홈퍼니싱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커머스</a:t>
            </a:r>
            <a:endParaRPr lang="en-US" altLang="ko-KR" sz="12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1450" indent="-1714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2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중개상품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및 </a:t>
            </a:r>
            <a:r>
              <a:rPr lang="en-US" altLang="ko-KR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PB </a:t>
            </a:r>
            <a:r>
              <a:rPr lang="ko-KR" altLang="en-US" sz="12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상품 </a:t>
            </a:r>
            <a:endParaRPr lang="en-US" altLang="ko-KR" sz="12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grpSp>
        <p:nvGrpSpPr>
          <p:cNvPr id="8" name="그룹 47"/>
          <p:cNvGrpSpPr/>
          <p:nvPr/>
        </p:nvGrpSpPr>
        <p:grpSpPr>
          <a:xfrm>
            <a:off x="3385352" y="3591048"/>
            <a:ext cx="270000" cy="270000"/>
            <a:chOff x="-1260648" y="2852936"/>
            <a:chExt cx="288000" cy="288000"/>
          </a:xfrm>
        </p:grpSpPr>
        <p:sp>
          <p:nvSpPr>
            <p:cNvPr id="49" name="타원 48">
              <a:extLst>
                <a:ext uri="{FF2B5EF4-FFF2-40B4-BE49-F238E27FC236}">
                  <a16:creationId xmlns="" xmlns:a16="http://schemas.microsoft.com/office/drawing/2014/main" id="{B5967059-1215-40CD-BC0D-3AFE76305427}"/>
                </a:ext>
              </a:extLst>
            </p:cNvPr>
            <p:cNvSpPr/>
            <p:nvPr/>
          </p:nvSpPr>
          <p:spPr bwMode="auto">
            <a:xfrm>
              <a:off x="-1260648" y="2852936"/>
              <a:ext cx="288000" cy="288000"/>
            </a:xfrm>
            <a:prstGeom prst="ellipse">
              <a:avLst/>
            </a:prstGeom>
            <a:solidFill>
              <a:srgbClr val="233A5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46800" tIns="90000" rIns="46800" bIns="90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latinLnBrk="0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</a:pPr>
              <a:endParaRPr lang="ko-KR" altLang="en-US" sz="1300" b="1" dirty="0">
                <a:solidFill>
                  <a:srgbClr val="1B1112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0" name="십자형 49">
              <a:extLst>
                <a:ext uri="{FF2B5EF4-FFF2-40B4-BE49-F238E27FC236}">
                  <a16:creationId xmlns="" xmlns:a16="http://schemas.microsoft.com/office/drawing/2014/main" id="{D7E3DB7C-3122-4B01-934E-774E6D4BD288}"/>
                </a:ext>
              </a:extLst>
            </p:cNvPr>
            <p:cNvSpPr/>
            <p:nvPr/>
          </p:nvSpPr>
          <p:spPr bwMode="auto">
            <a:xfrm>
              <a:off x="-1224648" y="2888936"/>
              <a:ext cx="216000" cy="216000"/>
            </a:xfrm>
            <a:prstGeom prst="plus">
              <a:avLst>
                <a:gd name="adj" fmla="val 36168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46800" tIns="90000" rIns="46800" bIns="90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latinLnBrk="0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</a:pPr>
              <a:endParaRPr lang="ko-KR" altLang="en-US" sz="1300" b="1" dirty="0">
                <a:solidFill>
                  <a:srgbClr val="1B1112"/>
                </a:solidFill>
                <a:latin typeface="+mj-lt"/>
                <a:cs typeface="Arial" pitchFamily="34" charset="0"/>
              </a:endParaRPr>
            </a:p>
          </p:txBody>
        </p:sp>
      </p:grpSp>
      <p:sp>
        <p:nvSpPr>
          <p:cNvPr id="51" name="Rectangle 14">
            <a:extLst>
              <a:ext uri="{FF2B5EF4-FFF2-40B4-BE49-F238E27FC236}">
                <a16:creationId xmlns="" xmlns:a16="http://schemas.microsoft.com/office/drawing/2014/main" id="{DCCA5859-D53E-48A6-A803-5287605F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864" y="2610127"/>
            <a:ext cx="1864493" cy="96824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ctr"/>
          <a:lstStyle/>
          <a:p>
            <a:pPr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200" b="1" u="sng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커뮤니티</a:t>
            </a:r>
            <a:endParaRPr lang="en-US" altLang="ko-KR" sz="1200" b="1" u="sng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1450" indent="-1714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브랜드 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정보공유</a:t>
            </a:r>
            <a:endParaRPr lang="en-US" altLang="ko-KR" sz="1200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1450" indent="-1714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리뷰</a:t>
            </a:r>
            <a:r>
              <a:rPr lang="en-US" altLang="ko-KR" sz="12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구매후기</a:t>
            </a:r>
            <a:r>
              <a:rPr lang="en-US" altLang="ko-KR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</a:t>
            </a:r>
            <a:endParaRPr lang="ko-KR" altLang="en-US" sz="12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52" name="Rectangle 14">
            <a:extLst>
              <a:ext uri="{FF2B5EF4-FFF2-40B4-BE49-F238E27FC236}">
                <a16:creationId xmlns="" xmlns:a16="http://schemas.microsoft.com/office/drawing/2014/main" id="{DCCA5859-D53E-48A6-A803-5287605F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864" y="5095999"/>
            <a:ext cx="1864493" cy="96824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ctr"/>
          <a:lstStyle/>
          <a:p>
            <a:pPr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200" b="1" u="sng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리모델링</a:t>
            </a:r>
            <a:endParaRPr lang="en-US" altLang="ko-KR" sz="1200" b="1" u="sng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1450" indent="-1714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시공 </a:t>
            </a:r>
            <a:r>
              <a:rPr lang="en-US" altLang="ko-KR" sz="12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O2O 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제공</a:t>
            </a:r>
            <a:endParaRPr lang="en-US" altLang="ko-KR" sz="1200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1450" indent="-1714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건자재</a:t>
            </a:r>
            <a:r>
              <a:rPr lang="en-US" altLang="ko-KR" sz="12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시공업체와 디자이너 </a:t>
            </a:r>
            <a:r>
              <a:rPr lang="en-US" altLang="ko-KR" sz="12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B2B 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연결</a:t>
            </a:r>
            <a:endParaRPr lang="ko-KR" altLang="en-US" sz="12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grpSp>
        <p:nvGrpSpPr>
          <p:cNvPr id="9" name="그룹 52"/>
          <p:cNvGrpSpPr/>
          <p:nvPr/>
        </p:nvGrpSpPr>
        <p:grpSpPr>
          <a:xfrm>
            <a:off x="3385352" y="4814099"/>
            <a:ext cx="270000" cy="270000"/>
            <a:chOff x="-1260648" y="2852936"/>
            <a:chExt cx="288000" cy="288000"/>
          </a:xfrm>
        </p:grpSpPr>
        <p:sp>
          <p:nvSpPr>
            <p:cNvPr id="54" name="타원 53">
              <a:extLst>
                <a:ext uri="{FF2B5EF4-FFF2-40B4-BE49-F238E27FC236}">
                  <a16:creationId xmlns="" xmlns:a16="http://schemas.microsoft.com/office/drawing/2014/main" id="{B5967059-1215-40CD-BC0D-3AFE76305427}"/>
                </a:ext>
              </a:extLst>
            </p:cNvPr>
            <p:cNvSpPr/>
            <p:nvPr/>
          </p:nvSpPr>
          <p:spPr bwMode="auto">
            <a:xfrm>
              <a:off x="-1260648" y="2852936"/>
              <a:ext cx="288000" cy="288000"/>
            </a:xfrm>
            <a:prstGeom prst="ellipse">
              <a:avLst/>
            </a:prstGeom>
            <a:solidFill>
              <a:srgbClr val="233A5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46800" tIns="90000" rIns="46800" bIns="90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latinLnBrk="0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</a:pPr>
              <a:endParaRPr lang="ko-KR" altLang="en-US" sz="1300" b="1" dirty="0">
                <a:solidFill>
                  <a:srgbClr val="1B1112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5" name="십자형 54">
              <a:extLst>
                <a:ext uri="{FF2B5EF4-FFF2-40B4-BE49-F238E27FC236}">
                  <a16:creationId xmlns="" xmlns:a16="http://schemas.microsoft.com/office/drawing/2014/main" id="{D7E3DB7C-3122-4B01-934E-774E6D4BD288}"/>
                </a:ext>
              </a:extLst>
            </p:cNvPr>
            <p:cNvSpPr/>
            <p:nvPr/>
          </p:nvSpPr>
          <p:spPr bwMode="auto">
            <a:xfrm>
              <a:off x="-1224648" y="2888936"/>
              <a:ext cx="216000" cy="216000"/>
            </a:xfrm>
            <a:prstGeom prst="plus">
              <a:avLst>
                <a:gd name="adj" fmla="val 36168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46800" tIns="90000" rIns="46800" bIns="90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latinLnBrk="0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</a:pPr>
              <a:endParaRPr lang="ko-KR" altLang="en-US" sz="1300" b="1" dirty="0">
                <a:solidFill>
                  <a:srgbClr val="1B1112"/>
                </a:solidFill>
                <a:latin typeface="+mj-lt"/>
                <a:cs typeface="Arial" pitchFamily="34" charset="0"/>
              </a:endParaRPr>
            </a:p>
          </p:txBody>
        </p:sp>
      </p:grpSp>
      <p:sp>
        <p:nvSpPr>
          <p:cNvPr id="56" name="Rectangle 14">
            <a:extLst>
              <a:ext uri="{FF2B5EF4-FFF2-40B4-BE49-F238E27FC236}">
                <a16:creationId xmlns="" xmlns:a16="http://schemas.microsoft.com/office/drawing/2014/main" id="{DCCA5859-D53E-48A6-A803-5287605F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166" y="2283529"/>
            <a:ext cx="2016224" cy="3047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ctr"/>
          <a:lstStyle/>
          <a:p>
            <a:pPr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300" b="1" u="sng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서비스명</a:t>
            </a:r>
            <a:r>
              <a:rPr lang="ko-KR" altLang="en-US" sz="1300" b="1" u="sng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</a:t>
            </a:r>
            <a:r>
              <a:rPr lang="en-US" altLang="ko-KR" sz="1300" b="1" u="sng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‘</a:t>
            </a:r>
            <a:r>
              <a:rPr lang="ko-KR" altLang="en-US" sz="1300" b="1" u="sng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하우스앱</a:t>
            </a:r>
            <a:r>
              <a:rPr lang="en-US" altLang="ko-KR" sz="1300" b="1" u="sng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’</a:t>
            </a:r>
          </a:p>
        </p:txBody>
      </p:sp>
      <p:sp>
        <p:nvSpPr>
          <p:cNvPr id="57" name="Rectangle 14">
            <a:extLst>
              <a:ext uri="{FF2B5EF4-FFF2-40B4-BE49-F238E27FC236}">
                <a16:creationId xmlns="" xmlns:a16="http://schemas.microsoft.com/office/drawing/2014/main" id="{DCCA5859-D53E-48A6-A803-5287605F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530" y="2283529"/>
            <a:ext cx="1787079" cy="3047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ctr"/>
          <a:lstStyle/>
          <a:p>
            <a:pPr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300" b="1" u="sng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주요 현황</a:t>
            </a:r>
            <a:endParaRPr lang="en-US" altLang="ko-KR" sz="1300" b="1" u="sng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58" name="Rectangle 14">
            <a:extLst>
              <a:ext uri="{FF2B5EF4-FFF2-40B4-BE49-F238E27FC236}">
                <a16:creationId xmlns="" xmlns:a16="http://schemas.microsoft.com/office/drawing/2014/main" id="{DCCA5859-D53E-48A6-A803-5287605F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84" y="2670960"/>
            <a:ext cx="1787079" cy="6151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ctr" anchorCtr="0"/>
          <a:lstStyle/>
          <a:p>
            <a:pPr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2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자본금</a:t>
            </a:r>
            <a:endParaRPr lang="en-US" altLang="ko-KR" sz="1200" b="1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1450" indent="-1714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3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억 </a:t>
            </a:r>
            <a:r>
              <a:rPr lang="en-US" altLang="ko-KR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2</a:t>
            </a:r>
            <a:r>
              <a:rPr lang="ko-KR" altLang="en-US" sz="12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천만원</a:t>
            </a:r>
            <a:endParaRPr lang="en-US" altLang="ko-KR" sz="1200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59" name="Rectangle 14">
            <a:extLst>
              <a:ext uri="{FF2B5EF4-FFF2-40B4-BE49-F238E27FC236}">
                <a16:creationId xmlns="" xmlns:a16="http://schemas.microsoft.com/office/drawing/2014/main" id="{DCCA5859-D53E-48A6-A803-5287605F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84" y="3356576"/>
            <a:ext cx="2247552" cy="6964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200" b="1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주주현황</a:t>
            </a:r>
            <a:endParaRPr lang="en-US" altLang="ko-KR" sz="1200" b="1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1450" indent="-1714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200" kern="0" dirty="0" smtClean="0">
                <a:solidFill>
                  <a:srgbClr val="000000"/>
                </a:solidFill>
                <a:ea typeface="맑은 고딕" pitchFamily="50" charset="-127"/>
              </a:rPr>
              <a:t>대표 외 임직원</a:t>
            </a:r>
            <a:r>
              <a:rPr lang="en-US" altLang="ko-KR" sz="1200" kern="0" dirty="0" smtClean="0">
                <a:solidFill>
                  <a:srgbClr val="000000"/>
                </a:solidFill>
                <a:ea typeface="맑은 고딕" pitchFamily="50" charset="-127"/>
              </a:rPr>
              <a:t>: 77%</a:t>
            </a:r>
          </a:p>
          <a:p>
            <a:pPr marL="171450" indent="-1714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200" kern="0" dirty="0" smtClean="0">
                <a:solidFill>
                  <a:srgbClr val="000000"/>
                </a:solidFill>
                <a:ea typeface="맑은 고딕" pitchFamily="50" charset="-127"/>
              </a:rPr>
              <a:t>기타</a:t>
            </a:r>
            <a:r>
              <a:rPr lang="en-US" altLang="ko-KR" sz="1200" kern="0" dirty="0" smtClean="0">
                <a:solidFill>
                  <a:srgbClr val="000000"/>
                </a:solidFill>
                <a:ea typeface="맑은 고딕" pitchFamily="50" charset="-127"/>
              </a:rPr>
              <a:t>: 23%</a:t>
            </a:r>
          </a:p>
        </p:txBody>
      </p:sp>
      <p:sp>
        <p:nvSpPr>
          <p:cNvPr id="60" name="Rectangle 14">
            <a:extLst>
              <a:ext uri="{FF2B5EF4-FFF2-40B4-BE49-F238E27FC236}">
                <a16:creationId xmlns="" xmlns:a16="http://schemas.microsoft.com/office/drawing/2014/main" id="{DCCA5859-D53E-48A6-A803-5287605F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84" y="4241763"/>
            <a:ext cx="1787079" cy="4821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2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임직원</a:t>
            </a:r>
            <a:endParaRPr lang="en-US" altLang="ko-KR" sz="1200" b="1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1450" indent="-1714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9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명</a:t>
            </a:r>
            <a:endParaRPr lang="en-US" altLang="ko-KR" sz="1200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61" name="Rectangle 14">
            <a:extLst>
              <a:ext uri="{FF2B5EF4-FFF2-40B4-BE49-F238E27FC236}">
                <a16:creationId xmlns="" xmlns:a16="http://schemas.microsoft.com/office/drawing/2014/main" id="{DCCA5859-D53E-48A6-A803-5287605F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84" y="4878912"/>
            <a:ext cx="2104676" cy="6964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2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주요 연혁</a:t>
            </a:r>
            <a:endParaRPr lang="en-US" altLang="ko-KR" sz="1200" b="1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1450" indent="-1714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’14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년 법인 설립</a:t>
            </a:r>
            <a:endParaRPr lang="en-US" altLang="ko-KR" sz="1200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1450" indent="-1714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’15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년 커뮤니티 서비스 런칭</a:t>
            </a:r>
            <a:endParaRPr lang="en-US" altLang="ko-KR" sz="1200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1450" indent="-17145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’17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년 </a:t>
            </a:r>
            <a:r>
              <a:rPr lang="ko-KR" altLang="en-US" sz="12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커머스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서비스 런칭</a:t>
            </a:r>
            <a:endParaRPr lang="en-US" altLang="ko-KR" sz="1200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1361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/>
          </p:cNvSpPr>
          <p:nvPr/>
        </p:nvSpPr>
        <p:spPr>
          <a:xfrm>
            <a:off x="1259632" y="2492896"/>
            <a:ext cx="6840000" cy="622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Tx/>
              <a:buFontTx/>
              <a:buNone/>
              <a:tabLst/>
              <a:defRPr sz="1600" b="1" kern="1200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2pPr>
            <a:lvl3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-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3pPr>
            <a:lvl4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5pPr>
            <a:lvl6pPr marL="274320" marR="0" indent="-27432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6pPr>
            <a:lvl7pPr marL="54864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alpha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7pPr>
            <a:lvl8pPr marL="82296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roman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8pPr>
            <a:lvl9pPr marL="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None/>
              <a:defRPr sz="2000" b="1" kern="1200" baseline="0">
                <a:solidFill>
                  <a:schemeClr val="tx2"/>
                </a:solidFill>
                <a:latin typeface="Georgia" pitchFamily="18" charset="0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II. Investment Highlights</a:t>
            </a:r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120435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Investment </a:t>
            </a:r>
            <a:r>
              <a:rPr lang="en-US" altLang="ko-KR" dirty="0"/>
              <a:t>Highlights</a:t>
            </a:r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449720" y="1490975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+mn-ea"/>
                <a:cs typeface="Arial" pitchFamily="34" charset="0"/>
              </a:rPr>
              <a:t>1</a:t>
            </a:r>
            <a:endParaRPr lang="ko-KR" altLang="en-US" sz="1400" b="1" dirty="0">
              <a:latin typeface="+mn-ea"/>
              <a:cs typeface="Arial" pitchFamily="34" charset="0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449720" y="2739672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+mn-ea"/>
                <a:cs typeface="Arial" pitchFamily="34" charset="0"/>
              </a:rPr>
              <a:t>2</a:t>
            </a:r>
            <a:endParaRPr lang="ko-KR" altLang="en-US" sz="1400" b="1" dirty="0">
              <a:latin typeface="+mn-ea"/>
              <a:cs typeface="Arial" pitchFamily="34" charset="0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449720" y="4020392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+mn-ea"/>
                <a:cs typeface="Arial" pitchFamily="34" charset="0"/>
              </a:rPr>
              <a:t>3</a:t>
            </a:r>
            <a:endParaRPr lang="ko-KR" altLang="en-US" sz="1400" b="1" dirty="0">
              <a:latin typeface="+mn-ea"/>
              <a:cs typeface="Arial" pitchFamily="34" charset="0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449720" y="5373824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+mn-ea"/>
                <a:cs typeface="Arial" pitchFamily="34" charset="0"/>
              </a:rPr>
              <a:t>4</a:t>
            </a:r>
            <a:endParaRPr lang="ko-KR" altLang="en-US" sz="1400" b="1" dirty="0">
              <a:latin typeface="+mn-ea"/>
              <a:cs typeface="Arial" pitchFamily="34" charset="0"/>
            </a:endParaRPr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3067967" y="1425437"/>
            <a:ext cx="5815714" cy="79771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국내 인테리어 시장 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10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년 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19.4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조 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 ’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20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년 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41.5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조 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(CAGR 7.9%)</a:t>
            </a: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핵심 </a:t>
            </a:r>
            <a:r>
              <a:rPr lang="ko-KR" altLang="en-US" sz="14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트랜드는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30~40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대 이상 주부층을 중심으로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정보 및 경험 공유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(“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커뮤니티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”)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를 통한 수요 확대가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핵심</a:t>
            </a:r>
            <a:endParaRPr lang="en-US" altLang="ko-KR" sz="1400" b="1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1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7884368" y="6237312"/>
            <a:ext cx="712800" cy="262800"/>
          </a:xfrm>
        </p:spPr>
        <p:txBody>
          <a:bodyPr/>
          <a:lstStyle/>
          <a:p>
            <a:fld id="{B68BC80C-B1D2-42DA-B465-5CACDB325AFD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709129" y="1425437"/>
            <a:ext cx="2309285" cy="79771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algn="r">
              <a:spcBef>
                <a:spcPts val="600"/>
              </a:spcBef>
            </a:pPr>
            <a:r>
              <a:rPr lang="ko-KR" altLang="en-US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국내 인테리어 시장의</a:t>
            </a:r>
            <a: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/>
            </a:r>
            <a:b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</a:br>
            <a:r>
              <a:rPr lang="ko-KR" altLang="en-US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안정적 성장 가능성</a:t>
            </a:r>
            <a:endParaRPr lang="ko-KR" altLang="en-US" sz="1500" b="1" dirty="0">
              <a:ln w="3175">
                <a:solidFill>
                  <a:schemeClr val="bg1">
                    <a:alpha val="50000"/>
                  </a:schemeClr>
                </a:solidFill>
              </a:ln>
              <a:solidFill>
                <a:schemeClr val="tx2"/>
              </a:solidFill>
              <a:latin typeface="Georgia" pitchFamily="18" charset="0"/>
            </a:endParaRP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3067967" y="2642064"/>
            <a:ext cx="5815714" cy="103105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2000" rIns="36000" anchor="t" anchorCtr="0">
            <a:spAutoFit/>
          </a:bodyPr>
          <a:lstStyle/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인테리어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“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커뮤니티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”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채널 성공 경험 기반 본격 사업화 추진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/>
            </a:r>
            <a:b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</a:b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- 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페이스북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카카오스토리 등 커뮤니티 서비스 성공 경험 및 노하우 보유</a:t>
            </a:r>
            <a:endParaRPr lang="en-US" altLang="ko-KR" sz="1400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b="1" kern="0" dirty="0">
                <a:solidFill>
                  <a:srgbClr val="C00000"/>
                </a:solidFill>
                <a:latin typeface="+mj-lt"/>
                <a:ea typeface="맑은 고딕" pitchFamily="50" charset="-127"/>
              </a:rPr>
              <a:t>커뮤니티 </a:t>
            </a:r>
            <a:r>
              <a:rPr lang="ko-KR" altLang="en-US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통한 사용자 ‘경험의 컨텐츠化</a:t>
            </a:r>
            <a:r>
              <a:rPr lang="en-US" altLang="ko-KR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’</a:t>
            </a:r>
            <a:r>
              <a:rPr lang="ko-KR" altLang="en-US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 </a:t>
            </a:r>
            <a:r>
              <a:rPr lang="ko-KR" altLang="en-US" sz="1400" b="1" kern="0" dirty="0">
                <a:solidFill>
                  <a:srgbClr val="C00000"/>
                </a:solidFill>
                <a:latin typeface="+mj-lt"/>
                <a:ea typeface="맑은 고딕" pitchFamily="50" charset="-127"/>
              </a:rPr>
              <a:t>및 이에 </a:t>
            </a:r>
            <a:r>
              <a:rPr lang="ko-KR" altLang="en-US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기반한 제품</a:t>
            </a:r>
            <a:r>
              <a:rPr lang="en-US" altLang="ko-KR" sz="1400" b="1" kern="0" dirty="0">
                <a:solidFill>
                  <a:srgbClr val="C00000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400" b="1" kern="0" dirty="0">
                <a:solidFill>
                  <a:srgbClr val="C00000"/>
                </a:solidFill>
                <a:latin typeface="+mj-lt"/>
                <a:ea typeface="맑은 고딕" pitchFamily="50" charset="-127"/>
              </a:rPr>
              <a:t>서비스 </a:t>
            </a:r>
            <a:r>
              <a:rPr lang="ko-KR" altLang="en-US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제공</a:t>
            </a:r>
            <a:endParaRPr lang="ko-KR" altLang="en-US" sz="1400" b="1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611720" y="2571744"/>
            <a:ext cx="2406694" cy="79771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algn="r">
              <a:spcBef>
                <a:spcPts val="600"/>
              </a:spcBef>
            </a:pPr>
            <a:r>
              <a:rPr lang="ko-KR" altLang="en-US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하우스미디어의</a:t>
            </a:r>
            <a: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/>
            </a:r>
            <a:b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</a:br>
            <a:r>
              <a:rPr lang="ko-KR" altLang="en-US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커뮤니티 운영 관련</a:t>
            </a:r>
            <a: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/>
            </a:r>
            <a:b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</a:br>
            <a:r>
              <a:rPr lang="ko-KR" altLang="en-US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성공 </a:t>
            </a:r>
            <a: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DNA</a:t>
            </a:r>
            <a:endParaRPr lang="ko-KR" altLang="en-US" sz="1500" b="1" dirty="0">
              <a:ln w="3175">
                <a:solidFill>
                  <a:schemeClr val="bg1">
                    <a:alpha val="50000"/>
                  </a:schemeClr>
                </a:solidFill>
              </a:ln>
              <a:solidFill>
                <a:schemeClr val="tx2"/>
              </a:solidFill>
              <a:latin typeface="Georgia" pitchFamily="18" charset="0"/>
            </a:endParaRP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3067967" y="3962729"/>
            <a:ext cx="5815714" cy="11037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커뮤니티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(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누적 가입자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200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만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)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</a:t>
            </a:r>
            <a:r>
              <a:rPr lang="ko-KR" altLang="en-US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핵심 사용자는 </a:t>
            </a:r>
            <a:r>
              <a:rPr lang="en-US" altLang="ko-KR" sz="1400" b="1" kern="0" dirty="0" smtClean="0">
                <a:solidFill>
                  <a:srgbClr val="C00000"/>
                </a:solidFill>
                <a:ea typeface="맑은 고딕" pitchFamily="50" charset="-127"/>
              </a:rPr>
              <a:t>‘3050 </a:t>
            </a:r>
            <a:r>
              <a:rPr lang="ko-KR" altLang="en-US" sz="1400" b="1" kern="0" dirty="0" smtClean="0">
                <a:solidFill>
                  <a:srgbClr val="C00000"/>
                </a:solidFill>
                <a:ea typeface="맑은 고딕" pitchFamily="50" charset="-127"/>
              </a:rPr>
              <a:t>주부층</a:t>
            </a:r>
            <a:r>
              <a:rPr lang="en-US" altLang="ko-KR" sz="1400" b="1" kern="0" dirty="0" smtClean="0">
                <a:solidFill>
                  <a:srgbClr val="C00000"/>
                </a:solidFill>
                <a:ea typeface="맑은 고딕" pitchFamily="50" charset="-127"/>
              </a:rPr>
              <a:t>’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/>
            </a:r>
            <a:b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</a:b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※ 3050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주부층은 높은 커뮤니티 충성도 및 구매력 보유</a:t>
            </a:r>
            <a:endParaRPr lang="en-US" altLang="ko-KR" sz="1400" kern="0" dirty="0" smtClean="0">
              <a:solidFill>
                <a:srgbClr val="000000"/>
              </a:solidFill>
              <a:latin typeface="+mj-lt"/>
              <a:ea typeface="맑은 고딕" pitchFamily="50" charset="-127"/>
              <a:sym typeface="Wingdings" panose="05000000000000000000" pitchFamily="2" charset="2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이에 기반 </a:t>
            </a:r>
            <a:r>
              <a:rPr lang="ko-KR" altLang="en-US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고가 제품 중심의 </a:t>
            </a:r>
            <a:r>
              <a:rPr lang="en-US" altLang="ko-KR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‘</a:t>
            </a:r>
            <a:r>
              <a:rPr lang="ko-KR" altLang="en-US" sz="1400" b="1" kern="0" dirty="0" err="1" smtClean="0">
                <a:solidFill>
                  <a:srgbClr val="C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커머스</a:t>
            </a:r>
            <a:r>
              <a:rPr lang="en-US" altLang="ko-KR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’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 및 </a:t>
            </a:r>
            <a:r>
              <a:rPr lang="ko-KR" altLang="en-US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프리미엄 </a:t>
            </a:r>
            <a:r>
              <a:rPr lang="en-US" altLang="ko-KR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‘</a:t>
            </a:r>
            <a:r>
              <a:rPr lang="ko-KR" altLang="en-US" sz="1400" b="1" kern="0" dirty="0" err="1" smtClean="0">
                <a:solidFill>
                  <a:srgbClr val="C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리모델링</a:t>
            </a:r>
            <a:r>
              <a:rPr lang="ko-KR" altLang="en-US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 서비스</a:t>
            </a:r>
            <a:r>
              <a:rPr lang="en-US" altLang="ko-KR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’</a:t>
            </a:r>
            <a:r>
              <a:rPr lang="ko-KR" altLang="en-US" sz="1400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영위</a:t>
            </a:r>
            <a:endParaRPr lang="ko-KR" altLang="en-US" sz="14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709129" y="3962729"/>
            <a:ext cx="2309285" cy="79771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algn="r">
              <a:spcBef>
                <a:spcPts val="600"/>
              </a:spcBef>
            </a:pPr>
            <a:r>
              <a:rPr lang="ko-KR" altLang="en-US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구매력 높은 고객 기반</a:t>
            </a:r>
            <a: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,</a:t>
            </a:r>
            <a:b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</a:br>
            <a: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‘</a:t>
            </a:r>
            <a:r>
              <a:rPr lang="ko-KR" altLang="en-US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차별적 시장 </a:t>
            </a:r>
            <a: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Position’</a:t>
            </a:r>
            <a:endParaRPr lang="ko-KR" altLang="en-US" sz="1400" b="1" dirty="0">
              <a:ln w="3175">
                <a:solidFill>
                  <a:schemeClr val="bg1">
                    <a:alpha val="50000"/>
                  </a:schemeClr>
                </a:solidFill>
              </a:ln>
              <a:solidFill>
                <a:schemeClr val="tx2"/>
              </a:solidFill>
              <a:latin typeface="Georgia" pitchFamily="18" charset="0"/>
            </a:endParaRPr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3067967" y="5253050"/>
            <a:ext cx="5815714" cy="79771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통합 커뮤니티 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150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만 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MAU (</a:t>
            </a:r>
            <a:r>
              <a:rPr lang="ko-KR" altLang="en-US" sz="14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앱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) / 400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만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MAU (</a:t>
            </a:r>
            <a:r>
              <a:rPr lang="ko-KR" altLang="en-US" sz="14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앱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웹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) 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목표</a:t>
            </a:r>
            <a:endParaRPr lang="en-US" altLang="ko-KR" sz="14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커뮤니티 역량 및 충성도 높은 핵심 고객층 기반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홈 관련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Total Service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플랫폼 지향 </a:t>
            </a:r>
            <a:endParaRPr lang="en-US" altLang="ko-KR" sz="1400" b="1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31" name="Rectangle 14"/>
          <p:cNvSpPr>
            <a:spLocks noChangeArrowheads="1"/>
          </p:cNvSpPr>
          <p:nvPr/>
        </p:nvSpPr>
        <p:spPr bwMode="auto">
          <a:xfrm>
            <a:off x="709129" y="5253050"/>
            <a:ext cx="2309285" cy="79771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algn="r">
              <a:spcBef>
                <a:spcPts val="600"/>
              </a:spcBef>
            </a:pPr>
            <a: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Total </a:t>
            </a:r>
            <a:r>
              <a:rPr lang="en-US" altLang="ko-KR" sz="1500" b="1" dirty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Housing </a:t>
            </a:r>
            <a: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/>
            </a:r>
            <a:b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</a:br>
            <a: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Service </a:t>
            </a:r>
            <a:r>
              <a:rPr lang="ko-KR" altLang="en-US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플랫폼으로</a:t>
            </a:r>
            <a: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 </a:t>
            </a:r>
            <a:br>
              <a:rPr lang="en-US" altLang="ko-KR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</a:br>
            <a:r>
              <a:rPr lang="ko-KR" altLang="en-US" sz="1500" b="1" dirty="0" smtClean="0">
                <a:ln w="3175"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tx2"/>
                </a:solidFill>
                <a:latin typeface="Georgia" pitchFamily="18" charset="0"/>
              </a:rPr>
              <a:t>성장 가능성</a:t>
            </a:r>
            <a:endParaRPr lang="ko-KR" altLang="en-US" sz="1500" b="1" dirty="0">
              <a:ln w="3175">
                <a:solidFill>
                  <a:schemeClr val="bg1">
                    <a:alpha val="50000"/>
                  </a:schemeClr>
                </a:solidFill>
              </a:ln>
              <a:solidFill>
                <a:schemeClr val="tx2"/>
              </a:solidFill>
              <a:latin typeface="Georgia" pitchFamily="18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04149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>
          <a:xfrm>
            <a:off x="357158" y="695058"/>
            <a:ext cx="6513095" cy="389801"/>
          </a:xfrm>
        </p:spPr>
        <p:txBody>
          <a:bodyPr/>
          <a:lstStyle/>
          <a:p>
            <a:r>
              <a:rPr lang="ko-KR" altLang="en-US" dirty="0" err="1" smtClean="0"/>
              <a:t>홈퍼니싱</a:t>
            </a:r>
            <a:r>
              <a:rPr lang="ko-KR" altLang="en-US" dirty="0" smtClean="0"/>
              <a:t> 및 </a:t>
            </a:r>
            <a:r>
              <a:rPr lang="ko-KR" altLang="en-US" dirty="0" err="1" smtClean="0"/>
              <a:t>리모델링</a:t>
            </a:r>
            <a:r>
              <a:rPr lang="ko-KR" altLang="en-US" dirty="0" smtClean="0"/>
              <a:t> 전반에 걸쳐 지속</a:t>
            </a:r>
            <a:r>
              <a:rPr lang="en-US" altLang="ko-KR" dirty="0" smtClean="0"/>
              <a:t> </a:t>
            </a:r>
            <a:r>
              <a:rPr lang="ko-KR" altLang="en-US" dirty="0" smtClean="0"/>
              <a:t>성장중인 시장</a:t>
            </a:r>
            <a:endParaRPr lang="ko-KR" altLang="en-US" dirty="0"/>
          </a:p>
        </p:txBody>
      </p:sp>
      <p:cxnSp>
        <p:nvCxnSpPr>
          <p:cNvPr id="8" name="Straight Connector 9">
            <a:extLst>
              <a:ext uri="{FF2B5EF4-FFF2-40B4-BE49-F238E27FC236}">
                <a16:creationId xmlns="" xmlns:a16="http://schemas.microsoft.com/office/drawing/2014/main" id="{3220F5B3-CCA0-47AA-B21B-DFA1FB20B3E8}"/>
              </a:ext>
            </a:extLst>
          </p:cNvPr>
          <p:cNvCxnSpPr/>
          <p:nvPr/>
        </p:nvCxnSpPr>
        <p:spPr>
          <a:xfrm>
            <a:off x="380604" y="2132856"/>
            <a:ext cx="3816000" cy="0"/>
          </a:xfrm>
          <a:prstGeom prst="line">
            <a:avLst/>
          </a:prstGeom>
          <a:ln w="28575">
            <a:solidFill>
              <a:srgbClr val="2D43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01B9D24-3EBD-4D8A-830B-4F86793C9ADA}"/>
              </a:ext>
            </a:extLst>
          </p:cNvPr>
          <p:cNvSpPr txBox="1"/>
          <p:nvPr/>
        </p:nvSpPr>
        <p:spPr>
          <a:xfrm>
            <a:off x="371672" y="1886648"/>
            <a:ext cx="3672656" cy="22715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200" b="1" dirty="0" smtClean="0">
                <a:latin typeface="Georgia" pitchFamily="18" charset="0"/>
              </a:rPr>
              <a:t>인테리어</a:t>
            </a:r>
            <a:r>
              <a:rPr lang="ko-KR" altLang="en-US" sz="1200" b="1" dirty="0" smtClean="0">
                <a:latin typeface="Georgia" pitchFamily="18" charset="0"/>
                <a:sym typeface="Wingdings"/>
              </a:rPr>
              <a:t> </a:t>
            </a:r>
            <a:r>
              <a:rPr lang="ko-KR" altLang="en-US" sz="1200" b="1" dirty="0" smtClean="0">
                <a:latin typeface="Georgia" pitchFamily="18" charset="0"/>
              </a:rPr>
              <a:t>시장규모 전망</a:t>
            </a:r>
            <a:endParaRPr lang="en-US" sz="1200" b="1" baseline="30000" dirty="0">
              <a:latin typeface="Georgia" pitchFamily="18" charset="0"/>
            </a:endParaRPr>
          </a:p>
        </p:txBody>
      </p:sp>
      <p:cxnSp>
        <p:nvCxnSpPr>
          <p:cNvPr id="10" name="Straight Connector 11">
            <a:extLst>
              <a:ext uri="{FF2B5EF4-FFF2-40B4-BE49-F238E27FC236}">
                <a16:creationId xmlns="" xmlns:a16="http://schemas.microsoft.com/office/drawing/2014/main" id="{F9A25AC5-5CD4-419C-9C0E-1E76119467D7}"/>
              </a:ext>
            </a:extLst>
          </p:cNvPr>
          <p:cNvCxnSpPr/>
          <p:nvPr/>
        </p:nvCxnSpPr>
        <p:spPr>
          <a:xfrm>
            <a:off x="4563788" y="2132856"/>
            <a:ext cx="4104000" cy="0"/>
          </a:xfrm>
          <a:prstGeom prst="line">
            <a:avLst/>
          </a:prstGeom>
          <a:ln w="28575">
            <a:solidFill>
              <a:srgbClr val="2D43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6066ED6E-FC10-4B75-B247-81351B267F90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sz="1400" dirty="0" smtClean="0">
                <a:latin typeface="Georgia" pitchFamily="18" charset="0"/>
              </a:rPr>
              <a:t>’00</a:t>
            </a:r>
            <a:r>
              <a:rPr lang="ko-KR" altLang="en-US" sz="1400" dirty="0">
                <a:latin typeface="Georgia" pitchFamily="18" charset="0"/>
              </a:rPr>
              <a:t>년 </a:t>
            </a:r>
            <a:r>
              <a:rPr lang="en-US" altLang="ko-KR" sz="1400" dirty="0">
                <a:latin typeface="Georgia" pitchFamily="18" charset="0"/>
              </a:rPr>
              <a:t>9.1</a:t>
            </a:r>
            <a:r>
              <a:rPr lang="ko-KR" altLang="en-US" sz="1400" dirty="0">
                <a:latin typeface="Georgia" pitchFamily="18" charset="0"/>
              </a:rPr>
              <a:t>조원 규모에서 </a:t>
            </a:r>
            <a:r>
              <a:rPr lang="en-US" altLang="ko-KR" sz="1400" dirty="0" smtClean="0">
                <a:latin typeface="Georgia" pitchFamily="18" charset="0"/>
              </a:rPr>
              <a:t>’20</a:t>
            </a:r>
            <a:r>
              <a:rPr lang="ko-KR" altLang="en-US" sz="1400" dirty="0">
                <a:latin typeface="Georgia" pitchFamily="18" charset="0"/>
              </a:rPr>
              <a:t>년 </a:t>
            </a:r>
            <a:r>
              <a:rPr lang="en-US" altLang="ko-KR" sz="1400" dirty="0">
                <a:latin typeface="Georgia" pitchFamily="18" charset="0"/>
              </a:rPr>
              <a:t>41.5</a:t>
            </a:r>
            <a:r>
              <a:rPr lang="ko-KR" altLang="en-US" sz="1400" dirty="0">
                <a:latin typeface="Georgia" pitchFamily="18" charset="0"/>
              </a:rPr>
              <a:t>조원으로의 </a:t>
            </a:r>
            <a:r>
              <a:rPr lang="ko-KR" altLang="en-US" sz="1400" dirty="0" smtClean="0">
                <a:latin typeface="Georgia" pitchFamily="18" charset="0"/>
              </a:rPr>
              <a:t>성장이 </a:t>
            </a:r>
            <a:r>
              <a:rPr lang="ko-KR" altLang="en-US" sz="1400" dirty="0">
                <a:latin typeface="Georgia" pitchFamily="18" charset="0"/>
              </a:rPr>
              <a:t>예상되는 </a:t>
            </a:r>
            <a:r>
              <a:rPr lang="ko-KR" altLang="en-US" sz="1400" dirty="0" smtClean="0">
                <a:latin typeface="Georgia" pitchFamily="18" charset="0"/>
              </a:rPr>
              <a:t>인테리어 시장은 개성 있는 공간에 대한 선호도 확대에 따라 향후 지속적인 성장세가 예상됨</a:t>
            </a:r>
            <a:endParaRPr lang="en-US" sz="1400" dirty="0">
              <a:latin typeface="Georgia" pitchFamily="18" charset="0"/>
            </a:endParaRPr>
          </a:p>
        </p:txBody>
      </p:sp>
      <p:sp>
        <p:nvSpPr>
          <p:cNvPr id="31" name="내용 개체 틀 30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 smtClean="0"/>
              <a:t>Source: </a:t>
            </a:r>
            <a:r>
              <a:rPr lang="ko-KR" altLang="en-US" dirty="0" smtClean="0"/>
              <a:t>한국건설산업연구원</a:t>
            </a:r>
            <a:r>
              <a:rPr lang="en-US" altLang="ko-KR" dirty="0" smtClean="0"/>
              <a:t>; </a:t>
            </a:r>
            <a:r>
              <a:rPr lang="ko-KR" altLang="en-US" dirty="0" smtClean="0"/>
              <a:t>국토교통부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(1) </a:t>
            </a:r>
            <a:r>
              <a:rPr lang="ko-KR" altLang="en-US" dirty="0" smtClean="0"/>
              <a:t>준공 </a:t>
            </a:r>
            <a:r>
              <a:rPr lang="en-US" altLang="ko-KR" dirty="0" smtClean="0"/>
              <a:t>15</a:t>
            </a:r>
            <a:r>
              <a:rPr lang="ko-KR" altLang="en-US" dirty="0" smtClean="0"/>
              <a:t>년 이상</a:t>
            </a:r>
            <a:endParaRPr lang="en-US" altLang="ko-KR" dirty="0" smtClean="0"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701B9D24-3EBD-4D8A-830B-4F86793C9ADA}"/>
              </a:ext>
            </a:extLst>
          </p:cNvPr>
          <p:cNvSpPr txBox="1"/>
          <p:nvPr/>
        </p:nvSpPr>
        <p:spPr>
          <a:xfrm>
            <a:off x="4600575" y="1886648"/>
            <a:ext cx="3672656" cy="22715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200" b="1" dirty="0" smtClean="0">
                <a:latin typeface="Georgia" pitchFamily="18" charset="0"/>
              </a:rPr>
              <a:t>향후 지속 성장 가능성</a:t>
            </a:r>
            <a:endParaRPr lang="en-US" sz="1200" b="1" dirty="0" err="1">
              <a:latin typeface="Georgia" pitchFamily="18" charset="0"/>
            </a:endParaRPr>
          </a:p>
        </p:txBody>
      </p:sp>
      <p:graphicFrame>
        <p:nvGraphicFramePr>
          <p:cNvPr id="26" name="차트 25"/>
          <p:cNvGraphicFramePr/>
          <p:nvPr>
            <p:extLst>
              <p:ext uri="{D42A27DB-BD31-4B8C-83A1-F6EECF244321}">
                <p14:modId xmlns="" xmlns:p14="http://schemas.microsoft.com/office/powerpoint/2010/main" val="645597244"/>
              </p:ext>
            </p:extLst>
          </p:nvPr>
        </p:nvGraphicFramePr>
        <p:xfrm>
          <a:off x="500034" y="2357430"/>
          <a:ext cx="3672408" cy="3632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6D7A9639-0EA8-4BF4-B844-62B47FD8A855}"/>
              </a:ext>
            </a:extLst>
          </p:cNvPr>
          <p:cNvSpPr txBox="1"/>
          <p:nvPr/>
        </p:nvSpPr>
        <p:spPr>
          <a:xfrm>
            <a:off x="405521" y="2312560"/>
            <a:ext cx="1023207" cy="2694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000" dirty="0">
                <a:latin typeface="Georgia" pitchFamily="18" charset="0"/>
              </a:rPr>
              <a:t>(</a:t>
            </a:r>
            <a:r>
              <a:rPr lang="ko-KR" altLang="en-US" sz="1000" dirty="0">
                <a:latin typeface="Georgia" pitchFamily="18" charset="0"/>
              </a:rPr>
              <a:t>단위</a:t>
            </a:r>
            <a:r>
              <a:rPr lang="en-US" altLang="ko-KR" sz="1000" dirty="0">
                <a:latin typeface="Georgia" pitchFamily="18" charset="0"/>
              </a:rPr>
              <a:t>: </a:t>
            </a:r>
            <a:r>
              <a:rPr lang="ko-KR" altLang="en-US" sz="1000" dirty="0">
                <a:latin typeface="Georgia" pitchFamily="18" charset="0"/>
              </a:rPr>
              <a:t>조 </a:t>
            </a:r>
            <a:r>
              <a:rPr lang="ko-KR" altLang="en-US" sz="1000" dirty="0" smtClean="0">
                <a:latin typeface="Georgia" pitchFamily="18" charset="0"/>
              </a:rPr>
              <a:t>원</a:t>
            </a:r>
            <a:r>
              <a:rPr lang="en-US" altLang="ko-KR" sz="1000" dirty="0" smtClean="0">
                <a:latin typeface="Georgia" pitchFamily="18" charset="0"/>
              </a:rPr>
              <a:t>)</a:t>
            </a:r>
            <a:endParaRPr lang="en-US" sz="1000" dirty="0">
              <a:latin typeface="Georgia" pitchFamily="18" charset="0"/>
            </a:endParaRPr>
          </a:p>
        </p:txBody>
      </p:sp>
      <p:sp>
        <p:nvSpPr>
          <p:cNvPr id="37" name="오른쪽 화살표 36"/>
          <p:cNvSpPr/>
          <p:nvPr/>
        </p:nvSpPr>
        <p:spPr bwMode="ltGray">
          <a:xfrm rot="19607844">
            <a:off x="509209" y="3256030"/>
            <a:ext cx="3130450" cy="424796"/>
          </a:xfrm>
          <a:prstGeom prst="rightArrow">
            <a:avLst/>
          </a:prstGeom>
          <a:solidFill>
            <a:schemeClr val="bg1"/>
          </a:solidFill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CAGR 7.9%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aphicFrame>
        <p:nvGraphicFramePr>
          <p:cNvPr id="38" name="내용 개체 틀 28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3760971342"/>
              </p:ext>
            </p:extLst>
          </p:nvPr>
        </p:nvGraphicFramePr>
        <p:xfrm>
          <a:off x="4647389" y="2231152"/>
          <a:ext cx="3537462" cy="1656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9" name="내용 개체 틀 23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361983562"/>
              </p:ext>
            </p:extLst>
          </p:nvPr>
        </p:nvGraphicFramePr>
        <p:xfrm>
          <a:off x="4627796" y="2708508"/>
          <a:ext cx="4148100" cy="2192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6D7A9639-0EA8-4BF4-B844-62B47FD8A855}"/>
              </a:ext>
            </a:extLst>
          </p:cNvPr>
          <p:cNvSpPr txBox="1"/>
          <p:nvPr/>
        </p:nvSpPr>
        <p:spPr>
          <a:xfrm>
            <a:off x="4644008" y="2361898"/>
            <a:ext cx="1304356" cy="2273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000" dirty="0">
                <a:latin typeface="Georgia" pitchFamily="18" charset="0"/>
              </a:rPr>
              <a:t>(</a:t>
            </a:r>
            <a:r>
              <a:rPr lang="ko-KR" altLang="en-US" sz="1000" dirty="0">
                <a:latin typeface="Georgia" pitchFamily="18" charset="0"/>
              </a:rPr>
              <a:t>단위</a:t>
            </a:r>
            <a:r>
              <a:rPr lang="en-US" altLang="ko-KR" sz="1000" dirty="0">
                <a:latin typeface="Georgia" pitchFamily="18" charset="0"/>
              </a:rPr>
              <a:t>: </a:t>
            </a:r>
            <a:r>
              <a:rPr lang="ko-KR" altLang="en-US" sz="1000" dirty="0">
                <a:latin typeface="Georgia" pitchFamily="18" charset="0"/>
              </a:rPr>
              <a:t>십만 가구</a:t>
            </a:r>
            <a:r>
              <a:rPr lang="en-US" altLang="ko-KR" sz="1000" dirty="0">
                <a:latin typeface="Georgia" pitchFamily="18" charset="0"/>
              </a:rPr>
              <a:t>, %)</a:t>
            </a:r>
            <a:endParaRPr lang="en-US" sz="1000" dirty="0">
              <a:latin typeface="Georgia" pitchFamily="18" charset="0"/>
            </a:endParaRPr>
          </a:p>
        </p:txBody>
      </p:sp>
      <p:sp>
        <p:nvSpPr>
          <p:cNvPr id="41" name="모서리가 둥근 직사각형 83"/>
          <p:cNvSpPr/>
          <p:nvPr/>
        </p:nvSpPr>
        <p:spPr>
          <a:xfrm>
            <a:off x="4627796" y="4856296"/>
            <a:ext cx="4120668" cy="1245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lvl="1" indent="-11430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"/>
            </a:pPr>
            <a:r>
              <a:rPr lang="ko-KR" altLang="en-US" sz="1300" dirty="0">
                <a:solidFill>
                  <a:schemeClr val="tx1"/>
                </a:solidFill>
                <a:latin typeface="+mn-ea"/>
              </a:rPr>
              <a:t>국내 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노후 주택의 </a:t>
            </a:r>
            <a:r>
              <a:rPr lang="ko-KR" altLang="en-US" sz="1300" dirty="0">
                <a:solidFill>
                  <a:schemeClr val="tx1"/>
                </a:solidFill>
                <a:latin typeface="+mn-ea"/>
              </a:rPr>
              <a:t>빠른 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증가로 </a:t>
            </a:r>
            <a:r>
              <a:rPr lang="ko-KR" altLang="en-US" sz="1300" dirty="0">
                <a:solidFill>
                  <a:schemeClr val="tx1"/>
                </a:solidFill>
                <a:latin typeface="+mn-ea"/>
              </a:rPr>
              <a:t>건축물의 외관이나 구조적 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성능 및 </a:t>
            </a:r>
            <a:r>
              <a:rPr lang="ko-KR" altLang="en-US" sz="1300" b="1" dirty="0">
                <a:solidFill>
                  <a:schemeClr val="tx1"/>
                </a:solidFill>
                <a:latin typeface="+mn-ea"/>
              </a:rPr>
              <a:t>실내공간 개선에 대한 </a:t>
            </a:r>
            <a:r>
              <a:rPr lang="ko-KR" altLang="en-US" sz="1300" b="1" dirty="0" smtClean="0">
                <a:solidFill>
                  <a:schemeClr val="tx1"/>
                </a:solidFill>
                <a:latin typeface="+mn-ea"/>
              </a:rPr>
              <a:t>수요 확대</a:t>
            </a:r>
            <a:endParaRPr lang="en-US" altLang="ko-KR" sz="1300" b="1" dirty="0">
              <a:solidFill>
                <a:schemeClr val="tx1"/>
              </a:solidFill>
              <a:latin typeface="+mn-ea"/>
            </a:endParaRPr>
          </a:p>
          <a:p>
            <a:pPr marL="144000" lvl="1" indent="-11430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"/>
            </a:pP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특히</a:t>
            </a: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최근 </a:t>
            </a:r>
            <a:r>
              <a:rPr lang="ko-KR" altLang="en-US" sz="1300" b="1" dirty="0" smtClean="0">
                <a:solidFill>
                  <a:schemeClr val="tx1"/>
                </a:solidFill>
                <a:latin typeface="+mn-ea"/>
              </a:rPr>
              <a:t>집의 사용가치에 대한 인식 확산 따른 인테리어 </a:t>
            </a:r>
            <a:r>
              <a:rPr lang="ko-KR" altLang="en-US" sz="1300" b="1" dirty="0">
                <a:solidFill>
                  <a:schemeClr val="tx1"/>
                </a:solidFill>
                <a:latin typeface="+mn-ea"/>
              </a:rPr>
              <a:t>수요 확대 및 개성 있는 공간에 대한 선호는 인테리어 시장 </a:t>
            </a:r>
            <a:r>
              <a:rPr lang="ko-KR" altLang="en-US" sz="1300" b="1" dirty="0" smtClean="0">
                <a:solidFill>
                  <a:schemeClr val="tx1"/>
                </a:solidFill>
                <a:latin typeface="+mn-ea"/>
              </a:rPr>
              <a:t>성장 촉진</a:t>
            </a:r>
            <a:endParaRPr lang="en-US" altLang="ko-KR" sz="13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타원 41"/>
          <p:cNvSpPr/>
          <p:nvPr/>
        </p:nvSpPr>
        <p:spPr bwMode="ltGray">
          <a:xfrm>
            <a:off x="7970857" y="3381240"/>
            <a:ext cx="82800" cy="828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091772" y="3338704"/>
            <a:ext cx="640480" cy="34378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</a:rPr>
              <a:t>총주택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</a:rPr>
              <a:t> 대비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</a:rPr>
              <a:t/>
            </a:r>
            <a:b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</a:rPr>
            </a:b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</a:rPr>
              <a:t>노후주택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</a:rPr>
              <a:t/>
            </a:r>
            <a:b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</a:rPr>
            </a:b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</a:rPr>
              <a:t>비중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34059" y="3877506"/>
            <a:ext cx="285720" cy="35719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700" dirty="0" smtClean="0">
                <a:latin typeface="Georgia" pitchFamily="18" charset="0"/>
              </a:rPr>
              <a:t>(1)</a:t>
            </a:r>
            <a:endParaRPr lang="ko-KR" altLang="en-US" sz="700" dirty="0" err="1" smtClean="0">
              <a:latin typeface="Georgia" pitchFamily="18" charset="0"/>
            </a:endParaRPr>
          </a:p>
        </p:txBody>
      </p:sp>
      <p:sp>
        <p:nvSpPr>
          <p:cNvPr id="46" name="제목 3"/>
          <p:cNvSpPr>
            <a:spLocks noGrp="1"/>
          </p:cNvSpPr>
          <p:nvPr>
            <p:ph type="title"/>
          </p:nvPr>
        </p:nvSpPr>
        <p:spPr>
          <a:xfrm>
            <a:off x="381001" y="332656"/>
            <a:ext cx="6513095" cy="32648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국내 </a:t>
            </a:r>
            <a:r>
              <a:rPr lang="ko-KR" altLang="en-US" dirty="0"/>
              <a:t>인테리어 시장의 높은 매력도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>
                <a:latin typeface="+mn-ea"/>
                <a:cs typeface="Arial" pitchFamily="34" charset="0"/>
              </a:rPr>
              <a:t>1</a:t>
            </a:r>
            <a:endParaRPr lang="ko-KR" altLang="en-US" sz="1700" b="1" dirty="0"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429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>
          <a:xfrm>
            <a:off x="357158" y="695058"/>
            <a:ext cx="6513095" cy="389801"/>
          </a:xfrm>
        </p:spPr>
        <p:txBody>
          <a:bodyPr/>
          <a:lstStyle/>
          <a:p>
            <a:r>
              <a:rPr lang="ko-KR" altLang="en-US" dirty="0" smtClean="0"/>
              <a:t>인테리어 정보 및 경험 공유</a:t>
            </a:r>
            <a:r>
              <a:rPr lang="en-US" altLang="ko-KR" dirty="0" smtClean="0"/>
              <a:t> Trend</a:t>
            </a:r>
            <a:endParaRPr lang="ko-KR" altLang="en-US" dirty="0"/>
          </a:p>
        </p:txBody>
      </p:sp>
      <p:cxnSp>
        <p:nvCxnSpPr>
          <p:cNvPr id="10" name="Straight Connector 11">
            <a:extLst>
              <a:ext uri="{FF2B5EF4-FFF2-40B4-BE49-F238E27FC236}">
                <a16:creationId xmlns="" xmlns:a16="http://schemas.microsoft.com/office/drawing/2014/main" id="{F9A25AC5-5CD4-419C-9C0E-1E76119467D7}"/>
              </a:ext>
            </a:extLst>
          </p:cNvPr>
          <p:cNvCxnSpPr/>
          <p:nvPr/>
        </p:nvCxnSpPr>
        <p:spPr>
          <a:xfrm>
            <a:off x="4720528" y="2132856"/>
            <a:ext cx="3852000" cy="0"/>
          </a:xfrm>
          <a:prstGeom prst="line">
            <a:avLst/>
          </a:prstGeom>
          <a:ln w="28575">
            <a:solidFill>
              <a:srgbClr val="2D43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6066ED6E-FC10-4B75-B247-81351B267F90}"/>
              </a:ext>
            </a:extLst>
          </p:cNvPr>
          <p:cNvSpPr txBox="1"/>
          <p:nvPr/>
        </p:nvSpPr>
        <p:spPr>
          <a:xfrm>
            <a:off x="381001" y="1246838"/>
            <a:ext cx="8223249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smtClean="0">
                <a:latin typeface="Georgia" pitchFamily="18" charset="0"/>
              </a:rPr>
              <a:t>인테리어 시장의 주요 </a:t>
            </a:r>
            <a:r>
              <a:rPr lang="en-US" altLang="ko-KR" sz="1400" dirty="0" smtClean="0">
                <a:latin typeface="Georgia" pitchFamily="18" charset="0"/>
              </a:rPr>
              <a:t>Trend</a:t>
            </a:r>
            <a:r>
              <a:rPr lang="ko-KR" altLang="en-US" sz="1400" dirty="0" smtClean="0">
                <a:latin typeface="Georgia" pitchFamily="18" charset="0"/>
              </a:rPr>
              <a:t>는 수요자들 간 인테리어 정보와 경험을 공유하는 것이며</a:t>
            </a:r>
            <a:r>
              <a:rPr lang="en-US" altLang="ko-KR" sz="1400" dirty="0" smtClean="0">
                <a:latin typeface="Georgia" pitchFamily="18" charset="0"/>
              </a:rPr>
              <a:t>,</a:t>
            </a:r>
            <a:r>
              <a:rPr lang="ko-KR" altLang="en-US" sz="1400" dirty="0" smtClean="0">
                <a:latin typeface="Georgia" pitchFamily="18" charset="0"/>
              </a:rPr>
              <a:t> 이러한 정보 </a:t>
            </a:r>
            <a:r>
              <a:rPr lang="ko-KR" altLang="en-US" sz="1400" smtClean="0">
                <a:latin typeface="Georgia" pitchFamily="18" charset="0"/>
              </a:rPr>
              <a:t>및 경험의 </a:t>
            </a:r>
            <a:r>
              <a:rPr lang="ko-KR" altLang="en-US" sz="1400" dirty="0" smtClean="0">
                <a:latin typeface="Georgia" pitchFamily="18" charset="0"/>
              </a:rPr>
              <a:t>공유는 </a:t>
            </a:r>
            <a:r>
              <a:rPr lang="en-US" altLang="ko-KR" sz="1400" dirty="0" smtClean="0">
                <a:latin typeface="Georgia" pitchFamily="18" charset="0"/>
              </a:rPr>
              <a:t>SNS, </a:t>
            </a:r>
            <a:r>
              <a:rPr lang="ko-KR" altLang="en-US" sz="1400" dirty="0" err="1" smtClean="0">
                <a:latin typeface="Georgia" pitchFamily="18" charset="0"/>
              </a:rPr>
              <a:t>블로그</a:t>
            </a:r>
            <a:r>
              <a:rPr lang="en-US" altLang="ko-KR" sz="1400" dirty="0" smtClean="0">
                <a:latin typeface="Georgia" pitchFamily="18" charset="0"/>
              </a:rPr>
              <a:t>, </a:t>
            </a:r>
            <a:r>
              <a:rPr lang="ko-KR" altLang="en-US" sz="1400" dirty="0" smtClean="0">
                <a:latin typeface="Georgia" pitchFamily="18" charset="0"/>
              </a:rPr>
              <a:t>인테리어 관련 </a:t>
            </a:r>
            <a:r>
              <a:rPr lang="ko-KR" altLang="en-US" sz="1400" dirty="0" err="1" smtClean="0">
                <a:latin typeface="Georgia" pitchFamily="18" charset="0"/>
              </a:rPr>
              <a:t>앱</a:t>
            </a:r>
            <a:r>
              <a:rPr lang="ko-KR" altLang="en-US" sz="1400" dirty="0" smtClean="0">
                <a:latin typeface="Georgia" pitchFamily="18" charset="0"/>
              </a:rPr>
              <a:t> 등의 </a:t>
            </a:r>
            <a:r>
              <a:rPr lang="ko-KR" altLang="en-US" sz="1400" smtClean="0">
                <a:latin typeface="Georgia" pitchFamily="18" charset="0"/>
              </a:rPr>
              <a:t>온라인 채널을 </a:t>
            </a:r>
            <a:r>
              <a:rPr lang="ko-KR" altLang="en-US" sz="1400" dirty="0" smtClean="0">
                <a:latin typeface="Georgia" pitchFamily="18" charset="0"/>
              </a:rPr>
              <a:t>통하여 활발히 이루어 짐</a:t>
            </a:r>
            <a:r>
              <a:rPr lang="en-US" altLang="ko-KR" sz="1400" dirty="0" smtClean="0">
                <a:latin typeface="Georgia" pitchFamily="18" charset="0"/>
              </a:rPr>
              <a:t> </a:t>
            </a:r>
            <a:endParaRPr lang="en-US" sz="1400" dirty="0">
              <a:latin typeface="Georgia" pitchFamily="18" charset="0"/>
            </a:endParaRPr>
          </a:p>
        </p:txBody>
      </p:sp>
      <p:graphicFrame>
        <p:nvGraphicFramePr>
          <p:cNvPr id="41" name="차트 40"/>
          <p:cNvGraphicFramePr/>
          <p:nvPr>
            <p:extLst>
              <p:ext uri="{D42A27DB-BD31-4B8C-83A1-F6EECF244321}">
                <p14:modId xmlns="" xmlns:p14="http://schemas.microsoft.com/office/powerpoint/2010/main" val="4175943935"/>
              </p:ext>
            </p:extLst>
          </p:nvPr>
        </p:nvGraphicFramePr>
        <p:xfrm>
          <a:off x="4643438" y="2305878"/>
          <a:ext cx="3929090" cy="262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2" name="내용 개체 틀 41"/>
          <p:cNvSpPr>
            <a:spLocks noGrp="1"/>
          </p:cNvSpPr>
          <p:nvPr>
            <p:ph sz="quarter" idx="15"/>
          </p:nvPr>
        </p:nvSpPr>
        <p:spPr>
          <a:xfrm>
            <a:off x="428596" y="6285440"/>
            <a:ext cx="6084000" cy="263624"/>
          </a:xfrm>
        </p:spPr>
        <p:txBody>
          <a:bodyPr/>
          <a:lstStyle/>
          <a:p>
            <a:r>
              <a:rPr lang="en-US" altLang="ko-KR" dirty="0" smtClean="0"/>
              <a:t>Source: </a:t>
            </a:r>
            <a:r>
              <a:rPr lang="en-US" altLang="ko-KR" dirty="0" err="1" smtClean="0"/>
              <a:t>OpensurveyKorea</a:t>
            </a:r>
            <a:r>
              <a:rPr lang="en-US" altLang="ko-KR" dirty="0" smtClean="0"/>
              <a:t>  </a:t>
            </a:r>
            <a:r>
              <a:rPr lang="en-US" altLang="ko-KR" i="1" dirty="0" smtClean="0"/>
              <a:t>‘</a:t>
            </a:r>
            <a:r>
              <a:rPr lang="ko-KR" altLang="en-US" i="1" dirty="0" err="1" smtClean="0"/>
              <a:t>리빙</a:t>
            </a:r>
            <a:r>
              <a:rPr lang="ko-KR" altLang="en-US" i="1" dirty="0" smtClean="0"/>
              <a:t> 트렌드 리포트 </a:t>
            </a:r>
            <a:r>
              <a:rPr lang="en-US" altLang="ko-KR" i="1" dirty="0" smtClean="0"/>
              <a:t>2019’ </a:t>
            </a:r>
            <a:br>
              <a:rPr lang="en-US" altLang="ko-KR" i="1" dirty="0" smtClean="0"/>
            </a:br>
            <a:r>
              <a:rPr lang="en-US" altLang="ko-KR" dirty="0" smtClean="0"/>
              <a:t>(1) </a:t>
            </a:r>
            <a:r>
              <a:rPr lang="ko-KR" altLang="en-US" dirty="0" smtClean="0"/>
              <a:t>전체 </a:t>
            </a:r>
            <a:r>
              <a:rPr lang="en-US" altLang="ko-KR" dirty="0" smtClean="0"/>
              <a:t>34.8% </a:t>
            </a:r>
            <a:r>
              <a:rPr lang="ko-KR" altLang="en-US" dirty="0" smtClean="0"/>
              <a:t>중 </a:t>
            </a:r>
            <a:r>
              <a:rPr lang="en-US" altLang="ko-KR" dirty="0" smtClean="0"/>
              <a:t>SNS/</a:t>
            </a:r>
            <a:r>
              <a:rPr lang="ko-KR" altLang="en-US" dirty="0" err="1" smtClean="0"/>
              <a:t>유튜브</a:t>
            </a:r>
            <a:r>
              <a:rPr lang="en-US" altLang="ko-KR" dirty="0" smtClean="0"/>
              <a:t>/</a:t>
            </a:r>
            <a:r>
              <a:rPr lang="ko-KR" altLang="en-US" dirty="0" err="1" smtClean="0"/>
              <a:t>블로그</a:t>
            </a:r>
            <a:r>
              <a:rPr lang="en-US" altLang="ko-KR" dirty="0" smtClean="0"/>
              <a:t> 16.6%, </a:t>
            </a:r>
            <a:r>
              <a:rPr lang="ko-KR" altLang="en-US" dirty="0" smtClean="0"/>
              <a:t>인테리어 커뮤니티</a:t>
            </a:r>
            <a:r>
              <a:rPr lang="en-US" altLang="ko-KR" dirty="0" smtClean="0"/>
              <a:t> 9.2%, </a:t>
            </a:r>
            <a:r>
              <a:rPr lang="ko-KR" altLang="en-US" dirty="0" smtClean="0"/>
              <a:t>인테리어 </a:t>
            </a:r>
            <a:r>
              <a:rPr lang="ko-KR" altLang="en-US" dirty="0" err="1" smtClean="0"/>
              <a:t>앱</a:t>
            </a:r>
            <a:r>
              <a:rPr lang="en-US" altLang="ko-KR" dirty="0" smtClean="0"/>
              <a:t> 9.0%</a:t>
            </a:r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 bwMode="ltGray">
          <a:xfrm>
            <a:off x="4910140" y="2450611"/>
            <a:ext cx="3636000" cy="324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 smtClean="0">
              <a:noFill/>
            </a:endParaRPr>
          </a:p>
        </p:txBody>
      </p:sp>
      <p:sp>
        <p:nvSpPr>
          <p:cNvPr id="46" name="모서리가 둥근 직사각형 83"/>
          <p:cNvSpPr/>
          <p:nvPr/>
        </p:nvSpPr>
        <p:spPr>
          <a:xfrm>
            <a:off x="4683154" y="5105692"/>
            <a:ext cx="3889374" cy="68076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9700" lvl="1" algn="ctr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ko-KR" sz="1200" dirty="0" smtClean="0">
                <a:latin typeface="+mn-ea"/>
              </a:rPr>
              <a:t>SNS, </a:t>
            </a:r>
            <a:r>
              <a:rPr lang="ko-KR" altLang="en-US" sz="1200" dirty="0" err="1" smtClean="0">
                <a:latin typeface="+mn-ea"/>
              </a:rPr>
              <a:t>블로그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인테리어 관련 </a:t>
            </a:r>
            <a:r>
              <a:rPr lang="ko-KR" altLang="en-US" sz="1200" dirty="0" err="1" smtClean="0">
                <a:latin typeface="+mn-ea"/>
              </a:rPr>
              <a:t>앱</a:t>
            </a:r>
            <a:r>
              <a:rPr lang="ko-KR" altLang="en-US" sz="1200" dirty="0" smtClean="0">
                <a:latin typeface="+mn-ea"/>
              </a:rPr>
              <a:t> 등 </a:t>
            </a:r>
            <a:r>
              <a:rPr lang="en-US" altLang="ko-KR" sz="1200" b="1" dirty="0" smtClean="0">
                <a:latin typeface="+mn-ea"/>
              </a:rPr>
              <a:t/>
            </a:r>
            <a:br>
              <a:rPr lang="en-US" altLang="ko-KR" sz="1200" b="1" dirty="0" smtClean="0">
                <a:latin typeface="+mn-ea"/>
              </a:rPr>
            </a:br>
            <a:r>
              <a:rPr lang="ko-KR" altLang="en-US" sz="1200" b="1" u="sng" dirty="0" smtClean="0">
                <a:latin typeface="+mn-ea"/>
              </a:rPr>
              <a:t>온라인 커뮤니티 채널을 통한 정보 및 경험 공유가</a:t>
            </a:r>
            <a:r>
              <a:rPr lang="en-US" altLang="ko-KR" sz="1200" b="1" u="sng" dirty="0" smtClean="0">
                <a:latin typeface="+mn-ea"/>
              </a:rPr>
              <a:t> </a:t>
            </a:r>
            <a:br>
              <a:rPr lang="en-US" altLang="ko-KR" sz="1200" b="1" u="sng" dirty="0" smtClean="0">
                <a:latin typeface="+mn-ea"/>
              </a:rPr>
            </a:br>
            <a:r>
              <a:rPr lang="ko-KR" altLang="en-US" sz="1200" b="1" u="sng" dirty="0" smtClean="0">
                <a:latin typeface="+mn-ea"/>
              </a:rPr>
              <a:t>핵심 </a:t>
            </a:r>
            <a:r>
              <a:rPr lang="en-US" altLang="ko-KR" sz="1200" b="1" u="sng" dirty="0" smtClean="0">
                <a:latin typeface="+mn-ea"/>
              </a:rPr>
              <a:t>Trend</a:t>
            </a:r>
            <a:r>
              <a:rPr lang="ko-KR" altLang="en-US" sz="1200" dirty="0" smtClean="0">
                <a:latin typeface="+mn-ea"/>
              </a:rPr>
              <a:t>로 자리잡고 있음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7" name="모서리가 둥근 직사각형 83"/>
          <p:cNvSpPr/>
          <p:nvPr/>
        </p:nvSpPr>
        <p:spPr>
          <a:xfrm>
            <a:off x="500034" y="3857628"/>
            <a:ext cx="1857388" cy="11515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9700" lvl="1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ko-KR" sz="1150" i="1" dirty="0" smtClean="0">
                <a:latin typeface="+mj-ea"/>
              </a:rPr>
              <a:t>“</a:t>
            </a:r>
            <a:r>
              <a:rPr lang="ko-KR" altLang="en-US" sz="1150" i="1" dirty="0" smtClean="0">
                <a:latin typeface="+mj-ea"/>
              </a:rPr>
              <a:t>자기 표현에 적극적인 소비트렌드와 함께 </a:t>
            </a:r>
            <a:r>
              <a:rPr lang="en-US" altLang="ko-KR" sz="1150" i="1" dirty="0" smtClean="0">
                <a:latin typeface="+mj-ea"/>
              </a:rPr>
              <a:t>SNS </a:t>
            </a:r>
            <a:r>
              <a:rPr lang="ko-KR" altLang="en-US" sz="1150" i="1" dirty="0" smtClean="0">
                <a:latin typeface="+mj-ea"/>
              </a:rPr>
              <a:t>등을 통해 </a:t>
            </a:r>
            <a:r>
              <a:rPr lang="en-US" altLang="ko-KR" sz="1150" i="1" dirty="0" smtClean="0">
                <a:latin typeface="+mj-ea"/>
              </a:rPr>
              <a:t>‘</a:t>
            </a:r>
            <a:r>
              <a:rPr lang="ko-KR" altLang="en-US" sz="1150" i="1" dirty="0" smtClean="0">
                <a:latin typeface="+mj-ea"/>
              </a:rPr>
              <a:t>온라인 집들이</a:t>
            </a:r>
            <a:r>
              <a:rPr lang="en-US" altLang="ko-KR" sz="1150" i="1" dirty="0" smtClean="0">
                <a:latin typeface="+mj-ea"/>
              </a:rPr>
              <a:t>’, </a:t>
            </a:r>
            <a:br>
              <a:rPr lang="en-US" altLang="ko-KR" sz="1150" i="1" dirty="0" smtClean="0">
                <a:latin typeface="+mj-ea"/>
              </a:rPr>
            </a:br>
            <a:r>
              <a:rPr lang="en-US" altLang="ko-KR" sz="1150" i="1" dirty="0" smtClean="0">
                <a:latin typeface="+mj-ea"/>
              </a:rPr>
              <a:t>‘</a:t>
            </a:r>
            <a:r>
              <a:rPr lang="ko-KR" altLang="en-US" sz="1150" i="1" dirty="0" err="1" smtClean="0">
                <a:latin typeface="+mj-ea"/>
              </a:rPr>
              <a:t>집스타그램</a:t>
            </a:r>
            <a:r>
              <a:rPr lang="en-US" altLang="ko-KR" sz="1150" i="1" dirty="0" smtClean="0">
                <a:latin typeface="+mj-ea"/>
              </a:rPr>
              <a:t>’ </a:t>
            </a:r>
            <a:r>
              <a:rPr lang="ko-KR" altLang="en-US" sz="1150" i="1" dirty="0" smtClean="0">
                <a:latin typeface="+mj-ea"/>
              </a:rPr>
              <a:t>등이 유행</a:t>
            </a:r>
            <a:r>
              <a:rPr lang="en-US" altLang="ko-KR" sz="1150" i="1" dirty="0" smtClean="0">
                <a:latin typeface="+mj-ea"/>
              </a:rPr>
              <a:t>” </a:t>
            </a:r>
            <a:br>
              <a:rPr lang="en-US" altLang="ko-KR" sz="1150" i="1" dirty="0" smtClean="0">
                <a:latin typeface="+mj-ea"/>
              </a:rPr>
            </a:br>
            <a:r>
              <a:rPr lang="en-US" altLang="ko-KR" sz="1150" i="1" dirty="0" smtClean="0">
                <a:latin typeface="+mj-ea"/>
              </a:rPr>
              <a:t>-</a:t>
            </a:r>
            <a:r>
              <a:rPr lang="en-US" altLang="ko-KR" sz="1150" dirty="0" smtClean="0">
                <a:latin typeface="+mj-ea"/>
              </a:rPr>
              <a:t> </a:t>
            </a:r>
            <a:r>
              <a:rPr lang="en-US" altLang="ko-KR" sz="1150" dirty="0" smtClean="0"/>
              <a:t>18.05 KB</a:t>
            </a:r>
            <a:r>
              <a:rPr lang="ko-KR" altLang="en-US" sz="1150" dirty="0" smtClean="0"/>
              <a:t>경영연구소</a:t>
            </a:r>
            <a:r>
              <a:rPr lang="ko-KR" altLang="en-US" sz="1150" dirty="0" smtClean="0">
                <a:latin typeface="+mj-ea"/>
              </a:rPr>
              <a:t> </a:t>
            </a:r>
            <a:endParaRPr lang="en-US" altLang="ko-KR" sz="115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701B9D24-3EBD-4D8A-830B-4F86793C9ADA}"/>
              </a:ext>
            </a:extLst>
          </p:cNvPr>
          <p:cNvSpPr txBox="1"/>
          <p:nvPr/>
        </p:nvSpPr>
        <p:spPr>
          <a:xfrm>
            <a:off x="371672" y="1886648"/>
            <a:ext cx="3672656" cy="22715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200" b="1" dirty="0" smtClean="0">
                <a:latin typeface="Georgia" pitchFamily="18" charset="0"/>
              </a:rPr>
              <a:t>인테리어 수요 핵심 </a:t>
            </a:r>
            <a:r>
              <a:rPr lang="en-US" altLang="ko-KR" sz="1200" b="1" dirty="0" smtClean="0">
                <a:latin typeface="Georgia" pitchFamily="18" charset="0"/>
              </a:rPr>
              <a:t>Trend</a:t>
            </a:r>
            <a:endParaRPr lang="en-US" sz="1200" b="1" dirty="0">
              <a:latin typeface="Georgia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1B9D24-3EBD-4D8A-830B-4F86793C9ADA}"/>
              </a:ext>
            </a:extLst>
          </p:cNvPr>
          <p:cNvSpPr txBox="1"/>
          <p:nvPr/>
        </p:nvSpPr>
        <p:spPr>
          <a:xfrm>
            <a:off x="4714875" y="1886648"/>
            <a:ext cx="3558355" cy="22715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200" b="1" dirty="0">
                <a:latin typeface="Georgia" pitchFamily="18" charset="0"/>
              </a:rPr>
              <a:t>가구</a:t>
            </a:r>
            <a:r>
              <a:rPr lang="en-US" altLang="ko-KR" sz="1200" b="1" dirty="0">
                <a:latin typeface="Georgia" pitchFamily="18" charset="0"/>
              </a:rPr>
              <a:t>/</a:t>
            </a:r>
            <a:r>
              <a:rPr lang="ko-KR" altLang="en-US" sz="1200" b="1" dirty="0">
                <a:latin typeface="Georgia" pitchFamily="18" charset="0"/>
              </a:rPr>
              <a:t>인테리어 </a:t>
            </a:r>
            <a:r>
              <a:rPr lang="ko-KR" altLang="en-US" sz="1200" b="1" dirty="0" smtClean="0">
                <a:latin typeface="Georgia" pitchFamily="18" charset="0"/>
              </a:rPr>
              <a:t>구매 시 </a:t>
            </a:r>
            <a:r>
              <a:rPr lang="ko-KR" altLang="en-US" sz="1200" b="1" dirty="0">
                <a:latin typeface="Georgia" pitchFamily="18" charset="0"/>
              </a:rPr>
              <a:t>정보 수집 </a:t>
            </a:r>
            <a:r>
              <a:rPr lang="ko-KR" altLang="en-US" sz="1200" b="1" dirty="0" smtClean="0">
                <a:latin typeface="Georgia" pitchFamily="18" charset="0"/>
              </a:rPr>
              <a:t>경로</a:t>
            </a:r>
            <a:endParaRPr lang="en-US" altLang="ko-KR" sz="1200" b="1" baseline="30000" dirty="0">
              <a:latin typeface="Georgia" pitchFamily="18" charset="0"/>
            </a:endParaRPr>
          </a:p>
        </p:txBody>
      </p:sp>
      <p:cxnSp>
        <p:nvCxnSpPr>
          <p:cNvPr id="19" name="Straight Connector 9">
            <a:extLst>
              <a:ext uri="{FF2B5EF4-FFF2-40B4-BE49-F238E27FC236}">
                <a16:creationId xmlns="" xmlns:a16="http://schemas.microsoft.com/office/drawing/2014/main" id="{3220F5B3-CCA0-47AA-B21B-DFA1FB20B3E8}"/>
              </a:ext>
            </a:extLst>
          </p:cNvPr>
          <p:cNvCxnSpPr/>
          <p:nvPr/>
        </p:nvCxnSpPr>
        <p:spPr>
          <a:xfrm>
            <a:off x="380604" y="2132856"/>
            <a:ext cx="3924000" cy="0"/>
          </a:xfrm>
          <a:prstGeom prst="line">
            <a:avLst/>
          </a:prstGeom>
          <a:ln w="28575">
            <a:solidFill>
              <a:srgbClr val="2D43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모서리가 둥근 직사각형 83"/>
          <p:cNvSpPr/>
          <p:nvPr/>
        </p:nvSpPr>
        <p:spPr>
          <a:xfrm>
            <a:off x="500034" y="4929198"/>
            <a:ext cx="1643074" cy="1285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9700" lvl="1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ko-KR" sz="1150" i="1" dirty="0" smtClean="0">
                <a:latin typeface="+mj-ea"/>
              </a:rPr>
              <a:t>“</a:t>
            </a:r>
            <a:r>
              <a:rPr lang="ko-KR" altLang="en-US" sz="1150" i="1" dirty="0" smtClean="0">
                <a:latin typeface="+mj-ea"/>
              </a:rPr>
              <a:t>최근</a:t>
            </a:r>
            <a:r>
              <a:rPr lang="en-US" altLang="ko-KR" sz="1150" i="1" dirty="0" smtClean="0">
                <a:latin typeface="+mj-ea"/>
              </a:rPr>
              <a:t> </a:t>
            </a:r>
            <a:r>
              <a:rPr lang="ko-KR" altLang="en-US" sz="1150" i="1" dirty="0" smtClean="0">
                <a:latin typeface="+mj-ea"/>
              </a:rPr>
              <a:t>소비자들은 </a:t>
            </a:r>
            <a:r>
              <a:rPr lang="ko-KR" altLang="en-US" sz="1150" i="1" dirty="0" smtClean="0"/>
              <a:t>다른 </a:t>
            </a:r>
            <a:r>
              <a:rPr lang="en-US" altLang="ko-KR" sz="1150" i="1" dirty="0"/>
              <a:t>SNS </a:t>
            </a:r>
            <a:r>
              <a:rPr lang="ko-KR" altLang="en-US" sz="1150" i="1" dirty="0"/>
              <a:t>유저의 사용 후기 등을 참고하고 </a:t>
            </a:r>
            <a:r>
              <a:rPr lang="ko-KR" altLang="en-US" sz="1150" i="1" dirty="0" smtClean="0"/>
              <a:t>적극적으로 </a:t>
            </a:r>
            <a:r>
              <a:rPr lang="ko-KR" altLang="en-US" sz="1150" i="1" dirty="0"/>
              <a:t>소통하며 구매 여부를 결정 </a:t>
            </a:r>
            <a:r>
              <a:rPr lang="en-US" altLang="ko-KR" sz="1150" i="1" dirty="0" smtClean="0">
                <a:latin typeface="+mj-ea"/>
              </a:rPr>
              <a:t>“  </a:t>
            </a:r>
            <a:r>
              <a:rPr lang="en-US" altLang="ko-KR" sz="1150" dirty="0" smtClean="0">
                <a:latin typeface="+mj-ea"/>
              </a:rPr>
              <a:t>- </a:t>
            </a:r>
            <a:r>
              <a:rPr lang="en-US" altLang="ko-KR" sz="1150" dirty="0" smtClean="0"/>
              <a:t>19.10 </a:t>
            </a:r>
            <a:r>
              <a:rPr lang="ko-KR" altLang="en-US" sz="1150" dirty="0" smtClean="0"/>
              <a:t>세계일보 </a:t>
            </a:r>
            <a:r>
              <a:rPr lang="ko-KR" altLang="en-US" sz="1150" dirty="0" smtClean="0">
                <a:latin typeface="+mj-ea"/>
              </a:rPr>
              <a:t>기사 中</a:t>
            </a:r>
            <a:endParaRPr lang="en-US" altLang="ko-KR" sz="115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이등변 삼각형 20"/>
          <p:cNvSpPr/>
          <p:nvPr/>
        </p:nvSpPr>
        <p:spPr bwMode="auto">
          <a:xfrm rot="5400000">
            <a:off x="3743402" y="3029033"/>
            <a:ext cx="1714513" cy="228433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26" name="제목 3"/>
          <p:cNvSpPr>
            <a:spLocks noGrp="1"/>
          </p:cNvSpPr>
          <p:nvPr>
            <p:ph type="title"/>
          </p:nvPr>
        </p:nvSpPr>
        <p:spPr>
          <a:xfrm>
            <a:off x="381001" y="332656"/>
            <a:ext cx="6513095" cy="32648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매력적인 인테리어 </a:t>
            </a:r>
            <a:r>
              <a:rPr lang="en-US" altLang="ko-KR" dirty="0" smtClean="0"/>
              <a:t>O2O </a:t>
            </a:r>
            <a:r>
              <a:rPr lang="ko-KR" altLang="en-US" dirty="0" smtClean="0"/>
              <a:t>시장</a:t>
            </a:r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>
                <a:latin typeface="+mn-ea"/>
                <a:cs typeface="Arial" pitchFamily="34" charset="0"/>
              </a:rPr>
              <a:t>1</a:t>
            </a:r>
            <a:endParaRPr lang="ko-KR" altLang="en-US" sz="1700" b="1" dirty="0">
              <a:latin typeface="+mn-ea"/>
              <a:cs typeface="Arial" pitchFamily="34" charset="0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407260" y="2204204"/>
            <a:ext cx="3852000" cy="438977"/>
          </a:xfrm>
          <a:prstGeom prst="roundRect">
            <a:avLst>
              <a:gd name="adj" fmla="val 0"/>
            </a:avLst>
          </a:prstGeom>
          <a:solidFill>
            <a:srgbClr val="2D436D"/>
          </a:solidFill>
          <a:ln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" tIns="18288" rIns="18288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ea typeface="맑은 고딕" pitchFamily="50" charset="-127"/>
              </a:rPr>
              <a:t>다양한 플랫폼</a:t>
            </a:r>
            <a:r>
              <a:rPr lang="en-US" altLang="ko-KR" sz="1200" b="1" dirty="0">
                <a:solidFill>
                  <a:schemeClr val="bg1"/>
                </a:solidFill>
                <a:ea typeface="맑은 고딕" pitchFamily="50" charset="-127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ea typeface="맑은 고딕" pitchFamily="50" charset="-127"/>
              </a:rPr>
              <a:t>및 커뮤니티를 통해</a:t>
            </a:r>
            <a:r>
              <a:rPr lang="en-US" altLang="ko-KR" sz="1200" b="1" dirty="0" smtClean="0">
                <a:solidFill>
                  <a:schemeClr val="bg1"/>
                </a:solidFill>
                <a:ea typeface="맑은 고딕" pitchFamily="50" charset="-127"/>
              </a:rPr>
              <a:t/>
            </a:r>
            <a:br>
              <a:rPr lang="en-US" altLang="ko-KR" sz="1200" b="1" dirty="0" smtClean="0">
                <a:solidFill>
                  <a:schemeClr val="bg1"/>
                </a:solidFill>
                <a:ea typeface="맑은 고딕" pitchFamily="50" charset="-127"/>
              </a:rPr>
            </a:br>
            <a:r>
              <a:rPr lang="ko-KR" altLang="en-US" sz="1200" b="1" dirty="0" smtClean="0">
                <a:solidFill>
                  <a:schemeClr val="bg1"/>
                </a:solidFill>
                <a:ea typeface="맑은 고딕" pitchFamily="50" charset="-127"/>
              </a:rPr>
              <a:t>인테리어 정보 및 경험 공유</a:t>
            </a:r>
            <a:endParaRPr lang="en-US" altLang="ko-KR" sz="1200" b="1" dirty="0">
              <a:solidFill>
                <a:schemeClr val="bg1"/>
              </a:solidFill>
              <a:ea typeface="맑은 고딕" pitchFamily="50" charset="-127"/>
            </a:endParaRPr>
          </a:p>
        </p:txBody>
      </p:sp>
      <p:graphicFrame>
        <p:nvGraphicFramePr>
          <p:cNvPr id="28" name="내용 개체 틀 2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748287241"/>
              </p:ext>
            </p:extLst>
          </p:nvPr>
        </p:nvGraphicFramePr>
        <p:xfrm>
          <a:off x="377706" y="2684704"/>
          <a:ext cx="3905644" cy="11462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4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2751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6338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ko-KR" altLang="en-US" sz="1200" b="1" i="0" u="none" baseline="0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방식</a:t>
                      </a:r>
                      <a:endParaRPr lang="ko-KR" altLang="en-US" sz="1200" b="1" i="0" u="none" baseline="0" dirty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0" marR="64008" marT="28800" marB="28800" anchor="ctr">
                    <a:lnL w="12700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B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B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4000" lvl="1" indent="-114300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Char char="•"/>
                      </a:pPr>
                      <a:r>
                        <a:rPr lang="ko-KR" altLang="en-US" sz="1200" b="0" i="0" u="none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커뮤니티</a:t>
                      </a:r>
                      <a:r>
                        <a:rPr lang="ko-KR" altLang="en-US" sz="1200" b="0" i="0" u="none" baseline="0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 내</a:t>
                      </a:r>
                      <a:r>
                        <a:rPr lang="ko-KR" altLang="en-US" sz="1200" b="0" i="0" u="none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 개인 소비자간 실시간으로</a:t>
                      </a:r>
                      <a:r>
                        <a:rPr lang="en-US" altLang="ko-KR" sz="1200" b="0" i="0" u="none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200" b="0" i="0" u="none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200" b="0" i="0" u="none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인테리어 정보 및 경험 공유 </a:t>
                      </a:r>
                      <a:r>
                        <a:rPr lang="en-US" altLang="ko-KR" sz="1200" b="0" i="0" u="none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200" b="0" i="0" u="none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200" b="0" i="0" u="none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ex) </a:t>
                      </a:r>
                      <a:r>
                        <a:rPr lang="ko-KR" altLang="en-US" sz="1200" b="0" i="0" u="none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집 사진 업로드 및 가구</a:t>
                      </a:r>
                      <a:r>
                        <a:rPr lang="en-US" altLang="ko-KR" sz="1200" b="0" i="0" u="none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0" i="0" u="none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소품 리뷰 등</a:t>
                      </a:r>
                      <a:endParaRPr lang="en-US" altLang="ko-KR" sz="1200" b="0" i="0" u="none" dirty="0" smtClean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0" marR="64008" marT="28800" marB="28800" anchor="ctr">
                    <a:lnL w="12700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B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B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3996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ko-KR" altLang="en-US" sz="1200" b="1" i="0" u="none" baseline="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이용 </a:t>
                      </a:r>
                      <a:endParaRPr lang="en-US" altLang="ko-KR" sz="1200" b="1" i="0" u="none" baseline="0" dirty="0" smtClean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맑은 고딕" panose="020B0503020000020004" pitchFamily="50" charset="-127"/>
                      </a:endParaRPr>
                    </a:p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ko-KR" altLang="en-US" sz="1200" b="1" i="0" u="none" baseline="0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플랫폼</a:t>
                      </a:r>
                      <a:endParaRPr lang="ko-KR" altLang="en-US" sz="1200" b="1" i="0" u="none" baseline="0" dirty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0" marR="64008" marT="28800" marB="28800" anchor="ctr">
                    <a:lnL w="12700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B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B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4000" lvl="1" indent="-1143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Char char="•"/>
                      </a:pPr>
                      <a:r>
                        <a:rPr lang="ko-KR" altLang="en-US" sz="1200" b="0" i="0" u="none" dirty="0" err="1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인스타그램</a:t>
                      </a:r>
                      <a:r>
                        <a:rPr lang="en-US" altLang="ko-KR" sz="1200" b="0" i="0" u="none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i="0" u="none" dirty="0" err="1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페이스북</a:t>
                      </a:r>
                      <a:r>
                        <a:rPr lang="ko-KR" altLang="en-US" sz="1200" b="0" i="0" u="none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 등 각종 </a:t>
                      </a:r>
                      <a:r>
                        <a:rPr lang="en-US" altLang="ko-KR" sz="1200" b="0" i="0" u="none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SNS </a:t>
                      </a:r>
                      <a:r>
                        <a:rPr lang="ko-KR" altLang="en-US" sz="1200" b="0" i="0" u="none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</a:rPr>
                        <a:t>플랫폼</a:t>
                      </a:r>
                      <a:endParaRPr lang="en-US" altLang="ko-KR" sz="1200" b="0" i="0" u="none" dirty="0" smtClean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맑은 고딕" panose="020B0503020000020004" pitchFamily="50" charset="-127"/>
                      </a:endParaRPr>
                    </a:p>
                    <a:p>
                      <a:pPr marL="144000" lvl="1" indent="-1143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Char char="•"/>
                      </a:pPr>
                      <a:r>
                        <a:rPr lang="ko-KR" altLang="en-US" sz="1200" b="0" i="0" u="none" kern="1200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  <a:cs typeface="+mn-cs"/>
                        </a:rPr>
                        <a:t>인테리어 전문 온라인 커뮤니티</a:t>
                      </a:r>
                      <a:r>
                        <a:rPr lang="en-US" altLang="ko-KR" sz="1200" b="0" i="0" u="none" kern="1200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0" i="0" u="none" kern="1200" dirty="0" smtClean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맑은 고딕" panose="020B0503020000020004" pitchFamily="50" charset="-127"/>
                          <a:cs typeface="+mn-cs"/>
                        </a:rPr>
                        <a:t>매거진 등</a:t>
                      </a:r>
                      <a:endParaRPr lang="ko-KR" altLang="en-US" sz="1200" b="0" i="0" u="none" kern="1200" dirty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64008" marT="28800" marB="28800" anchor="ctr">
                    <a:lnL w="12700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B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B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300800" y="2503759"/>
            <a:ext cx="214314" cy="14287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700" dirty="0" smtClean="0">
                <a:latin typeface="Georgia" pitchFamily="18" charset="0"/>
              </a:rPr>
              <a:t>(1)</a:t>
            </a:r>
            <a:endParaRPr lang="ko-KR" altLang="en-US" sz="700" dirty="0" err="1" smtClean="0">
              <a:latin typeface="Georgia" pitchFamily="18" charset="0"/>
            </a:endParaRPr>
          </a:p>
        </p:txBody>
      </p:sp>
      <p:pic>
        <p:nvPicPr>
          <p:cNvPr id="25" name="그림 24" descr="KakaoTalk_20191111_085210071.jpg"/>
          <p:cNvPicPr>
            <a:picLocks noChangeAspect="1"/>
          </p:cNvPicPr>
          <p:nvPr/>
        </p:nvPicPr>
        <p:blipFill>
          <a:blip r:embed="rId3"/>
          <a:srcRect r="3846" b="31536"/>
          <a:stretch>
            <a:fillRect/>
          </a:stretch>
        </p:blipFill>
        <p:spPr>
          <a:xfrm>
            <a:off x="2357422" y="3857628"/>
            <a:ext cx="1785950" cy="2286016"/>
          </a:xfrm>
          <a:prstGeom prst="rect">
            <a:avLst/>
          </a:prstGeom>
          <a:ln>
            <a:solidFill>
              <a:srgbClr val="FFFFFF">
                <a:lumMod val="65000"/>
              </a:srgbClr>
            </a:solidFill>
          </a:ln>
        </p:spPr>
      </p:pic>
    </p:spTree>
    <p:extLst>
      <p:ext uri="{BB962C8B-B14F-4D97-AF65-F5344CB8AC3E}">
        <p14:creationId xmlns="" xmlns:p14="http://schemas.microsoft.com/office/powerpoint/2010/main" val="30429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>
          <a:xfrm>
            <a:off x="357158" y="695058"/>
            <a:ext cx="6513095" cy="389801"/>
          </a:xfrm>
        </p:spPr>
        <p:txBody>
          <a:bodyPr/>
          <a:lstStyle/>
          <a:p>
            <a:r>
              <a:rPr lang="en-US" altLang="ko-KR" dirty="0" smtClean="0"/>
              <a:t>3040 </a:t>
            </a:r>
            <a:r>
              <a:rPr lang="ko-KR" altLang="en-US" dirty="0" smtClean="0"/>
              <a:t>여성</a:t>
            </a:r>
            <a:r>
              <a:rPr lang="en-US" altLang="ko-KR" dirty="0" smtClean="0"/>
              <a:t> </a:t>
            </a:r>
            <a:r>
              <a:rPr lang="ko-KR" altLang="en-US" dirty="0" smtClean="0"/>
              <a:t>고객층 중심의 수요 확대 </a:t>
            </a:r>
            <a:endParaRPr lang="ko-KR" altLang="en-US" dirty="0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406653" y="2276302"/>
            <a:ext cx="3780000" cy="438318"/>
          </a:xfrm>
          <a:prstGeom prst="roundRect">
            <a:avLst>
              <a:gd name="adj" fmla="val 0"/>
            </a:avLst>
          </a:prstGeom>
          <a:solidFill>
            <a:srgbClr val="2D436D"/>
          </a:solidFill>
          <a:ln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" tIns="18288" rIns="18288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300" b="1" dirty="0" smtClean="0">
                <a:solidFill>
                  <a:schemeClr val="bg1"/>
                </a:solidFill>
                <a:ea typeface="맑은 고딕" pitchFamily="50" charset="-127"/>
              </a:rPr>
              <a:t>30/40</a:t>
            </a:r>
            <a:r>
              <a:rPr lang="ko-KR" altLang="en-US" sz="1300" b="1" dirty="0" smtClean="0">
                <a:solidFill>
                  <a:schemeClr val="bg1"/>
                </a:solidFill>
                <a:ea typeface="맑은 고딕" pitchFamily="50" charset="-127"/>
              </a:rPr>
              <a:t>대 젊은 주부층을 중심으로 </a:t>
            </a:r>
            <a:r>
              <a:rPr lang="en-US" altLang="ko-KR" sz="1300" b="1" dirty="0" smtClean="0">
                <a:solidFill>
                  <a:schemeClr val="bg1"/>
                </a:solidFill>
                <a:ea typeface="맑은 고딕" pitchFamily="50" charset="-127"/>
              </a:rPr>
              <a:t/>
            </a:r>
            <a:br>
              <a:rPr lang="en-US" altLang="ko-KR" sz="1300" b="1" dirty="0" smtClean="0">
                <a:solidFill>
                  <a:schemeClr val="bg1"/>
                </a:solidFill>
                <a:ea typeface="맑은 고딕" pitchFamily="50" charset="-127"/>
              </a:rPr>
            </a:br>
            <a:r>
              <a:rPr lang="ko-KR" altLang="en-US" sz="1300" b="1" dirty="0" smtClean="0">
                <a:solidFill>
                  <a:schemeClr val="bg1"/>
                </a:solidFill>
                <a:ea typeface="맑은 고딕" pitchFamily="50" charset="-127"/>
              </a:rPr>
              <a:t>인테리어 시장 수요 확대</a:t>
            </a:r>
            <a:endParaRPr lang="en-US" altLang="ko-KR" sz="1300" b="1" dirty="0">
              <a:solidFill>
                <a:schemeClr val="bg1"/>
              </a:solidFill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6066ED6E-FC10-4B75-B247-81351B267F90}"/>
              </a:ext>
            </a:extLst>
          </p:cNvPr>
          <p:cNvSpPr txBox="1"/>
          <p:nvPr/>
        </p:nvSpPr>
        <p:spPr>
          <a:xfrm>
            <a:off x="381001" y="1246838"/>
            <a:ext cx="8223249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smtClean="0">
                <a:latin typeface="Georgia" pitchFamily="18" charset="0"/>
              </a:rPr>
              <a:t>가구와 소품을 활용하여 개성 있는 공간을 꾸미려는 강한 </a:t>
            </a:r>
            <a:r>
              <a:rPr lang="en-US" altLang="ko-KR" sz="1400" dirty="0" smtClean="0">
                <a:latin typeface="Georgia" pitchFamily="18" charset="0"/>
              </a:rPr>
              <a:t>Needs</a:t>
            </a:r>
            <a:r>
              <a:rPr lang="ko-KR" altLang="en-US" sz="1400" dirty="0" smtClean="0">
                <a:latin typeface="Georgia" pitchFamily="18" charset="0"/>
              </a:rPr>
              <a:t>와 구매력을 보유한 </a:t>
            </a:r>
            <a:r>
              <a:rPr lang="en-US" altLang="ko-KR" sz="1400" dirty="0" smtClean="0">
                <a:latin typeface="Georgia" pitchFamily="18" charset="0"/>
              </a:rPr>
              <a:t>30/40</a:t>
            </a:r>
            <a:r>
              <a:rPr lang="ko-KR" altLang="en-US" sz="1400" dirty="0" smtClean="0">
                <a:latin typeface="Georgia" pitchFamily="18" charset="0"/>
              </a:rPr>
              <a:t>대</a:t>
            </a:r>
            <a:r>
              <a:rPr lang="en-US" altLang="ko-KR" sz="1400" dirty="0" smtClean="0">
                <a:latin typeface="Georgia" pitchFamily="18" charset="0"/>
              </a:rPr>
              <a:t> </a:t>
            </a:r>
            <a:r>
              <a:rPr lang="ko-KR" altLang="en-US" sz="1400" dirty="0" smtClean="0">
                <a:latin typeface="Georgia" pitchFamily="18" charset="0"/>
              </a:rPr>
              <a:t>여성 고객층을 중심으로 </a:t>
            </a:r>
            <a:r>
              <a:rPr lang="ko-KR" altLang="en-US" sz="1400" dirty="0" err="1" smtClean="0">
                <a:latin typeface="Georgia" pitchFamily="18" charset="0"/>
              </a:rPr>
              <a:t>홈퍼니싱</a:t>
            </a:r>
            <a:r>
              <a:rPr lang="ko-KR" altLang="en-US" sz="1400" dirty="0" smtClean="0">
                <a:latin typeface="Georgia" pitchFamily="18" charset="0"/>
              </a:rPr>
              <a:t> 문화 확대</a:t>
            </a:r>
            <a:endParaRPr lang="en-US" sz="1400" dirty="0">
              <a:latin typeface="Georgia" pitchFamily="18" charset="0"/>
            </a:endParaRPr>
          </a:p>
        </p:txBody>
      </p:sp>
      <p:sp>
        <p:nvSpPr>
          <p:cNvPr id="19" name="모서리가 둥근 직사각형 83"/>
          <p:cNvSpPr/>
          <p:nvPr/>
        </p:nvSpPr>
        <p:spPr>
          <a:xfrm>
            <a:off x="2554272" y="2857496"/>
            <a:ext cx="1714512" cy="20717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9700" lvl="1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ko-KR" sz="1100" i="1" dirty="0">
                <a:latin typeface="+mj-ea"/>
              </a:rPr>
              <a:t>“</a:t>
            </a:r>
            <a:r>
              <a:rPr lang="ko-KR" altLang="en-US" sz="1100" i="1" dirty="0" err="1">
                <a:latin typeface="+mj-ea"/>
              </a:rPr>
              <a:t>홈퍼니싱에</a:t>
            </a:r>
            <a:r>
              <a:rPr lang="ko-KR" altLang="en-US" sz="1100" i="1" dirty="0">
                <a:latin typeface="+mj-ea"/>
              </a:rPr>
              <a:t> 주도적인 </a:t>
            </a:r>
            <a:r>
              <a:rPr lang="en-US" altLang="ko-KR" sz="1100" b="1" i="1" dirty="0" smtClean="0"/>
              <a:t>30/40</a:t>
            </a:r>
            <a:r>
              <a:rPr lang="ko-KR" altLang="en-US" sz="1100" b="1" i="1" dirty="0">
                <a:latin typeface="+mj-ea"/>
              </a:rPr>
              <a:t>대는 집을 생활공간이자 자신만의 취향을 반영</a:t>
            </a:r>
            <a:r>
              <a:rPr lang="ko-KR" altLang="en-US" sz="1100" i="1" dirty="0">
                <a:latin typeface="+mj-ea"/>
              </a:rPr>
              <a:t>하는 곳으로 인식</a:t>
            </a:r>
            <a:r>
              <a:rPr lang="en-US" altLang="ko-KR" sz="1100" i="1" dirty="0">
                <a:latin typeface="+mj-ea"/>
              </a:rPr>
              <a:t>”</a:t>
            </a:r>
          </a:p>
          <a:p>
            <a:pPr marL="29700" lvl="1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ko-KR" sz="1100" i="1" dirty="0">
                <a:latin typeface="+mj-ea"/>
              </a:rPr>
              <a:t>“</a:t>
            </a:r>
            <a:r>
              <a:rPr lang="en-US" altLang="ko-KR" sz="1100" b="1" i="1" dirty="0" smtClean="0"/>
              <a:t>30/40</a:t>
            </a:r>
            <a:r>
              <a:rPr lang="ko-KR" altLang="en-US" sz="1100" b="1" i="1" dirty="0" smtClean="0"/>
              <a:t>대 주부에게 자신을 위한 소비 관점 인테리어는 좋은 대안</a:t>
            </a:r>
            <a:r>
              <a:rPr lang="en-US" altLang="ko-KR" sz="1100" i="1" dirty="0" smtClean="0">
                <a:latin typeface="+mj-ea"/>
              </a:rPr>
              <a:t>”</a:t>
            </a:r>
          </a:p>
          <a:p>
            <a:pPr marL="29700" lvl="1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ko-KR" sz="1000" dirty="0">
                <a:latin typeface="+mj-ea"/>
              </a:rPr>
              <a:t>- </a:t>
            </a:r>
            <a:r>
              <a:rPr lang="en-US" altLang="ko-KR" sz="1000" dirty="0" smtClean="0">
                <a:latin typeface="+mj-ea"/>
              </a:rPr>
              <a:t>‘</a:t>
            </a:r>
            <a:r>
              <a:rPr lang="en-US" altLang="ko-KR" sz="1000" dirty="0" smtClean="0"/>
              <a:t>19.01</a:t>
            </a:r>
            <a:r>
              <a:rPr lang="en-US" altLang="ko-KR" sz="1000" dirty="0" smtClean="0">
                <a:latin typeface="+mj-ea"/>
              </a:rPr>
              <a:t> </a:t>
            </a:r>
            <a:r>
              <a:rPr lang="ko-KR" altLang="en-US" sz="1000" dirty="0">
                <a:latin typeface="+mj-ea"/>
              </a:rPr>
              <a:t>공간정보 매거진 정기 연재 </a:t>
            </a:r>
            <a:r>
              <a:rPr lang="ko-KR" altLang="en-US" sz="1000" dirty="0" smtClean="0">
                <a:latin typeface="+mj-ea"/>
              </a:rPr>
              <a:t>기사 중 </a:t>
            </a:r>
            <a:r>
              <a:rPr lang="en-US" altLang="ko-KR" sz="1000" dirty="0" smtClean="0">
                <a:latin typeface="+mj-ea"/>
              </a:rPr>
              <a:t>-</a:t>
            </a:r>
            <a:endParaRPr lang="en-US" altLang="ko-KR" sz="1000" dirty="0" smtClean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21" name="내용 개체 틀 25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831661826"/>
              </p:ext>
            </p:extLst>
          </p:nvPr>
        </p:nvGraphicFramePr>
        <p:xfrm>
          <a:off x="142844" y="2643182"/>
          <a:ext cx="2520000" cy="2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24" name="Straight Connector 11">
            <a:extLst>
              <a:ext uri="{FF2B5EF4-FFF2-40B4-BE49-F238E27FC236}">
                <a16:creationId xmlns="" xmlns:a16="http://schemas.microsoft.com/office/drawing/2014/main" id="{F9A25AC5-5CD4-419C-9C0E-1E76119467D7}"/>
              </a:ext>
            </a:extLst>
          </p:cNvPr>
          <p:cNvCxnSpPr/>
          <p:nvPr/>
        </p:nvCxnSpPr>
        <p:spPr>
          <a:xfrm>
            <a:off x="4563788" y="2132856"/>
            <a:ext cx="4032000" cy="0"/>
          </a:xfrm>
          <a:prstGeom prst="line">
            <a:avLst/>
          </a:prstGeom>
          <a:ln w="28575">
            <a:solidFill>
              <a:srgbClr val="2D43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85EE809E-12EF-4229-854D-C371B6A48E74}"/>
              </a:ext>
            </a:extLst>
          </p:cNvPr>
          <p:cNvSpPr txBox="1"/>
          <p:nvPr/>
        </p:nvSpPr>
        <p:spPr>
          <a:xfrm>
            <a:off x="4566123" y="1844520"/>
            <a:ext cx="3822301" cy="2877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200" b="1" dirty="0" smtClean="0">
                <a:latin typeface="Georgia" pitchFamily="18" charset="0"/>
              </a:rPr>
              <a:t>성별</a:t>
            </a:r>
            <a:r>
              <a:rPr lang="en-US" altLang="ko-KR" sz="1200" b="1" dirty="0" smtClean="0">
                <a:latin typeface="Georgia" pitchFamily="18" charset="0"/>
                <a:sym typeface="Wingdings"/>
              </a:rPr>
              <a:t></a:t>
            </a:r>
            <a:r>
              <a:rPr lang="ko-KR" altLang="en-US" sz="1200" b="1" dirty="0" smtClean="0">
                <a:latin typeface="Georgia" pitchFamily="18" charset="0"/>
                <a:sym typeface="Wingdings"/>
              </a:rPr>
              <a:t>연령별 가구</a:t>
            </a:r>
            <a:r>
              <a:rPr lang="en-US" altLang="ko-KR" sz="1200" b="1" dirty="0" smtClean="0">
                <a:latin typeface="Georgia" pitchFamily="18" charset="0"/>
                <a:sym typeface="Wingdings"/>
              </a:rPr>
              <a:t>/</a:t>
            </a:r>
            <a:r>
              <a:rPr lang="ko-KR" altLang="en-US" sz="1200" b="1" smtClean="0">
                <a:latin typeface="Georgia" pitchFamily="18" charset="0"/>
                <a:sym typeface="Wingdings"/>
              </a:rPr>
              <a:t>인테리어 클릭량</a:t>
            </a:r>
            <a:endParaRPr lang="en-US" altLang="ko-KR" sz="1200" b="1" baseline="30000" dirty="0">
              <a:latin typeface="Georgia" pitchFamily="18" charset="0"/>
            </a:endParaRPr>
          </a:p>
        </p:txBody>
      </p:sp>
      <p:cxnSp>
        <p:nvCxnSpPr>
          <p:cNvPr id="15" name="Straight Connector 9">
            <a:extLst>
              <a:ext uri="{FF2B5EF4-FFF2-40B4-BE49-F238E27FC236}">
                <a16:creationId xmlns="" xmlns:a16="http://schemas.microsoft.com/office/drawing/2014/main" id="{3220F5B3-CCA0-47AA-B21B-DFA1FB20B3E8}"/>
              </a:ext>
            </a:extLst>
          </p:cNvPr>
          <p:cNvCxnSpPr/>
          <p:nvPr/>
        </p:nvCxnSpPr>
        <p:spPr>
          <a:xfrm>
            <a:off x="380604" y="2132856"/>
            <a:ext cx="3816000" cy="0"/>
          </a:xfrm>
          <a:prstGeom prst="line">
            <a:avLst/>
          </a:prstGeom>
          <a:ln w="28575">
            <a:solidFill>
              <a:srgbClr val="2D43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모서리가 둥근 직사각형 83"/>
          <p:cNvSpPr/>
          <p:nvPr/>
        </p:nvSpPr>
        <p:spPr>
          <a:xfrm>
            <a:off x="4572000" y="5000636"/>
            <a:ext cx="4032250" cy="92869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9700" lvl="1" algn="ctr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ko-KR" altLang="en-US" sz="1200" dirty="0" err="1" smtClean="0">
                <a:latin typeface="+mn-ea"/>
              </a:rPr>
              <a:t>네이버</a:t>
            </a:r>
            <a:r>
              <a:rPr lang="en-US" altLang="ko-KR" sz="1200" dirty="0" smtClean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쇼핑분야 트렌드 분석 결과</a:t>
            </a:r>
            <a:r>
              <a:rPr lang="en-US" altLang="ko-KR" sz="1200" dirty="0" smtClean="0">
                <a:latin typeface="+mn-ea"/>
              </a:rPr>
              <a:t>, ‘18</a:t>
            </a:r>
            <a:r>
              <a:rPr lang="ko-KR" altLang="en-US" sz="1200" dirty="0" smtClean="0">
                <a:latin typeface="+mn-ea"/>
              </a:rPr>
              <a:t>년 </a:t>
            </a:r>
            <a:r>
              <a:rPr lang="en-US" altLang="ko-KR" sz="1200" dirty="0" smtClean="0">
                <a:latin typeface="+mn-ea"/>
              </a:rPr>
              <a:t>8</a:t>
            </a:r>
            <a:r>
              <a:rPr lang="ko-KR" altLang="en-US" sz="1200" dirty="0" smtClean="0">
                <a:latin typeface="+mn-ea"/>
              </a:rPr>
              <a:t>월 이후 </a:t>
            </a:r>
            <a:r>
              <a:rPr lang="en-US" altLang="ko-KR" sz="1200" dirty="0" smtClean="0">
                <a:latin typeface="+mn-ea"/>
              </a:rPr>
              <a:t>‘</a:t>
            </a:r>
            <a:r>
              <a:rPr lang="ko-KR" altLang="en-US" sz="1200" dirty="0" smtClean="0">
                <a:latin typeface="+mn-ea"/>
              </a:rPr>
              <a:t>가구</a:t>
            </a:r>
            <a:r>
              <a:rPr lang="en-US" altLang="ko-KR" sz="1200" dirty="0" smtClean="0">
                <a:latin typeface="+mn-ea"/>
              </a:rPr>
              <a:t>/</a:t>
            </a:r>
            <a:r>
              <a:rPr lang="ko-KR" altLang="en-US" sz="1200" dirty="0" smtClean="0">
                <a:latin typeface="+mn-ea"/>
              </a:rPr>
              <a:t>인테리어</a:t>
            </a:r>
            <a:r>
              <a:rPr lang="en-US" altLang="ko-KR" sz="1200" dirty="0" smtClean="0">
                <a:latin typeface="+mn-ea"/>
              </a:rPr>
              <a:t>’ </a:t>
            </a:r>
            <a:r>
              <a:rPr lang="ko-KR" altLang="en-US" sz="1200" dirty="0" err="1" smtClean="0">
                <a:latin typeface="+mn-ea"/>
              </a:rPr>
              <a:t>클릭량은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en-US" altLang="ko-KR" sz="1200" b="1" dirty="0" smtClean="0">
                <a:latin typeface="+mn-ea"/>
              </a:rPr>
              <a:t>30-40</a:t>
            </a:r>
            <a:r>
              <a:rPr lang="ko-KR" altLang="en-US" sz="1200" b="1" dirty="0" smtClean="0">
                <a:latin typeface="+mn-ea"/>
              </a:rPr>
              <a:t>대 비중이 가장 높았으며</a:t>
            </a:r>
            <a:r>
              <a:rPr lang="en-US" altLang="ko-KR" sz="1200" b="1" dirty="0" smtClean="0">
                <a:latin typeface="+mn-ea"/>
              </a:rPr>
              <a:t/>
            </a:r>
            <a:br>
              <a:rPr lang="en-US" altLang="ko-KR" sz="1200" b="1" dirty="0" smtClean="0">
                <a:latin typeface="+mn-ea"/>
              </a:rPr>
            </a:br>
            <a:r>
              <a:rPr lang="ko-KR" altLang="en-US" sz="1200" b="1" dirty="0" smtClean="0">
                <a:latin typeface="+mn-ea"/>
              </a:rPr>
              <a:t>여성이 </a:t>
            </a:r>
            <a:r>
              <a:rPr lang="en-US" altLang="ko-KR" sz="1200" b="1" dirty="0" smtClean="0">
                <a:latin typeface="+mn-ea"/>
              </a:rPr>
              <a:t>70%</a:t>
            </a:r>
            <a:r>
              <a:rPr lang="ko-KR" altLang="en-US" sz="1200" dirty="0" smtClean="0">
                <a:latin typeface="+mn-ea"/>
              </a:rPr>
              <a:t>로 매우 높은 비중 차지</a:t>
            </a:r>
            <a:endParaRPr lang="en-US" altLang="ko-KR" sz="1200" dirty="0" smtClean="0">
              <a:latin typeface="+mn-ea"/>
            </a:endParaRPr>
          </a:p>
        </p:txBody>
      </p:sp>
      <p:graphicFrame>
        <p:nvGraphicFramePr>
          <p:cNvPr id="22" name="차트 21"/>
          <p:cNvGraphicFramePr/>
          <p:nvPr/>
        </p:nvGraphicFramePr>
        <p:xfrm>
          <a:off x="6643702" y="2643182"/>
          <a:ext cx="2052000" cy="2286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내용 개체 틀 2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 smtClean="0"/>
              <a:t>Source: </a:t>
            </a:r>
            <a:r>
              <a:rPr lang="ko-KR" altLang="en-US" dirty="0" err="1" smtClean="0"/>
              <a:t>네이버</a:t>
            </a:r>
            <a:r>
              <a:rPr lang="en-US" altLang="ko-KR" dirty="0" smtClean="0"/>
              <a:t> </a:t>
            </a:r>
            <a:r>
              <a:rPr lang="ko-KR" altLang="en-US" err="1" smtClean="0"/>
              <a:t>데이터랩</a:t>
            </a:r>
            <a:r>
              <a:rPr lang="ko-KR" altLang="en-US" smtClean="0"/>
              <a:t> </a:t>
            </a:r>
            <a:r>
              <a:rPr lang="en-US" altLang="ko-KR" dirty="0" smtClean="0"/>
              <a:t>(’18.08~’19.07)</a:t>
            </a:r>
            <a:endParaRPr lang="ko-KR" altLang="en-US" dirty="0"/>
          </a:p>
        </p:txBody>
      </p:sp>
      <p:graphicFrame>
        <p:nvGraphicFramePr>
          <p:cNvPr id="27" name="차트 26"/>
          <p:cNvGraphicFramePr/>
          <p:nvPr>
            <p:extLst>
              <p:ext uri="{D42A27DB-BD31-4B8C-83A1-F6EECF244321}">
                <p14:modId xmlns="" xmlns:p14="http://schemas.microsoft.com/office/powerpoint/2010/main" val="1442995777"/>
              </p:ext>
            </p:extLst>
          </p:nvPr>
        </p:nvGraphicFramePr>
        <p:xfrm>
          <a:off x="4572000" y="2714620"/>
          <a:ext cx="2304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85EE809E-12EF-4229-854D-C371B6A48E74}"/>
              </a:ext>
            </a:extLst>
          </p:cNvPr>
          <p:cNvSpPr txBox="1"/>
          <p:nvPr/>
        </p:nvSpPr>
        <p:spPr>
          <a:xfrm>
            <a:off x="392509" y="1844520"/>
            <a:ext cx="3822301" cy="2877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sz="1200" b="1" dirty="0" smtClean="0">
                <a:latin typeface="Georgia" pitchFamily="18" charset="0"/>
              </a:rPr>
              <a:t>3040 </a:t>
            </a:r>
            <a:r>
              <a:rPr lang="ko-KR" altLang="en-US" sz="1200" b="1" dirty="0" smtClean="0">
                <a:latin typeface="Georgia" pitchFamily="18" charset="0"/>
              </a:rPr>
              <a:t>중심의 </a:t>
            </a:r>
            <a:r>
              <a:rPr lang="ko-KR" altLang="en-US" sz="1200" b="1" dirty="0" err="1" smtClean="0">
                <a:latin typeface="Georgia" pitchFamily="18" charset="0"/>
              </a:rPr>
              <a:t>홈퍼니싱</a:t>
            </a:r>
            <a:r>
              <a:rPr lang="ko-KR" altLang="en-US" sz="1200" b="1" dirty="0" smtClean="0">
                <a:latin typeface="Georgia" pitchFamily="18" charset="0"/>
              </a:rPr>
              <a:t> 문화 </a:t>
            </a:r>
            <a:endParaRPr lang="en-US" sz="1200" b="1" dirty="0">
              <a:latin typeface="Georgia" pitchFamily="18" charset="0"/>
            </a:endParaRPr>
          </a:p>
        </p:txBody>
      </p:sp>
      <p:sp>
        <p:nvSpPr>
          <p:cNvPr id="29" name="모서리가 둥근 직사각형 83"/>
          <p:cNvSpPr/>
          <p:nvPr/>
        </p:nvSpPr>
        <p:spPr>
          <a:xfrm>
            <a:off x="395288" y="5000636"/>
            <a:ext cx="3890960" cy="107157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lvl="1" indent="-1143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홈퍼니싱 문화의 중심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에 있으면서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경제활동을 통해 구매력을 갖춘 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30/40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대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가 가장 높은 비율을 차지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144000" lvl="1" indent="-1143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집에 머무르는 시간이 많고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집에서 다양한 활동을 하는 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30/40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대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연령층을 중심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으로 인테리어 수요 확대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15881" y="3659216"/>
            <a:ext cx="785818" cy="50006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100" b="1" dirty="0" smtClean="0">
                <a:latin typeface="Georgia" pitchFamily="18" charset="0"/>
              </a:rPr>
              <a:t>인테리어</a:t>
            </a:r>
            <a:r>
              <a:rPr lang="en-US" altLang="ko-KR" sz="1100" b="1" dirty="0" smtClean="0">
                <a:latin typeface="Georgia" pitchFamily="18" charset="0"/>
              </a:rPr>
              <a:t/>
            </a:r>
            <a:br>
              <a:rPr lang="en-US" altLang="ko-KR" sz="1100" b="1" dirty="0" smtClean="0">
                <a:latin typeface="Georgia" pitchFamily="18" charset="0"/>
              </a:rPr>
            </a:br>
            <a:r>
              <a:rPr lang="ko-KR" altLang="en-US" sz="1100" b="1" dirty="0" smtClean="0">
                <a:latin typeface="Georgia" pitchFamily="18" charset="0"/>
              </a:rPr>
              <a:t>수요 비중</a:t>
            </a:r>
          </a:p>
        </p:txBody>
      </p:sp>
      <p:sp>
        <p:nvSpPr>
          <p:cNvPr id="32" name="제목 3"/>
          <p:cNvSpPr>
            <a:spLocks noGrp="1"/>
          </p:cNvSpPr>
          <p:nvPr>
            <p:ph type="title"/>
          </p:nvPr>
        </p:nvSpPr>
        <p:spPr>
          <a:xfrm>
            <a:off x="381001" y="332656"/>
            <a:ext cx="6513095" cy="32648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매력적인 인테리어 </a:t>
            </a:r>
            <a:r>
              <a:rPr lang="en-US" altLang="ko-KR" dirty="0" smtClean="0"/>
              <a:t>O2O </a:t>
            </a:r>
            <a:r>
              <a:rPr lang="ko-KR" altLang="en-US" dirty="0" smtClean="0"/>
              <a:t>시장</a:t>
            </a:r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>
                <a:latin typeface="+mn-ea"/>
                <a:cs typeface="Arial" pitchFamily="34" charset="0"/>
              </a:rPr>
              <a:t>1</a:t>
            </a:r>
            <a:endParaRPr lang="ko-KR" altLang="en-US" sz="1700" b="1" dirty="0">
              <a:latin typeface="+mn-ea"/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14876" y="2357430"/>
            <a:ext cx="1928826" cy="21431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200" dirty="0" smtClean="0">
                <a:latin typeface="Georgia" pitchFamily="18" charset="0"/>
              </a:rPr>
              <a:t>총 </a:t>
            </a:r>
            <a:r>
              <a:rPr lang="ko-KR" altLang="en-US" sz="1200" dirty="0" err="1" smtClean="0">
                <a:latin typeface="Georgia" pitchFamily="18" charset="0"/>
              </a:rPr>
              <a:t>클릭량</a:t>
            </a:r>
            <a:r>
              <a:rPr lang="ko-KR" altLang="en-US" sz="1200" dirty="0" smtClean="0">
                <a:latin typeface="Georgia" pitchFamily="18" charset="0"/>
              </a:rPr>
              <a:t> 중 </a:t>
            </a:r>
            <a:r>
              <a:rPr lang="ko-KR" altLang="en-US" sz="1200" b="1" dirty="0" smtClean="0">
                <a:latin typeface="Georgia" pitchFamily="18" charset="0"/>
              </a:rPr>
              <a:t>연령대별 비중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8938" y="2357430"/>
            <a:ext cx="785818" cy="21431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200" b="1" dirty="0" smtClean="0">
                <a:latin typeface="Georgia" pitchFamily="18" charset="0"/>
              </a:rPr>
              <a:t>성별 비중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005" y="3191039"/>
            <a:ext cx="357190" cy="21431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200" dirty="0" smtClean="0">
                <a:latin typeface="Georgia" pitchFamily="18" charset="0"/>
              </a:rPr>
              <a:t>50</a:t>
            </a:r>
            <a:r>
              <a:rPr lang="ko-KR" altLang="en-US" sz="1200" dirty="0" smtClean="0">
                <a:latin typeface="Georgia" pitchFamily="18" charset="0"/>
              </a:rPr>
              <a:t>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116" y="2945160"/>
            <a:ext cx="357190" cy="21431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200" dirty="0" smtClean="0">
                <a:latin typeface="Georgia" pitchFamily="18" charset="0"/>
              </a:rPr>
              <a:t>60</a:t>
            </a:r>
            <a:r>
              <a:rPr lang="ko-KR" altLang="en-US" sz="1200" dirty="0" smtClean="0">
                <a:latin typeface="Georgia" pitchFamily="18" charset="0"/>
              </a:rPr>
              <a:t>대</a:t>
            </a:r>
          </a:p>
        </p:txBody>
      </p:sp>
    </p:spTree>
    <p:extLst>
      <p:ext uri="{BB962C8B-B14F-4D97-AF65-F5344CB8AC3E}">
        <p14:creationId xmlns="" xmlns:p14="http://schemas.microsoft.com/office/powerpoint/2010/main" val="30429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>
          <a:xfrm>
            <a:off x="357158" y="695058"/>
            <a:ext cx="6513095" cy="389801"/>
          </a:xfrm>
        </p:spPr>
        <p:txBody>
          <a:bodyPr/>
          <a:lstStyle/>
          <a:p>
            <a:r>
              <a:rPr lang="ko-KR" altLang="en-US" dirty="0" smtClean="0"/>
              <a:t>온라인 채널 중심의 소비 확산</a:t>
            </a:r>
            <a:endParaRPr lang="ko-KR" altLang="en-US" dirty="0"/>
          </a:p>
        </p:txBody>
      </p:sp>
      <p:cxnSp>
        <p:nvCxnSpPr>
          <p:cNvPr id="8" name="Straight Connector 9">
            <a:extLst>
              <a:ext uri="{FF2B5EF4-FFF2-40B4-BE49-F238E27FC236}">
                <a16:creationId xmlns="" xmlns:a16="http://schemas.microsoft.com/office/drawing/2014/main" id="{3220F5B3-CCA0-47AA-B21B-DFA1FB20B3E8}"/>
              </a:ext>
            </a:extLst>
          </p:cNvPr>
          <p:cNvCxnSpPr/>
          <p:nvPr/>
        </p:nvCxnSpPr>
        <p:spPr>
          <a:xfrm>
            <a:off x="380604" y="2132856"/>
            <a:ext cx="3816000" cy="0"/>
          </a:xfrm>
          <a:prstGeom prst="line">
            <a:avLst/>
          </a:prstGeom>
          <a:ln w="28575">
            <a:solidFill>
              <a:srgbClr val="2D43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28" name="내용 개체 틀 27"/>
          <p:cNvGraphicFramePr>
            <a:graphicFrameLocks noGrp="1"/>
          </p:cNvGraphicFramePr>
          <p:nvPr>
            <p:ph sz="quarter" idx="15"/>
          </p:nvPr>
        </p:nvGraphicFramePr>
        <p:xfrm>
          <a:off x="395288" y="2285992"/>
          <a:ext cx="3787775" cy="2714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6066ED6E-FC10-4B75-B247-81351B267F90}"/>
              </a:ext>
            </a:extLst>
          </p:cNvPr>
          <p:cNvSpPr txBox="1"/>
          <p:nvPr/>
        </p:nvSpPr>
        <p:spPr>
          <a:xfrm>
            <a:off x="381001" y="1246838"/>
            <a:ext cx="8223249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400" dirty="0" smtClean="0">
                <a:latin typeface="Georgia" pitchFamily="18" charset="0"/>
              </a:rPr>
              <a:t>SNS, </a:t>
            </a:r>
            <a:r>
              <a:rPr lang="ko-KR" altLang="en-US" sz="1400" dirty="0" smtClean="0">
                <a:latin typeface="Georgia" pitchFamily="18" charset="0"/>
              </a:rPr>
              <a:t>커뮤니티 등을 통한 인테리어 정보 및 경험 공유 </a:t>
            </a:r>
            <a:r>
              <a:rPr lang="en-US" altLang="ko-KR" sz="1400" dirty="0" smtClean="0">
                <a:latin typeface="Georgia" pitchFamily="18" charset="0"/>
              </a:rPr>
              <a:t>Needs</a:t>
            </a:r>
            <a:r>
              <a:rPr lang="ko-KR" altLang="en-US" sz="1400" dirty="0" smtClean="0">
                <a:latin typeface="Georgia" pitchFamily="18" charset="0"/>
              </a:rPr>
              <a:t>가 확대됨에 따라 온라인 채널을 중심으로 한 </a:t>
            </a:r>
            <a:r>
              <a:rPr lang="en-US" altLang="ko-KR" sz="1400" dirty="0" smtClean="0">
                <a:latin typeface="Georgia" pitchFamily="18" charset="0"/>
              </a:rPr>
              <a:t/>
            </a:r>
            <a:br>
              <a:rPr lang="en-US" altLang="ko-KR" sz="1400" dirty="0" smtClean="0">
                <a:latin typeface="Georgia" pitchFamily="18" charset="0"/>
              </a:rPr>
            </a:br>
            <a:r>
              <a:rPr lang="ko-KR" altLang="en-US" sz="1400" dirty="0" smtClean="0">
                <a:latin typeface="Georgia" pitchFamily="18" charset="0"/>
              </a:rPr>
              <a:t>인테리어 소비의 높은 성장세가 예상됨</a:t>
            </a:r>
            <a:endParaRPr lang="en-US" sz="1400" dirty="0">
              <a:latin typeface="Georgia" pitchFamily="18" charset="0"/>
            </a:endParaRPr>
          </a:p>
        </p:txBody>
      </p:sp>
      <p:cxnSp>
        <p:nvCxnSpPr>
          <p:cNvPr id="20" name="Straight Connector 11">
            <a:extLst>
              <a:ext uri="{FF2B5EF4-FFF2-40B4-BE49-F238E27FC236}">
                <a16:creationId xmlns="" xmlns:a16="http://schemas.microsoft.com/office/drawing/2014/main" id="{F9A25AC5-5CD4-419C-9C0E-1E76119467D7}"/>
              </a:ext>
            </a:extLst>
          </p:cNvPr>
          <p:cNvCxnSpPr/>
          <p:nvPr/>
        </p:nvCxnSpPr>
        <p:spPr>
          <a:xfrm>
            <a:off x="4563788" y="2132856"/>
            <a:ext cx="4032000" cy="0"/>
          </a:xfrm>
          <a:prstGeom prst="line">
            <a:avLst/>
          </a:prstGeom>
          <a:ln w="28575">
            <a:solidFill>
              <a:srgbClr val="2D43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85EE809E-12EF-4229-854D-C371B6A48E74}"/>
              </a:ext>
            </a:extLst>
          </p:cNvPr>
          <p:cNvSpPr txBox="1"/>
          <p:nvPr/>
        </p:nvSpPr>
        <p:spPr>
          <a:xfrm>
            <a:off x="405150" y="1844520"/>
            <a:ext cx="3822301" cy="2877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200" b="1" dirty="0" smtClean="0">
                <a:latin typeface="Georgia" pitchFamily="18" charset="0"/>
              </a:rPr>
              <a:t>온라인 판매비중 확대</a:t>
            </a:r>
            <a:endParaRPr lang="en-US" altLang="ko-KR" sz="1200" b="1" dirty="0" err="1">
              <a:latin typeface="Georgia" pitchFamily="18" charset="0"/>
            </a:endParaRPr>
          </a:p>
        </p:txBody>
      </p:sp>
      <p:graphicFrame>
        <p:nvGraphicFramePr>
          <p:cNvPr id="24" name="내용 개체 틀 22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965016217"/>
              </p:ext>
            </p:extLst>
          </p:nvPr>
        </p:nvGraphicFramePr>
        <p:xfrm>
          <a:off x="4429124" y="2143116"/>
          <a:ext cx="4214842" cy="15600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내용 개체 틀 22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3289195303"/>
              </p:ext>
            </p:extLst>
          </p:nvPr>
        </p:nvGraphicFramePr>
        <p:xfrm>
          <a:off x="4143372" y="3714752"/>
          <a:ext cx="4572032" cy="15600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85EE809E-12EF-4229-854D-C371B6A48E74}"/>
              </a:ext>
            </a:extLst>
          </p:cNvPr>
          <p:cNvSpPr txBox="1"/>
          <p:nvPr/>
        </p:nvSpPr>
        <p:spPr>
          <a:xfrm>
            <a:off x="392509" y="1844520"/>
            <a:ext cx="3348000" cy="2877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endParaRPr lang="en-US" sz="1200" b="1" dirty="0">
              <a:latin typeface="Georgia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85EE809E-12EF-4229-854D-C371B6A48E74}"/>
              </a:ext>
            </a:extLst>
          </p:cNvPr>
          <p:cNvSpPr txBox="1"/>
          <p:nvPr/>
        </p:nvSpPr>
        <p:spPr>
          <a:xfrm>
            <a:off x="4572000" y="1844520"/>
            <a:ext cx="3822301" cy="2877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200" b="1" dirty="0" smtClean="0">
                <a:latin typeface="Georgia" pitchFamily="18" charset="0"/>
              </a:rPr>
              <a:t>가구</a:t>
            </a:r>
            <a:r>
              <a:rPr lang="en-US" altLang="ko-KR" sz="1200" b="1" dirty="0" smtClean="0">
                <a:latin typeface="Georgia" pitchFamily="18" charset="0"/>
              </a:rPr>
              <a:t>/</a:t>
            </a:r>
            <a:r>
              <a:rPr lang="ko-KR" altLang="en-US" sz="1200" b="1" dirty="0" smtClean="0">
                <a:latin typeface="Georgia" pitchFamily="18" charset="0"/>
              </a:rPr>
              <a:t>인테리어 소품 주요 구매 채널</a:t>
            </a:r>
            <a:endParaRPr lang="en-US" altLang="ko-KR" sz="1200" b="1" baseline="30000" dirty="0">
              <a:latin typeface="Georgia" pitchFamily="18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39750" y="5026895"/>
            <a:ext cx="36718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i="1" dirty="0" smtClean="0"/>
              <a:t>"</a:t>
            </a:r>
            <a:r>
              <a:rPr lang="ko-KR" altLang="en-US" sz="1200" i="1" dirty="0" smtClean="0"/>
              <a:t>오프라인 매장의 경쟁력이 떨어진 지는 오래이며</a:t>
            </a:r>
            <a:r>
              <a:rPr lang="en-US" altLang="ko-KR" sz="1200" i="1" dirty="0" smtClean="0"/>
              <a:t>,</a:t>
            </a:r>
            <a:br>
              <a:rPr lang="en-US" altLang="ko-KR" sz="1200" i="1" dirty="0" smtClean="0"/>
            </a:br>
            <a:r>
              <a:rPr lang="ko-KR" altLang="en-US" sz="1200" i="1" dirty="0" smtClean="0"/>
              <a:t>결국 앞으로는 </a:t>
            </a:r>
            <a:r>
              <a:rPr lang="ko-KR" altLang="en-US" sz="1200" i="1" u="sng" dirty="0" smtClean="0"/>
              <a:t>온라인 경쟁으로</a:t>
            </a:r>
            <a:r>
              <a:rPr lang="en-US" altLang="ko-KR" sz="1200" i="1" u="sng" dirty="0" smtClean="0"/>
              <a:t> </a:t>
            </a:r>
            <a:r>
              <a:rPr lang="ko-KR" altLang="en-US" sz="1200" i="1" u="sng" dirty="0" smtClean="0"/>
              <a:t>누가 어떤 콘텐츠를 어떤 방식으로 담아내느냐에 따라 성패가 갈릴 것</a:t>
            </a:r>
            <a:r>
              <a:rPr lang="en-US" altLang="ko-KR" sz="1200" i="1" dirty="0" smtClean="0"/>
              <a:t>" </a:t>
            </a:r>
            <a:br>
              <a:rPr lang="en-US" altLang="ko-KR" sz="1200" i="1" dirty="0" smtClean="0"/>
            </a:br>
            <a:r>
              <a:rPr lang="en-US" altLang="ko-KR" sz="1100" i="1" dirty="0" smtClean="0"/>
              <a:t>– ’18.03 </a:t>
            </a:r>
            <a:r>
              <a:rPr lang="ko-KR" altLang="en-US" sz="1100" i="1" dirty="0" smtClean="0"/>
              <a:t>비즈니스 기사 中</a:t>
            </a:r>
            <a:endParaRPr lang="ko-KR" altLang="en-US" sz="1100" i="1" dirty="0"/>
          </a:p>
        </p:txBody>
      </p:sp>
      <p:sp>
        <p:nvSpPr>
          <p:cNvPr id="29" name="내용 개체 틀 22"/>
          <p:cNvSpPr txBox="1">
            <a:spLocks/>
          </p:cNvSpPr>
          <p:nvPr/>
        </p:nvSpPr>
        <p:spPr>
          <a:xfrm>
            <a:off x="423610" y="6285440"/>
            <a:ext cx="6084000" cy="2636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indent="-274320">
              <a:spcAft>
                <a:spcPts val="900"/>
              </a:spcAft>
              <a:buClr>
                <a:schemeClr val="tx1"/>
              </a:buClr>
            </a:pP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맑은 고딕" panose="020B0503020000020004" pitchFamily="50" charset="-127"/>
                <a:cs typeface="+mn-cs"/>
              </a:rPr>
              <a:t>Source: 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맑은 고딕" panose="020B0503020000020004" pitchFamily="50" charset="-127"/>
                <a:cs typeface="+mn-cs"/>
              </a:rPr>
              <a:t>통계청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맑은 고딕" panose="020B0503020000020004" pitchFamily="50" charset="-127"/>
                <a:cs typeface="+mn-cs"/>
              </a:rPr>
              <a:t>; </a:t>
            </a:r>
            <a:r>
              <a:rPr lang="en-US" altLang="ko-KR" sz="1000" dirty="0" err="1" smtClean="0"/>
              <a:t>OpensurveyKorea</a:t>
            </a:r>
            <a:r>
              <a:rPr lang="en-US" altLang="ko-KR" sz="1000" dirty="0" smtClean="0"/>
              <a:t>  </a:t>
            </a:r>
            <a:r>
              <a:rPr lang="en-US" altLang="ko-KR" sz="1000" i="1" dirty="0" smtClean="0"/>
              <a:t>‘</a:t>
            </a:r>
            <a:r>
              <a:rPr lang="ko-KR" altLang="en-US" sz="1000" i="1" dirty="0" err="1" smtClean="0"/>
              <a:t>리빙</a:t>
            </a:r>
            <a:r>
              <a:rPr lang="ko-KR" altLang="en-US" sz="1000" i="1" dirty="0" smtClean="0"/>
              <a:t> 트렌드 리포트 </a:t>
            </a:r>
            <a:r>
              <a:rPr lang="en-US" altLang="ko-KR" sz="1000" i="1" dirty="0" smtClean="0"/>
              <a:t>2019’ </a:t>
            </a:r>
            <a:endParaRPr lang="ko-KR" altLang="en-US" sz="1000" i="1" dirty="0" smtClean="0"/>
          </a:p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제목 3"/>
          <p:cNvSpPr>
            <a:spLocks noGrp="1"/>
          </p:cNvSpPr>
          <p:nvPr>
            <p:ph type="title"/>
          </p:nvPr>
        </p:nvSpPr>
        <p:spPr>
          <a:xfrm>
            <a:off x="381001" y="332656"/>
            <a:ext cx="6513095" cy="32648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매력적인 인테리어 </a:t>
            </a:r>
            <a:r>
              <a:rPr lang="en-US" altLang="ko-KR" dirty="0" smtClean="0"/>
              <a:t>O2O </a:t>
            </a:r>
            <a:r>
              <a:rPr lang="ko-KR" altLang="en-US" dirty="0" smtClean="0"/>
              <a:t>시장</a:t>
            </a:r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>
                <a:latin typeface="+mn-ea"/>
                <a:cs typeface="Arial" pitchFamily="34" charset="0"/>
              </a:rPr>
              <a:t>1</a:t>
            </a:r>
            <a:endParaRPr lang="ko-KR" altLang="en-US" sz="1700" b="1" dirty="0">
              <a:latin typeface="+mn-ea"/>
              <a:cs typeface="Arial" pitchFamily="34" charset="0"/>
            </a:endParaRPr>
          </a:p>
        </p:txBody>
      </p:sp>
      <p:sp>
        <p:nvSpPr>
          <p:cNvPr id="31" name="모서리가 둥근 직사각형 83"/>
          <p:cNvSpPr/>
          <p:nvPr/>
        </p:nvSpPr>
        <p:spPr>
          <a:xfrm>
            <a:off x="4666174" y="5357826"/>
            <a:ext cx="4120668" cy="64294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lvl="1" indent="-114300" algn="ctr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ko-KR" altLang="en-US" sz="1300" b="1" dirty="0" smtClean="0">
                <a:solidFill>
                  <a:schemeClr val="tx1"/>
                </a:solidFill>
                <a:latin typeface="+mn-ea"/>
              </a:rPr>
              <a:t>소비자들 간 자유로운 정보 및 경험 공유가 가능한</a:t>
            </a:r>
            <a:r>
              <a:rPr lang="en-US" altLang="ko-KR" sz="1300" b="1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300" b="1" dirty="0" smtClean="0">
                <a:solidFill>
                  <a:schemeClr val="tx1"/>
                </a:solidFill>
                <a:latin typeface="+mn-ea"/>
              </a:rPr>
            </a:br>
            <a:r>
              <a:rPr lang="ko-KR" altLang="en-US" sz="1300" b="1" dirty="0" smtClean="0">
                <a:solidFill>
                  <a:schemeClr val="tx1"/>
                </a:solidFill>
                <a:latin typeface="+mn-ea"/>
              </a:rPr>
              <a:t>온라인 채널 중심의 인테리어 소비</a:t>
            </a:r>
            <a:r>
              <a:rPr lang="en-US" altLang="ko-KR" sz="13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300" b="1" dirty="0" smtClean="0">
                <a:solidFill>
                  <a:schemeClr val="tx1"/>
                </a:solidFill>
                <a:latin typeface="+mn-ea"/>
              </a:rPr>
              <a:t>확산</a:t>
            </a:r>
            <a:endParaRPr lang="en-US" altLang="ko-KR" sz="13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-1357354" y="1285860"/>
            <a:ext cx="914400" cy="914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endParaRPr lang="ko-KR" altLang="en-US" sz="2000" dirty="0" err="1" smtClean="0">
              <a:latin typeface="Georgia" pitchFamily="18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="" xmlns:a16="http://schemas.microsoft.com/office/drawing/2014/main" id="{FB7377E8-50F5-49C5-AC43-441D4BE33B97}"/>
              </a:ext>
            </a:extLst>
          </p:cNvPr>
          <p:cNvCxnSpPr>
            <a:cxnSpLocks/>
          </p:cNvCxnSpPr>
          <p:nvPr/>
        </p:nvCxnSpPr>
        <p:spPr>
          <a:xfrm flipV="1">
            <a:off x="2995602" y="3128751"/>
            <a:ext cx="0" cy="72000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="" xmlns:a16="http://schemas.microsoft.com/office/drawing/2014/main" id="{B9D3DE57-B11A-490B-9918-ABC4DB094354}"/>
              </a:ext>
            </a:extLst>
          </p:cNvPr>
          <p:cNvCxnSpPr>
            <a:cxnSpLocks/>
          </p:cNvCxnSpPr>
          <p:nvPr/>
        </p:nvCxnSpPr>
        <p:spPr>
          <a:xfrm>
            <a:off x="3026550" y="3137148"/>
            <a:ext cx="360000" cy="9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DDF71ABC-C537-4021-B85A-F8B4374C4BD5}"/>
              </a:ext>
            </a:extLst>
          </p:cNvPr>
          <p:cNvCxnSpPr>
            <a:cxnSpLocks/>
          </p:cNvCxnSpPr>
          <p:nvPr/>
        </p:nvCxnSpPr>
        <p:spPr>
          <a:xfrm>
            <a:off x="2788291" y="3851278"/>
            <a:ext cx="421625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="" xmlns:a16="http://schemas.microsoft.com/office/drawing/2014/main" id="{73ADA7D6-8852-4985-A1E7-1392C7682F95}"/>
              </a:ext>
            </a:extLst>
          </p:cNvPr>
          <p:cNvSpPr/>
          <p:nvPr/>
        </p:nvSpPr>
        <p:spPr bwMode="ltGray">
          <a:xfrm>
            <a:off x="2693975" y="3283129"/>
            <a:ext cx="612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+18%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429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  Business Origin</a:t>
            </a:r>
            <a:r>
              <a:rPr lang="ko-KR" altLang="en-US" dirty="0" smtClean="0"/>
              <a:t>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커뮤니티</a:t>
            </a:r>
            <a:r>
              <a:rPr lang="en-US" altLang="ko-KR" dirty="0" smtClean="0"/>
              <a:t>”</a:t>
            </a:r>
            <a:endParaRPr lang="en-US" altLang="ko-KR" dirty="0"/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57158" y="1231816"/>
            <a:ext cx="8762999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endParaRPr lang="en-US" sz="1400" dirty="0">
              <a:latin typeface="Georgia" pitchFamily="18" charset="0"/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="" xmlns:a16="http://schemas.microsoft.com/office/drawing/2014/main" id="{4AA717CE-495C-4F9D-89AB-4344DC3CA7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smtClean="0">
                <a:latin typeface="Georgia" pitchFamily="18" charset="0"/>
              </a:rPr>
              <a:t>하우스미디어는 페이스북</a:t>
            </a:r>
            <a:r>
              <a:rPr lang="en-US" altLang="ko-KR" sz="1400" dirty="0" smtClean="0">
                <a:latin typeface="Georgia" pitchFamily="18" charset="0"/>
              </a:rPr>
              <a:t>, </a:t>
            </a:r>
            <a:r>
              <a:rPr lang="ko-KR" altLang="en-US" sz="1400" dirty="0" smtClean="0">
                <a:latin typeface="Georgia" pitchFamily="18" charset="0"/>
              </a:rPr>
              <a:t>카카오스토리 내 성공적인 커뮤니티 운영을 시작으로 </a:t>
            </a:r>
            <a:r>
              <a:rPr lang="en-US" altLang="ko-KR" sz="1400" dirty="0" smtClean="0">
                <a:latin typeface="Georgia" pitchFamily="18" charset="0"/>
              </a:rPr>
              <a:t>’14</a:t>
            </a:r>
            <a:r>
              <a:rPr lang="ko-KR" altLang="en-US" sz="1400" dirty="0" smtClean="0">
                <a:latin typeface="Georgia" pitchFamily="18" charset="0"/>
              </a:rPr>
              <a:t>년 법인 설립 후 자체 </a:t>
            </a:r>
            <a:r>
              <a:rPr lang="en-US" altLang="ko-KR" sz="1400" dirty="0" smtClean="0">
                <a:latin typeface="Georgia" pitchFamily="18" charset="0"/>
              </a:rPr>
              <a:t>SNS </a:t>
            </a:r>
            <a:r>
              <a:rPr lang="ko-KR" altLang="en-US" sz="1400" dirty="0" smtClean="0">
                <a:latin typeface="Georgia" pitchFamily="18" charset="0"/>
              </a:rPr>
              <a:t>채널 운영을 통해 사용자 저변을 급속도로 확장하고 있음</a:t>
            </a:r>
            <a:endParaRPr lang="en-US" altLang="ko-KR" sz="1400" dirty="0">
              <a:latin typeface="Georgia" pitchFamily="18" charset="0"/>
            </a:endParaRPr>
          </a:p>
        </p:txBody>
      </p:sp>
      <p:sp>
        <p:nvSpPr>
          <p:cNvPr id="6" name="내용 개체 틀 5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사업의 시작은 인테리어 커뮤니티</a:t>
            </a:r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320432" y="1934816"/>
            <a:ext cx="8337512" cy="288336"/>
            <a:chOff x="320432" y="1934816"/>
            <a:chExt cx="8356024" cy="288336"/>
          </a:xfrm>
        </p:grpSpPr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38F579A4-A51D-4AC4-A3E2-E4C51278C9BD}"/>
                </a:ext>
              </a:extLst>
            </p:cNvPr>
            <p:cNvSpPr txBox="1"/>
            <p:nvPr/>
          </p:nvSpPr>
          <p:spPr>
            <a:xfrm>
              <a:off x="355766" y="1934816"/>
              <a:ext cx="8320690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ko-KR" altLang="en-US" sz="1200" b="1" dirty="0" smtClean="0">
                  <a:latin typeface="Georgia" pitchFamily="18" charset="0"/>
                </a:rPr>
                <a:t>사업전개 </a:t>
              </a:r>
              <a:r>
                <a:rPr lang="en-US" altLang="ko-KR" sz="1200" b="1" dirty="0" smtClean="0">
                  <a:latin typeface="Georgia" pitchFamily="18" charset="0"/>
                </a:rPr>
                <a:t>History : “</a:t>
              </a:r>
              <a:r>
                <a:rPr lang="ko-KR" altLang="en-US" sz="1200" b="1" dirty="0" smtClean="0">
                  <a:latin typeface="Georgia" pitchFamily="18" charset="0"/>
                </a:rPr>
                <a:t>시작은 인테리어 커뮤니티</a:t>
              </a:r>
              <a:r>
                <a:rPr lang="en-US" altLang="ko-KR" sz="1200" b="1" dirty="0" smtClean="0">
                  <a:latin typeface="Georgia" pitchFamily="18" charset="0"/>
                </a:rPr>
                <a:t>”</a:t>
              </a:r>
              <a:endParaRPr lang="en-US" sz="1200" b="1" dirty="0">
                <a:latin typeface="Georgia" pitchFamily="18" charset="0"/>
              </a:endParaRPr>
            </a:p>
          </p:txBody>
        </p:sp>
        <p:cxnSp>
          <p:nvCxnSpPr>
            <p:cNvPr id="30" name="Straight Connector 11">
              <a:extLst>
                <a:ext uri="{FF2B5EF4-FFF2-40B4-BE49-F238E27FC236}">
                  <a16:creationId xmlns="" xmlns:a16="http://schemas.microsoft.com/office/drawing/2014/main" id="{94C59EF6-00E7-4479-BCC5-E076344CDB87}"/>
                </a:ext>
              </a:extLst>
            </p:cNvPr>
            <p:cNvCxnSpPr/>
            <p:nvPr/>
          </p:nvCxnSpPr>
          <p:spPr>
            <a:xfrm>
              <a:off x="320432" y="2223152"/>
              <a:ext cx="8356024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5" name="직선 화살표 연결선 4"/>
          <p:cNvCxnSpPr/>
          <p:nvPr/>
        </p:nvCxnSpPr>
        <p:spPr>
          <a:xfrm>
            <a:off x="1034760" y="2360732"/>
            <a:ext cx="0" cy="36986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/>
          <p:cNvSpPr>
            <a:spLocks noChangeAspect="1"/>
          </p:cNvSpPr>
          <p:nvPr/>
        </p:nvSpPr>
        <p:spPr bwMode="auto">
          <a:xfrm>
            <a:off x="962752" y="2479557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1094010" y="2413775"/>
            <a:ext cx="3801960" cy="4548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marL="174625" lvl="0" indent="-174625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부동산 검색 서비스 창업 중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/>
            </a:r>
            <a:b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</a:b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마케팅 목적 페이스북 채널 개설</a:t>
            </a:r>
            <a:endParaRPr lang="ko-KR" altLang="en-US" sz="14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71045" y="2466697"/>
            <a:ext cx="676077" cy="30800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900"/>
              </a:spcAft>
            </a:pPr>
            <a:r>
              <a:rPr lang="en-US" altLang="ko-KR" sz="1300" dirty="0" smtClean="0">
                <a:solidFill>
                  <a:srgbClr val="000000"/>
                </a:solidFill>
                <a:latin typeface="Georgia" pitchFamily="18" charset="0"/>
              </a:rPr>
              <a:t>’13</a:t>
            </a:r>
            <a:r>
              <a:rPr lang="ko-KR" altLang="en-US" sz="1300" dirty="0" smtClean="0">
                <a:solidFill>
                  <a:srgbClr val="000000"/>
                </a:solidFill>
                <a:latin typeface="Georgia" pitchFamily="18" charset="0"/>
              </a:rPr>
              <a:t>년</a:t>
            </a:r>
            <a:endParaRPr lang="en-US" altLang="ko-KR" sz="1300" dirty="0" smtClean="0">
              <a:solidFill>
                <a:srgbClr val="000000"/>
              </a:solidFill>
              <a:latin typeface="Georgia" pitchFamily="18" charset="0"/>
            </a:endParaRPr>
          </a:p>
        </p:txBody>
      </p:sp>
      <p:sp>
        <p:nvSpPr>
          <p:cNvPr id="31" name="타원 30"/>
          <p:cNvSpPr>
            <a:spLocks noChangeAspect="1"/>
          </p:cNvSpPr>
          <p:nvPr/>
        </p:nvSpPr>
        <p:spPr bwMode="auto">
          <a:xfrm>
            <a:off x="962752" y="3200988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1045" y="3197272"/>
            <a:ext cx="676077" cy="30800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900"/>
              </a:spcAft>
            </a:pPr>
            <a:r>
              <a:rPr lang="en-US" altLang="ko-KR" sz="1300" dirty="0" smtClean="0">
                <a:solidFill>
                  <a:srgbClr val="000000"/>
                </a:solidFill>
                <a:latin typeface="Georgia" pitchFamily="18" charset="0"/>
              </a:rPr>
              <a:t>’14</a:t>
            </a:r>
            <a:r>
              <a:rPr lang="ko-KR" altLang="en-US" sz="1300" dirty="0" smtClean="0">
                <a:solidFill>
                  <a:srgbClr val="000000"/>
                </a:solidFill>
                <a:latin typeface="Georgia" pitchFamily="18" charset="0"/>
              </a:rPr>
              <a:t>년</a:t>
            </a:r>
            <a:endParaRPr lang="en-US" altLang="ko-KR" sz="1300" dirty="0" smtClean="0">
              <a:solidFill>
                <a:srgbClr val="000000"/>
              </a:solidFill>
              <a:latin typeface="Georgia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71045" y="5488025"/>
            <a:ext cx="676077" cy="30800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900"/>
              </a:spcAft>
            </a:pPr>
            <a:r>
              <a:rPr lang="en-US" altLang="ko-KR" sz="1300" dirty="0" smtClean="0">
                <a:solidFill>
                  <a:srgbClr val="000000"/>
                </a:solidFill>
                <a:latin typeface="Georgia" pitchFamily="18" charset="0"/>
              </a:rPr>
              <a:t>’16</a:t>
            </a:r>
            <a:r>
              <a:rPr lang="ko-KR" altLang="en-US" sz="1300" dirty="0" smtClean="0">
                <a:solidFill>
                  <a:srgbClr val="000000"/>
                </a:solidFill>
                <a:latin typeface="Georgia" pitchFamily="18" charset="0"/>
              </a:rPr>
              <a:t>년</a:t>
            </a:r>
            <a:endParaRPr lang="en-US" altLang="ko-KR" sz="1300" dirty="0" smtClean="0">
              <a:solidFill>
                <a:srgbClr val="000000"/>
              </a:solidFill>
              <a:latin typeface="Georgia" pitchFamily="18" charset="0"/>
            </a:endParaRPr>
          </a:p>
        </p:txBody>
      </p:sp>
      <p:sp>
        <p:nvSpPr>
          <p:cNvPr id="3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7884368" y="6237312"/>
            <a:ext cx="712800" cy="262800"/>
          </a:xfrm>
        </p:spPr>
        <p:txBody>
          <a:bodyPr/>
          <a:lstStyle/>
          <a:p>
            <a:fld id="{B68BC80C-B1D2-42DA-B465-5CACDB325AFD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44" name="타원 43"/>
          <p:cNvSpPr>
            <a:spLocks noChangeAspect="1"/>
          </p:cNvSpPr>
          <p:nvPr/>
        </p:nvSpPr>
        <p:spPr bwMode="auto">
          <a:xfrm>
            <a:off x="962752" y="5534094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1094010" y="3135451"/>
            <a:ext cx="3801960" cy="4548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marL="174625" lvl="0" indent="-174625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카카오스토리 채널 개설</a:t>
            </a:r>
            <a:endParaRPr lang="ko-KR" altLang="en-US" sz="1400" b="1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61" name="Rectangle 14"/>
          <p:cNvSpPr>
            <a:spLocks noChangeArrowheads="1"/>
          </p:cNvSpPr>
          <p:nvPr/>
        </p:nvSpPr>
        <p:spPr bwMode="auto">
          <a:xfrm>
            <a:off x="1094010" y="3799115"/>
            <a:ext cx="3801960" cy="4548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marL="174625" lvl="0" indent="-174625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법인 설립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인테리어 사업 런칭</a:t>
            </a:r>
            <a:endParaRPr lang="ko-KR" altLang="en-US" sz="1400" b="1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1094010" y="5464860"/>
            <a:ext cx="3136462" cy="4250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marL="174625" lvl="0" indent="-174625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3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자체 </a:t>
            </a:r>
            <a:r>
              <a:rPr lang="en-US" altLang="ko-KR" sz="13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SNS </a:t>
            </a:r>
            <a:r>
              <a:rPr lang="ko-KR" altLang="en-US" sz="13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운영 통한 </a:t>
            </a:r>
            <a:r>
              <a:rPr lang="en-US" altLang="ko-KR" sz="13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User</a:t>
            </a:r>
            <a:r>
              <a:rPr lang="ko-KR" altLang="en-US" sz="13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층 확대</a:t>
            </a:r>
            <a:endParaRPr lang="ko-KR" altLang="en-US" sz="1200" b="1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4499992" y="2440836"/>
            <a:ext cx="4248472" cy="3621296"/>
            <a:chOff x="4355976" y="2440836"/>
            <a:chExt cx="4301968" cy="3621296"/>
          </a:xfrm>
        </p:grpSpPr>
        <p:sp>
          <p:nvSpPr>
            <p:cNvPr id="66" name="모서리가 둥근 직사각형 65"/>
            <p:cNvSpPr/>
            <p:nvPr/>
          </p:nvSpPr>
          <p:spPr bwMode="auto">
            <a:xfrm>
              <a:off x="4355976" y="3645024"/>
              <a:ext cx="4176464" cy="1549704"/>
            </a:xfrm>
            <a:prstGeom prst="roundRect">
              <a:avLst/>
            </a:prstGeom>
            <a:solidFill>
              <a:schemeClr val="bg2">
                <a:alpha val="30000"/>
              </a:schemeClr>
            </a:solidFill>
            <a:ln w="3175">
              <a:noFill/>
              <a:miter lim="800000"/>
              <a:headEnd/>
              <a:tailEnd/>
            </a:ln>
          </p:spPr>
          <p:txBody>
            <a:bodyPr lIns="72000" tIns="72000" rIns="72000" bIns="72000" rtlCol="0" anchor="t" anchorCtr="0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</a:pPr>
              <a:endParaRPr lang="ko-KR" altLang="en-US" sz="1300" kern="0" dirty="0" smtClean="0">
                <a:solidFill>
                  <a:srgbClr val="000000"/>
                </a:solidFill>
                <a:ea typeface="맑은 고딕" pitchFamily="50" charset="-127"/>
              </a:endParaRPr>
            </a:p>
          </p:txBody>
        </p:sp>
        <p:sp>
          <p:nvSpPr>
            <p:cNvPr id="65" name="모서리가 둥근 직사각형 64"/>
            <p:cNvSpPr/>
            <p:nvPr/>
          </p:nvSpPr>
          <p:spPr bwMode="auto">
            <a:xfrm>
              <a:off x="4355976" y="3068960"/>
              <a:ext cx="4176464" cy="412100"/>
            </a:xfrm>
            <a:prstGeom prst="roundRect">
              <a:avLst/>
            </a:prstGeom>
            <a:solidFill>
              <a:schemeClr val="bg2">
                <a:alpha val="30000"/>
              </a:schemeClr>
            </a:solidFill>
            <a:ln w="3175">
              <a:noFill/>
              <a:miter lim="800000"/>
              <a:headEnd/>
              <a:tailEnd/>
            </a:ln>
          </p:spPr>
          <p:txBody>
            <a:bodyPr lIns="72000" tIns="72000" rIns="72000" bIns="72000" rtlCol="0" anchor="t" anchorCtr="0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</a:pPr>
              <a:endParaRPr lang="ko-KR" altLang="en-US" sz="1300" kern="0" dirty="0" smtClean="0">
                <a:solidFill>
                  <a:srgbClr val="000000"/>
                </a:solidFill>
                <a:ea typeface="맑은 고딕" pitchFamily="50" charset="-127"/>
              </a:endParaRPr>
            </a:p>
          </p:txBody>
        </p:sp>
        <p:sp>
          <p:nvSpPr>
            <p:cNvPr id="13" name="모서리가 둥근 직사각형 12"/>
            <p:cNvSpPr/>
            <p:nvPr/>
          </p:nvSpPr>
          <p:spPr bwMode="auto">
            <a:xfrm>
              <a:off x="4355976" y="2440836"/>
              <a:ext cx="4176464" cy="412100"/>
            </a:xfrm>
            <a:prstGeom prst="roundRect">
              <a:avLst/>
            </a:prstGeom>
            <a:solidFill>
              <a:schemeClr val="bg2">
                <a:alpha val="30000"/>
              </a:schemeClr>
            </a:solidFill>
            <a:ln w="3175">
              <a:noFill/>
              <a:miter lim="800000"/>
              <a:headEnd/>
              <a:tailEnd/>
            </a:ln>
          </p:spPr>
          <p:txBody>
            <a:bodyPr lIns="72000" tIns="72000" rIns="72000" bIns="72000" rtlCol="0" anchor="t" anchorCtr="0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</a:pPr>
              <a:endParaRPr lang="ko-KR" altLang="en-US" sz="1300" kern="0" dirty="0" smtClean="0">
                <a:solidFill>
                  <a:srgbClr val="000000"/>
                </a:solidFill>
                <a:ea typeface="맑은 고딕" pitchFamily="50" charset="-127"/>
              </a:endParaRPr>
            </a:p>
          </p:txBody>
        </p:sp>
        <p:sp>
          <p:nvSpPr>
            <p:cNvPr id="40" name="Rectangle 14"/>
            <p:cNvSpPr>
              <a:spLocks noChangeArrowheads="1"/>
            </p:cNvSpPr>
            <p:nvPr/>
          </p:nvSpPr>
          <p:spPr bwMode="auto">
            <a:xfrm>
              <a:off x="4436371" y="2503392"/>
              <a:ext cx="4221573" cy="28417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72000" rIns="36000" anchor="t" anchorCtr="0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defRPr/>
              </a:pPr>
              <a:r>
                <a:rPr lang="en-US" altLang="ko-KR" sz="1300" b="1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“</a:t>
              </a:r>
              <a:r>
                <a:rPr lang="ko-KR" altLang="en-US" sz="1300" b="1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구독자 </a:t>
              </a:r>
              <a:r>
                <a:rPr lang="en-US" altLang="ko-KR" sz="1300" b="1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10</a:t>
              </a:r>
              <a:r>
                <a:rPr lang="ko-KR" altLang="en-US" sz="1300" b="1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만 돌파</a:t>
              </a:r>
              <a:r>
                <a:rPr lang="en-US" altLang="ko-KR" sz="1300" b="1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”</a:t>
              </a:r>
              <a:endParaRPr lang="ko-KR" altLang="en-US" sz="1300" b="1" kern="0" dirty="0">
                <a:solidFill>
                  <a:srgbClr val="000000"/>
                </a:solidFill>
                <a:latin typeface="+mj-lt"/>
                <a:ea typeface="맑은 고딕" pitchFamily="50" charset="-127"/>
              </a:endParaRPr>
            </a:p>
          </p:txBody>
        </p:sp>
        <p:sp>
          <p:nvSpPr>
            <p:cNvPr id="59" name="Rectangle 14"/>
            <p:cNvSpPr>
              <a:spLocks noChangeArrowheads="1"/>
            </p:cNvSpPr>
            <p:nvPr/>
          </p:nvSpPr>
          <p:spPr bwMode="auto">
            <a:xfrm>
              <a:off x="4436371" y="3140366"/>
              <a:ext cx="4221573" cy="27812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72000" rIns="36000" anchor="t" anchorCtr="0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defRPr/>
              </a:pPr>
              <a:r>
                <a:rPr lang="en-US" altLang="ko-KR" sz="1300" b="1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“</a:t>
              </a:r>
              <a:r>
                <a:rPr lang="en-US" altLang="ko-KR" sz="1300" b="1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1</a:t>
              </a:r>
              <a:r>
                <a:rPr lang="ko-KR" altLang="en-US" sz="1300" b="1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개월 내 구독자 </a:t>
              </a:r>
              <a:r>
                <a:rPr lang="en-US" altLang="ko-KR" sz="1300" b="1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30</a:t>
              </a:r>
              <a:r>
                <a:rPr lang="ko-KR" altLang="en-US" sz="1300" b="1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만 </a:t>
              </a:r>
              <a:r>
                <a:rPr lang="ko-KR" altLang="en-US" sz="1300" b="1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명</a:t>
              </a:r>
              <a:r>
                <a:rPr lang="en-US" altLang="ko-KR" sz="1300" b="1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, 6</a:t>
              </a:r>
              <a:r>
                <a:rPr lang="ko-KR" altLang="en-US" sz="1300" b="1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개월 </a:t>
              </a:r>
              <a:r>
                <a:rPr lang="ko-KR" altLang="en-US" sz="1300" b="1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내 </a:t>
              </a:r>
              <a:r>
                <a:rPr lang="en-US" altLang="ko-KR" sz="1300" b="1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60</a:t>
              </a:r>
              <a:r>
                <a:rPr lang="ko-KR" altLang="en-US" sz="1300" b="1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만 명 돌파</a:t>
              </a:r>
              <a:r>
                <a:rPr lang="en-US" altLang="ko-KR" sz="1300" b="1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”</a:t>
              </a:r>
              <a:endParaRPr lang="ko-KR" altLang="en-US" sz="1300" b="1" kern="0" dirty="0">
                <a:solidFill>
                  <a:srgbClr val="000000"/>
                </a:solidFill>
                <a:latin typeface="+mj-lt"/>
                <a:ea typeface="맑은 고딕" pitchFamily="50" charset="-127"/>
              </a:endParaRPr>
            </a:p>
          </p:txBody>
        </p:sp>
        <p:sp>
          <p:nvSpPr>
            <p:cNvPr id="62" name="Rectangle 14"/>
            <p:cNvSpPr>
              <a:spLocks noChangeArrowheads="1"/>
            </p:cNvSpPr>
            <p:nvPr/>
          </p:nvSpPr>
          <p:spPr bwMode="auto">
            <a:xfrm>
              <a:off x="4436371" y="3727575"/>
              <a:ext cx="4221573" cy="8605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72000" rIns="36000" anchor="t" anchorCtr="0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defRPr/>
              </a:pPr>
              <a:r>
                <a:rPr lang="en-US" altLang="ko-KR" sz="1300" b="1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“</a:t>
              </a:r>
              <a:r>
                <a:rPr lang="ko-KR" altLang="en-US" sz="1300" b="1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사업 초기 안정적 성과 실현</a:t>
              </a:r>
              <a:r>
                <a:rPr lang="en-US" altLang="ko-KR" sz="1300" b="1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”</a:t>
              </a:r>
            </a:p>
            <a:p>
              <a:pPr marL="271463" lvl="0" indent="-271463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ü"/>
                <a:defRPr/>
              </a:pPr>
              <a:r>
                <a:rPr lang="ko-KR" altLang="en-US" sz="1300" kern="0" dirty="0" err="1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커머스</a:t>
              </a:r>
              <a:r>
                <a:rPr lang="en-US" altLang="ko-KR" sz="13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:</a:t>
              </a:r>
              <a:br>
                <a:rPr lang="en-US" altLang="ko-KR" sz="13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</a:br>
              <a:r>
                <a:rPr lang="en-US" altLang="ko-KR" sz="13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- </a:t>
              </a:r>
              <a:r>
                <a:rPr lang="ko-KR" altLang="en-US" sz="1300" kern="0" dirty="0" err="1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아리아퍼니처</a:t>
              </a:r>
              <a:r>
                <a:rPr lang="ko-KR" altLang="en-US" sz="1300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 테이블 </a:t>
              </a:r>
              <a:r>
                <a:rPr lang="en-US" altLang="ko-KR" sz="1300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: 4</a:t>
              </a:r>
              <a:r>
                <a:rPr lang="ko-KR" altLang="en-US" sz="1300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천만원 판매</a:t>
              </a:r>
              <a:r>
                <a:rPr lang="en-US" altLang="ko-KR" sz="1300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/2</a:t>
              </a:r>
              <a:r>
                <a:rPr lang="ko-KR" altLang="en-US" sz="13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일</a:t>
              </a:r>
              <a:endPara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endParaRPr>
            </a:p>
            <a:p>
              <a:pPr marL="271463" lvl="0" indent="-271463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ü"/>
                <a:defRPr/>
              </a:pPr>
              <a:r>
                <a:rPr lang="ko-KR" altLang="en-US" sz="13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광고</a:t>
              </a:r>
              <a:r>
                <a:rPr lang="en-US" altLang="ko-KR" sz="13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:</a:t>
              </a:r>
              <a:br>
                <a:rPr lang="en-US" altLang="ko-KR" sz="13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</a:br>
              <a:r>
                <a:rPr lang="en-US" altLang="ko-KR" sz="13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- </a:t>
              </a:r>
              <a:r>
                <a:rPr lang="ko-KR" altLang="en-US" sz="1300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한샘 식탁 신제품 출시 이벤트</a:t>
              </a:r>
              <a:r>
                <a:rPr lang="en-US" altLang="ko-KR" sz="1300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: 2</a:t>
              </a:r>
              <a:r>
                <a:rPr lang="ko-KR" altLang="en-US" sz="13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만명 참여</a:t>
              </a:r>
              <a:r>
                <a:rPr lang="ko-KR" altLang="en-US" sz="1300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/>
              </a:r>
              <a:br>
                <a:rPr lang="ko-KR" altLang="en-US" sz="1300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</a:br>
              <a:r>
                <a:rPr lang="ko-KR" altLang="en-US" sz="1300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   </a:t>
              </a:r>
              <a:r>
                <a:rPr lang="ko-KR" altLang="en-US" sz="1300" kern="0" dirty="0" err="1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가구박람회</a:t>
              </a:r>
              <a:r>
                <a:rPr lang="en-US" altLang="ko-KR" sz="1300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(</a:t>
              </a:r>
              <a:r>
                <a:rPr lang="ko-KR" altLang="en-US" sz="1300" kern="0" dirty="0" err="1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일산킨텍스</a:t>
              </a:r>
              <a:r>
                <a:rPr lang="en-US" altLang="ko-KR" sz="1300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): 3</a:t>
              </a:r>
              <a:r>
                <a:rPr lang="ko-KR" altLang="en-US" sz="1300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일간 </a:t>
              </a:r>
              <a:r>
                <a:rPr lang="en-US" altLang="ko-KR" sz="1300" kern="0" dirty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8</a:t>
              </a:r>
              <a:r>
                <a:rPr lang="ko-KR" altLang="en-US" sz="13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천명 방문 유도</a:t>
              </a:r>
              <a:br>
                <a:rPr lang="ko-KR" altLang="en-US" sz="13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</a:br>
              <a:endParaRPr lang="ko-KR" altLang="en-US" sz="1300" kern="0" dirty="0">
                <a:solidFill>
                  <a:srgbClr val="000000"/>
                </a:solidFill>
                <a:latin typeface="+mj-lt"/>
                <a:ea typeface="맑은 고딕" pitchFamily="50" charset="-127"/>
              </a:endParaRPr>
            </a:p>
          </p:txBody>
        </p:sp>
        <p:sp>
          <p:nvSpPr>
            <p:cNvPr id="68" name="모서리가 둥근 직사각형 67"/>
            <p:cNvSpPr/>
            <p:nvPr/>
          </p:nvSpPr>
          <p:spPr bwMode="auto">
            <a:xfrm>
              <a:off x="4355976" y="5447352"/>
              <a:ext cx="4176464" cy="614780"/>
            </a:xfrm>
            <a:prstGeom prst="roundRect">
              <a:avLst/>
            </a:prstGeom>
            <a:solidFill>
              <a:schemeClr val="bg2">
                <a:alpha val="30000"/>
              </a:schemeClr>
            </a:solidFill>
            <a:ln w="3175">
              <a:noFill/>
              <a:miter lim="800000"/>
              <a:headEnd/>
              <a:tailEnd/>
            </a:ln>
          </p:spPr>
          <p:txBody>
            <a:bodyPr lIns="72000" tIns="72000" rIns="72000" bIns="72000" rtlCol="0" anchor="t" anchorCtr="0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</a:pPr>
              <a:endParaRPr lang="ko-KR" altLang="en-US" sz="1300" kern="0" dirty="0" smtClean="0">
                <a:solidFill>
                  <a:srgbClr val="000000"/>
                </a:solidFill>
                <a:ea typeface="맑은 고딕" pitchFamily="50" charset="-127"/>
              </a:endParaRPr>
            </a:p>
          </p:txBody>
        </p:sp>
        <p:sp>
          <p:nvSpPr>
            <p:cNvPr id="69" name="Rectangle 14"/>
            <p:cNvSpPr>
              <a:spLocks noChangeArrowheads="1"/>
            </p:cNvSpPr>
            <p:nvPr/>
          </p:nvSpPr>
          <p:spPr bwMode="auto">
            <a:xfrm>
              <a:off x="4436371" y="5509908"/>
              <a:ext cx="4221573" cy="28417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72000" rIns="36000" anchor="t" anchorCtr="0"/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defRPr/>
              </a:pPr>
              <a:r>
                <a:rPr lang="en-US" altLang="ko-KR" sz="1300" b="1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“</a:t>
              </a:r>
              <a:r>
                <a:rPr lang="ko-KR" altLang="en-US" sz="1400" b="1" kern="0" dirty="0">
                  <a:solidFill>
                    <a:srgbClr val="000000"/>
                  </a:solidFill>
                  <a:ea typeface="맑은 고딕" pitchFamily="50" charset="-127"/>
                </a:rPr>
                <a:t>자체 </a:t>
              </a:r>
              <a:r>
                <a:rPr lang="en-US" altLang="ko-KR" sz="1400" b="1" kern="0" dirty="0">
                  <a:solidFill>
                    <a:srgbClr val="000000"/>
                  </a:solidFill>
                  <a:ea typeface="맑은 고딕" pitchFamily="50" charset="-127"/>
                </a:rPr>
                <a:t>SNS </a:t>
              </a:r>
              <a:r>
                <a:rPr lang="ko-KR" altLang="en-US" sz="1400" b="1" kern="0" dirty="0" smtClean="0">
                  <a:solidFill>
                    <a:srgbClr val="000000"/>
                  </a:solidFill>
                  <a:ea typeface="맑은 고딕" pitchFamily="50" charset="-127"/>
                </a:rPr>
                <a:t>팔로워</a:t>
              </a:r>
              <a:r>
                <a:rPr lang="ko-KR" altLang="en-US" sz="1400" b="1" kern="0" dirty="0">
                  <a:solidFill>
                    <a:srgbClr val="000000"/>
                  </a:solidFill>
                  <a:ea typeface="맑은 고딕" pitchFamily="50" charset="-127"/>
                </a:rPr>
                <a:t> </a:t>
              </a:r>
              <a:r>
                <a:rPr lang="ko-KR" altLang="en-US" sz="1400" b="1" kern="0" dirty="0" smtClean="0">
                  <a:solidFill>
                    <a:srgbClr val="000000"/>
                  </a:solidFill>
                  <a:ea typeface="맑은 고딕" pitchFamily="50" charset="-127"/>
                </a:rPr>
                <a:t>본격 확대</a:t>
              </a:r>
              <a:r>
                <a:rPr lang="en-US" altLang="ko-KR" sz="1400" b="1" kern="0" dirty="0" smtClean="0">
                  <a:solidFill>
                    <a:srgbClr val="000000"/>
                  </a:solidFill>
                  <a:ea typeface="맑은 고딕" pitchFamily="50" charset="-127"/>
                </a:rPr>
                <a:t>”</a:t>
              </a:r>
              <a:r>
                <a:rPr lang="en-US" altLang="ko-KR" sz="1400" kern="0" dirty="0" smtClean="0">
                  <a:solidFill>
                    <a:srgbClr val="000000"/>
                  </a:solidFill>
                  <a:ea typeface="맑은 고딕" pitchFamily="50" charset="-127"/>
                </a:rPr>
                <a:t/>
              </a:r>
              <a:br>
                <a:rPr lang="en-US" altLang="ko-KR" sz="1400" kern="0" dirty="0" smtClean="0">
                  <a:solidFill>
                    <a:srgbClr val="000000"/>
                  </a:solidFill>
                  <a:ea typeface="맑은 고딕" pitchFamily="50" charset="-127"/>
                </a:rPr>
              </a:br>
              <a:r>
                <a:rPr lang="en-US" altLang="ko-KR" sz="1400" kern="0" dirty="0" smtClean="0">
                  <a:solidFill>
                    <a:srgbClr val="000000"/>
                  </a:solidFill>
                  <a:ea typeface="맑은 고딕" pitchFamily="50" charset="-127"/>
                </a:rPr>
                <a:t>- </a:t>
              </a:r>
              <a:r>
                <a:rPr lang="ko-KR" altLang="en-US" sz="1400" kern="0" dirty="0" smtClean="0">
                  <a:solidFill>
                    <a:srgbClr val="000000"/>
                  </a:solidFill>
                  <a:ea typeface="맑은 고딕" pitchFamily="50" charset="-127"/>
                </a:rPr>
                <a:t>카카오스토리 </a:t>
              </a:r>
              <a:r>
                <a:rPr lang="en-US" altLang="ko-KR" sz="1400" kern="0" dirty="0">
                  <a:solidFill>
                    <a:srgbClr val="000000"/>
                  </a:solidFill>
                  <a:ea typeface="맑은 고딕" pitchFamily="50" charset="-127"/>
                </a:rPr>
                <a:t>8</a:t>
              </a:r>
              <a:r>
                <a:rPr lang="en-US" altLang="ko-KR" sz="1400" kern="0" dirty="0" smtClean="0">
                  <a:solidFill>
                    <a:srgbClr val="000000"/>
                  </a:solidFill>
                  <a:ea typeface="맑은 고딕" pitchFamily="50" charset="-127"/>
                </a:rPr>
                <a:t>0</a:t>
              </a:r>
              <a:r>
                <a:rPr lang="ko-KR" altLang="en-US" sz="1400" kern="0" dirty="0">
                  <a:solidFill>
                    <a:srgbClr val="000000"/>
                  </a:solidFill>
                  <a:ea typeface="맑은 고딕" pitchFamily="50" charset="-127"/>
                </a:rPr>
                <a:t>만</a:t>
              </a:r>
              <a:r>
                <a:rPr lang="en-US" altLang="ko-KR" sz="1400" kern="0" dirty="0">
                  <a:solidFill>
                    <a:srgbClr val="000000"/>
                  </a:solidFill>
                  <a:ea typeface="맑은 고딕" pitchFamily="50" charset="-127"/>
                </a:rPr>
                <a:t>, </a:t>
              </a:r>
              <a:r>
                <a:rPr lang="ko-KR" altLang="en-US" sz="1400" kern="0" dirty="0">
                  <a:solidFill>
                    <a:srgbClr val="000000"/>
                  </a:solidFill>
                  <a:ea typeface="맑은 고딕" pitchFamily="50" charset="-127"/>
                </a:rPr>
                <a:t>페이스북 </a:t>
              </a:r>
              <a:r>
                <a:rPr lang="en-US" altLang="ko-KR" sz="1400" kern="0" dirty="0">
                  <a:solidFill>
                    <a:srgbClr val="000000"/>
                  </a:solidFill>
                  <a:ea typeface="맑은 고딕" pitchFamily="50" charset="-127"/>
                </a:rPr>
                <a:t>40</a:t>
              </a:r>
              <a:r>
                <a:rPr lang="ko-KR" altLang="en-US" sz="1400" kern="0" dirty="0">
                  <a:solidFill>
                    <a:srgbClr val="000000"/>
                  </a:solidFill>
                  <a:ea typeface="맑은 고딕" pitchFamily="50" charset="-127"/>
                </a:rPr>
                <a:t>만</a:t>
              </a:r>
              <a:r>
                <a:rPr lang="en-US" altLang="ko-KR" sz="1400" kern="0" dirty="0" smtClean="0">
                  <a:solidFill>
                    <a:srgbClr val="000000"/>
                  </a:solidFill>
                  <a:ea typeface="맑은 고딕" pitchFamily="50" charset="-127"/>
                </a:rPr>
                <a:t>, </a:t>
              </a:r>
              <a:r>
                <a:rPr lang="ko-KR" altLang="en-US" sz="1400" kern="0" dirty="0" err="1" smtClean="0">
                  <a:solidFill>
                    <a:srgbClr val="000000"/>
                  </a:solidFill>
                  <a:ea typeface="맑은 고딕" pitchFamily="50" charset="-127"/>
                </a:rPr>
                <a:t>인스타</a:t>
              </a:r>
              <a:r>
                <a:rPr lang="ko-KR" altLang="en-US" sz="1400" kern="0" dirty="0" smtClean="0">
                  <a:solidFill>
                    <a:srgbClr val="000000"/>
                  </a:solidFill>
                  <a:ea typeface="맑은 고딕" pitchFamily="50" charset="-127"/>
                </a:rPr>
                <a:t> </a:t>
              </a:r>
              <a:r>
                <a:rPr lang="en-US" altLang="ko-KR" sz="1400" kern="0" dirty="0" smtClean="0">
                  <a:solidFill>
                    <a:srgbClr val="000000"/>
                  </a:solidFill>
                  <a:ea typeface="맑은 고딕" pitchFamily="50" charset="-127"/>
                </a:rPr>
                <a:t>24</a:t>
              </a:r>
              <a:r>
                <a:rPr lang="ko-KR" altLang="en-US" sz="1400" kern="0" dirty="0" smtClean="0">
                  <a:solidFill>
                    <a:srgbClr val="000000"/>
                  </a:solidFill>
                  <a:ea typeface="맑은 고딕" pitchFamily="50" charset="-127"/>
                </a:rPr>
                <a:t>만</a:t>
              </a:r>
            </a:p>
          </p:txBody>
        </p:sp>
      </p:grpSp>
      <p:sp>
        <p:nvSpPr>
          <p:cNvPr id="32" name="타원 31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 smtClean="0">
                <a:latin typeface="+mn-ea"/>
                <a:cs typeface="Arial" pitchFamily="34" charset="0"/>
              </a:rPr>
              <a:t>2</a:t>
            </a:r>
            <a:endParaRPr lang="ko-KR" altLang="en-US" sz="1700" b="1" dirty="0">
              <a:latin typeface="+mn-ea"/>
              <a:cs typeface="Arial" pitchFamily="34" charset="0"/>
            </a:endParaRP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1094010" y="4428234"/>
            <a:ext cx="3801960" cy="4548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marL="174625" lvl="0" indent="-174625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자체 운영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SNS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채널 확대</a:t>
            </a:r>
            <a:endParaRPr lang="ko-KR" altLang="en-US" sz="1400" b="1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7883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  Business Origin</a:t>
            </a:r>
            <a:r>
              <a:rPr lang="ko-KR" altLang="en-US" dirty="0" smtClean="0"/>
              <a:t> </a:t>
            </a:r>
            <a:r>
              <a:rPr lang="ko-KR" altLang="en-US" dirty="0"/>
              <a:t>“커뮤니티”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57158" y="1231816"/>
            <a:ext cx="8762999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endParaRPr lang="en-US" sz="1400" dirty="0">
              <a:latin typeface="Georgia" pitchFamily="18" charset="0"/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="" xmlns:a16="http://schemas.microsoft.com/office/drawing/2014/main" id="{4AA717CE-495C-4F9D-89AB-4344DC3CA7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 smtClean="0"/>
              <a:t>Source</a:t>
            </a:r>
            <a:r>
              <a:rPr lang="en-US" altLang="ko-KR" dirty="0"/>
              <a:t>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smtClean="0">
                <a:latin typeface="Georgia" pitchFamily="18" charset="0"/>
              </a:rPr>
              <a:t>커뮤니티 성공 </a:t>
            </a:r>
            <a:r>
              <a:rPr lang="en-US" altLang="ko-KR" sz="1400" dirty="0" smtClean="0">
                <a:latin typeface="Georgia" pitchFamily="18" charset="0"/>
              </a:rPr>
              <a:t>DNA</a:t>
            </a:r>
            <a:r>
              <a:rPr lang="ko-KR" altLang="en-US" sz="1400" dirty="0" smtClean="0">
                <a:latin typeface="Georgia" pitchFamily="18" charset="0"/>
              </a:rPr>
              <a:t>을</a:t>
            </a:r>
            <a:r>
              <a:rPr lang="en-US" altLang="ko-KR" sz="1400" dirty="0" smtClean="0">
                <a:latin typeface="Georgia" pitchFamily="18" charset="0"/>
              </a:rPr>
              <a:t> </a:t>
            </a:r>
            <a:r>
              <a:rPr lang="ko-KR" altLang="en-US" sz="1400" dirty="0" smtClean="0">
                <a:latin typeface="Georgia" pitchFamily="18" charset="0"/>
              </a:rPr>
              <a:t>기반으로 본격적 사업화를 추진하고 있으며</a:t>
            </a:r>
            <a:r>
              <a:rPr lang="en-US" altLang="ko-KR" sz="1400" dirty="0" smtClean="0">
                <a:latin typeface="Georgia" pitchFamily="18" charset="0"/>
              </a:rPr>
              <a:t>, </a:t>
            </a:r>
            <a:r>
              <a:rPr lang="ko-KR" altLang="en-US" sz="1400" dirty="0">
                <a:latin typeface="Georgia" pitchFamily="18" charset="0"/>
              </a:rPr>
              <a:t>이의 핵심은 </a:t>
            </a:r>
            <a:r>
              <a:rPr lang="ko-KR" altLang="en-US" sz="1400" dirty="0" smtClean="0">
                <a:latin typeface="Georgia" pitchFamily="18" charset="0"/>
              </a:rPr>
              <a:t>커뮤니티를 통한 </a:t>
            </a:r>
            <a:r>
              <a:rPr lang="ko-KR" altLang="en-US" sz="1400" dirty="0">
                <a:latin typeface="Georgia" pitchFamily="18" charset="0"/>
              </a:rPr>
              <a:t>‘</a:t>
            </a:r>
            <a:r>
              <a:rPr lang="ko-KR" altLang="en-US" sz="1400" dirty="0" err="1">
                <a:latin typeface="Georgia" pitchFamily="18" charset="0"/>
              </a:rPr>
              <a:t>경험’의</a:t>
            </a:r>
            <a:r>
              <a:rPr lang="ko-KR" altLang="en-US" sz="1400" dirty="0">
                <a:latin typeface="Georgia" pitchFamily="18" charset="0"/>
              </a:rPr>
              <a:t> 컨텐츠化 및 </a:t>
            </a:r>
            <a:r>
              <a:rPr lang="ko-KR" altLang="en-US" sz="1400" dirty="0" smtClean="0">
                <a:latin typeface="Georgia" pitchFamily="18" charset="0"/>
              </a:rPr>
              <a:t>이를 기반으로 관련 제품</a:t>
            </a:r>
            <a:r>
              <a:rPr lang="en-US" altLang="ko-KR" sz="1400" dirty="0" smtClean="0">
                <a:latin typeface="Georgia" pitchFamily="18" charset="0"/>
              </a:rPr>
              <a:t> </a:t>
            </a:r>
            <a:r>
              <a:rPr lang="ko-KR" altLang="en-US" sz="1400" dirty="0" smtClean="0">
                <a:latin typeface="Georgia" pitchFamily="18" charset="0"/>
              </a:rPr>
              <a:t>및 서비스를 제공하는 것임</a:t>
            </a:r>
            <a:endParaRPr lang="ko-KR" altLang="en-US" sz="1400" dirty="0">
              <a:latin typeface="Georgia" pitchFamily="18" charset="0"/>
            </a:endParaRPr>
          </a:p>
          <a:p>
            <a:pPr indent="-274320">
              <a:spcAft>
                <a:spcPts val="900"/>
              </a:spcAft>
            </a:pPr>
            <a:r>
              <a:rPr lang="ko-KR" altLang="en-US" sz="1400" dirty="0" smtClean="0">
                <a:latin typeface="Georgia" pitchFamily="18" charset="0"/>
              </a:rPr>
              <a:t>  </a:t>
            </a:r>
            <a:endParaRPr lang="en-US" altLang="ko-KR" sz="1400" dirty="0">
              <a:latin typeface="Georgia" pitchFamily="18" charset="0"/>
            </a:endParaRPr>
          </a:p>
        </p:txBody>
      </p:sp>
      <p:sp>
        <p:nvSpPr>
          <p:cNvPr id="6" name="내용 개체 틀 5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커뮤니티 기반 차별적 사업모델 구축</a:t>
            </a:r>
            <a:endParaRPr lang="ko-KR" altLang="en-US" dirty="0"/>
          </a:p>
        </p:txBody>
      </p:sp>
      <p:sp>
        <p:nvSpPr>
          <p:cNvPr id="3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7884368" y="6237312"/>
            <a:ext cx="712800" cy="262800"/>
          </a:xfrm>
        </p:spPr>
        <p:txBody>
          <a:bodyPr/>
          <a:lstStyle/>
          <a:p>
            <a:fld id="{B68BC80C-B1D2-42DA-B465-5CACDB325AFD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pSp>
        <p:nvGrpSpPr>
          <p:cNvPr id="38" name="그룹 37"/>
          <p:cNvGrpSpPr/>
          <p:nvPr/>
        </p:nvGrpSpPr>
        <p:grpSpPr>
          <a:xfrm>
            <a:off x="251520" y="1934816"/>
            <a:ext cx="4176464" cy="288336"/>
            <a:chOff x="320432" y="1934816"/>
            <a:chExt cx="8356024" cy="288336"/>
          </a:xfrm>
        </p:grpSpPr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38F579A4-A51D-4AC4-A3E2-E4C51278C9BD}"/>
                </a:ext>
              </a:extLst>
            </p:cNvPr>
            <p:cNvSpPr txBox="1"/>
            <p:nvPr/>
          </p:nvSpPr>
          <p:spPr>
            <a:xfrm>
              <a:off x="355766" y="1934816"/>
              <a:ext cx="8320690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ko-KR" altLang="en-US" sz="1200" b="1" dirty="0" smtClean="0">
                  <a:latin typeface="Georgia" pitchFamily="18" charset="0"/>
                </a:rPr>
                <a:t>사업 전략</a:t>
              </a:r>
              <a:r>
                <a:rPr lang="en-US" altLang="ko-KR" sz="1200" b="1" dirty="0" smtClean="0">
                  <a:latin typeface="Georgia" pitchFamily="18" charset="0"/>
                </a:rPr>
                <a:t>: “</a:t>
              </a:r>
              <a:r>
                <a:rPr lang="ko-KR" altLang="en-US" sz="1200" b="1" dirty="0" smtClean="0">
                  <a:latin typeface="Georgia" pitchFamily="18" charset="0"/>
                </a:rPr>
                <a:t>커뮤니티</a:t>
              </a:r>
              <a:r>
                <a:rPr lang="en-US" altLang="ko-KR" sz="1200" b="1" dirty="0">
                  <a:latin typeface="Georgia" pitchFamily="18" charset="0"/>
                </a:rPr>
                <a:t> </a:t>
              </a:r>
              <a:r>
                <a:rPr lang="ko-KR" altLang="en-US" sz="1200" b="1" dirty="0" smtClean="0">
                  <a:latin typeface="Georgia" pitchFamily="18" charset="0"/>
                </a:rPr>
                <a:t>기반 차별적 사업모델</a:t>
              </a:r>
              <a:r>
                <a:rPr lang="en-US" altLang="ko-KR" sz="1200" b="1" dirty="0" smtClean="0">
                  <a:latin typeface="Georgia" pitchFamily="18" charset="0"/>
                </a:rPr>
                <a:t>”</a:t>
              </a:r>
              <a:endParaRPr lang="ko-KR" altLang="en-US" sz="1200" b="1" dirty="0">
                <a:latin typeface="Georgia" pitchFamily="18" charset="0"/>
              </a:endParaRPr>
            </a:p>
          </p:txBody>
        </p:sp>
        <p:cxnSp>
          <p:nvCxnSpPr>
            <p:cNvPr id="45" name="Straight Connector 11">
              <a:extLst>
                <a:ext uri="{FF2B5EF4-FFF2-40B4-BE49-F238E27FC236}">
                  <a16:creationId xmlns="" xmlns:a16="http://schemas.microsoft.com/office/drawing/2014/main" id="{94C59EF6-00E7-4479-BCC5-E076344CDB87}"/>
                </a:ext>
              </a:extLst>
            </p:cNvPr>
            <p:cNvCxnSpPr/>
            <p:nvPr/>
          </p:nvCxnSpPr>
          <p:spPr>
            <a:xfrm>
              <a:off x="320432" y="2223152"/>
              <a:ext cx="8356024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789060" y="2958812"/>
            <a:ext cx="2736304" cy="3314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200" dirty="0" smtClean="0">
                <a:latin typeface="Georgia" pitchFamily="18" charset="0"/>
              </a:rPr>
              <a:t> </a:t>
            </a:r>
            <a:r>
              <a:rPr lang="en-US" altLang="ko-KR" sz="1200" dirty="0" smtClean="0">
                <a:latin typeface="Georgia" pitchFamily="18" charset="0"/>
              </a:rPr>
              <a:t>‘</a:t>
            </a:r>
            <a:r>
              <a:rPr lang="ko-KR" altLang="en-US" sz="1200" dirty="0" smtClean="0">
                <a:latin typeface="Georgia" pitchFamily="18" charset="0"/>
              </a:rPr>
              <a:t>검증된 </a:t>
            </a:r>
            <a:r>
              <a:rPr lang="en-US" altLang="ko-KR" sz="1200" dirty="0" smtClean="0">
                <a:latin typeface="Georgia" pitchFamily="18" charset="0"/>
              </a:rPr>
              <a:t>Community’ </a:t>
            </a:r>
            <a:r>
              <a:rPr lang="ko-KR" altLang="en-US" sz="1200" dirty="0" smtClean="0">
                <a:latin typeface="Georgia" pitchFamily="18" charset="0"/>
              </a:rPr>
              <a:t>운영 역량</a:t>
            </a:r>
            <a:r>
              <a:rPr lang="en-US" altLang="ko-KR" sz="1200" dirty="0" smtClean="0">
                <a:latin typeface="Georgia" pitchFamily="18" charset="0"/>
              </a:rPr>
              <a:t/>
            </a:r>
            <a:br>
              <a:rPr lang="en-US" altLang="ko-KR" sz="1200" dirty="0" smtClean="0">
                <a:latin typeface="Georgia" pitchFamily="18" charset="0"/>
              </a:rPr>
            </a:br>
            <a:r>
              <a:rPr lang="en-US" altLang="ko-KR" sz="1200" b="1" dirty="0" smtClean="0">
                <a:latin typeface="Georgia" pitchFamily="18" charset="0"/>
              </a:rPr>
              <a:t>(‘</a:t>
            </a:r>
            <a:r>
              <a:rPr lang="ko-KR" altLang="en-US" sz="1200" b="1" dirty="0" smtClean="0">
                <a:latin typeface="Georgia" pitchFamily="18" charset="0"/>
              </a:rPr>
              <a:t>사용자 확보</a:t>
            </a:r>
            <a:r>
              <a:rPr lang="en-US" altLang="ko-KR" sz="1200" b="1" dirty="0" smtClean="0">
                <a:latin typeface="Georgia" pitchFamily="18" charset="0"/>
              </a:rPr>
              <a:t>’)</a:t>
            </a:r>
            <a:endParaRPr lang="ko-KR" altLang="en-US" sz="1200" b="1" dirty="0" smtClean="0">
              <a:latin typeface="Georgia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86027" y="4100531"/>
            <a:ext cx="1003028" cy="3314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r">
              <a:spcAft>
                <a:spcPts val="900"/>
              </a:spcAft>
            </a:pPr>
            <a:r>
              <a:rPr lang="en-US" altLang="ko-KR" sz="1200" dirty="0" smtClean="0">
                <a:latin typeface="Georgia" pitchFamily="18" charset="0"/>
              </a:rPr>
              <a:t>Active </a:t>
            </a:r>
            <a:r>
              <a:rPr lang="ko-KR" altLang="en-US" sz="1200" dirty="0" smtClean="0">
                <a:latin typeface="Georgia" pitchFamily="18" charset="0"/>
              </a:rPr>
              <a:t>사용자 </a:t>
            </a:r>
            <a:r>
              <a:rPr lang="en-US" altLang="ko-KR" sz="1200" dirty="0" smtClean="0">
                <a:latin typeface="Georgia" pitchFamily="18" charset="0"/>
              </a:rPr>
              <a:t>‘</a:t>
            </a:r>
            <a:r>
              <a:rPr lang="ko-KR" altLang="en-US" sz="1200" dirty="0" smtClean="0">
                <a:latin typeface="Georgia" pitchFamily="18" charset="0"/>
              </a:rPr>
              <a:t>경험</a:t>
            </a:r>
            <a:r>
              <a:rPr lang="en-US" altLang="ko-KR" sz="1200" dirty="0" smtClean="0">
                <a:latin typeface="Georgia" pitchFamily="18" charset="0"/>
              </a:rPr>
              <a:t>’</a:t>
            </a:r>
            <a:r>
              <a:rPr lang="ko-KR" altLang="en-US" sz="1200" dirty="0" smtClean="0">
                <a:latin typeface="Georgia" pitchFamily="18" charset="0"/>
              </a:rPr>
              <a:t>의</a:t>
            </a:r>
            <a:r>
              <a:rPr lang="en-US" altLang="ko-KR" sz="1200" dirty="0" smtClean="0">
                <a:latin typeface="Georgia" pitchFamily="18" charset="0"/>
              </a:rPr>
              <a:t/>
            </a:r>
            <a:br>
              <a:rPr lang="en-US" altLang="ko-KR" sz="1200" dirty="0" smtClean="0">
                <a:latin typeface="Georgia" pitchFamily="18" charset="0"/>
              </a:rPr>
            </a:br>
            <a:r>
              <a:rPr lang="ko-KR" altLang="en-US" sz="1200" dirty="0" err="1" smtClean="0">
                <a:latin typeface="Georgia" pitchFamily="18" charset="0"/>
              </a:rPr>
              <a:t>컨텐츠화</a:t>
            </a:r>
            <a:r>
              <a:rPr lang="en-US" altLang="ko-KR" sz="1200" dirty="0" smtClean="0">
                <a:latin typeface="Georgia" pitchFamily="18" charset="0"/>
              </a:rPr>
              <a:t/>
            </a:r>
            <a:br>
              <a:rPr lang="en-US" altLang="ko-KR" sz="1200" dirty="0" smtClean="0">
                <a:latin typeface="Georgia" pitchFamily="18" charset="0"/>
              </a:rPr>
            </a:br>
            <a:r>
              <a:rPr lang="en-US" altLang="ko-KR" sz="1200" b="1" dirty="0" smtClean="0">
                <a:latin typeface="Georgia" pitchFamily="18" charset="0"/>
              </a:rPr>
              <a:t>(“</a:t>
            </a:r>
            <a:r>
              <a:rPr lang="ko-KR" altLang="en-US" sz="1200" b="1" dirty="0" smtClean="0">
                <a:latin typeface="Georgia" pitchFamily="18" charset="0"/>
              </a:rPr>
              <a:t>경험 공유</a:t>
            </a:r>
            <a:r>
              <a:rPr lang="en-US" altLang="ko-KR" sz="1200" b="1" dirty="0" smtClean="0">
                <a:latin typeface="Georgia" pitchFamily="18" charset="0"/>
              </a:rPr>
              <a:t>”)</a:t>
            </a:r>
            <a:endParaRPr lang="ko-KR" altLang="en-US" sz="1200" b="1" dirty="0" smtClean="0">
              <a:latin typeface="Georgia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119204" y="4100531"/>
            <a:ext cx="1174922" cy="33145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200" dirty="0" smtClean="0">
                <a:latin typeface="Georgia" pitchFamily="18" charset="0"/>
              </a:rPr>
              <a:t>Community </a:t>
            </a:r>
            <a:r>
              <a:rPr lang="ko-KR" altLang="en-US" sz="1200" dirty="0" smtClean="0">
                <a:latin typeface="Georgia" pitchFamily="18" charset="0"/>
              </a:rPr>
              <a:t>및 컨텐츠 기반  </a:t>
            </a:r>
            <a:r>
              <a:rPr lang="en-US" altLang="ko-KR" sz="1200" dirty="0" smtClean="0">
                <a:latin typeface="Georgia" pitchFamily="18" charset="0"/>
              </a:rPr>
              <a:t>Service</a:t>
            </a:r>
            <a:br>
              <a:rPr lang="en-US" altLang="ko-KR" sz="1200" dirty="0" smtClean="0">
                <a:latin typeface="Georgia" pitchFamily="18" charset="0"/>
              </a:rPr>
            </a:br>
            <a:r>
              <a:rPr lang="en-US" altLang="ko-KR" sz="1200" b="1" dirty="0" smtClean="0">
                <a:latin typeface="Georgia" pitchFamily="18" charset="0"/>
              </a:rPr>
              <a:t>(“</a:t>
            </a:r>
            <a:r>
              <a:rPr lang="ko-KR" altLang="en-US" sz="1200" b="1" dirty="0" err="1" smtClean="0">
                <a:latin typeface="Georgia" pitchFamily="18" charset="0"/>
              </a:rPr>
              <a:t>수익원천</a:t>
            </a:r>
            <a:r>
              <a:rPr lang="en-US" altLang="ko-KR" sz="1200" b="1" dirty="0" smtClean="0">
                <a:latin typeface="Georgia" pitchFamily="18" charset="0"/>
              </a:rPr>
              <a:t>”)</a:t>
            </a:r>
            <a:endParaRPr lang="ko-KR" altLang="en-US" sz="1200" b="1" dirty="0" smtClean="0">
              <a:latin typeface="Georgia" pitchFamily="18" charset="0"/>
            </a:endParaRPr>
          </a:p>
        </p:txBody>
      </p:sp>
      <p:sp>
        <p:nvSpPr>
          <p:cNvPr id="51" name="이등변 삼각형 50"/>
          <p:cNvSpPr/>
          <p:nvPr/>
        </p:nvSpPr>
        <p:spPr bwMode="auto">
          <a:xfrm rot="10800000">
            <a:off x="1023674" y="5148079"/>
            <a:ext cx="2364184" cy="115415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68337" y="2365814"/>
            <a:ext cx="3918579" cy="47430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300" b="1" dirty="0" smtClean="0">
                <a:latin typeface="Georgia" pitchFamily="18" charset="0"/>
              </a:rPr>
              <a:t>커뮤니티 통한 </a:t>
            </a:r>
            <a:r>
              <a:rPr lang="en-US" altLang="ko-KR" sz="1300" b="1" dirty="0" smtClean="0">
                <a:latin typeface="Georgia" pitchFamily="18" charset="0"/>
              </a:rPr>
              <a:t>‘</a:t>
            </a:r>
            <a:r>
              <a:rPr lang="ko-KR" altLang="en-US" sz="1300" b="1" dirty="0" smtClean="0">
                <a:latin typeface="Georgia" pitchFamily="18" charset="0"/>
              </a:rPr>
              <a:t>경험</a:t>
            </a:r>
            <a:r>
              <a:rPr lang="en-US" altLang="ko-KR" sz="1300" b="1" dirty="0" smtClean="0">
                <a:latin typeface="Georgia" pitchFamily="18" charset="0"/>
              </a:rPr>
              <a:t>’</a:t>
            </a:r>
            <a:r>
              <a:rPr lang="ko-KR" altLang="en-US" sz="1300" b="1" dirty="0" smtClean="0">
                <a:latin typeface="Georgia" pitchFamily="18" charset="0"/>
              </a:rPr>
              <a:t>의 컨텐츠化</a:t>
            </a:r>
            <a:r>
              <a:rPr lang="en-US" altLang="ko-KR" sz="1300" b="1" dirty="0" smtClean="0">
                <a:latin typeface="Georgia" pitchFamily="18" charset="0"/>
              </a:rPr>
              <a:t> </a:t>
            </a:r>
            <a:r>
              <a:rPr lang="ko-KR" altLang="en-US" sz="1300" b="1" dirty="0" smtClean="0">
                <a:latin typeface="Georgia" pitchFamily="18" charset="0"/>
              </a:rPr>
              <a:t>및 이에 기반한</a:t>
            </a:r>
            <a:r>
              <a:rPr lang="en-US" altLang="ko-KR" sz="1300" b="1" dirty="0" smtClean="0">
                <a:latin typeface="Georgia" pitchFamily="18" charset="0"/>
              </a:rPr>
              <a:t/>
            </a:r>
            <a:br>
              <a:rPr lang="en-US" altLang="ko-KR" sz="1300" b="1" dirty="0" smtClean="0">
                <a:latin typeface="Georgia" pitchFamily="18" charset="0"/>
              </a:rPr>
            </a:br>
            <a:r>
              <a:rPr lang="ko-KR" altLang="en-US" sz="1300" b="1" dirty="0" smtClean="0">
                <a:latin typeface="Georgia" pitchFamily="18" charset="0"/>
              </a:rPr>
              <a:t>제품</a:t>
            </a:r>
            <a:r>
              <a:rPr lang="en-US" altLang="ko-KR" sz="1300" b="1" dirty="0" smtClean="0">
                <a:latin typeface="Georgia" pitchFamily="18" charset="0"/>
              </a:rPr>
              <a:t>/</a:t>
            </a:r>
            <a:r>
              <a:rPr lang="ko-KR" altLang="en-US" sz="1300" b="1" dirty="0" smtClean="0">
                <a:latin typeface="Georgia" pitchFamily="18" charset="0"/>
              </a:rPr>
              <a:t>서비스 제공</a:t>
            </a:r>
          </a:p>
        </p:txBody>
      </p:sp>
      <p:sp>
        <p:nvSpPr>
          <p:cNvPr id="8" name="타원 7"/>
          <p:cNvSpPr/>
          <p:nvPr/>
        </p:nvSpPr>
        <p:spPr bwMode="auto">
          <a:xfrm>
            <a:off x="1668984" y="3324433"/>
            <a:ext cx="914400" cy="914400"/>
          </a:xfrm>
          <a:prstGeom prst="ellipse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 w="12700">
            <a:noFill/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0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53" name="타원 52"/>
          <p:cNvSpPr/>
          <p:nvPr/>
        </p:nvSpPr>
        <p:spPr bwMode="auto">
          <a:xfrm>
            <a:off x="1291365" y="3850788"/>
            <a:ext cx="914400" cy="914400"/>
          </a:xfrm>
          <a:prstGeom prst="ellipse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 w="12700">
            <a:noFill/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54" name="타원 53"/>
          <p:cNvSpPr/>
          <p:nvPr/>
        </p:nvSpPr>
        <p:spPr bwMode="auto">
          <a:xfrm>
            <a:off x="2046604" y="3850788"/>
            <a:ext cx="914400" cy="914400"/>
          </a:xfrm>
          <a:prstGeom prst="ellipse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 w="12700">
            <a:noFill/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55" name="타원 54"/>
          <p:cNvSpPr/>
          <p:nvPr/>
        </p:nvSpPr>
        <p:spPr bwMode="auto">
          <a:xfrm>
            <a:off x="1362268" y="3405283"/>
            <a:ext cx="1558947" cy="394369"/>
          </a:xfrm>
          <a:prstGeom prst="ellipse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n-US" altLang="ko-KR" sz="1200" b="1" kern="0" dirty="0" smtClean="0">
                <a:solidFill>
                  <a:srgbClr val="FF0000"/>
                </a:solidFill>
                <a:ea typeface="맑은 고딕" pitchFamily="50" charset="-127"/>
              </a:rPr>
              <a:t>Community</a:t>
            </a:r>
            <a:endParaRPr lang="ko-KR" altLang="en-US" sz="1200" b="1" kern="0" dirty="0" smtClean="0">
              <a:solidFill>
                <a:srgbClr val="FF0000"/>
              </a:solidFill>
              <a:ea typeface="맑은 고딕" pitchFamily="50" charset="-127"/>
            </a:endParaRPr>
          </a:p>
        </p:txBody>
      </p:sp>
      <p:sp>
        <p:nvSpPr>
          <p:cNvPr id="56" name="타원 55"/>
          <p:cNvSpPr/>
          <p:nvPr/>
        </p:nvSpPr>
        <p:spPr bwMode="auto">
          <a:xfrm>
            <a:off x="874034" y="4133077"/>
            <a:ext cx="1558947" cy="394369"/>
          </a:xfrm>
          <a:prstGeom prst="ellipse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n-US" altLang="ko-KR" sz="1200" b="1" kern="0" dirty="0" smtClean="0">
                <a:solidFill>
                  <a:srgbClr val="FF0000"/>
                </a:solidFill>
                <a:ea typeface="맑은 고딕" pitchFamily="50" charset="-127"/>
              </a:rPr>
              <a:t>Content</a:t>
            </a:r>
            <a:endParaRPr lang="ko-KR" altLang="en-US" sz="1200" b="1" kern="0" dirty="0" smtClean="0">
              <a:solidFill>
                <a:srgbClr val="FF0000"/>
              </a:solidFill>
              <a:ea typeface="맑은 고딕" pitchFamily="50" charset="-127"/>
            </a:endParaRPr>
          </a:p>
        </p:txBody>
      </p:sp>
      <p:sp>
        <p:nvSpPr>
          <p:cNvPr id="57" name="타원 56"/>
          <p:cNvSpPr/>
          <p:nvPr/>
        </p:nvSpPr>
        <p:spPr bwMode="auto">
          <a:xfrm>
            <a:off x="1822423" y="4133077"/>
            <a:ext cx="1558947" cy="394369"/>
          </a:xfrm>
          <a:prstGeom prst="ellipse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n-US" altLang="ko-KR" sz="1200" b="1" kern="0" dirty="0" smtClean="0">
                <a:solidFill>
                  <a:srgbClr val="FF0000"/>
                </a:solidFill>
                <a:ea typeface="맑은 고딕" pitchFamily="50" charset="-127"/>
              </a:rPr>
              <a:t>Service</a:t>
            </a:r>
            <a:endParaRPr lang="ko-KR" altLang="en-US" sz="1200" b="1" kern="0" dirty="0" smtClean="0">
              <a:solidFill>
                <a:srgbClr val="FF0000"/>
              </a:solidFill>
              <a:ea typeface="맑은 고딕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38613" y="5433099"/>
            <a:ext cx="4090639" cy="45379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400" b="1" dirty="0">
                <a:solidFill>
                  <a:schemeClr val="tx2"/>
                </a:solidFill>
                <a:latin typeface="Georgia" pitchFamily="18" charset="0"/>
              </a:rPr>
              <a:t>사용자 실제 경험 중심</a:t>
            </a:r>
            <a:br>
              <a:rPr lang="ko-KR" altLang="en-US" sz="1400" b="1" dirty="0">
                <a:solidFill>
                  <a:schemeClr val="tx2"/>
                </a:solidFill>
                <a:latin typeface="Georgia" pitchFamily="18" charset="0"/>
              </a:rPr>
            </a:br>
            <a:r>
              <a:rPr lang="ko-KR" altLang="en-US" sz="1400" b="1" dirty="0">
                <a:solidFill>
                  <a:schemeClr val="tx2"/>
                </a:solidFill>
                <a:latin typeface="Georgia" pitchFamily="18" charset="0"/>
              </a:rPr>
              <a:t>컨텐츠의 공유</a:t>
            </a:r>
            <a:r>
              <a:rPr lang="en-US" altLang="ko-KR" sz="1400" b="1" dirty="0">
                <a:solidFill>
                  <a:schemeClr val="tx2"/>
                </a:solidFill>
                <a:latin typeface="Georgia" pitchFamily="18" charset="0"/>
              </a:rPr>
              <a:t>(Community) </a:t>
            </a:r>
            <a:r>
              <a:rPr lang="ko-KR" altLang="en-US" sz="1400" b="1" dirty="0">
                <a:solidFill>
                  <a:schemeClr val="tx2"/>
                </a:solidFill>
                <a:latin typeface="Georgia" pitchFamily="18" charset="0"/>
              </a:rPr>
              <a:t>및 이를 통한 거래</a:t>
            </a:r>
            <a:r>
              <a:rPr lang="en-US" altLang="ko-KR" sz="1400" b="1" dirty="0">
                <a:solidFill>
                  <a:schemeClr val="tx2"/>
                </a:solidFill>
                <a:latin typeface="Georgia" pitchFamily="18" charset="0"/>
              </a:rPr>
              <a:t>(Commerce &amp; </a:t>
            </a:r>
            <a:r>
              <a:rPr lang="ko-KR" altLang="en-US" sz="1400" b="1" dirty="0">
                <a:solidFill>
                  <a:schemeClr val="tx2"/>
                </a:solidFill>
                <a:latin typeface="Georgia" pitchFamily="18" charset="0"/>
              </a:rPr>
              <a:t>중개</a:t>
            </a:r>
            <a:r>
              <a:rPr lang="en-US" altLang="ko-KR" sz="1400" b="1" dirty="0">
                <a:solidFill>
                  <a:schemeClr val="tx2"/>
                </a:solidFill>
                <a:latin typeface="Georgia" pitchFamily="18" charset="0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39733" y="2399683"/>
            <a:ext cx="3574863" cy="2710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b="1" dirty="0" smtClean="0">
                <a:solidFill>
                  <a:schemeClr val="tx2"/>
                </a:solidFill>
                <a:latin typeface="Georgia" pitchFamily="18" charset="0"/>
              </a:rPr>
              <a:t>사용자로 하여금</a:t>
            </a:r>
            <a:r>
              <a:rPr lang="en-US" altLang="ko-KR" sz="1400" b="1" dirty="0" smtClean="0">
                <a:solidFill>
                  <a:schemeClr val="tx2"/>
                </a:solidFill>
                <a:latin typeface="Georgia" pitchFamily="18" charset="0"/>
              </a:rPr>
              <a:t>…</a:t>
            </a:r>
            <a:endParaRPr lang="ko-KR" altLang="en-US" sz="1400" b="1" dirty="0" smtClean="0">
              <a:solidFill>
                <a:schemeClr val="tx2"/>
              </a:solidFill>
              <a:latin typeface="Georgia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139733" y="2636912"/>
            <a:ext cx="3574863" cy="94847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400" dirty="0" smtClean="0">
                <a:latin typeface="Georgia" pitchFamily="18" charset="0"/>
              </a:rPr>
              <a:t>‘</a:t>
            </a:r>
            <a:r>
              <a:rPr lang="ko-KR" altLang="en-US" sz="1400" dirty="0" smtClean="0">
                <a:latin typeface="Georgia" pitchFamily="18" charset="0"/>
              </a:rPr>
              <a:t>이웃집을 구경하는 재미</a:t>
            </a:r>
            <a:r>
              <a:rPr lang="en-US" altLang="ko-KR" sz="1400" dirty="0" smtClean="0">
                <a:latin typeface="Georgia" pitchFamily="18" charset="0"/>
              </a:rPr>
              <a:t>’</a:t>
            </a:r>
          </a:p>
          <a:p>
            <a:pPr indent="-274320">
              <a:spcAft>
                <a:spcPts val="900"/>
              </a:spcAft>
            </a:pPr>
            <a:r>
              <a:rPr lang="en-US" altLang="ko-KR" sz="1400" dirty="0" smtClean="0">
                <a:latin typeface="Georgia" pitchFamily="18" charset="0"/>
              </a:rPr>
              <a:t>‘</a:t>
            </a:r>
            <a:r>
              <a:rPr lang="ko-KR" altLang="en-US" sz="1400" dirty="0" smtClean="0">
                <a:latin typeface="Georgia" pitchFamily="18" charset="0"/>
              </a:rPr>
              <a:t>정보 발견의 재미</a:t>
            </a:r>
            <a:r>
              <a:rPr lang="en-US" altLang="ko-KR" sz="1400" dirty="0" smtClean="0">
                <a:latin typeface="Georgia" pitchFamily="18" charset="0"/>
              </a:rPr>
              <a:t>‘</a:t>
            </a:r>
          </a:p>
          <a:p>
            <a:pPr indent="-274320">
              <a:spcAft>
                <a:spcPts val="900"/>
              </a:spcAft>
            </a:pPr>
            <a:r>
              <a:rPr lang="en-US" altLang="ko-KR" sz="1400" dirty="0" smtClean="0">
                <a:latin typeface="Georgia" pitchFamily="18" charset="0"/>
              </a:rPr>
              <a:t>‘</a:t>
            </a:r>
            <a:r>
              <a:rPr lang="ko-KR" altLang="en-US" sz="1400" dirty="0" smtClean="0">
                <a:latin typeface="Georgia" pitchFamily="18" charset="0"/>
              </a:rPr>
              <a:t>직접 참여</a:t>
            </a:r>
            <a:r>
              <a:rPr lang="en-US" altLang="ko-KR" sz="1400" dirty="0" smtClean="0">
                <a:latin typeface="Georgia" pitchFamily="18" charset="0"/>
              </a:rPr>
              <a:t>/</a:t>
            </a:r>
            <a:r>
              <a:rPr lang="ko-KR" altLang="en-US" sz="1400" dirty="0" err="1" smtClean="0">
                <a:latin typeface="Georgia" pitchFamily="18" charset="0"/>
              </a:rPr>
              <a:t>리워드</a:t>
            </a:r>
            <a:r>
              <a:rPr lang="ko-KR" altLang="en-US" sz="1400" dirty="0" smtClean="0">
                <a:latin typeface="Georgia" pitchFamily="18" charset="0"/>
              </a:rPr>
              <a:t> 받는 재미</a:t>
            </a:r>
            <a:r>
              <a:rPr lang="en-US" altLang="ko-KR" sz="1400" dirty="0" smtClean="0">
                <a:latin typeface="Georgia" pitchFamily="18" charset="0"/>
              </a:rPr>
              <a:t>‘</a:t>
            </a:r>
            <a:r>
              <a:rPr lang="ko-KR" altLang="en-US" sz="1400" dirty="0" smtClean="0">
                <a:latin typeface="Georgia" pitchFamily="18" charset="0"/>
              </a:rPr>
              <a:t>를 통해</a:t>
            </a:r>
            <a:r>
              <a:rPr lang="en-US" altLang="ko-KR" sz="1400" dirty="0" smtClean="0">
                <a:latin typeface="Georgia" pitchFamily="18" charset="0"/>
              </a:rPr>
              <a:t>…</a:t>
            </a:r>
            <a:endParaRPr lang="en-US" altLang="ko-KR" sz="1400" dirty="0">
              <a:latin typeface="Georgia" pitchFamily="18" charset="0"/>
            </a:endParaRPr>
          </a:p>
          <a:p>
            <a:pPr indent="-274320">
              <a:spcAft>
                <a:spcPts val="900"/>
              </a:spcAft>
            </a:pPr>
            <a:endParaRPr lang="ko-KR" altLang="en-US" sz="1100" dirty="0" smtClean="0">
              <a:latin typeface="Georgia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139733" y="3789040"/>
            <a:ext cx="3574863" cy="2710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b="1" dirty="0" smtClean="0">
                <a:solidFill>
                  <a:schemeClr val="tx2"/>
                </a:solidFill>
                <a:latin typeface="Georgia" pitchFamily="18" charset="0"/>
              </a:rPr>
              <a:t>집 꾸미는 </a:t>
            </a:r>
            <a:r>
              <a:rPr lang="en-US" altLang="ko-KR" sz="1400" b="1" dirty="0" smtClean="0">
                <a:solidFill>
                  <a:schemeClr val="tx2"/>
                </a:solidFill>
                <a:latin typeface="Georgia" pitchFamily="18" charset="0"/>
              </a:rPr>
              <a:t>“</a:t>
            </a:r>
            <a:r>
              <a:rPr lang="ko-KR" altLang="en-US" sz="1400" b="1" dirty="0" smtClean="0">
                <a:solidFill>
                  <a:schemeClr val="tx2"/>
                </a:solidFill>
                <a:latin typeface="Georgia" pitchFamily="18" charset="0"/>
              </a:rPr>
              <a:t>즐거움</a:t>
            </a:r>
            <a:r>
              <a:rPr lang="en-US" altLang="ko-KR" sz="1400" b="1" dirty="0" smtClean="0">
                <a:solidFill>
                  <a:schemeClr val="tx2"/>
                </a:solidFill>
                <a:latin typeface="Georgia" pitchFamily="18" charset="0"/>
              </a:rPr>
              <a:t>”</a:t>
            </a:r>
            <a:r>
              <a:rPr lang="ko-KR" altLang="en-US" sz="1400" b="1" dirty="0" smtClean="0">
                <a:solidFill>
                  <a:schemeClr val="tx2"/>
                </a:solidFill>
                <a:latin typeface="Georgia" pitchFamily="18" charset="0"/>
              </a:rPr>
              <a:t>을 제공함으로써</a:t>
            </a:r>
            <a:r>
              <a:rPr lang="en-US" altLang="ko-KR" sz="1400" b="1" dirty="0" smtClean="0">
                <a:solidFill>
                  <a:schemeClr val="tx2"/>
                </a:solidFill>
                <a:latin typeface="Georgia" pitchFamily="18" charset="0"/>
              </a:rPr>
              <a:t>…</a:t>
            </a:r>
            <a:endParaRPr lang="ko-KR" altLang="en-US" sz="1400" b="1" dirty="0" smtClean="0">
              <a:solidFill>
                <a:schemeClr val="tx2"/>
              </a:solidFill>
              <a:latin typeface="Georgia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139733" y="4406884"/>
            <a:ext cx="3574863" cy="2710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b="1" dirty="0" smtClean="0">
                <a:solidFill>
                  <a:schemeClr val="tx2"/>
                </a:solidFill>
                <a:latin typeface="Georgia" pitchFamily="18" charset="0"/>
              </a:rPr>
              <a:t>관련 제품 및 서비스 구매</a:t>
            </a:r>
            <a:r>
              <a:rPr lang="en-US" altLang="ko-KR" sz="1400" b="1" dirty="0" smtClean="0">
                <a:solidFill>
                  <a:schemeClr val="tx2"/>
                </a:solidFill>
                <a:latin typeface="Georgia" pitchFamily="18" charset="0"/>
              </a:rPr>
              <a:t>/</a:t>
            </a:r>
            <a:r>
              <a:rPr lang="ko-KR" altLang="en-US" sz="1400" b="1" dirty="0" err="1" smtClean="0">
                <a:solidFill>
                  <a:schemeClr val="tx2"/>
                </a:solidFill>
                <a:latin typeface="Georgia" pitchFamily="18" charset="0"/>
              </a:rPr>
              <a:t>재구매</a:t>
            </a:r>
            <a:r>
              <a:rPr lang="ko-KR" altLang="en-US" sz="1400" b="1" dirty="0" smtClean="0">
                <a:solidFill>
                  <a:schemeClr val="tx2"/>
                </a:solidFill>
                <a:latin typeface="Georgia" pitchFamily="18" charset="0"/>
              </a:rPr>
              <a:t> 유도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9733" y="4730475"/>
            <a:ext cx="3574863" cy="68344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smtClean="0">
                <a:latin typeface="Georgia" pitchFamily="18" charset="0"/>
              </a:rPr>
              <a:t>정보 발견 </a:t>
            </a:r>
            <a:r>
              <a:rPr lang="en-US" altLang="ko-KR" sz="1400" dirty="0" smtClean="0">
                <a:latin typeface="Georgia" pitchFamily="18" charset="0"/>
                <a:sym typeface="Wingdings" panose="05000000000000000000" pitchFamily="2" charset="2"/>
              </a:rPr>
              <a:t> “</a:t>
            </a:r>
            <a:r>
              <a:rPr lang="ko-KR" altLang="en-US" sz="1400" dirty="0" smtClean="0">
                <a:latin typeface="Georgia" pitchFamily="18" charset="0"/>
                <a:sym typeface="Wingdings" panose="05000000000000000000" pitchFamily="2" charset="2"/>
              </a:rPr>
              <a:t>구매</a:t>
            </a:r>
            <a:r>
              <a:rPr lang="en-US" altLang="ko-KR" sz="1400" dirty="0" smtClean="0">
                <a:latin typeface="Georgia" pitchFamily="18" charset="0"/>
                <a:sym typeface="Wingdings" panose="05000000000000000000" pitchFamily="2" charset="2"/>
              </a:rPr>
              <a:t>”  </a:t>
            </a:r>
            <a:r>
              <a:rPr lang="ko-KR" altLang="en-US" sz="1400" dirty="0" smtClean="0">
                <a:latin typeface="Georgia" pitchFamily="18" charset="0"/>
                <a:sym typeface="Wingdings" panose="05000000000000000000" pitchFamily="2" charset="2"/>
              </a:rPr>
              <a:t>후기</a:t>
            </a:r>
            <a:r>
              <a:rPr lang="en-US" altLang="ko-KR" sz="1400" dirty="0" smtClean="0">
                <a:latin typeface="Georgia" pitchFamily="18" charset="0"/>
                <a:sym typeface="Wingdings" panose="05000000000000000000" pitchFamily="2" charset="2"/>
              </a:rPr>
              <a:t>/</a:t>
            </a:r>
            <a:r>
              <a:rPr lang="ko-KR" altLang="en-US" sz="1400" dirty="0" smtClean="0">
                <a:latin typeface="Georgia" pitchFamily="18" charset="0"/>
                <a:sym typeface="Wingdings" panose="05000000000000000000" pitchFamily="2" charset="2"/>
              </a:rPr>
              <a:t>컨텐츠 공유 </a:t>
            </a:r>
            <a:r>
              <a:rPr lang="en-US" altLang="ko-KR" sz="1400" dirty="0" smtClean="0">
                <a:latin typeface="Georgia" pitchFamily="18" charset="0"/>
                <a:sym typeface="Wingdings" panose="05000000000000000000" pitchFamily="2" charset="2"/>
              </a:rPr>
              <a:t> </a:t>
            </a:r>
            <a:r>
              <a:rPr lang="ko-KR" altLang="en-US" sz="1400" dirty="0" smtClean="0">
                <a:latin typeface="Georgia" pitchFamily="18" charset="0"/>
                <a:sym typeface="Wingdings" panose="05000000000000000000" pitchFamily="2" charset="2"/>
              </a:rPr>
              <a:t>동일 아이템 </a:t>
            </a:r>
            <a:r>
              <a:rPr lang="en-US" altLang="ko-KR" sz="1400" dirty="0" smtClean="0">
                <a:latin typeface="Georgia" pitchFamily="18" charset="0"/>
                <a:sym typeface="Wingdings" panose="05000000000000000000" pitchFamily="2" charset="2"/>
              </a:rPr>
              <a:t>“</a:t>
            </a:r>
            <a:r>
              <a:rPr lang="ko-KR" altLang="en-US" sz="1400" dirty="0" err="1" smtClean="0">
                <a:latin typeface="Georgia" pitchFamily="18" charset="0"/>
                <a:sym typeface="Wingdings" panose="05000000000000000000" pitchFamily="2" charset="2"/>
              </a:rPr>
              <a:t>재구매</a:t>
            </a:r>
            <a:r>
              <a:rPr lang="en-US" altLang="ko-KR" sz="1400" dirty="0" smtClean="0">
                <a:latin typeface="Georgia" pitchFamily="18" charset="0"/>
                <a:sym typeface="Wingdings" panose="05000000000000000000" pitchFamily="2" charset="2"/>
              </a:rPr>
              <a:t>”</a:t>
            </a:r>
            <a:r>
              <a:rPr lang="ko-KR" altLang="en-US" sz="1400" dirty="0" smtClean="0">
                <a:latin typeface="Georgia" pitchFamily="18" charset="0"/>
                <a:sym typeface="Wingdings" panose="05000000000000000000" pitchFamily="2" charset="2"/>
              </a:rPr>
              <a:t> 유도</a:t>
            </a:r>
            <a:endParaRPr lang="ko-KR" altLang="en-US" sz="1400" dirty="0" smtClean="0">
              <a:latin typeface="Georgia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139733" y="5433099"/>
            <a:ext cx="3574863" cy="50826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400" b="1" dirty="0" smtClean="0">
                <a:solidFill>
                  <a:srgbClr val="FF0000"/>
                </a:solidFill>
                <a:latin typeface="Georgia" pitchFamily="18" charset="0"/>
              </a:rPr>
              <a:t>컨텐츠 공유와 서비스 구매를 함께 실행하는</a:t>
            </a:r>
            <a:r>
              <a:rPr lang="en-US" altLang="ko-KR" sz="1400" b="1" dirty="0" smtClean="0">
                <a:solidFill>
                  <a:srgbClr val="FF0000"/>
                </a:solidFill>
                <a:latin typeface="Georgia" pitchFamily="18" charset="0"/>
              </a:rPr>
              <a:t/>
            </a:r>
            <a:br>
              <a:rPr lang="en-US" altLang="ko-KR" sz="1400" b="1" dirty="0" smtClean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altLang="ko-KR" sz="1400" b="1" dirty="0" smtClean="0">
                <a:solidFill>
                  <a:srgbClr val="FF0000"/>
                </a:solidFill>
                <a:latin typeface="Georgia" pitchFamily="18" charset="0"/>
              </a:rPr>
              <a:t>Core User (‘AND User’) </a:t>
            </a:r>
            <a:r>
              <a:rPr lang="ko-KR" altLang="en-US" sz="1400" b="1" dirty="0" smtClean="0">
                <a:solidFill>
                  <a:srgbClr val="FF0000"/>
                </a:solidFill>
                <a:latin typeface="Georgia" pitchFamily="18" charset="0"/>
              </a:rPr>
              <a:t>기반</a:t>
            </a:r>
            <a:r>
              <a:rPr lang="en-US" altLang="ko-KR" sz="1400" b="1" dirty="0" smtClean="0">
                <a:solidFill>
                  <a:srgbClr val="FF0000"/>
                </a:solidFill>
                <a:latin typeface="Georgia" pitchFamily="18" charset="0"/>
              </a:rPr>
              <a:t>,</a:t>
            </a:r>
            <a:br>
              <a:rPr lang="en-US" altLang="ko-KR" sz="1400" b="1" dirty="0" smtClean="0">
                <a:solidFill>
                  <a:srgbClr val="FF0000"/>
                </a:solidFill>
                <a:latin typeface="Georgia" pitchFamily="18" charset="0"/>
              </a:rPr>
            </a:br>
            <a:r>
              <a:rPr lang="ko-KR" altLang="en-US" sz="1400" b="1" dirty="0" smtClean="0">
                <a:solidFill>
                  <a:srgbClr val="FF0000"/>
                </a:solidFill>
                <a:latin typeface="Georgia" pitchFamily="18" charset="0"/>
              </a:rPr>
              <a:t>구조적 선순환 성장 지향</a:t>
            </a:r>
          </a:p>
        </p:txBody>
      </p:sp>
      <p:sp>
        <p:nvSpPr>
          <p:cNvPr id="32" name="이등변 삼각형 31"/>
          <p:cNvSpPr/>
          <p:nvPr/>
        </p:nvSpPr>
        <p:spPr bwMode="auto">
          <a:xfrm rot="5400000">
            <a:off x="3529526" y="4004899"/>
            <a:ext cx="2364184" cy="228433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5030336" y="1934816"/>
            <a:ext cx="3862144" cy="288336"/>
            <a:chOff x="320432" y="1934816"/>
            <a:chExt cx="8356024" cy="288336"/>
          </a:xfrm>
        </p:grpSpPr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38F579A4-A51D-4AC4-A3E2-E4C51278C9BD}"/>
                </a:ext>
              </a:extLst>
            </p:cNvPr>
            <p:cNvSpPr txBox="1"/>
            <p:nvPr/>
          </p:nvSpPr>
          <p:spPr>
            <a:xfrm>
              <a:off x="355766" y="1934816"/>
              <a:ext cx="8320690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ko-KR" altLang="en-US" sz="1200" b="1" dirty="0" smtClean="0">
                  <a:latin typeface="Georgia" pitchFamily="18" charset="0"/>
                </a:rPr>
                <a:t>핵심 </a:t>
              </a:r>
              <a:r>
                <a:rPr lang="en-US" altLang="ko-KR" sz="1200" b="1" dirty="0" smtClean="0">
                  <a:latin typeface="Georgia" pitchFamily="18" charset="0"/>
                </a:rPr>
                <a:t>Value Proposition</a:t>
              </a:r>
              <a:endParaRPr lang="ko-KR" altLang="en-US" sz="1200" b="1" dirty="0">
                <a:latin typeface="Georgia" pitchFamily="18" charset="0"/>
              </a:endParaRPr>
            </a:p>
          </p:txBody>
        </p:sp>
        <p:cxnSp>
          <p:nvCxnSpPr>
            <p:cNvPr id="33" name="Straight Connector 11">
              <a:extLst>
                <a:ext uri="{FF2B5EF4-FFF2-40B4-BE49-F238E27FC236}">
                  <a16:creationId xmlns="" xmlns:a16="http://schemas.microsoft.com/office/drawing/2014/main" id="{94C59EF6-00E7-4479-BCC5-E076344CDB87}"/>
                </a:ext>
              </a:extLst>
            </p:cNvPr>
            <p:cNvCxnSpPr/>
            <p:nvPr/>
          </p:nvCxnSpPr>
          <p:spPr>
            <a:xfrm>
              <a:off x="320432" y="2223152"/>
              <a:ext cx="8356024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4" name="타원 33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 smtClean="0">
                <a:latin typeface="+mn-ea"/>
                <a:cs typeface="Arial" pitchFamily="34" charset="0"/>
              </a:rPr>
              <a:t>2</a:t>
            </a:r>
            <a:endParaRPr lang="ko-KR" altLang="en-US" sz="1700" b="1" dirty="0"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6869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57158" y="1231816"/>
            <a:ext cx="8762999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endParaRPr lang="en-US" sz="1400" dirty="0">
              <a:latin typeface="Georgia" pitchFamily="18" charset="0"/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="" xmlns:a16="http://schemas.microsoft.com/office/drawing/2014/main" id="{4AA717CE-495C-4F9D-89AB-4344DC3CA7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400" dirty="0" smtClean="0">
                <a:latin typeface="Georgia" pitchFamily="18" charset="0"/>
              </a:rPr>
              <a:t>Target</a:t>
            </a:r>
            <a:r>
              <a:rPr lang="ko-KR" altLang="en-US" sz="1400" dirty="0">
                <a:latin typeface="Georgia" pitchFamily="18" charset="0"/>
              </a:rPr>
              <a:t> </a:t>
            </a:r>
            <a:r>
              <a:rPr lang="ko-KR" altLang="en-US" sz="1400" dirty="0" smtClean="0">
                <a:latin typeface="Georgia" pitchFamily="18" charset="0"/>
              </a:rPr>
              <a:t>커뮤니티의 핵심 사용자는 </a:t>
            </a:r>
            <a:r>
              <a:rPr lang="en-US" altLang="ko-KR" sz="1400" dirty="0" smtClean="0">
                <a:latin typeface="Georgia" pitchFamily="18" charset="0"/>
              </a:rPr>
              <a:t>3050 </a:t>
            </a:r>
            <a:r>
              <a:rPr lang="ko-KR" altLang="en-US" sz="1400" dirty="0" smtClean="0">
                <a:latin typeface="Georgia" pitchFamily="18" charset="0"/>
              </a:rPr>
              <a:t>주부층으로</a:t>
            </a:r>
            <a:r>
              <a:rPr lang="en-US" altLang="ko-KR" sz="1400" dirty="0" smtClean="0">
                <a:latin typeface="Georgia" pitchFamily="18" charset="0"/>
              </a:rPr>
              <a:t>, </a:t>
            </a:r>
            <a:r>
              <a:rPr lang="ko-KR" altLang="en-US" sz="1400" dirty="0" smtClean="0">
                <a:latin typeface="Georgia" pitchFamily="18" charset="0"/>
              </a:rPr>
              <a:t>이를 기반으로 인테리어 </a:t>
            </a:r>
            <a:r>
              <a:rPr lang="ko-KR" altLang="en-US" sz="1400" dirty="0" err="1" smtClean="0">
                <a:latin typeface="Georgia" pitchFamily="18" charset="0"/>
              </a:rPr>
              <a:t>커머스</a:t>
            </a:r>
            <a:r>
              <a:rPr lang="ko-KR" altLang="en-US" sz="1400" dirty="0">
                <a:latin typeface="Georgia" pitchFamily="18" charset="0"/>
              </a:rPr>
              <a:t> </a:t>
            </a:r>
            <a:r>
              <a:rPr lang="ko-KR" altLang="en-US" sz="1400" dirty="0" smtClean="0">
                <a:latin typeface="Georgia" pitchFamily="18" charset="0"/>
              </a:rPr>
              <a:t>사업을 주력으로 최근 프리미엄 </a:t>
            </a:r>
            <a:r>
              <a:rPr lang="ko-KR" altLang="en-US" sz="1400" dirty="0" err="1" smtClean="0">
                <a:latin typeface="Georgia" pitchFamily="18" charset="0"/>
              </a:rPr>
              <a:t>리모델링</a:t>
            </a:r>
            <a:r>
              <a:rPr lang="ko-KR" altLang="en-US" sz="1400" dirty="0" smtClean="0">
                <a:latin typeface="Georgia" pitchFamily="18" charset="0"/>
              </a:rPr>
              <a:t> 중개 서비스로 확대하고 있음</a:t>
            </a:r>
            <a:endParaRPr lang="en-US" altLang="ko-KR" sz="1400" dirty="0">
              <a:latin typeface="Georgia" pitchFamily="18" charset="0"/>
            </a:endParaRPr>
          </a:p>
        </p:txBody>
      </p:sp>
      <p:sp>
        <p:nvSpPr>
          <p:cNvPr id="6" name="내용 개체 틀 5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altLang="ko-KR" dirty="0"/>
              <a:t>3050 </a:t>
            </a:r>
            <a:r>
              <a:rPr lang="ko-KR" altLang="en-US" dirty="0"/>
              <a:t>주부층 중심 커뮤니티 기반 </a:t>
            </a:r>
            <a:r>
              <a:rPr lang="ko-KR" altLang="en-US" dirty="0" err="1"/>
              <a:t>커머스</a:t>
            </a:r>
            <a:r>
              <a:rPr lang="ko-KR" altLang="en-US" dirty="0"/>
              <a:t> 및 </a:t>
            </a:r>
            <a:r>
              <a:rPr lang="ko-KR" altLang="en-US" dirty="0" err="1"/>
              <a:t>리모델링</a:t>
            </a:r>
            <a:r>
              <a:rPr lang="ko-KR" altLang="en-US" dirty="0"/>
              <a:t> 사업 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320432" y="1935120"/>
            <a:ext cx="8860080" cy="288336"/>
            <a:chOff x="320432" y="1935120"/>
            <a:chExt cx="4274464" cy="288336"/>
          </a:xfrm>
        </p:grpSpPr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38F579A4-A51D-4AC4-A3E2-E4C51278C9BD}"/>
                </a:ext>
              </a:extLst>
            </p:cNvPr>
            <p:cNvSpPr txBox="1"/>
            <p:nvPr/>
          </p:nvSpPr>
          <p:spPr>
            <a:xfrm>
              <a:off x="355766" y="1935120"/>
              <a:ext cx="4239130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ko-KR" altLang="en-US" sz="1200" b="1" dirty="0" smtClean="0">
                  <a:latin typeface="Georgia" pitchFamily="18" charset="0"/>
                </a:rPr>
                <a:t>사업 영역 및 특장점</a:t>
              </a:r>
              <a:endParaRPr lang="en-US" sz="1200" b="1" dirty="0">
                <a:latin typeface="Georgia" pitchFamily="18" charset="0"/>
              </a:endParaRPr>
            </a:p>
          </p:txBody>
        </p:sp>
        <p:cxnSp>
          <p:nvCxnSpPr>
            <p:cNvPr id="30" name="Straight Connector 11">
              <a:extLst>
                <a:ext uri="{FF2B5EF4-FFF2-40B4-BE49-F238E27FC236}">
                  <a16:creationId xmlns="" xmlns:a16="http://schemas.microsoft.com/office/drawing/2014/main" id="{94C59EF6-00E7-4479-BCC5-E076344CDB87}"/>
                </a:ext>
              </a:extLst>
            </p:cNvPr>
            <p:cNvCxnSpPr/>
            <p:nvPr/>
          </p:nvCxnSpPr>
          <p:spPr>
            <a:xfrm>
              <a:off x="320432" y="2223456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6" name="제목 3"/>
          <p:cNvSpPr>
            <a:spLocks noGrp="1"/>
          </p:cNvSpPr>
          <p:nvPr>
            <p:ph type="title"/>
          </p:nvPr>
        </p:nvSpPr>
        <p:spPr>
          <a:xfrm>
            <a:off x="381001" y="332656"/>
            <a:ext cx="6513095" cy="326488"/>
          </a:xfrm>
        </p:spPr>
        <p:txBody>
          <a:bodyPr/>
          <a:lstStyle/>
          <a:p>
            <a:r>
              <a:rPr lang="ko-KR" altLang="en-US" dirty="0" smtClean="0"/>
              <a:t>   </a:t>
            </a:r>
            <a:r>
              <a:rPr lang="ko-KR" altLang="en-US" dirty="0" err="1" smtClean="0"/>
              <a:t>성공경험이</a:t>
            </a:r>
            <a:r>
              <a:rPr lang="ko-KR" altLang="en-US" dirty="0" smtClean="0"/>
              <a:t> 이식된 차별화된 사업구조 구축</a:t>
            </a:r>
            <a:endParaRPr lang="ko-KR" altLang="en-US" dirty="0"/>
          </a:p>
        </p:txBody>
      </p:sp>
      <p:sp>
        <p:nvSpPr>
          <p:cNvPr id="74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7884368" y="6237312"/>
            <a:ext cx="712800" cy="262800"/>
          </a:xfrm>
        </p:spPr>
        <p:txBody>
          <a:bodyPr/>
          <a:lstStyle/>
          <a:p>
            <a:fld id="{B68BC80C-B1D2-42DA-B465-5CACDB325AFD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357396" y="2404636"/>
            <a:ext cx="8391068" cy="42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lvl="0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defRPr/>
            </a:pPr>
            <a:r>
              <a:rPr lang="en-US" altLang="ko-KR" sz="16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“3050 </a:t>
            </a:r>
            <a:r>
              <a:rPr lang="ko-KR" altLang="en-US" sz="16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주부층</a:t>
            </a:r>
            <a:r>
              <a:rPr lang="en-US" altLang="ko-KR" sz="16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”</a:t>
            </a:r>
            <a:r>
              <a:rPr lang="ko-KR" altLang="en-US" sz="16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을 핵심 대상으로 커뮤니티 기반  </a:t>
            </a:r>
            <a:r>
              <a:rPr lang="en-US" altLang="ko-KR" sz="16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‘</a:t>
            </a:r>
            <a:r>
              <a:rPr lang="ko-KR" altLang="en-US" sz="1600" b="1" kern="0" dirty="0" err="1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홈퍼니싱</a:t>
            </a:r>
            <a:r>
              <a:rPr lang="ko-KR" altLang="en-US" sz="16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 </a:t>
            </a:r>
            <a:r>
              <a:rPr lang="en-US" altLang="ko-KR" sz="16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Model’</a:t>
            </a:r>
            <a:r>
              <a:rPr lang="ko-KR" altLang="en-US" sz="16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로 </a:t>
            </a:r>
            <a:r>
              <a:rPr lang="ko-KR" altLang="en-US" sz="1600" b="1" kern="0" dirty="0" err="1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앱개발</a:t>
            </a:r>
            <a:endParaRPr lang="ko-KR" altLang="en-US" sz="1600" b="1" kern="0" dirty="0">
              <a:solidFill>
                <a:srgbClr val="C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347878" y="3008467"/>
            <a:ext cx="324000" cy="324000"/>
          </a:xfrm>
          <a:prstGeom prst="ellipse">
            <a:avLst/>
          </a:prstGeom>
          <a:solidFill>
            <a:schemeClr val="tx2"/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solidFill>
                  <a:schemeClr val="bg1"/>
                </a:solidFill>
                <a:latin typeface="+mn-ea"/>
                <a:cs typeface="Arial" pitchFamily="34" charset="0"/>
              </a:rPr>
              <a:t>a</a:t>
            </a:r>
            <a:endParaRPr lang="ko-KR" altLang="en-US" sz="1400" b="1" dirty="0">
              <a:solidFill>
                <a:schemeClr val="bg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755577" y="2950187"/>
            <a:ext cx="2448272" cy="5445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lvl="0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defRPr/>
            </a:pPr>
            <a:r>
              <a:rPr lang="ko-KR" altLang="en-US" sz="1400" b="1" u="sng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커뮤니티</a:t>
            </a:r>
            <a:endParaRPr lang="en-US" altLang="ko-KR" sz="1400" b="1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lvl="0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defRPr/>
            </a:pP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인테리어 </a:t>
            </a:r>
            <a:r>
              <a:rPr lang="ko-KR" altLang="en-US" sz="13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컨텐츠</a:t>
            </a:r>
            <a:r>
              <a:rPr lang="en-US" altLang="ko-KR" sz="13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제품 사용기 정보 공유  </a:t>
            </a:r>
            <a:endParaRPr lang="ko-KR" altLang="en-US" sz="13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347878" y="4070671"/>
            <a:ext cx="324000" cy="324000"/>
          </a:xfrm>
          <a:prstGeom prst="ellipse">
            <a:avLst/>
          </a:prstGeom>
          <a:solidFill>
            <a:schemeClr val="tx2"/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solidFill>
                  <a:schemeClr val="bg1"/>
                </a:solidFill>
                <a:latin typeface="+mn-ea"/>
                <a:cs typeface="Arial" pitchFamily="34" charset="0"/>
              </a:rPr>
              <a:t>b</a:t>
            </a:r>
            <a:endParaRPr lang="ko-KR" altLang="en-US" sz="1400" b="1" dirty="0">
              <a:solidFill>
                <a:schemeClr val="bg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755577" y="4012391"/>
            <a:ext cx="2448272" cy="5445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lvl="0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defRPr/>
            </a:pPr>
            <a:r>
              <a:rPr lang="ko-KR" altLang="en-US" sz="1400" b="1" u="sng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커머스</a:t>
            </a:r>
            <a:endParaRPr lang="en-US" altLang="ko-KR" sz="1400" b="1" u="sng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lvl="0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defRPr/>
            </a:pPr>
            <a:r>
              <a:rPr lang="ko-KR" altLang="en-US" sz="13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커뮤니티에서 추천</a:t>
            </a:r>
            <a:r>
              <a:rPr lang="en-US" altLang="ko-KR" sz="13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300" kern="0" dirty="0" err="1">
                <a:solidFill>
                  <a:srgbClr val="000000"/>
                </a:solidFill>
                <a:latin typeface="+mj-lt"/>
                <a:ea typeface="맑은 고딕" pitchFamily="50" charset="-127"/>
              </a:rPr>
              <a:t>입소문나는</a:t>
            </a:r>
            <a:r>
              <a:rPr lang="ko-KR" altLang="en-US" sz="13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브랜드 및 제품 구매 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347878" y="5250740"/>
            <a:ext cx="324000" cy="324000"/>
          </a:xfrm>
          <a:prstGeom prst="ellipse">
            <a:avLst/>
          </a:prstGeom>
          <a:solidFill>
            <a:schemeClr val="tx2"/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 smtClean="0">
                <a:solidFill>
                  <a:schemeClr val="bg1"/>
                </a:solidFill>
                <a:latin typeface="+mn-ea"/>
                <a:cs typeface="Arial" pitchFamily="34" charset="0"/>
              </a:rPr>
              <a:t>c</a:t>
            </a:r>
            <a:endParaRPr lang="ko-KR" altLang="en-US" sz="1400" b="1" dirty="0">
              <a:solidFill>
                <a:schemeClr val="bg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755577" y="5192460"/>
            <a:ext cx="2448272" cy="5445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lvl="0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defRPr/>
            </a:pPr>
            <a:r>
              <a:rPr lang="ko-KR" altLang="en-US" sz="1400" b="1" u="sng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리모델링</a:t>
            </a:r>
            <a:endParaRPr lang="en-US" altLang="ko-KR" sz="1400" b="1" u="sng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lvl="0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defRPr/>
            </a:pPr>
            <a:r>
              <a:rPr lang="ko-KR" altLang="en-US" sz="13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지역별 시공 포트폴리오</a:t>
            </a:r>
            <a:r>
              <a:rPr lang="en-US" altLang="ko-KR" sz="13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3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데이터 기반 디자이너 연결</a:t>
            </a:r>
          </a:p>
        </p:txBody>
      </p: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3284323" y="2940731"/>
            <a:ext cx="3579194" cy="8224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인테리어 관련 다양한 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‘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재미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‘ 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제공</a:t>
            </a:r>
            <a:endParaRPr lang="en-US" altLang="ko-KR" sz="1300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“3050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주부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” 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중심 활성 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User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층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보유</a:t>
            </a:r>
            <a:endParaRPr lang="en-US" altLang="ko-KR" sz="13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3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3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높은 커뮤니티 충성도 및 구매력</a:t>
            </a:r>
            <a:endParaRPr lang="en-US" altLang="ko-KR" sz="1300" b="1" kern="0" dirty="0" smtClean="0">
              <a:solidFill>
                <a:srgbClr val="000000"/>
              </a:solidFill>
              <a:latin typeface="+mj-lt"/>
              <a:ea typeface="맑은 고딕" pitchFamily="50" charset="-127"/>
              <a:sym typeface="Wingdings" panose="05000000000000000000" pitchFamily="2" charset="2"/>
            </a:endParaRPr>
          </a:p>
        </p:txBody>
      </p:sp>
      <p:sp>
        <p:nvSpPr>
          <p:cNvPr id="44" name="Rectangle 14"/>
          <p:cNvSpPr>
            <a:spLocks noChangeArrowheads="1"/>
          </p:cNvSpPr>
          <p:nvPr/>
        </p:nvSpPr>
        <p:spPr bwMode="auto">
          <a:xfrm>
            <a:off x="3284323" y="4130256"/>
            <a:ext cx="3579194" cy="93487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3050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주부층 중심 커뮤니티 기반</a:t>
            </a:r>
            <a:endParaRPr lang="en-US" altLang="ko-KR" sz="1300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상대적 </a:t>
            </a:r>
            <a:r>
              <a:rPr lang="ko-KR" altLang="en-US" sz="13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고가 제품 포트폴리오 구축 및 지속적 객단가 상승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(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가전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주방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여행 강점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)</a:t>
            </a:r>
            <a:endParaRPr lang="en-US" altLang="ko-KR" sz="13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45" name="Rectangle 14"/>
          <p:cNvSpPr>
            <a:spLocks noChangeArrowheads="1"/>
          </p:cNvSpPr>
          <p:nvPr/>
        </p:nvSpPr>
        <p:spPr bwMode="auto">
          <a:xfrm>
            <a:off x="3284323" y="5307711"/>
            <a:ext cx="3579194" cy="93487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30/50 </a:t>
            </a:r>
            <a:r>
              <a:rPr lang="ko-KR" altLang="en-US" sz="13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대 아파트 거주 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주부층 기반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…</a:t>
            </a:r>
            <a:endParaRPr lang="ko-KR" altLang="en-US" sz="13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상대적 </a:t>
            </a:r>
            <a:r>
              <a:rPr lang="ko-KR" altLang="en-US" sz="13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프리미엄 </a:t>
            </a:r>
            <a:r>
              <a:rPr lang="ko-KR" altLang="en-US" sz="1300" b="1" kern="0" dirty="0" err="1">
                <a:solidFill>
                  <a:srgbClr val="000000"/>
                </a:solidFill>
                <a:latin typeface="+mj-lt"/>
                <a:ea typeface="맑은 고딕" pitchFamily="50" charset="-127"/>
              </a:rPr>
              <a:t>리모델링</a:t>
            </a:r>
            <a:r>
              <a:rPr lang="ko-KR" altLang="en-US" sz="1300" b="1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</a:t>
            </a:r>
            <a:r>
              <a:rPr lang="ko-KR" altLang="en-US" sz="13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중개 서비스 </a:t>
            </a:r>
            <a:r>
              <a:rPr lang="ko-KR" altLang="en-US" sz="1300" b="1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지향</a:t>
            </a:r>
          </a:p>
        </p:txBody>
      </p:sp>
      <p:sp>
        <p:nvSpPr>
          <p:cNvPr id="4" name="오른쪽 중괄호 3"/>
          <p:cNvSpPr/>
          <p:nvPr/>
        </p:nvSpPr>
        <p:spPr>
          <a:xfrm>
            <a:off x="6945976" y="2941043"/>
            <a:ext cx="144016" cy="828000"/>
          </a:xfrm>
          <a:prstGeom prst="rightBrace">
            <a:avLst>
              <a:gd name="adj1" fmla="val 7535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오른쪽 중괄호 48"/>
          <p:cNvSpPr/>
          <p:nvPr/>
        </p:nvSpPr>
        <p:spPr>
          <a:xfrm>
            <a:off x="6945976" y="4094181"/>
            <a:ext cx="144016" cy="828000"/>
          </a:xfrm>
          <a:prstGeom prst="rightBrace">
            <a:avLst>
              <a:gd name="adj1" fmla="val 7535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오른쪽 중괄호 49"/>
          <p:cNvSpPr/>
          <p:nvPr/>
        </p:nvSpPr>
        <p:spPr>
          <a:xfrm>
            <a:off x="6945976" y="5112028"/>
            <a:ext cx="144016" cy="828000"/>
          </a:xfrm>
          <a:prstGeom prst="rightBrace">
            <a:avLst>
              <a:gd name="adj1" fmla="val 7535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Rectangle 14"/>
          <p:cNvSpPr>
            <a:spLocks noChangeArrowheads="1"/>
          </p:cNvSpPr>
          <p:nvPr/>
        </p:nvSpPr>
        <p:spPr bwMode="auto">
          <a:xfrm>
            <a:off x="7144962" y="3078104"/>
            <a:ext cx="1608740" cy="53148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lvl="0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defRPr/>
            </a:pPr>
            <a:r>
              <a:rPr lang="en-US" altLang="ko-KR" sz="1400" b="1" i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3050 </a:t>
            </a:r>
            <a:r>
              <a:rPr lang="ko-KR" altLang="en-US" sz="1400" b="1" i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주부층</a:t>
            </a:r>
            <a:r>
              <a:rPr lang="en-US" altLang="ko-KR" sz="1400" b="1" i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/>
            </a:r>
            <a:br>
              <a:rPr lang="en-US" altLang="ko-KR" sz="1400" b="1" i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</a:br>
            <a:r>
              <a:rPr lang="ko-KR" altLang="en-US" sz="1400" b="1" i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기반</a:t>
            </a:r>
            <a:endParaRPr lang="ko-KR" altLang="en-US" sz="1400" b="1" i="1" kern="0" dirty="0">
              <a:solidFill>
                <a:schemeClr val="tx2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7144962" y="4219346"/>
            <a:ext cx="1608740" cy="53148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lvl="0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defRPr/>
            </a:pPr>
            <a:r>
              <a:rPr lang="ko-KR" altLang="en-US" sz="1400" b="1" i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고단가 제품 포트폴리오 구축</a:t>
            </a:r>
            <a:endParaRPr lang="ko-KR" altLang="en-US" sz="1400" b="1" i="1" kern="0" dirty="0">
              <a:solidFill>
                <a:schemeClr val="tx2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7144962" y="5201772"/>
            <a:ext cx="1608740" cy="53148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lvl="0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defRPr/>
            </a:pPr>
            <a:r>
              <a:rPr lang="ko-KR" altLang="en-US" sz="1400" b="1" i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프리미엄 </a:t>
            </a:r>
            <a:r>
              <a:rPr lang="ko-KR" altLang="en-US" sz="1400" b="1" i="1" kern="0" dirty="0" err="1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리모델링</a:t>
            </a:r>
            <a:r>
              <a:rPr lang="ko-KR" altLang="en-US" sz="1400" b="1" i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 중개 지향</a:t>
            </a:r>
            <a:endParaRPr lang="ko-KR" altLang="en-US" sz="1400" b="1" i="1" kern="0" dirty="0">
              <a:solidFill>
                <a:schemeClr val="tx2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 smtClean="0">
                <a:latin typeface="+mn-ea"/>
                <a:cs typeface="Arial" pitchFamily="34" charset="0"/>
              </a:rPr>
              <a:t>3</a:t>
            </a:r>
            <a:endParaRPr lang="ko-KR" altLang="en-US" sz="1700" b="1" dirty="0"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8694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  </a:t>
            </a:r>
            <a:r>
              <a:rPr lang="ko-KR" altLang="en-US" dirty="0" err="1" smtClean="0"/>
              <a:t>성공경험이</a:t>
            </a:r>
            <a:r>
              <a:rPr lang="ko-KR" altLang="en-US" dirty="0" smtClean="0"/>
              <a:t> </a:t>
            </a:r>
            <a:r>
              <a:rPr lang="ko-KR" altLang="en-US" dirty="0"/>
              <a:t>이식된 차별화된 사업구조 </a:t>
            </a:r>
            <a:r>
              <a:rPr lang="ko-KR" altLang="en-US" dirty="0" smtClean="0"/>
              <a:t>구축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커뮤니티 </a:t>
            </a:r>
            <a:r>
              <a:rPr lang="en-US" altLang="ko-KR" dirty="0" smtClean="0"/>
              <a:t> </a:t>
            </a:r>
            <a:endParaRPr lang="en-US" altLang="ko-KR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사용자에게 다양한 재미를 제공하는 커뮤니티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smtClean="0">
                <a:latin typeface="Georgia" pitchFamily="18" charset="0"/>
              </a:rPr>
              <a:t>다양한 형태의 사용자 참여 방식 및 </a:t>
            </a:r>
            <a:r>
              <a:rPr lang="ko-KR" altLang="en-US" sz="1400" dirty="0" err="1" smtClean="0">
                <a:latin typeface="Georgia" pitchFamily="18" charset="0"/>
              </a:rPr>
              <a:t>리워드</a:t>
            </a:r>
            <a:r>
              <a:rPr lang="ko-KR" altLang="en-US" sz="1400" dirty="0" smtClean="0">
                <a:latin typeface="Georgia" pitchFamily="18" charset="0"/>
              </a:rPr>
              <a:t> 프로그램을 통해 </a:t>
            </a:r>
            <a:r>
              <a:rPr lang="en-US" altLang="ko-KR" sz="1400" dirty="0" smtClean="0">
                <a:latin typeface="Georgia" pitchFamily="18" charset="0"/>
              </a:rPr>
              <a:t>“</a:t>
            </a:r>
            <a:r>
              <a:rPr lang="ko-KR" altLang="en-US" sz="1400" dirty="0" smtClean="0">
                <a:latin typeface="Georgia" pitchFamily="18" charset="0"/>
              </a:rPr>
              <a:t>이웃집을 구경하는 재미</a:t>
            </a:r>
            <a:r>
              <a:rPr lang="en-US" altLang="ko-KR" sz="1400" dirty="0" smtClean="0">
                <a:latin typeface="Georgia" pitchFamily="18" charset="0"/>
              </a:rPr>
              <a:t>“, “</a:t>
            </a:r>
            <a:r>
              <a:rPr lang="ko-KR" altLang="en-US" sz="1400" dirty="0" smtClean="0">
                <a:latin typeface="Georgia" pitchFamily="18" charset="0"/>
              </a:rPr>
              <a:t>정보 발견의 재미</a:t>
            </a:r>
            <a:r>
              <a:rPr lang="en-US" altLang="ko-KR" sz="1400" dirty="0" smtClean="0">
                <a:latin typeface="Georgia" pitchFamily="18" charset="0"/>
              </a:rPr>
              <a:t>“, “</a:t>
            </a:r>
            <a:r>
              <a:rPr lang="ko-KR" altLang="en-US" sz="1400" dirty="0" smtClean="0">
                <a:latin typeface="Georgia" pitchFamily="18" charset="0"/>
              </a:rPr>
              <a:t>직접 참여</a:t>
            </a:r>
            <a:r>
              <a:rPr lang="en-US" altLang="ko-KR" sz="1400" dirty="0" smtClean="0">
                <a:latin typeface="Georgia" pitchFamily="18" charset="0"/>
              </a:rPr>
              <a:t>/</a:t>
            </a:r>
            <a:r>
              <a:rPr lang="ko-KR" altLang="en-US" sz="1400" dirty="0" err="1" smtClean="0">
                <a:latin typeface="Georgia" pitchFamily="18" charset="0"/>
              </a:rPr>
              <a:t>리워드</a:t>
            </a:r>
            <a:r>
              <a:rPr lang="ko-KR" altLang="en-US" sz="1400" dirty="0" smtClean="0">
                <a:latin typeface="Georgia" pitchFamily="18" charset="0"/>
              </a:rPr>
              <a:t> 받는 재미</a:t>
            </a:r>
            <a:r>
              <a:rPr lang="en-US" altLang="ko-KR" sz="1400" dirty="0" smtClean="0">
                <a:latin typeface="Georgia" pitchFamily="18" charset="0"/>
              </a:rPr>
              <a:t>“ </a:t>
            </a:r>
            <a:r>
              <a:rPr lang="ko-KR" altLang="en-US" sz="1400" dirty="0" smtClean="0">
                <a:latin typeface="Georgia" pitchFamily="18" charset="0"/>
              </a:rPr>
              <a:t>등 다양한 재미 통해 커뮤니티 활성화를 꾀하고 있음</a:t>
            </a:r>
            <a:endParaRPr lang="en-US" sz="1400" dirty="0">
              <a:latin typeface="Georgia" pitchFamily="18" charset="0"/>
            </a:endParaRPr>
          </a:p>
        </p:txBody>
      </p:sp>
      <p:sp>
        <p:nvSpPr>
          <p:cNvPr id="50" name="내용 개체 틀 24"/>
          <p:cNvSpPr txBox="1">
            <a:spLocks/>
          </p:cNvSpPr>
          <p:nvPr/>
        </p:nvSpPr>
        <p:spPr>
          <a:xfrm>
            <a:off x="423610" y="6285440"/>
            <a:ext cx="6084000" cy="4297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Tx/>
              <a:buFontTx/>
              <a:buNone/>
              <a:tabLst/>
              <a:defRPr sz="1000" b="0" kern="1200" baseline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2pPr>
            <a:lvl3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-"/>
              <a:defRPr sz="10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3pPr>
            <a:lvl4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◦"/>
              <a:defRPr sz="10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›"/>
              <a:defRPr sz="1000" kern="1200" baseline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5pPr>
            <a:lvl6pPr marL="274320" marR="0" indent="-27432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6pPr>
            <a:lvl7pPr marL="54864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alpha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7pPr>
            <a:lvl8pPr marL="82296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roman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8pPr>
            <a:lvl9pPr marL="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None/>
              <a:defRPr sz="2000" b="1" kern="1200" baseline="0">
                <a:solidFill>
                  <a:schemeClr val="tx2"/>
                </a:solidFill>
                <a:latin typeface="Georgia" pitchFamily="18" charset="0"/>
                <a:ea typeface="+mn-ea"/>
                <a:cs typeface="+mn-cs"/>
              </a:defRPr>
            </a:lvl9pPr>
          </a:lstStyle>
          <a:p>
            <a:pPr indent="0"/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grpSp>
        <p:nvGrpSpPr>
          <p:cNvPr id="61" name="그룹 60"/>
          <p:cNvGrpSpPr/>
          <p:nvPr/>
        </p:nvGrpSpPr>
        <p:grpSpPr>
          <a:xfrm>
            <a:off x="426285" y="1844519"/>
            <a:ext cx="8322179" cy="393709"/>
            <a:chOff x="251520" y="1844520"/>
            <a:chExt cx="4112668" cy="287716"/>
          </a:xfrm>
        </p:grpSpPr>
        <p:cxnSp>
          <p:nvCxnSpPr>
            <p:cNvPr id="62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ko-KR" altLang="en-US" sz="1200" b="1" dirty="0" smtClean="0">
                  <a:latin typeface="Georgia" pitchFamily="18" charset="0"/>
                </a:rPr>
                <a:t> 커뮤니티 운영 현황 및 목표</a:t>
              </a:r>
              <a:endParaRPr lang="en-US" altLang="ko-KR" sz="1200" baseline="30000" dirty="0">
                <a:latin typeface="Georgia" pitchFamily="18" charset="0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2" cstate="print"/>
          <a:srcRect l="38970" t="14485" r="11656" b="4568"/>
          <a:stretch/>
        </p:blipFill>
        <p:spPr>
          <a:xfrm>
            <a:off x="5292003" y="2734571"/>
            <a:ext cx="3202297" cy="2953134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450250" y="2403954"/>
            <a:ext cx="8298214" cy="2710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더 많은 참여자</a:t>
            </a: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, 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더 다양한</a:t>
            </a: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 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컨텐츠</a:t>
            </a: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, 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더 높은</a:t>
            </a: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 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퀄리티</a:t>
            </a: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 </a:t>
            </a:r>
            <a:endParaRPr lang="ko-KR" altLang="en-US" sz="1600" b="1" dirty="0" smtClean="0">
              <a:solidFill>
                <a:schemeClr val="tx2"/>
              </a:solidFill>
              <a:latin typeface="Georgia" pitchFamily="18" charset="0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381000" y="2839000"/>
            <a:ext cx="4623048" cy="14305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다양한 형태 사용자 직접 참여 방식 유도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/>
            </a:r>
            <a:b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</a:b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(“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직접 참여하는 재미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”)</a:t>
            </a: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3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셀프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인테리어 경험 공유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(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소모품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3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방꾸미기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3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리모델링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등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)</a:t>
            </a:r>
            <a:b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</a:b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※</a:t>
            </a:r>
            <a:r>
              <a:rPr lang="ko-KR" altLang="en-US" sz="13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비포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&amp;</a:t>
            </a:r>
            <a:r>
              <a:rPr lang="ko-KR" altLang="en-US" sz="13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에프터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공유 등</a:t>
            </a:r>
            <a:endParaRPr lang="en-US" altLang="ko-KR" sz="13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제품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서비스 단순 사용 후기 공유 등</a:t>
            </a:r>
            <a:endParaRPr lang="en-US" altLang="ko-KR" sz="13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381000" y="4293096"/>
            <a:ext cx="4623048" cy="14305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다양한 </a:t>
            </a:r>
            <a:r>
              <a:rPr lang="ko-KR" altLang="en-US" sz="1400" b="1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리워드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프로그램 운영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/>
            </a:r>
            <a:b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</a:b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(“</a:t>
            </a:r>
            <a:r>
              <a:rPr lang="ko-KR" altLang="en-US" sz="1400" b="1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리워드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받는 재미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”)</a:t>
            </a: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등록된 </a:t>
            </a:r>
            <a:r>
              <a:rPr lang="ko-KR" altLang="en-US" sz="13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게시글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조회 당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등록된 </a:t>
            </a:r>
            <a:r>
              <a:rPr lang="ko-KR" altLang="en-US" sz="13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게시글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연동 상품 구매 당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사용자 등급별 차등적으로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…</a:t>
            </a: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포인트 적립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(</a:t>
            </a:r>
            <a:r>
              <a:rPr lang="ko-KR" altLang="en-US" sz="13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커머스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 내 구매 시 사용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)</a:t>
            </a: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3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인플루언서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 마케팅 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(3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기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, 280</a:t>
            </a:r>
            <a:r>
              <a:rPr lang="ko-KR" altLang="en-US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명 운영 중</a:t>
            </a:r>
            <a:r>
              <a:rPr lang="en-US" altLang="ko-KR" sz="13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  <a:sym typeface="Wingdings" panose="05000000000000000000" pitchFamily="2" charset="2"/>
              </a:rPr>
              <a:t>) </a:t>
            </a:r>
            <a:endParaRPr lang="en-US" altLang="ko-KR" sz="13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0250" y="5833950"/>
            <a:ext cx="8298214" cy="2710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“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이웃집을 구경하는 재미</a:t>
            </a: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”, “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정보 발견의 재미</a:t>
            </a: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”, “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직접 참여</a:t>
            </a:r>
            <a:r>
              <a:rPr lang="en-US" altLang="ko-KR" sz="1600" b="1" dirty="0">
                <a:solidFill>
                  <a:schemeClr val="tx2"/>
                </a:solidFill>
                <a:latin typeface="Georgia" pitchFamily="18" charset="0"/>
              </a:rPr>
              <a:t> 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및 </a:t>
            </a:r>
            <a:r>
              <a:rPr lang="ko-KR" altLang="en-US" sz="1600" b="1" dirty="0" err="1" smtClean="0">
                <a:solidFill>
                  <a:schemeClr val="tx2"/>
                </a:solidFill>
                <a:latin typeface="Georgia" pitchFamily="18" charset="0"/>
              </a:rPr>
              <a:t>리워드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 받는 재미</a:t>
            </a: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” 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제공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dirty="0" smtClean="0">
                <a:latin typeface="+mn-ea"/>
                <a:cs typeface="Arial" pitchFamily="34" charset="0"/>
              </a:rPr>
              <a:t>3-a</a:t>
            </a:r>
            <a:endParaRPr lang="ko-KR" altLang="en-US" sz="1500" b="1" dirty="0"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92326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Picture 1"/>
          <p:cNvPicPr>
            <a:picLocks noChangeAspect="1" noChangeArrowheads="1"/>
          </p:cNvPicPr>
          <p:nvPr/>
        </p:nvPicPr>
        <p:blipFill>
          <a:blip r:embed="rId3"/>
          <a:srcRect l="59766" t="67708" r="18554" b="15625"/>
          <a:stretch>
            <a:fillRect/>
          </a:stretch>
        </p:blipFill>
        <p:spPr bwMode="auto">
          <a:xfrm>
            <a:off x="6482720" y="3374682"/>
            <a:ext cx="2312805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4" cstate="print"/>
          <a:srcRect l="62696" t="26042" r="7421" b="44791"/>
          <a:stretch>
            <a:fillRect/>
          </a:stretch>
        </p:blipFill>
        <p:spPr bwMode="auto">
          <a:xfrm>
            <a:off x="6456547" y="2058645"/>
            <a:ext cx="2385685" cy="9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  </a:t>
            </a:r>
            <a:r>
              <a:rPr lang="ko-KR" altLang="en-US" dirty="0" err="1" smtClean="0"/>
              <a:t>성공경험이</a:t>
            </a:r>
            <a:r>
              <a:rPr lang="ko-KR" altLang="en-US" dirty="0" smtClean="0"/>
              <a:t> </a:t>
            </a:r>
            <a:r>
              <a:rPr lang="ko-KR" altLang="en-US" dirty="0"/>
              <a:t>이식된 차별화된 사업구조 </a:t>
            </a:r>
            <a:r>
              <a:rPr lang="ko-KR" altLang="en-US" dirty="0" smtClean="0"/>
              <a:t>구축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커뮤니티 </a:t>
            </a:r>
            <a:r>
              <a:rPr lang="en-US" altLang="ko-KR" dirty="0" smtClean="0"/>
              <a:t> </a:t>
            </a:r>
            <a:endParaRPr lang="en-US" altLang="ko-KR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사용자에게 다양한 컨텐츠를 제공하는 커뮤니티</a:t>
            </a:r>
            <a:endParaRPr lang="ko-KR" altLang="en-US" dirty="0"/>
          </a:p>
        </p:txBody>
      </p:sp>
      <p:sp>
        <p:nvSpPr>
          <p:cNvPr id="50" name="내용 개체 틀 24"/>
          <p:cNvSpPr txBox="1">
            <a:spLocks/>
          </p:cNvSpPr>
          <p:nvPr/>
        </p:nvSpPr>
        <p:spPr>
          <a:xfrm>
            <a:off x="423610" y="6285440"/>
            <a:ext cx="6084000" cy="4297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Tx/>
              <a:buFontTx/>
              <a:buNone/>
              <a:tabLst/>
              <a:defRPr sz="1000" b="0" kern="1200" baseline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2pPr>
            <a:lvl3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-"/>
              <a:defRPr sz="10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3pPr>
            <a:lvl4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◦"/>
              <a:defRPr sz="10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›"/>
              <a:defRPr sz="1000" kern="1200" baseline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5pPr>
            <a:lvl6pPr marL="274320" marR="0" indent="-27432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6pPr>
            <a:lvl7pPr marL="54864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alpha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7pPr>
            <a:lvl8pPr marL="82296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roman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8pPr>
            <a:lvl9pPr marL="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None/>
              <a:defRPr sz="2000" b="1" kern="1200" baseline="0">
                <a:solidFill>
                  <a:schemeClr val="tx2"/>
                </a:solidFill>
                <a:latin typeface="Georgia" pitchFamily="18" charset="0"/>
                <a:ea typeface="+mn-ea"/>
                <a:cs typeface="+mn-cs"/>
              </a:defRPr>
            </a:lvl9pPr>
          </a:lstStyle>
          <a:p>
            <a:pPr indent="0"/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grpSp>
        <p:nvGrpSpPr>
          <p:cNvPr id="3" name="그룹 60"/>
          <p:cNvGrpSpPr/>
          <p:nvPr/>
        </p:nvGrpSpPr>
        <p:grpSpPr>
          <a:xfrm>
            <a:off x="437171" y="1844519"/>
            <a:ext cx="3924000" cy="393709"/>
            <a:chOff x="251520" y="1844520"/>
            <a:chExt cx="4112668" cy="287716"/>
          </a:xfrm>
        </p:grpSpPr>
        <p:cxnSp>
          <p:nvCxnSpPr>
            <p:cNvPr id="62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ko-KR" altLang="en-US" sz="1200" b="1" dirty="0" smtClean="0">
                  <a:latin typeface="Georgia" pitchFamily="18" charset="0"/>
                </a:rPr>
                <a:t>커뮤니티 구성</a:t>
              </a:r>
              <a:endParaRPr lang="en-US" altLang="ko-KR" sz="1200" baseline="30000" dirty="0">
                <a:latin typeface="Georgia" pitchFamily="18" charset="0"/>
              </a:endParaRP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dirty="0" smtClean="0">
                <a:latin typeface="+mn-ea"/>
                <a:cs typeface="Arial" pitchFamily="34" charset="0"/>
              </a:rPr>
              <a:t>3-a</a:t>
            </a:r>
            <a:endParaRPr lang="ko-KR" altLang="en-US" sz="1500" b="1" dirty="0">
              <a:latin typeface="+mn-ea"/>
              <a:cs typeface="Arial" pitchFamily="34" charset="0"/>
            </a:endParaRPr>
          </a:p>
        </p:txBody>
      </p:sp>
      <p:grpSp>
        <p:nvGrpSpPr>
          <p:cNvPr id="6" name="그룹 60"/>
          <p:cNvGrpSpPr/>
          <p:nvPr/>
        </p:nvGrpSpPr>
        <p:grpSpPr>
          <a:xfrm>
            <a:off x="4572000" y="1844519"/>
            <a:ext cx="1714512" cy="393709"/>
            <a:chOff x="251520" y="1844520"/>
            <a:chExt cx="4112668" cy="287716"/>
          </a:xfrm>
        </p:grpSpPr>
        <p:cxnSp>
          <p:nvCxnSpPr>
            <p:cNvPr id="17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ko-KR" altLang="en-US" sz="1200" b="1" dirty="0" smtClean="0">
                  <a:latin typeface="Georgia" pitchFamily="18" charset="0"/>
                </a:rPr>
                <a:t>연관 컨텐츠</a:t>
              </a:r>
              <a:r>
                <a:rPr lang="en-US" altLang="ko-KR" sz="1200" b="1" dirty="0" smtClean="0">
                  <a:latin typeface="Georgia" pitchFamily="18" charset="0"/>
                </a:rPr>
                <a:t>/</a:t>
              </a:r>
              <a:r>
                <a:rPr lang="ko-KR" altLang="en-US" sz="1200" b="1" dirty="0" smtClean="0">
                  <a:latin typeface="Georgia" pitchFamily="18" charset="0"/>
                </a:rPr>
                <a:t>상품 추천</a:t>
              </a:r>
              <a:endParaRPr lang="en-US" altLang="ko-KR" sz="1200" baseline="30000" dirty="0">
                <a:latin typeface="Georgia" pitchFamily="18" charset="0"/>
              </a:endParaRPr>
            </a:p>
          </p:txBody>
        </p:sp>
      </p:grpSp>
      <p:sp>
        <p:nvSpPr>
          <p:cNvPr id="89" name="모서리가 둥근 직사각형 83">
            <a:extLst>
              <a:ext uri="{FF2B5EF4-FFF2-40B4-BE49-F238E27FC236}">
                <a16:creationId xmlns="" xmlns:a16="http://schemas.microsoft.com/office/drawing/2014/main" id="{D543DA7D-CD0D-429F-9DD4-76563967BB7E}"/>
              </a:ext>
            </a:extLst>
          </p:cNvPr>
          <p:cNvSpPr/>
          <p:nvPr/>
        </p:nvSpPr>
        <p:spPr>
          <a:xfrm>
            <a:off x="405736" y="5429264"/>
            <a:ext cx="3958130" cy="67203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18288" rIns="72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7313" indent="-3175" algn="ctr">
              <a:spcAft>
                <a:spcPts val="600"/>
              </a:spcAft>
            </a:pPr>
            <a:r>
              <a:rPr lang="ko-KR" altLang="en-US" sz="1400" dirty="0" smtClean="0">
                <a:latin typeface="Georgia" pitchFamily="18" charset="0"/>
              </a:rPr>
              <a:t>집 꾸미는 즐거움 </a:t>
            </a:r>
            <a:r>
              <a:rPr lang="en-US" altLang="ko-KR" sz="1400" dirty="0" smtClean="0">
                <a:latin typeface="Georgia" pitchFamily="18" charset="0"/>
              </a:rPr>
              <a:t>+</a:t>
            </a:r>
            <a:r>
              <a:rPr lang="ko-KR" altLang="en-US" sz="1400" dirty="0" smtClean="0">
                <a:latin typeface="Georgia" pitchFamily="18" charset="0"/>
              </a:rPr>
              <a:t> 일상의 다양한 취미 공유</a:t>
            </a:r>
            <a:endParaRPr lang="en-US" altLang="ko-KR" sz="1400" dirty="0" smtClean="0">
              <a:latin typeface="Georgia" pitchFamily="18" charset="0"/>
            </a:endParaRPr>
          </a:p>
          <a:p>
            <a:pPr marL="87313" indent="-3175">
              <a:spcAft>
                <a:spcPts val="600"/>
              </a:spcAft>
            </a:pPr>
            <a:r>
              <a:rPr lang="en-US" altLang="ko-KR" sz="1400" b="1" dirty="0" smtClean="0">
                <a:solidFill>
                  <a:srgbClr val="000000"/>
                </a:solidFill>
                <a:latin typeface="Georgia" pitchFamily="18" charset="0"/>
                <a:ea typeface="맑은 고딕" pitchFamily="50" charset="-127"/>
                <a:sym typeface="Wingdings" panose="05000000000000000000" pitchFamily="2" charset="2"/>
              </a:rPr>
              <a:t>            </a:t>
            </a:r>
            <a:r>
              <a:rPr lang="en-US" altLang="ko-KR" sz="1400" dirty="0" smtClean="0">
                <a:solidFill>
                  <a:srgbClr val="000000"/>
                </a:solidFill>
                <a:ea typeface="맑은 고딕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400" b="1" dirty="0" smtClean="0">
                <a:solidFill>
                  <a:srgbClr val="000000"/>
                </a:solidFill>
                <a:ea typeface="맑은 고딕" pitchFamily="50" charset="-127"/>
                <a:sym typeface="Wingdings" panose="05000000000000000000" pitchFamily="2" charset="2"/>
              </a:rPr>
              <a:t>다양한 취향의 사용자들 유입 가능</a:t>
            </a:r>
            <a:endParaRPr lang="en-US" altLang="ko-KR" sz="1400" b="1" dirty="0">
              <a:latin typeface="Georgia" pitchFamily="18" charset="0"/>
            </a:endParaRPr>
          </a:p>
        </p:txBody>
      </p:sp>
      <p:sp>
        <p:nvSpPr>
          <p:cNvPr id="96" name="이등변 삼각형 95"/>
          <p:cNvSpPr/>
          <p:nvPr/>
        </p:nvSpPr>
        <p:spPr bwMode="auto">
          <a:xfrm rot="10800000">
            <a:off x="4643439" y="5286388"/>
            <a:ext cx="1428759" cy="214314"/>
          </a:xfrm>
          <a:prstGeom prst="triangle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357290" y="4816802"/>
            <a:ext cx="3142702" cy="25527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altLang="ko-KR" sz="1600" b="1" i="1" dirty="0" smtClean="0">
                <a:solidFill>
                  <a:schemeClr val="tx2"/>
                </a:solidFill>
                <a:latin typeface="Georgia" pitchFamily="18" charset="0"/>
              </a:rPr>
              <a:t>“</a:t>
            </a:r>
            <a:r>
              <a:rPr lang="ko-KR" altLang="en-US" sz="1600" b="1" i="1" dirty="0" smtClean="0">
                <a:solidFill>
                  <a:schemeClr val="tx2"/>
                </a:solidFill>
                <a:latin typeface="Georgia" pitchFamily="18" charset="0"/>
              </a:rPr>
              <a:t>경쟁사 대비 풍부하고 광범위한</a:t>
            </a:r>
            <a:r>
              <a:rPr lang="en-US" altLang="ko-KR" sz="1600" b="1" i="1" dirty="0" smtClean="0">
                <a:solidFill>
                  <a:schemeClr val="tx2"/>
                </a:solidFill>
                <a:latin typeface="Georgia" pitchFamily="18" charset="0"/>
              </a:rPr>
              <a:t/>
            </a:r>
            <a:br>
              <a:rPr lang="en-US" altLang="ko-KR" sz="1600" b="1" i="1" dirty="0" smtClean="0">
                <a:solidFill>
                  <a:schemeClr val="tx2"/>
                </a:solidFill>
                <a:latin typeface="Georgia" pitchFamily="18" charset="0"/>
              </a:rPr>
            </a:br>
            <a:r>
              <a:rPr lang="ko-KR" altLang="en-US" sz="1600" b="1" i="1" dirty="0" err="1" smtClean="0">
                <a:solidFill>
                  <a:schemeClr val="tx2"/>
                </a:solidFill>
                <a:latin typeface="Georgia" pitchFamily="18" charset="0"/>
              </a:rPr>
              <a:t>홈퍼니싱</a:t>
            </a:r>
            <a:r>
              <a:rPr lang="ko-KR" altLang="en-US" sz="1600" b="1" i="1" dirty="0" smtClean="0">
                <a:solidFill>
                  <a:schemeClr val="tx2"/>
                </a:solidFill>
                <a:latin typeface="Georgia" pitchFamily="18" charset="0"/>
              </a:rPr>
              <a:t> </a:t>
            </a:r>
            <a:r>
              <a:rPr lang="ko-KR" altLang="en-US" sz="1600" b="1" i="1" dirty="0" err="1" smtClean="0">
                <a:solidFill>
                  <a:schemeClr val="tx2"/>
                </a:solidFill>
                <a:latin typeface="Georgia" pitchFamily="18" charset="0"/>
              </a:rPr>
              <a:t>컨텐츠</a:t>
            </a:r>
            <a:r>
              <a:rPr lang="ko-KR" altLang="en-US" sz="1600" b="1" i="1" dirty="0" smtClean="0">
                <a:solidFill>
                  <a:schemeClr val="tx2"/>
                </a:solidFill>
                <a:latin typeface="Georgia" pitchFamily="18" charset="0"/>
              </a:rPr>
              <a:t> 보유</a:t>
            </a:r>
            <a:r>
              <a:rPr lang="en-US" altLang="ko-KR" sz="1600" b="1" i="1" dirty="0" smtClean="0">
                <a:solidFill>
                  <a:schemeClr val="tx2"/>
                </a:solidFill>
                <a:latin typeface="Georgia" pitchFamily="18" charset="0"/>
              </a:rPr>
              <a:t>”</a:t>
            </a:r>
            <a:endParaRPr lang="ko-KR" altLang="en-US" sz="1600" b="1" i="1" dirty="0" smtClean="0">
              <a:solidFill>
                <a:schemeClr val="tx2"/>
              </a:solidFill>
              <a:latin typeface="Georgia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071934" y="5658233"/>
            <a:ext cx="3714776" cy="69972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altLang="ko-KR" sz="1600" b="1" i="1" dirty="0" smtClean="0">
                <a:solidFill>
                  <a:schemeClr val="tx2"/>
                </a:solidFill>
                <a:latin typeface="Georgia" pitchFamily="18" charset="0"/>
              </a:rPr>
              <a:t>“</a:t>
            </a:r>
            <a:r>
              <a:rPr lang="ko-KR" altLang="en-US" sz="1600" b="1" i="1" dirty="0" smtClean="0">
                <a:solidFill>
                  <a:schemeClr val="tx2"/>
                </a:solidFill>
                <a:latin typeface="Georgia" pitchFamily="18" charset="0"/>
              </a:rPr>
              <a:t>연관 </a:t>
            </a:r>
            <a:r>
              <a:rPr lang="ko-KR" altLang="en-US" sz="1600" b="1" i="1" dirty="0" err="1" smtClean="0">
                <a:solidFill>
                  <a:schemeClr val="tx2"/>
                </a:solidFill>
                <a:latin typeface="Georgia" pitchFamily="18" charset="0"/>
              </a:rPr>
              <a:t>컨텐츠</a:t>
            </a:r>
            <a:r>
              <a:rPr lang="en-US" altLang="ko-KR" sz="1600" b="1" i="1" dirty="0" smtClean="0">
                <a:solidFill>
                  <a:schemeClr val="tx2"/>
                </a:solidFill>
                <a:latin typeface="Georgia" pitchFamily="18" charset="0"/>
              </a:rPr>
              <a:t>/</a:t>
            </a:r>
            <a:r>
              <a:rPr lang="ko-KR" altLang="en-US" sz="1600" b="1" i="1" dirty="0" smtClean="0">
                <a:solidFill>
                  <a:schemeClr val="tx2"/>
                </a:solidFill>
                <a:latin typeface="Georgia" pitchFamily="18" charset="0"/>
              </a:rPr>
              <a:t>상품으로 유도하여</a:t>
            </a:r>
            <a:r>
              <a:rPr lang="en-US" altLang="ko-KR" sz="1600" b="1" i="1" dirty="0" smtClean="0">
                <a:solidFill>
                  <a:schemeClr val="tx2"/>
                </a:solidFill>
                <a:latin typeface="Georgia" pitchFamily="18" charset="0"/>
              </a:rPr>
              <a:t/>
            </a:r>
            <a:br>
              <a:rPr lang="en-US" altLang="ko-KR" sz="1600" b="1" i="1" dirty="0" smtClean="0">
                <a:solidFill>
                  <a:schemeClr val="tx2"/>
                </a:solidFill>
                <a:latin typeface="Georgia" pitchFamily="18" charset="0"/>
              </a:rPr>
            </a:br>
            <a:r>
              <a:rPr lang="ko-KR" altLang="en-US" sz="1600" b="1" i="1" dirty="0" smtClean="0">
                <a:solidFill>
                  <a:schemeClr val="tx2"/>
                </a:solidFill>
                <a:latin typeface="Georgia" pitchFamily="18" charset="0"/>
              </a:rPr>
              <a:t>체류시간 및 구매가능성 </a:t>
            </a:r>
            <a:r>
              <a:rPr lang="ko-KR" altLang="en-US" sz="1600" b="1" i="1" dirty="0" smtClean="0">
                <a:solidFill>
                  <a:schemeClr val="tx2"/>
                </a:solidFill>
                <a:latin typeface="Georgia" pitchFamily="18" charset="0"/>
                <a:sym typeface="Wingdings"/>
              </a:rPr>
              <a:t></a:t>
            </a:r>
            <a:r>
              <a:rPr lang="en-US" altLang="ko-KR" sz="1600" b="1" i="1" dirty="0" smtClean="0">
                <a:solidFill>
                  <a:schemeClr val="tx2"/>
                </a:solidFill>
                <a:latin typeface="Georgia" pitchFamily="18" charset="0"/>
              </a:rPr>
              <a:t>”</a:t>
            </a:r>
            <a:r>
              <a:rPr lang="ko-KR" altLang="en-US" sz="1600" b="1" i="1" dirty="0" smtClean="0">
                <a:solidFill>
                  <a:schemeClr val="tx2"/>
                </a:solidFill>
                <a:latin typeface="Georgia" pitchFamily="18" charset="0"/>
              </a:rPr>
              <a:t> </a:t>
            </a:r>
          </a:p>
        </p:txBody>
      </p:sp>
      <p:cxnSp>
        <p:nvCxnSpPr>
          <p:cNvPr id="56" name="직선 연결선 55"/>
          <p:cNvCxnSpPr/>
          <p:nvPr/>
        </p:nvCxnSpPr>
        <p:spPr>
          <a:xfrm>
            <a:off x="900562" y="3143248"/>
            <a:ext cx="3492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모서리가 둥근 직사각형 65"/>
          <p:cNvSpPr/>
          <p:nvPr/>
        </p:nvSpPr>
        <p:spPr bwMode="auto">
          <a:xfrm>
            <a:off x="1034124" y="2857496"/>
            <a:ext cx="900000" cy="21431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3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itchFamily="50" charset="-127"/>
              </a:rPr>
              <a:t>소품</a:t>
            </a:r>
          </a:p>
        </p:txBody>
      </p:sp>
      <p:sp>
        <p:nvSpPr>
          <p:cNvPr id="70" name="모서리가 둥근 직사각형 69"/>
          <p:cNvSpPr/>
          <p:nvPr/>
        </p:nvSpPr>
        <p:spPr bwMode="auto">
          <a:xfrm>
            <a:off x="1034124" y="2602566"/>
            <a:ext cx="2088000" cy="21431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3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itchFamily="50" charset="-127"/>
              </a:rPr>
              <a:t>인테리어</a:t>
            </a:r>
          </a:p>
        </p:txBody>
      </p:sp>
      <p:sp>
        <p:nvSpPr>
          <p:cNvPr id="73" name="모서리가 둥근 직사각형 72"/>
          <p:cNvSpPr/>
          <p:nvPr/>
        </p:nvSpPr>
        <p:spPr bwMode="auto">
          <a:xfrm>
            <a:off x="1034124" y="2348116"/>
            <a:ext cx="3276000" cy="214314"/>
          </a:xfrm>
          <a:prstGeom prst="roundRect">
            <a:avLst/>
          </a:prstGeom>
          <a:solidFill>
            <a:srgbClr val="86B4DE"/>
          </a:solidFill>
          <a:ln w="6350">
            <a:noFill/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300" b="1" kern="0" dirty="0" err="1" smtClean="0">
                <a:ea typeface="맑은 고딕" pitchFamily="50" charset="-127"/>
              </a:rPr>
              <a:t>홈퍼니싱</a:t>
            </a:r>
            <a:endParaRPr lang="ko-KR" altLang="en-US" sz="1300" b="1" kern="0" dirty="0" smtClean="0">
              <a:ea typeface="맑은 고딕" pitchFamily="50" charset="-127"/>
            </a:endParaRPr>
          </a:p>
        </p:txBody>
      </p:sp>
      <p:cxnSp>
        <p:nvCxnSpPr>
          <p:cNvPr id="77" name="직선 연결선 76"/>
          <p:cNvCxnSpPr/>
          <p:nvPr/>
        </p:nvCxnSpPr>
        <p:spPr>
          <a:xfrm flipH="1">
            <a:off x="1994050" y="2965495"/>
            <a:ext cx="6182" cy="176400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 flipH="1">
            <a:off x="3137058" y="2713495"/>
            <a:ext cx="6182" cy="201600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 flipH="1">
            <a:off x="4320272" y="2425495"/>
            <a:ext cx="6182" cy="230400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285852" y="3407973"/>
            <a:ext cx="541162" cy="36296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200" b="1" dirty="0" smtClean="0">
                <a:latin typeface="Georgia" pitchFamily="18" charset="0"/>
              </a:rPr>
              <a:t>소품</a:t>
            </a:r>
            <a:r>
              <a:rPr lang="en-US" altLang="ko-KR" sz="1200" b="1" dirty="0" smtClean="0">
                <a:latin typeface="Georgia" pitchFamily="18" charset="0"/>
              </a:rPr>
              <a:t/>
            </a:r>
            <a:br>
              <a:rPr lang="en-US" altLang="ko-KR" sz="1200" b="1" dirty="0" smtClean="0">
                <a:latin typeface="Georgia" pitchFamily="18" charset="0"/>
              </a:rPr>
            </a:br>
            <a:r>
              <a:rPr lang="ko-KR" altLang="en-US" sz="1200" b="1" dirty="0" smtClean="0">
                <a:latin typeface="Georgia" pitchFamily="18" charset="0"/>
              </a:rPr>
              <a:t>수납정리</a:t>
            </a:r>
            <a:r>
              <a:rPr lang="en-US" altLang="ko-KR" sz="1200" b="1" dirty="0" smtClean="0">
                <a:latin typeface="Georgia" pitchFamily="18" charset="0"/>
              </a:rPr>
              <a:t/>
            </a:r>
            <a:br>
              <a:rPr lang="en-US" altLang="ko-KR" sz="1200" b="1" dirty="0" smtClean="0">
                <a:latin typeface="Georgia" pitchFamily="18" charset="0"/>
              </a:rPr>
            </a:br>
            <a:r>
              <a:rPr lang="ko-KR" altLang="en-US" sz="1200" b="1" dirty="0" smtClean="0">
                <a:latin typeface="Georgia" pitchFamily="18" charset="0"/>
              </a:rPr>
              <a:t> 제품 </a:t>
            </a:r>
            <a:r>
              <a:rPr lang="ko-KR" altLang="en-US" sz="1200" b="1" dirty="0" err="1" smtClean="0">
                <a:latin typeface="Georgia" pitchFamily="18" charset="0"/>
              </a:rPr>
              <a:t>사용기</a:t>
            </a:r>
            <a:endParaRPr lang="ko-KR" altLang="en-US" sz="1200" b="1" dirty="0" smtClean="0">
              <a:latin typeface="Georgia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071670" y="3300418"/>
            <a:ext cx="1000132" cy="62864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200" b="1" dirty="0" smtClean="0">
                <a:latin typeface="Georgia" pitchFamily="18" charset="0"/>
              </a:rPr>
              <a:t>온라인집들이</a:t>
            </a:r>
            <a:r>
              <a:rPr lang="en-US" altLang="ko-KR" sz="1200" b="1" dirty="0" smtClean="0">
                <a:latin typeface="Georgia" pitchFamily="18" charset="0"/>
              </a:rPr>
              <a:t/>
            </a:r>
            <a:br>
              <a:rPr lang="en-US" altLang="ko-KR" sz="1200" b="1" dirty="0" smtClean="0">
                <a:latin typeface="Georgia" pitchFamily="18" charset="0"/>
              </a:rPr>
            </a:br>
            <a:r>
              <a:rPr lang="ko-KR" altLang="en-US" sz="1200" b="1" dirty="0" err="1" smtClean="0">
                <a:latin typeface="Georgia" pitchFamily="18" charset="0"/>
              </a:rPr>
              <a:t>셀프인테리어</a:t>
            </a:r>
            <a:r>
              <a:rPr lang="en-US" altLang="ko-KR" sz="1200" b="1" dirty="0" smtClean="0">
                <a:latin typeface="Georgia" pitchFamily="18" charset="0"/>
              </a:rPr>
              <a:t/>
            </a:r>
            <a:br>
              <a:rPr lang="en-US" altLang="ko-KR" sz="1200" b="1" dirty="0" smtClean="0">
                <a:latin typeface="Georgia" pitchFamily="18" charset="0"/>
              </a:rPr>
            </a:br>
            <a:r>
              <a:rPr lang="ko-KR" altLang="en-US" sz="1200" b="1" dirty="0" err="1" smtClean="0">
                <a:latin typeface="Georgia" pitchFamily="18" charset="0"/>
              </a:rPr>
              <a:t>리모델링</a:t>
            </a:r>
            <a:endParaRPr lang="en-US" altLang="ko-KR" sz="1200" b="1" dirty="0" smtClean="0">
              <a:latin typeface="Georgia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214678" y="3268614"/>
            <a:ext cx="1071570" cy="62864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200" b="1" dirty="0" smtClean="0">
                <a:latin typeface="Georgia" pitchFamily="18" charset="0"/>
              </a:rPr>
              <a:t>일상</a:t>
            </a:r>
            <a:r>
              <a:rPr lang="en-US" altLang="ko-KR" sz="1200" b="1" dirty="0" smtClean="0">
                <a:latin typeface="Georgia" pitchFamily="18" charset="0"/>
              </a:rPr>
              <a:t/>
            </a:r>
            <a:br>
              <a:rPr lang="en-US" altLang="ko-KR" sz="1200" b="1" dirty="0" smtClean="0">
                <a:latin typeface="Georgia" pitchFamily="18" charset="0"/>
              </a:rPr>
            </a:br>
            <a:r>
              <a:rPr lang="ko-KR" altLang="en-US" sz="1200" b="1" dirty="0" smtClean="0">
                <a:latin typeface="Georgia" pitchFamily="18" charset="0"/>
              </a:rPr>
              <a:t>반려동물</a:t>
            </a:r>
            <a:r>
              <a:rPr lang="en-US" altLang="ko-KR" sz="1200" b="1" dirty="0" smtClean="0">
                <a:latin typeface="Georgia" pitchFamily="18" charset="0"/>
              </a:rPr>
              <a:t/>
            </a:r>
            <a:br>
              <a:rPr lang="en-US" altLang="ko-KR" sz="1200" b="1" dirty="0" smtClean="0">
                <a:latin typeface="Georgia" pitchFamily="18" charset="0"/>
              </a:rPr>
            </a:br>
            <a:r>
              <a:rPr lang="ko-KR" altLang="en-US" sz="1200" b="1" dirty="0" err="1" smtClean="0">
                <a:latin typeface="Georgia" pitchFamily="18" charset="0"/>
              </a:rPr>
              <a:t>플레이팅</a:t>
            </a:r>
            <a:r>
              <a:rPr lang="en-US" altLang="ko-KR" sz="1200" b="1" dirty="0" smtClean="0">
                <a:latin typeface="Georgia" pitchFamily="18" charset="0"/>
              </a:rPr>
              <a:t/>
            </a:r>
            <a:br>
              <a:rPr lang="en-US" altLang="ko-KR" sz="1200" b="1" dirty="0" smtClean="0">
                <a:latin typeface="Georgia" pitchFamily="18" charset="0"/>
              </a:rPr>
            </a:br>
            <a:r>
              <a:rPr lang="ko-KR" altLang="en-US" sz="1200" b="1" dirty="0" err="1" smtClean="0">
                <a:latin typeface="Georgia" pitchFamily="18" charset="0"/>
              </a:rPr>
              <a:t>홈가드닝</a:t>
            </a:r>
            <a:endParaRPr lang="en-US" altLang="ko-KR" sz="1200" b="1" dirty="0" smtClean="0">
              <a:latin typeface="Georgia" pitchFamily="18" charset="0"/>
            </a:endParaRPr>
          </a:p>
        </p:txBody>
      </p:sp>
      <p:sp>
        <p:nvSpPr>
          <p:cNvPr id="81" name="모서리가 둥근 직사각형 80"/>
          <p:cNvSpPr/>
          <p:nvPr/>
        </p:nvSpPr>
        <p:spPr bwMode="auto">
          <a:xfrm>
            <a:off x="1071538" y="3199176"/>
            <a:ext cx="3183888" cy="801328"/>
          </a:xfrm>
          <a:prstGeom prst="round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cxnSp>
        <p:nvCxnSpPr>
          <p:cNvPr id="85" name="직선 화살표 연결선 84"/>
          <p:cNvCxnSpPr/>
          <p:nvPr/>
        </p:nvCxnSpPr>
        <p:spPr>
          <a:xfrm rot="5400000">
            <a:off x="3398130" y="4332455"/>
            <a:ext cx="648000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244756" y="4199037"/>
            <a:ext cx="541162" cy="32636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200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수납</a:t>
            </a:r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/>
            </a:r>
            <a:b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</a:br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DIY </a:t>
            </a:r>
            <a:r>
              <a:rPr lang="ko-KR" altLang="en-US" sz="1200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리폼</a:t>
            </a:r>
            <a:endParaRPr lang="ko-KR" altLang="en-US" sz="1200" dirty="0" smtClean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173930" y="4087723"/>
            <a:ext cx="857256" cy="53666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200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리모델링</a:t>
            </a:r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/>
            </a:r>
            <a:b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</a:br>
            <a:r>
              <a:rPr lang="ko-KR" altLang="en-US" sz="1200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셀프가이드</a:t>
            </a:r>
            <a:endParaRPr lang="ko-KR" altLang="en-US" sz="1200" dirty="0" smtClean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sp>
        <p:nvSpPr>
          <p:cNvPr id="92" name="타원 91"/>
          <p:cNvSpPr/>
          <p:nvPr/>
        </p:nvSpPr>
        <p:spPr bwMode="auto">
          <a:xfrm>
            <a:off x="71406" y="3255833"/>
            <a:ext cx="928694" cy="64294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n-US" altLang="ko-KR" sz="1200" b="1" kern="0" dirty="0" smtClean="0">
                <a:solidFill>
                  <a:srgbClr val="000000"/>
                </a:solidFill>
                <a:ea typeface="맑은 고딕" pitchFamily="50" charset="-127"/>
              </a:rPr>
              <a:t>Target</a:t>
            </a:r>
            <a:r>
              <a:rPr lang="ko-KR" altLang="en-US" sz="1200" b="1" kern="0" dirty="0" smtClean="0">
                <a:solidFill>
                  <a:srgbClr val="000000"/>
                </a:solidFill>
                <a:ea typeface="맑은 고딕" pitchFamily="50" charset="-127"/>
              </a:rPr>
              <a:t>커뮤니티</a:t>
            </a:r>
          </a:p>
        </p:txBody>
      </p:sp>
      <p:sp>
        <p:nvSpPr>
          <p:cNvPr id="93" name="타원 92"/>
          <p:cNvSpPr/>
          <p:nvPr/>
        </p:nvSpPr>
        <p:spPr bwMode="auto">
          <a:xfrm>
            <a:off x="71406" y="4039398"/>
            <a:ext cx="928694" cy="6429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200" kern="0" dirty="0" smtClean="0">
                <a:solidFill>
                  <a:schemeClr val="bg1">
                    <a:lumMod val="50000"/>
                  </a:schemeClr>
                </a:solidFill>
                <a:ea typeface="맑은 고딕" pitchFamily="50" charset="-127"/>
              </a:rPr>
              <a:t>경쟁사</a:t>
            </a:r>
            <a:r>
              <a:rPr lang="en-US" altLang="ko-KR" sz="1200" kern="0" dirty="0" smtClean="0">
                <a:solidFill>
                  <a:schemeClr val="bg1">
                    <a:lumMod val="50000"/>
                  </a:schemeClr>
                </a:solidFill>
                <a:ea typeface="맑은 고딕" pitchFamily="50" charset="-127"/>
              </a:rPr>
              <a:t/>
            </a:r>
            <a:br>
              <a:rPr lang="en-US" altLang="ko-KR" sz="1200" kern="0" dirty="0" smtClean="0">
                <a:solidFill>
                  <a:schemeClr val="bg1">
                    <a:lumMod val="50000"/>
                  </a:schemeClr>
                </a:solidFill>
                <a:ea typeface="맑은 고딕" pitchFamily="50" charset="-127"/>
              </a:rPr>
            </a:br>
            <a:r>
              <a:rPr lang="ko-KR" altLang="en-US" sz="1200" kern="0" dirty="0" smtClean="0">
                <a:solidFill>
                  <a:schemeClr val="bg1">
                    <a:lumMod val="50000"/>
                  </a:schemeClr>
                </a:solidFill>
                <a:ea typeface="맑은 고딕" pitchFamily="50" charset="-127"/>
              </a:rPr>
              <a:t>커뮤니티</a:t>
            </a:r>
          </a:p>
        </p:txBody>
      </p:sp>
      <p:sp>
        <p:nvSpPr>
          <p:cNvPr id="94" name="모서리가 둥근 직사각형 93"/>
          <p:cNvSpPr/>
          <p:nvPr/>
        </p:nvSpPr>
        <p:spPr bwMode="auto">
          <a:xfrm>
            <a:off x="1071538" y="4071942"/>
            <a:ext cx="2071702" cy="571504"/>
          </a:xfrm>
          <a:prstGeom prst="roundRect">
            <a:avLst/>
          </a:prstGeom>
          <a:noFill/>
          <a:ln w="1270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6429388" y="1873384"/>
            <a:ext cx="2428892" cy="1198426"/>
            <a:chOff x="6215074" y="2230574"/>
            <a:chExt cx="4214842" cy="2269996"/>
          </a:xfrm>
        </p:grpSpPr>
        <p:sp>
          <p:nvSpPr>
            <p:cNvPr id="95" name="직사각형 94"/>
            <p:cNvSpPr/>
            <p:nvPr/>
          </p:nvSpPr>
          <p:spPr bwMode="auto">
            <a:xfrm>
              <a:off x="6215074" y="2571744"/>
              <a:ext cx="4214842" cy="1928826"/>
            </a:xfrm>
            <a:prstGeom prst="rect">
              <a:avLst/>
            </a:prstGeom>
            <a:noFill/>
            <a:ln w="635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72000" tIns="72000" rIns="72000" bIns="72000" rtlCol="0" anchor="t" anchorCtr="0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</a:pPr>
              <a:endParaRPr lang="ko-KR" altLang="en-US" sz="1300" kern="0" dirty="0" smtClean="0">
                <a:solidFill>
                  <a:srgbClr val="000000"/>
                </a:solidFill>
                <a:ea typeface="맑은 고딕" pitchFamily="50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 bwMode="auto">
            <a:xfrm>
              <a:off x="6215074" y="2230574"/>
              <a:ext cx="4214842" cy="350696"/>
            </a:xfrm>
            <a:prstGeom prst="rect">
              <a:avLst/>
            </a:prstGeom>
            <a:solidFill>
              <a:srgbClr val="86B4DE"/>
            </a:solidFill>
            <a:ln w="635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72000" tIns="72000" rIns="72000" bIns="72000" rtlCol="0" anchor="ctr" anchorCtr="0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</a:pPr>
              <a:r>
                <a:rPr lang="ko-KR" altLang="en-US" sz="1000" b="1" kern="0" dirty="0" smtClean="0">
                  <a:solidFill>
                    <a:srgbClr val="000000"/>
                  </a:solidFill>
                  <a:ea typeface="맑은 고딕" pitchFamily="50" charset="-127"/>
                </a:rPr>
                <a:t>글과 연관된 상품</a:t>
              </a:r>
            </a:p>
          </p:txBody>
        </p:sp>
      </p:grpSp>
      <p:cxnSp>
        <p:nvCxnSpPr>
          <p:cNvPr id="106" name="꺾인 연결선 105"/>
          <p:cNvCxnSpPr>
            <a:stCxn id="515" idx="3"/>
            <a:endCxn id="58" idx="1"/>
          </p:cNvCxnSpPr>
          <p:nvPr/>
        </p:nvCxnSpPr>
        <p:spPr>
          <a:xfrm>
            <a:off x="5715008" y="3828192"/>
            <a:ext cx="714380" cy="129021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stCxn id="515" idx="3"/>
            <a:endCxn id="95" idx="1"/>
          </p:cNvCxnSpPr>
          <p:nvPr/>
        </p:nvCxnSpPr>
        <p:spPr>
          <a:xfrm flipV="1">
            <a:off x="5715008" y="2562656"/>
            <a:ext cx="714380" cy="126553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/>
          <p:cNvCxnSpPr>
            <a:stCxn id="515" idx="3"/>
            <a:endCxn id="54" idx="1"/>
          </p:cNvCxnSpPr>
          <p:nvPr/>
        </p:nvCxnSpPr>
        <p:spPr>
          <a:xfrm>
            <a:off x="5715008" y="3828192"/>
            <a:ext cx="714380" cy="43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 bwMode="auto">
          <a:xfrm>
            <a:off x="6429388" y="3323366"/>
            <a:ext cx="2428892" cy="1018308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55" name="직사각형 54"/>
          <p:cNvSpPr/>
          <p:nvPr/>
        </p:nvSpPr>
        <p:spPr bwMode="auto">
          <a:xfrm>
            <a:off x="6429388" y="3143248"/>
            <a:ext cx="2428892" cy="185147"/>
          </a:xfrm>
          <a:prstGeom prst="rect">
            <a:avLst/>
          </a:prstGeom>
          <a:solidFill>
            <a:srgbClr val="86B4DE"/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000" b="1" kern="0" dirty="0" smtClean="0">
                <a:solidFill>
                  <a:srgbClr val="000000"/>
                </a:solidFill>
                <a:ea typeface="맑은 고딕" pitchFamily="50" charset="-127"/>
              </a:rPr>
              <a:t>공간별 추천 글</a:t>
            </a:r>
          </a:p>
        </p:txBody>
      </p:sp>
      <p:sp>
        <p:nvSpPr>
          <p:cNvPr id="58" name="직사각형 57"/>
          <p:cNvSpPr/>
          <p:nvPr/>
        </p:nvSpPr>
        <p:spPr bwMode="auto">
          <a:xfrm>
            <a:off x="6429388" y="4609250"/>
            <a:ext cx="2428892" cy="1018308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59" name="직사각형 58"/>
          <p:cNvSpPr/>
          <p:nvPr/>
        </p:nvSpPr>
        <p:spPr bwMode="auto">
          <a:xfrm>
            <a:off x="6429388" y="4429132"/>
            <a:ext cx="2428892" cy="185147"/>
          </a:xfrm>
          <a:prstGeom prst="rect">
            <a:avLst/>
          </a:prstGeom>
          <a:solidFill>
            <a:srgbClr val="86B4DE"/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000" b="1" kern="0" dirty="0" smtClean="0">
                <a:solidFill>
                  <a:srgbClr val="000000"/>
                </a:solidFill>
                <a:ea typeface="맑은 고딕" pitchFamily="50" charset="-127"/>
              </a:rPr>
              <a:t>작성자의 다른 글</a:t>
            </a:r>
          </a:p>
        </p:txBody>
      </p:sp>
      <p:sp>
        <p:nvSpPr>
          <p:cNvPr id="515" name="직사각형 514"/>
          <p:cNvSpPr/>
          <p:nvPr/>
        </p:nvSpPr>
        <p:spPr bwMode="auto">
          <a:xfrm>
            <a:off x="4786314" y="3522192"/>
            <a:ext cx="928694" cy="61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0" tIns="0" rIns="0" bIns="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300" b="1" kern="0" dirty="0" smtClean="0">
                <a:solidFill>
                  <a:srgbClr val="000000"/>
                </a:solidFill>
                <a:ea typeface="맑은 고딕" pitchFamily="50" charset="-127"/>
              </a:rPr>
              <a:t>사용자 작성</a:t>
            </a:r>
            <a:r>
              <a:rPr lang="en-US" altLang="ko-KR" sz="1300" b="1" kern="0" dirty="0" smtClean="0">
                <a:solidFill>
                  <a:srgbClr val="000000"/>
                </a:solidFill>
                <a:ea typeface="맑은 고딕" pitchFamily="50" charset="-127"/>
              </a:rPr>
              <a:t/>
            </a:r>
            <a:br>
              <a:rPr lang="en-US" altLang="ko-KR" sz="1300" b="1" kern="0" dirty="0" smtClean="0">
                <a:solidFill>
                  <a:srgbClr val="000000"/>
                </a:solidFill>
                <a:ea typeface="맑은 고딕" pitchFamily="50" charset="-127"/>
              </a:rPr>
            </a:br>
            <a:r>
              <a:rPr lang="ko-KR" altLang="en-US" sz="1300" b="1" kern="0" dirty="0" err="1" smtClean="0">
                <a:solidFill>
                  <a:srgbClr val="000000"/>
                </a:solidFill>
                <a:ea typeface="맑은 고딕" pitchFamily="50" charset="-127"/>
              </a:rPr>
              <a:t>컨텐츠</a:t>
            </a:r>
            <a:r>
              <a:rPr lang="ko-KR" altLang="en-US" sz="1300" b="1" kern="0" dirty="0" smtClean="0">
                <a:solidFill>
                  <a:srgbClr val="000000"/>
                </a:solidFill>
                <a:ea typeface="맑은 고딕" pitchFamily="50" charset="-127"/>
              </a:rPr>
              <a:t> 內</a:t>
            </a:r>
            <a:endParaRPr lang="en-US" altLang="ko-KR" sz="1300" b="1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pic>
        <p:nvPicPr>
          <p:cNvPr id="525" name="Picture 3"/>
          <p:cNvPicPr>
            <a:picLocks noChangeAspect="1" noChangeArrowheads="1"/>
          </p:cNvPicPr>
          <p:nvPr/>
        </p:nvPicPr>
        <p:blipFill>
          <a:blip r:embed="rId5"/>
          <a:srcRect l="63867" t="63541" r="8008" b="15625"/>
          <a:stretch>
            <a:fillRect/>
          </a:stretch>
        </p:blipFill>
        <p:spPr bwMode="auto">
          <a:xfrm>
            <a:off x="6500826" y="4662538"/>
            <a:ext cx="2357454" cy="936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79215" y="1250634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smtClean="0">
                <a:latin typeface="Georgia" pitchFamily="18" charset="0"/>
              </a:rPr>
              <a:t>커뮤니티는 경쟁사 대비 더욱 확장된 범위의 </a:t>
            </a:r>
            <a:r>
              <a:rPr lang="ko-KR" altLang="en-US" sz="1400" dirty="0" err="1" smtClean="0">
                <a:latin typeface="Georgia" pitchFamily="18" charset="0"/>
              </a:rPr>
              <a:t>홈퍼니싱에</a:t>
            </a:r>
            <a:r>
              <a:rPr lang="ko-KR" altLang="en-US" sz="1400" dirty="0" smtClean="0">
                <a:latin typeface="Georgia" pitchFamily="18" charset="0"/>
              </a:rPr>
              <a:t> 관한 다양하고 광범위한 </a:t>
            </a:r>
            <a:r>
              <a:rPr lang="ko-KR" altLang="en-US" sz="1400" dirty="0" err="1" smtClean="0">
                <a:latin typeface="Georgia" pitchFamily="18" charset="0"/>
              </a:rPr>
              <a:t>컨텐츠를</a:t>
            </a:r>
            <a:r>
              <a:rPr lang="ko-KR" altLang="en-US" sz="1400" dirty="0" smtClean="0">
                <a:latin typeface="Georgia" pitchFamily="18" charset="0"/>
              </a:rPr>
              <a:t> </a:t>
            </a:r>
            <a:r>
              <a:rPr lang="en-US" altLang="ko-KR" sz="1400" dirty="0" smtClean="0">
                <a:latin typeface="Georgia" pitchFamily="18" charset="0"/>
              </a:rPr>
              <a:t/>
            </a:r>
            <a:br>
              <a:rPr lang="en-US" altLang="ko-KR" sz="1400" dirty="0" smtClean="0">
                <a:latin typeface="Georgia" pitchFamily="18" charset="0"/>
              </a:rPr>
            </a:br>
            <a:r>
              <a:rPr lang="ko-KR" altLang="en-US" sz="1400" dirty="0" smtClean="0">
                <a:latin typeface="Georgia" pitchFamily="18" charset="0"/>
              </a:rPr>
              <a:t>보유하고 있으며</a:t>
            </a:r>
            <a:r>
              <a:rPr lang="en-US" altLang="ko-KR" sz="1400" dirty="0" smtClean="0">
                <a:latin typeface="Georgia" pitchFamily="18" charset="0"/>
              </a:rPr>
              <a:t>, </a:t>
            </a:r>
            <a:r>
              <a:rPr lang="ko-KR" altLang="en-US" sz="1400" dirty="0" smtClean="0">
                <a:latin typeface="Georgia" pitchFamily="18" charset="0"/>
              </a:rPr>
              <a:t>연관 </a:t>
            </a:r>
            <a:r>
              <a:rPr lang="ko-KR" altLang="en-US" sz="1400" dirty="0" err="1" smtClean="0">
                <a:latin typeface="Georgia" pitchFamily="18" charset="0"/>
              </a:rPr>
              <a:t>컨텐츠로의</a:t>
            </a:r>
            <a:r>
              <a:rPr lang="ko-KR" altLang="en-US" sz="1400" dirty="0" smtClean="0">
                <a:latin typeface="Georgia" pitchFamily="18" charset="0"/>
              </a:rPr>
              <a:t> 유입 및 관련상품의 구매를 유도하는 구성임</a:t>
            </a:r>
            <a:endParaRPr lang="en-US" sz="1400" dirty="0">
              <a:latin typeface="Georgia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2819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  </a:t>
            </a:r>
            <a:r>
              <a:rPr lang="ko-KR" altLang="en-US" dirty="0" err="1" smtClean="0"/>
              <a:t>성공경험이</a:t>
            </a:r>
            <a:r>
              <a:rPr lang="ko-KR" altLang="en-US" dirty="0" smtClean="0"/>
              <a:t> </a:t>
            </a:r>
            <a:r>
              <a:rPr lang="ko-KR" altLang="en-US" dirty="0"/>
              <a:t>이식된 차별화된 사업구조 </a:t>
            </a:r>
            <a:r>
              <a:rPr lang="ko-KR" altLang="en-US" dirty="0" smtClean="0"/>
              <a:t>구축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커뮤니티 </a:t>
            </a:r>
            <a:endParaRPr lang="en-US" altLang="ko-KR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altLang="ko-KR" dirty="0" smtClean="0"/>
              <a:t>30/50</a:t>
            </a:r>
            <a:r>
              <a:rPr lang="ko-KR" altLang="en-US" dirty="0"/>
              <a:t>대</a:t>
            </a:r>
            <a:r>
              <a:rPr lang="ko-KR" altLang="en-US" dirty="0" smtClean="0"/>
              <a:t> 주부층 중심의 커뮤니티 핵심 사용자층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4913875" y="1844519"/>
            <a:ext cx="3960441" cy="393709"/>
            <a:chOff x="251520" y="1844520"/>
            <a:chExt cx="4112668" cy="287716"/>
          </a:xfrm>
        </p:grpSpPr>
        <p:cxnSp>
          <p:nvCxnSpPr>
            <p:cNvPr id="23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ko-KR" altLang="en-US" sz="1200" b="1" dirty="0">
                  <a:latin typeface="Georgia" pitchFamily="18" charset="0"/>
                </a:rPr>
                <a:t>인테리어 선호 </a:t>
              </a:r>
              <a:r>
                <a:rPr lang="en-US" altLang="ko-KR" sz="1200" b="1" dirty="0">
                  <a:latin typeface="Georgia" pitchFamily="18" charset="0"/>
                </a:rPr>
                <a:t>app </a:t>
              </a:r>
              <a:r>
                <a:rPr lang="ko-KR" altLang="en-US" sz="1200" b="1" dirty="0">
                  <a:latin typeface="Georgia" pitchFamily="18" charset="0"/>
                </a:rPr>
                <a:t>설문 결과 </a:t>
              </a:r>
              <a:r>
                <a:rPr lang="en-US" altLang="ko-KR" sz="1200" b="1" dirty="0">
                  <a:latin typeface="Georgia" pitchFamily="18" charset="0"/>
                </a:rPr>
                <a:t>: 30</a:t>
              </a:r>
              <a:r>
                <a:rPr lang="ko-KR" altLang="en-US" sz="1200" b="1" dirty="0">
                  <a:latin typeface="Georgia" pitchFamily="18" charset="0"/>
                </a:rPr>
                <a:t>대 이상 대상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smtClean="0">
                <a:latin typeface="Georgia" pitchFamily="18" charset="0"/>
              </a:rPr>
              <a:t>시장의 트렌드를 주도하는 구매력 높은 </a:t>
            </a:r>
            <a:r>
              <a:rPr lang="en-US" altLang="ko-KR" sz="1400" dirty="0" smtClean="0">
                <a:latin typeface="Georgia" pitchFamily="18" charset="0"/>
              </a:rPr>
              <a:t>3050 </a:t>
            </a:r>
            <a:r>
              <a:rPr lang="ko-KR" altLang="en-US" sz="1400" dirty="0" smtClean="0">
                <a:latin typeface="Georgia" pitchFamily="18" charset="0"/>
              </a:rPr>
              <a:t>주부층을 주 활성 사용자로 보유하고 있으며</a:t>
            </a:r>
            <a:r>
              <a:rPr lang="en-US" altLang="ko-KR" sz="1400" dirty="0" smtClean="0">
                <a:latin typeface="Georgia" pitchFamily="18" charset="0"/>
              </a:rPr>
              <a:t>, 30</a:t>
            </a:r>
            <a:r>
              <a:rPr lang="ko-KR" altLang="en-US" sz="1400" dirty="0" smtClean="0">
                <a:latin typeface="Georgia" pitchFamily="18" charset="0"/>
              </a:rPr>
              <a:t>대 이상 고객층에서 가장 높은 선호도를 보이고 있음</a:t>
            </a:r>
            <a:endParaRPr lang="en-US" sz="1400" dirty="0">
              <a:latin typeface="Georgia" pitchFamily="18" charset="0"/>
            </a:endParaRPr>
          </a:p>
        </p:txBody>
      </p:sp>
      <p:graphicFrame>
        <p:nvGraphicFramePr>
          <p:cNvPr id="42" name="차트 41">
            <a:extLst>
              <a:ext uri="{FF2B5EF4-FFF2-40B4-BE49-F238E27FC236}">
                <a16:creationId xmlns="" xmlns:a16="http://schemas.microsoft.com/office/drawing/2014/main" id="{1AF6C9D3-D3BC-4D4F-B0F4-E6718D68D9D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474397943"/>
              </p:ext>
            </p:extLst>
          </p:nvPr>
        </p:nvGraphicFramePr>
        <p:xfrm>
          <a:off x="4892345" y="2280219"/>
          <a:ext cx="4214842" cy="31629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3" name="직사각형 42">
            <a:extLst>
              <a:ext uri="{FF2B5EF4-FFF2-40B4-BE49-F238E27FC236}">
                <a16:creationId xmlns="" xmlns:a16="http://schemas.microsoft.com/office/drawing/2014/main" id="{ED506A04-55F9-42C7-8C2B-80C8088F362D}"/>
              </a:ext>
            </a:extLst>
          </p:cNvPr>
          <p:cNvSpPr/>
          <p:nvPr/>
        </p:nvSpPr>
        <p:spPr bwMode="ltGray">
          <a:xfrm rot="5400000">
            <a:off x="6571760" y="816784"/>
            <a:ext cx="675552" cy="381941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C00000"/>
              </a:solidFill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="" xmlns:a16="http://schemas.microsoft.com/office/drawing/2014/main" id="{41A7ADD4-DD2A-4E0D-A587-20275ACED221}"/>
              </a:ext>
            </a:extLst>
          </p:cNvPr>
          <p:cNvCxnSpPr>
            <a:cxnSpLocks/>
          </p:cNvCxnSpPr>
          <p:nvPr/>
        </p:nvCxnSpPr>
        <p:spPr>
          <a:xfrm>
            <a:off x="8298252" y="2866659"/>
            <a:ext cx="0" cy="8371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="" xmlns:a16="http://schemas.microsoft.com/office/drawing/2014/main" id="{13721755-B79B-4142-9E33-F522E898AF63}"/>
              </a:ext>
            </a:extLst>
          </p:cNvPr>
          <p:cNvCxnSpPr>
            <a:cxnSpLocks/>
          </p:cNvCxnSpPr>
          <p:nvPr/>
        </p:nvCxnSpPr>
        <p:spPr>
          <a:xfrm>
            <a:off x="7081706" y="3422650"/>
            <a:ext cx="113665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타원 46">
            <a:extLst>
              <a:ext uri="{FF2B5EF4-FFF2-40B4-BE49-F238E27FC236}">
                <a16:creationId xmlns="" xmlns:a16="http://schemas.microsoft.com/office/drawing/2014/main" id="{D57F31CE-2BC3-4C73-90D4-5023EF200CC9}"/>
              </a:ext>
            </a:extLst>
          </p:cNvPr>
          <p:cNvSpPr/>
          <p:nvPr/>
        </p:nvSpPr>
        <p:spPr bwMode="ltGray">
          <a:xfrm>
            <a:off x="7235971" y="3249955"/>
            <a:ext cx="714941" cy="323061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14%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="" xmlns:a16="http://schemas.microsoft.com/office/drawing/2014/main" id="{4248835E-5C4A-408E-869D-8878591A5CA6}"/>
              </a:ext>
            </a:extLst>
          </p:cNvPr>
          <p:cNvSpPr/>
          <p:nvPr/>
        </p:nvSpPr>
        <p:spPr>
          <a:xfrm>
            <a:off x="4985884" y="5362632"/>
            <a:ext cx="38194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</a:pPr>
            <a:r>
              <a:rPr lang="en-US" altLang="ko-KR" sz="1400" b="1" i="1" dirty="0">
                <a:solidFill>
                  <a:srgbClr val="C00000"/>
                </a:solidFill>
                <a:latin typeface="Georgia" pitchFamily="18" charset="0"/>
              </a:rPr>
              <a:t>“</a:t>
            </a:r>
            <a:r>
              <a:rPr lang="ko-KR" altLang="en-US" sz="1400" b="1" i="1" dirty="0">
                <a:solidFill>
                  <a:srgbClr val="C00000"/>
                </a:solidFill>
                <a:latin typeface="Georgia" pitchFamily="18" charset="0"/>
              </a:rPr>
              <a:t>경쟁사 대비 </a:t>
            </a:r>
            <a:r>
              <a:rPr lang="ko-KR" altLang="en-US" sz="1400" b="1" i="1" dirty="0" smtClean="0">
                <a:solidFill>
                  <a:srgbClr val="C00000"/>
                </a:solidFill>
                <a:latin typeface="Georgia" pitchFamily="18" charset="0"/>
              </a:rPr>
              <a:t>압도적으로</a:t>
            </a:r>
            <a:r>
              <a:rPr lang="en-US" altLang="ko-KR" sz="1400" b="1" i="1" dirty="0">
                <a:solidFill>
                  <a:srgbClr val="C00000"/>
                </a:solidFill>
                <a:latin typeface="Georgia" pitchFamily="18" charset="0"/>
              </a:rPr>
              <a:t> </a:t>
            </a:r>
            <a:r>
              <a:rPr lang="ko-KR" altLang="en-US" sz="1400" b="1" i="1" dirty="0" smtClean="0">
                <a:solidFill>
                  <a:srgbClr val="C00000"/>
                </a:solidFill>
                <a:latin typeface="Georgia" pitchFamily="18" charset="0"/>
              </a:rPr>
              <a:t>높은 </a:t>
            </a:r>
            <a:r>
              <a:rPr lang="en-US" altLang="ko-KR" sz="1400" b="1" i="1" dirty="0" smtClean="0">
                <a:solidFill>
                  <a:srgbClr val="C00000"/>
                </a:solidFill>
                <a:latin typeface="Georgia" pitchFamily="18" charset="0"/>
              </a:rPr>
              <a:t/>
            </a:r>
            <a:br>
              <a:rPr lang="en-US" altLang="ko-KR" sz="1400" b="1" i="1" dirty="0" smtClean="0">
                <a:solidFill>
                  <a:srgbClr val="C00000"/>
                </a:solidFill>
                <a:latin typeface="Georgia" pitchFamily="18" charset="0"/>
              </a:rPr>
            </a:br>
            <a:r>
              <a:rPr lang="en-US" altLang="ko-KR" sz="1400" b="1" i="1" dirty="0" smtClean="0">
                <a:solidFill>
                  <a:srgbClr val="C00000"/>
                </a:solidFill>
                <a:latin typeface="Georgia" pitchFamily="18" charset="0"/>
              </a:rPr>
              <a:t>30</a:t>
            </a:r>
            <a:r>
              <a:rPr lang="ko-KR" altLang="en-US" sz="1400" b="1" i="1" dirty="0" smtClean="0">
                <a:solidFill>
                  <a:srgbClr val="C00000"/>
                </a:solidFill>
                <a:latin typeface="Georgia" pitchFamily="18" charset="0"/>
              </a:rPr>
              <a:t>대 이상 선호도 확보하고 있으며</a:t>
            </a:r>
            <a:r>
              <a:rPr lang="en-US" altLang="ko-KR" sz="1400" b="1" i="1" dirty="0">
                <a:solidFill>
                  <a:srgbClr val="C00000"/>
                </a:solidFill>
                <a:latin typeface="Georgia" pitchFamily="18" charset="0"/>
              </a:rPr>
              <a:t/>
            </a:r>
            <a:br>
              <a:rPr lang="en-US" altLang="ko-KR" sz="1400" b="1" i="1" dirty="0">
                <a:solidFill>
                  <a:srgbClr val="C00000"/>
                </a:solidFill>
                <a:latin typeface="Georgia" pitchFamily="18" charset="0"/>
              </a:rPr>
            </a:br>
            <a:r>
              <a:rPr lang="ko-KR" altLang="en-US" sz="1400" b="1" i="1" dirty="0" smtClean="0">
                <a:solidFill>
                  <a:srgbClr val="C00000"/>
                </a:solidFill>
                <a:latin typeface="Georgia" pitchFamily="18" charset="0"/>
              </a:rPr>
              <a:t>고단가 상품</a:t>
            </a:r>
            <a:r>
              <a:rPr lang="en-US" altLang="ko-KR" sz="1400" b="1" i="1" dirty="0" smtClean="0">
                <a:solidFill>
                  <a:srgbClr val="C00000"/>
                </a:solidFill>
                <a:latin typeface="Georgia" pitchFamily="18" charset="0"/>
              </a:rPr>
              <a:t>/</a:t>
            </a:r>
            <a:r>
              <a:rPr lang="ko-KR" altLang="en-US" sz="1400" b="1" i="1" dirty="0" smtClean="0">
                <a:solidFill>
                  <a:srgbClr val="C00000"/>
                </a:solidFill>
                <a:latin typeface="Georgia" pitchFamily="18" charset="0"/>
              </a:rPr>
              <a:t>서비스 판매 가능</a:t>
            </a:r>
            <a:r>
              <a:rPr lang="en-US" altLang="ko-KR" sz="1400" b="1" i="1" dirty="0" smtClean="0">
                <a:solidFill>
                  <a:srgbClr val="C00000"/>
                </a:solidFill>
                <a:latin typeface="Georgia" pitchFamily="18" charset="0"/>
              </a:rPr>
              <a:t>”</a:t>
            </a:r>
            <a:endParaRPr lang="en-US" altLang="ko-KR" sz="1400" b="1" i="1" dirty="0">
              <a:solidFill>
                <a:srgbClr val="C00000"/>
              </a:solidFill>
              <a:latin typeface="Georgia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081386" y="2598127"/>
            <a:ext cx="756989" cy="28459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altLang="ko-KR" sz="1200" b="1" dirty="0" smtClean="0">
                <a:latin typeface="Georgia" pitchFamily="18" charset="0"/>
              </a:rPr>
              <a:t>Target</a:t>
            </a:r>
            <a:endParaRPr lang="ko-KR" altLang="en-US" sz="1200" b="1" dirty="0" err="1" smtClean="0">
              <a:latin typeface="Georgia" pitchFamily="18" charset="0"/>
            </a:endParaRPr>
          </a:p>
        </p:txBody>
      </p:sp>
      <p:sp>
        <p:nvSpPr>
          <p:cNvPr id="50" name="내용 개체 틀 24"/>
          <p:cNvSpPr txBox="1">
            <a:spLocks/>
          </p:cNvSpPr>
          <p:nvPr/>
        </p:nvSpPr>
        <p:spPr>
          <a:xfrm>
            <a:off x="423610" y="6285440"/>
            <a:ext cx="6084000" cy="4297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Tx/>
              <a:buFontTx/>
              <a:buNone/>
              <a:tabLst/>
              <a:defRPr sz="1000" b="0" kern="1200" baseline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2pPr>
            <a:lvl3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-"/>
              <a:defRPr sz="10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3pPr>
            <a:lvl4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◦"/>
              <a:defRPr sz="10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›"/>
              <a:defRPr sz="1000" kern="1200" baseline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5pPr>
            <a:lvl6pPr marL="274320" marR="0" indent="-27432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6pPr>
            <a:lvl7pPr marL="54864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alpha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7pPr>
            <a:lvl8pPr marL="82296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roman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8pPr>
            <a:lvl9pPr marL="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None/>
              <a:defRPr sz="2000" b="1" kern="1200" baseline="0">
                <a:solidFill>
                  <a:schemeClr val="tx2"/>
                </a:solidFill>
                <a:latin typeface="Georgia" pitchFamily="18" charset="0"/>
                <a:ea typeface="+mn-ea"/>
                <a:cs typeface="+mn-cs"/>
              </a:defRPr>
            </a:lvl9pPr>
          </a:lstStyle>
          <a:p>
            <a:pPr indent="0"/>
            <a:r>
              <a:rPr lang="en-US" altLang="ko-KR" dirty="0" smtClean="0"/>
              <a:t>Source : </a:t>
            </a:r>
            <a:r>
              <a:rPr lang="en-US" altLang="ko-KR" dirty="0" err="1" smtClean="0"/>
              <a:t>OpensurveyKorea</a:t>
            </a:r>
            <a:r>
              <a:rPr lang="en-US" altLang="ko-KR" dirty="0" smtClean="0"/>
              <a:t>  </a:t>
            </a:r>
            <a:r>
              <a:rPr lang="en-US" altLang="ko-KR" i="1" dirty="0" smtClean="0"/>
              <a:t>‘</a:t>
            </a:r>
            <a:r>
              <a:rPr lang="ko-KR" altLang="en-US" i="1" dirty="0" err="1" smtClean="0"/>
              <a:t>리빙</a:t>
            </a:r>
            <a:r>
              <a:rPr lang="ko-KR" altLang="en-US" i="1" dirty="0" smtClean="0"/>
              <a:t> 트렌드 </a:t>
            </a:r>
            <a:r>
              <a:rPr lang="ko-KR" altLang="en-US" i="1" smtClean="0"/>
              <a:t>리포트 </a:t>
            </a:r>
            <a:r>
              <a:rPr lang="en-US" altLang="ko-KR" i="1" dirty="0" smtClean="0"/>
              <a:t>2019’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(1) ’19</a:t>
            </a:r>
            <a:r>
              <a:rPr lang="ko-KR" altLang="en-US" smtClean="0"/>
              <a:t>년도 </a:t>
            </a:r>
            <a:r>
              <a:rPr lang="en-US" altLang="ko-KR" dirty="0" smtClean="0"/>
              <a:t>APP</a:t>
            </a:r>
            <a:r>
              <a:rPr lang="ko-KR" altLang="en-US" smtClean="0"/>
              <a:t>기준 평균치</a:t>
            </a:r>
            <a:endParaRPr lang="en-US" altLang="ko-KR" dirty="0"/>
          </a:p>
        </p:txBody>
      </p:sp>
      <p:sp>
        <p:nvSpPr>
          <p:cNvPr id="60" name="모서리가 둥근 직사각형 83">
            <a:extLst>
              <a:ext uri="{FF2B5EF4-FFF2-40B4-BE49-F238E27FC236}">
                <a16:creationId xmlns="" xmlns:a16="http://schemas.microsoft.com/office/drawing/2014/main" id="{D543DA7D-CD0D-429F-9DD4-76563967BB7E}"/>
              </a:ext>
            </a:extLst>
          </p:cNvPr>
          <p:cNvSpPr/>
          <p:nvPr/>
        </p:nvSpPr>
        <p:spPr>
          <a:xfrm>
            <a:off x="396370" y="4869160"/>
            <a:ext cx="3960000" cy="115279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indent="-936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 smtClean="0">
                <a:latin typeface="Georgia" pitchFamily="18" charset="0"/>
              </a:rPr>
              <a:t>35</a:t>
            </a:r>
            <a:r>
              <a:rPr lang="ko-KR" altLang="en-US" sz="1400" b="1" dirty="0" smtClean="0">
                <a:latin typeface="Georgia" pitchFamily="18" charset="0"/>
              </a:rPr>
              <a:t>세 이상 고객 층 </a:t>
            </a:r>
            <a:r>
              <a:rPr lang="en-US" altLang="ko-KR" sz="1400" b="1" dirty="0" smtClean="0">
                <a:latin typeface="Georgia" pitchFamily="18" charset="0"/>
              </a:rPr>
              <a:t>50% </a:t>
            </a:r>
            <a:r>
              <a:rPr lang="ko-KR" altLang="en-US" sz="1400" b="1" dirty="0" smtClean="0">
                <a:latin typeface="Georgia" pitchFamily="18" charset="0"/>
              </a:rPr>
              <a:t>이상 수준</a:t>
            </a:r>
            <a:r>
              <a:rPr lang="en-US" altLang="ko-KR" sz="1400" dirty="0" smtClean="0">
                <a:latin typeface="Georgia" pitchFamily="18" charset="0"/>
              </a:rPr>
              <a:t/>
            </a:r>
            <a:br>
              <a:rPr lang="en-US" altLang="ko-KR" sz="1400" dirty="0" smtClean="0">
                <a:latin typeface="Georgia" pitchFamily="18" charset="0"/>
              </a:rPr>
            </a:br>
            <a:r>
              <a:rPr lang="en-US" altLang="ko-KR" sz="1400" dirty="0" smtClean="0">
                <a:latin typeface="Georgia" pitchFamily="18" charset="0"/>
              </a:rPr>
              <a:t>※ </a:t>
            </a:r>
            <a:r>
              <a:rPr lang="ko-KR" altLang="en-US" sz="1400" dirty="0" smtClean="0">
                <a:latin typeface="Georgia" pitchFamily="18" charset="0"/>
              </a:rPr>
              <a:t>타 경쟁사 경우 </a:t>
            </a:r>
            <a:r>
              <a:rPr lang="en-US" altLang="ko-KR" sz="1400" dirty="0" smtClean="0">
                <a:latin typeface="Georgia" pitchFamily="18" charset="0"/>
              </a:rPr>
              <a:t>20/30</a:t>
            </a:r>
            <a:r>
              <a:rPr lang="ko-KR" altLang="en-US" sz="1400" dirty="0" smtClean="0">
                <a:latin typeface="Georgia" pitchFamily="18" charset="0"/>
              </a:rPr>
              <a:t>대 </a:t>
            </a:r>
            <a:r>
              <a:rPr lang="ko-KR" altLang="en-US" sz="1400" dirty="0" err="1" smtClean="0">
                <a:latin typeface="Georgia" pitchFamily="18" charset="0"/>
              </a:rPr>
              <a:t>젊은층</a:t>
            </a:r>
            <a:r>
              <a:rPr lang="ko-KR" altLang="en-US" sz="1400" dirty="0" smtClean="0">
                <a:latin typeface="Georgia" pitchFamily="18" charset="0"/>
              </a:rPr>
              <a:t> 중심</a:t>
            </a:r>
            <a:endParaRPr lang="en-US" altLang="ko-KR" sz="1400" dirty="0">
              <a:latin typeface="Georgia" pitchFamily="18" charset="0"/>
            </a:endParaRPr>
          </a:p>
          <a:p>
            <a:pPr marL="177800" indent="-936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Georgia" pitchFamily="18" charset="0"/>
              </a:rPr>
              <a:t>최근 인테리어 </a:t>
            </a:r>
            <a:r>
              <a:rPr lang="en-US" altLang="ko-KR" sz="1400" dirty="0" smtClean="0">
                <a:latin typeface="Georgia" pitchFamily="18" charset="0"/>
              </a:rPr>
              <a:t>Trend </a:t>
            </a:r>
            <a:r>
              <a:rPr lang="ko-KR" altLang="en-US" sz="1400" dirty="0" smtClean="0">
                <a:latin typeface="Georgia" pitchFamily="18" charset="0"/>
              </a:rPr>
              <a:t>리더 고객들의 활동으로 </a:t>
            </a:r>
            <a:r>
              <a:rPr lang="en-US" altLang="ko-KR" sz="1400" b="1" dirty="0" smtClean="0">
                <a:latin typeface="Georgia" pitchFamily="18" charset="0"/>
              </a:rPr>
              <a:t>40</a:t>
            </a:r>
            <a:r>
              <a:rPr lang="ko-KR" altLang="en-US" sz="1400" b="1" dirty="0">
                <a:latin typeface="Georgia" pitchFamily="18" charset="0"/>
              </a:rPr>
              <a:t>대 </a:t>
            </a:r>
            <a:r>
              <a:rPr lang="ko-KR" altLang="en-US" sz="1400" b="1" dirty="0" smtClean="0">
                <a:latin typeface="Georgia" pitchFamily="18" charset="0"/>
              </a:rPr>
              <a:t>이상 고객층 </a:t>
            </a:r>
            <a:r>
              <a:rPr lang="ko-KR" altLang="en-US" sz="1400" b="1" dirty="0">
                <a:latin typeface="Georgia" pitchFamily="18" charset="0"/>
              </a:rPr>
              <a:t>비중 증가 추세</a:t>
            </a:r>
            <a:endParaRPr lang="en-US" altLang="ko-KR" sz="1400" b="1" dirty="0">
              <a:latin typeface="Georgia" pitchFamily="18" charset="0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426285" y="1844519"/>
            <a:ext cx="3960441" cy="393709"/>
            <a:chOff x="251520" y="1844520"/>
            <a:chExt cx="4112668" cy="287716"/>
          </a:xfrm>
        </p:grpSpPr>
        <p:cxnSp>
          <p:nvCxnSpPr>
            <p:cNvPr id="62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altLang="ko-KR" sz="1200" b="1" dirty="0">
                  <a:latin typeface="Georgia" pitchFamily="18" charset="0"/>
                </a:rPr>
                <a:t>Target </a:t>
              </a:r>
              <a:r>
                <a:rPr lang="ko-KR" altLang="en-US" sz="1200" b="1" dirty="0">
                  <a:latin typeface="Georgia" pitchFamily="18" charset="0"/>
                </a:rPr>
                <a:t>고객 연령 구성</a:t>
              </a:r>
              <a:r>
                <a:rPr lang="en-US" altLang="ko-KR" sz="1200" baseline="30000" dirty="0">
                  <a:latin typeface="Georgia" pitchFamily="18" charset="0"/>
                </a:rPr>
                <a:t> (1)</a:t>
              </a:r>
            </a:p>
          </p:txBody>
        </p:sp>
      </p:grpSp>
      <p:sp>
        <p:nvSpPr>
          <p:cNvPr id="27" name="타원 26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dirty="0" smtClean="0">
                <a:latin typeface="+mn-ea"/>
                <a:cs typeface="Arial" pitchFamily="34" charset="0"/>
              </a:rPr>
              <a:t>3-a</a:t>
            </a:r>
            <a:endParaRPr lang="ko-KR" altLang="en-US" sz="1500" b="1" dirty="0">
              <a:latin typeface="+mn-ea"/>
              <a:cs typeface="Arial" pitchFamily="34" charset="0"/>
            </a:endParaRPr>
          </a:p>
        </p:txBody>
      </p:sp>
      <p:graphicFrame>
        <p:nvGraphicFramePr>
          <p:cNvPr id="28" name="차트 27"/>
          <p:cNvGraphicFramePr/>
          <p:nvPr>
            <p:extLst>
              <p:ext uri="{D42A27DB-BD31-4B8C-83A1-F6EECF244321}">
                <p14:modId xmlns="" xmlns:p14="http://schemas.microsoft.com/office/powerpoint/2010/main" val="736706076"/>
              </p:ext>
            </p:extLst>
          </p:nvPr>
        </p:nvGraphicFramePr>
        <p:xfrm>
          <a:off x="500034" y="2237414"/>
          <a:ext cx="3786214" cy="2571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00232" y="2357430"/>
            <a:ext cx="403988" cy="2880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fld id="{DEE9C6CD-7C4F-41C1-B8BD-C5361B45E47E}" type="CATEGORYNAME">
              <a:rPr lang="en-US" altLang="ko-KR" sz="1400" b="1"/>
              <a:pPr indent="-274320">
                <a:spcAft>
                  <a:spcPts val="900"/>
                </a:spcAft>
              </a:pPr>
              <a:t>55-64</a:t>
            </a:fld>
            <a:endParaRPr lang="ko-KR" altLang="en-US" sz="1400" b="1" dirty="0" err="1" smtClean="0">
              <a:latin typeface="Georgia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7306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 bwMode="auto">
          <a:xfrm>
            <a:off x="321584" y="3183467"/>
            <a:ext cx="3093352" cy="29098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3609044" y="3183467"/>
            <a:ext cx="5211428" cy="29098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  </a:t>
            </a:r>
            <a:r>
              <a:rPr lang="ko-KR" altLang="en-US" dirty="0" err="1" smtClean="0"/>
              <a:t>성공경험이</a:t>
            </a:r>
            <a:r>
              <a:rPr lang="ko-KR" altLang="en-US" dirty="0" smtClean="0"/>
              <a:t> </a:t>
            </a:r>
            <a:r>
              <a:rPr lang="ko-KR" altLang="en-US" dirty="0"/>
              <a:t>이식된 차별화된 사업구조 </a:t>
            </a:r>
            <a:r>
              <a:rPr lang="ko-KR" altLang="en-US" dirty="0" smtClean="0"/>
              <a:t>구축</a:t>
            </a:r>
            <a:r>
              <a:rPr lang="en-US" altLang="ko-KR" dirty="0"/>
              <a:t> – </a:t>
            </a:r>
            <a:r>
              <a:rPr lang="ko-KR" altLang="en-US" dirty="0"/>
              <a:t>커뮤니티 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altLang="ko-KR" dirty="0" smtClean="0"/>
              <a:t>3050 </a:t>
            </a:r>
            <a:r>
              <a:rPr lang="ko-KR" altLang="en-US" dirty="0" smtClean="0"/>
              <a:t>주부층의 높은 커뮤니티 충성도 및 구매력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66ED6E-FC10-4B75-B247-81351B267F90}"/>
              </a:ext>
            </a:extLst>
          </p:cNvPr>
          <p:cNvSpPr txBox="1"/>
          <p:nvPr/>
        </p:nvSpPr>
        <p:spPr>
          <a:xfrm>
            <a:off x="381001" y="1246838"/>
            <a:ext cx="8477279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smtClean="0">
                <a:latin typeface="Georgia" pitchFamily="18" charset="0"/>
              </a:rPr>
              <a:t>커뮤니티 핵심 </a:t>
            </a:r>
            <a:r>
              <a:rPr lang="en-US" altLang="ko-KR" sz="1400" dirty="0" smtClean="0">
                <a:latin typeface="Georgia" pitchFamily="18" charset="0"/>
              </a:rPr>
              <a:t>User</a:t>
            </a:r>
            <a:r>
              <a:rPr lang="ko-KR" altLang="en-US" sz="1400" dirty="0" smtClean="0">
                <a:latin typeface="Georgia" pitchFamily="18" charset="0"/>
              </a:rPr>
              <a:t>인 </a:t>
            </a:r>
            <a:r>
              <a:rPr lang="en-US" altLang="ko-KR" sz="1400" dirty="0" smtClean="0">
                <a:latin typeface="Georgia" pitchFamily="18" charset="0"/>
              </a:rPr>
              <a:t>3050 </a:t>
            </a:r>
            <a:r>
              <a:rPr lang="ko-KR" altLang="en-US" sz="1400" dirty="0" smtClean="0">
                <a:latin typeface="Georgia" pitchFamily="18" charset="0"/>
              </a:rPr>
              <a:t>주부층은 높은 커뮤니티 </a:t>
            </a:r>
            <a:r>
              <a:rPr lang="ko-KR" altLang="en-US" sz="1400" dirty="0" err="1" smtClean="0">
                <a:latin typeface="Georgia" pitchFamily="18" charset="0"/>
              </a:rPr>
              <a:t>충성도와</a:t>
            </a:r>
            <a:r>
              <a:rPr lang="ko-KR" altLang="en-US" sz="1400" dirty="0" smtClean="0">
                <a:latin typeface="Georgia" pitchFamily="18" charset="0"/>
              </a:rPr>
              <a:t> 구매력을 보유하고 있는 바</a:t>
            </a:r>
            <a:r>
              <a:rPr lang="en-US" altLang="ko-KR" sz="1400" dirty="0" smtClean="0">
                <a:latin typeface="Georgia" pitchFamily="18" charset="0"/>
              </a:rPr>
              <a:t>, </a:t>
            </a:r>
            <a:br>
              <a:rPr lang="en-US" altLang="ko-KR" sz="1400" dirty="0" smtClean="0">
                <a:latin typeface="Georgia" pitchFamily="18" charset="0"/>
              </a:rPr>
            </a:br>
            <a:r>
              <a:rPr lang="ko-KR" altLang="en-US" sz="1400" dirty="0" smtClean="0">
                <a:latin typeface="Georgia" pitchFamily="18" charset="0"/>
              </a:rPr>
              <a:t>상대적으로 고가의 제품</a:t>
            </a:r>
            <a:r>
              <a:rPr lang="en-US" altLang="ko-KR" sz="1400" dirty="0" smtClean="0">
                <a:latin typeface="Georgia" pitchFamily="18" charset="0"/>
              </a:rPr>
              <a:t>/</a:t>
            </a:r>
            <a:r>
              <a:rPr lang="ko-KR" altLang="en-US" sz="1400" dirty="0" smtClean="0">
                <a:latin typeface="Georgia" pitchFamily="18" charset="0"/>
              </a:rPr>
              <a:t>서비스 제공의 기반으로 작용하고 있음</a:t>
            </a:r>
            <a:endParaRPr lang="en-US" sz="1400" dirty="0">
              <a:latin typeface="Georgia" pitchFamily="18" charset="0"/>
            </a:endParaRPr>
          </a:p>
        </p:txBody>
      </p:sp>
      <p:sp>
        <p:nvSpPr>
          <p:cNvPr id="33" name="내용 개체 틀 3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 smtClean="0"/>
          </a:p>
          <a:p>
            <a:r>
              <a:rPr lang="en-US" altLang="ko-KR" dirty="0" smtClean="0"/>
              <a:t>(1) 3</a:t>
            </a:r>
            <a:r>
              <a:rPr lang="ko-KR" altLang="en-US" dirty="0" smtClean="0"/>
              <a:t>회 이상 방문한 충성 고객 중 </a:t>
            </a:r>
            <a:r>
              <a:rPr lang="en-US" altLang="ko-KR" dirty="0" smtClean="0"/>
              <a:t>80%</a:t>
            </a:r>
            <a:r>
              <a:rPr lang="ko-KR" altLang="en-US" dirty="0" smtClean="0"/>
              <a:t>는 매주 방문</a:t>
            </a:r>
            <a:endParaRPr lang="en-US" altLang="ko-KR" dirty="0"/>
          </a:p>
        </p:txBody>
      </p:sp>
      <p:grpSp>
        <p:nvGrpSpPr>
          <p:cNvPr id="12" name="그룹 11"/>
          <p:cNvGrpSpPr/>
          <p:nvPr/>
        </p:nvGrpSpPr>
        <p:grpSpPr>
          <a:xfrm>
            <a:off x="309439" y="1935120"/>
            <a:ext cx="8511033" cy="288336"/>
            <a:chOff x="245643" y="1844520"/>
            <a:chExt cx="4118545" cy="288336"/>
          </a:xfrm>
        </p:grpSpPr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84102C76-57CF-49D0-9289-FF22351BC5C2}"/>
                </a:ext>
              </a:extLst>
            </p:cNvPr>
            <p:cNvSpPr txBox="1"/>
            <p:nvPr/>
          </p:nvSpPr>
          <p:spPr>
            <a:xfrm>
              <a:off x="245643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altLang="ko-KR" sz="1200" b="1" dirty="0" smtClean="0">
                  <a:latin typeface="Georgia" pitchFamily="18" charset="0"/>
                </a:rPr>
                <a:t> </a:t>
              </a:r>
              <a:r>
                <a:rPr lang="ko-KR" altLang="en-US" sz="1200" b="1" dirty="0" smtClean="0">
                  <a:latin typeface="Georgia" pitchFamily="18" charset="0"/>
                </a:rPr>
                <a:t>핵심 고객층의 특성</a:t>
              </a:r>
              <a:endParaRPr lang="en-US" sz="1200" b="1" baseline="30000" dirty="0">
                <a:latin typeface="Georgia" pitchFamily="18" charset="0"/>
              </a:endParaRPr>
            </a:p>
          </p:txBody>
        </p:sp>
        <p:cxnSp>
          <p:nvCxnSpPr>
            <p:cNvPr id="32" name="Straight Connector 11">
              <a:extLst>
                <a:ext uri="{FF2B5EF4-FFF2-40B4-BE49-F238E27FC236}">
                  <a16:creationId xmlns="" xmlns:a16="http://schemas.microsoft.com/office/drawing/2014/main" id="{CF12CB67-0720-4506-AA52-CB80E3DE4CA8}"/>
                </a:ext>
              </a:extLst>
            </p:cNvPr>
            <p:cNvCxnSpPr/>
            <p:nvPr/>
          </p:nvCxnSpPr>
          <p:spPr>
            <a:xfrm>
              <a:off x="251520" y="2132856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6" name="TextBox 65"/>
          <p:cNvSpPr txBox="1"/>
          <p:nvPr/>
        </p:nvSpPr>
        <p:spPr>
          <a:xfrm>
            <a:off x="332829" y="2394974"/>
            <a:ext cx="8298214" cy="60197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3050 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기혼 여성</a:t>
            </a: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: 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커뮤니티 </a:t>
            </a:r>
            <a:r>
              <a:rPr lang="ko-KR" altLang="en-US" sz="1600" b="1" dirty="0" err="1" smtClean="0">
                <a:solidFill>
                  <a:schemeClr val="tx2"/>
                </a:solidFill>
                <a:latin typeface="Georgia" pitchFamily="18" charset="0"/>
              </a:rPr>
              <a:t>충성도와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 구매력이 높은 사용자</a:t>
            </a: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/>
            </a:r>
            <a:b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</a:b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(“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본인의 경험을 공유하는 것에 크게 만족하며</a:t>
            </a: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, 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최저가만 따지지 않고</a:t>
            </a: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, </a:t>
            </a:r>
            <a:r>
              <a:rPr lang="ko-KR" altLang="en-US" sz="1600" b="1" dirty="0" err="1" smtClean="0">
                <a:solidFill>
                  <a:schemeClr val="tx2"/>
                </a:solidFill>
                <a:latin typeface="Georgia" pitchFamily="18" charset="0"/>
              </a:rPr>
              <a:t>가성비</a:t>
            </a: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/</a:t>
            </a:r>
            <a:r>
              <a:rPr lang="ko-KR" altLang="en-US" sz="1600" b="1" dirty="0" smtClean="0">
                <a:solidFill>
                  <a:schemeClr val="tx2"/>
                </a:solidFill>
                <a:latin typeface="Georgia" pitchFamily="18" charset="0"/>
              </a:rPr>
              <a:t>품질 선호</a:t>
            </a:r>
            <a:r>
              <a:rPr lang="en-US" altLang="ko-KR" sz="1600" b="1" dirty="0" smtClean="0">
                <a:solidFill>
                  <a:schemeClr val="tx2"/>
                </a:solidFill>
                <a:latin typeface="Georgia" pitchFamily="18" charset="0"/>
              </a:rPr>
              <a:t>…”)</a:t>
            </a:r>
            <a:endParaRPr lang="ko-KR" altLang="en-US" sz="1600" b="1" dirty="0" smtClean="0">
              <a:solidFill>
                <a:schemeClr val="tx2"/>
              </a:solidFill>
              <a:latin typeface="Georgia" pitchFamily="18" charset="0"/>
            </a:endParaRP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321584" y="3244846"/>
            <a:ext cx="4623048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400" b="1" u="sng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User </a:t>
            </a:r>
            <a:r>
              <a:rPr lang="ko-KR" altLang="en-US" sz="1400" b="1" u="sng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일반 현황  </a:t>
            </a:r>
            <a:r>
              <a:rPr lang="en-US" altLang="ko-KR" sz="1400" b="1" u="sng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(‘20.</a:t>
            </a:r>
            <a:r>
              <a:rPr lang="ko-KR" altLang="en-US" sz="1400" b="1" u="sng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현재</a:t>
            </a:r>
            <a:r>
              <a:rPr lang="en-US" altLang="ko-KR" sz="1400" b="1" u="sng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)</a:t>
            </a:r>
            <a:endParaRPr lang="en-US" altLang="ko-KR" sz="1200" u="sng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71" name="Rectangle 14"/>
          <p:cNvSpPr>
            <a:spLocks noChangeArrowheads="1"/>
          </p:cNvSpPr>
          <p:nvPr/>
        </p:nvSpPr>
        <p:spPr bwMode="auto">
          <a:xfrm>
            <a:off x="321584" y="3772106"/>
            <a:ext cx="1730136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177800" lvl="0" indent="-1778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누적가입자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: </a:t>
            </a:r>
            <a:endParaRPr lang="en-US" altLang="ko-KR" sz="12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73" name="Rectangle 14"/>
          <p:cNvSpPr>
            <a:spLocks noChangeArrowheads="1"/>
          </p:cNvSpPr>
          <p:nvPr/>
        </p:nvSpPr>
        <p:spPr bwMode="auto">
          <a:xfrm>
            <a:off x="321584" y="4324041"/>
            <a:ext cx="1730136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177800" lvl="0" indent="-1778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MAU:</a:t>
            </a:r>
            <a:endParaRPr lang="en-US" altLang="ko-KR" sz="12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321584" y="4888090"/>
            <a:ext cx="2882264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177800" lvl="0" indent="-1778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Weekly Retention</a:t>
            </a:r>
            <a:r>
              <a:rPr lang="en-US" altLang="ko-KR" sz="1400" kern="0" baseline="3000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(1)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:</a:t>
            </a:r>
            <a:endParaRPr lang="en-US" altLang="ko-KR" sz="12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76" name="Rectangle 14"/>
          <p:cNvSpPr>
            <a:spLocks noChangeArrowheads="1"/>
          </p:cNvSpPr>
          <p:nvPr/>
        </p:nvSpPr>
        <p:spPr bwMode="auto">
          <a:xfrm>
            <a:off x="321584" y="5586765"/>
            <a:ext cx="2882264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177800" indent="-1778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4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SNS </a:t>
            </a:r>
            <a:r>
              <a:rPr lang="ko-KR" altLang="en-US" sz="14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팔로워</a:t>
            </a:r>
            <a:endParaRPr lang="en-US" altLang="ko-KR" sz="14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77" name="Rectangle 14"/>
          <p:cNvSpPr>
            <a:spLocks noChangeArrowheads="1"/>
          </p:cNvSpPr>
          <p:nvPr/>
        </p:nvSpPr>
        <p:spPr bwMode="auto">
          <a:xfrm>
            <a:off x="532672" y="5137220"/>
            <a:ext cx="2882264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(3</a:t>
            </a:r>
            <a:r>
              <a:rPr lang="ko-KR" altLang="en-US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회 이상 방문자</a:t>
            </a:r>
            <a:r>
              <a:rPr lang="en-US" altLang="ko-KR" sz="12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)</a:t>
            </a:r>
            <a:endParaRPr lang="en-US" altLang="ko-KR" sz="12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78" name="Rectangle 14"/>
          <p:cNvSpPr>
            <a:spLocks noChangeArrowheads="1"/>
          </p:cNvSpPr>
          <p:nvPr/>
        </p:nvSpPr>
        <p:spPr bwMode="auto">
          <a:xfrm>
            <a:off x="2445628" y="3772106"/>
            <a:ext cx="1730136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6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200</a:t>
            </a:r>
            <a:r>
              <a:rPr lang="ko-KR" altLang="en-US" sz="16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만</a:t>
            </a:r>
            <a:endParaRPr lang="en-US" altLang="ko-KR" sz="1400" kern="0" dirty="0">
              <a:solidFill>
                <a:schemeClr val="tx2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79" name="Rectangle 14"/>
          <p:cNvSpPr>
            <a:spLocks noChangeArrowheads="1"/>
          </p:cNvSpPr>
          <p:nvPr/>
        </p:nvSpPr>
        <p:spPr bwMode="auto">
          <a:xfrm>
            <a:off x="2445628" y="4324041"/>
            <a:ext cx="1730136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6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35</a:t>
            </a:r>
            <a:r>
              <a:rPr lang="ko-KR" altLang="en-US" sz="16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만</a:t>
            </a:r>
            <a:endParaRPr lang="en-US" altLang="ko-KR" sz="1400" kern="0" dirty="0">
              <a:solidFill>
                <a:schemeClr val="tx2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80" name="Rectangle 14"/>
          <p:cNvSpPr>
            <a:spLocks noChangeArrowheads="1"/>
          </p:cNvSpPr>
          <p:nvPr/>
        </p:nvSpPr>
        <p:spPr bwMode="auto">
          <a:xfrm>
            <a:off x="2445628" y="4888090"/>
            <a:ext cx="2882264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6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80%</a:t>
            </a:r>
            <a:endParaRPr lang="en-US" altLang="ko-KR" sz="1400" kern="0" dirty="0">
              <a:solidFill>
                <a:schemeClr val="tx2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81" name="Rectangle 14"/>
          <p:cNvSpPr>
            <a:spLocks noChangeArrowheads="1"/>
          </p:cNvSpPr>
          <p:nvPr/>
        </p:nvSpPr>
        <p:spPr bwMode="auto">
          <a:xfrm>
            <a:off x="2445628" y="5586765"/>
            <a:ext cx="2882264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6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150</a:t>
            </a:r>
            <a:r>
              <a:rPr lang="ko-KR" altLang="en-US" sz="16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만</a:t>
            </a:r>
            <a:endParaRPr lang="en-US" altLang="ko-KR" sz="1600" b="1" kern="0" dirty="0">
              <a:solidFill>
                <a:schemeClr val="tx2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82" name="Rectangle 14"/>
          <p:cNvSpPr>
            <a:spLocks noChangeArrowheads="1"/>
          </p:cNvSpPr>
          <p:nvPr/>
        </p:nvSpPr>
        <p:spPr bwMode="auto">
          <a:xfrm>
            <a:off x="3707904" y="3244846"/>
            <a:ext cx="4623048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400" b="1" u="sng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Core User </a:t>
            </a:r>
            <a:r>
              <a:rPr lang="ko-KR" altLang="en-US" sz="1400" b="1" u="sng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특성</a:t>
            </a:r>
            <a:endParaRPr lang="en-US" altLang="ko-KR" sz="1200" u="sng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83" name="Rectangle 14"/>
          <p:cNvSpPr>
            <a:spLocks noChangeArrowheads="1"/>
          </p:cNvSpPr>
          <p:nvPr/>
        </p:nvSpPr>
        <p:spPr bwMode="auto">
          <a:xfrm>
            <a:off x="3735512" y="3559790"/>
            <a:ext cx="4818744" cy="44954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AND User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중심의 구조적 선순환 성장 기반 보유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/>
            </a:r>
            <a:b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</a:br>
            <a:r>
              <a:rPr lang="en-US" altLang="ko-KR" sz="1400" b="1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(AND User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=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컨텐츠 공유 </a:t>
            </a:r>
            <a:r>
              <a:rPr lang="en-US" altLang="ko-KR" sz="1400" b="1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&amp;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서비스 동시 경험 사용자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)</a:t>
            </a:r>
          </a:p>
        </p:txBody>
      </p:sp>
      <p:sp>
        <p:nvSpPr>
          <p:cNvPr id="87" name="Rectangle 14"/>
          <p:cNvSpPr>
            <a:spLocks noChangeArrowheads="1"/>
          </p:cNvSpPr>
          <p:nvPr/>
        </p:nvSpPr>
        <p:spPr bwMode="auto">
          <a:xfrm>
            <a:off x="3754511" y="4177576"/>
            <a:ext cx="2203316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177800" lvl="0" indent="-1778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신규가입 사용자 중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:</a:t>
            </a:r>
            <a:endParaRPr lang="en-US" altLang="ko-KR" sz="12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88" name="Rectangle 14"/>
          <p:cNvSpPr>
            <a:spLocks noChangeArrowheads="1"/>
          </p:cNvSpPr>
          <p:nvPr/>
        </p:nvSpPr>
        <p:spPr bwMode="auto">
          <a:xfrm>
            <a:off x="3754511" y="4572661"/>
            <a:ext cx="2203316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177800" lvl="0" indent="-1778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재방문율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(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다음달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):</a:t>
            </a:r>
            <a:endParaRPr lang="en-US" altLang="ko-KR" sz="12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94" name="Rectangle 14"/>
          <p:cNvSpPr>
            <a:spLocks noChangeArrowheads="1"/>
          </p:cNvSpPr>
          <p:nvPr/>
        </p:nvSpPr>
        <p:spPr bwMode="auto">
          <a:xfrm>
            <a:off x="3754511" y="5043975"/>
            <a:ext cx="2203316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177800" lvl="0" indent="-1778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체류시간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:</a:t>
            </a:r>
            <a:endParaRPr lang="en-US" altLang="ko-KR" sz="12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95" name="Rectangle 14"/>
          <p:cNvSpPr>
            <a:spLocks noChangeArrowheads="1"/>
          </p:cNvSpPr>
          <p:nvPr/>
        </p:nvSpPr>
        <p:spPr bwMode="auto">
          <a:xfrm>
            <a:off x="3754511" y="5515263"/>
            <a:ext cx="2203316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177800" lvl="0" indent="-1778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구매전환율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:</a:t>
            </a:r>
            <a:endParaRPr lang="en-US" altLang="ko-KR" sz="12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96" name="Rectangle 14"/>
          <p:cNvSpPr>
            <a:spLocks noChangeArrowheads="1"/>
          </p:cNvSpPr>
          <p:nvPr/>
        </p:nvSpPr>
        <p:spPr bwMode="auto">
          <a:xfrm>
            <a:off x="5722184" y="4162325"/>
            <a:ext cx="1730136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6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40%</a:t>
            </a:r>
            <a:endParaRPr lang="en-US" altLang="ko-KR" sz="1400" kern="0" dirty="0">
              <a:solidFill>
                <a:schemeClr val="tx2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97" name="Rectangle 14"/>
          <p:cNvSpPr>
            <a:spLocks noChangeArrowheads="1"/>
          </p:cNvSpPr>
          <p:nvPr/>
        </p:nvSpPr>
        <p:spPr bwMode="auto">
          <a:xfrm>
            <a:off x="5722184" y="4576335"/>
            <a:ext cx="1730136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600" b="1" kern="0" dirty="0">
                <a:solidFill>
                  <a:schemeClr val="tx2"/>
                </a:solidFill>
                <a:latin typeface="+mj-lt"/>
                <a:ea typeface="맑은 고딕" pitchFamily="50" charset="-127"/>
              </a:rPr>
              <a:t>6</a:t>
            </a:r>
            <a:r>
              <a:rPr lang="en-US" altLang="ko-KR" sz="16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0%</a:t>
            </a:r>
            <a:endParaRPr lang="en-US" altLang="ko-KR" sz="1400" kern="0" dirty="0">
              <a:solidFill>
                <a:schemeClr val="tx2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98" name="Rectangle 14"/>
          <p:cNvSpPr>
            <a:spLocks noChangeArrowheads="1"/>
          </p:cNvSpPr>
          <p:nvPr/>
        </p:nvSpPr>
        <p:spPr bwMode="auto">
          <a:xfrm>
            <a:off x="6567018" y="4552053"/>
            <a:ext cx="2727837" cy="41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ctr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000" kern="0" dirty="0" smtClean="0">
                <a:latin typeface="+mj-lt"/>
                <a:ea typeface="맑은 고딕" pitchFamily="50" charset="-127"/>
              </a:rPr>
              <a:t>(Target </a:t>
            </a:r>
            <a:r>
              <a:rPr lang="ko-KR" altLang="en-US" sz="1000" kern="0" dirty="0" smtClean="0">
                <a:latin typeface="+mj-lt"/>
                <a:ea typeface="맑은 고딕" pitchFamily="50" charset="-127"/>
              </a:rPr>
              <a:t>평균 </a:t>
            </a:r>
            <a:r>
              <a:rPr lang="en-US" altLang="ko-KR" sz="1000" kern="0" dirty="0" smtClean="0">
                <a:latin typeface="+mj-lt"/>
                <a:ea typeface="맑은 고딕" pitchFamily="50" charset="-127"/>
              </a:rPr>
              <a:t>: 33%,</a:t>
            </a:r>
            <a:br>
              <a:rPr lang="en-US" altLang="ko-KR" sz="1000" kern="0" dirty="0" smtClean="0">
                <a:latin typeface="+mj-lt"/>
                <a:ea typeface="맑은 고딕" pitchFamily="50" charset="-127"/>
              </a:rPr>
            </a:br>
            <a:r>
              <a:rPr lang="en-US" altLang="ko-KR" sz="1000" kern="0" dirty="0" smtClean="0">
                <a:latin typeface="+mj-lt"/>
                <a:ea typeface="맑은 고딕" pitchFamily="50" charset="-127"/>
              </a:rPr>
              <a:t>vs. </a:t>
            </a:r>
            <a:r>
              <a:rPr lang="ko-KR" altLang="en-US" sz="1000" kern="0" dirty="0" smtClean="0">
                <a:latin typeface="+mj-lt"/>
                <a:ea typeface="맑은 고딕" pitchFamily="50" charset="-127"/>
              </a:rPr>
              <a:t>안드로이드 </a:t>
            </a:r>
            <a:r>
              <a:rPr lang="en-US" altLang="ko-KR" sz="1000" kern="0" dirty="0" smtClean="0">
                <a:latin typeface="+mj-lt"/>
                <a:ea typeface="맑은 고딕" pitchFamily="50" charset="-127"/>
              </a:rPr>
              <a:t>App</a:t>
            </a:r>
            <a:r>
              <a:rPr lang="ko-KR" altLang="en-US" sz="1000" kern="0" dirty="0" smtClean="0">
                <a:latin typeface="+mj-lt"/>
                <a:ea typeface="맑은 고딕" pitchFamily="50" charset="-127"/>
              </a:rPr>
              <a:t> 평균 </a:t>
            </a:r>
            <a:r>
              <a:rPr lang="en-US" altLang="ko-KR" sz="1000" kern="0" dirty="0" smtClean="0">
                <a:latin typeface="+mj-lt"/>
                <a:ea typeface="맑은 고딕" pitchFamily="50" charset="-127"/>
              </a:rPr>
              <a:t>: 10%</a:t>
            </a:r>
            <a:r>
              <a:rPr lang="en-US" altLang="ko-KR" sz="1000" kern="0" dirty="0">
                <a:latin typeface="+mj-lt"/>
                <a:ea typeface="맑은 고딕" pitchFamily="50" charset="-127"/>
              </a:rPr>
              <a:t>)</a:t>
            </a:r>
            <a:endParaRPr lang="en-US" altLang="ko-KR" sz="1000" kern="0" dirty="0" smtClean="0">
              <a:latin typeface="+mj-lt"/>
              <a:ea typeface="맑은 고딕" pitchFamily="50" charset="-127"/>
            </a:endParaRPr>
          </a:p>
        </p:txBody>
      </p:sp>
      <p:sp>
        <p:nvSpPr>
          <p:cNvPr id="99" name="Rectangle 14"/>
          <p:cNvSpPr>
            <a:spLocks noChangeArrowheads="1"/>
          </p:cNvSpPr>
          <p:nvPr/>
        </p:nvSpPr>
        <p:spPr bwMode="auto">
          <a:xfrm>
            <a:off x="5722184" y="5031547"/>
            <a:ext cx="1730136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6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8</a:t>
            </a:r>
            <a:r>
              <a:rPr lang="ko-KR" altLang="en-US" sz="16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분</a:t>
            </a:r>
            <a:r>
              <a:rPr lang="en-US" altLang="ko-KR" sz="16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6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회</a:t>
            </a:r>
            <a:endParaRPr lang="en-US" altLang="ko-KR" sz="1400" kern="0" dirty="0">
              <a:solidFill>
                <a:schemeClr val="tx2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100" name="Rectangle 14"/>
          <p:cNvSpPr>
            <a:spLocks noChangeArrowheads="1"/>
          </p:cNvSpPr>
          <p:nvPr/>
        </p:nvSpPr>
        <p:spPr bwMode="auto">
          <a:xfrm>
            <a:off x="5722184" y="5515263"/>
            <a:ext cx="1730136" cy="2880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6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10% ~ 13%</a:t>
            </a:r>
            <a:endParaRPr lang="en-US" altLang="ko-KR" sz="1400" kern="0" dirty="0">
              <a:solidFill>
                <a:schemeClr val="tx2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102" name="Rectangle 14"/>
          <p:cNvSpPr>
            <a:spLocks noChangeArrowheads="1"/>
          </p:cNvSpPr>
          <p:nvPr/>
        </p:nvSpPr>
        <p:spPr bwMode="auto">
          <a:xfrm>
            <a:off x="6567018" y="4962843"/>
            <a:ext cx="2727837" cy="41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ctr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000" kern="0" dirty="0" smtClean="0">
                <a:latin typeface="+mj-lt"/>
                <a:ea typeface="맑은 고딕" pitchFamily="50" charset="-127"/>
              </a:rPr>
              <a:t>(Target ’19</a:t>
            </a:r>
            <a:r>
              <a:rPr lang="ko-KR" altLang="en-US" sz="1000" kern="0" dirty="0" smtClean="0">
                <a:latin typeface="+mj-lt"/>
                <a:ea typeface="맑은 고딕" pitchFamily="50" charset="-127"/>
              </a:rPr>
              <a:t>년 평균 </a:t>
            </a:r>
            <a:r>
              <a:rPr lang="en-US" altLang="ko-KR" sz="1000" kern="0" dirty="0" smtClean="0">
                <a:latin typeface="+mj-lt"/>
                <a:ea typeface="맑은 고딕" pitchFamily="50" charset="-127"/>
              </a:rPr>
              <a:t>: 4</a:t>
            </a:r>
            <a:r>
              <a:rPr lang="ko-KR" altLang="en-US" sz="1000" kern="0" dirty="0" smtClean="0">
                <a:latin typeface="+mj-lt"/>
                <a:ea typeface="맑은 고딕" pitchFamily="50" charset="-127"/>
              </a:rPr>
              <a:t>분</a:t>
            </a:r>
            <a:r>
              <a:rPr lang="en-US" altLang="ko-KR" sz="1000" kern="0" dirty="0" smtClean="0">
                <a:latin typeface="+mj-lt"/>
                <a:ea typeface="맑은 고딕" pitchFamily="50" charset="-127"/>
              </a:rPr>
              <a:t>, ’18</a:t>
            </a:r>
            <a:r>
              <a:rPr lang="ko-KR" altLang="en-US" sz="1000" kern="0" dirty="0" smtClean="0">
                <a:latin typeface="+mj-lt"/>
                <a:ea typeface="맑은 고딕" pitchFamily="50" charset="-127"/>
              </a:rPr>
              <a:t>년 </a:t>
            </a:r>
            <a:r>
              <a:rPr lang="en-US" altLang="ko-KR" sz="1000" kern="0" dirty="0" smtClean="0">
                <a:latin typeface="+mj-lt"/>
                <a:ea typeface="맑은 고딕" pitchFamily="50" charset="-127"/>
              </a:rPr>
              <a:t>2.5</a:t>
            </a:r>
            <a:r>
              <a:rPr lang="ko-KR" altLang="en-US" sz="1000" kern="0" dirty="0" smtClean="0">
                <a:latin typeface="+mj-lt"/>
                <a:ea typeface="맑은 고딕" pitchFamily="50" charset="-127"/>
              </a:rPr>
              <a:t>분</a:t>
            </a:r>
            <a:r>
              <a:rPr lang="en-US" altLang="ko-KR" sz="1000" kern="0" dirty="0" smtClean="0">
                <a:latin typeface="+mj-lt"/>
                <a:ea typeface="맑은 고딕" pitchFamily="50" charset="-127"/>
              </a:rPr>
              <a:t>)</a:t>
            </a:r>
            <a:r>
              <a:rPr lang="ko-KR" altLang="en-US" sz="1000" kern="0" dirty="0" smtClean="0">
                <a:latin typeface="+mj-lt"/>
                <a:ea typeface="맑은 고딕" pitchFamily="50" charset="-127"/>
              </a:rPr>
              <a:t> </a:t>
            </a:r>
            <a:endParaRPr lang="en-US" altLang="ko-KR" sz="1000" kern="0" dirty="0" smtClean="0">
              <a:latin typeface="+mj-lt"/>
              <a:ea typeface="맑은 고딕" pitchFamily="50" charset="-127"/>
            </a:endParaRPr>
          </a:p>
        </p:txBody>
      </p:sp>
      <p:sp>
        <p:nvSpPr>
          <p:cNvPr id="103" name="Rectangle 14"/>
          <p:cNvSpPr>
            <a:spLocks noChangeArrowheads="1"/>
          </p:cNvSpPr>
          <p:nvPr/>
        </p:nvSpPr>
        <p:spPr bwMode="auto">
          <a:xfrm>
            <a:off x="5737399" y="5707821"/>
            <a:ext cx="3083073" cy="41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ctr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000" kern="0" dirty="0" smtClean="0">
                <a:latin typeface="+mj-lt"/>
                <a:ea typeface="맑은 고딕" pitchFamily="50" charset="-127"/>
              </a:rPr>
              <a:t>(2</a:t>
            </a:r>
            <a:r>
              <a:rPr lang="ko-KR" altLang="en-US" sz="1000" kern="0" dirty="0" smtClean="0">
                <a:latin typeface="+mj-lt"/>
                <a:ea typeface="맑은 고딕" pitchFamily="50" charset="-127"/>
              </a:rPr>
              <a:t>회 이상 구매자 </a:t>
            </a:r>
            <a:r>
              <a:rPr lang="ko-KR" altLang="en-US" sz="1000" kern="0" dirty="0" err="1" smtClean="0">
                <a:latin typeface="+mj-lt"/>
                <a:ea typeface="맑은 고딕" pitchFamily="50" charset="-127"/>
              </a:rPr>
              <a:t>재구매율</a:t>
            </a:r>
            <a:r>
              <a:rPr lang="en-US" altLang="ko-KR" sz="1000" kern="0" dirty="0" smtClean="0">
                <a:latin typeface="+mj-lt"/>
                <a:ea typeface="맑은 고딕" pitchFamily="50" charset="-127"/>
              </a:rPr>
              <a:t>: 30%~40%)</a:t>
            </a:r>
          </a:p>
        </p:txBody>
      </p:sp>
      <p:sp>
        <p:nvSpPr>
          <p:cNvPr id="104" name="Rectangle 14"/>
          <p:cNvSpPr>
            <a:spLocks noChangeArrowheads="1"/>
          </p:cNvSpPr>
          <p:nvPr/>
        </p:nvSpPr>
        <p:spPr bwMode="auto">
          <a:xfrm>
            <a:off x="6882928" y="5446189"/>
            <a:ext cx="1714239" cy="41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ctr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000" kern="0" dirty="0" smtClean="0">
                <a:latin typeface="+mj-lt"/>
                <a:ea typeface="맑은 고딕" pitchFamily="50" charset="-127"/>
              </a:rPr>
              <a:t>(Target </a:t>
            </a:r>
            <a:r>
              <a:rPr lang="ko-KR" altLang="en-US" sz="1000" kern="0" dirty="0" smtClean="0">
                <a:latin typeface="+mj-lt"/>
                <a:ea typeface="맑은 고딕" pitchFamily="50" charset="-127"/>
              </a:rPr>
              <a:t>평균 </a:t>
            </a:r>
            <a:r>
              <a:rPr lang="en-US" altLang="ko-KR" sz="1000" kern="0" dirty="0" smtClean="0">
                <a:latin typeface="+mj-lt"/>
                <a:ea typeface="맑은 고딕" pitchFamily="50" charset="-127"/>
              </a:rPr>
              <a:t>: 10% </a:t>
            </a:r>
            <a:r>
              <a:rPr lang="ko-KR" altLang="en-US" sz="1000" kern="0" dirty="0" smtClean="0">
                <a:latin typeface="+mj-lt"/>
                <a:ea typeface="맑은 고딕" pitchFamily="50" charset="-127"/>
              </a:rPr>
              <a:t>내외</a:t>
            </a:r>
            <a:r>
              <a:rPr lang="en-US" altLang="ko-KR" sz="1000" kern="0" dirty="0" smtClean="0">
                <a:latin typeface="+mj-lt"/>
                <a:ea typeface="맑은 고딕" pitchFamily="50" charset="-127"/>
              </a:rPr>
              <a:t>)</a:t>
            </a:r>
            <a:r>
              <a:rPr lang="ko-KR" altLang="en-US" sz="1000" kern="0" dirty="0" smtClean="0">
                <a:latin typeface="+mj-lt"/>
                <a:ea typeface="맑은 고딕" pitchFamily="50" charset="-127"/>
              </a:rPr>
              <a:t> </a:t>
            </a:r>
            <a:endParaRPr lang="en-US" altLang="ko-KR" sz="1000" kern="0" dirty="0" smtClean="0">
              <a:latin typeface="+mj-lt"/>
              <a:ea typeface="맑은 고딕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dirty="0" smtClean="0">
                <a:latin typeface="+mn-ea"/>
                <a:cs typeface="Arial" pitchFamily="34" charset="0"/>
              </a:rPr>
              <a:t>3-a</a:t>
            </a:r>
            <a:endParaRPr lang="ko-KR" altLang="en-US" sz="1500" b="1" dirty="0"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9787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직선 연결선 34">
            <a:extLst>
              <a:ext uri="{FF2B5EF4-FFF2-40B4-BE49-F238E27FC236}">
                <a16:creationId xmlns="" xmlns:a16="http://schemas.microsoft.com/office/drawing/2014/main" id="{DDF71ABC-C537-4021-B85A-F8B4374C4BD5}"/>
              </a:ext>
            </a:extLst>
          </p:cNvPr>
          <p:cNvCxnSpPr>
            <a:cxnSpLocks/>
          </p:cNvCxnSpPr>
          <p:nvPr/>
        </p:nvCxnSpPr>
        <p:spPr>
          <a:xfrm>
            <a:off x="1527325" y="3473279"/>
            <a:ext cx="1620000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  </a:t>
            </a:r>
            <a:r>
              <a:rPr lang="ko-KR" altLang="en-US" dirty="0" err="1" smtClean="0"/>
              <a:t>성공경험이</a:t>
            </a:r>
            <a:r>
              <a:rPr lang="ko-KR" altLang="en-US" dirty="0" smtClean="0"/>
              <a:t> </a:t>
            </a:r>
            <a:r>
              <a:rPr lang="ko-KR" altLang="en-US" dirty="0"/>
              <a:t>이식된 차별화된 사업구조 </a:t>
            </a:r>
            <a:r>
              <a:rPr lang="ko-KR" altLang="en-US" dirty="0" smtClean="0"/>
              <a:t>구축</a:t>
            </a:r>
            <a:r>
              <a:rPr lang="en-US" altLang="ko-KR" dirty="0"/>
              <a:t> – </a:t>
            </a:r>
            <a:r>
              <a:rPr lang="ko-KR" altLang="en-US" dirty="0"/>
              <a:t>커뮤니티 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핵심 </a:t>
            </a:r>
            <a:r>
              <a:rPr lang="en-US" altLang="ko-KR" dirty="0" smtClean="0"/>
              <a:t>User </a:t>
            </a:r>
            <a:r>
              <a:rPr lang="ko-KR" altLang="en-US" dirty="0" smtClean="0"/>
              <a:t>기반의 커뮤니티 운영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66ED6E-FC10-4B75-B247-81351B267F90}"/>
              </a:ext>
            </a:extLst>
          </p:cNvPr>
          <p:cNvSpPr txBox="1"/>
          <p:nvPr/>
        </p:nvSpPr>
        <p:spPr>
          <a:xfrm>
            <a:off x="381001" y="1246838"/>
            <a:ext cx="8762999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smtClean="0">
                <a:latin typeface="Georgia" pitchFamily="18" charset="0"/>
              </a:rPr>
              <a:t>커뮤니티의 신규가입자 대비 핵심 </a:t>
            </a:r>
            <a:r>
              <a:rPr lang="en-US" altLang="ko-KR" sz="1400" dirty="0" smtClean="0">
                <a:latin typeface="Georgia" pitchFamily="18" charset="0"/>
              </a:rPr>
              <a:t>User</a:t>
            </a:r>
            <a:r>
              <a:rPr lang="ko-KR" altLang="en-US" sz="1400" dirty="0" smtClean="0">
                <a:latin typeface="Georgia" pitchFamily="18" charset="0"/>
              </a:rPr>
              <a:t>의 비중은 매년 상승하는 추세이며</a:t>
            </a:r>
            <a:r>
              <a:rPr lang="en-US" altLang="ko-KR" sz="1400" dirty="0" smtClean="0">
                <a:latin typeface="Georgia" pitchFamily="18" charset="0"/>
              </a:rPr>
              <a:t>,</a:t>
            </a:r>
            <a:r>
              <a:rPr lang="ko-KR" altLang="en-US" sz="1400" dirty="0" smtClean="0">
                <a:latin typeface="Georgia" pitchFamily="18" charset="0"/>
              </a:rPr>
              <a:t> 이들의 높은 충성도로 </a:t>
            </a:r>
            <a:r>
              <a:rPr lang="en-US" altLang="ko-KR" sz="1400" dirty="0" smtClean="0">
                <a:latin typeface="Georgia" pitchFamily="18" charset="0"/>
              </a:rPr>
              <a:t/>
            </a:r>
            <a:br>
              <a:rPr lang="en-US" altLang="ko-KR" sz="1400" dirty="0" smtClean="0">
                <a:latin typeface="Georgia" pitchFamily="18" charset="0"/>
              </a:rPr>
            </a:br>
            <a:r>
              <a:rPr lang="ko-KR" altLang="en-US" sz="1400" dirty="0" smtClean="0">
                <a:latin typeface="Georgia" pitchFamily="18" charset="0"/>
              </a:rPr>
              <a:t>인한</a:t>
            </a:r>
            <a:r>
              <a:rPr lang="en-US" altLang="ko-KR" sz="1400" dirty="0" smtClean="0">
                <a:latin typeface="Georgia" pitchFamily="18" charset="0"/>
              </a:rPr>
              <a:t> </a:t>
            </a:r>
            <a:r>
              <a:rPr lang="ko-KR" altLang="en-US" sz="1400" dirty="0" smtClean="0">
                <a:latin typeface="Georgia" pitchFamily="18" charset="0"/>
              </a:rPr>
              <a:t>커뮤니티 활성화 및 구매 상승 효과가 기대됨</a:t>
            </a:r>
            <a:endParaRPr lang="en-US" altLang="ko-KR" sz="1400" dirty="0" smtClean="0">
              <a:latin typeface="Georgia" pitchFamily="18" charset="0"/>
            </a:endParaRPr>
          </a:p>
        </p:txBody>
      </p:sp>
      <p:sp>
        <p:nvSpPr>
          <p:cNvPr id="33" name="내용 개체 틀 3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grpSp>
        <p:nvGrpSpPr>
          <p:cNvPr id="6" name="그룹 11"/>
          <p:cNvGrpSpPr/>
          <p:nvPr/>
        </p:nvGrpSpPr>
        <p:grpSpPr>
          <a:xfrm>
            <a:off x="316483" y="1968881"/>
            <a:ext cx="8511033" cy="288336"/>
            <a:chOff x="245643" y="1844520"/>
            <a:chExt cx="4118545" cy="288336"/>
          </a:xfrm>
        </p:grpSpPr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84102C76-57CF-49D0-9289-FF22351BC5C2}"/>
                </a:ext>
              </a:extLst>
            </p:cNvPr>
            <p:cNvSpPr txBox="1"/>
            <p:nvPr/>
          </p:nvSpPr>
          <p:spPr>
            <a:xfrm>
              <a:off x="245643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altLang="ko-KR" sz="1200" b="1" dirty="0" smtClean="0">
                  <a:latin typeface="Georgia" pitchFamily="18" charset="0"/>
                </a:rPr>
                <a:t>Core User</a:t>
              </a:r>
              <a:r>
                <a:rPr lang="ko-KR" altLang="en-US" sz="1200" b="1" dirty="0" smtClean="0">
                  <a:latin typeface="Georgia" pitchFamily="18" charset="0"/>
                </a:rPr>
                <a:t> 상세 지표</a:t>
              </a:r>
              <a:endParaRPr lang="en-US" sz="1200" b="1" baseline="30000" dirty="0">
                <a:latin typeface="Georgia" pitchFamily="18" charset="0"/>
              </a:endParaRPr>
            </a:p>
          </p:txBody>
        </p:sp>
        <p:cxnSp>
          <p:nvCxnSpPr>
            <p:cNvPr id="32" name="Straight Connector 11">
              <a:extLst>
                <a:ext uri="{FF2B5EF4-FFF2-40B4-BE49-F238E27FC236}">
                  <a16:creationId xmlns="" xmlns:a16="http://schemas.microsoft.com/office/drawing/2014/main" id="{CF12CB67-0720-4506-AA52-CB80E3DE4CA8}"/>
                </a:ext>
              </a:extLst>
            </p:cNvPr>
            <p:cNvCxnSpPr/>
            <p:nvPr/>
          </p:nvCxnSpPr>
          <p:spPr>
            <a:xfrm>
              <a:off x="251520" y="2132856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8" name="타원 37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dirty="0" smtClean="0">
                <a:latin typeface="+mn-ea"/>
                <a:cs typeface="Arial" pitchFamily="34" charset="0"/>
              </a:rPr>
              <a:t>3-a</a:t>
            </a:r>
            <a:endParaRPr lang="ko-KR" altLang="en-US" sz="1500" b="1" dirty="0">
              <a:latin typeface="+mn-ea"/>
              <a:cs typeface="Arial" pitchFamily="34" charset="0"/>
            </a:endParaRPr>
          </a:p>
        </p:txBody>
      </p:sp>
      <p:graphicFrame>
        <p:nvGraphicFramePr>
          <p:cNvPr id="8" name="차트 7"/>
          <p:cNvGraphicFramePr/>
          <p:nvPr>
            <p:extLst>
              <p:ext uri="{D42A27DB-BD31-4B8C-83A1-F6EECF244321}">
                <p14:modId xmlns="" xmlns:p14="http://schemas.microsoft.com/office/powerpoint/2010/main" val="1827435159"/>
              </p:ext>
            </p:extLst>
          </p:nvPr>
        </p:nvGraphicFramePr>
        <p:xfrm>
          <a:off x="428596" y="2285992"/>
          <a:ext cx="3962398" cy="2143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857752" y="2427390"/>
            <a:ext cx="1316094" cy="35866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200" b="1" u="sng" dirty="0" smtClean="0">
                <a:latin typeface="Georgia" pitchFamily="18" charset="0"/>
              </a:rPr>
              <a:t>재방문율</a:t>
            </a:r>
          </a:p>
        </p:txBody>
      </p:sp>
      <p:graphicFrame>
        <p:nvGraphicFramePr>
          <p:cNvPr id="21" name="차트 20"/>
          <p:cNvGraphicFramePr/>
          <p:nvPr/>
        </p:nvGraphicFramePr>
        <p:xfrm>
          <a:off x="5357818" y="2428868"/>
          <a:ext cx="3000396" cy="2000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22" name="직선 화살표 연결선 21">
            <a:extLst>
              <a:ext uri="{FF2B5EF4-FFF2-40B4-BE49-F238E27FC236}">
                <a16:creationId xmlns="" xmlns:a16="http://schemas.microsoft.com/office/drawing/2014/main" id="{FB7377E8-50F5-49C5-AC43-441D4BE33B97}"/>
              </a:ext>
            </a:extLst>
          </p:cNvPr>
          <p:cNvCxnSpPr>
            <a:cxnSpLocks/>
          </p:cNvCxnSpPr>
          <p:nvPr/>
        </p:nvCxnSpPr>
        <p:spPr>
          <a:xfrm flipV="1">
            <a:off x="6731015" y="2714620"/>
            <a:ext cx="0" cy="75600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="" xmlns:a16="http://schemas.microsoft.com/office/drawing/2014/main" id="{B9D3DE57-B11A-490B-9918-ABC4DB094354}"/>
              </a:ext>
            </a:extLst>
          </p:cNvPr>
          <p:cNvCxnSpPr>
            <a:cxnSpLocks/>
          </p:cNvCxnSpPr>
          <p:nvPr/>
        </p:nvCxnSpPr>
        <p:spPr>
          <a:xfrm>
            <a:off x="6643702" y="2723017"/>
            <a:ext cx="612000" cy="9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="" xmlns:a16="http://schemas.microsoft.com/office/drawing/2014/main" id="{DDF71ABC-C537-4021-B85A-F8B4374C4BD5}"/>
              </a:ext>
            </a:extLst>
          </p:cNvPr>
          <p:cNvCxnSpPr>
            <a:cxnSpLocks/>
          </p:cNvCxnSpPr>
          <p:nvPr/>
        </p:nvCxnSpPr>
        <p:spPr>
          <a:xfrm>
            <a:off x="6429267" y="3468633"/>
            <a:ext cx="396000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="" xmlns:a16="http://schemas.microsoft.com/office/drawing/2014/main" id="{73ADA7D6-8852-4985-A1E7-1392C7682F95}"/>
              </a:ext>
            </a:extLst>
          </p:cNvPr>
          <p:cNvSpPr/>
          <p:nvPr/>
        </p:nvSpPr>
        <p:spPr bwMode="ltGray">
          <a:xfrm>
            <a:off x="6429388" y="2868998"/>
            <a:ext cx="612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+11%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="" xmlns:a16="http://schemas.microsoft.com/office/drawing/2014/main" id="{FB7377E8-50F5-49C5-AC43-441D4BE33B97}"/>
              </a:ext>
            </a:extLst>
          </p:cNvPr>
          <p:cNvCxnSpPr>
            <a:cxnSpLocks/>
          </p:cNvCxnSpPr>
          <p:nvPr/>
        </p:nvCxnSpPr>
        <p:spPr>
          <a:xfrm flipV="1">
            <a:off x="3071802" y="2572730"/>
            <a:ext cx="0" cy="90000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="" xmlns:a16="http://schemas.microsoft.com/office/drawing/2014/main" id="{B9D3DE57-B11A-490B-9918-ABC4DB094354}"/>
              </a:ext>
            </a:extLst>
          </p:cNvPr>
          <p:cNvCxnSpPr>
            <a:cxnSpLocks/>
          </p:cNvCxnSpPr>
          <p:nvPr/>
        </p:nvCxnSpPr>
        <p:spPr>
          <a:xfrm>
            <a:off x="2978536" y="2561716"/>
            <a:ext cx="576000" cy="9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타원 35">
            <a:extLst>
              <a:ext uri="{FF2B5EF4-FFF2-40B4-BE49-F238E27FC236}">
                <a16:creationId xmlns="" xmlns:a16="http://schemas.microsoft.com/office/drawing/2014/main" id="{73ADA7D6-8852-4985-A1E7-1392C7682F95}"/>
              </a:ext>
            </a:extLst>
          </p:cNvPr>
          <p:cNvSpPr/>
          <p:nvPr/>
        </p:nvSpPr>
        <p:spPr bwMode="ltGray">
          <a:xfrm>
            <a:off x="2786050" y="2840376"/>
            <a:ext cx="612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+31%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40" name="차트 39"/>
          <p:cNvGraphicFramePr/>
          <p:nvPr/>
        </p:nvGraphicFramePr>
        <p:xfrm>
          <a:off x="571472" y="4429132"/>
          <a:ext cx="3857652" cy="1889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1" name="모서리가 둥근 직사각형 83">
            <a:extLst>
              <a:ext uri="{FF2B5EF4-FFF2-40B4-BE49-F238E27FC236}">
                <a16:creationId xmlns="" xmlns:a16="http://schemas.microsoft.com/office/drawing/2014/main" id="{D543DA7D-CD0D-429F-9DD4-76563967BB7E}"/>
              </a:ext>
            </a:extLst>
          </p:cNvPr>
          <p:cNvSpPr/>
          <p:nvPr/>
        </p:nvSpPr>
        <p:spPr>
          <a:xfrm>
            <a:off x="4678333" y="4357694"/>
            <a:ext cx="4037071" cy="171451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7313" indent="-3175">
              <a:spcAft>
                <a:spcPts val="600"/>
              </a:spcAft>
              <a:buFont typeface="Arial" pitchFamily="34" charset="0"/>
              <a:buChar char="•"/>
            </a:pPr>
            <a:r>
              <a:rPr lang="en-US" altLang="ko-KR" sz="1200" dirty="0" smtClean="0">
                <a:latin typeface="Georgia" pitchFamily="18" charset="0"/>
              </a:rPr>
              <a:t> </a:t>
            </a:r>
            <a:r>
              <a:rPr lang="ko-KR" altLang="en-US" sz="1200" b="1" dirty="0" smtClean="0">
                <a:latin typeface="Georgia" pitchFamily="18" charset="0"/>
              </a:rPr>
              <a:t>신규가입자 중 약 </a:t>
            </a:r>
            <a:r>
              <a:rPr lang="en-US" altLang="ko-KR" sz="1200" b="1" dirty="0" smtClean="0">
                <a:latin typeface="Georgia" pitchFamily="18" charset="0"/>
              </a:rPr>
              <a:t>42%</a:t>
            </a:r>
            <a:r>
              <a:rPr lang="ko-KR" altLang="en-US" sz="1200" b="1" dirty="0" smtClean="0">
                <a:latin typeface="Georgia" pitchFamily="18" charset="0"/>
              </a:rPr>
              <a:t>가 </a:t>
            </a:r>
            <a:r>
              <a:rPr lang="en-US" altLang="ko-KR" sz="1200" b="1" dirty="0" smtClean="0">
                <a:latin typeface="Georgia" pitchFamily="18" charset="0"/>
              </a:rPr>
              <a:t>Core User</a:t>
            </a:r>
            <a:r>
              <a:rPr lang="ko-KR" altLang="en-US" sz="1200" b="1" dirty="0" smtClean="0">
                <a:latin typeface="Georgia" pitchFamily="18" charset="0"/>
              </a:rPr>
              <a:t>로 전환</a:t>
            </a:r>
            <a:endParaRPr lang="en-US" altLang="ko-KR" sz="1200" b="1" dirty="0" smtClean="0">
              <a:latin typeface="Georgia" pitchFamily="18" charset="0"/>
            </a:endParaRPr>
          </a:p>
          <a:p>
            <a:pPr marL="87313" indent="-3175">
              <a:spcAft>
                <a:spcPts val="600"/>
              </a:spcAft>
              <a:buFont typeface="Arial" pitchFamily="34" charset="0"/>
              <a:buChar char="•"/>
            </a:pPr>
            <a:r>
              <a:rPr lang="en-US" altLang="ko-KR" sz="1200" dirty="0" smtClean="0">
                <a:latin typeface="Georgia" pitchFamily="18" charset="0"/>
              </a:rPr>
              <a:t> </a:t>
            </a:r>
            <a:r>
              <a:rPr lang="en-US" altLang="ko-KR" sz="1200" b="1" dirty="0" smtClean="0">
                <a:latin typeface="Georgia" pitchFamily="18" charset="0"/>
              </a:rPr>
              <a:t>Core User </a:t>
            </a:r>
            <a:r>
              <a:rPr lang="ko-KR" altLang="en-US" sz="1200" b="1" dirty="0" smtClean="0">
                <a:latin typeface="Georgia" pitchFamily="18" charset="0"/>
              </a:rPr>
              <a:t>수는 매년 상승하는 추세임  </a:t>
            </a:r>
            <a:r>
              <a:rPr lang="en-US" altLang="ko-KR" sz="1200" dirty="0" smtClean="0">
                <a:latin typeface="Georgia" pitchFamily="18" charset="0"/>
              </a:rPr>
              <a:t/>
            </a:r>
            <a:br>
              <a:rPr lang="en-US" altLang="ko-KR" sz="1200" dirty="0" smtClean="0">
                <a:latin typeface="Georgia" pitchFamily="18" charset="0"/>
              </a:rPr>
            </a:br>
            <a:endParaRPr lang="en-US" altLang="ko-KR" sz="1200" dirty="0" smtClean="0">
              <a:latin typeface="Georgia" pitchFamily="18" charset="0"/>
            </a:endParaRPr>
          </a:p>
          <a:p>
            <a:pPr marL="87313" indent="-3175">
              <a:spcAft>
                <a:spcPts val="600"/>
              </a:spcAft>
              <a:buFont typeface="Arial" pitchFamily="34" charset="0"/>
              <a:buChar char="•"/>
            </a:pPr>
            <a:r>
              <a:rPr lang="ko-KR" altLang="en-US" sz="1200" dirty="0" smtClean="0">
                <a:latin typeface="Georgia" pitchFamily="18" charset="0"/>
              </a:rPr>
              <a:t> </a:t>
            </a:r>
            <a:r>
              <a:rPr lang="ko-KR" altLang="en-US" sz="1200" b="1" dirty="0" smtClean="0">
                <a:latin typeface="Georgia" pitchFamily="18" charset="0"/>
              </a:rPr>
              <a:t>재방문율은 </a:t>
            </a:r>
            <a:r>
              <a:rPr lang="en-US" altLang="ko-KR" sz="1200" b="1" dirty="0" smtClean="0">
                <a:latin typeface="Georgia" pitchFamily="18" charset="0"/>
              </a:rPr>
              <a:t>’18</a:t>
            </a:r>
            <a:r>
              <a:rPr lang="ko-KR" altLang="en-US" sz="1200" b="1" dirty="0" smtClean="0">
                <a:latin typeface="Georgia" pitchFamily="18" charset="0"/>
              </a:rPr>
              <a:t>년 대비 </a:t>
            </a:r>
            <a:r>
              <a:rPr lang="en-US" altLang="ko-KR" sz="1200" b="1" dirty="0" smtClean="0">
                <a:latin typeface="Georgia" pitchFamily="18" charset="0"/>
              </a:rPr>
              <a:t>11% </a:t>
            </a:r>
            <a:r>
              <a:rPr lang="ko-KR" altLang="en-US" sz="1200" b="1" dirty="0" smtClean="0">
                <a:latin typeface="Georgia" pitchFamily="18" charset="0"/>
              </a:rPr>
              <a:t>상승</a:t>
            </a:r>
            <a:r>
              <a:rPr lang="ko-KR" altLang="en-US" sz="1200" dirty="0" smtClean="0">
                <a:latin typeface="Georgia" pitchFamily="18" charset="0"/>
              </a:rPr>
              <a:t>하였으며</a:t>
            </a:r>
            <a:r>
              <a:rPr lang="en-US" altLang="ko-KR" sz="1200" dirty="0" smtClean="0">
                <a:latin typeface="Georgia" pitchFamily="18" charset="0"/>
              </a:rPr>
              <a:t>, </a:t>
            </a:r>
            <a:r>
              <a:rPr lang="ko-KR" altLang="en-US" sz="1200" dirty="0" smtClean="0">
                <a:latin typeface="Georgia" pitchFamily="18" charset="0"/>
              </a:rPr>
              <a:t>이는 </a:t>
            </a:r>
            <a:r>
              <a:rPr lang="en-US" altLang="ko-KR" sz="1200" dirty="0" smtClean="0">
                <a:latin typeface="Georgia" pitchFamily="18" charset="0"/>
              </a:rPr>
              <a:t>Target </a:t>
            </a:r>
            <a:br>
              <a:rPr lang="en-US" altLang="ko-KR" sz="1200" dirty="0" smtClean="0">
                <a:latin typeface="Georgia" pitchFamily="18" charset="0"/>
              </a:rPr>
            </a:br>
            <a:r>
              <a:rPr lang="en-US" altLang="ko-KR" sz="1200" dirty="0" smtClean="0">
                <a:latin typeface="Georgia" pitchFamily="18" charset="0"/>
              </a:rPr>
              <a:t>  </a:t>
            </a:r>
            <a:r>
              <a:rPr lang="ko-KR" altLang="en-US" sz="1200" dirty="0" smtClean="0">
                <a:latin typeface="Georgia" pitchFamily="18" charset="0"/>
              </a:rPr>
              <a:t>평균 </a:t>
            </a:r>
            <a:r>
              <a:rPr lang="en-US" altLang="ko-KR" sz="1200" dirty="0" smtClean="0">
                <a:latin typeface="Georgia" pitchFamily="18" charset="0"/>
              </a:rPr>
              <a:t>(38%) </a:t>
            </a:r>
            <a:r>
              <a:rPr lang="ko-KR" altLang="en-US" sz="1200" b="1" dirty="0" smtClean="0">
                <a:latin typeface="Georgia" pitchFamily="18" charset="0"/>
              </a:rPr>
              <a:t>상당히 높은 수치로</a:t>
            </a:r>
            <a:r>
              <a:rPr lang="en-US" altLang="ko-KR" sz="1200" dirty="0" smtClean="0">
                <a:latin typeface="Georgia" pitchFamily="18" charset="0"/>
              </a:rPr>
              <a:t> </a:t>
            </a:r>
            <a:r>
              <a:rPr lang="en-US" altLang="ko-KR" sz="1200" b="1" dirty="0" smtClean="0">
                <a:latin typeface="Georgia" pitchFamily="18" charset="0"/>
              </a:rPr>
              <a:t>Core User</a:t>
            </a:r>
            <a:r>
              <a:rPr lang="ko-KR" altLang="en-US" sz="1200" b="1" dirty="0" smtClean="0">
                <a:latin typeface="Georgia" pitchFamily="18" charset="0"/>
              </a:rPr>
              <a:t>의 높은 충성도를 반영함   </a:t>
            </a:r>
            <a:endParaRPr lang="en-US" altLang="ko-KR" sz="1200" b="1" dirty="0">
              <a:latin typeface="Georgia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9824" y="2427390"/>
            <a:ext cx="1316094" cy="35866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200" b="1" u="sng" dirty="0" smtClean="0">
                <a:latin typeface="Georgia" pitchFamily="18" charset="0"/>
              </a:rPr>
              <a:t>신규가입자 中</a:t>
            </a:r>
            <a:r>
              <a:rPr lang="en-US" altLang="ko-KR" sz="1200" b="1" u="sng" dirty="0" smtClean="0">
                <a:latin typeface="Georgia" pitchFamily="18" charset="0"/>
              </a:rPr>
              <a:t> </a:t>
            </a:r>
            <a:br>
              <a:rPr lang="en-US" altLang="ko-KR" sz="1200" b="1" u="sng" dirty="0" smtClean="0">
                <a:latin typeface="Georgia" pitchFamily="18" charset="0"/>
              </a:rPr>
            </a:br>
            <a:r>
              <a:rPr lang="en-US" altLang="ko-KR" sz="1200" b="1" u="sng" dirty="0" smtClean="0">
                <a:latin typeface="Georgia" pitchFamily="18" charset="0"/>
              </a:rPr>
              <a:t>Core User </a:t>
            </a:r>
            <a:r>
              <a:rPr lang="ko-KR" altLang="en-US" sz="1200" b="1" u="sng" dirty="0" smtClean="0">
                <a:latin typeface="Georgia" pitchFamily="18" charset="0"/>
              </a:rPr>
              <a:t>비중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288" y="4500570"/>
            <a:ext cx="1316094" cy="35866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200" b="1" u="sng" dirty="0" smtClean="0">
                <a:latin typeface="Georgia" pitchFamily="18" charset="0"/>
              </a:rPr>
              <a:t>신규 </a:t>
            </a:r>
            <a:r>
              <a:rPr lang="en-US" altLang="ko-KR" sz="1200" b="1" u="sng" dirty="0" smtClean="0">
                <a:latin typeface="Georgia" pitchFamily="18" charset="0"/>
              </a:rPr>
              <a:t>Core User </a:t>
            </a:r>
            <a:r>
              <a:rPr lang="ko-KR" altLang="en-US" sz="1200" b="1" u="sng" dirty="0" smtClean="0">
                <a:latin typeface="Georgia" pitchFamily="18" charset="0"/>
              </a:rPr>
              <a:t>수 </a:t>
            </a:r>
            <a:r>
              <a:rPr lang="en-US" altLang="ko-KR" sz="1200" b="1" u="sng" dirty="0" smtClean="0">
                <a:latin typeface="Georgia" pitchFamily="18" charset="0"/>
              </a:rPr>
              <a:t/>
            </a:r>
            <a:br>
              <a:rPr lang="en-US" altLang="ko-KR" sz="1200" b="1" u="sng" dirty="0" smtClean="0">
                <a:latin typeface="Georgia" pitchFamily="18" charset="0"/>
              </a:rPr>
            </a:br>
            <a:r>
              <a:rPr lang="en-US" altLang="ko-KR" sz="1200" b="1" dirty="0" smtClean="0">
                <a:latin typeface="Georgia" pitchFamily="18" charset="0"/>
              </a:rPr>
              <a:t>(</a:t>
            </a:r>
            <a:r>
              <a:rPr lang="ko-KR" altLang="en-US" sz="1200" b="1" dirty="0" smtClean="0">
                <a:latin typeface="Georgia" pitchFamily="18" charset="0"/>
              </a:rPr>
              <a:t>누적</a:t>
            </a:r>
            <a:r>
              <a:rPr lang="en-US" altLang="ko-KR" sz="1200" b="1" dirty="0" smtClean="0">
                <a:latin typeface="Georgia" pitchFamily="18" charset="0"/>
              </a:rPr>
              <a:t>)</a:t>
            </a:r>
            <a:endParaRPr lang="ko-KR" altLang="en-US" sz="1200" b="1" dirty="0" smtClean="0">
              <a:latin typeface="Georgia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9787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  </a:t>
            </a:r>
            <a:r>
              <a:rPr lang="ko-KR" altLang="en-US" dirty="0" err="1" smtClean="0"/>
              <a:t>성공경험이</a:t>
            </a:r>
            <a:r>
              <a:rPr lang="ko-KR" altLang="en-US" dirty="0" smtClean="0"/>
              <a:t> </a:t>
            </a:r>
            <a:r>
              <a:rPr lang="ko-KR" altLang="en-US" dirty="0"/>
              <a:t>이식된 차별화된 사업구조 </a:t>
            </a:r>
            <a:r>
              <a:rPr lang="ko-KR" altLang="en-US" dirty="0" smtClean="0"/>
              <a:t>구축</a:t>
            </a:r>
            <a:r>
              <a:rPr lang="en-US" altLang="ko-KR" dirty="0" smtClean="0"/>
              <a:t> – </a:t>
            </a:r>
            <a:r>
              <a:rPr lang="ko-KR" altLang="en-US" dirty="0" err="1" smtClean="0"/>
              <a:t>커머스</a:t>
            </a:r>
            <a:r>
              <a:rPr lang="ko-KR" altLang="en-US" dirty="0" smtClean="0"/>
              <a:t> </a:t>
            </a:r>
            <a:endParaRPr lang="en-US" altLang="ko-KR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/>
              <a:t>커뮤니티 </a:t>
            </a:r>
            <a:r>
              <a:rPr lang="ko-KR" altLang="en-US" dirty="0" smtClean="0"/>
              <a:t>기반</a:t>
            </a:r>
            <a:r>
              <a:rPr lang="en-US" altLang="ko-KR" dirty="0" smtClean="0"/>
              <a:t>(3050 </a:t>
            </a:r>
            <a:r>
              <a:rPr lang="ko-KR" altLang="en-US" dirty="0" smtClean="0"/>
              <a:t>주부층 중심</a:t>
            </a:r>
            <a:r>
              <a:rPr lang="en-US" altLang="ko-KR" dirty="0" smtClean="0"/>
              <a:t>)</a:t>
            </a:r>
            <a:r>
              <a:rPr lang="ko-KR" altLang="en-US" dirty="0" smtClean="0"/>
              <a:t>의 차별화된 </a:t>
            </a:r>
            <a:r>
              <a:rPr lang="ko-KR" altLang="en-US" dirty="0" err="1" smtClean="0"/>
              <a:t>커머스</a:t>
            </a:r>
            <a:r>
              <a:rPr lang="ko-KR" altLang="en-US" dirty="0" smtClean="0"/>
              <a:t> 사업 모델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51519" y="1844519"/>
            <a:ext cx="5184577" cy="393709"/>
            <a:chOff x="251520" y="1844520"/>
            <a:chExt cx="4112668" cy="287716"/>
          </a:xfrm>
        </p:grpSpPr>
        <p:cxnSp>
          <p:nvCxnSpPr>
            <p:cNvPr id="23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ko-KR" altLang="en-US" sz="1200" b="1" dirty="0" err="1" smtClean="0">
                  <a:latin typeface="Georgia" pitchFamily="18" charset="0"/>
                </a:rPr>
                <a:t>커머스</a:t>
              </a:r>
              <a:r>
                <a:rPr lang="ko-KR" altLang="en-US" sz="1200" b="1" dirty="0" smtClean="0">
                  <a:latin typeface="Georgia" pitchFamily="18" charset="0"/>
                </a:rPr>
                <a:t> 사업의 차별화 포인트</a:t>
              </a:r>
              <a:endParaRPr lang="en-US" sz="1200" b="1" dirty="0">
                <a:latin typeface="Georgia" pitchFamily="18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sz="1400" dirty="0" smtClean="0">
                <a:latin typeface="Georgia" pitchFamily="18" charset="0"/>
              </a:rPr>
              <a:t> </a:t>
            </a:r>
            <a:r>
              <a:rPr lang="ko-KR" altLang="en-US" sz="1400" dirty="0" err="1" smtClean="0">
                <a:latin typeface="Georgia" pitchFamily="18" charset="0"/>
              </a:rPr>
              <a:t>커머스</a:t>
            </a:r>
            <a:r>
              <a:rPr lang="ko-KR" altLang="en-US" sz="1400" dirty="0" smtClean="0">
                <a:latin typeface="Georgia" pitchFamily="18" charset="0"/>
              </a:rPr>
              <a:t> 커뮤니티 기반의 플랫폼이라는 측면에서 기존 대형 </a:t>
            </a:r>
            <a:r>
              <a:rPr lang="ko-KR" altLang="en-US" sz="1400" dirty="0" err="1" smtClean="0">
                <a:latin typeface="Georgia" pitchFamily="18" charset="0"/>
              </a:rPr>
              <a:t>유통사와</a:t>
            </a:r>
            <a:r>
              <a:rPr lang="ko-KR" altLang="en-US" sz="1400" dirty="0" smtClean="0">
                <a:latin typeface="Georgia" pitchFamily="18" charset="0"/>
              </a:rPr>
              <a:t> 차별화 되며</a:t>
            </a:r>
            <a:r>
              <a:rPr lang="en-US" altLang="ko-KR" sz="1400" dirty="0" smtClean="0">
                <a:latin typeface="Georgia" pitchFamily="18" charset="0"/>
              </a:rPr>
              <a:t>, </a:t>
            </a:r>
            <a:r>
              <a:rPr lang="ko-KR" altLang="en-US" sz="1400" dirty="0" smtClean="0">
                <a:latin typeface="Georgia" pitchFamily="18" charset="0"/>
              </a:rPr>
              <a:t>특히 구매력 및 커뮤니티 충성도가 높은 </a:t>
            </a:r>
            <a:r>
              <a:rPr lang="en-US" altLang="ko-KR" sz="1400" dirty="0" smtClean="0">
                <a:latin typeface="Georgia" pitchFamily="18" charset="0"/>
              </a:rPr>
              <a:t>3050 </a:t>
            </a:r>
            <a:r>
              <a:rPr lang="ko-KR" altLang="en-US" sz="1400" dirty="0" smtClean="0">
                <a:latin typeface="Georgia" pitchFamily="18" charset="0"/>
              </a:rPr>
              <a:t>주부층을 주요 </a:t>
            </a:r>
            <a:r>
              <a:rPr lang="ko-KR" altLang="en-US" sz="1400" dirty="0" err="1" smtClean="0">
                <a:latin typeface="Georgia" pitchFamily="18" charset="0"/>
              </a:rPr>
              <a:t>타켓으로</a:t>
            </a:r>
            <a:r>
              <a:rPr lang="ko-KR" altLang="en-US" sz="1400" dirty="0" smtClean="0">
                <a:latin typeface="Georgia" pitchFamily="18" charset="0"/>
              </a:rPr>
              <a:t> 한다는 점에서 시장 내 유사 업체와 차별화 되고 있음</a:t>
            </a:r>
            <a:r>
              <a:rPr lang="en-US" altLang="ko-KR" sz="1400" dirty="0" smtClean="0">
                <a:latin typeface="Georgia" pitchFamily="18" charset="0"/>
              </a:rPr>
              <a:t> </a:t>
            </a:r>
            <a:endParaRPr lang="en-US" sz="1400" dirty="0">
              <a:latin typeface="Georgia" pitchFamily="18" charset="0"/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="" xmlns:a16="http://schemas.microsoft.com/office/drawing/2014/main" id="{4AA717CE-495C-4F9D-89AB-4344DC3CA7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grpSp>
        <p:nvGrpSpPr>
          <p:cNvPr id="6" name="그룹 5"/>
          <p:cNvGrpSpPr/>
          <p:nvPr/>
        </p:nvGrpSpPr>
        <p:grpSpPr>
          <a:xfrm>
            <a:off x="1554417" y="2860851"/>
            <a:ext cx="4623048" cy="1150446"/>
            <a:chOff x="381001" y="3173058"/>
            <a:chExt cx="4623048" cy="1150446"/>
          </a:xfrm>
        </p:grpSpPr>
        <p:sp>
          <p:nvSpPr>
            <p:cNvPr id="19" name="TextBox 18"/>
            <p:cNvSpPr txBox="1"/>
            <p:nvPr/>
          </p:nvSpPr>
          <p:spPr>
            <a:xfrm>
              <a:off x="381001" y="3173058"/>
              <a:ext cx="3830959" cy="65129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altLang="ko-KR" sz="1400" b="1" dirty="0" smtClean="0">
                  <a:solidFill>
                    <a:schemeClr val="tx2"/>
                  </a:solidFill>
                  <a:latin typeface="Georgia" pitchFamily="18" charset="0"/>
                </a:rPr>
                <a:t>“</a:t>
              </a:r>
              <a:r>
                <a:rPr lang="ko-KR" altLang="en-US" sz="1400" b="1" dirty="0" smtClean="0">
                  <a:solidFill>
                    <a:schemeClr val="tx2"/>
                  </a:solidFill>
                  <a:latin typeface="Georgia" pitchFamily="18" charset="0"/>
                </a:rPr>
                <a:t>필요할 때 쓰는 서비스</a:t>
              </a:r>
              <a:r>
                <a:rPr lang="en-US" altLang="ko-KR" sz="1400" b="1" dirty="0" smtClean="0">
                  <a:solidFill>
                    <a:schemeClr val="tx2"/>
                  </a:solidFill>
                  <a:latin typeface="Georgia" pitchFamily="18" charset="0"/>
                </a:rPr>
                <a:t>”</a:t>
              </a:r>
              <a:r>
                <a:rPr lang="en-US" altLang="ko-KR" sz="1400" b="1" dirty="0" smtClean="0">
                  <a:latin typeface="Georgia" pitchFamily="18" charset="0"/>
                </a:rPr>
                <a:t/>
              </a:r>
              <a:br>
                <a:rPr lang="en-US" altLang="ko-KR" sz="1400" b="1" dirty="0" smtClean="0">
                  <a:latin typeface="Georgia" pitchFamily="18" charset="0"/>
                </a:rPr>
              </a:br>
              <a:r>
                <a:rPr lang="en-US" altLang="ko-KR" sz="1400" dirty="0" smtClean="0">
                  <a:latin typeface="Georgia" pitchFamily="18" charset="0"/>
                </a:rPr>
                <a:t>(</a:t>
              </a:r>
              <a:r>
                <a:rPr lang="ko-KR" altLang="en-US" sz="1400" dirty="0" smtClean="0">
                  <a:latin typeface="Georgia" pitchFamily="18" charset="0"/>
                </a:rPr>
                <a:t>한샘</a:t>
              </a:r>
              <a:r>
                <a:rPr lang="en-US" altLang="ko-KR" sz="1400" dirty="0" smtClean="0">
                  <a:latin typeface="Georgia" pitchFamily="18" charset="0"/>
                </a:rPr>
                <a:t>, </a:t>
              </a:r>
              <a:r>
                <a:rPr lang="ko-KR" altLang="en-US" sz="1400" dirty="0" err="1" smtClean="0">
                  <a:latin typeface="Georgia" pitchFamily="18" charset="0"/>
                </a:rPr>
                <a:t>리바트</a:t>
              </a:r>
              <a:r>
                <a:rPr lang="ko-KR" altLang="en-US" sz="1400" dirty="0" smtClean="0">
                  <a:latin typeface="Georgia" pitchFamily="18" charset="0"/>
                </a:rPr>
                <a:t> 등 기존 제조업체</a:t>
              </a:r>
              <a:r>
                <a:rPr lang="en-US" altLang="ko-KR" sz="1400" dirty="0" smtClean="0">
                  <a:latin typeface="Georgia" pitchFamily="18" charset="0"/>
                </a:rPr>
                <a:t>)</a:t>
              </a:r>
              <a:endParaRPr lang="ko-KR" altLang="en-US" sz="1400" dirty="0" smtClean="0">
                <a:latin typeface="Georgia" pitchFamily="18" charset="0"/>
              </a:endParaRPr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381001" y="4021497"/>
              <a:ext cx="4623048" cy="30200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72000" tIns="36000" rIns="72000" bIns="36000" anchor="t" anchorCtr="0"/>
            <a:lstStyle/>
            <a:p>
              <a:pPr lvl="0">
                <a:spcAft>
                  <a:spcPts val="600"/>
                </a:spcAft>
                <a:buClr>
                  <a:schemeClr val="tx1"/>
                </a:buClr>
                <a:defRPr/>
              </a:pPr>
              <a:r>
                <a:rPr lang="en-US" altLang="ko-KR" sz="14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(</a:t>
              </a:r>
              <a:r>
                <a:rPr lang="ko-KR" altLang="en-US" sz="14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커뮤니티</a:t>
              </a:r>
              <a:r>
                <a:rPr lang="en-US" altLang="ko-KR" sz="14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/</a:t>
              </a:r>
              <a:r>
                <a:rPr lang="ko-KR" altLang="en-US" sz="14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플랫폼</a:t>
              </a:r>
              <a:r>
                <a:rPr lang="en-US" altLang="ko-KR" sz="14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, </a:t>
              </a:r>
              <a:r>
                <a:rPr lang="ko-KR" altLang="en-US" sz="14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멀티브랜드</a:t>
              </a:r>
              <a:r>
                <a:rPr lang="en-US" altLang="ko-KR" sz="14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/</a:t>
              </a:r>
              <a:r>
                <a:rPr lang="ko-KR" altLang="en-US" sz="14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확장성</a:t>
              </a:r>
              <a:r>
                <a:rPr lang="en-US" altLang="ko-KR" sz="14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)</a:t>
              </a:r>
              <a:endParaRPr lang="en-US" altLang="ko-KR" sz="1300" kern="0" dirty="0">
                <a:solidFill>
                  <a:srgbClr val="000000"/>
                </a:solidFill>
                <a:latin typeface="+mj-lt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81001" y="3757199"/>
              <a:ext cx="3830959" cy="24048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altLang="ko-KR" sz="1600" b="1" dirty="0" smtClean="0">
                  <a:solidFill>
                    <a:srgbClr val="C00000"/>
                  </a:solidFill>
                  <a:latin typeface="Georgia" pitchFamily="18" charset="0"/>
                </a:rPr>
                <a:t>vs. “</a:t>
              </a:r>
              <a:r>
                <a:rPr lang="ko-KR" altLang="en-US" sz="1600" b="1" dirty="0" smtClean="0">
                  <a:solidFill>
                    <a:srgbClr val="C00000"/>
                  </a:solidFill>
                  <a:latin typeface="Georgia" pitchFamily="18" charset="0"/>
                </a:rPr>
                <a:t>일상적으로 방문하는 서비스</a:t>
              </a:r>
              <a:r>
                <a:rPr lang="en-US" altLang="ko-KR" sz="1600" b="1" dirty="0" smtClean="0">
                  <a:solidFill>
                    <a:srgbClr val="C00000"/>
                  </a:solidFill>
                  <a:latin typeface="Georgia" pitchFamily="18" charset="0"/>
                </a:rPr>
                <a:t>”</a:t>
              </a:r>
              <a:endParaRPr lang="ko-KR" altLang="en-US" sz="1600" b="1" dirty="0" smtClean="0">
                <a:solidFill>
                  <a:srgbClr val="C00000"/>
                </a:solidFill>
                <a:latin typeface="Georgia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24111" y="2348224"/>
            <a:ext cx="5500017" cy="3406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600" b="1" dirty="0" smtClean="0">
                <a:latin typeface="Georgia" pitchFamily="18" charset="0"/>
              </a:rPr>
              <a:t>3050 </a:t>
            </a:r>
            <a:r>
              <a:rPr lang="ko-KR" altLang="en-US" sz="1600" b="1" dirty="0" smtClean="0">
                <a:latin typeface="Georgia" pitchFamily="18" charset="0"/>
              </a:rPr>
              <a:t>고객 중심이 커뮤니티 기반 </a:t>
            </a:r>
            <a:r>
              <a:rPr lang="ko-KR" altLang="en-US" sz="1600" b="1" dirty="0" err="1" smtClean="0">
                <a:latin typeface="Georgia" pitchFamily="18" charset="0"/>
              </a:rPr>
              <a:t>커머스</a:t>
            </a:r>
            <a:r>
              <a:rPr lang="ko-KR" altLang="en-US" sz="1600" b="1" dirty="0" smtClean="0">
                <a:latin typeface="Georgia" pitchFamily="18" charset="0"/>
              </a:rPr>
              <a:t> 유통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547664" y="4556848"/>
            <a:ext cx="4623048" cy="1150446"/>
            <a:chOff x="381001" y="4932511"/>
            <a:chExt cx="4623048" cy="1150446"/>
          </a:xfrm>
        </p:grpSpPr>
        <p:sp>
          <p:nvSpPr>
            <p:cNvPr id="27" name="TextBox 26"/>
            <p:cNvSpPr txBox="1"/>
            <p:nvPr/>
          </p:nvSpPr>
          <p:spPr>
            <a:xfrm>
              <a:off x="381001" y="4932511"/>
              <a:ext cx="3830959" cy="65129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altLang="ko-KR" sz="1400" b="1" dirty="0" smtClean="0">
                  <a:solidFill>
                    <a:schemeClr val="tx2"/>
                  </a:solidFill>
                  <a:latin typeface="Georgia" pitchFamily="18" charset="0"/>
                </a:rPr>
                <a:t>“20/30 </a:t>
              </a:r>
              <a:r>
                <a:rPr lang="ko-KR" altLang="en-US" sz="1400" b="1" dirty="0" smtClean="0">
                  <a:solidFill>
                    <a:schemeClr val="tx2"/>
                  </a:solidFill>
                  <a:latin typeface="Georgia" pitchFamily="18" charset="0"/>
                </a:rPr>
                <a:t>원룸</a:t>
              </a:r>
              <a:r>
                <a:rPr lang="en-US" altLang="ko-KR" sz="1400" b="1" dirty="0" smtClean="0">
                  <a:solidFill>
                    <a:schemeClr val="tx2"/>
                  </a:solidFill>
                  <a:latin typeface="Georgia" pitchFamily="18" charset="0"/>
                </a:rPr>
                <a:t>/</a:t>
              </a:r>
              <a:r>
                <a:rPr lang="ko-KR" altLang="en-US" sz="1400" b="1" dirty="0" smtClean="0">
                  <a:solidFill>
                    <a:schemeClr val="tx2"/>
                  </a:solidFill>
                  <a:latin typeface="Georgia" pitchFamily="18" charset="0"/>
                </a:rPr>
                <a:t>자취 고객 중심</a:t>
              </a:r>
              <a:r>
                <a:rPr lang="en-US" altLang="ko-KR" sz="1400" b="1" dirty="0" smtClean="0">
                  <a:solidFill>
                    <a:schemeClr val="tx2"/>
                  </a:solidFill>
                  <a:latin typeface="Georgia" pitchFamily="18" charset="0"/>
                </a:rPr>
                <a:t>”</a:t>
              </a:r>
              <a:r>
                <a:rPr lang="en-US" altLang="ko-KR" sz="1400" b="1" dirty="0" smtClean="0">
                  <a:latin typeface="Georgia" pitchFamily="18" charset="0"/>
                </a:rPr>
                <a:t/>
              </a:r>
              <a:br>
                <a:rPr lang="en-US" altLang="ko-KR" sz="1400" b="1" dirty="0" smtClean="0">
                  <a:latin typeface="Georgia" pitchFamily="18" charset="0"/>
                </a:rPr>
              </a:br>
              <a:r>
                <a:rPr lang="en-US" altLang="ko-KR" sz="1400" dirty="0" smtClean="0">
                  <a:latin typeface="Georgia" pitchFamily="18" charset="0"/>
                </a:rPr>
                <a:t>(1</a:t>
              </a:r>
              <a:r>
                <a:rPr lang="ko-KR" altLang="en-US" sz="1400" dirty="0" smtClean="0">
                  <a:latin typeface="Georgia" pitchFamily="18" charset="0"/>
                </a:rPr>
                <a:t>인 가구</a:t>
              </a:r>
              <a:r>
                <a:rPr lang="en-US" altLang="ko-KR" sz="1400" dirty="0">
                  <a:latin typeface="Georgia" pitchFamily="18" charset="0"/>
                </a:rPr>
                <a:t> </a:t>
              </a:r>
              <a:r>
                <a:rPr lang="ko-KR" altLang="en-US" sz="1400" dirty="0" smtClean="0">
                  <a:latin typeface="Georgia" pitchFamily="18" charset="0"/>
                </a:rPr>
                <a:t>등 소액 다수 포트폴리오 중심</a:t>
              </a:r>
              <a:r>
                <a:rPr lang="en-US" altLang="ko-KR" sz="1400" dirty="0" smtClean="0">
                  <a:latin typeface="Georgia" pitchFamily="18" charset="0"/>
                </a:rPr>
                <a:t>)</a:t>
              </a:r>
              <a:endParaRPr lang="ko-KR" altLang="en-US" sz="1400" dirty="0" smtClean="0">
                <a:latin typeface="Georgia" pitchFamily="18" charset="0"/>
              </a:endParaRP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381001" y="5780950"/>
              <a:ext cx="4623048" cy="30200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72000" tIns="36000" rIns="72000" bIns="36000" anchor="t" anchorCtr="0"/>
            <a:lstStyle/>
            <a:p>
              <a:pPr lvl="0">
                <a:spcAft>
                  <a:spcPts val="600"/>
                </a:spcAft>
                <a:buClr>
                  <a:schemeClr val="tx1"/>
                </a:buClr>
                <a:defRPr/>
              </a:pPr>
              <a:r>
                <a:rPr lang="en-US" altLang="ko-KR" sz="14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(</a:t>
              </a:r>
              <a:r>
                <a:rPr lang="ko-KR" altLang="en-US" sz="14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생활</a:t>
              </a:r>
              <a:r>
                <a:rPr lang="en-US" altLang="ko-KR" sz="14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, </a:t>
              </a:r>
              <a:r>
                <a:rPr lang="ko-KR" altLang="en-US" sz="14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주방가전 등 상대적 고가 포트폴리오 강점</a:t>
              </a:r>
              <a:r>
                <a:rPr lang="en-US" altLang="ko-KR" sz="1400" kern="0" dirty="0" smtClean="0">
                  <a:solidFill>
                    <a:srgbClr val="000000"/>
                  </a:solidFill>
                  <a:latin typeface="+mj-lt"/>
                  <a:ea typeface="맑은 고딕" pitchFamily="50" charset="-127"/>
                </a:rPr>
                <a:t>)</a:t>
              </a:r>
              <a:endParaRPr lang="en-US" altLang="ko-KR" sz="1300" kern="0" dirty="0">
                <a:solidFill>
                  <a:srgbClr val="000000"/>
                </a:solidFill>
                <a:latin typeface="+mj-lt"/>
                <a:ea typeface="맑은 고딕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81001" y="5516652"/>
              <a:ext cx="3830959" cy="24048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altLang="ko-KR" sz="1600" b="1" dirty="0" smtClean="0">
                  <a:solidFill>
                    <a:srgbClr val="C00000"/>
                  </a:solidFill>
                  <a:latin typeface="Georgia" pitchFamily="18" charset="0"/>
                </a:rPr>
                <a:t>vs. “3050 </a:t>
              </a:r>
              <a:r>
                <a:rPr lang="ko-KR" altLang="en-US" sz="1600" b="1" dirty="0" smtClean="0">
                  <a:solidFill>
                    <a:srgbClr val="C00000"/>
                  </a:solidFill>
                  <a:latin typeface="Georgia" pitchFamily="18" charset="0"/>
                </a:rPr>
                <a:t>기혼 아파트 거주 고객 중심</a:t>
              </a:r>
              <a:r>
                <a:rPr lang="en-US" altLang="ko-KR" sz="1600" b="1" dirty="0" smtClean="0">
                  <a:solidFill>
                    <a:srgbClr val="C00000"/>
                  </a:solidFill>
                  <a:latin typeface="Georgia" pitchFamily="18" charset="0"/>
                </a:rPr>
                <a:t>”</a:t>
              </a:r>
              <a:endParaRPr lang="ko-KR" altLang="en-US" sz="1600" b="1" dirty="0" smtClean="0">
                <a:solidFill>
                  <a:srgbClr val="C00000"/>
                </a:solidFill>
                <a:latin typeface="Georgia" pitchFamily="18" charset="0"/>
              </a:endParaRPr>
            </a:p>
          </p:txBody>
        </p:sp>
      </p:grpSp>
      <p:sp>
        <p:nvSpPr>
          <p:cNvPr id="8" name="타원 7"/>
          <p:cNvSpPr/>
          <p:nvPr/>
        </p:nvSpPr>
        <p:spPr bwMode="auto">
          <a:xfrm>
            <a:off x="206944" y="2780928"/>
            <a:ext cx="1080120" cy="76897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32" name="타원 31"/>
          <p:cNvSpPr/>
          <p:nvPr/>
        </p:nvSpPr>
        <p:spPr bwMode="auto">
          <a:xfrm>
            <a:off x="220704" y="4518264"/>
            <a:ext cx="1080120" cy="76897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252664" y="2943232"/>
            <a:ext cx="1080120" cy="4816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2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기존 브랜드</a:t>
            </a:r>
            <a:r>
              <a:rPr lang="en-US" altLang="ko-KR" sz="12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/</a:t>
            </a:r>
            <a:br>
              <a:rPr lang="en-US" altLang="ko-KR" sz="12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</a:br>
            <a:r>
              <a:rPr lang="ko-KR" altLang="en-US" sz="12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제조사 대비</a:t>
            </a:r>
            <a:endParaRPr lang="en-US" altLang="ko-KR" sz="1200" b="1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179512" y="4692602"/>
            <a:ext cx="1186982" cy="4341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 algn="ctr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2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온라인 기반</a:t>
            </a:r>
            <a:r>
              <a:rPr lang="en-US" altLang="ko-KR" sz="12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/>
            </a:r>
            <a:br>
              <a:rPr lang="en-US" altLang="ko-KR" sz="12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</a:br>
            <a:r>
              <a:rPr lang="ko-KR" altLang="en-US" sz="12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타 경쟁사 대비</a:t>
            </a:r>
            <a:endParaRPr lang="en-US" altLang="ko-KR" sz="1200" b="1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="" xmlns:a16="http://schemas.microsoft.com/office/drawing/2014/main" id="{A95396C7-1E4D-48EA-AEE5-310E038BD317}"/>
              </a:ext>
            </a:extLst>
          </p:cNvPr>
          <p:cNvSpPr/>
          <p:nvPr/>
        </p:nvSpPr>
        <p:spPr bwMode="ltGray">
          <a:xfrm>
            <a:off x="6226386" y="2582824"/>
            <a:ext cx="2648616" cy="2909630"/>
          </a:xfrm>
          <a:prstGeom prst="rect">
            <a:avLst/>
          </a:prstGeom>
          <a:noFill/>
          <a:ln w="38100">
            <a:solidFill>
              <a:srgbClr val="2D43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="" xmlns:a16="http://schemas.microsoft.com/office/drawing/2014/main" id="{FA176F17-5E10-4D54-8D04-82508591233A}"/>
              </a:ext>
            </a:extLst>
          </p:cNvPr>
          <p:cNvCxnSpPr>
            <a:stCxn id="37" idx="1"/>
            <a:endCxn id="37" idx="3"/>
          </p:cNvCxnSpPr>
          <p:nvPr/>
        </p:nvCxnSpPr>
        <p:spPr bwMode="auto">
          <a:xfrm>
            <a:off x="6226386" y="4037639"/>
            <a:ext cx="2648616" cy="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rgbClr val="6482B9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직선 연결선 39">
            <a:extLst>
              <a:ext uri="{FF2B5EF4-FFF2-40B4-BE49-F238E27FC236}">
                <a16:creationId xmlns="" xmlns:a16="http://schemas.microsoft.com/office/drawing/2014/main" id="{FA176F17-5E10-4D54-8D04-82508591233A}"/>
              </a:ext>
            </a:extLst>
          </p:cNvPr>
          <p:cNvCxnSpPr>
            <a:stCxn id="37" idx="0"/>
            <a:endCxn id="37" idx="2"/>
          </p:cNvCxnSpPr>
          <p:nvPr/>
        </p:nvCxnSpPr>
        <p:spPr bwMode="auto">
          <a:xfrm>
            <a:off x="7550694" y="2582824"/>
            <a:ext cx="0" cy="290963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rgbClr val="6482B9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5381844" y="4572844"/>
            <a:ext cx="812436" cy="35436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050" dirty="0" smtClean="0">
                <a:latin typeface="Georgia" pitchFamily="18" charset="0"/>
              </a:rPr>
              <a:t>단순</a:t>
            </a:r>
            <a:r>
              <a:rPr lang="en-US" altLang="ko-KR" sz="1050" dirty="0" smtClean="0">
                <a:latin typeface="Georgia" pitchFamily="18" charset="0"/>
              </a:rPr>
              <a:t/>
            </a:r>
            <a:br>
              <a:rPr lang="en-US" altLang="ko-KR" sz="1050" dirty="0" smtClean="0">
                <a:latin typeface="Georgia" pitchFamily="18" charset="0"/>
              </a:rPr>
            </a:br>
            <a:r>
              <a:rPr lang="ko-KR" altLang="en-US" sz="1050" dirty="0" smtClean="0">
                <a:latin typeface="Georgia" pitchFamily="18" charset="0"/>
              </a:rPr>
              <a:t>제조</a:t>
            </a:r>
            <a:r>
              <a:rPr lang="en-US" altLang="ko-KR" sz="1050" dirty="0" smtClean="0">
                <a:latin typeface="Georgia" pitchFamily="18" charset="0"/>
              </a:rPr>
              <a:t>/</a:t>
            </a:r>
            <a:r>
              <a:rPr lang="ko-KR" altLang="en-US" sz="1050" dirty="0" smtClean="0">
                <a:latin typeface="Georgia" pitchFamily="18" charset="0"/>
              </a:rPr>
              <a:t>유통</a:t>
            </a:r>
            <a:r>
              <a:rPr lang="en-US" altLang="ko-KR" sz="1050" dirty="0" smtClean="0">
                <a:latin typeface="Georgia" pitchFamily="18" charset="0"/>
              </a:rPr>
              <a:t/>
            </a:r>
            <a:br>
              <a:rPr lang="en-US" altLang="ko-KR" sz="1050" dirty="0" smtClean="0">
                <a:latin typeface="Georgia" pitchFamily="18" charset="0"/>
              </a:rPr>
            </a:br>
            <a:r>
              <a:rPr lang="en-US" altLang="ko-KR" sz="1050" dirty="0" smtClean="0">
                <a:latin typeface="Georgia" pitchFamily="18" charset="0"/>
              </a:rPr>
              <a:t>(1</a:t>
            </a:r>
            <a:r>
              <a:rPr lang="ko-KR" altLang="en-US" sz="1050" dirty="0" smtClean="0">
                <a:latin typeface="Georgia" pitchFamily="18" charset="0"/>
              </a:rPr>
              <a:t>회성 방문</a:t>
            </a:r>
            <a:r>
              <a:rPr lang="en-US" altLang="ko-KR" sz="1050" dirty="0" smtClean="0">
                <a:latin typeface="Georgia" pitchFamily="18" charset="0"/>
              </a:rPr>
              <a:t>)</a:t>
            </a:r>
            <a:endParaRPr lang="ko-KR" altLang="en-US" sz="1050" dirty="0" smtClean="0">
              <a:latin typeface="Georgia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337454" y="3290660"/>
            <a:ext cx="812436" cy="35436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050" dirty="0" smtClean="0">
                <a:latin typeface="Georgia" pitchFamily="18" charset="0"/>
              </a:rPr>
              <a:t>커뮤니티</a:t>
            </a:r>
            <a:r>
              <a:rPr lang="en-US" altLang="ko-KR" sz="1050" dirty="0" smtClean="0">
                <a:latin typeface="Georgia" pitchFamily="18" charset="0"/>
              </a:rPr>
              <a:t/>
            </a:r>
            <a:br>
              <a:rPr lang="en-US" altLang="ko-KR" sz="1050" dirty="0" smtClean="0">
                <a:latin typeface="Georgia" pitchFamily="18" charset="0"/>
              </a:rPr>
            </a:br>
            <a:r>
              <a:rPr lang="ko-KR" altLang="en-US" sz="1050" dirty="0" smtClean="0">
                <a:latin typeface="Georgia" pitchFamily="18" charset="0"/>
              </a:rPr>
              <a:t>기반 유통</a:t>
            </a:r>
            <a:r>
              <a:rPr lang="en-US" altLang="ko-KR" sz="1050" dirty="0" smtClean="0">
                <a:latin typeface="Georgia" pitchFamily="18" charset="0"/>
              </a:rPr>
              <a:t/>
            </a:r>
            <a:br>
              <a:rPr lang="en-US" altLang="ko-KR" sz="1050" dirty="0" smtClean="0">
                <a:latin typeface="Georgia" pitchFamily="18" charset="0"/>
              </a:rPr>
            </a:br>
            <a:r>
              <a:rPr lang="en-US" altLang="ko-KR" sz="1050" dirty="0" smtClean="0">
                <a:latin typeface="Georgia" pitchFamily="18" charset="0"/>
              </a:rPr>
              <a:t>(</a:t>
            </a:r>
            <a:r>
              <a:rPr lang="ko-KR" altLang="en-US" sz="1050" dirty="0" smtClean="0">
                <a:latin typeface="Georgia" pitchFamily="18" charset="0"/>
              </a:rPr>
              <a:t>지속 방문</a:t>
            </a:r>
            <a:r>
              <a:rPr lang="en-US" altLang="ko-KR" sz="1050" dirty="0" smtClean="0">
                <a:latin typeface="Georgia" pitchFamily="18" charset="0"/>
              </a:rPr>
              <a:t>)</a:t>
            </a:r>
            <a:endParaRPr lang="ko-KR" altLang="en-US" sz="1050" dirty="0" smtClean="0">
              <a:latin typeface="Georgia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831822" y="5565234"/>
            <a:ext cx="812436" cy="35436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altLang="ko-KR" sz="1050" dirty="0" smtClean="0">
                <a:latin typeface="Georgia" pitchFamily="18" charset="0"/>
              </a:rPr>
              <a:t>3050</a:t>
            </a:r>
            <a:br>
              <a:rPr lang="en-US" altLang="ko-KR" sz="1050" dirty="0" smtClean="0">
                <a:latin typeface="Georgia" pitchFamily="18" charset="0"/>
              </a:rPr>
            </a:br>
            <a:r>
              <a:rPr lang="ko-KR" altLang="en-US" sz="1050" dirty="0" err="1" smtClean="0">
                <a:latin typeface="Georgia" pitchFamily="18" charset="0"/>
              </a:rPr>
              <a:t>중장년</a:t>
            </a:r>
            <a:r>
              <a:rPr lang="ko-KR" altLang="en-US" sz="1050" dirty="0" smtClean="0">
                <a:latin typeface="Georgia" pitchFamily="18" charset="0"/>
              </a:rPr>
              <a:t> 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07189" y="5565234"/>
            <a:ext cx="812436" cy="35436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altLang="ko-KR" sz="1050" dirty="0" smtClean="0">
                <a:latin typeface="Georgia" pitchFamily="18" charset="0"/>
              </a:rPr>
              <a:t>2030</a:t>
            </a:r>
            <a:br>
              <a:rPr lang="en-US" altLang="ko-KR" sz="1050" dirty="0" smtClean="0">
                <a:latin typeface="Georgia" pitchFamily="18" charset="0"/>
              </a:rPr>
            </a:br>
            <a:r>
              <a:rPr lang="ko-KR" altLang="en-US" sz="1050" dirty="0" smtClean="0">
                <a:latin typeface="Georgia" pitchFamily="18" charset="0"/>
              </a:rPr>
              <a:t>젊은 층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="" xmlns:a16="http://schemas.microsoft.com/office/drawing/2014/main" id="{B42D1011-3115-43DB-9AFF-34A6A970F7AC}"/>
              </a:ext>
            </a:extLst>
          </p:cNvPr>
          <p:cNvSpPr/>
          <p:nvPr/>
        </p:nvSpPr>
        <p:spPr bwMode="auto">
          <a:xfrm>
            <a:off x="6602306" y="3398689"/>
            <a:ext cx="921858" cy="539219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 err="1" smtClean="0">
                <a:solidFill>
                  <a:srgbClr val="1B1112"/>
                </a:solidFill>
                <a:cs typeface="Arial" pitchFamily="34" charset="0"/>
              </a:rPr>
              <a:t>집꾸미기</a:t>
            </a:r>
            <a:endParaRPr lang="ko-KR" altLang="en-US" sz="1000" dirty="0">
              <a:solidFill>
                <a:srgbClr val="1B1112"/>
              </a:solidFill>
              <a:cs typeface="Arial" pitchFamily="34" charset="0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="" xmlns:a16="http://schemas.microsoft.com/office/drawing/2014/main" id="{B42D1011-3115-43DB-9AFF-34A6A970F7AC}"/>
              </a:ext>
            </a:extLst>
          </p:cNvPr>
          <p:cNvSpPr/>
          <p:nvPr/>
        </p:nvSpPr>
        <p:spPr bwMode="auto">
          <a:xfrm>
            <a:off x="6602306" y="2937531"/>
            <a:ext cx="921858" cy="539219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 err="1" smtClean="0">
                <a:solidFill>
                  <a:srgbClr val="1B1112"/>
                </a:solidFill>
                <a:cs typeface="Arial" pitchFamily="34" charset="0"/>
              </a:rPr>
              <a:t>오늘의집</a:t>
            </a:r>
            <a:endParaRPr lang="ko-KR" altLang="en-US" sz="1000" dirty="0">
              <a:solidFill>
                <a:srgbClr val="1B1112"/>
              </a:solidFill>
              <a:cs typeface="Arial" pitchFamily="34" charset="0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="" xmlns:a16="http://schemas.microsoft.com/office/drawing/2014/main" id="{B42D1011-3115-43DB-9AFF-34A6A970F7AC}"/>
              </a:ext>
            </a:extLst>
          </p:cNvPr>
          <p:cNvSpPr/>
          <p:nvPr/>
        </p:nvSpPr>
        <p:spPr bwMode="auto">
          <a:xfrm>
            <a:off x="6511608" y="4102245"/>
            <a:ext cx="1632292" cy="539219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 err="1" smtClean="0">
                <a:solidFill>
                  <a:srgbClr val="1B1112"/>
                </a:solidFill>
                <a:cs typeface="Arial" pitchFamily="34" charset="0"/>
              </a:rPr>
              <a:t>이케아</a:t>
            </a:r>
            <a:endParaRPr lang="ko-KR" altLang="en-US" sz="1000" dirty="0">
              <a:solidFill>
                <a:srgbClr val="1B1112"/>
              </a:solidFill>
              <a:cs typeface="Arial" pitchFamily="34" charset="0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="" xmlns:a16="http://schemas.microsoft.com/office/drawing/2014/main" id="{B42D1011-3115-43DB-9AFF-34A6A970F7AC}"/>
              </a:ext>
            </a:extLst>
          </p:cNvPr>
          <p:cNvSpPr/>
          <p:nvPr/>
        </p:nvSpPr>
        <p:spPr bwMode="auto">
          <a:xfrm>
            <a:off x="6810958" y="4750026"/>
            <a:ext cx="1632292" cy="539219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 smtClean="0">
                <a:solidFill>
                  <a:srgbClr val="1B1112"/>
                </a:solidFill>
                <a:cs typeface="Arial" pitchFamily="34" charset="0"/>
              </a:rPr>
              <a:t>한샘</a:t>
            </a:r>
            <a:r>
              <a:rPr lang="en-US" altLang="ko-KR" sz="1000" dirty="0" smtClean="0">
                <a:solidFill>
                  <a:srgbClr val="1B1112"/>
                </a:solidFill>
                <a:cs typeface="Arial" pitchFamily="34" charset="0"/>
              </a:rPr>
              <a:t>, </a:t>
            </a:r>
            <a:r>
              <a:rPr lang="ko-KR" altLang="en-US" sz="1000" dirty="0" err="1" smtClean="0">
                <a:solidFill>
                  <a:srgbClr val="1B1112"/>
                </a:solidFill>
                <a:cs typeface="Arial" pitchFamily="34" charset="0"/>
              </a:rPr>
              <a:t>리바트</a:t>
            </a:r>
            <a:r>
              <a:rPr lang="ko-KR" altLang="en-US" sz="1000" dirty="0" smtClean="0">
                <a:solidFill>
                  <a:srgbClr val="1B1112"/>
                </a:solidFill>
                <a:cs typeface="Arial" pitchFamily="34" charset="0"/>
              </a:rPr>
              <a:t> 등</a:t>
            </a:r>
            <a:endParaRPr lang="ko-KR" altLang="en-US" sz="1000" dirty="0">
              <a:solidFill>
                <a:srgbClr val="1B1112"/>
              </a:solidFill>
              <a:cs typeface="Arial" pitchFamily="34" charset="0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="" xmlns:a16="http://schemas.microsoft.com/office/drawing/2014/main" id="{8AA65232-A8B0-4258-BEDA-C07CC66BF127}"/>
              </a:ext>
            </a:extLst>
          </p:cNvPr>
          <p:cNvSpPr/>
          <p:nvPr/>
        </p:nvSpPr>
        <p:spPr bwMode="auto">
          <a:xfrm>
            <a:off x="7341034" y="3044131"/>
            <a:ext cx="1324633" cy="589524"/>
          </a:xfrm>
          <a:prstGeom prst="ellipse">
            <a:avLst/>
          </a:prstGeom>
          <a:solidFill>
            <a:schemeClr val="tx2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Target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cxnSp>
        <p:nvCxnSpPr>
          <p:cNvPr id="41" name="Straight Connector 11">
            <a:extLst>
              <a:ext uri="{FF2B5EF4-FFF2-40B4-BE49-F238E27FC236}">
                <a16:creationId xmlns="" xmlns:a16="http://schemas.microsoft.com/office/drawing/2014/main" id="{3B6A61AC-63AA-4976-8682-2927105DFBE1}"/>
              </a:ext>
            </a:extLst>
          </p:cNvPr>
          <p:cNvCxnSpPr/>
          <p:nvPr/>
        </p:nvCxnSpPr>
        <p:spPr>
          <a:xfrm>
            <a:off x="5810956" y="2227604"/>
            <a:ext cx="3064046" cy="0"/>
          </a:xfrm>
          <a:prstGeom prst="line">
            <a:avLst/>
          </a:prstGeom>
          <a:ln w="28575">
            <a:solidFill>
              <a:srgbClr val="2D43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DA75A2FE-A48B-45B2-92BD-4971392A1E87}"/>
              </a:ext>
            </a:extLst>
          </p:cNvPr>
          <p:cNvSpPr txBox="1"/>
          <p:nvPr/>
        </p:nvSpPr>
        <p:spPr>
          <a:xfrm>
            <a:off x="5812696" y="1844519"/>
            <a:ext cx="2847715" cy="39370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200" b="1" dirty="0" smtClean="0">
                <a:latin typeface="Georgia" pitchFamily="18" charset="0"/>
              </a:rPr>
              <a:t>시장 내 </a:t>
            </a:r>
            <a:r>
              <a:rPr lang="en-US" altLang="ko-KR" sz="1200" b="1" dirty="0" smtClean="0">
                <a:latin typeface="Georgia" pitchFamily="18" charset="0"/>
              </a:rPr>
              <a:t>Position</a:t>
            </a:r>
            <a:endParaRPr lang="en-US" sz="1200" b="1" dirty="0">
              <a:latin typeface="Georgia" pitchFamily="18" charset="0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dirty="0" smtClean="0">
                <a:latin typeface="+mn-ea"/>
                <a:cs typeface="Arial" pitchFamily="34" charset="0"/>
              </a:rPr>
              <a:t>3-b</a:t>
            </a:r>
            <a:endParaRPr lang="ko-KR" altLang="en-US" sz="1500" b="1" dirty="0"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0896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화살표 연결선 18"/>
          <p:cNvCxnSpPr/>
          <p:nvPr/>
        </p:nvCxnSpPr>
        <p:spPr>
          <a:xfrm>
            <a:off x="970793" y="2956057"/>
            <a:ext cx="0" cy="2664457"/>
          </a:xfrm>
          <a:prstGeom prst="straightConnector1">
            <a:avLst/>
          </a:prstGeom>
          <a:ln w="57150">
            <a:solidFill>
              <a:schemeClr val="tx2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  </a:t>
            </a:r>
            <a:r>
              <a:rPr lang="ko-KR" altLang="en-US" dirty="0" err="1" smtClean="0"/>
              <a:t>성공경험이</a:t>
            </a:r>
            <a:r>
              <a:rPr lang="ko-KR" altLang="en-US" dirty="0" smtClean="0"/>
              <a:t> </a:t>
            </a:r>
            <a:r>
              <a:rPr lang="ko-KR" altLang="en-US" dirty="0"/>
              <a:t>이식된 차별화된 사업구조 </a:t>
            </a:r>
            <a:r>
              <a:rPr lang="ko-KR" altLang="en-US" dirty="0" smtClean="0"/>
              <a:t>구축</a:t>
            </a:r>
            <a:r>
              <a:rPr lang="en-US" altLang="ko-KR" dirty="0"/>
              <a:t>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커머스</a:t>
            </a:r>
            <a:r>
              <a:rPr lang="en-US" altLang="ko-KR" dirty="0" smtClean="0"/>
              <a:t> </a:t>
            </a:r>
            <a:endParaRPr lang="en-US" altLang="ko-KR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고가제품 포트폴리오 중심의 </a:t>
            </a:r>
            <a:r>
              <a:rPr lang="ko-KR" altLang="en-US" dirty="0" err="1" smtClean="0"/>
              <a:t>커머스</a:t>
            </a:r>
            <a:r>
              <a:rPr lang="ko-KR" altLang="en-US" dirty="0" smtClean="0"/>
              <a:t> 사업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51519" y="1844519"/>
            <a:ext cx="3744417" cy="393709"/>
            <a:chOff x="251520" y="1844520"/>
            <a:chExt cx="4112668" cy="287716"/>
          </a:xfrm>
        </p:grpSpPr>
        <p:cxnSp>
          <p:nvCxnSpPr>
            <p:cNvPr id="23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ko-KR" altLang="en-US" sz="1200" b="1" dirty="0" err="1" smtClean="0">
                  <a:latin typeface="Georgia" pitchFamily="18" charset="0"/>
                </a:rPr>
                <a:t>커머스</a:t>
              </a:r>
              <a:r>
                <a:rPr lang="en-US" altLang="ko-KR" sz="1200" b="1" dirty="0" smtClean="0">
                  <a:latin typeface="Georgia" pitchFamily="18" charset="0"/>
                </a:rPr>
                <a:t> </a:t>
              </a:r>
              <a:r>
                <a:rPr lang="ko-KR" altLang="en-US" sz="1200" b="1" dirty="0" smtClean="0">
                  <a:latin typeface="Georgia" pitchFamily="18" charset="0"/>
                </a:rPr>
                <a:t>운영 방식</a:t>
              </a:r>
              <a:endParaRPr lang="en-US" sz="1200" b="1" dirty="0">
                <a:latin typeface="Georgia" pitchFamily="18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err="1" smtClean="0">
                <a:latin typeface="Georgia" pitchFamily="18" charset="0"/>
              </a:rPr>
              <a:t>커머스</a:t>
            </a:r>
            <a:r>
              <a:rPr lang="ko-KR" altLang="en-US" sz="1400" dirty="0" smtClean="0">
                <a:latin typeface="Georgia" pitchFamily="18" charset="0"/>
              </a:rPr>
              <a:t> 사업의 가장 큰 특장점은 </a:t>
            </a:r>
            <a:r>
              <a:rPr lang="en-US" altLang="ko-KR" sz="1400" dirty="0" smtClean="0">
                <a:latin typeface="Georgia" pitchFamily="18" charset="0"/>
              </a:rPr>
              <a:t>3050 </a:t>
            </a:r>
            <a:r>
              <a:rPr lang="ko-KR" altLang="en-US" sz="1400" dirty="0" smtClean="0">
                <a:latin typeface="Georgia" pitchFamily="18" charset="0"/>
              </a:rPr>
              <a:t>주부층을 핵심 대상으로 상대적으로 고가 제품 포트폴리오를 구축하고 있으며</a:t>
            </a:r>
            <a:r>
              <a:rPr lang="en-US" altLang="ko-KR" sz="1400" dirty="0" smtClean="0">
                <a:latin typeface="Georgia" pitchFamily="18" charset="0"/>
              </a:rPr>
              <a:t>, </a:t>
            </a:r>
            <a:r>
              <a:rPr lang="ko-KR" altLang="en-US" sz="1400" dirty="0" smtClean="0">
                <a:latin typeface="Georgia" pitchFamily="18" charset="0"/>
              </a:rPr>
              <a:t>월 평균 </a:t>
            </a:r>
            <a:r>
              <a:rPr lang="en-US" altLang="ko-KR" sz="1400" dirty="0" smtClean="0">
                <a:latin typeface="Georgia" pitchFamily="18" charset="0"/>
              </a:rPr>
              <a:t>10</a:t>
            </a:r>
            <a:r>
              <a:rPr lang="ko-KR" altLang="en-US" sz="1400" dirty="0" smtClean="0">
                <a:latin typeface="Georgia" pitchFamily="18" charset="0"/>
              </a:rPr>
              <a:t>만원 수준의 </a:t>
            </a:r>
            <a:r>
              <a:rPr lang="ko-KR" altLang="en-US" sz="1400" dirty="0" err="1" smtClean="0">
                <a:latin typeface="Georgia" pitchFamily="18" charset="0"/>
              </a:rPr>
              <a:t>객단가는</a:t>
            </a:r>
            <a:r>
              <a:rPr lang="ko-KR" altLang="en-US" sz="1400" dirty="0" smtClean="0">
                <a:latin typeface="Georgia" pitchFamily="18" charset="0"/>
              </a:rPr>
              <a:t> 최근 지속 상승하고 있는 추세임</a:t>
            </a:r>
            <a:endParaRPr lang="en-US" sz="1400" dirty="0">
              <a:latin typeface="Georgia" pitchFamily="18" charset="0"/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="" xmlns:a16="http://schemas.microsoft.com/office/drawing/2014/main" id="{4AA717CE-495C-4F9D-89AB-4344DC3CA7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13593" y="2536995"/>
            <a:ext cx="914400" cy="419062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300" b="1" dirty="0" smtClean="0">
                <a:latin typeface="Georgia" pitchFamily="18" charset="0"/>
              </a:rPr>
              <a:t>컨텐츠</a:t>
            </a:r>
            <a:r>
              <a:rPr lang="en-US" altLang="ko-KR" sz="1300" b="1" dirty="0" smtClean="0">
                <a:latin typeface="Georgia" pitchFamily="18" charset="0"/>
              </a:rPr>
              <a:t>/</a:t>
            </a:r>
            <a:r>
              <a:rPr lang="ko-KR" altLang="en-US" sz="1300" b="1" dirty="0" smtClean="0">
                <a:latin typeface="Georgia" pitchFamily="18" charset="0"/>
              </a:rPr>
              <a:t>경험</a:t>
            </a:r>
            <a:r>
              <a:rPr lang="en-US" altLang="ko-KR" sz="1300" b="1" dirty="0" smtClean="0">
                <a:latin typeface="Georgia" pitchFamily="18" charset="0"/>
              </a:rPr>
              <a:t/>
            </a:r>
            <a:br>
              <a:rPr lang="en-US" altLang="ko-KR" sz="1300" b="1" dirty="0" smtClean="0">
                <a:latin typeface="Georgia" pitchFamily="18" charset="0"/>
              </a:rPr>
            </a:br>
            <a:r>
              <a:rPr lang="ko-KR" altLang="en-US" sz="1300" b="1" dirty="0" smtClean="0">
                <a:latin typeface="Georgia" pitchFamily="18" charset="0"/>
              </a:rPr>
              <a:t>공유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93" y="3307875"/>
            <a:ext cx="914400" cy="419062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300" b="1" dirty="0" smtClean="0">
                <a:latin typeface="Georgia" pitchFamily="18" charset="0"/>
              </a:rPr>
              <a:t>제품 정보</a:t>
            </a:r>
            <a:r>
              <a:rPr lang="en-US" altLang="ko-KR" sz="1300" b="1" dirty="0" smtClean="0">
                <a:latin typeface="Georgia" pitchFamily="18" charset="0"/>
              </a:rPr>
              <a:t/>
            </a:r>
            <a:br>
              <a:rPr lang="en-US" altLang="ko-KR" sz="1300" b="1" dirty="0" smtClean="0">
                <a:latin typeface="Georgia" pitchFamily="18" charset="0"/>
              </a:rPr>
            </a:br>
            <a:r>
              <a:rPr lang="ko-KR" altLang="en-US" sz="1300" b="1" dirty="0" smtClean="0">
                <a:latin typeface="Georgia" pitchFamily="18" charset="0"/>
              </a:rPr>
              <a:t>인지</a:t>
            </a:r>
            <a:r>
              <a:rPr lang="en-US" altLang="ko-KR" sz="1300" b="1" dirty="0" smtClean="0">
                <a:latin typeface="Georgia" pitchFamily="18" charset="0"/>
              </a:rPr>
              <a:t>/</a:t>
            </a:r>
            <a:r>
              <a:rPr lang="ko-KR" altLang="en-US" sz="1300" b="1" dirty="0" smtClean="0">
                <a:latin typeface="Georgia" pitchFamily="18" charset="0"/>
              </a:rPr>
              <a:t>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93" y="4078755"/>
            <a:ext cx="914400" cy="419062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300" b="1" dirty="0" smtClean="0">
                <a:latin typeface="Georgia" pitchFamily="18" charset="0"/>
              </a:rPr>
              <a:t>제품</a:t>
            </a:r>
            <a:r>
              <a:rPr lang="en-US" altLang="ko-KR" sz="1300" b="1" dirty="0" smtClean="0">
                <a:latin typeface="Georgia" pitchFamily="18" charset="0"/>
              </a:rPr>
              <a:t/>
            </a:r>
            <a:br>
              <a:rPr lang="en-US" altLang="ko-KR" sz="1300" b="1" dirty="0" smtClean="0">
                <a:latin typeface="Georgia" pitchFamily="18" charset="0"/>
              </a:rPr>
            </a:br>
            <a:r>
              <a:rPr lang="ko-KR" altLang="en-US" sz="1300" b="1" dirty="0" smtClean="0">
                <a:latin typeface="Georgia" pitchFamily="18" charset="0"/>
              </a:rPr>
              <a:t>구매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593" y="4849635"/>
            <a:ext cx="914400" cy="419062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300" b="1" dirty="0" smtClean="0">
                <a:latin typeface="Georgia" pitchFamily="18" charset="0"/>
              </a:rPr>
              <a:t>후기</a:t>
            </a:r>
            <a:r>
              <a:rPr lang="en-US" altLang="ko-KR" sz="1300" b="1" dirty="0" smtClean="0">
                <a:latin typeface="Georgia" pitchFamily="18" charset="0"/>
              </a:rPr>
              <a:t>/</a:t>
            </a:r>
            <a:br>
              <a:rPr lang="en-US" altLang="ko-KR" sz="1300" b="1" dirty="0" smtClean="0">
                <a:latin typeface="Georgia" pitchFamily="18" charset="0"/>
              </a:rPr>
            </a:br>
            <a:r>
              <a:rPr lang="ko-KR" altLang="en-US" sz="1300" b="1" dirty="0" smtClean="0">
                <a:latin typeface="Georgia" pitchFamily="18" charset="0"/>
              </a:rPr>
              <a:t>컨텐츠 작성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593" y="5620514"/>
            <a:ext cx="914400" cy="419062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300" b="1" dirty="0" smtClean="0">
                <a:latin typeface="Georgia" pitchFamily="18" charset="0"/>
              </a:rPr>
              <a:t>동일 제품</a:t>
            </a:r>
            <a:r>
              <a:rPr lang="en-US" altLang="ko-KR" sz="1300" b="1" dirty="0" smtClean="0">
                <a:latin typeface="Georgia" pitchFamily="18" charset="0"/>
              </a:rPr>
              <a:t/>
            </a:r>
            <a:br>
              <a:rPr lang="en-US" altLang="ko-KR" sz="1300" b="1" dirty="0" smtClean="0">
                <a:latin typeface="Georgia" pitchFamily="18" charset="0"/>
              </a:rPr>
            </a:br>
            <a:r>
              <a:rPr lang="ko-KR" altLang="en-US" sz="1300" b="1" dirty="0" smtClean="0">
                <a:latin typeface="Georgia" pitchFamily="18" charset="0"/>
              </a:rPr>
              <a:t>구매 유도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7104" y="2440354"/>
            <a:ext cx="2664295" cy="3406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400" dirty="0" smtClean="0">
                <a:latin typeface="Georgia" pitchFamily="18" charset="0"/>
              </a:rPr>
              <a:t>‘</a:t>
            </a:r>
            <a:r>
              <a:rPr lang="ko-KR" altLang="en-US" sz="1400" dirty="0" smtClean="0">
                <a:latin typeface="Georgia" pitchFamily="18" charset="0"/>
              </a:rPr>
              <a:t>베스트 </a:t>
            </a:r>
            <a:r>
              <a:rPr lang="en-US" altLang="ko-KR" sz="1400" dirty="0" smtClean="0">
                <a:latin typeface="Georgia" pitchFamily="18" charset="0"/>
              </a:rPr>
              <a:t>/ </a:t>
            </a:r>
            <a:r>
              <a:rPr lang="ko-KR" altLang="en-US" sz="1400" dirty="0" err="1" smtClean="0">
                <a:latin typeface="Georgia" pitchFamily="18" charset="0"/>
              </a:rPr>
              <a:t>핫딜</a:t>
            </a:r>
            <a:r>
              <a:rPr lang="ko-KR" altLang="en-US" sz="1400" dirty="0" smtClean="0">
                <a:latin typeface="Georgia" pitchFamily="18" charset="0"/>
              </a:rPr>
              <a:t> </a:t>
            </a:r>
            <a:r>
              <a:rPr lang="en-US" altLang="ko-KR" sz="1400" dirty="0" smtClean="0">
                <a:latin typeface="Georgia" pitchFamily="18" charset="0"/>
              </a:rPr>
              <a:t>/ </a:t>
            </a:r>
            <a:r>
              <a:rPr lang="ko-KR" altLang="en-US" sz="1400" dirty="0" smtClean="0">
                <a:latin typeface="Georgia" pitchFamily="18" charset="0"/>
              </a:rPr>
              <a:t>실시간 구매</a:t>
            </a:r>
            <a:r>
              <a:rPr lang="en-US" altLang="ko-KR" sz="1400" dirty="0" smtClean="0">
                <a:latin typeface="Georgia" pitchFamily="18" charset="0"/>
              </a:rPr>
              <a:t>’</a:t>
            </a:r>
            <a:endParaRPr lang="ko-KR" altLang="en-US" sz="1400" dirty="0" smtClean="0">
              <a:latin typeface="Georgia" pitchFamily="18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2" cstate="print"/>
          <a:srcRect l="40919" t="14127" r="36326" b="5056"/>
          <a:stretch/>
        </p:blipFill>
        <p:spPr>
          <a:xfrm>
            <a:off x="1680240" y="2834889"/>
            <a:ext cx="1451600" cy="2899941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 cstate="print"/>
          <a:srcRect l="65916" t="14127" r="11632" b="5056"/>
          <a:stretch/>
        </p:blipFill>
        <p:spPr>
          <a:xfrm>
            <a:off x="2504894" y="3226920"/>
            <a:ext cx="1404943" cy="2844696"/>
          </a:xfrm>
          <a:prstGeom prst="rect">
            <a:avLst/>
          </a:prstGeom>
          <a:ln>
            <a:solidFill>
              <a:schemeClr val="tx2"/>
            </a:solidFill>
          </a:ln>
        </p:spPr>
      </p:pic>
      <p:grpSp>
        <p:nvGrpSpPr>
          <p:cNvPr id="29" name="그룹 28"/>
          <p:cNvGrpSpPr/>
          <p:nvPr/>
        </p:nvGrpSpPr>
        <p:grpSpPr>
          <a:xfrm>
            <a:off x="4499992" y="1844519"/>
            <a:ext cx="4320481" cy="393709"/>
            <a:chOff x="251520" y="1844520"/>
            <a:chExt cx="4112668" cy="287716"/>
          </a:xfrm>
        </p:grpSpPr>
        <p:cxnSp>
          <p:nvCxnSpPr>
            <p:cNvPr id="30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ko-KR" altLang="en-US" sz="1200" b="1" dirty="0" err="1" smtClean="0">
                  <a:latin typeface="Georgia" pitchFamily="18" charset="0"/>
                </a:rPr>
                <a:t>커머스</a:t>
              </a:r>
              <a:r>
                <a:rPr lang="ko-KR" altLang="en-US" sz="1200" b="1" dirty="0" smtClean="0">
                  <a:latin typeface="Georgia" pitchFamily="18" charset="0"/>
                </a:rPr>
                <a:t> 특장점</a:t>
              </a:r>
              <a:endParaRPr lang="en-US" sz="1200" b="1" dirty="0">
                <a:latin typeface="Georgia" pitchFamily="18" charset="0"/>
              </a:endParaRPr>
            </a:p>
          </p:txBody>
        </p:sp>
      </p:grp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4499992" y="2430514"/>
            <a:ext cx="4320481" cy="14305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3050 </a:t>
            </a: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주부 대상 상대적 </a:t>
            </a:r>
            <a:r>
              <a:rPr lang="en-US" altLang="ko-KR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‘</a:t>
            </a: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고가 제품 포트폴리오</a:t>
            </a:r>
            <a:r>
              <a:rPr lang="en-US" altLang="ko-KR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’</a:t>
            </a: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생활가전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주방가전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용품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여행용품 강점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/>
            </a:r>
            <a:b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</a:b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- </a:t>
            </a:r>
            <a:r>
              <a:rPr lang="ko-KR" altLang="en-US" sz="14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다이슨청소기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의류건조기 등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/>
            </a:r>
            <a:b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</a:b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※ 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경쟁사 경우 소형 가구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소품 중심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(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다품종 소액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)</a:t>
            </a: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가전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가구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생활용품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패브릭 비중 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= 3:3:3:1</a:t>
            </a:r>
            <a:endParaRPr lang="en-US" altLang="ko-KR" sz="14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4499992" y="4100048"/>
            <a:ext cx="4320481" cy="14305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지속적인 월평균 </a:t>
            </a:r>
            <a:r>
              <a:rPr lang="ko-KR" altLang="en-US" sz="1400" b="1" kern="0" dirty="0" err="1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객단가</a:t>
            </a: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 상승세</a:t>
            </a:r>
            <a:endParaRPr lang="en-US" altLang="ko-KR" sz="1400" b="1" kern="0" dirty="0" smtClean="0">
              <a:solidFill>
                <a:schemeClr val="tx2"/>
              </a:solidFill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과거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3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년 월 평균 </a:t>
            </a:r>
            <a:r>
              <a:rPr lang="ko-KR" altLang="en-US" sz="1400" b="1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객단가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평균 성장률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10.4%</a:t>
            </a:r>
            <a:br>
              <a:rPr lang="en-US" altLang="ko-KR" sz="1400" b="1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</a:b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- ’19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년 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105,759</a:t>
            </a:r>
            <a:b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</a:b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- ’18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년  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96,278</a:t>
            </a:r>
            <a:b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</a:b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- ’17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년 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86,782</a:t>
            </a: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’</a:t>
            </a:r>
            <a:r>
              <a:rPr lang="en-US" altLang="ko-KR" sz="14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19</a:t>
            </a:r>
            <a:r>
              <a:rPr lang="ko-KR" altLang="en-US" sz="14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년 기준 고객 </a:t>
            </a:r>
            <a:r>
              <a:rPr lang="en-US" altLang="ko-KR" sz="14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1</a:t>
            </a:r>
            <a:r>
              <a:rPr lang="ko-KR" altLang="en-US" sz="14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명 당 월평균 주문 횟수 </a:t>
            </a:r>
            <a:r>
              <a:rPr lang="en-US" altLang="ko-KR" sz="1400" kern="0" dirty="0">
                <a:solidFill>
                  <a:srgbClr val="000000"/>
                </a:solidFill>
                <a:latin typeface="+mj-lt"/>
                <a:ea typeface="맑은 고딕" pitchFamily="50" charset="-127"/>
              </a:rPr>
              <a:t>1.3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회</a:t>
            </a:r>
            <a:endParaRPr lang="en-US" altLang="ko-KR" sz="1400" kern="0" dirty="0" smtClean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※ 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최근 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PB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상품 비중 확대 따른 </a:t>
            </a:r>
            <a:r>
              <a:rPr lang="ko-KR" altLang="en-US" sz="1400" kern="0" dirty="0" err="1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객단가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지속 상승 및</a:t>
            </a: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/>
            </a:r>
            <a:b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</a:br>
            <a:r>
              <a:rPr lang="en-US" altLang="ko-KR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     </a:t>
            </a:r>
            <a:r>
              <a:rPr lang="ko-KR" altLang="en-US" sz="1400" kern="0" dirty="0" smtClean="0">
                <a:solidFill>
                  <a:srgbClr val="000000"/>
                </a:solidFill>
                <a:latin typeface="+mj-lt"/>
                <a:ea typeface="맑은 고딕" pitchFamily="50" charset="-127"/>
              </a:rPr>
              <a:t>수익성 개선 기대</a:t>
            </a:r>
            <a:endParaRPr lang="en-US" altLang="ko-KR" sz="1400" kern="0" dirty="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dirty="0" smtClean="0">
                <a:latin typeface="+mn-ea"/>
                <a:cs typeface="Arial" pitchFamily="34" charset="0"/>
              </a:rPr>
              <a:t>3-b</a:t>
            </a:r>
            <a:endParaRPr lang="ko-KR" altLang="en-US" sz="1500" b="1" dirty="0"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8759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  </a:t>
            </a:r>
            <a:r>
              <a:rPr lang="ko-KR" altLang="en-US" dirty="0" err="1" smtClean="0"/>
              <a:t>성공경험이</a:t>
            </a:r>
            <a:r>
              <a:rPr lang="ko-KR" altLang="en-US" dirty="0" smtClean="0"/>
              <a:t> </a:t>
            </a:r>
            <a:r>
              <a:rPr lang="ko-KR" altLang="en-US" dirty="0"/>
              <a:t>이식된 차별화된 사업구조 </a:t>
            </a:r>
            <a:r>
              <a:rPr lang="ko-KR" altLang="en-US" dirty="0" smtClean="0"/>
              <a:t>구축</a:t>
            </a:r>
            <a:r>
              <a:rPr lang="en-US" altLang="ko-KR" dirty="0"/>
              <a:t>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커머스</a:t>
            </a:r>
            <a:r>
              <a:rPr lang="en-US" altLang="ko-KR" dirty="0" smtClean="0"/>
              <a:t> </a:t>
            </a:r>
            <a:endParaRPr lang="en-US" altLang="ko-KR" dirty="0"/>
          </a:p>
        </p:txBody>
      </p:sp>
      <p:cxnSp>
        <p:nvCxnSpPr>
          <p:cNvPr id="23" name="Straight Connector 11">
            <a:extLst>
              <a:ext uri="{FF2B5EF4-FFF2-40B4-BE49-F238E27FC236}">
                <a16:creationId xmlns="" xmlns:a16="http://schemas.microsoft.com/office/drawing/2014/main" id="{3B6A61AC-63AA-4976-8682-2927105DFBE1}"/>
              </a:ext>
            </a:extLst>
          </p:cNvPr>
          <p:cNvCxnSpPr/>
          <p:nvPr/>
        </p:nvCxnSpPr>
        <p:spPr>
          <a:xfrm>
            <a:off x="251518" y="2227604"/>
            <a:ext cx="3996000" cy="0"/>
          </a:xfrm>
          <a:prstGeom prst="line">
            <a:avLst/>
          </a:prstGeom>
          <a:ln w="28575">
            <a:solidFill>
              <a:srgbClr val="2D436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내용 개체 틀 9">
            <a:extLst>
              <a:ext uri="{FF2B5EF4-FFF2-40B4-BE49-F238E27FC236}">
                <a16:creationId xmlns="" xmlns:a16="http://schemas.microsoft.com/office/drawing/2014/main" id="{4AA717CE-495C-4F9D-89AB-4344DC3CA7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 smtClean="0"/>
          </a:p>
        </p:txBody>
      </p:sp>
      <p:sp>
        <p:nvSpPr>
          <p:cNvPr id="34" name="타원 33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dirty="0" smtClean="0">
                <a:latin typeface="+mn-ea"/>
                <a:cs typeface="Arial" pitchFamily="34" charset="0"/>
              </a:rPr>
              <a:t>3-b</a:t>
            </a:r>
            <a:endParaRPr lang="ko-KR" altLang="en-US" sz="1500" b="1" dirty="0">
              <a:latin typeface="+mn-ea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5720" y="1857364"/>
            <a:ext cx="2214578" cy="35719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200" b="1" dirty="0" smtClean="0">
                <a:latin typeface="Georgia" pitchFamily="18" charset="0"/>
              </a:rPr>
              <a:t>제품군별 평균단가 및 </a:t>
            </a:r>
            <a:r>
              <a:rPr lang="ko-KR" altLang="en-US" sz="1200" b="1" dirty="0" err="1" smtClean="0">
                <a:latin typeface="Georgia" pitchFamily="18" charset="0"/>
              </a:rPr>
              <a:t>거래액</a:t>
            </a:r>
            <a:r>
              <a:rPr lang="ko-KR" altLang="en-US" sz="1200" b="1" dirty="0" smtClean="0">
                <a:latin typeface="Georgia" pitchFamily="18" charset="0"/>
              </a:rPr>
              <a:t> 비중</a:t>
            </a:r>
            <a:endParaRPr lang="ko-KR" altLang="en-US" sz="1200" b="1" baseline="30000" dirty="0" smtClean="0">
              <a:latin typeface="Georgia" pitchFamily="18" charset="0"/>
            </a:endParaRPr>
          </a:p>
        </p:txBody>
      </p:sp>
      <p:graphicFrame>
        <p:nvGraphicFramePr>
          <p:cNvPr id="19" name="차트 18"/>
          <p:cNvGraphicFramePr/>
          <p:nvPr/>
        </p:nvGraphicFramePr>
        <p:xfrm>
          <a:off x="504856" y="3071810"/>
          <a:ext cx="3852830" cy="2000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D7A9639-0EA8-4BF4-B844-62B47FD8A855}"/>
              </a:ext>
            </a:extLst>
          </p:cNvPr>
          <p:cNvSpPr txBox="1"/>
          <p:nvPr/>
        </p:nvSpPr>
        <p:spPr>
          <a:xfrm>
            <a:off x="410124" y="2500306"/>
            <a:ext cx="1304356" cy="2273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000" dirty="0">
                <a:latin typeface="Georgia" pitchFamily="18" charset="0"/>
              </a:rPr>
              <a:t>(</a:t>
            </a:r>
            <a:r>
              <a:rPr lang="ko-KR" altLang="en-US" sz="1000" dirty="0">
                <a:latin typeface="Georgia" pitchFamily="18" charset="0"/>
              </a:rPr>
              <a:t>단위</a:t>
            </a:r>
            <a:r>
              <a:rPr lang="en-US" altLang="ko-KR" sz="1000" dirty="0" smtClean="0">
                <a:latin typeface="Georgia" pitchFamily="18" charset="0"/>
              </a:rPr>
              <a:t>: </a:t>
            </a:r>
            <a:r>
              <a:rPr lang="ko-KR" altLang="en-US" sz="1000" dirty="0" smtClean="0">
                <a:latin typeface="Georgia" pitchFamily="18" charset="0"/>
              </a:rPr>
              <a:t>원</a:t>
            </a:r>
            <a:r>
              <a:rPr lang="en-US" altLang="ko-KR" sz="1000" dirty="0" smtClean="0">
                <a:latin typeface="Georgia" pitchFamily="18" charset="0"/>
              </a:rPr>
              <a:t>)</a:t>
            </a:r>
            <a:endParaRPr lang="en-US" sz="1000" dirty="0">
              <a:latin typeface="Georgia" pitchFamily="18" charset="0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4572694" y="1844518"/>
            <a:ext cx="3744417" cy="393709"/>
            <a:chOff x="251520" y="1844520"/>
            <a:chExt cx="4112668" cy="287716"/>
          </a:xfrm>
        </p:grpSpPr>
        <p:cxnSp>
          <p:nvCxnSpPr>
            <p:cNvPr id="29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sz="1200" b="1" dirty="0">
                  <a:latin typeface="Georgia" pitchFamily="18" charset="0"/>
                </a:rPr>
                <a:t> </a:t>
              </a:r>
              <a:r>
                <a:rPr lang="ko-KR" altLang="en-US" sz="1200" b="1" dirty="0" smtClean="0">
                  <a:latin typeface="Georgia" pitchFamily="18" charset="0"/>
                </a:rPr>
                <a:t>총 상품개수 및 </a:t>
              </a:r>
              <a:r>
                <a:rPr lang="en-US" altLang="ko-KR" sz="1200" b="1" dirty="0" smtClean="0">
                  <a:latin typeface="Georgia" pitchFamily="18" charset="0"/>
                </a:rPr>
                <a:t>Basket </a:t>
              </a:r>
              <a:r>
                <a:rPr lang="ko-KR" altLang="en-US" sz="1200" b="1" dirty="0" smtClean="0">
                  <a:latin typeface="Georgia" pitchFamily="18" charset="0"/>
                </a:rPr>
                <a:t>당 구입물품 수</a:t>
              </a:r>
              <a:endParaRPr lang="en-US" sz="1200" b="1" dirty="0">
                <a:latin typeface="Georgia" pitchFamily="18" charset="0"/>
              </a:endParaRPr>
            </a:p>
          </p:txBody>
        </p:sp>
      </p:grpSp>
      <p:sp>
        <p:nvSpPr>
          <p:cNvPr id="36" name="모서리가 둥근 직사각형 83">
            <a:extLst>
              <a:ext uri="{FF2B5EF4-FFF2-40B4-BE49-F238E27FC236}">
                <a16:creationId xmlns="" xmlns:a16="http://schemas.microsoft.com/office/drawing/2014/main" id="{D543DA7D-CD0D-429F-9DD4-76563967BB7E}"/>
              </a:ext>
            </a:extLst>
          </p:cNvPr>
          <p:cNvSpPr/>
          <p:nvPr/>
        </p:nvSpPr>
        <p:spPr>
          <a:xfrm>
            <a:off x="4678333" y="5143512"/>
            <a:ext cx="4037071" cy="95778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7313" indent="-3175">
              <a:spcAft>
                <a:spcPts val="600"/>
              </a:spcAft>
              <a:buFont typeface="Arial" pitchFamily="34" charset="0"/>
              <a:buChar char="•"/>
            </a:pPr>
            <a:r>
              <a:rPr lang="ko-KR" altLang="en-US" sz="1200" b="1" dirty="0" smtClean="0">
                <a:latin typeface="Georgia" pitchFamily="18" charset="0"/>
              </a:rPr>
              <a:t> 총 상품수의 증가는</a:t>
            </a:r>
            <a:r>
              <a:rPr lang="ko-KR" altLang="en-US" sz="1200" dirty="0" smtClean="0">
                <a:latin typeface="Georgia" pitchFamily="18" charset="0"/>
              </a:rPr>
              <a:t> 소비자 선택의 폭을 넓혀</a:t>
            </a:r>
            <a:r>
              <a:rPr lang="en-US" altLang="ko-KR" sz="1200" dirty="0" smtClean="0">
                <a:latin typeface="Georgia" pitchFamily="18" charset="0"/>
              </a:rPr>
              <a:t> </a:t>
            </a:r>
            <a:br>
              <a:rPr lang="en-US" altLang="ko-KR" sz="1200" dirty="0" smtClean="0">
                <a:latin typeface="Georgia" pitchFamily="18" charset="0"/>
              </a:rPr>
            </a:br>
            <a:r>
              <a:rPr lang="en-US" altLang="ko-KR" sz="1200" dirty="0" smtClean="0">
                <a:latin typeface="Georgia" pitchFamily="18" charset="0"/>
              </a:rPr>
              <a:t>  </a:t>
            </a:r>
            <a:r>
              <a:rPr lang="en-US" altLang="ko-KR" sz="1200" b="1" dirty="0" smtClean="0">
                <a:latin typeface="Georgia" pitchFamily="18" charset="0"/>
              </a:rPr>
              <a:t>1</a:t>
            </a:r>
            <a:r>
              <a:rPr lang="ko-KR" altLang="en-US" sz="1200" b="1" dirty="0" smtClean="0">
                <a:latin typeface="Georgia" pitchFamily="18" charset="0"/>
              </a:rPr>
              <a:t>회 주문당 구매수량 증가</a:t>
            </a:r>
            <a:endParaRPr lang="en-US" altLang="ko-KR" sz="1200" b="1" dirty="0" smtClean="0">
              <a:latin typeface="Georgia" pitchFamily="18" charset="0"/>
            </a:endParaRPr>
          </a:p>
          <a:p>
            <a:pPr marL="87313" indent="-3175">
              <a:spcAft>
                <a:spcPts val="600"/>
              </a:spcAft>
              <a:buFont typeface="Arial" pitchFamily="34" charset="0"/>
              <a:buChar char="•"/>
            </a:pPr>
            <a:r>
              <a:rPr lang="en-US" altLang="ko-KR" sz="1200" b="1" dirty="0" smtClean="0">
                <a:latin typeface="Georgia" pitchFamily="18" charset="0"/>
                <a:sym typeface="Wingdings 3"/>
              </a:rPr>
              <a:t> </a:t>
            </a:r>
            <a:r>
              <a:rPr lang="ko-KR" altLang="en-US" sz="1200" dirty="0" smtClean="0">
                <a:latin typeface="Georgia" pitchFamily="18" charset="0"/>
                <a:sym typeface="Wingdings 3"/>
              </a:rPr>
              <a:t>제품 단가의 상승 등과 함께 </a:t>
            </a:r>
            <a:r>
              <a:rPr lang="ko-KR" altLang="en-US" sz="1200" b="1" i="1" dirty="0" smtClean="0">
                <a:latin typeface="Georgia" pitchFamily="18" charset="0"/>
              </a:rPr>
              <a:t>객단가 상승 요인으로 작용</a:t>
            </a:r>
            <a:endParaRPr lang="en-US" altLang="ko-KR" sz="1200" b="1" i="1" dirty="0">
              <a:latin typeface="Georgia" pitchFamily="18" charset="0"/>
            </a:endParaRPr>
          </a:p>
        </p:txBody>
      </p:sp>
      <p:sp>
        <p:nvSpPr>
          <p:cNvPr id="37" name="모서리가 둥근 직사각형 83">
            <a:extLst>
              <a:ext uri="{FF2B5EF4-FFF2-40B4-BE49-F238E27FC236}">
                <a16:creationId xmlns="" xmlns:a16="http://schemas.microsoft.com/office/drawing/2014/main" id="{D543DA7D-CD0D-429F-9DD4-76563967BB7E}"/>
              </a:ext>
            </a:extLst>
          </p:cNvPr>
          <p:cNvSpPr/>
          <p:nvPr/>
        </p:nvSpPr>
        <p:spPr>
          <a:xfrm>
            <a:off x="395288" y="5143512"/>
            <a:ext cx="4037071" cy="95778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7313" indent="-3175">
              <a:spcAft>
                <a:spcPts val="600"/>
              </a:spcAft>
              <a:buFont typeface="Arial" pitchFamily="34" charset="0"/>
              <a:buChar char="•"/>
            </a:pPr>
            <a:r>
              <a:rPr lang="ko-KR" altLang="en-US" sz="1200" dirty="0" smtClean="0">
                <a:latin typeface="Georgia" pitchFamily="18" charset="0"/>
              </a:rPr>
              <a:t> 평균 단가 </a:t>
            </a:r>
            <a:r>
              <a:rPr lang="en-US" altLang="ko-KR" sz="1200" dirty="0" smtClean="0">
                <a:latin typeface="Georgia" pitchFamily="18" charset="0"/>
              </a:rPr>
              <a:t>10</a:t>
            </a:r>
            <a:r>
              <a:rPr lang="ko-KR" altLang="en-US" sz="1200" dirty="0" smtClean="0">
                <a:latin typeface="Georgia" pitchFamily="18" charset="0"/>
              </a:rPr>
              <a:t>만원 이상인 </a:t>
            </a:r>
            <a:r>
              <a:rPr lang="ko-KR" altLang="en-US" sz="1200" b="1" dirty="0" smtClean="0">
                <a:latin typeface="Georgia" pitchFamily="18" charset="0"/>
              </a:rPr>
              <a:t>가전제품의 </a:t>
            </a:r>
            <a:r>
              <a:rPr lang="ko-KR" altLang="en-US" sz="1200" b="1" dirty="0" err="1" smtClean="0">
                <a:latin typeface="Georgia" pitchFamily="18" charset="0"/>
              </a:rPr>
              <a:t>거래액이</a:t>
            </a:r>
            <a:r>
              <a:rPr lang="ko-KR" altLang="en-US" sz="1200" b="1" dirty="0" smtClean="0">
                <a:latin typeface="Georgia" pitchFamily="18" charset="0"/>
              </a:rPr>
              <a:t> </a:t>
            </a:r>
            <a:r>
              <a:rPr lang="en-US" altLang="ko-KR" sz="1200" b="1" dirty="0" smtClean="0">
                <a:latin typeface="Georgia" pitchFamily="18" charset="0"/>
              </a:rPr>
              <a:t/>
            </a:r>
            <a:br>
              <a:rPr lang="en-US" altLang="ko-KR" sz="1200" b="1" dirty="0" smtClean="0">
                <a:latin typeface="Georgia" pitchFamily="18" charset="0"/>
              </a:rPr>
            </a:br>
            <a:r>
              <a:rPr lang="en-US" altLang="ko-KR" sz="1200" b="1" dirty="0" smtClean="0">
                <a:latin typeface="Georgia" pitchFamily="18" charset="0"/>
              </a:rPr>
              <a:t>  </a:t>
            </a:r>
            <a:r>
              <a:rPr lang="ko-KR" altLang="en-US" sz="1200" b="1" dirty="0" smtClean="0">
                <a:latin typeface="Georgia" pitchFamily="18" charset="0"/>
              </a:rPr>
              <a:t>전체의 </a:t>
            </a:r>
            <a:r>
              <a:rPr lang="en-US" altLang="ko-KR" sz="1200" b="1" dirty="0" smtClean="0">
                <a:latin typeface="Georgia" pitchFamily="18" charset="0"/>
              </a:rPr>
              <a:t>33%</a:t>
            </a:r>
            <a:r>
              <a:rPr lang="ko-KR" altLang="en-US" sz="1200" b="1" dirty="0" smtClean="0">
                <a:latin typeface="Georgia" pitchFamily="18" charset="0"/>
              </a:rPr>
              <a:t>로 가장 높은 비중을 차지함</a:t>
            </a:r>
            <a:endParaRPr lang="en-US" altLang="ko-KR" sz="1200" b="1" dirty="0" smtClean="0">
              <a:latin typeface="Georgia" pitchFamily="18" charset="0"/>
            </a:endParaRPr>
          </a:p>
          <a:p>
            <a:pPr marL="87313" indent="-3175">
              <a:spcAft>
                <a:spcPts val="600"/>
              </a:spcAft>
              <a:buFont typeface="Arial" pitchFamily="34" charset="0"/>
              <a:buChar char="•"/>
            </a:pPr>
            <a:r>
              <a:rPr lang="en-US" altLang="ko-KR" sz="1200" b="1" dirty="0" smtClean="0">
                <a:latin typeface="Georgia" pitchFamily="18" charset="0"/>
              </a:rPr>
              <a:t> </a:t>
            </a:r>
            <a:r>
              <a:rPr lang="ko-KR" altLang="en-US" sz="1200" dirty="0" smtClean="0">
                <a:latin typeface="Georgia" pitchFamily="18" charset="0"/>
              </a:rPr>
              <a:t>고가 제품인 </a:t>
            </a:r>
            <a:r>
              <a:rPr lang="ko-KR" altLang="en-US" sz="1200" b="1" dirty="0" smtClean="0">
                <a:latin typeface="Georgia" pitchFamily="18" charset="0"/>
              </a:rPr>
              <a:t>가구의 판매도 전체 </a:t>
            </a:r>
            <a:r>
              <a:rPr lang="ko-KR" altLang="en-US" sz="1200" b="1" dirty="0" err="1" smtClean="0">
                <a:latin typeface="Georgia" pitchFamily="18" charset="0"/>
              </a:rPr>
              <a:t>거래액의</a:t>
            </a:r>
            <a:r>
              <a:rPr lang="ko-KR" altLang="en-US" sz="1200" b="1" dirty="0" smtClean="0">
                <a:latin typeface="Georgia" pitchFamily="18" charset="0"/>
              </a:rPr>
              <a:t> </a:t>
            </a:r>
            <a:r>
              <a:rPr lang="en-US" altLang="ko-KR" sz="1200" b="1" dirty="0" smtClean="0">
                <a:latin typeface="Georgia" pitchFamily="18" charset="0"/>
              </a:rPr>
              <a:t>26%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6D7A9639-0EA8-4BF4-B844-62B47FD8A855}"/>
              </a:ext>
            </a:extLst>
          </p:cNvPr>
          <p:cNvSpPr txBox="1"/>
          <p:nvPr/>
        </p:nvSpPr>
        <p:spPr>
          <a:xfrm>
            <a:off x="4714876" y="2500306"/>
            <a:ext cx="1304356" cy="2273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000" dirty="0">
                <a:latin typeface="Georgia" pitchFamily="18" charset="0"/>
              </a:rPr>
              <a:t>(</a:t>
            </a:r>
            <a:r>
              <a:rPr lang="ko-KR" altLang="en-US" sz="1000" dirty="0">
                <a:latin typeface="Georgia" pitchFamily="18" charset="0"/>
              </a:rPr>
              <a:t>단위</a:t>
            </a:r>
            <a:r>
              <a:rPr lang="en-US" altLang="ko-KR" sz="1000" dirty="0" smtClean="0">
                <a:latin typeface="Georgia" pitchFamily="18" charset="0"/>
              </a:rPr>
              <a:t>: </a:t>
            </a:r>
            <a:r>
              <a:rPr lang="ko-KR" altLang="en-US" sz="1000" smtClean="0">
                <a:latin typeface="Georgia" pitchFamily="18" charset="0"/>
              </a:rPr>
              <a:t>개</a:t>
            </a:r>
            <a:r>
              <a:rPr lang="en-US" altLang="ko-KR" sz="1000" dirty="0" smtClean="0">
                <a:latin typeface="Georgia" pitchFamily="18" charset="0"/>
              </a:rPr>
              <a:t>)</a:t>
            </a:r>
            <a:endParaRPr lang="en-US" sz="1000" dirty="0">
              <a:latin typeface="Georgia" pitchFamily="18" charset="0"/>
            </a:endParaRPr>
          </a:p>
        </p:txBody>
      </p:sp>
      <p:graphicFrame>
        <p:nvGraphicFramePr>
          <p:cNvPr id="35" name="차트 34"/>
          <p:cNvGraphicFramePr/>
          <p:nvPr>
            <p:extLst>
              <p:ext uri="{D42A27DB-BD31-4B8C-83A1-F6EECF244321}">
                <p14:modId xmlns="" xmlns:p14="http://schemas.microsoft.com/office/powerpoint/2010/main" val="3304882900"/>
              </p:ext>
            </p:extLst>
          </p:nvPr>
        </p:nvGraphicFramePr>
        <p:xfrm>
          <a:off x="5000628" y="3000372"/>
          <a:ext cx="3751319" cy="1996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9" name="내용 개체 틀 28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3991794048"/>
              </p:ext>
            </p:extLst>
          </p:nvPr>
        </p:nvGraphicFramePr>
        <p:xfrm>
          <a:off x="4786314" y="2285992"/>
          <a:ext cx="3714776" cy="1656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7884368" y="6237312"/>
            <a:ext cx="712800" cy="262800"/>
          </a:xfrm>
        </p:spPr>
        <p:txBody>
          <a:bodyPr/>
          <a:lstStyle/>
          <a:p>
            <a:fld id="{B68BC80C-B1D2-42DA-B465-5CACDB325AFD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err="1" smtClean="0">
                <a:latin typeface="Georgia" pitchFamily="18" charset="0"/>
              </a:rPr>
              <a:t>커머스</a:t>
            </a:r>
            <a:r>
              <a:rPr lang="ko-KR" altLang="en-US" sz="1400" dirty="0" smtClean="0">
                <a:latin typeface="Georgia" pitchFamily="18" charset="0"/>
              </a:rPr>
              <a:t> 사업은 상대적 고가 제품인 가전 및 가구의 </a:t>
            </a:r>
            <a:r>
              <a:rPr lang="ko-KR" altLang="en-US" sz="1400" dirty="0" err="1" smtClean="0">
                <a:latin typeface="Georgia" pitchFamily="18" charset="0"/>
              </a:rPr>
              <a:t>거래액이</a:t>
            </a:r>
            <a:r>
              <a:rPr lang="ko-KR" altLang="en-US" sz="1400" dirty="0" smtClean="0">
                <a:latin typeface="Georgia" pitchFamily="18" charset="0"/>
              </a:rPr>
              <a:t> 전체의 약 </a:t>
            </a:r>
            <a:r>
              <a:rPr lang="en-US" altLang="ko-KR" sz="1400" dirty="0" smtClean="0">
                <a:latin typeface="Georgia" pitchFamily="18" charset="0"/>
              </a:rPr>
              <a:t>60%</a:t>
            </a:r>
            <a:r>
              <a:rPr lang="ko-KR" altLang="en-US" sz="1400" dirty="0" smtClean="0">
                <a:latin typeface="Georgia" pitchFamily="18" charset="0"/>
              </a:rPr>
              <a:t>를 차지하고 있으며</a:t>
            </a:r>
            <a:r>
              <a:rPr lang="en-US" altLang="ko-KR" sz="1400" dirty="0" smtClean="0">
                <a:latin typeface="Georgia" pitchFamily="18" charset="0"/>
              </a:rPr>
              <a:t>, </a:t>
            </a:r>
            <a:br>
              <a:rPr lang="en-US" altLang="ko-KR" sz="1400" dirty="0" smtClean="0">
                <a:latin typeface="Georgia" pitchFamily="18" charset="0"/>
              </a:rPr>
            </a:br>
            <a:r>
              <a:rPr lang="ko-KR" altLang="en-US" sz="1400" dirty="0" smtClean="0">
                <a:latin typeface="Georgia" pitchFamily="18" charset="0"/>
              </a:rPr>
              <a:t>총 상품 개수의 증가 및 </a:t>
            </a:r>
            <a:r>
              <a:rPr lang="en-US" altLang="ko-KR" sz="1400" dirty="0" smtClean="0">
                <a:latin typeface="Georgia" pitchFamily="18" charset="0"/>
              </a:rPr>
              <a:t>1</a:t>
            </a:r>
            <a:r>
              <a:rPr lang="ko-KR" altLang="en-US" sz="1400" dirty="0" smtClean="0">
                <a:latin typeface="Georgia" pitchFamily="18" charset="0"/>
              </a:rPr>
              <a:t>회 주문당 구매 수량의 증가 등이 객단가 상승 요인으로 작용함</a:t>
            </a:r>
            <a:endParaRPr lang="en-US" sz="1400" dirty="0">
              <a:latin typeface="Georgia" pitchFamily="18" charset="0"/>
            </a:endParaRPr>
          </a:p>
        </p:txBody>
      </p:sp>
      <p:sp>
        <p:nvSpPr>
          <p:cNvPr id="42" name="내용 개체 틀 4"/>
          <p:cNvSpPr>
            <a:spLocks noGrp="1"/>
          </p:cNvSpPr>
          <p:nvPr>
            <p:ph sz="quarter" idx="16"/>
          </p:nvPr>
        </p:nvSpPr>
        <p:spPr>
          <a:xfrm>
            <a:off x="381001" y="695058"/>
            <a:ext cx="6513095" cy="389801"/>
          </a:xfrm>
        </p:spPr>
        <p:txBody>
          <a:bodyPr/>
          <a:lstStyle/>
          <a:p>
            <a:r>
              <a:rPr lang="ko-KR" altLang="en-US" dirty="0" smtClean="0"/>
              <a:t>고가제품 판매 중심의 </a:t>
            </a:r>
            <a:r>
              <a:rPr lang="ko-KR" altLang="en-US" dirty="0" err="1" smtClean="0"/>
              <a:t>커머스</a:t>
            </a:r>
            <a:r>
              <a:rPr lang="ko-KR" altLang="en-US" dirty="0" smtClean="0"/>
              <a:t> 사업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="" xmlns:a16="http://schemas.microsoft.com/office/drawing/2014/main" id="{73ADA7D6-8852-4985-A1E7-1392C7682F95}"/>
              </a:ext>
            </a:extLst>
          </p:cNvPr>
          <p:cNvSpPr/>
          <p:nvPr/>
        </p:nvSpPr>
        <p:spPr bwMode="ltGray">
          <a:xfrm>
            <a:off x="738201" y="2857496"/>
            <a:ext cx="612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33%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="" xmlns:a16="http://schemas.microsoft.com/office/drawing/2014/main" id="{73ADA7D6-8852-4985-A1E7-1392C7682F95}"/>
              </a:ext>
            </a:extLst>
          </p:cNvPr>
          <p:cNvSpPr/>
          <p:nvPr/>
        </p:nvSpPr>
        <p:spPr bwMode="ltGray">
          <a:xfrm>
            <a:off x="1553092" y="2857496"/>
            <a:ext cx="612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26%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="" xmlns:a16="http://schemas.microsoft.com/office/drawing/2014/main" id="{73ADA7D6-8852-4985-A1E7-1392C7682F95}"/>
              </a:ext>
            </a:extLst>
          </p:cNvPr>
          <p:cNvSpPr/>
          <p:nvPr/>
        </p:nvSpPr>
        <p:spPr bwMode="ltGray">
          <a:xfrm>
            <a:off x="2367983" y="2857496"/>
            <a:ext cx="612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30%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="" xmlns:a16="http://schemas.microsoft.com/office/drawing/2014/main" id="{73ADA7D6-8852-4985-A1E7-1392C7682F95}"/>
              </a:ext>
            </a:extLst>
          </p:cNvPr>
          <p:cNvSpPr/>
          <p:nvPr/>
        </p:nvSpPr>
        <p:spPr bwMode="ltGray">
          <a:xfrm>
            <a:off x="3182874" y="2857496"/>
            <a:ext cx="612000" cy="360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10%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8759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  </a:t>
            </a:r>
            <a:r>
              <a:rPr lang="ko-KR" altLang="en-US" dirty="0" err="1" smtClean="0"/>
              <a:t>성공경험이</a:t>
            </a:r>
            <a:r>
              <a:rPr lang="ko-KR" altLang="en-US" dirty="0" smtClean="0"/>
              <a:t> </a:t>
            </a:r>
            <a:r>
              <a:rPr lang="ko-KR" altLang="en-US" dirty="0"/>
              <a:t>이식된 차별화된 사업구조 </a:t>
            </a:r>
            <a:r>
              <a:rPr lang="ko-KR" altLang="en-US" dirty="0" smtClean="0"/>
              <a:t>구축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커머스</a:t>
            </a:r>
            <a:r>
              <a:rPr lang="ko-KR" altLang="en-US" dirty="0" smtClean="0"/>
              <a:t> </a:t>
            </a:r>
            <a:endParaRPr lang="en-US" altLang="ko-KR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활성 커뮤니티 기반 </a:t>
            </a:r>
            <a:r>
              <a:rPr lang="en-US" altLang="ko-KR" dirty="0" smtClean="0"/>
              <a:t>PB </a:t>
            </a:r>
            <a:r>
              <a:rPr lang="ko-KR" altLang="en-US" dirty="0" smtClean="0"/>
              <a:t>상품 확대 전략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51519" y="1844519"/>
            <a:ext cx="4680521" cy="393709"/>
            <a:chOff x="251520" y="1844520"/>
            <a:chExt cx="4112668" cy="287716"/>
          </a:xfrm>
        </p:grpSpPr>
        <p:cxnSp>
          <p:nvCxnSpPr>
            <p:cNvPr id="23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altLang="ko-KR" sz="1200" b="1" dirty="0" smtClean="0">
                  <a:latin typeface="Georgia" pitchFamily="18" charset="0"/>
                </a:rPr>
                <a:t>PB </a:t>
              </a:r>
              <a:r>
                <a:rPr lang="ko-KR" altLang="en-US" sz="1200" b="1" dirty="0" smtClean="0">
                  <a:latin typeface="Georgia" pitchFamily="18" charset="0"/>
                </a:rPr>
                <a:t>상품 전략</a:t>
              </a:r>
              <a:endParaRPr lang="en-US" sz="1200" b="1" dirty="0">
                <a:latin typeface="Georgia" pitchFamily="18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smtClean="0">
                <a:latin typeface="Georgia" pitchFamily="18" charset="0"/>
              </a:rPr>
              <a:t>기 보유 활성화 커뮤니티를 기반으로 최소의 마케팅 비용으로 다양한 </a:t>
            </a:r>
            <a:r>
              <a:rPr lang="en-US" altLang="ko-KR" sz="1400" dirty="0" smtClean="0">
                <a:latin typeface="Georgia" pitchFamily="18" charset="0"/>
              </a:rPr>
              <a:t>PB </a:t>
            </a:r>
            <a:r>
              <a:rPr lang="ko-KR" altLang="en-US" sz="1400" dirty="0" smtClean="0">
                <a:latin typeface="Georgia" pitchFamily="18" charset="0"/>
              </a:rPr>
              <a:t>상품의 확대를 통해 </a:t>
            </a:r>
            <a:r>
              <a:rPr lang="ko-KR" altLang="en-US" sz="1400" dirty="0" err="1" smtClean="0">
                <a:latin typeface="Georgia" pitchFamily="18" charset="0"/>
              </a:rPr>
              <a:t>객단가의</a:t>
            </a:r>
            <a:r>
              <a:rPr lang="ko-KR" altLang="en-US" sz="1400" dirty="0" smtClean="0">
                <a:latin typeface="Georgia" pitchFamily="18" charset="0"/>
              </a:rPr>
              <a:t> 지속 상승과 수익성 개선을 도모하고 있음</a:t>
            </a:r>
            <a:r>
              <a:rPr lang="en-US" altLang="ko-KR" sz="1400" dirty="0" smtClean="0">
                <a:latin typeface="Georgia" pitchFamily="18" charset="0"/>
              </a:rPr>
              <a:t> </a:t>
            </a:r>
            <a:endParaRPr lang="en-US" sz="1400" dirty="0">
              <a:latin typeface="Georgia" pitchFamily="18" charset="0"/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="" xmlns:a16="http://schemas.microsoft.com/office/drawing/2014/main" id="{4AA717CE-495C-4F9D-89AB-4344DC3CA7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Source: </a:t>
            </a:r>
            <a:r>
              <a:rPr lang="ko-KR" altLang="en-US" dirty="0" smtClean="0"/>
              <a:t>내부자료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251519" y="2339736"/>
            <a:ext cx="4680521" cy="3406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altLang="ko-KR" sz="1400" b="1" dirty="0" smtClean="0">
                <a:solidFill>
                  <a:schemeClr val="tx2"/>
                </a:solidFill>
                <a:latin typeface="Georgia" pitchFamily="18" charset="0"/>
              </a:rPr>
              <a:t>‘</a:t>
            </a:r>
            <a:r>
              <a:rPr lang="ko-KR" altLang="en-US" sz="1400" b="1" dirty="0" smtClean="0">
                <a:solidFill>
                  <a:schemeClr val="tx2"/>
                </a:solidFill>
                <a:latin typeface="Georgia" pitchFamily="18" charset="0"/>
              </a:rPr>
              <a:t>유행에 민감하지 않은</a:t>
            </a:r>
            <a:r>
              <a:rPr lang="en-US" altLang="ko-KR" sz="1400" b="1" dirty="0" smtClean="0">
                <a:solidFill>
                  <a:schemeClr val="tx2"/>
                </a:solidFill>
                <a:latin typeface="Georgia" pitchFamily="18" charset="0"/>
              </a:rPr>
              <a:t>, </a:t>
            </a:r>
            <a:r>
              <a:rPr lang="ko-KR" altLang="en-US" sz="1400" b="1" dirty="0" smtClean="0">
                <a:solidFill>
                  <a:schemeClr val="tx2"/>
                </a:solidFill>
                <a:latin typeface="Georgia" pitchFamily="18" charset="0"/>
              </a:rPr>
              <a:t>합리적 가격의 기본 아이템 군</a:t>
            </a:r>
            <a:r>
              <a:rPr lang="en-US" altLang="ko-KR" sz="1400" b="1" dirty="0" smtClean="0">
                <a:solidFill>
                  <a:schemeClr val="tx2"/>
                </a:solidFill>
                <a:latin typeface="Georgia" pitchFamily="18" charset="0"/>
              </a:rPr>
              <a:t>’</a:t>
            </a:r>
            <a:endParaRPr lang="ko-KR" altLang="en-US" sz="1400" b="1" dirty="0" smtClean="0">
              <a:solidFill>
                <a:schemeClr val="tx2"/>
              </a:solidFill>
              <a:latin typeface="Georgia" pitchFamily="18" charset="0"/>
            </a:endParaRPr>
          </a:p>
        </p:txBody>
      </p:sp>
      <p:sp>
        <p:nvSpPr>
          <p:cNvPr id="35" name="Rectangle 14"/>
          <p:cNvSpPr>
            <a:spLocks noChangeArrowheads="1"/>
          </p:cNvSpPr>
          <p:nvPr/>
        </p:nvSpPr>
        <p:spPr bwMode="auto">
          <a:xfrm>
            <a:off x="286935" y="2728352"/>
            <a:ext cx="4645105" cy="6676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400" b="1" u="sng" kern="0" dirty="0" smtClean="0">
                <a:latin typeface="+mj-lt"/>
                <a:ea typeface="맑은 고딕" pitchFamily="50" charset="-127"/>
              </a:rPr>
              <a:t>고객 가치</a:t>
            </a:r>
            <a:endParaRPr lang="en-US" altLang="ko-KR" sz="1400" b="1" u="sng" kern="0" dirty="0" smtClean="0"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b="1" kern="0" dirty="0" smtClean="0">
                <a:latin typeface="+mj-lt"/>
                <a:ea typeface="맑은 고딕" pitchFamily="50" charset="-127"/>
              </a:rPr>
              <a:t>제품</a:t>
            </a:r>
            <a:r>
              <a:rPr lang="en-US" altLang="ko-KR" sz="1400" b="1" kern="0" dirty="0" smtClean="0">
                <a:latin typeface="+mj-lt"/>
                <a:ea typeface="맑은 고딕" pitchFamily="50" charset="-127"/>
              </a:rPr>
              <a:t>/</a:t>
            </a:r>
            <a:r>
              <a:rPr lang="ko-KR" altLang="en-US" sz="1400" b="1" kern="0" dirty="0" smtClean="0">
                <a:latin typeface="+mj-lt"/>
                <a:ea typeface="맑은 고딕" pitchFamily="50" charset="-127"/>
              </a:rPr>
              <a:t>디자인 차별화 </a:t>
            </a:r>
            <a:r>
              <a:rPr lang="en-US" altLang="ko-KR" sz="1400" b="1" kern="0" dirty="0" smtClean="0">
                <a:latin typeface="+mj-lt"/>
                <a:ea typeface="맑은 고딕" pitchFamily="50" charset="-127"/>
              </a:rPr>
              <a:t>&amp; </a:t>
            </a:r>
            <a:r>
              <a:rPr lang="ko-KR" altLang="en-US" sz="1400" b="1" kern="0" dirty="0" smtClean="0">
                <a:latin typeface="+mj-lt"/>
                <a:ea typeface="맑은 고딕" pitchFamily="50" charset="-127"/>
              </a:rPr>
              <a:t>저렴한 가격</a:t>
            </a:r>
            <a:endParaRPr lang="en-US" altLang="ko-KR" sz="1400" kern="0" dirty="0">
              <a:latin typeface="+mj-lt"/>
              <a:ea typeface="맑은 고딕" pitchFamily="50" charset="-127"/>
            </a:endParaRPr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286935" y="3481233"/>
            <a:ext cx="4645105" cy="1107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400" b="1" u="sng" kern="0" dirty="0" smtClean="0">
                <a:latin typeface="+mj-lt"/>
                <a:ea typeface="맑은 고딕" pitchFamily="50" charset="-127"/>
              </a:rPr>
              <a:t>초기 마케팅 방식</a:t>
            </a:r>
            <a:endParaRPr lang="en-US" altLang="ko-KR" sz="1400" b="1" u="sng" kern="0" dirty="0" smtClean="0"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b="1" kern="0" dirty="0" smtClean="0">
                <a:latin typeface="+mj-lt"/>
                <a:ea typeface="맑은 고딕" pitchFamily="50" charset="-127"/>
              </a:rPr>
              <a:t>커뮤니티 기반 초기 판매</a:t>
            </a:r>
            <a:r>
              <a:rPr lang="en-US" altLang="ko-KR" sz="1400" b="1" kern="0" dirty="0" smtClean="0">
                <a:latin typeface="+mj-lt"/>
                <a:ea typeface="맑은 고딕" pitchFamily="50" charset="-127"/>
              </a:rPr>
              <a:t/>
            </a:r>
            <a:br>
              <a:rPr lang="en-US" altLang="ko-KR" sz="1400" b="1" kern="0" dirty="0" smtClean="0">
                <a:latin typeface="+mj-lt"/>
                <a:ea typeface="맑은 고딕" pitchFamily="50" charset="-127"/>
              </a:rPr>
            </a:b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(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높은 구매 전환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, 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후기 컨텐츠 통한 추가 구매 연결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)</a:t>
            </a: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커뮤니티 성장 따라 최소 비용으로 마케팅 효과 극대화</a:t>
            </a:r>
            <a:endParaRPr lang="en-US" altLang="ko-KR" sz="1400" kern="0" dirty="0">
              <a:latin typeface="+mj-lt"/>
              <a:ea typeface="맑은 고딕" pitchFamily="50" charset="-127"/>
            </a:endParaRPr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286935" y="4825728"/>
            <a:ext cx="4645105" cy="6676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400" b="1" u="sng" kern="0" dirty="0" smtClean="0">
                <a:latin typeface="+mj-lt"/>
                <a:ea typeface="맑은 고딕" pitchFamily="50" charset="-127"/>
              </a:rPr>
              <a:t>신속한 신제품 출시</a:t>
            </a:r>
            <a:r>
              <a:rPr lang="en-US" altLang="ko-KR" sz="1400" b="1" u="sng" kern="0" dirty="0" smtClean="0">
                <a:latin typeface="+mj-lt"/>
                <a:ea typeface="맑은 고딕" pitchFamily="50" charset="-127"/>
              </a:rPr>
              <a:t>(</a:t>
            </a:r>
            <a:r>
              <a:rPr lang="ko-KR" altLang="en-US" sz="1400" b="1" u="sng" kern="0" dirty="0" smtClean="0">
                <a:latin typeface="+mj-lt"/>
                <a:ea typeface="맑은 고딕" pitchFamily="50" charset="-127"/>
              </a:rPr>
              <a:t>빠른 시장 변화 대응</a:t>
            </a:r>
            <a:r>
              <a:rPr lang="en-US" altLang="ko-KR" sz="1400" b="1" u="sng" kern="0" dirty="0" smtClean="0">
                <a:latin typeface="+mj-lt"/>
                <a:ea typeface="맑은 고딕" pitchFamily="50" charset="-127"/>
              </a:rPr>
              <a:t>)</a:t>
            </a: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샘플제작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 </a:t>
            </a:r>
            <a:r>
              <a:rPr lang="en-US" altLang="ko-KR" sz="1400" kern="0" dirty="0" smtClean="0">
                <a:latin typeface="+mj-lt"/>
                <a:ea typeface="맑은 고딕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400" kern="0" dirty="0" smtClean="0">
                <a:latin typeface="+mj-lt"/>
                <a:ea typeface="맑은 고딕" pitchFamily="50" charset="-127"/>
                <a:sym typeface="Wingdings" panose="05000000000000000000" pitchFamily="2" charset="2"/>
              </a:rPr>
              <a:t>상품이미지 촬영 </a:t>
            </a:r>
            <a:r>
              <a:rPr lang="en-US" altLang="ko-KR" sz="1400" kern="0" dirty="0" smtClean="0">
                <a:latin typeface="+mj-lt"/>
                <a:ea typeface="맑은 고딕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400" kern="0" dirty="0" smtClean="0">
                <a:latin typeface="+mj-lt"/>
                <a:ea typeface="맑은 고딕" pitchFamily="50" charset="-127"/>
                <a:sym typeface="Wingdings" panose="05000000000000000000" pitchFamily="2" charset="2"/>
              </a:rPr>
              <a:t>판매</a:t>
            </a:r>
            <a:r>
              <a:rPr lang="en-US" altLang="ko-KR" sz="1400" kern="0" dirty="0" smtClean="0">
                <a:latin typeface="+mj-lt"/>
                <a:ea typeface="맑은 고딕" pitchFamily="50" charset="-127"/>
                <a:sym typeface="Wingdings" panose="05000000000000000000" pitchFamily="2" charset="2"/>
              </a:rPr>
              <a:t>: 3</a:t>
            </a:r>
            <a:r>
              <a:rPr lang="ko-KR" altLang="en-US" sz="1400" kern="0" dirty="0" smtClean="0">
                <a:latin typeface="+mj-lt"/>
                <a:ea typeface="맑은 고딕" pitchFamily="50" charset="-127"/>
                <a:sym typeface="Wingdings" panose="05000000000000000000" pitchFamily="2" charset="2"/>
              </a:rPr>
              <a:t>일 </a:t>
            </a:r>
            <a:r>
              <a:rPr lang="en-US" altLang="ko-KR" sz="1400" kern="0" dirty="0" smtClean="0">
                <a:latin typeface="+mj-lt"/>
                <a:ea typeface="맑은 고딕" pitchFamily="50" charset="-127"/>
                <a:sym typeface="Wingdings" panose="05000000000000000000" pitchFamily="2" charset="2"/>
              </a:rPr>
              <a:t>~ </a:t>
            </a:r>
            <a:r>
              <a:rPr lang="ko-KR" altLang="en-US" sz="1400" kern="0" dirty="0" smtClean="0">
                <a:latin typeface="+mj-lt"/>
                <a:ea typeface="맑은 고딕" pitchFamily="50" charset="-127"/>
                <a:sym typeface="Wingdings" panose="05000000000000000000" pitchFamily="2" charset="2"/>
              </a:rPr>
              <a:t>최대 </a:t>
            </a:r>
            <a:r>
              <a:rPr lang="en-US" altLang="ko-KR" sz="1400" kern="0" dirty="0" smtClean="0">
                <a:latin typeface="+mj-lt"/>
                <a:ea typeface="맑은 고딕" pitchFamily="50" charset="-127"/>
                <a:sym typeface="Wingdings" panose="05000000000000000000" pitchFamily="2" charset="2"/>
              </a:rPr>
              <a:t>4</a:t>
            </a:r>
            <a:r>
              <a:rPr lang="ko-KR" altLang="en-US" sz="1400" kern="0" dirty="0" smtClean="0">
                <a:latin typeface="+mj-lt"/>
                <a:ea typeface="맑은 고딕" pitchFamily="50" charset="-127"/>
                <a:sym typeface="Wingdings" panose="05000000000000000000" pitchFamily="2" charset="2"/>
              </a:rPr>
              <a:t>주</a:t>
            </a:r>
            <a:endParaRPr lang="en-US" altLang="ko-KR" sz="1400" kern="0" dirty="0">
              <a:latin typeface="+mj-lt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1519" y="5619498"/>
            <a:ext cx="4680521" cy="3406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ko-KR" altLang="en-US" sz="1400" b="1" dirty="0" smtClean="0">
                <a:solidFill>
                  <a:srgbClr val="C00000"/>
                </a:solidFill>
                <a:latin typeface="Georgia" pitchFamily="18" charset="0"/>
              </a:rPr>
              <a:t>현재 </a:t>
            </a:r>
            <a:r>
              <a:rPr lang="en-US" altLang="ko-KR" sz="1400" b="1" dirty="0" smtClean="0">
                <a:solidFill>
                  <a:srgbClr val="C00000"/>
                </a:solidFill>
                <a:latin typeface="Georgia" pitchFamily="18" charset="0"/>
              </a:rPr>
              <a:t>PB </a:t>
            </a:r>
            <a:r>
              <a:rPr lang="ko-KR" altLang="en-US" sz="1400" b="1" dirty="0" smtClean="0">
                <a:solidFill>
                  <a:srgbClr val="C00000"/>
                </a:solidFill>
                <a:latin typeface="Georgia" pitchFamily="18" charset="0"/>
              </a:rPr>
              <a:t>제품 평균 이익률 </a:t>
            </a:r>
            <a:r>
              <a:rPr lang="en-US" altLang="ko-KR" sz="1400" b="1" dirty="0" smtClean="0">
                <a:solidFill>
                  <a:srgbClr val="C00000"/>
                </a:solidFill>
                <a:latin typeface="Georgia" pitchFamily="18" charset="0"/>
              </a:rPr>
              <a:t>35% </a:t>
            </a:r>
            <a:r>
              <a:rPr lang="ko-KR" altLang="en-US" sz="1400" b="1" dirty="0" smtClean="0">
                <a:solidFill>
                  <a:srgbClr val="C00000"/>
                </a:solidFill>
                <a:latin typeface="Georgia" pitchFamily="18" charset="0"/>
              </a:rPr>
              <a:t>수준으로</a:t>
            </a:r>
            <a:r>
              <a:rPr lang="en-US" altLang="ko-KR" sz="1400" b="1" dirty="0" smtClean="0">
                <a:solidFill>
                  <a:srgbClr val="C00000"/>
                </a:solidFill>
                <a:latin typeface="Georgia" pitchFamily="18" charset="0"/>
              </a:rPr>
              <a:t/>
            </a:r>
            <a:br>
              <a:rPr lang="en-US" altLang="ko-KR" sz="1400" b="1" dirty="0" smtClean="0">
                <a:solidFill>
                  <a:srgbClr val="C00000"/>
                </a:solidFill>
                <a:latin typeface="Georgia" pitchFamily="18" charset="0"/>
              </a:rPr>
            </a:br>
            <a:r>
              <a:rPr lang="ko-KR" altLang="en-US" sz="1400" b="1" dirty="0" smtClean="0">
                <a:solidFill>
                  <a:srgbClr val="C00000"/>
                </a:solidFill>
                <a:latin typeface="Georgia" pitchFamily="18" charset="0"/>
              </a:rPr>
              <a:t>판매량 증가 따른 추가적인 이익률 개선 가능성 高</a:t>
            </a:r>
          </a:p>
        </p:txBody>
      </p:sp>
      <p:grpSp>
        <p:nvGrpSpPr>
          <p:cNvPr id="6" name="그룹 39"/>
          <p:cNvGrpSpPr/>
          <p:nvPr/>
        </p:nvGrpSpPr>
        <p:grpSpPr>
          <a:xfrm>
            <a:off x="5652121" y="1844519"/>
            <a:ext cx="3384376" cy="393709"/>
            <a:chOff x="251520" y="1844520"/>
            <a:chExt cx="4112668" cy="287716"/>
          </a:xfrm>
        </p:grpSpPr>
        <p:cxnSp>
          <p:nvCxnSpPr>
            <p:cNvPr id="41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altLang="ko-KR" sz="1200" b="1" dirty="0" smtClean="0">
                  <a:latin typeface="Georgia" pitchFamily="18" charset="0"/>
                </a:rPr>
                <a:t>Target PB </a:t>
              </a:r>
              <a:r>
                <a:rPr lang="ko-KR" altLang="en-US" sz="1200" b="1" dirty="0" smtClean="0">
                  <a:latin typeface="Georgia" pitchFamily="18" charset="0"/>
                </a:rPr>
                <a:t>상품 현황</a:t>
              </a:r>
              <a:endParaRPr lang="en-US" sz="1200" b="1" dirty="0">
                <a:latin typeface="Georgia" pitchFamily="18" charset="0"/>
              </a:endParaRPr>
            </a:p>
          </p:txBody>
        </p:sp>
      </p:grpSp>
      <p:sp>
        <p:nvSpPr>
          <p:cNvPr id="7" name="이등변 삼각형 6"/>
          <p:cNvSpPr/>
          <p:nvPr/>
        </p:nvSpPr>
        <p:spPr bwMode="auto">
          <a:xfrm rot="5400000">
            <a:off x="3919928" y="3892480"/>
            <a:ext cx="2889464" cy="360040"/>
          </a:xfrm>
          <a:prstGeom prst="triangle">
            <a:avLst/>
          </a:prstGeom>
          <a:solidFill>
            <a:schemeClr val="tx2"/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5721645" y="2530123"/>
            <a:ext cx="1108924" cy="5040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300" kern="0" dirty="0" smtClean="0">
                <a:solidFill>
                  <a:srgbClr val="000000"/>
                </a:solidFill>
                <a:ea typeface="맑은 고딕" pitchFamily="50" charset="-127"/>
              </a:rPr>
              <a:t>그라운드</a:t>
            </a:r>
            <a:r>
              <a:rPr lang="en-US" altLang="ko-KR" sz="1300" kern="0" dirty="0" smtClean="0">
                <a:solidFill>
                  <a:srgbClr val="000000"/>
                </a:solidFill>
                <a:ea typeface="맑은 고딕" pitchFamily="50" charset="-127"/>
              </a:rPr>
              <a:t/>
            </a:r>
            <a:br>
              <a:rPr lang="en-US" altLang="ko-KR" sz="1300" kern="0" dirty="0" smtClean="0">
                <a:solidFill>
                  <a:srgbClr val="000000"/>
                </a:solidFill>
                <a:ea typeface="맑은 고딕" pitchFamily="50" charset="-127"/>
              </a:rPr>
            </a:br>
            <a:r>
              <a:rPr lang="en-US" altLang="ko-KR" sz="1300" kern="0" dirty="0" smtClean="0">
                <a:solidFill>
                  <a:srgbClr val="000000"/>
                </a:solidFill>
                <a:ea typeface="맑은 고딕" pitchFamily="50" charset="-127"/>
              </a:rPr>
              <a:t>(Ground)</a:t>
            </a: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 bwMode="auto">
          <a:xfrm>
            <a:off x="5721645" y="3616079"/>
            <a:ext cx="1108924" cy="5040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300" kern="0" dirty="0" err="1" smtClean="0">
                <a:solidFill>
                  <a:srgbClr val="000000"/>
                </a:solidFill>
                <a:ea typeface="맑은 고딕" pitchFamily="50" charset="-127"/>
              </a:rPr>
              <a:t>코튼리</a:t>
            </a:r>
            <a:r>
              <a:rPr lang="en-US" altLang="ko-KR" sz="1300" kern="0" dirty="0" smtClean="0">
                <a:solidFill>
                  <a:srgbClr val="000000"/>
                </a:solidFill>
                <a:ea typeface="맑은 고딕" pitchFamily="50" charset="-127"/>
              </a:rPr>
              <a:t/>
            </a:r>
            <a:br>
              <a:rPr lang="en-US" altLang="ko-KR" sz="1300" kern="0" dirty="0" smtClean="0">
                <a:solidFill>
                  <a:srgbClr val="000000"/>
                </a:solidFill>
                <a:ea typeface="맑은 고딕" pitchFamily="50" charset="-127"/>
              </a:rPr>
            </a:br>
            <a:r>
              <a:rPr lang="en-US" altLang="ko-KR" sz="1300" kern="0" dirty="0" smtClean="0">
                <a:solidFill>
                  <a:srgbClr val="000000"/>
                </a:solidFill>
                <a:ea typeface="맑은 고딕" pitchFamily="50" charset="-127"/>
              </a:rPr>
              <a:t>(</a:t>
            </a:r>
            <a:r>
              <a:rPr lang="en-US" altLang="ko-KR" sz="1300" kern="0" dirty="0" err="1" smtClean="0">
                <a:solidFill>
                  <a:srgbClr val="000000"/>
                </a:solidFill>
                <a:ea typeface="맑은 고딕" pitchFamily="50" charset="-127"/>
              </a:rPr>
              <a:t>Cottonly</a:t>
            </a:r>
            <a:r>
              <a:rPr lang="en-US" altLang="ko-KR" sz="1300" kern="0" dirty="0" smtClean="0">
                <a:solidFill>
                  <a:srgbClr val="000000"/>
                </a:solidFill>
                <a:ea typeface="맑은 고딕" pitchFamily="50" charset="-127"/>
              </a:rPr>
              <a:t>)</a:t>
            </a: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 bwMode="auto">
          <a:xfrm>
            <a:off x="5721645" y="4702036"/>
            <a:ext cx="1108924" cy="5040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300" kern="0" dirty="0" smtClean="0">
                <a:solidFill>
                  <a:srgbClr val="000000"/>
                </a:solidFill>
                <a:ea typeface="맑은 고딕" pitchFamily="50" charset="-127"/>
              </a:rPr>
              <a:t>다우니</a:t>
            </a:r>
            <a:r>
              <a:rPr lang="en-US" altLang="ko-KR" sz="1300" kern="0" dirty="0" smtClean="0">
                <a:solidFill>
                  <a:srgbClr val="000000"/>
                </a:solidFill>
                <a:ea typeface="맑은 고딕" pitchFamily="50" charset="-127"/>
              </a:rPr>
              <a:t/>
            </a:r>
            <a:br>
              <a:rPr lang="en-US" altLang="ko-KR" sz="1300" kern="0" dirty="0" smtClean="0">
                <a:solidFill>
                  <a:srgbClr val="000000"/>
                </a:solidFill>
                <a:ea typeface="맑은 고딕" pitchFamily="50" charset="-127"/>
              </a:rPr>
            </a:br>
            <a:r>
              <a:rPr lang="ko-KR" altLang="en-US" sz="1300" kern="0" dirty="0" smtClean="0">
                <a:solidFill>
                  <a:srgbClr val="000000"/>
                </a:solidFill>
                <a:ea typeface="맑은 고딕" pitchFamily="50" charset="-127"/>
              </a:rPr>
              <a:t>소파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9694" y="5619498"/>
            <a:ext cx="3081091" cy="54580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altLang="ko-KR" sz="1400" b="1" dirty="0" smtClean="0">
                <a:solidFill>
                  <a:srgbClr val="C00000"/>
                </a:solidFill>
                <a:latin typeface="Georgia" pitchFamily="18" charset="0"/>
              </a:rPr>
              <a:t>’19</a:t>
            </a:r>
            <a:r>
              <a:rPr lang="ko-KR" altLang="en-US" sz="1400" b="1" dirty="0" smtClean="0">
                <a:solidFill>
                  <a:srgbClr val="C00000"/>
                </a:solidFill>
                <a:latin typeface="Georgia" pitchFamily="18" charset="0"/>
              </a:rPr>
              <a:t>년 기준 전체 매출 중 </a:t>
            </a:r>
            <a:r>
              <a:rPr lang="en-US" altLang="ko-KR" sz="1400" b="1" dirty="0" smtClean="0">
                <a:solidFill>
                  <a:srgbClr val="C00000"/>
                </a:solidFill>
                <a:latin typeface="Georgia" pitchFamily="18" charset="0"/>
              </a:rPr>
              <a:t>15%,</a:t>
            </a:r>
            <a:br>
              <a:rPr lang="en-US" altLang="ko-KR" sz="1400" b="1" dirty="0" smtClean="0">
                <a:solidFill>
                  <a:srgbClr val="C00000"/>
                </a:solidFill>
                <a:latin typeface="Georgia" pitchFamily="18" charset="0"/>
              </a:rPr>
            </a:br>
            <a:r>
              <a:rPr lang="ko-KR" altLang="en-US" sz="1400" b="1" dirty="0" smtClean="0">
                <a:solidFill>
                  <a:srgbClr val="C00000"/>
                </a:solidFill>
                <a:latin typeface="Georgia" pitchFamily="18" charset="0"/>
              </a:rPr>
              <a:t>전체 이익 중 </a:t>
            </a:r>
            <a:r>
              <a:rPr lang="en-US" altLang="ko-KR" sz="1400" b="1" dirty="0" smtClean="0">
                <a:solidFill>
                  <a:srgbClr val="C00000"/>
                </a:solidFill>
                <a:latin typeface="Georgia" pitchFamily="18" charset="0"/>
              </a:rPr>
              <a:t>20% </a:t>
            </a:r>
            <a:r>
              <a:rPr lang="ko-KR" altLang="en-US" sz="1400" b="1" dirty="0" smtClean="0">
                <a:solidFill>
                  <a:srgbClr val="C00000"/>
                </a:solidFill>
                <a:latin typeface="Georgia" pitchFamily="18" charset="0"/>
              </a:rPr>
              <a:t>비중 차지</a:t>
            </a:r>
          </a:p>
        </p:txBody>
      </p: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6849968" y="2414303"/>
            <a:ext cx="2186529" cy="517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300" kern="0" dirty="0" smtClean="0">
                <a:latin typeface="+mj-lt"/>
                <a:ea typeface="맑은 고딕" pitchFamily="50" charset="-127"/>
              </a:rPr>
              <a:t>원목</a:t>
            </a:r>
            <a:r>
              <a:rPr lang="en-US" altLang="ko-KR" sz="1300" kern="0" dirty="0" smtClean="0">
                <a:latin typeface="+mj-lt"/>
                <a:ea typeface="맑은 고딕" pitchFamily="50" charset="-127"/>
              </a:rPr>
              <a:t>/</a:t>
            </a:r>
            <a:r>
              <a:rPr lang="ko-KR" altLang="en-US" sz="1300" kern="0" dirty="0" err="1" smtClean="0">
                <a:latin typeface="+mj-lt"/>
                <a:ea typeface="맑은 고딕" pitchFamily="50" charset="-127"/>
              </a:rPr>
              <a:t>내츄럴톤</a:t>
            </a:r>
            <a:r>
              <a:rPr lang="ko-KR" altLang="en-US" sz="1300" kern="0" dirty="0" smtClean="0">
                <a:latin typeface="+mj-lt"/>
                <a:ea typeface="맑은 고딕" pitchFamily="50" charset="-127"/>
              </a:rPr>
              <a:t> 가구 브랜드</a:t>
            </a:r>
            <a:endParaRPr lang="en-US" altLang="ko-KR" sz="1300" kern="0" dirty="0" smtClean="0"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300" kern="0" dirty="0" smtClean="0">
                <a:latin typeface="+mj-lt"/>
                <a:ea typeface="맑은 고딕" pitchFamily="50" charset="-127"/>
              </a:rPr>
              <a:t>시장 대비 가격 </a:t>
            </a:r>
            <a:r>
              <a:rPr lang="en-US" altLang="ko-KR" sz="1300" kern="0" dirty="0" smtClean="0">
                <a:latin typeface="+mj-lt"/>
                <a:ea typeface="맑은 고딕" pitchFamily="50" charset="-127"/>
              </a:rPr>
              <a:t>80% </a:t>
            </a:r>
            <a:r>
              <a:rPr lang="ko-KR" altLang="en-US" sz="1300" kern="0" dirty="0" smtClean="0">
                <a:latin typeface="+mj-lt"/>
                <a:ea typeface="맑은 고딕" pitchFamily="50" charset="-127"/>
              </a:rPr>
              <a:t>수준</a:t>
            </a:r>
            <a:endParaRPr lang="en-US" altLang="ko-KR" sz="1300" kern="0" dirty="0">
              <a:latin typeface="+mj-lt"/>
              <a:ea typeface="맑은 고딕" pitchFamily="50" charset="-127"/>
            </a:endParaRPr>
          </a:p>
        </p:txBody>
      </p: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6849968" y="3523271"/>
            <a:ext cx="2186529" cy="517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300" kern="0" dirty="0" smtClean="0">
                <a:latin typeface="+mj-lt"/>
                <a:ea typeface="맑은 고딕" pitchFamily="50" charset="-127"/>
              </a:rPr>
              <a:t>100% </a:t>
            </a:r>
            <a:r>
              <a:rPr lang="ko-KR" altLang="en-US" sz="1300" kern="0" dirty="0" err="1" smtClean="0">
                <a:latin typeface="+mj-lt"/>
                <a:ea typeface="맑은 고딕" pitchFamily="50" charset="-127"/>
              </a:rPr>
              <a:t>면소재</a:t>
            </a:r>
            <a:r>
              <a:rPr lang="ko-KR" altLang="en-US" sz="1300" kern="0" dirty="0" smtClean="0">
                <a:latin typeface="+mj-lt"/>
                <a:ea typeface="맑은 고딕" pitchFamily="50" charset="-127"/>
              </a:rPr>
              <a:t> 침구</a:t>
            </a:r>
            <a:r>
              <a:rPr lang="en-US" altLang="ko-KR" sz="1300" kern="0" dirty="0" smtClean="0">
                <a:latin typeface="+mj-lt"/>
                <a:ea typeface="맑은 고딕" pitchFamily="50" charset="-127"/>
              </a:rPr>
              <a:t>/ </a:t>
            </a:r>
            <a:r>
              <a:rPr lang="ko-KR" altLang="en-US" sz="1300" kern="0" dirty="0" smtClean="0">
                <a:latin typeface="+mj-lt"/>
                <a:ea typeface="맑은 고딕" pitchFamily="50" charset="-127"/>
              </a:rPr>
              <a:t>패브릭 브랜드</a:t>
            </a:r>
            <a:endParaRPr lang="en-US" altLang="ko-KR" sz="1300" kern="0" dirty="0" smtClean="0"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300" kern="0" dirty="0" smtClean="0">
                <a:latin typeface="+mj-lt"/>
                <a:ea typeface="맑은 고딕" pitchFamily="50" charset="-127"/>
              </a:rPr>
              <a:t>시장 대비 가격 </a:t>
            </a:r>
            <a:r>
              <a:rPr lang="en-US" altLang="ko-KR" sz="1300" kern="0" dirty="0">
                <a:latin typeface="+mj-lt"/>
                <a:ea typeface="맑은 고딕" pitchFamily="50" charset="-127"/>
              </a:rPr>
              <a:t>7</a:t>
            </a:r>
            <a:r>
              <a:rPr lang="en-US" altLang="ko-KR" sz="1300" kern="0" dirty="0" smtClean="0">
                <a:latin typeface="+mj-lt"/>
                <a:ea typeface="맑은 고딕" pitchFamily="50" charset="-127"/>
              </a:rPr>
              <a:t>0% </a:t>
            </a:r>
            <a:r>
              <a:rPr lang="ko-KR" altLang="en-US" sz="1300" kern="0" dirty="0" smtClean="0">
                <a:latin typeface="+mj-lt"/>
                <a:ea typeface="맑은 고딕" pitchFamily="50" charset="-127"/>
              </a:rPr>
              <a:t>수준</a:t>
            </a:r>
            <a:endParaRPr lang="en-US" altLang="ko-KR" sz="1300" kern="0" dirty="0">
              <a:latin typeface="+mj-lt"/>
              <a:ea typeface="맑은 고딕" pitchFamily="50" charset="-127"/>
            </a:endParaRPr>
          </a:p>
        </p:txBody>
      </p:sp>
      <p:sp>
        <p:nvSpPr>
          <p:cNvPr id="48" name="Rectangle 14"/>
          <p:cNvSpPr>
            <a:spLocks noChangeArrowheads="1"/>
          </p:cNvSpPr>
          <p:nvPr/>
        </p:nvSpPr>
        <p:spPr bwMode="auto">
          <a:xfrm>
            <a:off x="6849968" y="4712092"/>
            <a:ext cx="2186529" cy="517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300" kern="0" dirty="0" smtClean="0">
                <a:latin typeface="+mj-lt"/>
                <a:ea typeface="맑은 고딕" pitchFamily="50" charset="-127"/>
              </a:rPr>
              <a:t>패브릭 기능성 원단 소파</a:t>
            </a:r>
            <a:endParaRPr lang="en-US" altLang="ko-KR" sz="1300" kern="0" dirty="0" smtClean="0"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300" kern="0" dirty="0" smtClean="0">
                <a:latin typeface="+mj-lt"/>
                <a:ea typeface="맑은 고딕" pitchFamily="50" charset="-127"/>
              </a:rPr>
              <a:t>시장 대비 가격 </a:t>
            </a:r>
            <a:r>
              <a:rPr lang="en-US" altLang="ko-KR" sz="1300" kern="0" dirty="0">
                <a:latin typeface="+mj-lt"/>
                <a:ea typeface="맑은 고딕" pitchFamily="50" charset="-127"/>
              </a:rPr>
              <a:t>5</a:t>
            </a:r>
            <a:r>
              <a:rPr lang="en-US" altLang="ko-KR" sz="1300" kern="0" dirty="0" smtClean="0">
                <a:latin typeface="+mj-lt"/>
                <a:ea typeface="맑은 고딕" pitchFamily="50" charset="-127"/>
              </a:rPr>
              <a:t>0% </a:t>
            </a:r>
            <a:r>
              <a:rPr lang="ko-KR" altLang="en-US" sz="1300" kern="0" dirty="0" smtClean="0">
                <a:latin typeface="+mj-lt"/>
                <a:ea typeface="맑은 고딕" pitchFamily="50" charset="-127"/>
              </a:rPr>
              <a:t>수준</a:t>
            </a:r>
            <a:endParaRPr lang="en-US" altLang="ko-KR" sz="1300" kern="0" dirty="0">
              <a:latin typeface="+mj-lt"/>
              <a:ea typeface="맑은 고딕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dirty="0" smtClean="0">
                <a:latin typeface="+mn-ea"/>
                <a:cs typeface="Arial" pitchFamily="34" charset="0"/>
              </a:rPr>
              <a:t>3-b</a:t>
            </a:r>
            <a:endParaRPr lang="ko-KR" altLang="en-US" sz="1500" b="1" dirty="0"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7639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  </a:t>
            </a:r>
            <a:r>
              <a:rPr lang="ko-KR" altLang="en-US" dirty="0" err="1" smtClean="0"/>
              <a:t>성공경험이</a:t>
            </a:r>
            <a:r>
              <a:rPr lang="ko-KR" altLang="en-US" dirty="0" smtClean="0"/>
              <a:t> </a:t>
            </a:r>
            <a:r>
              <a:rPr lang="ko-KR" altLang="en-US" dirty="0"/>
              <a:t>이식된 차별화된 사업구조 </a:t>
            </a:r>
            <a:r>
              <a:rPr lang="ko-KR" altLang="en-US" dirty="0" smtClean="0"/>
              <a:t>구축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커머스</a:t>
            </a:r>
            <a:r>
              <a:rPr lang="ko-KR" altLang="en-US" dirty="0" smtClean="0"/>
              <a:t> </a:t>
            </a:r>
            <a:endParaRPr lang="en-US" altLang="ko-KR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altLang="ko-KR" dirty="0" smtClean="0"/>
              <a:t>PB </a:t>
            </a:r>
            <a:r>
              <a:rPr lang="ko-KR" altLang="en-US" dirty="0" smtClean="0"/>
              <a:t>상품 확대 현황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51518" y="1844519"/>
            <a:ext cx="8532000" cy="393709"/>
            <a:chOff x="251520" y="1844520"/>
            <a:chExt cx="4112668" cy="287716"/>
          </a:xfrm>
        </p:grpSpPr>
        <p:cxnSp>
          <p:nvCxnSpPr>
            <p:cNvPr id="23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sz="1200" b="1" dirty="0" smtClean="0">
                  <a:latin typeface="Georgia" pitchFamily="18" charset="0"/>
                </a:rPr>
                <a:t>Target PB </a:t>
              </a:r>
              <a:r>
                <a:rPr lang="ko-KR" altLang="en-US" sz="1200" b="1" dirty="0" smtClean="0">
                  <a:latin typeface="Georgia" pitchFamily="18" charset="0"/>
                </a:rPr>
                <a:t>상품 상세 현황</a:t>
              </a:r>
              <a:endParaRPr lang="en-US" sz="1200" b="1" dirty="0">
                <a:latin typeface="Georgia" pitchFamily="18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smtClean="0">
                <a:latin typeface="Georgia" pitchFamily="18" charset="0"/>
              </a:rPr>
              <a:t>일반상품 대비 높은 이익률을 가진 </a:t>
            </a:r>
            <a:r>
              <a:rPr lang="en-US" altLang="ko-KR" sz="1400" dirty="0" smtClean="0">
                <a:latin typeface="Georgia" pitchFamily="18" charset="0"/>
              </a:rPr>
              <a:t>PB </a:t>
            </a:r>
            <a:r>
              <a:rPr lang="ko-KR" altLang="en-US" sz="1400" dirty="0" smtClean="0">
                <a:latin typeface="Georgia" pitchFamily="18" charset="0"/>
              </a:rPr>
              <a:t>상품은 그 출시 개수가 매년 증가하고 있으며</a:t>
            </a:r>
            <a:r>
              <a:rPr lang="en-US" altLang="ko-KR" sz="1400" dirty="0" smtClean="0">
                <a:latin typeface="Georgia" pitchFamily="18" charset="0"/>
              </a:rPr>
              <a:t>, </a:t>
            </a:r>
            <a:r>
              <a:rPr lang="ko-KR" altLang="en-US" sz="1400" dirty="0" smtClean="0">
                <a:latin typeface="Georgia" pitchFamily="18" charset="0"/>
              </a:rPr>
              <a:t>그에 따른 </a:t>
            </a:r>
            <a:r>
              <a:rPr lang="en-US" altLang="ko-KR" sz="1400" dirty="0" smtClean="0">
                <a:latin typeface="Georgia" pitchFamily="18" charset="0"/>
              </a:rPr>
              <a:t/>
            </a:r>
            <a:br>
              <a:rPr lang="en-US" altLang="ko-KR" sz="1400" dirty="0" smtClean="0">
                <a:latin typeface="Georgia" pitchFamily="18" charset="0"/>
              </a:rPr>
            </a:br>
            <a:r>
              <a:rPr lang="ko-KR" altLang="en-US" sz="1400" dirty="0" smtClean="0">
                <a:latin typeface="Georgia" pitchFamily="18" charset="0"/>
              </a:rPr>
              <a:t>전체 매출 중 </a:t>
            </a:r>
            <a:r>
              <a:rPr lang="en-US" altLang="ko-KR" sz="1400" dirty="0" smtClean="0">
                <a:latin typeface="Georgia" pitchFamily="18" charset="0"/>
              </a:rPr>
              <a:t>PB </a:t>
            </a:r>
            <a:r>
              <a:rPr lang="ko-KR" altLang="en-US" sz="1400" dirty="0" smtClean="0">
                <a:latin typeface="Georgia" pitchFamily="18" charset="0"/>
              </a:rPr>
              <a:t>상품 매출의 비중도 큰 폭으로 상승하는 추세임</a:t>
            </a:r>
            <a:endParaRPr lang="en-US" sz="1400" dirty="0">
              <a:latin typeface="Georgia" pitchFamily="18" charset="0"/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="" xmlns:a16="http://schemas.microsoft.com/office/drawing/2014/main" id="{4AA717CE-495C-4F9D-89AB-4344DC3CA7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Source: </a:t>
            </a:r>
            <a:r>
              <a:rPr lang="ko-KR" altLang="en-US" dirty="0" smtClean="0"/>
              <a:t>내부자료</a:t>
            </a:r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dirty="0" smtClean="0">
                <a:latin typeface="+mn-ea"/>
                <a:cs typeface="Arial" pitchFamily="34" charset="0"/>
              </a:rPr>
              <a:t>3-b</a:t>
            </a:r>
            <a:endParaRPr lang="ko-KR" altLang="en-US" sz="1500" b="1" dirty="0">
              <a:latin typeface="+mn-ea"/>
              <a:cs typeface="Arial" pitchFamily="34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95263426"/>
              </p:ext>
            </p:extLst>
          </p:nvPr>
        </p:nvGraphicFramePr>
        <p:xfrm>
          <a:off x="285720" y="2428868"/>
          <a:ext cx="4143404" cy="3607620"/>
        </p:xfrm>
        <a:graphic>
          <a:graphicData uri="http://schemas.openxmlformats.org/drawingml/2006/table">
            <a:tbl>
              <a:tblPr firstRow="1" bandRow="1">
                <a:tableStyleId>{69D073F8-1565-44D7-B386-08B59EADF2EE}</a:tableStyleId>
              </a:tblPr>
              <a:tblGrid>
                <a:gridCol w="92869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288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8581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393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bg1"/>
                          </a:solidFill>
                        </a:rPr>
                        <a:t>세부품목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bg1"/>
                          </a:solidFill>
                        </a:rPr>
                        <a:t>제품 수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179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가전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 smtClean="0"/>
                        <a:t> </a:t>
                      </a:r>
                      <a:r>
                        <a:rPr lang="ko-KR" altLang="en-US" sz="1200" baseline="0" dirty="0" err="1" smtClean="0"/>
                        <a:t>프린세스</a:t>
                      </a:r>
                      <a:r>
                        <a:rPr lang="ko-KR" altLang="en-US" sz="1200" baseline="0" dirty="0" smtClean="0"/>
                        <a:t> </a:t>
                      </a:r>
                      <a:r>
                        <a:rPr lang="ko-KR" altLang="en-US" sz="1200" baseline="0" dirty="0" err="1" smtClean="0"/>
                        <a:t>플레이팅</a:t>
                      </a:r>
                      <a:r>
                        <a:rPr lang="ko-KR" altLang="en-US" sz="1200" baseline="0" dirty="0" smtClean="0"/>
                        <a:t> 전기그릴</a:t>
                      </a:r>
                      <a:endParaRPr lang="en-US" altLang="ko-KR" sz="1200" baseline="0" dirty="0" smtClean="0"/>
                    </a:p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바이마르 </a:t>
                      </a:r>
                      <a:r>
                        <a:rPr lang="ko-KR" altLang="en-US" sz="1200" baseline="0" dirty="0" err="1" smtClean="0"/>
                        <a:t>케어존</a:t>
                      </a:r>
                      <a:r>
                        <a:rPr lang="ko-KR" altLang="en-US" sz="1200" baseline="0" dirty="0" smtClean="0"/>
                        <a:t> </a:t>
                      </a:r>
                      <a:r>
                        <a:rPr lang="ko-KR" altLang="en-US" sz="1200" baseline="0" dirty="0" err="1" smtClean="0"/>
                        <a:t>써큘레이터</a:t>
                      </a:r>
                      <a:r>
                        <a:rPr lang="ko-KR" altLang="en-US" sz="1200" baseline="0" dirty="0" smtClean="0"/>
                        <a:t>  등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en-US" altLang="ko-KR" sz="1200" dirty="0" smtClean="0"/>
                        <a:t>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75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가구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그라운드 </a:t>
                      </a:r>
                      <a:r>
                        <a:rPr lang="ko-KR" altLang="en-US" sz="1200" baseline="0" dirty="0" err="1" smtClean="0"/>
                        <a:t>헤링본</a:t>
                      </a:r>
                      <a:r>
                        <a:rPr lang="ko-KR" altLang="en-US" sz="1200" baseline="0" dirty="0" smtClean="0"/>
                        <a:t> 원목침대</a:t>
                      </a:r>
                      <a:endParaRPr lang="en-US" altLang="ko-KR" sz="1200" baseline="0" dirty="0" smtClean="0"/>
                    </a:p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그라운드 아카시아 원목 </a:t>
                      </a:r>
                      <a:r>
                        <a:rPr lang="ko-KR" altLang="en-US" sz="1200" baseline="0" dirty="0" err="1" smtClean="0"/>
                        <a:t>거실장</a:t>
                      </a:r>
                      <a:endParaRPr lang="en-US" altLang="ko-KR" sz="1200" baseline="0" dirty="0" smtClean="0"/>
                    </a:p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err="1" smtClean="0"/>
                        <a:t>로트</a:t>
                      </a:r>
                      <a:r>
                        <a:rPr lang="ko-KR" altLang="en-US" sz="1200" baseline="0" dirty="0" smtClean="0"/>
                        <a:t> </a:t>
                      </a:r>
                      <a:r>
                        <a:rPr lang="ko-KR" altLang="en-US" sz="1200" baseline="0" dirty="0" err="1" smtClean="0"/>
                        <a:t>내추럴</a:t>
                      </a:r>
                      <a:r>
                        <a:rPr lang="ko-KR" altLang="en-US" sz="1200" baseline="0" dirty="0" smtClean="0"/>
                        <a:t> </a:t>
                      </a:r>
                      <a:r>
                        <a:rPr lang="ko-KR" altLang="en-US" sz="1200" baseline="0" dirty="0" err="1" smtClean="0"/>
                        <a:t>평상형</a:t>
                      </a:r>
                      <a:r>
                        <a:rPr lang="ko-KR" altLang="en-US" sz="1200" baseline="0" dirty="0" smtClean="0"/>
                        <a:t> 침대 등</a:t>
                      </a:r>
                      <a:endParaRPr lang="en-US" altLang="ko-KR" sz="12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en-US" altLang="ko-KR" sz="1200" baseline="0" dirty="0" smtClean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822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주방생활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err="1" smtClean="0"/>
                        <a:t>노빌따</a:t>
                      </a:r>
                      <a:r>
                        <a:rPr lang="ko-KR" altLang="en-US" sz="1200" baseline="0" dirty="0" smtClean="0"/>
                        <a:t> </a:t>
                      </a:r>
                      <a:r>
                        <a:rPr lang="ko-KR" altLang="en-US" sz="1200" baseline="0" dirty="0" err="1" smtClean="0"/>
                        <a:t>우드인덕션</a:t>
                      </a:r>
                      <a:r>
                        <a:rPr lang="ko-KR" altLang="en-US" sz="1200" baseline="0" dirty="0" smtClean="0"/>
                        <a:t> 전기레인지</a:t>
                      </a:r>
                      <a:endParaRPr lang="en-US" altLang="ko-KR" sz="1200" baseline="0" dirty="0" smtClean="0"/>
                    </a:p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err="1" smtClean="0"/>
                        <a:t>큐브스타</a:t>
                      </a:r>
                      <a:r>
                        <a:rPr lang="ko-KR" altLang="en-US" sz="1200" baseline="0" dirty="0" smtClean="0"/>
                        <a:t> 휴대용 가스버너 등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en-US" altLang="ko-KR" sz="1200" dirty="0" smtClean="0"/>
                        <a:t>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71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 smtClean="0"/>
                        <a:t>패브릭</a:t>
                      </a:r>
                      <a:endParaRPr lang="ko-KR" altLang="en-US" sz="1200" b="1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 smtClean="0"/>
                        <a:t> </a:t>
                      </a:r>
                      <a:r>
                        <a:rPr lang="ko-KR" altLang="en-US" sz="1200" dirty="0" smtClean="0"/>
                        <a:t>하우스 이불</a:t>
                      </a:r>
                      <a:r>
                        <a:rPr lang="en-US" altLang="ko-KR" sz="1200" dirty="0" smtClean="0"/>
                        <a:t>/</a:t>
                      </a:r>
                      <a:r>
                        <a:rPr lang="ko-KR" altLang="en-US" sz="1200" dirty="0" smtClean="0"/>
                        <a:t>베개커버 침구세트</a:t>
                      </a:r>
                      <a:endParaRPr lang="en-US" altLang="ko-KR" sz="1200" dirty="0" smtClean="0"/>
                    </a:p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 smtClean="0"/>
                        <a:t> </a:t>
                      </a:r>
                      <a:r>
                        <a:rPr lang="ko-KR" altLang="en-US" sz="1200" dirty="0" err="1" smtClean="0"/>
                        <a:t>코튼리</a:t>
                      </a:r>
                      <a:r>
                        <a:rPr lang="ko-KR" altLang="en-US" sz="1200" dirty="0" smtClean="0"/>
                        <a:t> 프리미엄 </a:t>
                      </a:r>
                      <a:r>
                        <a:rPr lang="ko-KR" altLang="en-US" sz="1200" dirty="0" err="1" smtClean="0"/>
                        <a:t>이불솜</a:t>
                      </a:r>
                      <a:endParaRPr lang="ko-KR" altLang="en-US" sz="1200" dirty="0" smtClean="0"/>
                    </a:p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 smtClean="0"/>
                        <a:t> </a:t>
                      </a:r>
                      <a:r>
                        <a:rPr lang="ko-KR" altLang="en-US" sz="1200" dirty="0" err="1" smtClean="0"/>
                        <a:t>코튼리</a:t>
                      </a:r>
                      <a:r>
                        <a:rPr lang="ko-KR" altLang="en-US" sz="1200" dirty="0" smtClean="0"/>
                        <a:t> 거실커튼 등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en-US" altLang="ko-KR" sz="1200" dirty="0" smtClean="0"/>
                        <a:t>16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기타</a:t>
                      </a:r>
                      <a:endParaRPr lang="en-US" altLang="ko-KR" sz="1200" b="1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 smtClean="0"/>
                        <a:t> </a:t>
                      </a:r>
                      <a:r>
                        <a:rPr lang="ko-KR" altLang="en-US" sz="1200" dirty="0" smtClean="0"/>
                        <a:t>하우스 </a:t>
                      </a:r>
                      <a:r>
                        <a:rPr lang="ko-KR" altLang="en-US" sz="1200" dirty="0" err="1" smtClean="0"/>
                        <a:t>데일리</a:t>
                      </a:r>
                      <a:r>
                        <a:rPr lang="ko-KR" altLang="en-US" sz="1200" dirty="0" smtClean="0"/>
                        <a:t> 타월 등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en-US" altLang="ko-KR" sz="1200" dirty="0" smtClean="0"/>
                        <a:t>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39331">
                <a:tc gridSpan="3">
                  <a:txBody>
                    <a:bodyPr/>
                    <a:lstStyle/>
                    <a:p>
                      <a:pPr algn="r" latinLnBrk="1"/>
                      <a:r>
                        <a:rPr lang="ko-KR" altLang="en-US" sz="1200" b="1" dirty="0" smtClean="0"/>
                        <a:t>총 </a:t>
                      </a:r>
                      <a:r>
                        <a:rPr lang="en-US" altLang="ko-KR" sz="1200" b="1" dirty="0" smtClean="0"/>
                        <a:t>37</a:t>
                      </a:r>
                      <a:r>
                        <a:rPr lang="ko-KR" altLang="en-US" sz="1200" b="1" dirty="0" smtClean="0"/>
                        <a:t>개</a:t>
                      </a:r>
                      <a:endParaRPr lang="en-US" altLang="ko-KR" sz="1200" b="1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4857752" y="2714620"/>
            <a:ext cx="71438" cy="7143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endParaRPr lang="ko-KR" altLang="en-US" sz="2000" dirty="0" err="1" smtClean="0">
              <a:latin typeface="Georgia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786314" y="2500306"/>
            <a:ext cx="1357322" cy="21431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200" b="1" u="sng" dirty="0" smtClean="0">
                <a:latin typeface="Georgia" pitchFamily="18" charset="0"/>
              </a:rPr>
              <a:t>PB</a:t>
            </a:r>
            <a:r>
              <a:rPr lang="ko-KR" altLang="en-US" sz="1200" b="1" u="sng" dirty="0" smtClean="0">
                <a:latin typeface="Georgia" pitchFamily="18" charset="0"/>
              </a:rPr>
              <a:t>상품 출시 개수 </a:t>
            </a:r>
            <a:r>
              <a:rPr lang="en-US" altLang="ko-KR" sz="1200" b="1" u="sng" dirty="0" smtClean="0">
                <a:latin typeface="Georgia" pitchFamily="18" charset="0"/>
              </a:rPr>
              <a:t>(</a:t>
            </a:r>
            <a:r>
              <a:rPr lang="ko-KR" altLang="en-US" sz="1200" b="1" u="sng" dirty="0" smtClean="0">
                <a:latin typeface="Georgia" pitchFamily="18" charset="0"/>
              </a:rPr>
              <a:t>누적</a:t>
            </a:r>
            <a:r>
              <a:rPr lang="en-US" altLang="ko-KR" sz="1200" b="1" u="sng" dirty="0" smtClean="0">
                <a:latin typeface="Georgia" pitchFamily="18" charset="0"/>
              </a:rPr>
              <a:t>) </a:t>
            </a:r>
            <a:r>
              <a:rPr lang="ko-KR" altLang="en-US" sz="1200" b="1" u="sng" dirty="0" smtClean="0">
                <a:latin typeface="Georgia" pitchFamily="18" charset="0"/>
              </a:rPr>
              <a:t>및 매출비중</a:t>
            </a:r>
          </a:p>
        </p:txBody>
      </p:sp>
      <p:graphicFrame>
        <p:nvGraphicFramePr>
          <p:cNvPr id="40" name="차트 39"/>
          <p:cNvGraphicFramePr/>
          <p:nvPr>
            <p:extLst>
              <p:ext uri="{D42A27DB-BD31-4B8C-83A1-F6EECF244321}">
                <p14:modId xmlns="" xmlns:p14="http://schemas.microsoft.com/office/powerpoint/2010/main" val="2622030049"/>
              </p:ext>
            </p:extLst>
          </p:nvPr>
        </p:nvGraphicFramePr>
        <p:xfrm>
          <a:off x="4714876" y="2714620"/>
          <a:ext cx="3786214" cy="142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786314" y="4214818"/>
            <a:ext cx="1357322" cy="21431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200" b="1" u="sng" dirty="0" smtClean="0">
                <a:latin typeface="Georgia" pitchFamily="18" charset="0"/>
              </a:rPr>
              <a:t>제품군별  이익률 비교</a:t>
            </a:r>
          </a:p>
        </p:txBody>
      </p:sp>
      <p:graphicFrame>
        <p:nvGraphicFramePr>
          <p:cNvPr id="42" name="차트 41"/>
          <p:cNvGraphicFramePr/>
          <p:nvPr/>
        </p:nvGraphicFramePr>
        <p:xfrm>
          <a:off x="4572000" y="4429132"/>
          <a:ext cx="4500594" cy="2143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786314" y="2682816"/>
            <a:ext cx="857256" cy="21431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000" dirty="0" smtClean="0">
                <a:latin typeface="Georgia" pitchFamily="18" charset="0"/>
              </a:rPr>
              <a:t>(</a:t>
            </a:r>
            <a:r>
              <a:rPr lang="ko-KR" altLang="en-US" sz="1000" dirty="0" smtClean="0">
                <a:latin typeface="Georgia" pitchFamily="18" charset="0"/>
              </a:rPr>
              <a:t>단위</a:t>
            </a:r>
            <a:r>
              <a:rPr lang="en-US" altLang="ko-KR" sz="1000" dirty="0" smtClean="0">
                <a:latin typeface="Georgia" pitchFamily="18" charset="0"/>
              </a:rPr>
              <a:t>: </a:t>
            </a:r>
            <a:r>
              <a:rPr lang="ko-KR" altLang="en-US" sz="1000" dirty="0" smtClean="0">
                <a:latin typeface="Georgia" pitchFamily="18" charset="0"/>
              </a:rPr>
              <a:t>개</a:t>
            </a:r>
            <a:r>
              <a:rPr lang="en-US" altLang="ko-KR" sz="1000" dirty="0" smtClean="0">
                <a:latin typeface="Georgia" pitchFamily="18" charset="0"/>
              </a:rPr>
              <a:t>, %)</a:t>
            </a:r>
            <a:endParaRPr lang="ko-KR" altLang="en-US" sz="1000" dirty="0" err="1" smtClean="0">
              <a:latin typeface="Georgia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7639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  </a:t>
            </a:r>
            <a:r>
              <a:rPr lang="ko-KR" altLang="en-US" dirty="0" err="1" smtClean="0"/>
              <a:t>성공경험이</a:t>
            </a:r>
            <a:r>
              <a:rPr lang="ko-KR" altLang="en-US" dirty="0" smtClean="0"/>
              <a:t> </a:t>
            </a:r>
            <a:r>
              <a:rPr lang="ko-KR" altLang="en-US" dirty="0"/>
              <a:t>이식된 차별화된 사업구조 </a:t>
            </a:r>
            <a:r>
              <a:rPr lang="ko-KR" altLang="en-US" dirty="0" smtClean="0"/>
              <a:t>구축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리모델링</a:t>
            </a:r>
            <a:endParaRPr lang="en-US" altLang="ko-KR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프리미엄 </a:t>
            </a:r>
            <a:r>
              <a:rPr lang="ko-KR" altLang="en-US" dirty="0" err="1" smtClean="0"/>
              <a:t>리모델링</a:t>
            </a:r>
            <a:r>
              <a:rPr lang="ko-KR" altLang="en-US" dirty="0" smtClean="0"/>
              <a:t> 서비스 지향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51519" y="1844519"/>
            <a:ext cx="3600401" cy="393709"/>
            <a:chOff x="251520" y="1844520"/>
            <a:chExt cx="4112668" cy="287716"/>
          </a:xfrm>
        </p:grpSpPr>
        <p:cxnSp>
          <p:nvCxnSpPr>
            <p:cNvPr id="23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ko-KR" altLang="en-US" sz="1200" b="1" dirty="0" err="1" smtClean="0">
                  <a:latin typeface="Georgia" pitchFamily="18" charset="0"/>
                </a:rPr>
                <a:t>리모델링</a:t>
              </a:r>
              <a:r>
                <a:rPr lang="ko-KR" altLang="en-US" sz="1200" b="1" dirty="0" smtClean="0">
                  <a:latin typeface="Georgia" pitchFamily="18" charset="0"/>
                </a:rPr>
                <a:t> 사업 특장점</a:t>
              </a:r>
              <a:endParaRPr lang="en-US" sz="1200" b="1" dirty="0">
                <a:latin typeface="Georgia" pitchFamily="18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err="1" smtClean="0">
                <a:latin typeface="Georgia" pitchFamily="18" charset="0"/>
              </a:rPr>
              <a:t>리모델링</a:t>
            </a:r>
            <a:r>
              <a:rPr lang="ko-KR" altLang="en-US" sz="1400" dirty="0" smtClean="0">
                <a:latin typeface="Georgia" pitchFamily="18" charset="0"/>
              </a:rPr>
              <a:t> 서비스의 가장 큰 특징은 기존 커뮤니티의 핵심 사용자층인 </a:t>
            </a:r>
            <a:r>
              <a:rPr lang="en-US" altLang="ko-KR" sz="1400" dirty="0" smtClean="0">
                <a:latin typeface="Georgia" pitchFamily="18" charset="0"/>
              </a:rPr>
              <a:t>3050 </a:t>
            </a:r>
            <a:r>
              <a:rPr lang="ko-KR" altLang="en-US" sz="1400" dirty="0" smtClean="0">
                <a:latin typeface="Georgia" pitchFamily="18" charset="0"/>
              </a:rPr>
              <a:t>아파트 거주 주부를 대상으로 아파트 중심의 프리미엄 </a:t>
            </a:r>
            <a:r>
              <a:rPr lang="ko-KR" altLang="en-US" sz="1400" dirty="0" err="1" smtClean="0">
                <a:latin typeface="Georgia" pitchFamily="18" charset="0"/>
              </a:rPr>
              <a:t>리모델링</a:t>
            </a:r>
            <a:r>
              <a:rPr lang="ko-KR" altLang="en-US" sz="1400" dirty="0" smtClean="0">
                <a:latin typeface="Georgia" pitchFamily="18" charset="0"/>
              </a:rPr>
              <a:t> 서비스를 지향하고 있는 것임</a:t>
            </a:r>
            <a:endParaRPr lang="en-US" sz="1400" dirty="0">
              <a:latin typeface="Georgia" pitchFamily="18" charset="0"/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="" xmlns:a16="http://schemas.microsoft.com/office/drawing/2014/main" id="{4AA717CE-495C-4F9D-89AB-4344DC3CA7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Source: </a:t>
            </a:r>
            <a:r>
              <a:rPr lang="ko-KR" altLang="en-US" dirty="0" smtClean="0"/>
              <a:t>내부자료</a:t>
            </a:r>
            <a:endParaRPr lang="ko-KR" altLang="en-US" dirty="0"/>
          </a:p>
        </p:txBody>
      </p: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283464" y="2362627"/>
            <a:ext cx="3568456" cy="11929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커뮤니티 기반 </a:t>
            </a:r>
            <a:r>
              <a:rPr lang="ko-KR" altLang="en-US" sz="1400" b="1" kern="0" dirty="0" err="1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리모델링</a:t>
            </a: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 사례 직접 확인</a:t>
            </a:r>
            <a:endParaRPr lang="en-US" altLang="ko-KR" sz="1400" b="1" kern="0" dirty="0" smtClean="0">
              <a:solidFill>
                <a:schemeClr val="tx2"/>
              </a:solidFill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우리집과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 유사한 </a:t>
            </a: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리모델링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 사례 직접 확인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/>
            </a:r>
            <a:br>
              <a:rPr lang="en-US" altLang="ko-KR" sz="1400" kern="0" dirty="0" smtClean="0">
                <a:latin typeface="+mj-lt"/>
                <a:ea typeface="맑은 고딕" pitchFamily="50" charset="-127"/>
              </a:rPr>
            </a:b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(“</a:t>
            </a: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비포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 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&amp; </a:t>
            </a: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에프터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“)</a:t>
            </a: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디자이너 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200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곳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/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포트폴리오 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4,000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여 개</a:t>
            </a:r>
            <a:endParaRPr lang="en-US" altLang="ko-KR" sz="1400" kern="0" dirty="0">
              <a:latin typeface="+mj-lt"/>
              <a:ea typeface="맑은 고딕" pitchFamily="50" charset="-127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283464" y="3635880"/>
            <a:ext cx="3568456" cy="86749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포트폴리오 데이터 기반 쉬운 검색</a:t>
            </a:r>
            <a:endParaRPr lang="en-US" altLang="ko-KR" sz="1400" b="1" kern="0" dirty="0" smtClean="0">
              <a:solidFill>
                <a:schemeClr val="tx2"/>
              </a:solidFill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지역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/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아파트 단지별 </a:t>
            </a: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시공실적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, 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가격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, 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업체 정보 구조화</a:t>
            </a:r>
            <a:endParaRPr lang="en-US" altLang="ko-KR" sz="1400" kern="0" dirty="0">
              <a:latin typeface="+mj-lt"/>
              <a:ea typeface="맑은 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272656" y="4632712"/>
            <a:ext cx="3640464" cy="1460584"/>
          </a:xfrm>
          <a:prstGeom prst="rect">
            <a:avLst/>
          </a:prstGeom>
          <a:solidFill>
            <a:schemeClr val="tx2"/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283464" y="4739146"/>
            <a:ext cx="3568456" cy="154629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400" b="1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상대적 고가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프리미엄 </a:t>
            </a:r>
            <a:r>
              <a:rPr lang="ko-KR" altLang="en-US" sz="1400" b="1" kern="0" dirty="0" err="1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리모델링</a:t>
            </a:r>
            <a:r>
              <a:rPr lang="ko-KR" altLang="en-US" sz="1400" b="1" kern="0" dirty="0">
                <a:solidFill>
                  <a:schemeClr val="bg1"/>
                </a:solidFill>
                <a:latin typeface="+mj-lt"/>
                <a:ea typeface="맑은 고딕" pitchFamily="50" charset="-127"/>
              </a:rPr>
              <a:t>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서비스</a:t>
            </a:r>
            <a:endParaRPr lang="en-US" altLang="ko-KR" sz="1400" b="1" kern="0" dirty="0" smtClean="0">
              <a:solidFill>
                <a:schemeClr val="bg1"/>
              </a:solidFill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핵심 고객은 </a:t>
            </a:r>
            <a:r>
              <a:rPr lang="en-US" altLang="ko-KR" sz="1400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3050 </a:t>
            </a:r>
            <a:r>
              <a:rPr lang="ko-KR" altLang="en-US" sz="1400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아파트 거주 주부로</a:t>
            </a:r>
            <a:r>
              <a:rPr lang="en-US" altLang="ko-KR" sz="1400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…</a:t>
            </a:r>
          </a:p>
          <a:p>
            <a:pPr marL="174625" lvl="0" indent="-174625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일정 수준 이상 퀄리티 중시</a:t>
            </a:r>
            <a:r>
              <a:rPr lang="en-US" altLang="ko-KR" sz="1400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400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대부분 아파트 수요로 평형 상대적 大</a:t>
            </a:r>
            <a:endParaRPr lang="en-US" altLang="ko-KR" sz="1400" kern="0" dirty="0" smtClean="0">
              <a:solidFill>
                <a:schemeClr val="bg1"/>
              </a:solidFill>
              <a:latin typeface="+mj-lt"/>
              <a:ea typeface="맑은 고딕" pitchFamily="50" charset="-127"/>
            </a:endParaRPr>
          </a:p>
          <a:p>
            <a:pPr lvl="0">
              <a:spcAft>
                <a:spcPts val="600"/>
              </a:spcAft>
              <a:buClr>
                <a:schemeClr val="bg1"/>
              </a:buClr>
              <a:defRPr/>
            </a:pPr>
            <a:r>
              <a:rPr lang="en-US" altLang="ko-KR" sz="1400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※ </a:t>
            </a:r>
            <a:r>
              <a:rPr lang="ko-KR" altLang="en-US" sz="1400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경쟁사는 </a:t>
            </a:r>
            <a:r>
              <a:rPr lang="en-US" altLang="ko-KR" sz="1400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1</a:t>
            </a:r>
            <a:r>
              <a:rPr lang="ko-KR" altLang="en-US" sz="1400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인 가구</a:t>
            </a:r>
            <a:r>
              <a:rPr lang="en-US" altLang="ko-KR" sz="1400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400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빌라</a:t>
            </a:r>
            <a:r>
              <a:rPr lang="en-US" altLang="ko-KR" sz="1400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400" kern="0" dirty="0" smtClean="0">
                <a:solidFill>
                  <a:schemeClr val="bg1"/>
                </a:solidFill>
                <a:latin typeface="+mj-lt"/>
                <a:ea typeface="맑은 고딕" pitchFamily="50" charset="-127"/>
              </a:rPr>
              <a:t>원룸 수요 중심</a:t>
            </a:r>
            <a:endParaRPr lang="en-US" altLang="ko-KR" sz="1400" kern="0" dirty="0">
              <a:solidFill>
                <a:schemeClr val="bg1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31" name="Freeform 32"/>
          <p:cNvSpPr>
            <a:spLocks noChangeAspect="1"/>
          </p:cNvSpPr>
          <p:nvPr/>
        </p:nvSpPr>
        <p:spPr bwMode="auto">
          <a:xfrm>
            <a:off x="179530" y="4435272"/>
            <a:ext cx="468000" cy="468000"/>
          </a:xfrm>
          <a:custGeom>
            <a:avLst/>
            <a:gdLst>
              <a:gd name="T0" fmla="*/ 0 w 648"/>
              <a:gd name="T1" fmla="*/ 160473615 h 618"/>
              <a:gd name="T2" fmla="*/ 33274034 w 648"/>
              <a:gd name="T3" fmla="*/ 137303648 h 618"/>
              <a:gd name="T4" fmla="*/ 46129972 w 648"/>
              <a:gd name="T5" fmla="*/ 145885287 h 618"/>
              <a:gd name="T6" fmla="*/ 69573426 w 648"/>
              <a:gd name="T7" fmla="*/ 193941459 h 618"/>
              <a:gd name="T8" fmla="*/ 105115873 w 648"/>
              <a:gd name="T9" fmla="*/ 135587451 h 618"/>
              <a:gd name="T10" fmla="*/ 164101793 w 648"/>
              <a:gd name="T11" fmla="*/ 63503233 h 618"/>
              <a:gd name="T12" fmla="*/ 201913240 w 648"/>
              <a:gd name="T13" fmla="*/ 25744273 h 618"/>
              <a:gd name="T14" fmla="*/ 238968348 w 648"/>
              <a:gd name="T15" fmla="*/ 0 h 618"/>
              <a:gd name="T16" fmla="*/ 245018450 w 648"/>
              <a:gd name="T17" fmla="*/ 11155940 h 618"/>
              <a:gd name="T18" fmla="*/ 214012830 w 648"/>
              <a:gd name="T19" fmla="*/ 42049453 h 618"/>
              <a:gd name="T20" fmla="*/ 169395556 w 648"/>
              <a:gd name="T21" fmla="*/ 98687254 h 618"/>
              <a:gd name="T22" fmla="*/ 130827731 w 648"/>
              <a:gd name="T23" fmla="*/ 154466271 h 618"/>
              <a:gd name="T24" fmla="*/ 88478861 w 648"/>
              <a:gd name="T25" fmla="*/ 237707099 h 618"/>
              <a:gd name="T26" fmla="*/ 54448478 w 648"/>
              <a:gd name="T27" fmla="*/ 265167558 h 618"/>
              <a:gd name="T28" fmla="*/ 31005630 w 648"/>
              <a:gd name="T29" fmla="*/ 199948148 h 618"/>
              <a:gd name="T30" fmla="*/ 15880677 w 648"/>
              <a:gd name="T31" fmla="*/ 173345787 h 618"/>
              <a:gd name="T32" fmla="*/ 0 w 648"/>
              <a:gd name="T33" fmla="*/ 160473615 h 61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648"/>
              <a:gd name="T52" fmla="*/ 0 h 618"/>
              <a:gd name="T53" fmla="*/ 648 w 648"/>
              <a:gd name="T54" fmla="*/ 618 h 618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648" h="618">
                <a:moveTo>
                  <a:pt x="0" y="374"/>
                </a:moveTo>
                <a:lnTo>
                  <a:pt x="88" y="320"/>
                </a:lnTo>
                <a:lnTo>
                  <a:pt x="122" y="340"/>
                </a:lnTo>
                <a:lnTo>
                  <a:pt x="184" y="452"/>
                </a:lnTo>
                <a:lnTo>
                  <a:pt x="278" y="316"/>
                </a:lnTo>
                <a:lnTo>
                  <a:pt x="434" y="148"/>
                </a:lnTo>
                <a:lnTo>
                  <a:pt x="534" y="60"/>
                </a:lnTo>
                <a:lnTo>
                  <a:pt x="632" y="0"/>
                </a:lnTo>
                <a:lnTo>
                  <a:pt x="648" y="26"/>
                </a:lnTo>
                <a:lnTo>
                  <a:pt x="566" y="98"/>
                </a:lnTo>
                <a:lnTo>
                  <a:pt x="448" y="230"/>
                </a:lnTo>
                <a:lnTo>
                  <a:pt x="346" y="360"/>
                </a:lnTo>
                <a:lnTo>
                  <a:pt x="234" y="554"/>
                </a:lnTo>
                <a:lnTo>
                  <a:pt x="144" y="618"/>
                </a:lnTo>
                <a:lnTo>
                  <a:pt x="82" y="466"/>
                </a:lnTo>
                <a:lnTo>
                  <a:pt x="42" y="404"/>
                </a:lnTo>
                <a:lnTo>
                  <a:pt x="0" y="374"/>
                </a:lnTo>
                <a:close/>
              </a:path>
            </a:pathLst>
          </a:custGeom>
          <a:solidFill>
            <a:srgbClr val="C00000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ko-KR" altLang="en-US">
              <a:latin typeface="+mn-ea"/>
              <a:ea typeface="+mn-ea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4508780" y="1844519"/>
            <a:ext cx="4367122" cy="393709"/>
            <a:chOff x="251520" y="1844520"/>
            <a:chExt cx="4112668" cy="287716"/>
          </a:xfrm>
        </p:grpSpPr>
        <p:cxnSp>
          <p:nvCxnSpPr>
            <p:cNvPr id="33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ko-KR" altLang="en-US" sz="1200" b="1" dirty="0" smtClean="0">
                  <a:latin typeface="Georgia" pitchFamily="18" charset="0"/>
                </a:rPr>
                <a:t>포트폴리오 현황</a:t>
              </a:r>
              <a:r>
                <a:rPr lang="en-US" altLang="ko-KR" sz="1200" b="1" dirty="0" smtClean="0">
                  <a:latin typeface="Georgia" pitchFamily="18" charset="0"/>
                </a:rPr>
                <a:t>(vs. </a:t>
              </a:r>
              <a:r>
                <a:rPr lang="ko-KR" altLang="en-US" sz="1200" b="1" dirty="0" smtClean="0">
                  <a:latin typeface="Georgia" pitchFamily="18" charset="0"/>
                </a:rPr>
                <a:t>경쟁사</a:t>
              </a:r>
              <a:r>
                <a:rPr lang="en-US" altLang="ko-KR" sz="1200" b="1" dirty="0" smtClean="0">
                  <a:latin typeface="Georgia" pitchFamily="18" charset="0"/>
                </a:rPr>
                <a:t>)</a:t>
              </a:r>
              <a:endParaRPr lang="en-US" sz="1200" b="1" dirty="0">
                <a:latin typeface="Georgia" pitchFamily="18" charset="0"/>
              </a:endParaRPr>
            </a:p>
          </p:txBody>
        </p:sp>
      </p:grpSp>
      <p:sp>
        <p:nvSpPr>
          <p:cNvPr id="49" name="모서리가 둥근 직사각형 83">
            <a:extLst>
              <a:ext uri="{FF2B5EF4-FFF2-40B4-BE49-F238E27FC236}">
                <a16:creationId xmlns="" xmlns:a16="http://schemas.microsoft.com/office/drawing/2014/main" id="{1AB2660D-45AF-4617-9AF6-EED8D435EEF3}"/>
              </a:ext>
            </a:extLst>
          </p:cNvPr>
          <p:cNvSpPr/>
          <p:nvPr/>
        </p:nvSpPr>
        <p:spPr>
          <a:xfrm>
            <a:off x="4513364" y="3632129"/>
            <a:ext cx="1368000" cy="507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0350" indent="-171450">
              <a:lnSpc>
                <a:spcPts val="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아파트 </a:t>
            </a: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(</a:t>
            </a: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부산</a:t>
            </a: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)</a:t>
            </a:r>
          </a:p>
          <a:p>
            <a:pPr marL="260350" indent="-171450">
              <a:lnSpc>
                <a:spcPts val="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4,500</a:t>
            </a: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만원</a:t>
            </a:r>
            <a:endParaRPr lang="en-US" altLang="ko-KR" sz="1100" dirty="0">
              <a:solidFill>
                <a:schemeClr val="tx1"/>
              </a:solidFill>
              <a:latin typeface="Georgia" pitchFamily="18" charset="0"/>
            </a:endParaRPr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13364" y="2696025"/>
            <a:ext cx="1368000" cy="909108"/>
          </a:xfrm>
          <a:prstGeom prst="rect">
            <a:avLst/>
          </a:prstGeom>
        </p:spPr>
      </p:pic>
      <p:pic>
        <p:nvPicPr>
          <p:cNvPr id="51" name="그림 5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97048" y="2696025"/>
            <a:ext cx="1368000" cy="905310"/>
          </a:xfrm>
          <a:prstGeom prst="rect">
            <a:avLst/>
          </a:prstGeom>
        </p:spPr>
      </p:pic>
      <p:sp>
        <p:nvSpPr>
          <p:cNvPr id="52" name="모서리가 둥근 직사각형 83">
            <a:extLst>
              <a:ext uri="{FF2B5EF4-FFF2-40B4-BE49-F238E27FC236}">
                <a16:creationId xmlns="" xmlns:a16="http://schemas.microsoft.com/office/drawing/2014/main" id="{1AB2660D-45AF-4617-9AF6-EED8D435EEF3}"/>
              </a:ext>
            </a:extLst>
          </p:cNvPr>
          <p:cNvSpPr/>
          <p:nvPr/>
        </p:nvSpPr>
        <p:spPr>
          <a:xfrm>
            <a:off x="7497047" y="3632129"/>
            <a:ext cx="1367999" cy="507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0350" indent="-171450">
              <a:lnSpc>
                <a:spcPts val="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아파트 </a:t>
            </a: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(</a:t>
            </a: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서울</a:t>
            </a: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)</a:t>
            </a:r>
          </a:p>
          <a:p>
            <a:pPr marL="260350" indent="-171450">
              <a:lnSpc>
                <a:spcPts val="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  <a:latin typeface="Georgia" pitchFamily="18" charset="0"/>
              </a:rPr>
              <a:t>6</a:t>
            </a: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,500</a:t>
            </a: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만원</a:t>
            </a:r>
            <a:endParaRPr lang="en-US" altLang="ko-KR" sz="1100" dirty="0">
              <a:solidFill>
                <a:schemeClr val="tx1"/>
              </a:solidFill>
              <a:latin typeface="Georgia" pitchFamily="18" charset="0"/>
            </a:endParaRPr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19852" y="2696025"/>
            <a:ext cx="1368000" cy="905310"/>
          </a:xfrm>
          <a:prstGeom prst="rect">
            <a:avLst/>
          </a:prstGeom>
        </p:spPr>
      </p:pic>
      <p:sp>
        <p:nvSpPr>
          <p:cNvPr id="54" name="모서리가 둥근 직사각형 83">
            <a:extLst>
              <a:ext uri="{FF2B5EF4-FFF2-40B4-BE49-F238E27FC236}">
                <a16:creationId xmlns="" xmlns:a16="http://schemas.microsoft.com/office/drawing/2014/main" id="{1AB2660D-45AF-4617-9AF6-EED8D435EEF3}"/>
              </a:ext>
            </a:extLst>
          </p:cNvPr>
          <p:cNvSpPr/>
          <p:nvPr/>
        </p:nvSpPr>
        <p:spPr>
          <a:xfrm>
            <a:off x="6021285" y="3632129"/>
            <a:ext cx="1367999" cy="507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0350" indent="-171450">
              <a:lnSpc>
                <a:spcPts val="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아파트 </a:t>
            </a: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(</a:t>
            </a: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경기</a:t>
            </a: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)</a:t>
            </a:r>
          </a:p>
          <a:p>
            <a:pPr marL="260350" indent="-171450">
              <a:lnSpc>
                <a:spcPts val="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5,500</a:t>
            </a: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만원</a:t>
            </a:r>
            <a:endParaRPr lang="en-US" altLang="ko-KR" sz="1100" dirty="0">
              <a:solidFill>
                <a:schemeClr val="tx1"/>
              </a:solidFill>
              <a:latin typeface="Georgia" pitchFamily="18" charset="0"/>
            </a:endParaRPr>
          </a:p>
        </p:txBody>
      </p:sp>
      <p:sp>
        <p:nvSpPr>
          <p:cNvPr id="55" name="Rectangle 14"/>
          <p:cNvSpPr>
            <a:spLocks noChangeArrowheads="1"/>
          </p:cNvSpPr>
          <p:nvPr/>
        </p:nvSpPr>
        <p:spPr bwMode="auto">
          <a:xfrm>
            <a:off x="4427984" y="2331533"/>
            <a:ext cx="3568456" cy="3865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Target: </a:t>
            </a:r>
            <a:r>
              <a:rPr lang="ko-KR" altLang="en-US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평균 가격 </a:t>
            </a:r>
            <a:r>
              <a:rPr lang="en-US" altLang="ko-KR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5,000~ 7,000</a:t>
            </a:r>
            <a:r>
              <a:rPr lang="ko-KR" altLang="en-US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만원</a:t>
            </a:r>
            <a:endParaRPr lang="en-US" altLang="ko-KR" sz="1400" b="1" kern="0" dirty="0" smtClean="0">
              <a:solidFill>
                <a:srgbClr val="C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4427984" y="4383649"/>
            <a:ext cx="3568456" cy="3865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경쟁사</a:t>
            </a:r>
            <a:r>
              <a:rPr lang="en-US" altLang="ko-KR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: </a:t>
            </a:r>
            <a:r>
              <a:rPr lang="ko-KR" altLang="en-US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평균 가격 </a:t>
            </a:r>
            <a:r>
              <a:rPr lang="en-US" altLang="ko-KR" sz="1400" b="1" kern="0" dirty="0">
                <a:solidFill>
                  <a:srgbClr val="C00000"/>
                </a:solidFill>
                <a:latin typeface="+mj-lt"/>
                <a:ea typeface="맑은 고딕" pitchFamily="50" charset="-127"/>
              </a:rPr>
              <a:t>2</a:t>
            </a:r>
            <a:r>
              <a:rPr lang="en-US" altLang="ko-KR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,000~ 4,000</a:t>
            </a:r>
            <a:r>
              <a:rPr lang="ko-KR" altLang="en-US" sz="14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만원</a:t>
            </a:r>
            <a:endParaRPr lang="en-US" altLang="ko-KR" sz="1400" b="1" kern="0" dirty="0" smtClean="0">
              <a:solidFill>
                <a:srgbClr val="C00000"/>
              </a:solidFill>
              <a:latin typeface="+mj-lt"/>
              <a:ea typeface="맑은 고딕" pitchFamily="50" charset="-127"/>
            </a:endParaRPr>
          </a:p>
        </p:txBody>
      </p:sp>
      <p:pic>
        <p:nvPicPr>
          <p:cNvPr id="57" name="그림 5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501293" y="4720841"/>
            <a:ext cx="1363755" cy="905779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019853" y="4721310"/>
            <a:ext cx="1367999" cy="905310"/>
          </a:xfrm>
          <a:prstGeom prst="rect">
            <a:avLst/>
          </a:prstGeom>
        </p:spPr>
      </p:pic>
      <p:sp>
        <p:nvSpPr>
          <p:cNvPr id="59" name="모서리가 둥근 직사각형 83">
            <a:extLst>
              <a:ext uri="{FF2B5EF4-FFF2-40B4-BE49-F238E27FC236}">
                <a16:creationId xmlns="" xmlns:a16="http://schemas.microsoft.com/office/drawing/2014/main" id="{1AB2660D-45AF-4617-9AF6-EED8D435EEF3}"/>
              </a:ext>
            </a:extLst>
          </p:cNvPr>
          <p:cNvSpPr/>
          <p:nvPr/>
        </p:nvSpPr>
        <p:spPr>
          <a:xfrm>
            <a:off x="7559913" y="5657414"/>
            <a:ext cx="1367999" cy="507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0350" indent="-171450">
              <a:lnSpc>
                <a:spcPts val="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원룸 </a:t>
            </a: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(</a:t>
            </a: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서울</a:t>
            </a: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)</a:t>
            </a:r>
          </a:p>
          <a:p>
            <a:pPr marL="260350" indent="-171450">
              <a:lnSpc>
                <a:spcPts val="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3,600</a:t>
            </a: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만원</a:t>
            </a:r>
            <a:endParaRPr lang="en-US" altLang="ko-KR" sz="1100" dirty="0">
              <a:solidFill>
                <a:schemeClr val="tx1"/>
              </a:solidFill>
              <a:latin typeface="Georgia" pitchFamily="18" charset="0"/>
            </a:endParaRPr>
          </a:p>
        </p:txBody>
      </p:sp>
      <p:sp>
        <p:nvSpPr>
          <p:cNvPr id="60" name="모서리가 둥근 직사각형 83">
            <a:extLst>
              <a:ext uri="{FF2B5EF4-FFF2-40B4-BE49-F238E27FC236}">
                <a16:creationId xmlns="" xmlns:a16="http://schemas.microsoft.com/office/drawing/2014/main" id="{1AB2660D-45AF-4617-9AF6-EED8D435EEF3}"/>
              </a:ext>
            </a:extLst>
          </p:cNvPr>
          <p:cNvSpPr/>
          <p:nvPr/>
        </p:nvSpPr>
        <p:spPr>
          <a:xfrm>
            <a:off x="6047745" y="5657414"/>
            <a:ext cx="1367999" cy="507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0350" indent="-171450">
              <a:lnSpc>
                <a:spcPts val="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주택 </a:t>
            </a: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(</a:t>
            </a: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경기</a:t>
            </a: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)</a:t>
            </a:r>
          </a:p>
          <a:p>
            <a:pPr marL="260350" indent="-171450">
              <a:lnSpc>
                <a:spcPts val="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3,800</a:t>
            </a: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만원</a:t>
            </a:r>
            <a:endParaRPr lang="en-US" altLang="ko-KR" sz="1100" dirty="0">
              <a:solidFill>
                <a:schemeClr val="tx1"/>
              </a:solidFill>
              <a:latin typeface="Georgia" pitchFamily="18" charset="0"/>
            </a:endParaRPr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20454" y="4720840"/>
            <a:ext cx="1357562" cy="905779"/>
          </a:xfrm>
          <a:prstGeom prst="rect">
            <a:avLst/>
          </a:prstGeom>
        </p:spPr>
      </p:pic>
      <p:sp>
        <p:nvSpPr>
          <p:cNvPr id="62" name="모서리가 둥근 직사각형 83">
            <a:extLst>
              <a:ext uri="{FF2B5EF4-FFF2-40B4-BE49-F238E27FC236}">
                <a16:creationId xmlns="" xmlns:a16="http://schemas.microsoft.com/office/drawing/2014/main" id="{1AB2660D-45AF-4617-9AF6-EED8D435EEF3}"/>
              </a:ext>
            </a:extLst>
          </p:cNvPr>
          <p:cNvSpPr/>
          <p:nvPr/>
        </p:nvSpPr>
        <p:spPr>
          <a:xfrm>
            <a:off x="4499992" y="5652546"/>
            <a:ext cx="1367999" cy="507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0350" indent="-171450">
              <a:lnSpc>
                <a:spcPts val="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빌라 </a:t>
            </a: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(</a:t>
            </a: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부산</a:t>
            </a: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)</a:t>
            </a:r>
          </a:p>
          <a:p>
            <a:pPr marL="260350" indent="-171450">
              <a:lnSpc>
                <a:spcPts val="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solidFill>
                  <a:schemeClr val="tx1"/>
                </a:solidFill>
                <a:latin typeface="Georgia" pitchFamily="18" charset="0"/>
              </a:rPr>
              <a:t>2,400</a:t>
            </a:r>
            <a:r>
              <a:rPr lang="ko-KR" altLang="en-US" sz="1100" dirty="0" smtClean="0">
                <a:solidFill>
                  <a:schemeClr val="tx1"/>
                </a:solidFill>
                <a:latin typeface="Georgia" pitchFamily="18" charset="0"/>
              </a:rPr>
              <a:t>만원</a:t>
            </a:r>
            <a:endParaRPr lang="en-US" altLang="ko-KR" sz="1100" dirty="0">
              <a:solidFill>
                <a:schemeClr val="tx1"/>
              </a:solidFill>
              <a:latin typeface="Georgia" pitchFamily="18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dirty="0" smtClean="0">
                <a:latin typeface="+mn-ea"/>
                <a:cs typeface="Arial" pitchFamily="34" charset="0"/>
              </a:rPr>
              <a:t>3-c</a:t>
            </a:r>
          </a:p>
        </p:txBody>
      </p:sp>
    </p:spTree>
    <p:extLst>
      <p:ext uri="{BB962C8B-B14F-4D97-AF65-F5344CB8AC3E}">
        <p14:creationId xmlns="" xmlns:p14="http://schemas.microsoft.com/office/powerpoint/2010/main" val="120554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  </a:t>
            </a:r>
            <a:r>
              <a:rPr lang="ko-KR" altLang="en-US" dirty="0" err="1" smtClean="0"/>
              <a:t>성공경험이</a:t>
            </a:r>
            <a:r>
              <a:rPr lang="ko-KR" altLang="en-US" dirty="0" smtClean="0"/>
              <a:t> </a:t>
            </a:r>
            <a:r>
              <a:rPr lang="ko-KR" altLang="en-US" dirty="0"/>
              <a:t>이식된 차별화된 사업구조 </a:t>
            </a:r>
            <a:r>
              <a:rPr lang="ko-KR" altLang="en-US" dirty="0" smtClean="0"/>
              <a:t>구축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리모델링</a:t>
            </a:r>
            <a:endParaRPr lang="en-US" altLang="ko-KR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더욱 다양한 프리미엄 </a:t>
            </a:r>
            <a:r>
              <a:rPr lang="ko-KR" altLang="en-US" dirty="0" err="1" smtClean="0"/>
              <a:t>리모델링</a:t>
            </a:r>
            <a:r>
              <a:rPr lang="ko-KR" altLang="en-US" dirty="0" smtClean="0"/>
              <a:t> 포트폴리오 제공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51518" y="1844519"/>
            <a:ext cx="8640000" cy="393709"/>
            <a:chOff x="251519" y="1844520"/>
            <a:chExt cx="9663680" cy="287716"/>
          </a:xfrm>
        </p:grpSpPr>
        <p:cxnSp>
          <p:nvCxnSpPr>
            <p:cNvPr id="23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19" y="2124472"/>
              <a:ext cx="9663680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altLang="ko-KR" sz="1200" b="1" dirty="0" smtClean="0">
                  <a:latin typeface="Georgia" pitchFamily="18" charset="0"/>
                </a:rPr>
                <a:t>Target </a:t>
              </a:r>
              <a:r>
                <a:rPr lang="ko-KR" altLang="en-US" sz="1200" b="1" smtClean="0">
                  <a:latin typeface="Georgia" pitchFamily="18" charset="0"/>
                </a:rPr>
                <a:t>포트폴리오 상세 현황 </a:t>
              </a:r>
              <a:r>
                <a:rPr lang="en-US" altLang="ko-KR" sz="1200" b="1" dirty="0" smtClean="0">
                  <a:latin typeface="Georgia" pitchFamily="18" charset="0"/>
                </a:rPr>
                <a:t>(vs. </a:t>
              </a:r>
              <a:r>
                <a:rPr lang="ko-KR" altLang="en-US" sz="1200" b="1" smtClean="0">
                  <a:latin typeface="Georgia" pitchFamily="18" charset="0"/>
                </a:rPr>
                <a:t>경쟁사</a:t>
              </a:r>
              <a:r>
                <a:rPr lang="en-US" altLang="ko-KR" sz="1200" b="1" dirty="0" smtClean="0">
                  <a:latin typeface="Georgia" pitchFamily="18" charset="0"/>
                </a:rPr>
                <a:t>)</a:t>
              </a:r>
              <a:endParaRPr lang="en-US" sz="1200" b="1" dirty="0">
                <a:latin typeface="Georgia" pitchFamily="18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400" dirty="0" smtClean="0">
                <a:latin typeface="Georgia" pitchFamily="18" charset="0"/>
              </a:rPr>
              <a:t>Target</a:t>
            </a:r>
            <a:r>
              <a:rPr lang="ko-KR" altLang="en-US" sz="1400" dirty="0" smtClean="0">
                <a:latin typeface="Georgia" pitchFamily="18" charset="0"/>
              </a:rPr>
              <a:t> </a:t>
            </a:r>
            <a:r>
              <a:rPr lang="ko-KR" altLang="en-US" sz="1400" dirty="0" err="1" smtClean="0">
                <a:latin typeface="Georgia" pitchFamily="18" charset="0"/>
              </a:rPr>
              <a:t>리모델링</a:t>
            </a:r>
            <a:r>
              <a:rPr lang="ko-KR" altLang="en-US" sz="1400" dirty="0" smtClean="0">
                <a:latin typeface="Georgia" pitchFamily="18" charset="0"/>
              </a:rPr>
              <a:t> 서비스는 경쟁사 대비 압도적 수의 포트폴리오를 제공하고 있으며 핵심 사용자층인</a:t>
            </a:r>
            <a:r>
              <a:rPr lang="en-US" altLang="ko-KR" sz="1400" dirty="0" smtClean="0">
                <a:latin typeface="Georgia" pitchFamily="18" charset="0"/>
              </a:rPr>
              <a:t/>
            </a:r>
            <a:br>
              <a:rPr lang="en-US" altLang="ko-KR" sz="1400" dirty="0" smtClean="0">
                <a:latin typeface="Georgia" pitchFamily="18" charset="0"/>
              </a:rPr>
            </a:br>
            <a:r>
              <a:rPr lang="en-US" altLang="ko-KR" sz="1400" dirty="0" smtClean="0">
                <a:latin typeface="Georgia" pitchFamily="18" charset="0"/>
              </a:rPr>
              <a:t>3050 </a:t>
            </a:r>
            <a:r>
              <a:rPr lang="ko-KR" altLang="en-US" sz="1400" dirty="0" smtClean="0">
                <a:latin typeface="Georgia" pitchFamily="18" charset="0"/>
              </a:rPr>
              <a:t>여성층의 </a:t>
            </a:r>
            <a:r>
              <a:rPr lang="en-US" altLang="ko-KR" sz="1400" dirty="0" smtClean="0">
                <a:latin typeface="Georgia" pitchFamily="18" charset="0"/>
              </a:rPr>
              <a:t>Needs</a:t>
            </a:r>
            <a:r>
              <a:rPr lang="ko-KR" altLang="en-US" sz="1400" dirty="0" smtClean="0">
                <a:latin typeface="Georgia" pitchFamily="18" charset="0"/>
              </a:rPr>
              <a:t>에 맞는 고가 리모델링 상품 비중이 높아 상대적으로 소비자 선택의 폭이 넓음</a:t>
            </a:r>
            <a:endParaRPr lang="en-US" altLang="ko-KR" sz="1400" dirty="0" smtClean="0">
              <a:latin typeface="Georgia" pitchFamily="18" charset="0"/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="" xmlns:a16="http://schemas.microsoft.com/office/drawing/2014/main" id="{4AA717CE-495C-4F9D-89AB-4344DC3CA7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Source: </a:t>
            </a:r>
            <a:r>
              <a:rPr lang="ko-KR" altLang="en-US" dirty="0" smtClean="0"/>
              <a:t>내부자료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(1) 2</a:t>
            </a:r>
            <a:r>
              <a:rPr lang="ko-KR" altLang="en-US" dirty="0" err="1" smtClean="0"/>
              <a:t>천만원</a:t>
            </a:r>
            <a:r>
              <a:rPr lang="ko-KR" altLang="en-US" dirty="0" smtClean="0"/>
              <a:t> 이상 </a:t>
            </a:r>
            <a:r>
              <a:rPr lang="ko-KR" altLang="en-US" dirty="0" err="1" smtClean="0"/>
              <a:t>리모델링</a:t>
            </a:r>
            <a:r>
              <a:rPr lang="ko-KR" altLang="en-US" dirty="0" smtClean="0"/>
              <a:t> 상품 중 </a:t>
            </a:r>
            <a:r>
              <a:rPr lang="en-US" altLang="ko-KR" dirty="0" smtClean="0"/>
              <a:t>5</a:t>
            </a:r>
            <a:r>
              <a:rPr lang="ko-KR" altLang="en-US" dirty="0" err="1" smtClean="0"/>
              <a:t>천만원</a:t>
            </a:r>
            <a:r>
              <a:rPr lang="ko-KR" altLang="en-US" dirty="0" smtClean="0"/>
              <a:t> 이상 비중</a:t>
            </a:r>
            <a:endParaRPr lang="en-US" altLang="ko-KR" dirty="0" smtClean="0"/>
          </a:p>
        </p:txBody>
      </p:sp>
      <p:sp>
        <p:nvSpPr>
          <p:cNvPr id="34" name="타원 33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dirty="0" smtClean="0">
                <a:latin typeface="+mn-ea"/>
                <a:cs typeface="Arial" pitchFamily="34" charset="0"/>
              </a:rPr>
              <a:t>3-c</a:t>
            </a:r>
          </a:p>
        </p:txBody>
      </p:sp>
      <p:graphicFrame>
        <p:nvGraphicFramePr>
          <p:cNvPr id="18" name="차트 17"/>
          <p:cNvGraphicFramePr/>
          <p:nvPr/>
        </p:nvGraphicFramePr>
        <p:xfrm>
          <a:off x="79357" y="2857496"/>
          <a:ext cx="2786082" cy="3429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차트 21"/>
          <p:cNvGraphicFramePr/>
          <p:nvPr/>
        </p:nvGraphicFramePr>
        <p:xfrm>
          <a:off x="2928926" y="4143380"/>
          <a:ext cx="2571768" cy="1928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차트 24"/>
          <p:cNvGraphicFramePr/>
          <p:nvPr/>
        </p:nvGraphicFramePr>
        <p:xfrm>
          <a:off x="5500694" y="2786058"/>
          <a:ext cx="3000396" cy="1571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모서리가 둥근 직사각형 83">
            <a:extLst>
              <a:ext uri="{FF2B5EF4-FFF2-40B4-BE49-F238E27FC236}">
                <a16:creationId xmlns="" xmlns:a16="http://schemas.microsoft.com/office/drawing/2014/main" id="{D543DA7D-CD0D-429F-9DD4-76563967BB7E}"/>
              </a:ext>
            </a:extLst>
          </p:cNvPr>
          <p:cNvSpPr/>
          <p:nvPr/>
        </p:nvSpPr>
        <p:spPr>
          <a:xfrm>
            <a:off x="5500694" y="4429132"/>
            <a:ext cx="3141899" cy="167216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18288" rIns="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7313" indent="-3175">
              <a:spcAft>
                <a:spcPts val="600"/>
              </a:spcAft>
              <a:buFont typeface="Arial" pitchFamily="34" charset="0"/>
              <a:buChar char="•"/>
            </a:pPr>
            <a:r>
              <a:rPr lang="en-US" altLang="ko-KR" sz="1200" dirty="0" smtClean="0">
                <a:latin typeface="Georgia" pitchFamily="18" charset="0"/>
              </a:rPr>
              <a:t> Target</a:t>
            </a:r>
            <a:r>
              <a:rPr lang="ko-KR" altLang="en-US" sz="1200" dirty="0" smtClean="0">
                <a:latin typeface="Georgia" pitchFamily="18" charset="0"/>
              </a:rPr>
              <a:t>의 리모델링 업체 수는 경쟁사 대비 </a:t>
            </a:r>
            <a:r>
              <a:rPr lang="en-US" altLang="ko-KR" sz="1200" dirty="0" smtClean="0">
                <a:latin typeface="Georgia" pitchFamily="18" charset="0"/>
              </a:rPr>
              <a:t/>
            </a:r>
            <a:br>
              <a:rPr lang="en-US" altLang="ko-KR" sz="1200" dirty="0" smtClean="0">
                <a:latin typeface="Georgia" pitchFamily="18" charset="0"/>
              </a:rPr>
            </a:br>
            <a:r>
              <a:rPr lang="en-US" altLang="ko-KR" sz="1200" dirty="0" smtClean="0">
                <a:latin typeface="Georgia" pitchFamily="18" charset="0"/>
              </a:rPr>
              <a:t>  </a:t>
            </a:r>
            <a:r>
              <a:rPr lang="ko-KR" altLang="en-US" sz="1200" dirty="0" smtClean="0">
                <a:latin typeface="Georgia" pitchFamily="18" charset="0"/>
              </a:rPr>
              <a:t>다소 적은 편이나</a:t>
            </a:r>
            <a:r>
              <a:rPr lang="en-US" altLang="ko-KR" sz="1200" dirty="0" smtClean="0">
                <a:latin typeface="Georgia" pitchFamily="18" charset="0"/>
              </a:rPr>
              <a:t>, </a:t>
            </a:r>
            <a:r>
              <a:rPr lang="ko-KR" altLang="en-US" sz="1200" dirty="0" smtClean="0">
                <a:latin typeface="Georgia" pitchFamily="18" charset="0"/>
              </a:rPr>
              <a:t>업체당 </a:t>
            </a:r>
            <a:r>
              <a:rPr lang="en-US" altLang="ko-KR" sz="1200" dirty="0" smtClean="0">
                <a:latin typeface="Georgia" pitchFamily="18" charset="0"/>
              </a:rPr>
              <a:t>20</a:t>
            </a:r>
            <a:r>
              <a:rPr lang="ko-KR" altLang="en-US" sz="1200" dirty="0" smtClean="0">
                <a:latin typeface="Georgia" pitchFamily="18" charset="0"/>
              </a:rPr>
              <a:t>개 이상의  </a:t>
            </a:r>
            <a:r>
              <a:rPr lang="en-US" altLang="ko-KR" sz="1200" dirty="0" smtClean="0">
                <a:latin typeface="Georgia" pitchFamily="18" charset="0"/>
              </a:rPr>
              <a:t/>
            </a:r>
            <a:br>
              <a:rPr lang="en-US" altLang="ko-KR" sz="1200" dirty="0" smtClean="0">
                <a:latin typeface="Georgia" pitchFamily="18" charset="0"/>
              </a:rPr>
            </a:br>
            <a:r>
              <a:rPr lang="en-US" altLang="ko-KR" sz="1200" dirty="0" smtClean="0">
                <a:latin typeface="Georgia" pitchFamily="18" charset="0"/>
              </a:rPr>
              <a:t>  </a:t>
            </a:r>
            <a:r>
              <a:rPr lang="ko-KR" altLang="en-US" sz="1200" dirty="0" smtClean="0">
                <a:latin typeface="Georgia" pitchFamily="18" charset="0"/>
              </a:rPr>
              <a:t>포트폴리오를 업로드 </a:t>
            </a:r>
            <a:r>
              <a:rPr lang="ko-KR" altLang="en-US" sz="1200" dirty="0" smtClean="0">
                <a:latin typeface="Georgia" pitchFamily="18" charset="0"/>
                <a:sym typeface="Wingdings 3"/>
              </a:rPr>
              <a:t> </a:t>
            </a:r>
            <a:r>
              <a:rPr lang="ko-KR" altLang="en-US" sz="1200" b="1" dirty="0" smtClean="0">
                <a:latin typeface="Georgia" pitchFamily="18" charset="0"/>
                <a:sym typeface="Wingdings 3"/>
              </a:rPr>
              <a:t>총</a:t>
            </a:r>
            <a:r>
              <a:rPr lang="ko-KR" altLang="en-US" sz="1200" b="1" dirty="0" smtClean="0">
                <a:latin typeface="Georgia" pitchFamily="18" charset="0"/>
              </a:rPr>
              <a:t> </a:t>
            </a:r>
            <a:r>
              <a:rPr lang="en-US" altLang="ko-KR" sz="1200" b="1" dirty="0" smtClean="0">
                <a:latin typeface="Georgia" pitchFamily="18" charset="0"/>
              </a:rPr>
              <a:t>4</a:t>
            </a:r>
            <a:r>
              <a:rPr lang="ko-KR" altLang="en-US" sz="1200" b="1" dirty="0" smtClean="0">
                <a:latin typeface="Georgia" pitchFamily="18" charset="0"/>
              </a:rPr>
              <a:t>천 개 이상의 </a:t>
            </a:r>
            <a:r>
              <a:rPr lang="en-US" altLang="ko-KR" sz="1200" b="1" dirty="0" smtClean="0">
                <a:latin typeface="Georgia" pitchFamily="18" charset="0"/>
              </a:rPr>
              <a:t/>
            </a:r>
            <a:br>
              <a:rPr lang="en-US" altLang="ko-KR" sz="1200" b="1" dirty="0" smtClean="0">
                <a:latin typeface="Georgia" pitchFamily="18" charset="0"/>
              </a:rPr>
            </a:br>
            <a:r>
              <a:rPr lang="en-US" altLang="ko-KR" sz="1200" b="1" dirty="0" smtClean="0">
                <a:latin typeface="Georgia" pitchFamily="18" charset="0"/>
              </a:rPr>
              <a:t>  </a:t>
            </a:r>
            <a:r>
              <a:rPr lang="ko-KR" altLang="en-US" sz="1200" b="1" dirty="0" smtClean="0">
                <a:latin typeface="Georgia" pitchFamily="18" charset="0"/>
              </a:rPr>
              <a:t>포트폴리오 보유</a:t>
            </a:r>
            <a:r>
              <a:rPr lang="en-US" altLang="ko-KR" sz="1200" dirty="0" smtClean="0">
                <a:latin typeface="Georgia" pitchFamily="18" charset="0"/>
              </a:rPr>
              <a:t> </a:t>
            </a:r>
            <a:r>
              <a:rPr lang="en-US" altLang="ko-KR" sz="1200" b="1" dirty="0" smtClean="0">
                <a:latin typeface="Georgia" pitchFamily="18" charset="0"/>
              </a:rPr>
              <a:t>(</a:t>
            </a:r>
            <a:r>
              <a:rPr lang="ko-KR" altLang="en-US" sz="1200" b="1" dirty="0" smtClean="0">
                <a:latin typeface="Georgia" pitchFamily="18" charset="0"/>
              </a:rPr>
              <a:t>경쟁사 대비 </a:t>
            </a:r>
            <a:r>
              <a:rPr lang="en-US" altLang="ko-KR" sz="1200" b="1" dirty="0" smtClean="0">
                <a:latin typeface="Georgia" pitchFamily="18" charset="0"/>
              </a:rPr>
              <a:t>2.6</a:t>
            </a:r>
            <a:r>
              <a:rPr lang="ko-KR" altLang="en-US" sz="1200" b="1" dirty="0" smtClean="0">
                <a:latin typeface="Georgia" pitchFamily="18" charset="0"/>
              </a:rPr>
              <a:t>배</a:t>
            </a:r>
            <a:r>
              <a:rPr lang="en-US" altLang="ko-KR" sz="1200" b="1" dirty="0" smtClean="0">
                <a:latin typeface="Georgia" pitchFamily="18" charset="0"/>
              </a:rPr>
              <a:t>)</a:t>
            </a:r>
          </a:p>
          <a:p>
            <a:pPr marL="87313" indent="-3175">
              <a:spcAft>
                <a:spcPts val="600"/>
              </a:spcAft>
              <a:buFont typeface="Arial" pitchFamily="34" charset="0"/>
              <a:buChar char="•"/>
            </a:pPr>
            <a:r>
              <a:rPr lang="en-US" altLang="ko-KR" sz="1200" dirty="0" smtClean="0">
                <a:latin typeface="Georgia" pitchFamily="18" charset="0"/>
              </a:rPr>
              <a:t> </a:t>
            </a:r>
            <a:r>
              <a:rPr lang="ko-KR" altLang="en-US" sz="1200" dirty="0" smtClean="0">
                <a:latin typeface="Georgia" pitchFamily="18" charset="0"/>
              </a:rPr>
              <a:t>상대적으로 </a:t>
            </a:r>
            <a:r>
              <a:rPr lang="ko-KR" altLang="en-US" sz="1200" b="1" dirty="0" smtClean="0">
                <a:latin typeface="Georgia" pitchFamily="18" charset="0"/>
              </a:rPr>
              <a:t>높은 비중의 프리미엄 상품을 </a:t>
            </a:r>
            <a:r>
              <a:rPr lang="en-US" altLang="ko-KR" sz="1200" b="1" dirty="0" smtClean="0">
                <a:latin typeface="Georgia" pitchFamily="18" charset="0"/>
              </a:rPr>
              <a:t/>
            </a:r>
            <a:br>
              <a:rPr lang="en-US" altLang="ko-KR" sz="1200" b="1" dirty="0" smtClean="0">
                <a:latin typeface="Georgia" pitchFamily="18" charset="0"/>
              </a:rPr>
            </a:br>
            <a:r>
              <a:rPr lang="en-US" altLang="ko-KR" sz="1200" b="1" dirty="0" smtClean="0">
                <a:latin typeface="Georgia" pitchFamily="18" charset="0"/>
              </a:rPr>
              <a:t>  </a:t>
            </a:r>
            <a:r>
              <a:rPr lang="ko-KR" altLang="en-US" sz="1200" b="1" dirty="0" smtClean="0">
                <a:latin typeface="Georgia" pitchFamily="18" charset="0"/>
              </a:rPr>
              <a:t>보유</a:t>
            </a:r>
            <a:r>
              <a:rPr lang="ko-KR" altLang="en-US" sz="1200" dirty="0" smtClean="0">
                <a:latin typeface="Georgia" pitchFamily="18" charset="0"/>
              </a:rPr>
              <a:t>하여 </a:t>
            </a:r>
            <a:r>
              <a:rPr lang="en-US" altLang="ko-KR" sz="1200" b="1" dirty="0" smtClean="0">
                <a:latin typeface="Georgia" pitchFamily="18" charset="0"/>
              </a:rPr>
              <a:t>3050 </a:t>
            </a:r>
            <a:r>
              <a:rPr lang="ko-KR" altLang="en-US" sz="1200" b="1" dirty="0" smtClean="0">
                <a:latin typeface="Georgia" pitchFamily="18" charset="0"/>
              </a:rPr>
              <a:t>핵심 사용자들의 </a:t>
            </a:r>
            <a:r>
              <a:rPr lang="en-US" altLang="ko-KR" sz="1200" b="1" dirty="0" smtClean="0">
                <a:latin typeface="Georgia" pitchFamily="18" charset="0"/>
              </a:rPr>
              <a:t>Needs</a:t>
            </a:r>
            <a:r>
              <a:rPr lang="ko-KR" altLang="en-US" sz="1200" b="1" dirty="0" smtClean="0">
                <a:latin typeface="Georgia" pitchFamily="18" charset="0"/>
              </a:rPr>
              <a:t>를 </a:t>
            </a:r>
            <a:r>
              <a:rPr lang="en-US" altLang="ko-KR" sz="1200" b="1" dirty="0" smtClean="0">
                <a:latin typeface="Georgia" pitchFamily="18" charset="0"/>
              </a:rPr>
              <a:t/>
            </a:r>
            <a:br>
              <a:rPr lang="en-US" altLang="ko-KR" sz="1200" b="1" dirty="0" smtClean="0">
                <a:latin typeface="Georgia" pitchFamily="18" charset="0"/>
              </a:rPr>
            </a:br>
            <a:r>
              <a:rPr lang="en-US" altLang="ko-KR" sz="1200" b="1" dirty="0" smtClean="0">
                <a:latin typeface="Georgia" pitchFamily="18" charset="0"/>
              </a:rPr>
              <a:t>  </a:t>
            </a:r>
            <a:r>
              <a:rPr lang="ko-KR" altLang="en-US" sz="1200" b="1" dirty="0" smtClean="0">
                <a:latin typeface="Georgia" pitchFamily="18" charset="0"/>
              </a:rPr>
              <a:t>충족시키기에 적합함</a:t>
            </a:r>
            <a:r>
              <a:rPr lang="ko-KR" altLang="en-US" sz="1200" dirty="0" smtClean="0">
                <a:latin typeface="Georgia" pitchFamily="18" charset="0"/>
              </a:rPr>
              <a:t> </a:t>
            </a:r>
            <a:endParaRPr lang="en-US" altLang="ko-KR" sz="1200" dirty="0" smtClean="0">
              <a:latin typeface="Georgia" pitchFamily="18" charset="0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331801" y="2714620"/>
            <a:ext cx="2556000" cy="3357586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29" name="직사각형 28"/>
          <p:cNvSpPr/>
          <p:nvPr/>
        </p:nvSpPr>
        <p:spPr bwMode="auto">
          <a:xfrm>
            <a:off x="331801" y="2357430"/>
            <a:ext cx="2556000" cy="3571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200" b="1" kern="0" dirty="0" smtClean="0">
                <a:solidFill>
                  <a:srgbClr val="000000"/>
                </a:solidFill>
                <a:ea typeface="맑은 고딕" pitchFamily="50" charset="-127"/>
              </a:rPr>
              <a:t>총 포트폴리오 수</a:t>
            </a:r>
          </a:p>
        </p:txBody>
      </p:sp>
      <p:sp>
        <p:nvSpPr>
          <p:cNvPr id="32" name="직사각형 31"/>
          <p:cNvSpPr/>
          <p:nvPr/>
        </p:nvSpPr>
        <p:spPr bwMode="auto">
          <a:xfrm>
            <a:off x="2890161" y="2357430"/>
            <a:ext cx="2412000" cy="3571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200" b="1" kern="0" dirty="0" err="1" smtClean="0">
                <a:solidFill>
                  <a:srgbClr val="000000"/>
                </a:solidFill>
                <a:ea typeface="맑은 고딕" pitchFamily="50" charset="-127"/>
              </a:rPr>
              <a:t>리모델링</a:t>
            </a:r>
            <a:r>
              <a:rPr lang="ko-KR" altLang="en-US" sz="1200" b="1" kern="0" dirty="0" smtClean="0">
                <a:solidFill>
                  <a:srgbClr val="000000"/>
                </a:solidFill>
                <a:ea typeface="맑은 고딕" pitchFamily="50" charset="-127"/>
              </a:rPr>
              <a:t> 업체 수</a:t>
            </a:r>
          </a:p>
        </p:txBody>
      </p:sp>
      <p:sp>
        <p:nvSpPr>
          <p:cNvPr id="33" name="직사각형 32"/>
          <p:cNvSpPr/>
          <p:nvPr/>
        </p:nvSpPr>
        <p:spPr bwMode="auto">
          <a:xfrm>
            <a:off x="2890161" y="2714620"/>
            <a:ext cx="2412000" cy="1500198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auto">
          <a:xfrm>
            <a:off x="2890161" y="4214818"/>
            <a:ext cx="2412000" cy="3571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200" b="1" kern="0" dirty="0" smtClean="0">
                <a:solidFill>
                  <a:srgbClr val="000000"/>
                </a:solidFill>
                <a:ea typeface="맑은 고딕" pitchFamily="50" charset="-127"/>
              </a:rPr>
              <a:t>업체당 포트폴리오 업로드 수</a:t>
            </a:r>
          </a:p>
        </p:txBody>
      </p:sp>
      <p:sp>
        <p:nvSpPr>
          <p:cNvPr id="40" name="직사각형 39"/>
          <p:cNvSpPr/>
          <p:nvPr/>
        </p:nvSpPr>
        <p:spPr bwMode="auto">
          <a:xfrm>
            <a:off x="2890161" y="4572008"/>
            <a:ext cx="2412000" cy="1500198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graphicFrame>
        <p:nvGraphicFramePr>
          <p:cNvPr id="19" name="차트 18"/>
          <p:cNvGraphicFramePr/>
          <p:nvPr/>
        </p:nvGraphicFramePr>
        <p:xfrm>
          <a:off x="2786050" y="2714620"/>
          <a:ext cx="2402719" cy="1428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3" name="직사각형 42"/>
          <p:cNvSpPr/>
          <p:nvPr/>
        </p:nvSpPr>
        <p:spPr bwMode="auto">
          <a:xfrm>
            <a:off x="5495196" y="2357430"/>
            <a:ext cx="3147646" cy="3571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200" b="1" u="sng" dirty="0" smtClean="0">
                <a:latin typeface="Georgia" pitchFamily="18" charset="0"/>
              </a:rPr>
              <a:t>고가 </a:t>
            </a:r>
            <a:r>
              <a:rPr lang="ko-KR" altLang="en-US" sz="1200" b="1" u="sng" dirty="0" err="1" smtClean="0">
                <a:latin typeface="Georgia" pitchFamily="18" charset="0"/>
              </a:rPr>
              <a:t>리모델링</a:t>
            </a:r>
            <a:r>
              <a:rPr lang="ko-KR" altLang="en-US" sz="1200" b="1" u="sng" dirty="0" smtClean="0">
                <a:latin typeface="Georgia" pitchFamily="18" charset="0"/>
              </a:rPr>
              <a:t> 상품 비중</a:t>
            </a:r>
            <a:r>
              <a:rPr lang="en-US" altLang="ko-KR" sz="1200" b="1" baseline="30000" dirty="0" smtClean="0">
                <a:latin typeface="Georgia" pitchFamily="18" charset="0"/>
              </a:rPr>
              <a:t>(1)</a:t>
            </a:r>
            <a:endParaRPr lang="ko-KR" altLang="en-US" sz="1200" b="1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5492743" y="2714620"/>
            <a:ext cx="3147646" cy="1643074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31" name="직사각형 30"/>
          <p:cNvSpPr/>
          <p:nvPr/>
        </p:nvSpPr>
        <p:spPr bwMode="ltGray">
          <a:xfrm>
            <a:off x="1805833" y="3143248"/>
            <a:ext cx="818133" cy="25603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  <p:sp>
        <p:nvSpPr>
          <p:cNvPr id="35" name="직사각형 34"/>
          <p:cNvSpPr/>
          <p:nvPr/>
        </p:nvSpPr>
        <p:spPr bwMode="ltGray">
          <a:xfrm>
            <a:off x="7259485" y="2866549"/>
            <a:ext cx="818133" cy="104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  <p:sp>
        <p:nvSpPr>
          <p:cNvPr id="36" name="직사각형 35"/>
          <p:cNvSpPr/>
          <p:nvPr/>
        </p:nvSpPr>
        <p:spPr bwMode="ltGray">
          <a:xfrm>
            <a:off x="4286248" y="4671016"/>
            <a:ext cx="818133" cy="104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</p:spTree>
    <p:extLst>
      <p:ext uri="{BB962C8B-B14F-4D97-AF65-F5344CB8AC3E}">
        <p14:creationId xmlns="" xmlns:p14="http://schemas.microsoft.com/office/powerpoint/2010/main" val="112148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err="1" smtClean="0"/>
              <a:t>성공경험이</a:t>
            </a:r>
            <a:r>
              <a:rPr lang="ko-KR" altLang="en-US" dirty="0" smtClean="0"/>
              <a:t> </a:t>
            </a:r>
            <a:r>
              <a:rPr lang="ko-KR" altLang="en-US" dirty="0"/>
              <a:t>이식된 차별화된 사업구조 </a:t>
            </a:r>
            <a:r>
              <a:rPr lang="ko-KR" altLang="en-US" dirty="0" smtClean="0"/>
              <a:t>구축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리모델링</a:t>
            </a:r>
            <a:endParaRPr lang="en-US" altLang="ko-KR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err="1" smtClean="0"/>
              <a:t>리모델링</a:t>
            </a:r>
            <a:r>
              <a:rPr lang="ko-KR" altLang="en-US" dirty="0" smtClean="0"/>
              <a:t> 서비스의 단기 성과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51519" y="1844519"/>
            <a:ext cx="5328593" cy="393709"/>
            <a:chOff x="251520" y="1844520"/>
            <a:chExt cx="4112668" cy="287716"/>
          </a:xfrm>
        </p:grpSpPr>
        <p:cxnSp>
          <p:nvCxnSpPr>
            <p:cNvPr id="23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altLang="ko-KR" sz="1200" b="1" dirty="0" smtClean="0">
                  <a:latin typeface="Georgia" pitchFamily="18" charset="0"/>
                </a:rPr>
                <a:t>Target </a:t>
              </a:r>
              <a:r>
                <a:rPr lang="ko-KR" altLang="en-US" sz="1200" b="1" dirty="0" err="1" smtClean="0">
                  <a:latin typeface="Georgia" pitchFamily="18" charset="0"/>
                </a:rPr>
                <a:t>리모델링</a:t>
              </a:r>
              <a:r>
                <a:rPr lang="ko-KR" altLang="en-US" sz="1200" b="1" dirty="0" smtClean="0">
                  <a:latin typeface="Georgia" pitchFamily="18" charset="0"/>
                </a:rPr>
                <a:t> 사업 현황</a:t>
              </a:r>
              <a:endParaRPr lang="en-US" sz="1200" b="1" dirty="0">
                <a:latin typeface="Georgia" pitchFamily="18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B7CEE65-8982-4EC4-8A36-7A2EADA27B28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400" dirty="0" smtClean="0">
                <a:latin typeface="Georgia" pitchFamily="18" charset="0"/>
              </a:rPr>
              <a:t>’18</a:t>
            </a:r>
            <a:r>
              <a:rPr lang="ko-KR" altLang="en-US" sz="1400" dirty="0" smtClean="0">
                <a:latin typeface="Georgia" pitchFamily="18" charset="0"/>
              </a:rPr>
              <a:t>년 </a:t>
            </a:r>
            <a:r>
              <a:rPr lang="ko-KR" altLang="en-US" sz="1400" dirty="0" err="1" smtClean="0">
                <a:latin typeface="Georgia" pitchFamily="18" charset="0"/>
              </a:rPr>
              <a:t>리모델링</a:t>
            </a:r>
            <a:r>
              <a:rPr lang="ko-KR" altLang="en-US" sz="1400" dirty="0" smtClean="0">
                <a:latin typeface="Georgia" pitchFamily="18" charset="0"/>
              </a:rPr>
              <a:t> 서비스 신규 </a:t>
            </a:r>
            <a:r>
              <a:rPr lang="ko-KR" altLang="en-US" sz="1400" dirty="0" err="1" smtClean="0">
                <a:latin typeface="Georgia" pitchFamily="18" charset="0"/>
              </a:rPr>
              <a:t>런칭</a:t>
            </a:r>
            <a:r>
              <a:rPr lang="ko-KR" altLang="en-US" sz="1400" dirty="0" smtClean="0">
                <a:latin typeface="Georgia" pitchFamily="18" charset="0"/>
              </a:rPr>
              <a:t> 이후</a:t>
            </a:r>
            <a:r>
              <a:rPr lang="en-US" altLang="ko-KR" sz="1400" dirty="0" smtClean="0">
                <a:latin typeface="Georgia" pitchFamily="18" charset="0"/>
              </a:rPr>
              <a:t>, </a:t>
            </a:r>
            <a:r>
              <a:rPr lang="ko-KR" altLang="en-US" sz="1400" dirty="0" smtClean="0">
                <a:latin typeface="Georgia" pitchFamily="18" charset="0"/>
              </a:rPr>
              <a:t>디자인</a:t>
            </a:r>
            <a:r>
              <a:rPr lang="en-US" altLang="ko-KR" sz="1400" dirty="0" smtClean="0">
                <a:latin typeface="Georgia" pitchFamily="18" charset="0"/>
              </a:rPr>
              <a:t>/</a:t>
            </a:r>
            <a:r>
              <a:rPr lang="ko-KR" altLang="en-US" sz="1400" dirty="0" smtClean="0">
                <a:latin typeface="Georgia" pitchFamily="18" charset="0"/>
              </a:rPr>
              <a:t>시공 업체 </a:t>
            </a:r>
            <a:r>
              <a:rPr lang="en-US" altLang="ko-KR" sz="1400" dirty="0" smtClean="0">
                <a:latin typeface="Georgia" pitchFamily="18" charset="0"/>
              </a:rPr>
              <a:t>200</a:t>
            </a:r>
            <a:r>
              <a:rPr lang="ko-KR" altLang="en-US" sz="1400" dirty="0" err="1" smtClean="0">
                <a:latin typeface="Georgia" pitchFamily="18" charset="0"/>
              </a:rPr>
              <a:t>여개</a:t>
            </a:r>
            <a:r>
              <a:rPr lang="en-US" altLang="ko-KR" sz="1400" dirty="0" smtClean="0">
                <a:latin typeface="Georgia" pitchFamily="18" charset="0"/>
              </a:rPr>
              <a:t>, </a:t>
            </a:r>
            <a:r>
              <a:rPr lang="ko-KR" altLang="en-US" sz="1400" dirty="0" smtClean="0">
                <a:latin typeface="Georgia" pitchFamily="18" charset="0"/>
              </a:rPr>
              <a:t>포트폴리오 약 </a:t>
            </a:r>
            <a:r>
              <a:rPr lang="en-US" altLang="ko-KR" sz="1400" dirty="0" smtClean="0">
                <a:latin typeface="Georgia" pitchFamily="18" charset="0"/>
              </a:rPr>
              <a:t>4,000</a:t>
            </a:r>
            <a:r>
              <a:rPr lang="ko-KR" altLang="en-US" sz="1400" dirty="0" err="1" smtClean="0">
                <a:latin typeface="Georgia" pitchFamily="18" charset="0"/>
              </a:rPr>
              <a:t>여개</a:t>
            </a:r>
            <a:r>
              <a:rPr lang="en-US" altLang="ko-KR" sz="1400" dirty="0" smtClean="0">
                <a:latin typeface="Georgia" pitchFamily="18" charset="0"/>
              </a:rPr>
              <a:t>, </a:t>
            </a:r>
            <a:r>
              <a:rPr lang="ko-KR" altLang="en-US" sz="1400" dirty="0" smtClean="0">
                <a:latin typeface="Georgia" pitchFamily="18" charset="0"/>
              </a:rPr>
              <a:t>월평균 시공 상담 건수 </a:t>
            </a:r>
            <a:r>
              <a:rPr lang="en-US" altLang="ko-KR" sz="1400" dirty="0" smtClean="0">
                <a:latin typeface="Georgia" pitchFamily="18" charset="0"/>
              </a:rPr>
              <a:t>70</a:t>
            </a:r>
            <a:r>
              <a:rPr lang="ko-KR" altLang="en-US" sz="1400" dirty="0" smtClean="0">
                <a:latin typeface="Georgia" pitchFamily="18" charset="0"/>
              </a:rPr>
              <a:t>건</a:t>
            </a:r>
            <a:r>
              <a:rPr lang="en-US" altLang="ko-KR" sz="1400" dirty="0" smtClean="0">
                <a:latin typeface="Georgia" pitchFamily="18" charset="0"/>
              </a:rPr>
              <a:t>(</a:t>
            </a:r>
            <a:r>
              <a:rPr lang="ko-KR" altLang="en-US" sz="1400" dirty="0" smtClean="0">
                <a:latin typeface="Georgia" pitchFamily="18" charset="0"/>
              </a:rPr>
              <a:t>전기 대비 </a:t>
            </a:r>
            <a:r>
              <a:rPr lang="en-US" altLang="ko-KR" sz="1400" dirty="0" smtClean="0">
                <a:latin typeface="Georgia" pitchFamily="18" charset="0"/>
              </a:rPr>
              <a:t>80% </a:t>
            </a:r>
            <a:r>
              <a:rPr lang="ko-KR" altLang="en-US" sz="1400" dirty="0" smtClean="0">
                <a:latin typeface="Georgia" pitchFamily="18" charset="0"/>
              </a:rPr>
              <a:t>상승</a:t>
            </a:r>
            <a:r>
              <a:rPr lang="en-US" altLang="ko-KR" sz="1400" dirty="0" smtClean="0">
                <a:latin typeface="Georgia" pitchFamily="18" charset="0"/>
              </a:rPr>
              <a:t>) </a:t>
            </a:r>
            <a:r>
              <a:rPr lang="ko-KR" altLang="en-US" sz="1400" dirty="0" smtClean="0">
                <a:latin typeface="Georgia" pitchFamily="18" charset="0"/>
              </a:rPr>
              <a:t>등의 괄목할 만한 성과를 실현하고 있음</a:t>
            </a:r>
            <a:endParaRPr lang="en-US" sz="1400" dirty="0">
              <a:latin typeface="Georgia" pitchFamily="18" charset="0"/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="" xmlns:a16="http://schemas.microsoft.com/office/drawing/2014/main" id="{4AA717CE-495C-4F9D-89AB-4344DC3CA7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Source: </a:t>
            </a:r>
            <a:r>
              <a:rPr lang="ko-KR" altLang="en-US" dirty="0" smtClean="0"/>
              <a:t>내부자료</a:t>
            </a:r>
            <a:endParaRPr lang="ko-KR" altLang="en-US" dirty="0"/>
          </a:p>
        </p:txBody>
      </p:sp>
      <p:grpSp>
        <p:nvGrpSpPr>
          <p:cNvPr id="32" name="그룹 31"/>
          <p:cNvGrpSpPr/>
          <p:nvPr/>
        </p:nvGrpSpPr>
        <p:grpSpPr>
          <a:xfrm>
            <a:off x="6156176" y="1844519"/>
            <a:ext cx="2719726" cy="393709"/>
            <a:chOff x="251520" y="1844520"/>
            <a:chExt cx="4112668" cy="287716"/>
          </a:xfrm>
        </p:grpSpPr>
        <p:cxnSp>
          <p:nvCxnSpPr>
            <p:cNvPr id="33" name="Straight Connector 11">
              <a:extLst>
                <a:ext uri="{FF2B5EF4-FFF2-40B4-BE49-F238E27FC236}">
                  <a16:creationId xmlns="" xmlns:a16="http://schemas.microsoft.com/office/drawing/2014/main" id="{3B6A61AC-63AA-4976-8682-2927105DFBE1}"/>
                </a:ext>
              </a:extLst>
            </p:cNvPr>
            <p:cNvCxnSpPr/>
            <p:nvPr/>
          </p:nvCxnSpPr>
          <p:spPr>
            <a:xfrm>
              <a:off x="251520" y="2124472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DA75A2FE-A48B-45B2-92BD-4971392A1E87}"/>
                </a:ext>
              </a:extLst>
            </p:cNvPr>
            <p:cNvSpPr txBox="1"/>
            <p:nvPr/>
          </p:nvSpPr>
          <p:spPr>
            <a:xfrm>
              <a:off x="253855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altLang="ko-KR" sz="1200" b="1" dirty="0" smtClean="0">
                  <a:latin typeface="Georgia" pitchFamily="18" charset="0"/>
                </a:rPr>
                <a:t>Target </a:t>
              </a:r>
              <a:r>
                <a:rPr lang="ko-KR" altLang="en-US" sz="1200" b="1" dirty="0" err="1" smtClean="0">
                  <a:latin typeface="Georgia" pitchFamily="18" charset="0"/>
                </a:rPr>
                <a:t>리모델링</a:t>
              </a:r>
              <a:r>
                <a:rPr lang="ko-KR" altLang="en-US" sz="1200" b="1" dirty="0" smtClean="0">
                  <a:latin typeface="Georgia" pitchFamily="18" charset="0"/>
                </a:rPr>
                <a:t> 사업 성과</a:t>
              </a:r>
              <a:endParaRPr lang="en-US" sz="1200" b="1" dirty="0">
                <a:latin typeface="Georgia" pitchFamily="18" charset="0"/>
              </a:endParaRPr>
            </a:p>
          </p:txBody>
        </p:sp>
      </p:grpSp>
      <p:sp>
        <p:nvSpPr>
          <p:cNvPr id="45" name="모서리가 둥근 직사각형 83">
            <a:extLst>
              <a:ext uri="{FF2B5EF4-FFF2-40B4-BE49-F238E27FC236}">
                <a16:creationId xmlns="" xmlns:a16="http://schemas.microsoft.com/office/drawing/2014/main" id="{7925FB43-25E4-41BD-8FC1-FACB1DF2546D}"/>
              </a:ext>
            </a:extLst>
          </p:cNvPr>
          <p:cNvSpPr/>
          <p:nvPr/>
        </p:nvSpPr>
        <p:spPr>
          <a:xfrm>
            <a:off x="6219041" y="4622916"/>
            <a:ext cx="2520278" cy="49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8900">
              <a:spcAft>
                <a:spcPts val="600"/>
              </a:spcAft>
            </a:pPr>
            <a:r>
              <a:rPr lang="ko-KR" altLang="en-US" sz="1200" dirty="0" smtClean="0">
                <a:latin typeface="Georgia" pitchFamily="18" charset="0"/>
              </a:rPr>
              <a:t>월평균 약 </a:t>
            </a:r>
            <a:r>
              <a:rPr lang="en-US" altLang="ko-KR" sz="1200" dirty="0" smtClean="0">
                <a:latin typeface="Georgia" pitchFamily="18" charset="0"/>
              </a:rPr>
              <a:t>70</a:t>
            </a:r>
            <a:r>
              <a:rPr lang="ko-KR" altLang="en-US" sz="1200" dirty="0" smtClean="0">
                <a:latin typeface="Georgia" pitchFamily="18" charset="0"/>
              </a:rPr>
              <a:t>건의 시공 상담 요청이 발생하여 전년 대비 </a:t>
            </a:r>
            <a:r>
              <a:rPr lang="en-US" altLang="ko-KR" sz="1200" dirty="0" smtClean="0">
                <a:latin typeface="Georgia" pitchFamily="18" charset="0"/>
              </a:rPr>
              <a:t>80% </a:t>
            </a:r>
            <a:r>
              <a:rPr lang="ko-KR" altLang="en-US" sz="1200" dirty="0" smtClean="0">
                <a:latin typeface="Georgia" pitchFamily="18" charset="0"/>
              </a:rPr>
              <a:t>이상 증가</a:t>
            </a:r>
            <a:endParaRPr lang="en-US" altLang="ko-KR" sz="1200" dirty="0">
              <a:latin typeface="Georgia" pitchFamily="18" charset="0"/>
            </a:endParaRPr>
          </a:p>
        </p:txBody>
      </p:sp>
      <p:sp>
        <p:nvSpPr>
          <p:cNvPr id="46" name="직사각형 45"/>
          <p:cNvSpPr/>
          <p:nvPr/>
        </p:nvSpPr>
        <p:spPr bwMode="ltGray">
          <a:xfrm>
            <a:off x="6219041" y="2345290"/>
            <a:ext cx="1260000" cy="28800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dirty="0" smtClean="0">
                <a:solidFill>
                  <a:schemeClr val="tx1"/>
                </a:solidFill>
              </a:rPr>
              <a:t>디자이너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업체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 bwMode="ltGray">
          <a:xfrm>
            <a:off x="6219041" y="3313452"/>
            <a:ext cx="1260000" cy="28800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dirty="0" smtClean="0">
                <a:solidFill>
                  <a:schemeClr val="tx1"/>
                </a:solidFill>
              </a:rPr>
              <a:t>포트폴리오 수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 bwMode="ltGray">
          <a:xfrm>
            <a:off x="6219041" y="4269257"/>
            <a:ext cx="1260000" cy="28800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dirty="0" smtClean="0">
                <a:solidFill>
                  <a:schemeClr val="tx1"/>
                </a:solidFill>
              </a:rPr>
              <a:t>누적 상담 건수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 bwMode="ltGray">
          <a:xfrm>
            <a:off x="7521675" y="2276872"/>
            <a:ext cx="1217645" cy="41847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400" b="1" dirty="0" smtClean="0">
                <a:solidFill>
                  <a:schemeClr val="tx1"/>
                </a:solidFill>
              </a:rPr>
              <a:t>약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190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개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65" name="직사각형 64"/>
          <p:cNvSpPr/>
          <p:nvPr/>
        </p:nvSpPr>
        <p:spPr bwMode="ltGray">
          <a:xfrm>
            <a:off x="7521674" y="3245532"/>
            <a:ext cx="1217645" cy="41847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400" b="1" dirty="0" smtClean="0">
                <a:solidFill>
                  <a:schemeClr val="tx1"/>
                </a:solidFill>
              </a:rPr>
              <a:t>약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4,300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개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 bwMode="ltGray">
          <a:xfrm>
            <a:off x="7521674" y="4194829"/>
            <a:ext cx="1217645" cy="41847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</a:rPr>
              <a:t>1,326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건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69" name="모서리가 둥근 직사각형 83">
            <a:extLst>
              <a:ext uri="{FF2B5EF4-FFF2-40B4-BE49-F238E27FC236}">
                <a16:creationId xmlns="" xmlns:a16="http://schemas.microsoft.com/office/drawing/2014/main" id="{7925FB43-25E4-41BD-8FC1-FACB1DF2546D}"/>
              </a:ext>
            </a:extLst>
          </p:cNvPr>
          <p:cNvSpPr/>
          <p:nvPr/>
        </p:nvSpPr>
        <p:spPr>
          <a:xfrm>
            <a:off x="6219041" y="3655252"/>
            <a:ext cx="2520278" cy="49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8900">
              <a:spcAft>
                <a:spcPts val="600"/>
              </a:spcAft>
            </a:pPr>
            <a:r>
              <a:rPr lang="ko-KR" altLang="en-US" sz="1200" dirty="0" smtClean="0">
                <a:latin typeface="Georgia" pitchFamily="18" charset="0"/>
              </a:rPr>
              <a:t>지역</a:t>
            </a:r>
            <a:r>
              <a:rPr lang="en-US" altLang="ko-KR" sz="1200" dirty="0" smtClean="0">
                <a:latin typeface="Georgia" pitchFamily="18" charset="0"/>
              </a:rPr>
              <a:t>/</a:t>
            </a:r>
            <a:r>
              <a:rPr lang="ko-KR" altLang="en-US" sz="1200" dirty="0" smtClean="0">
                <a:latin typeface="Georgia" pitchFamily="18" charset="0"/>
              </a:rPr>
              <a:t>단지별 시공 포트폴리오 구조화 하여 검색 용이</a:t>
            </a:r>
            <a:endParaRPr lang="en-US" altLang="ko-KR" sz="1200" dirty="0">
              <a:latin typeface="Georgia" pitchFamily="18" charset="0"/>
            </a:endParaRPr>
          </a:p>
        </p:txBody>
      </p:sp>
      <p:sp>
        <p:nvSpPr>
          <p:cNvPr id="70" name="모서리가 둥근 직사각형 83">
            <a:extLst>
              <a:ext uri="{FF2B5EF4-FFF2-40B4-BE49-F238E27FC236}">
                <a16:creationId xmlns="" xmlns:a16="http://schemas.microsoft.com/office/drawing/2014/main" id="{7925FB43-25E4-41BD-8FC1-FACB1DF2546D}"/>
              </a:ext>
            </a:extLst>
          </p:cNvPr>
          <p:cNvSpPr/>
          <p:nvPr/>
        </p:nvSpPr>
        <p:spPr>
          <a:xfrm>
            <a:off x="6219041" y="2681160"/>
            <a:ext cx="2520278" cy="49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8900">
              <a:spcAft>
                <a:spcPts val="600"/>
              </a:spcAft>
            </a:pPr>
            <a:r>
              <a:rPr lang="ko-KR" altLang="en-US" sz="1200" dirty="0" smtClean="0">
                <a:latin typeface="Georgia" pitchFamily="18" charset="0"/>
              </a:rPr>
              <a:t>아파트</a:t>
            </a:r>
            <a:r>
              <a:rPr lang="en-US" altLang="ko-KR" sz="1200" dirty="0" smtClean="0">
                <a:latin typeface="Georgia" pitchFamily="18" charset="0"/>
              </a:rPr>
              <a:t>, </a:t>
            </a:r>
            <a:r>
              <a:rPr lang="ko-KR" altLang="en-US" sz="1200" dirty="0" smtClean="0">
                <a:latin typeface="Georgia" pitchFamily="18" charset="0"/>
              </a:rPr>
              <a:t>고급주택 타겟의 프리미엄 디자이너 업체 중심</a:t>
            </a:r>
            <a:endParaRPr lang="en-US" altLang="ko-KR" sz="1200" dirty="0">
              <a:latin typeface="Georgia" pitchFamily="18" charset="0"/>
            </a:endParaRPr>
          </a:p>
        </p:txBody>
      </p:sp>
      <p:sp>
        <p:nvSpPr>
          <p:cNvPr id="71" name="직사각형 70"/>
          <p:cNvSpPr/>
          <p:nvPr/>
        </p:nvSpPr>
        <p:spPr bwMode="ltGray">
          <a:xfrm>
            <a:off x="6219041" y="5273209"/>
            <a:ext cx="1260000" cy="28800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dirty="0" smtClean="0">
                <a:solidFill>
                  <a:schemeClr val="tx1"/>
                </a:solidFill>
              </a:rPr>
              <a:t>누적 좋아요 수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 bwMode="ltGray">
          <a:xfrm>
            <a:off x="7521674" y="5202035"/>
            <a:ext cx="1217645" cy="41847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</a:rPr>
              <a:t>21,761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개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73" name="모서리가 둥근 직사각형 83">
            <a:extLst>
              <a:ext uri="{FF2B5EF4-FFF2-40B4-BE49-F238E27FC236}">
                <a16:creationId xmlns="" xmlns:a16="http://schemas.microsoft.com/office/drawing/2014/main" id="{7925FB43-25E4-41BD-8FC1-FACB1DF2546D}"/>
              </a:ext>
            </a:extLst>
          </p:cNvPr>
          <p:cNvSpPr/>
          <p:nvPr/>
        </p:nvSpPr>
        <p:spPr>
          <a:xfrm>
            <a:off x="6219041" y="5620939"/>
            <a:ext cx="2520278" cy="490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8900">
              <a:spcAft>
                <a:spcPts val="600"/>
              </a:spcAft>
            </a:pPr>
            <a:r>
              <a:rPr lang="ko-KR" altLang="en-US" sz="1200" dirty="0" smtClean="0">
                <a:latin typeface="Georgia" pitchFamily="18" charset="0"/>
              </a:rPr>
              <a:t>상위 </a:t>
            </a:r>
            <a:r>
              <a:rPr lang="en-US" altLang="ko-KR" sz="1200" dirty="0" smtClean="0">
                <a:latin typeface="Georgia" pitchFamily="18" charset="0"/>
              </a:rPr>
              <a:t>4</a:t>
            </a:r>
            <a:r>
              <a:rPr lang="ko-KR" altLang="en-US" sz="1200" dirty="0" smtClean="0">
                <a:latin typeface="Georgia" pitchFamily="18" charset="0"/>
              </a:rPr>
              <a:t>개 업체의 경우</a:t>
            </a:r>
            <a:r>
              <a:rPr lang="en-US" altLang="ko-KR" sz="1200" dirty="0" smtClean="0">
                <a:latin typeface="Georgia" pitchFamily="18" charset="0"/>
              </a:rPr>
              <a:t>, </a:t>
            </a:r>
            <a:r>
              <a:rPr lang="ko-KR" altLang="en-US" sz="1200" dirty="0" smtClean="0">
                <a:latin typeface="Georgia" pitchFamily="18" charset="0"/>
              </a:rPr>
              <a:t>좋아요 </a:t>
            </a:r>
            <a:r>
              <a:rPr lang="en-US" altLang="ko-KR" sz="1200" dirty="0" smtClean="0">
                <a:latin typeface="Georgia" pitchFamily="18" charset="0"/>
              </a:rPr>
              <a:t>1,000</a:t>
            </a:r>
            <a:r>
              <a:rPr lang="ko-KR" altLang="en-US" sz="1200" dirty="0" smtClean="0">
                <a:latin typeface="Georgia" pitchFamily="18" charset="0"/>
              </a:rPr>
              <a:t>개 이상 확보</a:t>
            </a:r>
            <a:endParaRPr lang="en-US" altLang="ko-KR" sz="1200" dirty="0">
              <a:latin typeface="Georgia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 cstate="print"/>
          <a:srcRect l="43168" t="14671" r="34392" b="7142"/>
          <a:stretch/>
        </p:blipFill>
        <p:spPr>
          <a:xfrm>
            <a:off x="246935" y="2443718"/>
            <a:ext cx="1476080" cy="2893051"/>
          </a:xfrm>
          <a:prstGeom prst="rect">
            <a:avLst/>
          </a:prstGeom>
          <a:ln w="6350">
            <a:solidFill>
              <a:schemeClr val="tx2"/>
            </a:solidFill>
          </a:ln>
        </p:spPr>
      </p:pic>
      <p:pic>
        <p:nvPicPr>
          <p:cNvPr id="74" name="그림 73"/>
          <p:cNvPicPr>
            <a:picLocks noChangeAspect="1"/>
          </p:cNvPicPr>
          <p:nvPr/>
        </p:nvPicPr>
        <p:blipFill rotWithShape="1">
          <a:blip r:embed="rId2" cstate="print"/>
          <a:srcRect l="66175" t="14671" r="12092" b="7142"/>
          <a:stretch/>
        </p:blipFill>
        <p:spPr>
          <a:xfrm>
            <a:off x="958626" y="3116424"/>
            <a:ext cx="1429605" cy="2893051"/>
          </a:xfrm>
          <a:prstGeom prst="rect">
            <a:avLst/>
          </a:prstGeom>
          <a:ln w="6350">
            <a:solidFill>
              <a:schemeClr val="tx2"/>
            </a:solidFill>
          </a:ln>
        </p:spPr>
      </p:pic>
      <p:grpSp>
        <p:nvGrpSpPr>
          <p:cNvPr id="75" name="그룹 74"/>
          <p:cNvGrpSpPr/>
          <p:nvPr/>
        </p:nvGrpSpPr>
        <p:grpSpPr>
          <a:xfrm>
            <a:off x="2439192" y="2357430"/>
            <a:ext cx="3561567" cy="3792527"/>
            <a:chOff x="251519" y="2357430"/>
            <a:chExt cx="3561567" cy="3792527"/>
          </a:xfrm>
        </p:grpSpPr>
        <p:grpSp>
          <p:nvGrpSpPr>
            <p:cNvPr id="76" name="그룹 75"/>
            <p:cNvGrpSpPr/>
            <p:nvPr/>
          </p:nvGrpSpPr>
          <p:grpSpPr>
            <a:xfrm>
              <a:off x="261807" y="2357430"/>
              <a:ext cx="3551279" cy="3256954"/>
              <a:chOff x="261807" y="2357430"/>
              <a:chExt cx="3551279" cy="3256954"/>
            </a:xfrm>
          </p:grpSpPr>
          <p:graphicFrame>
            <p:nvGraphicFramePr>
              <p:cNvPr id="78" name="차트 77"/>
              <p:cNvGraphicFramePr/>
              <p:nvPr>
                <p:extLst>
                  <p:ext uri="{D42A27DB-BD31-4B8C-83A1-F6EECF244321}">
                    <p14:modId xmlns="" xmlns:p14="http://schemas.microsoft.com/office/powerpoint/2010/main" val="3673830753"/>
                  </p:ext>
                </p:extLst>
              </p:nvPr>
            </p:nvGraphicFramePr>
            <p:xfrm>
              <a:off x="261807" y="2575628"/>
              <a:ext cx="3551279" cy="303875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82" name="직사각형 81"/>
              <p:cNvSpPr/>
              <p:nvPr/>
            </p:nvSpPr>
            <p:spPr bwMode="auto">
              <a:xfrm>
                <a:off x="1563759" y="2908447"/>
                <a:ext cx="143901" cy="278291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lIns="72000" tIns="72000" rIns="72000" bIns="72000" rtlCol="0" anchor="t" anchorCtr="0"/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tx1"/>
                  </a:buClr>
                </a:pPr>
                <a:endParaRPr lang="ko-KR" altLang="en-US" sz="1300" kern="0" dirty="0" smtClean="0">
                  <a:solidFill>
                    <a:srgbClr val="000000"/>
                  </a:solidFill>
                  <a:ea typeface="맑은 고딕" pitchFamily="50" charset="-127"/>
                </a:endParaRPr>
              </a:p>
            </p:txBody>
          </p:sp>
          <p:sp>
            <p:nvSpPr>
              <p:cNvPr id="84" name="모서리가 둥근 직사각형 83">
                <a:extLst>
                  <a:ext uri="{FF2B5EF4-FFF2-40B4-BE49-F238E27FC236}">
                    <a16:creationId xmlns="" xmlns:a16="http://schemas.microsoft.com/office/drawing/2014/main" id="{1AB2660D-45AF-4617-9AF6-EED8D435EEF3}"/>
                  </a:ext>
                </a:extLst>
              </p:cNvPr>
              <p:cNvSpPr/>
              <p:nvPr/>
            </p:nvSpPr>
            <p:spPr>
              <a:xfrm>
                <a:off x="669815" y="2357430"/>
                <a:ext cx="2700321" cy="3026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88900">
                  <a:spcAft>
                    <a:spcPts val="600"/>
                  </a:spcAft>
                </a:pPr>
                <a:r>
                  <a:rPr lang="ko-KR" altLang="en-US" sz="1200" b="1" i="1" dirty="0" smtClean="0">
                    <a:latin typeface="Georgia" pitchFamily="18" charset="0"/>
                  </a:rPr>
                  <a:t>월 평균  </a:t>
                </a:r>
                <a:r>
                  <a:rPr lang="en-US" altLang="ko-KR" sz="1200" b="1" i="1" dirty="0" smtClean="0">
                    <a:latin typeface="Georgia" pitchFamily="18" charset="0"/>
                  </a:rPr>
                  <a:t>80</a:t>
                </a:r>
                <a:r>
                  <a:rPr lang="ko-KR" altLang="en-US" sz="1200" b="1" i="1" dirty="0">
                    <a:latin typeface="Georgia" pitchFamily="18" charset="0"/>
                  </a:rPr>
                  <a:t>건 이상 시공 </a:t>
                </a:r>
                <a:r>
                  <a:rPr lang="ko-KR" altLang="en-US" sz="1200" b="1" i="1" dirty="0" smtClean="0">
                    <a:latin typeface="Georgia" pitchFamily="18" charset="0"/>
                  </a:rPr>
                  <a:t>상담 진행 中</a:t>
                </a:r>
                <a:endParaRPr lang="ko-KR" altLang="en-US" sz="1200" b="1" i="1" dirty="0">
                  <a:latin typeface="Georgia" pitchFamily="18" charset="0"/>
                </a:endParaRPr>
              </a:p>
            </p:txBody>
          </p:sp>
        </p:grpSp>
        <p:sp>
          <p:nvSpPr>
            <p:cNvPr id="77" name="모서리가 둥근 직사각형 83">
              <a:extLst>
                <a:ext uri="{FF2B5EF4-FFF2-40B4-BE49-F238E27FC236}">
                  <a16:creationId xmlns="" xmlns:a16="http://schemas.microsoft.com/office/drawing/2014/main" id="{1AB2660D-45AF-4617-9AF6-EED8D435EEF3}"/>
                </a:ext>
              </a:extLst>
            </p:cNvPr>
            <p:cNvSpPr/>
            <p:nvPr/>
          </p:nvSpPr>
          <p:spPr>
            <a:xfrm>
              <a:off x="251519" y="5552882"/>
              <a:ext cx="3339313" cy="597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88900" algn="ctr">
                <a:spcAft>
                  <a:spcPts val="600"/>
                </a:spcAft>
              </a:pPr>
              <a:r>
                <a:rPr lang="en-US" altLang="ko-KR" sz="1400" b="1" dirty="0" smtClean="0">
                  <a:solidFill>
                    <a:srgbClr val="C00000"/>
                  </a:solidFill>
                  <a:latin typeface="Georgia" pitchFamily="18" charset="0"/>
                </a:rPr>
                <a:t>’18</a:t>
              </a:r>
              <a:r>
                <a:rPr lang="ko-KR" altLang="en-US" sz="1400" b="1" dirty="0" smtClean="0">
                  <a:solidFill>
                    <a:srgbClr val="C00000"/>
                  </a:solidFill>
                  <a:latin typeface="Georgia" pitchFamily="18" charset="0"/>
                </a:rPr>
                <a:t>년 </a:t>
              </a:r>
              <a:r>
                <a:rPr lang="ko-KR" altLang="en-US" sz="1400" b="1" dirty="0" err="1" smtClean="0">
                  <a:solidFill>
                    <a:srgbClr val="C00000"/>
                  </a:solidFill>
                  <a:latin typeface="Georgia" pitchFamily="18" charset="0"/>
                </a:rPr>
                <a:t>리모델링</a:t>
              </a:r>
              <a:r>
                <a:rPr lang="ko-KR" altLang="en-US" sz="1400" b="1" dirty="0" smtClean="0">
                  <a:solidFill>
                    <a:srgbClr val="C00000"/>
                  </a:solidFill>
                  <a:latin typeface="Georgia" pitchFamily="18" charset="0"/>
                </a:rPr>
                <a:t> 사업 신규 런칭 이후</a:t>
              </a:r>
              <a:r>
                <a:rPr lang="en-US" altLang="ko-KR" sz="1400" b="1" dirty="0" smtClean="0">
                  <a:solidFill>
                    <a:srgbClr val="C00000"/>
                  </a:solidFill>
                  <a:latin typeface="Georgia" pitchFamily="18" charset="0"/>
                </a:rPr>
                <a:t/>
              </a:r>
              <a:br>
                <a:rPr lang="en-US" altLang="ko-KR" sz="1400" b="1" dirty="0" smtClean="0">
                  <a:solidFill>
                    <a:srgbClr val="C00000"/>
                  </a:solidFill>
                  <a:latin typeface="Georgia" pitchFamily="18" charset="0"/>
                </a:rPr>
              </a:br>
              <a:r>
                <a:rPr lang="en-US" altLang="ko-KR" sz="1400" b="1" dirty="0" smtClean="0">
                  <a:solidFill>
                    <a:srgbClr val="C00000"/>
                  </a:solidFill>
                  <a:latin typeface="Georgia" pitchFamily="18" charset="0"/>
                </a:rPr>
                <a:t>1</a:t>
              </a:r>
              <a:r>
                <a:rPr lang="ko-KR" altLang="en-US" sz="1400" b="1" dirty="0" smtClean="0">
                  <a:solidFill>
                    <a:srgbClr val="C00000"/>
                  </a:solidFill>
                  <a:latin typeface="Georgia" pitchFamily="18" charset="0"/>
                </a:rPr>
                <a:t>년 내 </a:t>
              </a:r>
              <a:r>
                <a:rPr lang="en-US" altLang="ko-KR" sz="1400" b="1" dirty="0" smtClean="0">
                  <a:solidFill>
                    <a:srgbClr val="C00000"/>
                  </a:solidFill>
                  <a:latin typeface="Georgia" pitchFamily="18" charset="0"/>
                </a:rPr>
                <a:t>80% </a:t>
              </a:r>
              <a:r>
                <a:rPr lang="ko-KR" altLang="en-US" sz="1400" b="1" dirty="0" smtClean="0">
                  <a:solidFill>
                    <a:srgbClr val="C00000"/>
                  </a:solidFill>
                  <a:latin typeface="Georgia" pitchFamily="18" charset="0"/>
                </a:rPr>
                <a:t>이상의 시공 상담 건수 상승</a:t>
              </a:r>
              <a:endParaRPr lang="en-US" altLang="ko-KR" sz="1400" b="1" dirty="0">
                <a:solidFill>
                  <a:srgbClr val="C00000"/>
                </a:solidFill>
                <a:latin typeface="Georgia" pitchFamily="18" charset="0"/>
              </a:endParaRPr>
            </a:p>
          </p:txBody>
        </p:sp>
      </p:grpSp>
      <p:sp>
        <p:nvSpPr>
          <p:cNvPr id="37" name="타원 36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500" b="1" dirty="0" smtClean="0">
                <a:latin typeface="+mn-ea"/>
                <a:cs typeface="Arial" pitchFamily="34" charset="0"/>
              </a:rPr>
              <a:t>3-c</a:t>
            </a:r>
          </a:p>
        </p:txBody>
      </p:sp>
    </p:spTree>
    <p:extLst>
      <p:ext uri="{BB962C8B-B14F-4D97-AF65-F5344CB8AC3E}">
        <p14:creationId xmlns="" xmlns:p14="http://schemas.microsoft.com/office/powerpoint/2010/main" val="348742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BC80C-B1D2-42DA-B465-5CACDB325AFD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  </a:t>
            </a:r>
            <a:r>
              <a:rPr lang="ko-KR" altLang="en-US" dirty="0" err="1" smtClean="0"/>
              <a:t>성공경험이</a:t>
            </a:r>
            <a:r>
              <a:rPr lang="ko-KR" altLang="en-US" dirty="0" smtClean="0"/>
              <a:t> </a:t>
            </a:r>
            <a:r>
              <a:rPr lang="ko-KR" altLang="en-US" dirty="0"/>
              <a:t>이식된 차별화된 사업구조 구축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인테리어 </a:t>
            </a:r>
            <a:r>
              <a:rPr lang="ko-KR" altLang="en-US" dirty="0"/>
              <a:t>트렌드를 주도하는 선도 </a:t>
            </a:r>
            <a:r>
              <a:rPr lang="ko-KR" altLang="en-US" dirty="0" smtClean="0"/>
              <a:t>사업자로서 자리매김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66ED6E-FC10-4B75-B247-81351B267F90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400" dirty="0" smtClean="0">
                <a:latin typeface="Georgia" pitchFamily="18" charset="0"/>
              </a:rPr>
              <a:t>확실한 노하우를 보유하고 있는 </a:t>
            </a:r>
            <a:r>
              <a:rPr lang="en-US" altLang="ko-KR" sz="1400" dirty="0" smtClean="0">
                <a:latin typeface="Georgia" pitchFamily="18" charset="0"/>
              </a:rPr>
              <a:t>“</a:t>
            </a:r>
            <a:r>
              <a:rPr lang="ko-KR" altLang="en-US" sz="1400" dirty="0" smtClean="0">
                <a:latin typeface="Georgia" pitchFamily="18" charset="0"/>
              </a:rPr>
              <a:t>커뮤니티</a:t>
            </a:r>
            <a:r>
              <a:rPr lang="en-US" altLang="ko-KR" sz="1400" dirty="0" smtClean="0">
                <a:latin typeface="Georgia" pitchFamily="18" charset="0"/>
              </a:rPr>
              <a:t>”</a:t>
            </a:r>
            <a:r>
              <a:rPr lang="ko-KR" altLang="en-US" sz="1400" dirty="0" smtClean="0">
                <a:latin typeface="Georgia" pitchFamily="18" charset="0"/>
              </a:rPr>
              <a:t>를 기반으로 </a:t>
            </a:r>
            <a:r>
              <a:rPr lang="ko-KR" altLang="en-US" sz="1400" dirty="0" err="1" smtClean="0">
                <a:latin typeface="Georgia" pitchFamily="18" charset="0"/>
              </a:rPr>
              <a:t>커머스</a:t>
            </a:r>
            <a:r>
              <a:rPr lang="ko-KR" altLang="en-US" sz="1400" dirty="0" smtClean="0">
                <a:latin typeface="Georgia" pitchFamily="18" charset="0"/>
              </a:rPr>
              <a:t> 및 </a:t>
            </a:r>
            <a:r>
              <a:rPr lang="ko-KR" altLang="en-US" sz="1400" dirty="0" err="1" smtClean="0">
                <a:latin typeface="Georgia" pitchFamily="18" charset="0"/>
              </a:rPr>
              <a:t>리모델링의</a:t>
            </a:r>
            <a:r>
              <a:rPr lang="ko-KR" altLang="en-US" sz="1400" dirty="0" smtClean="0">
                <a:latin typeface="Georgia" pitchFamily="18" charset="0"/>
              </a:rPr>
              <a:t> 차별적 사업구조를 통해 본격 사업화 </a:t>
            </a:r>
            <a:r>
              <a:rPr lang="en-US" altLang="ko-KR" sz="1400" dirty="0" smtClean="0">
                <a:latin typeface="Georgia" pitchFamily="18" charset="0"/>
              </a:rPr>
              <a:t>3</a:t>
            </a:r>
            <a:r>
              <a:rPr lang="ko-KR" altLang="en-US" sz="1400" dirty="0" smtClean="0">
                <a:latin typeface="Georgia" pitchFamily="18" charset="0"/>
              </a:rPr>
              <a:t>년 내</a:t>
            </a:r>
            <a:r>
              <a:rPr lang="en-US" altLang="ko-KR" sz="1400" dirty="0" smtClean="0">
                <a:latin typeface="Georgia" pitchFamily="18" charset="0"/>
              </a:rPr>
              <a:t>, </a:t>
            </a:r>
            <a:r>
              <a:rPr lang="ko-KR" altLang="en-US" sz="1400" dirty="0" smtClean="0">
                <a:latin typeface="Georgia" pitchFamily="18" charset="0"/>
              </a:rPr>
              <a:t>외부 투자 도움 없이 시장의 트렌드를 주도하는 선도 사업자로 자리매김 하고 있음</a:t>
            </a:r>
            <a:endParaRPr lang="en-US" sz="1400" dirty="0">
              <a:latin typeface="Georgia" pitchFamily="18" charset="0"/>
            </a:endParaRPr>
          </a:p>
        </p:txBody>
      </p:sp>
      <p:sp>
        <p:nvSpPr>
          <p:cNvPr id="33" name="내용 개체 틀 3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grpSp>
        <p:nvGrpSpPr>
          <p:cNvPr id="3" name="그룹 2"/>
          <p:cNvGrpSpPr/>
          <p:nvPr/>
        </p:nvGrpSpPr>
        <p:grpSpPr>
          <a:xfrm>
            <a:off x="296097" y="1934816"/>
            <a:ext cx="4419919" cy="288336"/>
            <a:chOff x="241123" y="1844520"/>
            <a:chExt cx="5230397" cy="288336"/>
          </a:xfrm>
        </p:grpSpPr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84102C76-57CF-49D0-9289-FF22351BC5C2}"/>
                </a:ext>
              </a:extLst>
            </p:cNvPr>
            <p:cNvSpPr txBox="1"/>
            <p:nvPr/>
          </p:nvSpPr>
          <p:spPr>
            <a:xfrm>
              <a:off x="241123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sz="1200" b="1" dirty="0">
                  <a:latin typeface="Georgia" pitchFamily="18" charset="0"/>
                </a:rPr>
                <a:t>Target </a:t>
              </a:r>
              <a:r>
                <a:rPr lang="ko-KR" altLang="en-US" sz="1200" b="1" dirty="0" smtClean="0">
                  <a:latin typeface="Georgia" pitchFamily="18" charset="0"/>
                </a:rPr>
                <a:t>매출액 추이</a:t>
              </a:r>
              <a:endParaRPr lang="ko-KR" altLang="en-US" sz="1200" b="1" dirty="0">
                <a:latin typeface="Georgia" pitchFamily="18" charset="0"/>
              </a:endParaRPr>
            </a:p>
          </p:txBody>
        </p:sp>
        <p:cxnSp>
          <p:nvCxnSpPr>
            <p:cNvPr id="32" name="Straight Connector 11">
              <a:extLst>
                <a:ext uri="{FF2B5EF4-FFF2-40B4-BE49-F238E27FC236}">
                  <a16:creationId xmlns="" xmlns:a16="http://schemas.microsoft.com/office/drawing/2014/main" id="{CF12CB67-0720-4506-AA52-CB80E3DE4CA8}"/>
                </a:ext>
              </a:extLst>
            </p:cNvPr>
            <p:cNvCxnSpPr/>
            <p:nvPr/>
          </p:nvCxnSpPr>
          <p:spPr>
            <a:xfrm>
              <a:off x="251520" y="2132856"/>
              <a:ext cx="5220000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" name="그룹 5"/>
          <p:cNvGrpSpPr/>
          <p:nvPr/>
        </p:nvGrpSpPr>
        <p:grpSpPr>
          <a:xfrm>
            <a:off x="5220073" y="1976101"/>
            <a:ext cx="3557744" cy="252620"/>
            <a:chOff x="5793765" y="1880236"/>
            <a:chExt cx="2882691" cy="252620"/>
          </a:xfrm>
        </p:grpSpPr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A2E057DF-2010-4EED-A616-B065C5F2E903}"/>
                </a:ext>
              </a:extLst>
            </p:cNvPr>
            <p:cNvSpPr txBox="1"/>
            <p:nvPr/>
          </p:nvSpPr>
          <p:spPr>
            <a:xfrm>
              <a:off x="5796456" y="1880236"/>
              <a:ext cx="2880000" cy="252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altLang="ko-KR" sz="1200" b="1" dirty="0" smtClean="0">
                  <a:latin typeface="Georgia" pitchFamily="18" charset="0"/>
                </a:rPr>
                <a:t>Target </a:t>
              </a:r>
              <a:r>
                <a:rPr lang="ko-KR" altLang="en-US" sz="1200" b="1" dirty="0" smtClean="0">
                  <a:latin typeface="Georgia" pitchFamily="18" charset="0"/>
                </a:rPr>
                <a:t>주요 성과 및 외부 평가</a:t>
              </a:r>
              <a:endParaRPr lang="en-US" sz="1200" b="1" dirty="0">
                <a:latin typeface="Georgia" pitchFamily="18" charset="0"/>
              </a:endParaRPr>
            </a:p>
          </p:txBody>
        </p:sp>
        <p:cxnSp>
          <p:nvCxnSpPr>
            <p:cNvPr id="23" name="Straight Connector 11">
              <a:extLst>
                <a:ext uri="{FF2B5EF4-FFF2-40B4-BE49-F238E27FC236}">
                  <a16:creationId xmlns="" xmlns:a16="http://schemas.microsoft.com/office/drawing/2014/main" id="{63F7154F-FD60-4A2B-B681-56614957ABE9}"/>
                </a:ext>
              </a:extLst>
            </p:cNvPr>
            <p:cNvCxnSpPr/>
            <p:nvPr/>
          </p:nvCxnSpPr>
          <p:spPr>
            <a:xfrm>
              <a:off x="5793765" y="2132236"/>
              <a:ext cx="2882691" cy="62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42" name="내용 개체 틀 7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789622576"/>
              </p:ext>
            </p:extLst>
          </p:nvPr>
        </p:nvGraphicFramePr>
        <p:xfrm>
          <a:off x="251521" y="2573298"/>
          <a:ext cx="1584175" cy="3557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타원 44">
            <a:extLst>
              <a:ext uri="{FF2B5EF4-FFF2-40B4-BE49-F238E27FC236}">
                <a16:creationId xmlns="" xmlns:a16="http://schemas.microsoft.com/office/drawing/2014/main" id="{D57F31CE-2BC3-4C73-90D4-5023EF200CC9}"/>
              </a:ext>
            </a:extLst>
          </p:cNvPr>
          <p:cNvSpPr/>
          <p:nvPr/>
        </p:nvSpPr>
        <p:spPr bwMode="ltGray">
          <a:xfrm>
            <a:off x="423610" y="2307299"/>
            <a:ext cx="878631" cy="374874"/>
          </a:xfrm>
          <a:prstGeom prst="ellipse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CAGR 198% 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1980402" y="2374802"/>
            <a:ext cx="3078720" cy="19903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핵심 </a:t>
            </a:r>
            <a:r>
              <a:rPr lang="ko-KR" altLang="en-US" sz="1400" b="1" kern="0" dirty="0" err="1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수익원천</a:t>
            </a:r>
            <a:endParaRPr lang="en-US" altLang="ko-KR" sz="1400" b="1" kern="0" dirty="0" smtClean="0">
              <a:solidFill>
                <a:schemeClr val="tx2"/>
              </a:solidFill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커머스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 판매수수료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:</a:t>
            </a:r>
            <a:br>
              <a:rPr lang="en-US" altLang="ko-KR" sz="1400" kern="0" dirty="0" smtClean="0">
                <a:latin typeface="+mj-lt"/>
                <a:ea typeface="맑은 고딕" pitchFamily="50" charset="-127"/>
              </a:rPr>
            </a:b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거래액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(</a:t>
            </a: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판매중개액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)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 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15% ~ 20%</a:t>
            </a: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커머스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 </a:t>
            </a: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상품수수료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:</a:t>
            </a:r>
            <a:br>
              <a:rPr lang="en-US" altLang="ko-KR" sz="1400" kern="0" dirty="0" smtClean="0">
                <a:latin typeface="+mj-lt"/>
                <a:ea typeface="맑은 고딕" pitchFamily="50" charset="-127"/>
              </a:rPr>
            </a:b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PB/</a:t>
            </a: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사입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 판매액 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30% ~ 50%</a:t>
            </a: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이벤트 </a:t>
            </a: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광고수수료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:</a:t>
            </a:r>
            <a:br>
              <a:rPr lang="en-US" altLang="ko-KR" sz="1400" kern="0" dirty="0" smtClean="0">
                <a:latin typeface="+mj-lt"/>
                <a:ea typeface="맑은 고딕" pitchFamily="50" charset="-127"/>
              </a:rPr>
            </a:b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건당 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500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만원 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~ 1,000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만원</a:t>
            </a:r>
            <a:endParaRPr lang="en-US" altLang="ko-KR" sz="1400" kern="0" dirty="0">
              <a:latin typeface="+mj-lt"/>
              <a:ea typeface="맑은 고딕" pitchFamily="50" charset="-127"/>
            </a:endParaRP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279163" y="5118613"/>
            <a:ext cx="675264" cy="32705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 algn="ctr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300" b="1" kern="0" dirty="0" smtClean="0">
                <a:latin typeface="+mj-lt"/>
                <a:ea typeface="맑은 고딕" pitchFamily="50" charset="-127"/>
              </a:rPr>
              <a:t>9.2</a:t>
            </a:r>
            <a:r>
              <a:rPr lang="ko-KR" altLang="en-US" sz="1300" b="1" kern="0" dirty="0" smtClean="0">
                <a:latin typeface="+mj-lt"/>
                <a:ea typeface="맑은 고딕" pitchFamily="50" charset="-127"/>
              </a:rPr>
              <a:t>억</a:t>
            </a:r>
            <a:endParaRPr lang="en-US" altLang="ko-KR" sz="1300" b="1" kern="0" dirty="0">
              <a:latin typeface="+mj-lt"/>
              <a:ea typeface="맑은 고딕" pitchFamily="50" charset="-127"/>
            </a:endParaRP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1980402" y="4653137"/>
            <a:ext cx="3078720" cy="122413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추가 </a:t>
            </a:r>
            <a:r>
              <a:rPr lang="ko-KR" altLang="en-US" sz="1400" b="1" kern="0" dirty="0" err="1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수익원천</a:t>
            </a: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 계획</a:t>
            </a:r>
            <a:endParaRPr lang="en-US" altLang="ko-KR" sz="1400" b="1" kern="0" dirty="0" smtClean="0">
              <a:solidFill>
                <a:schemeClr val="tx2"/>
              </a:solidFill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리모델링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 시공 수수료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:</a:t>
            </a:r>
            <a:br>
              <a:rPr lang="en-US" altLang="ko-KR" sz="1400" kern="0" dirty="0" smtClean="0">
                <a:latin typeface="+mj-lt"/>
                <a:ea typeface="맑은 고딕" pitchFamily="50" charset="-127"/>
              </a:rPr>
            </a:b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거래액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 의 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1% ~ 2%</a:t>
            </a: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직영 시공 브랜드 런칭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:</a:t>
            </a:r>
            <a:br>
              <a:rPr lang="en-US" altLang="ko-KR" sz="1400" kern="0" dirty="0" smtClean="0">
                <a:latin typeface="+mj-lt"/>
                <a:ea typeface="맑은 고딕" pitchFamily="50" charset="-127"/>
              </a:rPr>
            </a:b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마진율 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20% ~ 30% 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목표</a:t>
            </a:r>
            <a:endParaRPr lang="en-US" altLang="ko-KR" sz="1400" kern="0" dirty="0" smtClean="0">
              <a:latin typeface="+mj-lt"/>
              <a:ea typeface="맑은 고딕" pitchFamily="50" charset="-127"/>
            </a:endParaRPr>
          </a:p>
        </p:txBody>
      </p: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598821" y="3831393"/>
            <a:ext cx="841688" cy="32705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 algn="ctr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300" b="1" kern="0" dirty="0" smtClean="0">
                <a:latin typeface="+mj-lt"/>
                <a:ea typeface="맑은 고딕" pitchFamily="50" charset="-127"/>
              </a:rPr>
              <a:t>46.8</a:t>
            </a:r>
            <a:r>
              <a:rPr lang="ko-KR" altLang="en-US" sz="1300" b="1" kern="0" dirty="0" smtClean="0">
                <a:latin typeface="+mj-lt"/>
                <a:ea typeface="맑은 고딕" pitchFamily="50" charset="-127"/>
              </a:rPr>
              <a:t>억</a:t>
            </a:r>
            <a:endParaRPr lang="en-US" altLang="ko-KR" sz="1300" b="1" kern="0" dirty="0">
              <a:latin typeface="+mj-lt"/>
              <a:ea typeface="맑은 고딕" pitchFamily="50" charset="-127"/>
            </a:endParaRPr>
          </a:p>
        </p:txBody>
      </p:sp>
      <p:cxnSp>
        <p:nvCxnSpPr>
          <p:cNvPr id="8" name="꺾인 연결선 7"/>
          <p:cNvCxnSpPr>
            <a:endCxn id="11" idx="1"/>
          </p:cNvCxnSpPr>
          <p:nvPr/>
        </p:nvCxnSpPr>
        <p:spPr>
          <a:xfrm rot="5400000" flipH="1" flipV="1">
            <a:off x="-289839" y="3666325"/>
            <a:ext cx="2340950" cy="5636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14"/>
          <p:cNvSpPr>
            <a:spLocks noChangeArrowheads="1"/>
          </p:cNvSpPr>
          <p:nvPr/>
        </p:nvSpPr>
        <p:spPr bwMode="auto">
          <a:xfrm>
            <a:off x="1059047" y="2647880"/>
            <a:ext cx="841688" cy="32705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 algn="ctr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300" b="1" kern="0" dirty="0" smtClean="0">
                <a:latin typeface="+mj-lt"/>
                <a:ea typeface="맑은 고딕" pitchFamily="50" charset="-127"/>
              </a:rPr>
              <a:t>81.8</a:t>
            </a:r>
            <a:r>
              <a:rPr lang="ko-KR" altLang="en-US" sz="1300" b="1" kern="0" dirty="0" smtClean="0">
                <a:latin typeface="+mj-lt"/>
                <a:ea typeface="맑은 고딕" pitchFamily="50" charset="-127"/>
              </a:rPr>
              <a:t>억</a:t>
            </a:r>
            <a:endParaRPr lang="en-US" altLang="ko-KR" sz="1300" b="1" kern="0" dirty="0">
              <a:latin typeface="+mj-lt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1162452" y="2694647"/>
            <a:ext cx="395187" cy="16603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13" name="아래쪽 화살표 설명선 12"/>
          <p:cNvSpPr/>
          <p:nvPr/>
        </p:nvSpPr>
        <p:spPr bwMode="auto">
          <a:xfrm>
            <a:off x="5220073" y="2374802"/>
            <a:ext cx="3557744" cy="1918294"/>
          </a:xfrm>
          <a:prstGeom prst="downArrowCallout">
            <a:avLst>
              <a:gd name="adj1" fmla="val 73421"/>
              <a:gd name="adj2" fmla="val 64424"/>
              <a:gd name="adj3" fmla="val 12035"/>
              <a:gd name="adj4" fmla="val 7802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44" name="Rectangle 14"/>
          <p:cNvSpPr>
            <a:spLocks noChangeArrowheads="1"/>
          </p:cNvSpPr>
          <p:nvPr/>
        </p:nvSpPr>
        <p:spPr bwMode="auto">
          <a:xfrm>
            <a:off x="5260351" y="2389934"/>
            <a:ext cx="3517465" cy="137252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본격 사업화 </a:t>
            </a:r>
            <a:r>
              <a:rPr lang="en-US" altLang="ko-KR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3</a:t>
            </a: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년 내</a:t>
            </a:r>
            <a:r>
              <a:rPr lang="en-US" altLang="ko-KR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, </a:t>
            </a: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외부 투자 도움 없이</a:t>
            </a:r>
            <a:r>
              <a:rPr lang="en-US" altLang="ko-KR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…</a:t>
            </a: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3050 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주부층 중심 충성 고객층 확보</a:t>
            </a:r>
            <a:endParaRPr lang="en-US" altLang="ko-KR" sz="1400" kern="0" dirty="0" smtClean="0"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누적 가입자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200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만</a:t>
            </a:r>
            <a:r>
              <a:rPr lang="en-US" altLang="ko-KR" sz="1400" kern="0" dirty="0">
                <a:latin typeface="+mj-lt"/>
                <a:ea typeface="맑은 고딕" pitchFamily="50" charset="-127"/>
              </a:rPr>
              <a:t>/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MAU 35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만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, SNS 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팔로워 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150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만</a:t>
            </a:r>
            <a:endParaRPr lang="en-US" altLang="ko-KR" sz="1400" kern="0" dirty="0" smtClean="0"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재방문율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(1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개월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) 33%, 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구매 전환율 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10%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60350" y="4410600"/>
            <a:ext cx="3517465" cy="175470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200" i="1" dirty="0" smtClean="0">
                <a:latin typeface="+mn-ea"/>
              </a:rPr>
              <a:t>“Target</a:t>
            </a:r>
            <a:r>
              <a:rPr lang="ko-KR" altLang="en-US" sz="1200" i="1" dirty="0" smtClean="0">
                <a:latin typeface="+mn-ea"/>
              </a:rPr>
              <a:t>의 빠른 </a:t>
            </a:r>
            <a:r>
              <a:rPr lang="ko-KR" altLang="en-US" sz="1200" i="1" dirty="0">
                <a:latin typeface="+mn-ea"/>
              </a:rPr>
              <a:t>성장속도는 </a:t>
            </a:r>
            <a:r>
              <a:rPr lang="ko-KR" altLang="en-US" sz="1200" b="1" i="1" dirty="0">
                <a:latin typeface="+mn-ea"/>
              </a:rPr>
              <a:t>인테리어 트렌드에 적합한 앱 구성이 고객의 호응을 얻은 </a:t>
            </a:r>
            <a:r>
              <a:rPr lang="ko-KR" altLang="en-US" sz="1200" b="1" i="1" dirty="0" smtClean="0">
                <a:latin typeface="+mn-ea"/>
              </a:rPr>
              <a:t>결과</a:t>
            </a:r>
            <a:r>
              <a:rPr lang="ko-KR" altLang="en-US" sz="1200" i="1" dirty="0" smtClean="0">
                <a:latin typeface="+mn-ea"/>
              </a:rPr>
              <a:t>인 것으로 평가된다</a:t>
            </a:r>
            <a:r>
              <a:rPr lang="en-US" altLang="ko-KR" sz="1200" i="1" dirty="0" smtClean="0">
                <a:latin typeface="+mn-ea"/>
              </a:rPr>
              <a:t>.” </a:t>
            </a:r>
          </a:p>
          <a:p>
            <a:pPr indent="-274320">
              <a:spcAft>
                <a:spcPts val="900"/>
              </a:spcAft>
            </a:pPr>
            <a:r>
              <a:rPr lang="en-US" altLang="ko-KR" sz="1200" i="1" dirty="0" smtClean="0">
                <a:latin typeface="+mn-ea"/>
              </a:rPr>
              <a:t>“Target</a:t>
            </a:r>
            <a:r>
              <a:rPr lang="ko-KR" altLang="en-US" sz="1200" i="1" dirty="0" smtClean="0">
                <a:latin typeface="+mn-ea"/>
              </a:rPr>
              <a:t>은 실제로 </a:t>
            </a:r>
            <a:r>
              <a:rPr lang="ko-KR" altLang="en-US" sz="1200" i="1" dirty="0">
                <a:latin typeface="+mn-ea"/>
              </a:rPr>
              <a:t>사용자가 사용해 본 뒤 남긴 </a:t>
            </a:r>
            <a:r>
              <a:rPr lang="ko-KR" altLang="en-US" sz="1200" b="1" i="1" dirty="0" smtClean="0">
                <a:latin typeface="+mn-ea"/>
              </a:rPr>
              <a:t>제품 리뷰글의 구매전환율이 </a:t>
            </a:r>
            <a:r>
              <a:rPr lang="en-US" altLang="ko-KR" sz="1200" b="1" i="1" dirty="0"/>
              <a:t>10%</a:t>
            </a:r>
            <a:r>
              <a:rPr lang="ko-KR" altLang="en-US" sz="1200" b="1" i="1" dirty="0">
                <a:latin typeface="+mn-ea"/>
              </a:rPr>
              <a:t>를 넘어</a:t>
            </a:r>
            <a:r>
              <a:rPr lang="ko-KR" altLang="en-US" sz="1200" i="1" dirty="0">
                <a:latin typeface="+mn-ea"/>
              </a:rPr>
              <a:t>선다</a:t>
            </a:r>
            <a:r>
              <a:rPr lang="en-US" altLang="ko-KR" sz="1200" i="1" dirty="0">
                <a:latin typeface="+mn-ea"/>
              </a:rPr>
              <a:t>. </a:t>
            </a:r>
            <a:r>
              <a:rPr lang="en-US" altLang="ko-KR" sz="1200" i="1" dirty="0" smtClean="0">
                <a:latin typeface="+mn-ea"/>
              </a:rPr>
              <a:t/>
            </a:r>
            <a:br>
              <a:rPr lang="en-US" altLang="ko-KR" sz="1200" i="1" dirty="0" smtClean="0">
                <a:latin typeface="+mn-ea"/>
              </a:rPr>
            </a:br>
            <a:r>
              <a:rPr lang="ko-KR" altLang="en-US" sz="1200" i="1" dirty="0" smtClean="0">
                <a:latin typeface="+mn-ea"/>
              </a:rPr>
              <a:t>유명 </a:t>
            </a:r>
            <a:r>
              <a:rPr lang="en-US" altLang="ko-KR" sz="1200" i="1" dirty="0"/>
              <a:t>SNS</a:t>
            </a:r>
            <a:r>
              <a:rPr lang="ko-KR" altLang="en-US" sz="1200" i="1" dirty="0">
                <a:latin typeface="+mn-ea"/>
              </a:rPr>
              <a:t>의 게시물의 </a:t>
            </a:r>
            <a:r>
              <a:rPr lang="ko-KR" altLang="en-US" sz="1200" b="1" i="1" dirty="0" smtClean="0">
                <a:latin typeface="+mn-ea"/>
              </a:rPr>
              <a:t>구매전환율이 </a:t>
            </a:r>
            <a:r>
              <a:rPr lang="en-US" altLang="ko-KR" sz="1200" b="1" i="1" dirty="0"/>
              <a:t>2~3%</a:t>
            </a:r>
            <a:r>
              <a:rPr lang="en-US" altLang="ko-KR" sz="1200" b="1" i="1" dirty="0">
                <a:latin typeface="+mn-ea"/>
              </a:rPr>
              <a:t> </a:t>
            </a:r>
            <a:r>
              <a:rPr lang="ko-KR" altLang="en-US" sz="1200" b="1" i="1" dirty="0">
                <a:latin typeface="+mn-ea"/>
              </a:rPr>
              <a:t>수준인 것을 고려하면 높은 </a:t>
            </a:r>
            <a:r>
              <a:rPr lang="ko-KR" altLang="en-US" sz="1200" b="1" i="1" dirty="0" smtClean="0">
                <a:latin typeface="+mn-ea"/>
              </a:rPr>
              <a:t>수준</a:t>
            </a:r>
            <a:r>
              <a:rPr lang="ko-KR" altLang="en-US" sz="1200" i="1" dirty="0" smtClean="0">
                <a:latin typeface="+mn-ea"/>
              </a:rPr>
              <a:t>이다</a:t>
            </a:r>
            <a:r>
              <a:rPr lang="en-US" altLang="ko-KR" sz="1200" i="1" dirty="0" smtClean="0">
                <a:latin typeface="+mn-ea"/>
              </a:rPr>
              <a:t>.”</a:t>
            </a:r>
          </a:p>
          <a:p>
            <a:pPr indent="-274320">
              <a:spcAft>
                <a:spcPts val="900"/>
              </a:spcAft>
            </a:pPr>
            <a:r>
              <a:rPr lang="en-US" altLang="ko-KR" sz="1200" i="1" dirty="0" smtClean="0">
                <a:latin typeface="+mn-ea"/>
              </a:rPr>
              <a:t>                             - </a:t>
            </a:r>
            <a:r>
              <a:rPr lang="en-US" altLang="ko-KR" sz="1200" i="1" dirty="0" smtClean="0">
                <a:latin typeface="+mj-lt"/>
              </a:rPr>
              <a:t>18.08 The Financial News</a:t>
            </a:r>
            <a:r>
              <a:rPr lang="en-US" altLang="ko-KR" sz="1200" i="1" dirty="0" smtClean="0">
                <a:latin typeface="+mn-ea"/>
              </a:rPr>
              <a:t> </a:t>
            </a:r>
            <a:endParaRPr lang="en-US" altLang="ko-KR" sz="1200" i="1" dirty="0">
              <a:latin typeface="+mn-ea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 smtClean="0">
                <a:latin typeface="+mn-ea"/>
                <a:cs typeface="Arial" pitchFamily="34" charset="0"/>
              </a:rPr>
              <a:t>3</a:t>
            </a:r>
          </a:p>
        </p:txBody>
      </p:sp>
    </p:spTree>
    <p:extLst>
      <p:ext uri="{BB962C8B-B14F-4D97-AF65-F5344CB8AC3E}">
        <p14:creationId xmlns="" xmlns:p14="http://schemas.microsoft.com/office/powerpoint/2010/main" val="3305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BC80C-B1D2-42DA-B465-5CACDB325AFD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233A63"/>
                </a:solidFill>
                <a:effectLst/>
                <a:uLnTx/>
                <a:uFillTx/>
                <a:latin typeface="Georgia"/>
                <a:ea typeface="맑은 고딕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233A63"/>
              </a:solidFill>
              <a:effectLst/>
              <a:uLnTx/>
              <a:uFillTx/>
              <a:latin typeface="Georgia"/>
              <a:ea typeface="맑은 고딕"/>
              <a:cs typeface="+mn-cs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  커뮤니티 기반 </a:t>
            </a:r>
            <a:r>
              <a:rPr lang="en-US" altLang="ko-KR" dirty="0" smtClean="0"/>
              <a:t>“</a:t>
            </a:r>
            <a:r>
              <a:rPr lang="en-US" altLang="ko-KR" dirty="0"/>
              <a:t>Total Housing Service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지향</a:t>
            </a:r>
            <a:r>
              <a:rPr lang="en-US" altLang="ko-KR" dirty="0"/>
              <a:t/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altLang="ko-KR" dirty="0" smtClean="0"/>
              <a:t>Target </a:t>
            </a:r>
            <a:r>
              <a:rPr lang="ko-KR" altLang="en-US" dirty="0" smtClean="0"/>
              <a:t>사업 확대 및 고도화 전략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66ED6E-FC10-4B75-B247-81351B267F90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 smtClean="0">
                <a:solidFill>
                  <a:srgbClr val="000000"/>
                </a:solidFill>
                <a:latin typeface="Georgia" pitchFamily="18" charset="0"/>
                <a:ea typeface="맑은 고딕"/>
              </a:rPr>
              <a:t>Target</a:t>
            </a:r>
            <a:r>
              <a:rPr lang="ko-KR" altLang="en-US" sz="1400" dirty="0" smtClean="0">
                <a:solidFill>
                  <a:srgbClr val="000000"/>
                </a:solidFill>
                <a:latin typeface="Georgia" pitchFamily="18" charset="0"/>
                <a:ea typeface="맑은 고딕"/>
              </a:rPr>
              <a:t>은 커뮤니티 운영 역량 및 활성화 핵심 고객층을 핵심 자산으로</a:t>
            </a:r>
            <a:r>
              <a:rPr lang="en-US" altLang="ko-KR" sz="1400" dirty="0" smtClean="0">
                <a:solidFill>
                  <a:srgbClr val="000000"/>
                </a:solidFill>
                <a:latin typeface="Georgia" pitchFamily="18" charset="0"/>
                <a:ea typeface="맑은 고딕"/>
              </a:rPr>
              <a:t>,</a:t>
            </a:r>
            <a:r>
              <a:rPr lang="ko-KR" altLang="en-US" sz="1400" dirty="0" smtClean="0">
                <a:solidFill>
                  <a:srgbClr val="000000"/>
                </a:solidFill>
                <a:latin typeface="Georgia" pitchFamily="18" charset="0"/>
                <a:ea typeface="맑은 고딕"/>
              </a:rPr>
              <a:t> 커뮤니티 기반의 </a:t>
            </a:r>
            <a:r>
              <a:rPr lang="en-US" altLang="ko-KR" sz="1400" dirty="0" smtClean="0">
                <a:solidFill>
                  <a:srgbClr val="000000"/>
                </a:solidFill>
                <a:latin typeface="Georgia" pitchFamily="18" charset="0"/>
                <a:ea typeface="맑은 고딕"/>
              </a:rPr>
              <a:t>“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Total Housing Service</a:t>
            </a:r>
            <a:r>
              <a:rPr lang="en-US" altLang="ko-KR" sz="1400" dirty="0" smtClean="0">
                <a:solidFill>
                  <a:srgbClr val="000000"/>
                </a:solidFill>
                <a:latin typeface="Georgia" pitchFamily="18" charset="0"/>
                <a:ea typeface="맑은 고딕"/>
              </a:rPr>
              <a:t>” </a:t>
            </a:r>
            <a:r>
              <a:rPr lang="ko-KR" altLang="en-US" sz="1400" dirty="0" smtClean="0">
                <a:solidFill>
                  <a:srgbClr val="000000"/>
                </a:solidFill>
                <a:latin typeface="Georgia" pitchFamily="18" charset="0"/>
                <a:ea typeface="맑은 고딕"/>
              </a:rPr>
              <a:t>플랫폼으로의 확대</a:t>
            </a:r>
            <a:r>
              <a:rPr lang="en-US" altLang="ko-KR" sz="1400" dirty="0" smtClean="0">
                <a:solidFill>
                  <a:srgbClr val="000000"/>
                </a:solidFill>
                <a:latin typeface="Georgia" pitchFamily="18" charset="0"/>
                <a:ea typeface="맑은 고딕"/>
              </a:rPr>
              <a:t>/</a:t>
            </a:r>
            <a:r>
              <a:rPr lang="ko-KR" altLang="en-US" sz="1400" dirty="0" smtClean="0">
                <a:solidFill>
                  <a:srgbClr val="000000"/>
                </a:solidFill>
                <a:latin typeface="Georgia" pitchFamily="18" charset="0"/>
                <a:ea typeface="맑은 고딕"/>
              </a:rPr>
              <a:t>발전을 계획하고 있음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33" name="내용 개체 틀 3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grpSp>
        <p:nvGrpSpPr>
          <p:cNvPr id="29" name="그룹 28"/>
          <p:cNvGrpSpPr/>
          <p:nvPr/>
        </p:nvGrpSpPr>
        <p:grpSpPr>
          <a:xfrm>
            <a:off x="309439" y="1935120"/>
            <a:ext cx="8511033" cy="288336"/>
            <a:chOff x="245643" y="1844520"/>
            <a:chExt cx="4118545" cy="288336"/>
          </a:xfrm>
        </p:grpSpPr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84102C76-57CF-49D0-9289-FF22351BC5C2}"/>
                </a:ext>
              </a:extLst>
            </p:cNvPr>
            <p:cNvSpPr txBox="1"/>
            <p:nvPr/>
          </p:nvSpPr>
          <p:spPr>
            <a:xfrm>
              <a:off x="245643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indent="-274320">
                <a:spcAft>
                  <a:spcPts val="900"/>
                </a:spcAft>
              </a:pPr>
              <a:r>
                <a:rPr lang="en-US" altLang="ko-KR" sz="1200" b="1" dirty="0" smtClean="0">
                  <a:latin typeface="Georgia" pitchFamily="18" charset="0"/>
                </a:rPr>
                <a:t>Target </a:t>
              </a:r>
              <a:r>
                <a:rPr lang="ko-KR" altLang="en-US" sz="1200" b="1" dirty="0" smtClean="0">
                  <a:latin typeface="Georgia" pitchFamily="18" charset="0"/>
                </a:rPr>
                <a:t>향후 사업 확장 및 고도화 계획</a:t>
              </a:r>
              <a:endParaRPr lang="en-US" sz="1200" b="1" baseline="30000" dirty="0">
                <a:latin typeface="Georgia" pitchFamily="18" charset="0"/>
              </a:endParaRPr>
            </a:p>
          </p:txBody>
        </p:sp>
        <p:cxnSp>
          <p:nvCxnSpPr>
            <p:cNvPr id="31" name="Straight Connector 11">
              <a:extLst>
                <a:ext uri="{FF2B5EF4-FFF2-40B4-BE49-F238E27FC236}">
                  <a16:creationId xmlns="" xmlns:a16="http://schemas.microsoft.com/office/drawing/2014/main" id="{CF12CB67-0720-4506-AA52-CB80E3DE4CA8}"/>
                </a:ext>
              </a:extLst>
            </p:cNvPr>
            <p:cNvCxnSpPr/>
            <p:nvPr/>
          </p:nvCxnSpPr>
          <p:spPr>
            <a:xfrm>
              <a:off x="251520" y="2132856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2" name="모서리가 둥근 직사각형 83"/>
          <p:cNvSpPr/>
          <p:nvPr/>
        </p:nvSpPr>
        <p:spPr>
          <a:xfrm>
            <a:off x="339031" y="2394702"/>
            <a:ext cx="1064617" cy="546464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970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고객</a:t>
            </a:r>
            <a:r>
              <a:rPr kumimoji="0" lang="en-US" altLang="ko-KR" sz="1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br>
              <a:rPr kumimoji="0" lang="en-US" altLang="ko-KR" sz="1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</a:br>
            <a:r>
              <a:rPr kumimoji="0" lang="ko-KR" altLang="en-US" sz="1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커뮤니티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1547664" y="2382539"/>
            <a:ext cx="4464496" cy="10464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400" b="1" kern="0" dirty="0">
                <a:solidFill>
                  <a:schemeClr val="tx2"/>
                </a:solidFill>
                <a:latin typeface="+mj-lt"/>
                <a:ea typeface="맑은 고딕" pitchFamily="50" charset="-127"/>
              </a:rPr>
              <a:t>핵심 사용자 그룹</a:t>
            </a:r>
            <a:r>
              <a:rPr lang="en-US" altLang="ko-KR" sz="1400" b="1" kern="0" dirty="0">
                <a:solidFill>
                  <a:schemeClr val="tx2"/>
                </a:solidFill>
                <a:latin typeface="+mj-lt"/>
                <a:ea typeface="맑은 고딕" pitchFamily="50" charset="-127"/>
              </a:rPr>
              <a:t>(AND </a:t>
            </a:r>
            <a:r>
              <a:rPr lang="ko-KR" altLang="en-US" sz="1400" b="1" kern="0" dirty="0">
                <a:solidFill>
                  <a:schemeClr val="tx2"/>
                </a:solidFill>
                <a:latin typeface="+mj-lt"/>
                <a:ea typeface="맑은 고딕" pitchFamily="50" charset="-127"/>
              </a:rPr>
              <a:t>사용자</a:t>
            </a:r>
            <a:r>
              <a:rPr lang="en-US" altLang="ko-KR" sz="1400" b="1" kern="0" dirty="0">
                <a:solidFill>
                  <a:schemeClr val="tx2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400" b="1" kern="0" dirty="0">
                <a:solidFill>
                  <a:schemeClr val="tx2"/>
                </a:solidFill>
                <a:latin typeface="+mj-lt"/>
                <a:ea typeface="맑은 고딕" pitchFamily="50" charset="-127"/>
              </a:rPr>
              <a:t>반복 사용자</a:t>
            </a:r>
            <a:r>
              <a:rPr lang="en-US" altLang="ko-KR" sz="1400" b="1" kern="0" dirty="0">
                <a:solidFill>
                  <a:schemeClr val="tx2"/>
                </a:solidFill>
                <a:latin typeface="+mj-lt"/>
                <a:ea typeface="맑은 고딕" pitchFamily="50" charset="-127"/>
              </a:rPr>
              <a:t>) </a:t>
            </a:r>
            <a:r>
              <a:rPr lang="ko-KR" altLang="en-US" sz="1400" b="1" kern="0" dirty="0">
                <a:solidFill>
                  <a:schemeClr val="tx2"/>
                </a:solidFill>
                <a:latin typeface="+mj-lt"/>
                <a:ea typeface="맑은 고딕" pitchFamily="50" charset="-127"/>
              </a:rPr>
              <a:t>기반 </a:t>
            </a: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성장</a:t>
            </a:r>
            <a:endParaRPr lang="en-US" altLang="ko-KR" sz="1400" b="1" kern="0" dirty="0" smtClean="0">
              <a:solidFill>
                <a:schemeClr val="tx2"/>
              </a:solidFill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통합 커뮤니티 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100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만 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MAU(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앱 기준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) 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목표</a:t>
            </a:r>
            <a:endParaRPr lang="en-US" altLang="ko-KR" sz="1400" kern="0" dirty="0" smtClean="0"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고객 경험 고도화 위한 개인별 </a:t>
            </a: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추전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/AR 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기술 투자</a:t>
            </a:r>
            <a:endParaRPr lang="en-US" altLang="ko-KR" sz="1400" kern="0" dirty="0" smtClean="0"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endParaRPr lang="en-US" altLang="ko-KR" sz="1400" kern="0" dirty="0" smtClean="0">
              <a:latin typeface="+mj-lt"/>
              <a:ea typeface="맑은 고딕" pitchFamily="50" charset="-127"/>
            </a:endParaRPr>
          </a:p>
        </p:txBody>
      </p:sp>
      <p:sp>
        <p:nvSpPr>
          <p:cNvPr id="35" name="모서리가 둥근 직사각형 83"/>
          <p:cNvSpPr/>
          <p:nvPr/>
        </p:nvSpPr>
        <p:spPr>
          <a:xfrm>
            <a:off x="339031" y="3661459"/>
            <a:ext cx="1064617" cy="546464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970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커머스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1547664" y="3649296"/>
            <a:ext cx="4464496" cy="10464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en-US" altLang="ko-KR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PB </a:t>
            </a: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확대 및 온</a:t>
            </a:r>
            <a:r>
              <a:rPr lang="en-US" altLang="ko-KR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오프라인 채널 다변화</a:t>
            </a:r>
            <a:endParaRPr lang="en-US" altLang="ko-KR" sz="1400" b="1" kern="0" dirty="0" smtClean="0">
              <a:solidFill>
                <a:schemeClr val="tx2"/>
              </a:solidFill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PB 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브랜드 제작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/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수입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, 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오프라인 스토어 확대</a:t>
            </a:r>
            <a:endParaRPr lang="en-US" altLang="ko-KR" sz="1400" kern="0" dirty="0" smtClean="0"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상품 컨텐츠 제작 고도화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(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촬영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, 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디자인 등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) 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및 전국 단위 제품 </a:t>
            </a: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배송망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 구축 </a:t>
            </a:r>
            <a:endParaRPr lang="en-US" altLang="ko-KR" sz="1400" kern="0" dirty="0" smtClean="0">
              <a:latin typeface="+mj-lt"/>
              <a:ea typeface="맑은 고딕" pitchFamily="50" charset="-127"/>
            </a:endParaRPr>
          </a:p>
        </p:txBody>
      </p:sp>
      <p:sp>
        <p:nvSpPr>
          <p:cNvPr id="41" name="모서리가 둥근 직사각형 83"/>
          <p:cNvSpPr/>
          <p:nvPr/>
        </p:nvSpPr>
        <p:spPr>
          <a:xfrm>
            <a:off x="339031" y="5021396"/>
            <a:ext cx="1064617" cy="546464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18288" rIns="36000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970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리모델링</a:t>
            </a:r>
            <a:r>
              <a:rPr kumimoji="0" lang="ko-KR" altLang="en-US" sz="1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및</a:t>
            </a:r>
            <a:r>
              <a:rPr kumimoji="0" lang="en-US" altLang="ko-KR" sz="1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/>
            </a:r>
            <a:br>
              <a:rPr kumimoji="0" lang="en-US" altLang="ko-KR" sz="1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</a:br>
            <a:r>
              <a:rPr kumimoji="0" lang="ko-KR" altLang="en-US" sz="1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홈 서비스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1547664" y="5009233"/>
            <a:ext cx="4464496" cy="10464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lvl="0">
              <a:spcAft>
                <a:spcPts val="600"/>
              </a:spcAft>
              <a:buClr>
                <a:schemeClr val="tx1"/>
              </a:buClr>
              <a:defRPr/>
            </a:pPr>
            <a:r>
              <a:rPr lang="ko-KR" altLang="en-US" sz="1400" b="1" kern="0" dirty="0" err="1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리모델링</a:t>
            </a: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 사업 확대</a:t>
            </a:r>
            <a:r>
              <a:rPr lang="en-US" altLang="ko-KR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/</a:t>
            </a: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수익화 및 기타 </a:t>
            </a:r>
            <a:r>
              <a:rPr lang="ko-KR" altLang="en-US" sz="1400" b="1" kern="0" dirty="0" err="1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홈서비스</a:t>
            </a:r>
            <a:r>
              <a:rPr lang="ko-KR" altLang="en-US" sz="1400" b="1" kern="0" dirty="0" smtClean="0">
                <a:solidFill>
                  <a:schemeClr val="tx2"/>
                </a:solidFill>
                <a:latin typeface="+mj-lt"/>
                <a:ea typeface="맑은 고딕" pitchFamily="50" charset="-127"/>
              </a:rPr>
              <a:t> 확대</a:t>
            </a:r>
            <a:endParaRPr lang="en-US" altLang="ko-KR" sz="1400" b="1" kern="0" dirty="0" smtClean="0">
              <a:solidFill>
                <a:schemeClr val="tx2"/>
              </a:solidFill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err="1" smtClean="0">
                <a:latin typeface="+mj-lt"/>
                <a:ea typeface="맑은 고딕" pitchFamily="50" charset="-127"/>
              </a:rPr>
              <a:t>리모델링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 서비스 단계적 수익화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, 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지역별 직영 시공 브랜드 런칭</a:t>
            </a:r>
            <a:endParaRPr lang="en-US" altLang="ko-KR" sz="1400" kern="0" dirty="0" smtClean="0">
              <a:latin typeface="+mj-lt"/>
              <a:ea typeface="맑은 고딕" pitchFamily="50" charset="-127"/>
            </a:endParaRPr>
          </a:p>
          <a:p>
            <a:pPr marL="174625" lvl="0" indent="-174625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주거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/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홈 관련 기타 서비스 런칭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(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이사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, </a:t>
            </a:r>
            <a:r>
              <a:rPr lang="ko-KR" altLang="en-US" sz="1400" kern="0" dirty="0" smtClean="0">
                <a:latin typeface="+mj-lt"/>
                <a:ea typeface="맑은 고딕" pitchFamily="50" charset="-127"/>
              </a:rPr>
              <a:t>가사도우미 등</a:t>
            </a:r>
            <a:r>
              <a:rPr lang="en-US" altLang="ko-KR" sz="1400" kern="0" dirty="0" smtClean="0">
                <a:latin typeface="+mj-lt"/>
                <a:ea typeface="맑은 고딕" pitchFamily="50" charset="-127"/>
              </a:rPr>
              <a:t>)</a:t>
            </a:r>
          </a:p>
        </p:txBody>
      </p:sp>
      <p:sp>
        <p:nvSpPr>
          <p:cNvPr id="9" name="오른쪽 중괄호 8"/>
          <p:cNvSpPr/>
          <p:nvPr/>
        </p:nvSpPr>
        <p:spPr>
          <a:xfrm>
            <a:off x="6165320" y="2564904"/>
            <a:ext cx="216024" cy="3456384"/>
          </a:xfrm>
          <a:prstGeom prst="rightBrace">
            <a:avLst>
              <a:gd name="adj1" fmla="val 50662"/>
              <a:gd name="adj2" fmla="val 50000"/>
            </a:avLst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6335624" y="3896771"/>
            <a:ext cx="2664296" cy="909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rIns="36000" anchor="t" anchorCtr="0"/>
          <a:lstStyle/>
          <a:p>
            <a:pPr lvl="0"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defRPr/>
            </a:pPr>
            <a:r>
              <a:rPr lang="ko-KR" altLang="en-US" sz="1600" b="1" kern="0" dirty="0">
                <a:solidFill>
                  <a:srgbClr val="C00000"/>
                </a:solidFill>
                <a:latin typeface="+mj-lt"/>
                <a:ea typeface="맑은 고딕" pitchFamily="50" charset="-127"/>
              </a:rPr>
              <a:t>커뮤니티 </a:t>
            </a:r>
            <a:r>
              <a:rPr lang="ko-KR" altLang="en-US" sz="16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기반</a:t>
            </a:r>
            <a:r>
              <a:rPr lang="en-US" altLang="ko-KR" sz="16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/>
            </a:r>
            <a:br>
              <a:rPr lang="en-US" altLang="ko-KR" sz="16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</a:br>
            <a:r>
              <a:rPr lang="ko-KR" altLang="en-US" sz="1600" b="1" kern="0" dirty="0" smtClean="0">
                <a:solidFill>
                  <a:srgbClr val="C00000"/>
                </a:solidFill>
                <a:latin typeface="+mj-lt"/>
                <a:ea typeface="맑은 고딕" pitchFamily="50" charset="-127"/>
              </a:rPr>
              <a:t>“</a:t>
            </a:r>
            <a:r>
              <a:rPr lang="en-US" altLang="ko-KR" sz="1600" b="1" kern="0" dirty="0">
                <a:solidFill>
                  <a:srgbClr val="C00000"/>
                </a:solidFill>
                <a:latin typeface="+mj-lt"/>
                <a:ea typeface="맑은 고딕" pitchFamily="50" charset="-127"/>
              </a:rPr>
              <a:t>Total Housing Service” </a:t>
            </a:r>
            <a:r>
              <a:rPr lang="ko-KR" altLang="en-US" sz="1600" b="1" kern="0" dirty="0">
                <a:solidFill>
                  <a:srgbClr val="C00000"/>
                </a:solidFill>
                <a:latin typeface="+mj-lt"/>
                <a:ea typeface="맑은 고딕" pitchFamily="50" charset="-127"/>
              </a:rPr>
              <a:t>플랫폼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="" xmlns:a16="http://schemas.microsoft.com/office/drawing/2014/main" id="{752B7564-5D31-4DC1-9FCB-CD7B0ED99D0C}"/>
              </a:ext>
            </a:extLst>
          </p:cNvPr>
          <p:cNvSpPr>
            <a:spLocks noChangeAspect="1"/>
          </p:cNvSpPr>
          <p:nvPr/>
        </p:nvSpPr>
        <p:spPr bwMode="auto">
          <a:xfrm>
            <a:off x="171604" y="301917"/>
            <a:ext cx="324000" cy="324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6800" tIns="90000" rIns="46800" bIns="90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>
                <a:latin typeface="+mn-ea"/>
                <a:cs typeface="Arial" pitchFamily="34" charset="0"/>
              </a:rPr>
              <a:t>4</a:t>
            </a:r>
            <a:endParaRPr lang="en-US" altLang="ko-KR" sz="1700" b="1" dirty="0" smtClean="0"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9924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/>
          </p:cNvSpPr>
          <p:nvPr/>
        </p:nvSpPr>
        <p:spPr>
          <a:xfrm>
            <a:off x="1259632" y="2492896"/>
            <a:ext cx="6840000" cy="622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Tx/>
              <a:buFontTx/>
              <a:buNone/>
              <a:tabLst/>
              <a:defRPr sz="1600" b="1" kern="1200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2pPr>
            <a:lvl3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-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3pPr>
            <a:lvl4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5pPr>
            <a:lvl6pPr marL="274320" marR="0" indent="-27432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6pPr>
            <a:lvl7pPr marL="54864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alpha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7pPr>
            <a:lvl8pPr marL="82296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roman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8pPr>
            <a:lvl9pPr marL="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None/>
              <a:defRPr sz="2000" b="1" kern="1200" baseline="0">
                <a:solidFill>
                  <a:schemeClr val="tx2"/>
                </a:solidFill>
                <a:latin typeface="Georgia" pitchFamily="18" charset="0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III. </a:t>
            </a:r>
            <a:r>
              <a:rPr lang="ko-KR" altLang="en-US" dirty="0" smtClean="0"/>
              <a:t>재무 실적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81001" y="704728"/>
            <a:ext cx="1238672" cy="432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600" b="1" dirty="0">
                <a:solidFill>
                  <a:srgbClr val="233A63"/>
                </a:solidFill>
              </a:rPr>
              <a:t>Contents</a:t>
            </a:r>
            <a:endParaRPr lang="ko-KR" altLang="en-US" sz="1600" b="1" dirty="0" err="1">
              <a:solidFill>
                <a:srgbClr val="233A63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0435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BC80C-B1D2-42DA-B465-5CACDB325AFD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233A63"/>
                </a:solidFill>
                <a:effectLst/>
                <a:uLnTx/>
                <a:uFillTx/>
                <a:latin typeface="Georgia"/>
                <a:ea typeface="맑은 고딕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233A63"/>
              </a:solidFill>
              <a:effectLst/>
              <a:uLnTx/>
              <a:uFillTx/>
              <a:latin typeface="Georgia"/>
              <a:ea typeface="맑은 고딕"/>
              <a:cs typeface="+mn-cs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 err="1"/>
              <a:t>재무현황</a:t>
            </a: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altLang="ko-KR" dirty="0"/>
              <a:t>Target</a:t>
            </a:r>
            <a:r>
              <a:rPr lang="ko-KR" altLang="en-US" dirty="0"/>
              <a:t> </a:t>
            </a:r>
            <a:r>
              <a:rPr lang="en-US" altLang="ko-KR" dirty="0"/>
              <a:t>Financial</a:t>
            </a:r>
            <a:r>
              <a:rPr lang="ko-KR" altLang="en-US" dirty="0"/>
              <a:t> </a:t>
            </a:r>
            <a:r>
              <a:rPr lang="en-US" altLang="ko-KR" dirty="0"/>
              <a:t>Index</a:t>
            </a:r>
            <a:endParaRPr lang="ko-KR" altLang="en-US" sz="1200" dirty="0">
              <a:effectLst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9089E161-373A-45C2-BB22-444E34650624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과거 손익 성과 분석</a:t>
            </a:r>
            <a:endParaRPr kumimoji="0" lang="en-US" sz="14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324460" y="1709648"/>
            <a:ext cx="4266388" cy="288336"/>
            <a:chOff x="243308" y="1844520"/>
            <a:chExt cx="4112668" cy="288336"/>
          </a:xfrm>
        </p:grpSpPr>
        <p:cxnSp>
          <p:nvCxnSpPr>
            <p:cNvPr id="10" name="Straight Connector 9">
              <a:extLst>
                <a:ext uri="{FF2B5EF4-FFF2-40B4-BE49-F238E27FC236}">
                  <a16:creationId xmlns="" xmlns:a16="http://schemas.microsoft.com/office/drawing/2014/main" id="{170AEDCA-069E-43C8-8B5D-87E430AEBD91}"/>
                </a:ext>
              </a:extLst>
            </p:cNvPr>
            <p:cNvCxnSpPr/>
            <p:nvPr/>
          </p:nvCxnSpPr>
          <p:spPr>
            <a:xfrm>
              <a:off x="243308" y="2132856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806B86A6-906A-4E3B-B35B-9DA55B9CC84C}"/>
                </a:ext>
              </a:extLst>
            </p:cNvPr>
            <p:cNvSpPr txBox="1"/>
            <p:nvPr/>
          </p:nvSpPr>
          <p:spPr>
            <a:xfrm>
              <a:off x="245643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-27432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 pitchFamily="18" charset="0"/>
                  <a:ea typeface="맑은 고딕"/>
                  <a:cs typeface="+mn-cs"/>
                </a:rPr>
                <a:t>과거 손익 성과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5004048" y="1701952"/>
            <a:ext cx="3754704" cy="288336"/>
            <a:chOff x="4563788" y="1844520"/>
            <a:chExt cx="4112668" cy="28833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="" xmlns:a16="http://schemas.microsoft.com/office/drawing/2014/main" id="{94ACDD44-01F3-46DB-95FE-9EC333A43A89}"/>
                </a:ext>
              </a:extLst>
            </p:cNvPr>
            <p:cNvCxnSpPr/>
            <p:nvPr/>
          </p:nvCxnSpPr>
          <p:spPr>
            <a:xfrm>
              <a:off x="4563788" y="2132856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0B813EEA-041E-4D7C-A8A9-0F06BA34986F}"/>
                </a:ext>
              </a:extLst>
            </p:cNvPr>
            <p:cNvSpPr txBox="1"/>
            <p:nvPr/>
          </p:nvSpPr>
          <p:spPr>
            <a:xfrm>
              <a:off x="4566123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-27432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 pitchFamily="18" charset="0"/>
                  <a:ea typeface="맑은 고딕"/>
                  <a:cs typeface="+mn-cs"/>
                </a:rPr>
                <a:t>주요 내용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endParaRPr>
            </a:p>
          </p:txBody>
        </p:sp>
      </p:grpSp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337044" y="2202154"/>
          <a:ext cx="4018932" cy="3819134"/>
        </p:xfrm>
        <a:graphic>
          <a:graphicData uri="http://schemas.openxmlformats.org/drawingml/2006/table">
            <a:tbl>
              <a:tblPr firstRow="1" bandRow="1">
                <a:tableStyleId>{69D073F8-1565-44D7-B386-08B59EADF2EE}</a:tableStyleId>
              </a:tblPr>
              <a:tblGrid>
                <a:gridCol w="1004733">
                  <a:extLst>
                    <a:ext uri="{9D8B030D-6E8A-4147-A177-3AD203B41FA5}">
                      <a16:colId xmlns="" xmlns:a16="http://schemas.microsoft.com/office/drawing/2014/main" val="851968721"/>
                    </a:ext>
                  </a:extLst>
                </a:gridCol>
                <a:gridCol w="1004733">
                  <a:extLst>
                    <a:ext uri="{9D8B030D-6E8A-4147-A177-3AD203B41FA5}">
                      <a16:colId xmlns="" xmlns:a16="http://schemas.microsoft.com/office/drawing/2014/main" val="3178951204"/>
                    </a:ext>
                  </a:extLst>
                </a:gridCol>
                <a:gridCol w="1004733">
                  <a:extLst>
                    <a:ext uri="{9D8B030D-6E8A-4147-A177-3AD203B41FA5}">
                      <a16:colId xmlns="" xmlns:a16="http://schemas.microsoft.com/office/drawing/2014/main" val="729572449"/>
                    </a:ext>
                  </a:extLst>
                </a:gridCol>
                <a:gridCol w="1004733">
                  <a:extLst>
                    <a:ext uri="{9D8B030D-6E8A-4147-A177-3AD203B41FA5}">
                      <a16:colId xmlns="" xmlns:a16="http://schemas.microsoft.com/office/drawing/2014/main" val="160809370"/>
                    </a:ext>
                  </a:extLst>
                </a:gridCol>
              </a:tblGrid>
              <a:tr h="34898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</a:rPr>
                        <a:t>단위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</a:rPr>
                        <a:t>백만원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32695047"/>
                  </a:ext>
                </a:extLst>
              </a:tr>
              <a:tr h="6049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solidFill>
                            <a:schemeClr val="tx1"/>
                          </a:solidFill>
                        </a:rPr>
                        <a:t>총 매출</a:t>
                      </a:r>
                      <a:r>
                        <a:rPr lang="en-US" altLang="ko-KR" sz="1300" b="1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altLang="ko-KR" sz="1300" b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300" b="1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300" b="1" dirty="0" err="1" smtClean="0">
                          <a:solidFill>
                            <a:schemeClr val="tx1"/>
                          </a:solidFill>
                        </a:rPr>
                        <a:t>거래액</a:t>
                      </a:r>
                      <a:r>
                        <a:rPr lang="en-US" altLang="ko-KR" sz="1300" b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4,676 </a:t>
                      </a:r>
                      <a:endParaRPr lang="en-US" altLang="ko-KR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8,179 </a:t>
                      </a:r>
                      <a:endParaRPr lang="en-US" altLang="ko-KR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7,476 </a:t>
                      </a:r>
                      <a:endParaRPr lang="en-US" altLang="ko-KR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78771444"/>
                  </a:ext>
                </a:extLst>
              </a:tr>
              <a:tr h="4223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</a:rPr>
                        <a:t>매출총이익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427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870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1,112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27229440"/>
                  </a:ext>
                </a:extLst>
              </a:tr>
              <a:tr h="348981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300" b="1" i="1" dirty="0" smtClean="0">
                          <a:solidFill>
                            <a:schemeClr val="tx2"/>
                          </a:solidFill>
                        </a:rPr>
                        <a:t>매출 </a:t>
                      </a:r>
                      <a:r>
                        <a:rPr lang="en-US" altLang="ko-KR" sz="1300" b="1" i="1" dirty="0" smtClean="0">
                          <a:solidFill>
                            <a:schemeClr val="tx2"/>
                          </a:solidFill>
                        </a:rPr>
                        <a:t>%</a:t>
                      </a:r>
                      <a:endParaRPr lang="ko-KR" altLang="en-US" sz="1300" b="1" i="1" dirty="0">
                        <a:solidFill>
                          <a:schemeClr val="tx2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1" i="1" u="none" strike="noStrike" dirty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9%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1" i="1" u="none" strike="noStrike" dirty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11%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1" i="1" u="none" strike="noStrike" dirty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15%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34119106"/>
                  </a:ext>
                </a:extLst>
              </a:tr>
              <a:tr h="3489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</a:rPr>
                        <a:t>마케팅비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332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1,426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1,016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541709030"/>
                  </a:ext>
                </a:extLst>
              </a:tr>
              <a:tr h="348981"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ko-KR" altLang="en-US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매출 </a:t>
                      </a:r>
                      <a:r>
                        <a:rPr lang="en-US" altLang="ko-KR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%</a:t>
                      </a:r>
                      <a:endParaRPr lang="ko-KR" altLang="en-US" sz="1300" b="1" i="1" u="none" strike="noStrike" kern="1200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1" i="1" u="none" strike="noStrike" kern="1200" dirty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7%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1" i="1" u="none" strike="noStrike" kern="1200" dirty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17%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14%</a:t>
                      </a:r>
                      <a:endParaRPr lang="en-US" altLang="ko-KR" sz="1300" b="1" i="1" u="none" strike="noStrike" kern="1200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60275703"/>
                  </a:ext>
                </a:extLst>
              </a:tr>
              <a:tr h="3489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</a:rPr>
                        <a:t>  운영비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624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1,038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838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683028249"/>
                  </a:ext>
                </a:extLst>
              </a:tr>
              <a:tr h="348981"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ko-KR" altLang="en-US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매출 </a:t>
                      </a:r>
                      <a:r>
                        <a:rPr lang="en-US" altLang="ko-KR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%</a:t>
                      </a:r>
                      <a:endParaRPr lang="ko-KR" altLang="en-US" sz="1300" b="1" i="1" u="none" strike="noStrike" kern="1200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1" i="1" u="none" strike="noStrike" kern="1200" dirty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13%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1" i="1" u="none" strike="noStrike" kern="1200" dirty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13%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1" i="1" u="none" strike="noStrike" kern="1200" dirty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11%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52398652"/>
                  </a:ext>
                </a:extLst>
              </a:tr>
              <a:tr h="3489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</a:rPr>
                        <a:t>영업이익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-529 </a:t>
                      </a:r>
                      <a:endParaRPr lang="en-US" altLang="ko-KR" sz="13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-1,594 </a:t>
                      </a:r>
                      <a:endParaRPr lang="en-US" altLang="ko-KR" sz="13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FontTx/>
                        <a:buChar char="-"/>
                      </a:pPr>
                      <a:r>
                        <a:rPr lang="en-US" altLang="ko-KR" sz="13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742</a:t>
                      </a:r>
                      <a:endParaRPr lang="en-US" altLang="ko-KR" sz="13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47435523"/>
                  </a:ext>
                </a:extLst>
              </a:tr>
              <a:tr h="348981"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ko-KR" altLang="en-US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매출 </a:t>
                      </a:r>
                      <a:r>
                        <a:rPr lang="en-US" altLang="ko-KR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%</a:t>
                      </a:r>
                      <a:endParaRPr lang="ko-KR" altLang="en-US" sz="1300" b="1" i="1" u="none" strike="noStrike" kern="1200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0" i="1" u="none" strike="noStrike" kern="120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-11%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0" i="1" u="none" strike="noStrike" kern="120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-19%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0" i="1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-10%</a:t>
                      </a:r>
                      <a:endParaRPr lang="en-US" altLang="ko-KR" sz="1300" b="0" i="1" u="none" strike="noStrike" kern="120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55319266"/>
                  </a:ext>
                </a:extLst>
              </a:tr>
            </a:tbl>
          </a:graphicData>
        </a:graphic>
      </p:graphicFrame>
      <p:sp>
        <p:nvSpPr>
          <p:cNvPr id="14" name="타원 13"/>
          <p:cNvSpPr>
            <a:spLocks noChangeAspect="1"/>
          </p:cNvSpPr>
          <p:nvPr/>
        </p:nvSpPr>
        <p:spPr bwMode="auto">
          <a:xfrm>
            <a:off x="4374848" y="2708920"/>
            <a:ext cx="216000" cy="216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1</a:t>
            </a:r>
            <a:endParaRPr kumimoji="0" lang="ko-KR" alt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16" name="타원 15"/>
          <p:cNvSpPr>
            <a:spLocks noChangeAspect="1"/>
          </p:cNvSpPr>
          <p:nvPr/>
        </p:nvSpPr>
        <p:spPr bwMode="auto">
          <a:xfrm>
            <a:off x="4374848" y="3942200"/>
            <a:ext cx="216000" cy="216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1</a:t>
            </a:r>
            <a:endParaRPr kumimoji="0" lang="ko-KR" alt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17" name="타원 16"/>
          <p:cNvSpPr>
            <a:spLocks noChangeAspect="1"/>
          </p:cNvSpPr>
          <p:nvPr/>
        </p:nvSpPr>
        <p:spPr bwMode="auto">
          <a:xfrm>
            <a:off x="4374848" y="3266696"/>
            <a:ext cx="216000" cy="216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2</a:t>
            </a:r>
            <a:endParaRPr kumimoji="0" lang="ko-KR" alt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18" name="타원 17"/>
          <p:cNvSpPr>
            <a:spLocks noChangeAspect="1"/>
          </p:cNvSpPr>
          <p:nvPr/>
        </p:nvSpPr>
        <p:spPr bwMode="auto">
          <a:xfrm>
            <a:off x="4374848" y="4675193"/>
            <a:ext cx="216000" cy="216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3</a:t>
            </a:r>
            <a:endParaRPr kumimoji="0" lang="ko-KR" alt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19" name="타원 18"/>
          <p:cNvSpPr>
            <a:spLocks noChangeAspect="1"/>
          </p:cNvSpPr>
          <p:nvPr/>
        </p:nvSpPr>
        <p:spPr bwMode="auto">
          <a:xfrm>
            <a:off x="5023480" y="2202152"/>
            <a:ext cx="216000" cy="216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1</a:t>
            </a:r>
            <a:endParaRPr kumimoji="0" lang="ko-KR" alt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5306352" y="2186576"/>
            <a:ext cx="3452400" cy="124941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마케팅 투자 기반 </a:t>
            </a:r>
            <a:r>
              <a:rPr kumimoji="0" lang="ko-KR" altLang="en-US" sz="13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커머스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</a:t>
            </a:r>
            <a:r>
              <a:rPr kumimoji="0" lang="ko-KR" altLang="en-US" sz="13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거래액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상승</a:t>
            </a:r>
            <a:endParaRPr kumimoji="0" lang="en-US" altLang="ko-KR" sz="1300" b="1" i="0" u="none" strike="noStrike" kern="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’18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년 본격 마케팅 투자 통해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Volume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확대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/>
            </a:r>
            <a:b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</a:b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※ ’19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년 마케팅 투자 부족으로 성장 정체</a:t>
            </a:r>
            <a:endParaRPr kumimoji="0" lang="en-US" altLang="ko-KR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커뮤니티 기반 </a:t>
            </a:r>
            <a:r>
              <a:rPr kumimoji="0" lang="ko-KR" altLang="en-US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커머스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판매로 높은 마케팅 투자 효과</a:t>
            </a:r>
            <a:endParaRPr kumimoji="0" lang="en-US" altLang="ko-KR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22" name="타원 21"/>
          <p:cNvSpPr>
            <a:spLocks noChangeAspect="1"/>
          </p:cNvSpPr>
          <p:nvPr/>
        </p:nvSpPr>
        <p:spPr bwMode="auto">
          <a:xfrm>
            <a:off x="5023480" y="3567010"/>
            <a:ext cx="216000" cy="216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2</a:t>
            </a:r>
            <a:endParaRPr kumimoji="0" lang="ko-KR" alt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5306352" y="3527296"/>
            <a:ext cx="3452400" cy="11239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거래액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대비 </a:t>
            </a:r>
            <a:r>
              <a:rPr kumimoji="0" lang="ko-KR" altLang="en-US" sz="13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매출총이익률</a:t>
            </a:r>
            <a:r>
              <a:rPr kumimoji="0" lang="en-US" altLang="ko-KR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지속 상승</a:t>
            </a:r>
            <a:endParaRPr kumimoji="0" lang="en-US" altLang="ko-KR" sz="1300" b="1" i="0" u="none" strike="noStrike" kern="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PB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제품</a:t>
            </a:r>
            <a:r>
              <a:rPr kumimoji="0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및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광고수익 확대 따른 마진율 상승</a:t>
            </a:r>
            <a:r>
              <a:rPr kumimoji="0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/>
            </a:r>
            <a:br>
              <a:rPr kumimoji="0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</a:b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-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평균 마진율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: PB 30%,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일반제품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16%</a:t>
            </a:r>
            <a:endParaRPr kumimoji="0" lang="en-US" altLang="ko-KR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향후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PB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제품 지속 확대 통해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20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%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이상 기대</a:t>
            </a:r>
            <a:endParaRPr kumimoji="0" lang="en-US" altLang="ko-KR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24" name="타원 23"/>
          <p:cNvSpPr>
            <a:spLocks noChangeAspect="1"/>
          </p:cNvSpPr>
          <p:nvPr/>
        </p:nvSpPr>
        <p:spPr bwMode="auto">
          <a:xfrm>
            <a:off x="5023480" y="4799145"/>
            <a:ext cx="216000" cy="216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3</a:t>
            </a:r>
            <a:endParaRPr kumimoji="0" lang="ko-KR" alt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5306352" y="4759432"/>
            <a:ext cx="3452400" cy="8602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고정비성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운영비 총 매출 대비 </a:t>
            </a:r>
            <a:r>
              <a:rPr kumimoji="0" lang="en-US" altLang="ko-KR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10% 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이하 가능</a:t>
            </a:r>
            <a:endParaRPr kumimoji="0" lang="en-US" altLang="ko-KR" sz="1300" b="1" i="0" u="none" strike="noStrike" kern="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대부분 </a:t>
            </a:r>
            <a:r>
              <a:rPr kumimoji="0" lang="ko-KR" altLang="en-US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인건비성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경비로 향후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Volume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확대 시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10%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수준 안정화 가능</a:t>
            </a:r>
            <a:endParaRPr kumimoji="0" lang="en-US" altLang="ko-KR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5023480" y="5618113"/>
            <a:ext cx="3796992" cy="4751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본격적 </a:t>
            </a: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마케팅 등</a:t>
            </a: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투자 집행 시</a:t>
            </a: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/>
            </a:r>
            <a:b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</a:b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단기 내 </a:t>
            </a:r>
            <a:r>
              <a:rPr kumimoji="0" lang="ko-KR" altLang="en-US" sz="1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턴어라운드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가능</a:t>
            </a:r>
            <a:endParaRPr kumimoji="0" lang="en-US" altLang="ko-KR" sz="1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27" name="내용 개체 틀 32"/>
          <p:cNvSpPr>
            <a:spLocks noGrp="1"/>
          </p:cNvSpPr>
          <p:nvPr>
            <p:ph sz="quarter" idx="15"/>
          </p:nvPr>
        </p:nvSpPr>
        <p:spPr>
          <a:xfrm>
            <a:off x="423610" y="6285440"/>
            <a:ext cx="6084000" cy="263624"/>
          </a:xfrm>
        </p:spPr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</p:spTree>
    <p:extLst>
      <p:ext uri="{BB962C8B-B14F-4D97-AF65-F5344CB8AC3E}">
        <p14:creationId xmlns="" xmlns:p14="http://schemas.microsoft.com/office/powerpoint/2010/main" val="378704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BC80C-B1D2-42DA-B465-5CACDB325AFD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233A63"/>
                </a:solidFill>
                <a:effectLst/>
                <a:uLnTx/>
                <a:uFillTx/>
                <a:latin typeface="Georgia"/>
                <a:ea typeface="맑은 고딕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233A63"/>
              </a:solidFill>
              <a:effectLst/>
              <a:uLnTx/>
              <a:uFillTx/>
              <a:latin typeface="Georgia"/>
              <a:ea typeface="맑은 고딕"/>
              <a:cs typeface="+mn-cs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 err="1"/>
              <a:t>재무현황</a:t>
            </a: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 smtClean="0"/>
              <a:t>월별 방문자수 및 </a:t>
            </a:r>
            <a:r>
              <a:rPr lang="ko-KR" altLang="en-US" dirty="0" err="1" smtClean="0"/>
              <a:t>거래액</a:t>
            </a:r>
            <a:r>
              <a:rPr lang="ko-KR" altLang="en-US" dirty="0" smtClean="0"/>
              <a:t> 추이</a:t>
            </a:r>
            <a:endParaRPr lang="ko-KR" altLang="en-US" sz="1200" dirty="0">
              <a:effectLst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9089E161-373A-45C2-BB22-444E34650624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27" name="내용 개체 틀 32"/>
          <p:cNvSpPr>
            <a:spLocks noGrp="1"/>
          </p:cNvSpPr>
          <p:nvPr>
            <p:ph sz="quarter" idx="15"/>
          </p:nvPr>
        </p:nvSpPr>
        <p:spPr>
          <a:xfrm>
            <a:off x="423610" y="6285440"/>
            <a:ext cx="6084000" cy="263624"/>
          </a:xfrm>
        </p:spPr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251520" y="1799104"/>
            <a:ext cx="21602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 flipV="1">
            <a:off x="2411760" y="1785926"/>
            <a:ext cx="1945926" cy="131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>
            <a:off x="4429124" y="1785926"/>
            <a:ext cx="2267684" cy="131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차트 14"/>
          <p:cNvGraphicFramePr/>
          <p:nvPr>
            <p:extLst/>
          </p:nvPr>
        </p:nvGraphicFramePr>
        <p:xfrm>
          <a:off x="251520" y="1969783"/>
          <a:ext cx="6642576" cy="3006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차트 15"/>
          <p:cNvGraphicFramePr/>
          <p:nvPr>
            <p:extLst/>
          </p:nvPr>
        </p:nvGraphicFramePr>
        <p:xfrm>
          <a:off x="251520" y="3573016"/>
          <a:ext cx="6642576" cy="2505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7" name="직선 연결선 16"/>
          <p:cNvCxnSpPr/>
          <p:nvPr/>
        </p:nvCxnSpPr>
        <p:spPr>
          <a:xfrm>
            <a:off x="2411760" y="1394224"/>
            <a:ext cx="0" cy="3978992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4357686" y="1394224"/>
            <a:ext cx="0" cy="3978992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1193" y="1357648"/>
            <a:ext cx="2130567" cy="37781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초기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:</a:t>
            </a:r>
            <a:b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ko-KR" altLang="en-US" sz="1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마케팅비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3.3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억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월 평균 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0.3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억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)</a:t>
            </a:r>
            <a:endParaRPr kumimoji="0" lang="ko-KR" altLang="en-US" sz="12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94594" y="1357648"/>
            <a:ext cx="1847926" cy="37781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확대기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:</a:t>
            </a:r>
            <a:b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14.3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억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월 평균 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1.2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억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)</a:t>
            </a:r>
            <a:endParaRPr kumimoji="0" lang="ko-KR" altLang="en-US" sz="12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00541" y="1357648"/>
            <a:ext cx="1847926" cy="37781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소강기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자금 부족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):</a:t>
            </a:r>
            <a:b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4.2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억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월 평균 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0.35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억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)</a:t>
            </a:r>
            <a:endParaRPr kumimoji="0" lang="ko-KR" altLang="en-US" sz="12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2022" y="3023265"/>
            <a:ext cx="1512168" cy="2880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총 방문자 수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)</a:t>
            </a:r>
            <a:endParaRPr kumimoji="0" lang="ko-KR" altLang="en-US" sz="1200" b="1" i="0" u="none" strike="noStrike" kern="1200" cap="none" spc="0" normalizeH="0" baseline="0" noProof="0" dirty="0" err="1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6444" y="1860253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월 평균</a:t>
            </a: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23</a:t>
            </a:r>
            <a:r>
              <a:rPr kumimoji="0" lang="ko-KR" altLang="en-US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만명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41781" y="1860253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월 평균</a:t>
            </a: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51</a:t>
            </a:r>
            <a:r>
              <a:rPr kumimoji="0" lang="ko-KR" altLang="en-US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만명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7697" y="1860253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월 평균</a:t>
            </a: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41</a:t>
            </a:r>
            <a:r>
              <a:rPr kumimoji="0" lang="ko-KR" altLang="en-US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만명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022" y="4225729"/>
            <a:ext cx="1512168" cy="2880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월 총 </a:t>
            </a:r>
            <a:r>
              <a:rPr kumimoji="0" lang="ko-KR" altLang="en-US" sz="1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거래액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억원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)</a:t>
            </a:r>
            <a:endParaRPr kumimoji="0" lang="ko-KR" altLang="en-US" sz="1200" b="1" i="0" u="none" strike="noStrike" kern="1200" cap="none" spc="0" normalizeH="0" baseline="0" noProof="0" dirty="0" err="1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56444" y="5024077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월 평균</a:t>
            </a: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5.0</a:t>
            </a:r>
            <a:r>
              <a:rPr kumimoji="0" lang="ko-KR" altLang="en-US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1781" y="5024077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월 평균</a:t>
            </a: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9.1</a:t>
            </a:r>
            <a:r>
              <a:rPr kumimoji="0" lang="ko-KR" altLang="en-US" sz="1300" b="1" i="1" u="none" strike="noStrike" kern="1200" cap="none" spc="0" normalizeH="0" baseline="0" noProof="0" dirty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억</a:t>
            </a:r>
            <a:endParaRPr kumimoji="0" lang="ko-KR" altLang="en-US" sz="1300" b="1" i="1" u="none" strike="noStrike" kern="120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517697" y="5024077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월 평균</a:t>
            </a: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8.1</a:t>
            </a:r>
            <a:r>
              <a:rPr kumimoji="0" lang="ko-KR" altLang="en-US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7144" y="1797960"/>
            <a:ext cx="1805143" cy="2937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’18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년 대비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’19</a:t>
            </a: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년이후</a:t>
            </a:r>
            <a:endParaRPr kumimoji="0" lang="ko-KR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47144" y="2367710"/>
            <a:ext cx="1805143" cy="2937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마케팅 비용 투자액은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47145" y="2620593"/>
            <a:ext cx="1673328" cy="2937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30% 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수준</a:t>
            </a:r>
            <a:endParaRPr kumimoji="0" lang="en-US" altLang="ko-KR" sz="1100" b="1" i="0" u="none" strike="noStrike" kern="120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 smtClean="0">
                <a:solidFill>
                  <a:srgbClr val="3C5A91"/>
                </a:solidFill>
                <a:latin typeface="Georgia" pitchFamily="18" charset="0"/>
                <a:ea typeface="맑은 고딕"/>
              </a:rPr>
              <a:t>(‘20. </a:t>
            </a:r>
            <a:r>
              <a:rPr lang="ko-KR" altLang="en-US" sz="1100" b="1" dirty="0" err="1" smtClean="0">
                <a:solidFill>
                  <a:srgbClr val="3C5A91"/>
                </a:solidFill>
                <a:latin typeface="Georgia" pitchFamily="18" charset="0"/>
                <a:ea typeface="맑은 고딕"/>
              </a:rPr>
              <a:t>마케팅비</a:t>
            </a:r>
            <a:r>
              <a:rPr lang="ko-KR" altLang="en-US" sz="1100" b="1" dirty="0" smtClean="0">
                <a:solidFill>
                  <a:srgbClr val="3C5A91"/>
                </a:solidFill>
                <a:latin typeface="Georgia" pitchFamily="18" charset="0"/>
                <a:ea typeface="맑은 고딕"/>
              </a:rPr>
              <a:t>  집행</a:t>
            </a:r>
            <a:r>
              <a:rPr lang="en-US" altLang="ko-KR" sz="1100" b="1" dirty="0" smtClean="0">
                <a:solidFill>
                  <a:srgbClr val="3C5A91"/>
                </a:solidFill>
                <a:latin typeface="Georgia" pitchFamily="18" charset="0"/>
                <a:ea typeface="맑은 고딕"/>
              </a:rPr>
              <a:t>X)</a:t>
            </a:r>
            <a:endParaRPr kumimoji="0" lang="ko-KR" altLang="en-US" sz="1100" b="1" i="0" u="none" strike="noStrike" kern="120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147144" y="3333443"/>
            <a:ext cx="1805143" cy="2937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월 평균 방문자 수는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47145" y="3586326"/>
            <a:ext cx="1673328" cy="2937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8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0% 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수준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47144" y="4308225"/>
            <a:ext cx="1805143" cy="2937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월 평균 </a:t>
            </a:r>
            <a:r>
              <a:rPr kumimoji="0" lang="ko-KR" alt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거래액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 규모는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47145" y="4561108"/>
            <a:ext cx="1673328" cy="2937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89% 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수준</a:t>
            </a:r>
          </a:p>
        </p:txBody>
      </p: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7042075" y="5072074"/>
            <a:ext cx="1673329" cy="4751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’19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년 </a:t>
            </a:r>
            <a:r>
              <a:rPr lang="ko-KR" altLang="en-US" sz="1400" b="1" kern="0" dirty="0" smtClean="0">
                <a:solidFill>
                  <a:srgbClr val="FF0000"/>
                </a:solidFill>
                <a:latin typeface="Georgia"/>
                <a:ea typeface="맑은 고딕" pitchFamily="50" charset="-127"/>
              </a:rPr>
              <a:t>이후 </a:t>
            </a:r>
            <a:endParaRPr lang="en-US" altLang="ko-KR" sz="1400" b="1" kern="0" dirty="0" smtClean="0">
              <a:solidFill>
                <a:srgbClr val="FF0000"/>
              </a:solidFill>
              <a:latin typeface="Georgia"/>
              <a:ea typeface="맑은 고딕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소강기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불구</a:t>
            </a: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/>
            </a:r>
            <a:b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</a:b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마케팅 투자 효율 지속 상승 中</a:t>
            </a:r>
            <a:endParaRPr kumimoji="0" lang="en-US" altLang="ko-KR" sz="1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7409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BC80C-B1D2-42DA-B465-5CACDB325AFD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233A63"/>
                </a:solidFill>
                <a:effectLst/>
                <a:uLnTx/>
                <a:uFillTx/>
                <a:latin typeface="Georgia"/>
                <a:ea typeface="맑은 고딕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233A63"/>
              </a:solidFill>
              <a:effectLst/>
              <a:uLnTx/>
              <a:uFillTx/>
              <a:latin typeface="Georgia"/>
              <a:ea typeface="맑은 고딕"/>
              <a:cs typeface="+mn-cs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 err="1"/>
              <a:t>재무현황</a:t>
            </a: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재방문자수 비율 및 </a:t>
            </a:r>
            <a:r>
              <a:rPr lang="ko-KR" altLang="en-US" dirty="0" err="1" smtClean="0"/>
              <a:t>구매전환율</a:t>
            </a:r>
            <a:r>
              <a:rPr lang="ko-KR" altLang="en-US" dirty="0" smtClean="0"/>
              <a:t> 추이</a:t>
            </a:r>
            <a:endParaRPr lang="ko-KR" altLang="en-US" sz="1200" dirty="0">
              <a:effectLst/>
            </a:endParaRPr>
          </a:p>
        </p:txBody>
      </p:sp>
      <p:sp>
        <p:nvSpPr>
          <p:cNvPr id="27" name="내용 개체 틀 32"/>
          <p:cNvSpPr>
            <a:spLocks noGrp="1"/>
          </p:cNvSpPr>
          <p:nvPr>
            <p:ph sz="quarter" idx="15"/>
          </p:nvPr>
        </p:nvSpPr>
        <p:spPr>
          <a:xfrm>
            <a:off x="423610" y="6285440"/>
            <a:ext cx="6084000" cy="263624"/>
          </a:xfrm>
        </p:spPr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graphicFrame>
        <p:nvGraphicFramePr>
          <p:cNvPr id="51" name="차트 50"/>
          <p:cNvGraphicFramePr/>
          <p:nvPr>
            <p:extLst/>
          </p:nvPr>
        </p:nvGraphicFramePr>
        <p:xfrm>
          <a:off x="244240" y="1839112"/>
          <a:ext cx="5184576" cy="3006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3" name="차트 52"/>
          <p:cNvGraphicFramePr/>
          <p:nvPr>
            <p:extLst/>
          </p:nvPr>
        </p:nvGraphicFramePr>
        <p:xfrm>
          <a:off x="251520" y="4137796"/>
          <a:ext cx="5184576" cy="2013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54" name="직선 연결선 53"/>
          <p:cNvCxnSpPr/>
          <p:nvPr/>
        </p:nvCxnSpPr>
        <p:spPr>
          <a:xfrm>
            <a:off x="1643042" y="1214422"/>
            <a:ext cx="0" cy="4258760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51520" y="1288192"/>
            <a:ext cx="1512168" cy="2880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재방문자수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 비율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1520" y="3342905"/>
            <a:ext cx="1512168" cy="2880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구매전환율</a:t>
            </a:r>
            <a:endParaRPr kumimoji="0" lang="ko-KR" altLang="en-US" sz="1200" b="1" i="0" u="none" strike="noStrike" kern="120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71472" y="1500174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’17</a:t>
            </a:r>
            <a:r>
              <a:rPr kumimoji="0" lang="ko-KR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년 연평균</a:t>
            </a: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600" b="1" i="1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53.3%</a:t>
            </a:r>
            <a:endParaRPr kumimoji="0" lang="ko-KR" altLang="en-US" sz="1600" b="1" i="1" u="sng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cxnSp>
        <p:nvCxnSpPr>
          <p:cNvPr id="61" name="직선 연결선 60"/>
          <p:cNvCxnSpPr/>
          <p:nvPr/>
        </p:nvCxnSpPr>
        <p:spPr>
          <a:xfrm>
            <a:off x="3357554" y="1288192"/>
            <a:ext cx="0" cy="4258760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214546" y="1500174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’18</a:t>
            </a:r>
            <a:r>
              <a:rPr kumimoji="0" lang="ko-KR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년 연평균</a:t>
            </a: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600" b="1" i="1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67.6%</a:t>
            </a:r>
            <a:endParaRPr kumimoji="0" lang="ko-KR" altLang="en-US" sz="1600" b="1" i="1" u="sng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213352" y="1547912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’19</a:t>
            </a:r>
            <a:r>
              <a:rPr kumimoji="0" lang="ko-KR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년 연평균</a:t>
            </a: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600" b="1" i="1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77.8%</a:t>
            </a:r>
            <a:endParaRPr kumimoji="0" lang="ko-KR" altLang="en-US" sz="1600" b="1" i="1" u="sng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28144" y="3614921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’17</a:t>
            </a:r>
            <a:r>
              <a:rPr kumimoji="0" lang="ko-KR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년 연평균</a:t>
            </a: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600" b="1" i="1" u="sng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2.6%</a:t>
            </a:r>
            <a:endParaRPr kumimoji="0" lang="ko-KR" altLang="en-US" sz="1600" b="1" i="1" u="sng" strike="noStrike" kern="120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285984" y="3614921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’18</a:t>
            </a:r>
            <a:r>
              <a:rPr kumimoji="0" lang="ko-KR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년 연평균</a:t>
            </a: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600" b="1" i="1" u="sng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3.8%</a:t>
            </a:r>
            <a:endParaRPr kumimoji="0" lang="ko-KR" altLang="en-US" sz="1600" b="1" i="1" u="sng" strike="noStrike" kern="120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213352" y="3614921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’19</a:t>
            </a:r>
            <a:r>
              <a:rPr kumimoji="0" lang="ko-KR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년 </a:t>
            </a:r>
            <a:r>
              <a:rPr kumimoji="0" lang="ko-KR" altLang="en-US" sz="12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이후연평균</a:t>
            </a: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600" b="1" i="1" u="sng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4.2%</a:t>
            </a:r>
            <a:endParaRPr kumimoji="0" lang="ko-KR" altLang="en-US" sz="1600" b="1" i="1" u="sng" strike="noStrike" kern="120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67" name="이등변 삼각형 66"/>
          <p:cNvSpPr/>
          <p:nvPr/>
        </p:nvSpPr>
        <p:spPr bwMode="auto">
          <a:xfrm rot="5400000">
            <a:off x="4184250" y="3393290"/>
            <a:ext cx="3533715" cy="40784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ko-KR" alt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69" name="Rectangle 14"/>
          <p:cNvSpPr>
            <a:spLocks noChangeArrowheads="1"/>
          </p:cNvSpPr>
          <p:nvPr/>
        </p:nvSpPr>
        <p:spPr bwMode="auto">
          <a:xfrm>
            <a:off x="6319400" y="1479461"/>
            <a:ext cx="2501072" cy="151749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3050 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충성 고객 기반 </a:t>
            </a:r>
            <a:r>
              <a:rPr kumimoji="0" lang="ko-KR" altLang="en-US" sz="13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재방문자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비율 지속 상승</a:t>
            </a:r>
            <a:endParaRPr kumimoji="0" lang="en-US" altLang="ko-KR" sz="13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커뮤니티 기반 충성 고객의 선순환 구조</a:t>
            </a:r>
            <a:endParaRPr kumimoji="0" lang="en-US" altLang="ko-KR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재방문자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경우 신규 방문자 대비 높은 마케팅 효율</a:t>
            </a:r>
            <a:endParaRPr kumimoji="0" lang="en-US" altLang="ko-KR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70" name="Rectangle 14"/>
          <p:cNvSpPr>
            <a:spLocks noChangeArrowheads="1"/>
          </p:cNvSpPr>
          <p:nvPr/>
        </p:nvSpPr>
        <p:spPr bwMode="auto">
          <a:xfrm>
            <a:off x="6319400" y="3504088"/>
            <a:ext cx="2645088" cy="25800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구매전환율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지속 상승</a:t>
            </a:r>
            <a:endParaRPr kumimoji="0" lang="en-US" altLang="ko-KR" sz="13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상품별 리뷰 데이터 지속 축적</a:t>
            </a:r>
            <a:r>
              <a:rPr kumimoji="0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및 판매 상품 확대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(6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만개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)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Product </a:t>
            </a:r>
            <a:r>
              <a:rPr kumimoji="0" lang="en-US" altLang="ko-KR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ux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/</a:t>
            </a:r>
            <a:r>
              <a:rPr kumimoji="0" lang="en-US" altLang="ko-KR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ui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개선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/>
            </a:r>
            <a:b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</a:b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(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로그인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ko-KR" altLang="en-US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게시글조회</a:t>
            </a:r>
            <a:r>
              <a:rPr kumimoji="0" lang="ko-KR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ko-KR" altLang="en-US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스토어방문</a:t>
            </a:r>
            <a:r>
              <a:rPr kumimoji="0" lang="ko-KR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ko-KR" altLang="en-US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상품조회</a:t>
            </a:r>
            <a:r>
              <a:rPr kumimoji="0" lang="ko-KR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구매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)</a:t>
            </a:r>
            <a:endParaRPr kumimoji="0" lang="en-US" altLang="ko-KR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core user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group(‘AND User’)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이 </a:t>
            </a:r>
            <a:r>
              <a:rPr kumimoji="0" lang="ko-KR" altLang="en-US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구매전환률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상승 견인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/>
            </a:r>
            <a:b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</a:b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- </a:t>
            </a:r>
            <a:r>
              <a:rPr kumimoji="0" lang="ko-KR" altLang="en-US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퀄리티있는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게시물 확대 따른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/>
            </a:r>
            <a:b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</a:b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만족도 및 서비스 </a:t>
            </a:r>
            <a:r>
              <a:rPr kumimoji="0" lang="ko-KR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로열티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상승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218903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BC80C-B1D2-42DA-B465-5CACDB325AFD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233A63"/>
                </a:solidFill>
                <a:effectLst/>
                <a:uLnTx/>
                <a:uFillTx/>
                <a:latin typeface="Georgia"/>
                <a:ea typeface="맑은 고딕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233A63"/>
              </a:solidFill>
              <a:effectLst/>
              <a:uLnTx/>
              <a:uFillTx/>
              <a:latin typeface="Georgia"/>
              <a:ea typeface="맑은 고딕"/>
              <a:cs typeface="+mn-cs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 err="1"/>
              <a:t>재무현황</a:t>
            </a: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월별 마진율 및 </a:t>
            </a:r>
            <a:r>
              <a:rPr lang="en-US" altLang="ko-KR" dirty="0" smtClean="0"/>
              <a:t>PB </a:t>
            </a:r>
            <a:r>
              <a:rPr lang="ko-KR" altLang="en-US" dirty="0" smtClean="0"/>
              <a:t>비중 추이</a:t>
            </a:r>
            <a:endParaRPr lang="ko-KR" altLang="en-US" sz="1200" dirty="0">
              <a:effectLst/>
            </a:endParaRPr>
          </a:p>
        </p:txBody>
      </p:sp>
      <p:sp>
        <p:nvSpPr>
          <p:cNvPr id="27" name="내용 개체 틀 32"/>
          <p:cNvSpPr>
            <a:spLocks noGrp="1"/>
          </p:cNvSpPr>
          <p:nvPr>
            <p:ph sz="quarter" idx="15"/>
          </p:nvPr>
        </p:nvSpPr>
        <p:spPr>
          <a:xfrm>
            <a:off x="423610" y="6285440"/>
            <a:ext cx="6084000" cy="263624"/>
          </a:xfrm>
        </p:spPr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graphicFrame>
        <p:nvGraphicFramePr>
          <p:cNvPr id="15" name="차트 14"/>
          <p:cNvGraphicFramePr/>
          <p:nvPr>
            <p:extLst/>
          </p:nvPr>
        </p:nvGraphicFramePr>
        <p:xfrm>
          <a:off x="251520" y="1890535"/>
          <a:ext cx="5904656" cy="3347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차트 15"/>
          <p:cNvGraphicFramePr/>
          <p:nvPr>
            <p:extLst/>
          </p:nvPr>
        </p:nvGraphicFramePr>
        <p:xfrm>
          <a:off x="251520" y="3140968"/>
          <a:ext cx="5904656" cy="29373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678632" y="2475347"/>
            <a:ext cx="1673328" cy="2937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14%</a:t>
            </a:r>
            <a:endParaRPr kumimoji="0" lang="ko-KR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6444208" y="5325362"/>
            <a:ext cx="2376265" cy="4751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수익성 중심 판매</a:t>
            </a: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무분별 할인 지양</a:t>
            </a: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및 </a:t>
            </a: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PB 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상품 확대로 수익성 지속 개선</a:t>
            </a:r>
            <a:endParaRPr kumimoji="0" lang="en-US" altLang="ko-KR" sz="1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51520" y="1288192"/>
            <a:ext cx="1512168" cy="2880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총 </a:t>
            </a:r>
            <a:r>
              <a:rPr kumimoji="0" lang="ko-KR" altLang="en-US" sz="1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거래액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 대비 마진율</a:t>
            </a:r>
          </a:p>
        </p:txBody>
      </p:sp>
      <p:cxnSp>
        <p:nvCxnSpPr>
          <p:cNvPr id="35" name="직선 연결선 34"/>
          <p:cNvCxnSpPr/>
          <p:nvPr/>
        </p:nvCxnSpPr>
        <p:spPr>
          <a:xfrm>
            <a:off x="3357554" y="1285860"/>
            <a:ext cx="0" cy="4095312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51520" y="3726176"/>
            <a:ext cx="1512168" cy="2880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PB  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비중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1521" y="1593632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’18</a:t>
            </a:r>
            <a:r>
              <a:rPr kumimoji="0" lang="ko-KR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년 연평균</a:t>
            </a: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600" b="1" i="1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11.1%</a:t>
            </a:r>
            <a:endParaRPr kumimoji="0" lang="ko-KR" altLang="en-US" sz="1600" b="1" i="1" u="sng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763217" y="1593632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’19</a:t>
            </a:r>
            <a:r>
              <a:rPr kumimoji="0" lang="ko-KR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년 연평균</a:t>
            </a: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600" b="1" i="1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15.1%</a:t>
            </a:r>
            <a:endParaRPr kumimoji="0" lang="ko-KR" altLang="en-US" sz="1600" b="1" i="1" u="sng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351521" y="3645024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’18</a:t>
            </a:r>
            <a:r>
              <a:rPr kumimoji="0" lang="ko-KR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년 연평균</a:t>
            </a: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600" b="1" i="1" u="sng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3.2%</a:t>
            </a:r>
            <a:endParaRPr kumimoji="0" lang="ko-KR" altLang="en-US" sz="1600" b="1" i="1" u="sng" strike="noStrike" kern="120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643438" y="4500570"/>
            <a:ext cx="664767" cy="52287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’19</a:t>
            </a:r>
            <a:r>
              <a:rPr kumimoji="0" lang="ko-KR" alt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년 연평균</a:t>
            </a:r>
            <a: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/>
            </a:r>
            <a:br>
              <a:rPr kumimoji="0" lang="en-US" altLang="ko-KR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</a:br>
            <a:r>
              <a:rPr kumimoji="0" lang="en-US" altLang="ko-KR" sz="1600" b="1" i="1" u="sng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9%</a:t>
            </a:r>
            <a:endParaRPr kumimoji="0" lang="ko-KR" altLang="en-US" sz="1600" b="1" i="1" u="sng" strike="noStrike" kern="120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6319400" y="1632621"/>
            <a:ext cx="2501072" cy="50937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일반 및 </a:t>
            </a:r>
            <a:r>
              <a:rPr kumimoji="0" lang="en-US" altLang="ko-KR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PB 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상품 </a:t>
            </a:r>
            <a:r>
              <a:rPr kumimoji="0" lang="ko-KR" altLang="en-US" sz="13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수수료율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지속 확대</a:t>
            </a:r>
            <a:endParaRPr kumimoji="0" lang="en-US" altLang="ko-KR" sz="1300" b="1" i="0" u="none" strike="noStrike" kern="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51" name="Rectangle 14"/>
          <p:cNvSpPr>
            <a:spLocks noChangeArrowheads="1"/>
          </p:cNvSpPr>
          <p:nvPr/>
        </p:nvSpPr>
        <p:spPr bwMode="auto">
          <a:xfrm>
            <a:off x="7147144" y="2101284"/>
            <a:ext cx="610464" cy="2918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’18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년</a:t>
            </a:r>
            <a:endParaRPr kumimoji="0" lang="en-US" altLang="ko-KR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8092448" y="2101284"/>
            <a:ext cx="610464" cy="2918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’19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년</a:t>
            </a:r>
            <a:endParaRPr kumimoji="0" lang="en-US" altLang="ko-KR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53" name="Rectangle 14"/>
          <p:cNvSpPr>
            <a:spLocks noChangeArrowheads="1"/>
          </p:cNvSpPr>
          <p:nvPr/>
        </p:nvSpPr>
        <p:spPr bwMode="auto">
          <a:xfrm>
            <a:off x="6300192" y="2467329"/>
            <a:ext cx="897497" cy="252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일반상품</a:t>
            </a:r>
            <a:endParaRPr kumimoji="0" lang="en-US" altLang="ko-KR" sz="13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6300192" y="3059816"/>
            <a:ext cx="897497" cy="252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PB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상품</a:t>
            </a:r>
            <a:endParaRPr kumimoji="0" lang="en-US" altLang="ko-KR" sz="13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7147144" y="2411745"/>
            <a:ext cx="1555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561016" y="2475347"/>
            <a:ext cx="1673328" cy="2937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16%</a:t>
            </a:r>
            <a:endParaRPr kumimoji="0" lang="ko-KR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678632" y="2974598"/>
            <a:ext cx="1673328" cy="2937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25.7%</a:t>
            </a:r>
            <a:endParaRPr kumimoji="0" lang="ko-KR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561016" y="2974598"/>
            <a:ext cx="1673328" cy="2937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30.3%</a:t>
            </a:r>
            <a:endParaRPr kumimoji="0" lang="ko-KR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6319400" y="3912369"/>
            <a:ext cx="2501072" cy="10825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상대적 高 마진 </a:t>
            </a:r>
            <a:r>
              <a:rPr kumimoji="0" lang="en-US" altLang="ko-KR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PB 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상품 판매 비중 지속 확대</a:t>
            </a:r>
            <a:endParaRPr kumimoji="0" lang="en-US" altLang="ko-KR" sz="1300" b="1" i="0" u="none" strike="noStrike" kern="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Top 10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제품 대부분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PB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상품</a:t>
            </a:r>
            <a:endParaRPr kumimoji="0" lang="en-US" altLang="ko-KR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현재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37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개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PB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상품 런칭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/>
            </a:r>
            <a:b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</a:b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※ ’18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년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18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개</a:t>
            </a:r>
            <a:endParaRPr kumimoji="0" lang="en-US" altLang="ko-KR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1513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BC80C-B1D2-42DA-B465-5CACDB325AFD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233A63"/>
                </a:solidFill>
                <a:effectLst/>
                <a:uLnTx/>
                <a:uFillTx/>
                <a:latin typeface="Georgia"/>
                <a:ea typeface="맑은 고딕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233A63"/>
              </a:solidFill>
              <a:effectLst/>
              <a:uLnTx/>
              <a:uFillTx/>
              <a:latin typeface="Georgia"/>
              <a:ea typeface="맑은 고딕"/>
              <a:cs typeface="+mn-cs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 err="1"/>
              <a:t>재무현황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altLang="ko-KR" dirty="0" smtClean="0"/>
              <a:t>Financial</a:t>
            </a:r>
            <a:r>
              <a:rPr lang="ko-KR" altLang="en-US" dirty="0" smtClean="0"/>
              <a:t> </a:t>
            </a:r>
            <a:r>
              <a:rPr lang="en-US" altLang="ko-KR" dirty="0"/>
              <a:t>Index</a:t>
            </a:r>
            <a:endParaRPr lang="ko-KR" altLang="en-US" sz="1200" dirty="0">
              <a:effectLst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9089E161-373A-45C2-BB22-444E34650624}"/>
              </a:ext>
            </a:extLst>
          </p:cNvPr>
          <p:cNvSpPr txBox="1"/>
          <p:nvPr/>
        </p:nvSpPr>
        <p:spPr>
          <a:xfrm>
            <a:off x="381001" y="1246838"/>
            <a:ext cx="8367463" cy="6255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rPr>
              <a:t>향후 손익 성과 예상</a:t>
            </a:r>
            <a:endParaRPr kumimoji="0" lang="en-US" sz="14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itchFamily="18" charset="0"/>
              <a:ea typeface="맑은 고딕"/>
              <a:cs typeface="+mn-cs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324460" y="1709648"/>
            <a:ext cx="4266388" cy="288336"/>
            <a:chOff x="243308" y="1844520"/>
            <a:chExt cx="4112668" cy="288336"/>
          </a:xfrm>
        </p:grpSpPr>
        <p:cxnSp>
          <p:nvCxnSpPr>
            <p:cNvPr id="10" name="Straight Connector 9">
              <a:extLst>
                <a:ext uri="{FF2B5EF4-FFF2-40B4-BE49-F238E27FC236}">
                  <a16:creationId xmlns="" xmlns:a16="http://schemas.microsoft.com/office/drawing/2014/main" id="{170AEDCA-069E-43C8-8B5D-87E430AEBD91}"/>
                </a:ext>
              </a:extLst>
            </p:cNvPr>
            <p:cNvCxnSpPr/>
            <p:nvPr/>
          </p:nvCxnSpPr>
          <p:spPr>
            <a:xfrm>
              <a:off x="243308" y="2132856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806B86A6-906A-4E3B-B35B-9DA55B9CC84C}"/>
                </a:ext>
              </a:extLst>
            </p:cNvPr>
            <p:cNvSpPr txBox="1"/>
            <p:nvPr/>
          </p:nvSpPr>
          <p:spPr>
            <a:xfrm>
              <a:off x="245643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-27432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5004048" y="1701952"/>
            <a:ext cx="3754704" cy="288336"/>
            <a:chOff x="4563788" y="1844520"/>
            <a:chExt cx="4112668" cy="28833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="" xmlns:a16="http://schemas.microsoft.com/office/drawing/2014/main" id="{94ACDD44-01F3-46DB-95FE-9EC333A43A89}"/>
                </a:ext>
              </a:extLst>
            </p:cNvPr>
            <p:cNvCxnSpPr/>
            <p:nvPr/>
          </p:nvCxnSpPr>
          <p:spPr>
            <a:xfrm>
              <a:off x="4563788" y="2132856"/>
              <a:ext cx="4112668" cy="0"/>
            </a:xfrm>
            <a:prstGeom prst="line">
              <a:avLst/>
            </a:prstGeom>
            <a:ln w="28575">
              <a:solidFill>
                <a:srgbClr val="2D436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0B813EEA-041E-4D7C-A8A9-0F06BA34986F}"/>
                </a:ext>
              </a:extLst>
            </p:cNvPr>
            <p:cNvSpPr txBox="1"/>
            <p:nvPr/>
          </p:nvSpPr>
          <p:spPr>
            <a:xfrm>
              <a:off x="4566123" y="1844520"/>
              <a:ext cx="3822301" cy="28771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-27432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 pitchFamily="18" charset="0"/>
                  <a:ea typeface="맑은 고딕"/>
                  <a:cs typeface="+mn-cs"/>
                </a:rPr>
                <a:t>주요 내용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 charset="0"/>
                <a:ea typeface="맑은 고딕"/>
                <a:cs typeface="+mn-cs"/>
              </a:endParaRPr>
            </a:p>
          </p:txBody>
        </p:sp>
      </p:grpSp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337044" y="2202151"/>
          <a:ext cx="4018932" cy="3747128"/>
        </p:xfrm>
        <a:graphic>
          <a:graphicData uri="http://schemas.openxmlformats.org/drawingml/2006/table">
            <a:tbl>
              <a:tblPr firstRow="1" bandRow="1">
                <a:tableStyleId>{69D073F8-1565-44D7-B386-08B59EADF2EE}</a:tableStyleId>
              </a:tblPr>
              <a:tblGrid>
                <a:gridCol w="1004733">
                  <a:extLst>
                    <a:ext uri="{9D8B030D-6E8A-4147-A177-3AD203B41FA5}">
                      <a16:colId xmlns="" xmlns:a16="http://schemas.microsoft.com/office/drawing/2014/main" val="851968721"/>
                    </a:ext>
                  </a:extLst>
                </a:gridCol>
                <a:gridCol w="1004733">
                  <a:extLst>
                    <a:ext uri="{9D8B030D-6E8A-4147-A177-3AD203B41FA5}">
                      <a16:colId xmlns="" xmlns:a16="http://schemas.microsoft.com/office/drawing/2014/main" val="3178951204"/>
                    </a:ext>
                  </a:extLst>
                </a:gridCol>
                <a:gridCol w="1004733">
                  <a:extLst>
                    <a:ext uri="{9D8B030D-6E8A-4147-A177-3AD203B41FA5}">
                      <a16:colId xmlns="" xmlns:a16="http://schemas.microsoft.com/office/drawing/2014/main" val="729572449"/>
                    </a:ext>
                  </a:extLst>
                </a:gridCol>
                <a:gridCol w="1004733">
                  <a:extLst>
                    <a:ext uri="{9D8B030D-6E8A-4147-A177-3AD203B41FA5}">
                      <a16:colId xmlns="" xmlns:a16="http://schemas.microsoft.com/office/drawing/2014/main" val="160809370"/>
                    </a:ext>
                  </a:extLst>
                </a:gridCol>
              </a:tblGrid>
              <a:tr h="3234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</a:rPr>
                        <a:t>단위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</a:rPr>
                        <a:t>백만원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(e)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21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(e)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(e)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32695047"/>
                  </a:ext>
                </a:extLst>
              </a:tr>
              <a:tr h="5606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 smtClean="0">
                          <a:solidFill>
                            <a:schemeClr val="tx1"/>
                          </a:solidFill>
                        </a:rPr>
                        <a:t>총 매출</a:t>
                      </a:r>
                      <a:r>
                        <a:rPr lang="en-US" altLang="ko-KR" sz="1300" b="1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altLang="ko-KR" sz="1300" b="1" dirty="0" smtClean="0">
                          <a:solidFill>
                            <a:schemeClr val="tx1"/>
                          </a:solidFill>
                        </a:rPr>
                      </a:b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5,126 </a:t>
                      </a:r>
                      <a:endParaRPr lang="en-US" altLang="ko-KR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17,437</a:t>
                      </a:r>
                      <a:endParaRPr lang="en-US" altLang="ko-KR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35,412</a:t>
                      </a:r>
                      <a:endParaRPr lang="en-US" altLang="ko-KR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78771444"/>
                  </a:ext>
                </a:extLst>
              </a:tr>
              <a:tr h="3923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</a:rPr>
                        <a:t>매출총이익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3,651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b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10,602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18,902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27229440"/>
                  </a:ext>
                </a:extLst>
              </a:tr>
              <a:tr h="32343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300" b="1" i="1" dirty="0" smtClean="0">
                          <a:solidFill>
                            <a:schemeClr val="tx2"/>
                          </a:solidFill>
                        </a:rPr>
                        <a:t>매출 </a:t>
                      </a:r>
                      <a:r>
                        <a:rPr lang="en-US" altLang="ko-KR" sz="1300" b="1" i="1" dirty="0" smtClean="0">
                          <a:solidFill>
                            <a:schemeClr val="tx2"/>
                          </a:solidFill>
                        </a:rPr>
                        <a:t>%</a:t>
                      </a:r>
                      <a:endParaRPr lang="ko-KR" altLang="en-US" sz="1300" b="1" i="1" dirty="0">
                        <a:solidFill>
                          <a:schemeClr val="tx2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1" i="1" u="none" strike="noStrike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71%</a:t>
                      </a:r>
                      <a:endParaRPr lang="en-US" altLang="ko-KR" sz="1300" b="1" i="1" u="none" strike="noStrike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b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1" i="1" u="none" strike="noStrike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en-US" altLang="ko-KR" sz="1300" b="1" i="1" u="none" strike="noStrike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1" i="1" u="none" strike="noStrike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53%</a:t>
                      </a:r>
                      <a:endParaRPr lang="en-US" altLang="ko-KR" sz="1300" b="1" i="1" u="none" strike="noStrike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34119106"/>
                  </a:ext>
                </a:extLst>
              </a:tr>
              <a:tr h="3923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1300" dirty="0" err="1" smtClean="0">
                          <a:solidFill>
                            <a:schemeClr val="tx1"/>
                          </a:solidFill>
                        </a:rPr>
                        <a:t>마케팅비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2,612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b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5,941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9,857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541709030"/>
                  </a:ext>
                </a:extLst>
              </a:tr>
              <a:tr h="323430"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ko-KR" altLang="en-US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매출 </a:t>
                      </a:r>
                      <a:r>
                        <a:rPr lang="en-US" altLang="ko-KR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%</a:t>
                      </a:r>
                      <a:endParaRPr lang="ko-KR" altLang="en-US" sz="1300" b="1" i="1" u="none" strike="noStrike" kern="1200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39%</a:t>
                      </a:r>
                      <a:endParaRPr lang="en-US" altLang="ko-KR" sz="1300" b="1" i="1" u="none" strike="noStrike" kern="1200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b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26%</a:t>
                      </a:r>
                      <a:endParaRPr lang="en-US" altLang="ko-KR" sz="1300" b="1" i="1" u="none" strike="noStrike" kern="1200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21%</a:t>
                      </a:r>
                      <a:endParaRPr lang="en-US" altLang="ko-KR" sz="1300" b="1" i="1" u="none" strike="noStrike" kern="1200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60275703"/>
                  </a:ext>
                </a:extLst>
              </a:tr>
              <a:tr h="3923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</a:rPr>
                        <a:t>  운영비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1,788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b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4,066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7,230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683028249"/>
                  </a:ext>
                </a:extLst>
              </a:tr>
              <a:tr h="323430"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ko-KR" altLang="en-US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매출 </a:t>
                      </a:r>
                      <a:r>
                        <a:rPr lang="en-US" altLang="ko-KR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%</a:t>
                      </a:r>
                      <a:endParaRPr lang="ko-KR" altLang="en-US" sz="1300" b="1" i="1" u="none" strike="noStrike" kern="1200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34%</a:t>
                      </a:r>
                      <a:endParaRPr lang="en-US" altLang="ko-KR" sz="1300" b="1" i="1" u="none" strike="noStrike" kern="1200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b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23%</a:t>
                      </a:r>
                      <a:endParaRPr lang="en-US" altLang="ko-KR" sz="1300" b="1" i="1" u="none" strike="noStrike" kern="1200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20%</a:t>
                      </a:r>
                      <a:endParaRPr lang="en-US" altLang="ko-KR" sz="1300" b="1" i="1" u="none" strike="noStrike" kern="1200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52398652"/>
                  </a:ext>
                </a:extLst>
              </a:tr>
              <a:tr h="3923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 smtClean="0">
                          <a:solidFill>
                            <a:schemeClr val="tx1"/>
                          </a:solidFill>
                        </a:rPr>
                        <a:t>영업이익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-749 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b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594 </a:t>
                      </a:r>
                      <a:endParaRPr lang="en-US" altLang="ko-KR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3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1,814</a:t>
                      </a:r>
                      <a:endParaRPr lang="en-US" altLang="ko-KR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47435523"/>
                  </a:ext>
                </a:extLst>
              </a:tr>
              <a:tr h="323430"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ko-KR" altLang="en-US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매출 </a:t>
                      </a:r>
                      <a:r>
                        <a:rPr lang="en-US" altLang="ko-KR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%</a:t>
                      </a:r>
                      <a:endParaRPr lang="ko-KR" altLang="en-US" sz="1300" b="1" i="1" u="none" strike="noStrike" kern="1200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1" i="1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-14%</a:t>
                      </a:r>
                      <a:endParaRPr lang="en-US" altLang="ko-KR" sz="1300" b="1" i="1" u="none" strike="noStrike" kern="120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b">
                    <a:lnL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3%</a:t>
                      </a:r>
                      <a:endParaRPr lang="en-US" altLang="ko-KR" sz="1300" b="1" i="1" u="none" strike="noStrike" kern="1200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1" hangingPunct="1"/>
                      <a:r>
                        <a:rPr lang="en-US" altLang="ko-KR" sz="1300" b="1" i="1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j-cs"/>
                        </a:rPr>
                        <a:t>5%</a:t>
                      </a:r>
                      <a:endParaRPr lang="en-US" altLang="ko-KR" sz="1300" b="1" i="1" u="none" strike="noStrike" kern="1200" dirty="0"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j-cs"/>
                      </a:endParaRPr>
                    </a:p>
                  </a:txBody>
                  <a:tcPr marL="72000" marR="72000" marT="36000" marB="36000" anchor="b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55319266"/>
                  </a:ext>
                </a:extLst>
              </a:tr>
            </a:tbl>
          </a:graphicData>
        </a:graphic>
      </p:graphicFrame>
      <p:sp>
        <p:nvSpPr>
          <p:cNvPr id="14" name="타원 13"/>
          <p:cNvSpPr>
            <a:spLocks noChangeAspect="1"/>
          </p:cNvSpPr>
          <p:nvPr/>
        </p:nvSpPr>
        <p:spPr bwMode="auto">
          <a:xfrm>
            <a:off x="4374848" y="2708920"/>
            <a:ext cx="216000" cy="216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1</a:t>
            </a:r>
            <a:endParaRPr kumimoji="0" lang="ko-KR" alt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16" name="타원 15"/>
          <p:cNvSpPr>
            <a:spLocks noChangeAspect="1"/>
          </p:cNvSpPr>
          <p:nvPr/>
        </p:nvSpPr>
        <p:spPr bwMode="auto">
          <a:xfrm>
            <a:off x="4374848" y="3942200"/>
            <a:ext cx="216000" cy="216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1</a:t>
            </a:r>
            <a:endParaRPr kumimoji="0" lang="ko-KR" alt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17" name="타원 16"/>
          <p:cNvSpPr>
            <a:spLocks noChangeAspect="1"/>
          </p:cNvSpPr>
          <p:nvPr/>
        </p:nvSpPr>
        <p:spPr bwMode="auto">
          <a:xfrm>
            <a:off x="4374848" y="3266696"/>
            <a:ext cx="216000" cy="216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2</a:t>
            </a:r>
            <a:endParaRPr kumimoji="0" lang="ko-KR" alt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18" name="타원 17"/>
          <p:cNvSpPr>
            <a:spLocks noChangeAspect="1"/>
          </p:cNvSpPr>
          <p:nvPr/>
        </p:nvSpPr>
        <p:spPr bwMode="auto">
          <a:xfrm>
            <a:off x="4374848" y="4675193"/>
            <a:ext cx="216000" cy="216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3</a:t>
            </a:r>
            <a:endParaRPr kumimoji="0" lang="ko-KR" alt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19" name="타원 18"/>
          <p:cNvSpPr>
            <a:spLocks noChangeAspect="1"/>
          </p:cNvSpPr>
          <p:nvPr/>
        </p:nvSpPr>
        <p:spPr bwMode="auto">
          <a:xfrm>
            <a:off x="5023480" y="2202152"/>
            <a:ext cx="216000" cy="216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1</a:t>
            </a:r>
            <a:endParaRPr kumimoji="0" lang="ko-KR" alt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5306352" y="2186576"/>
            <a:ext cx="3452400" cy="124941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정상적 마케팅 비용 투자 기반 </a:t>
            </a:r>
            <a:r>
              <a:rPr kumimoji="0" lang="en-US" altLang="ko-KR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Volume 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확대</a:t>
            </a:r>
            <a:endParaRPr kumimoji="0" lang="en-US" altLang="ko-KR" sz="1300" b="1" i="0" u="none" strike="noStrike" kern="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커뮤니티 기반 효과적 마케팅 가능</a:t>
            </a:r>
            <a:endParaRPr kumimoji="0" lang="en-US" altLang="ko-KR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이후 매출대비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17%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수준 마케팅 비용 투자 통해 안정적 성장 가능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/>
            </a:r>
            <a:b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</a:br>
            <a:endParaRPr kumimoji="0" lang="en-US" altLang="ko-KR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22" name="타원 21"/>
          <p:cNvSpPr>
            <a:spLocks noChangeAspect="1"/>
          </p:cNvSpPr>
          <p:nvPr/>
        </p:nvSpPr>
        <p:spPr bwMode="auto">
          <a:xfrm>
            <a:off x="5023480" y="3576154"/>
            <a:ext cx="216000" cy="216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2</a:t>
            </a:r>
            <a:endParaRPr kumimoji="0" lang="ko-KR" alt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5306352" y="3536440"/>
            <a:ext cx="3452400" cy="11239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높은 </a:t>
            </a:r>
            <a:r>
              <a:rPr kumimoji="0" lang="ko-KR" altLang="en-US" sz="13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매출총이익률</a:t>
            </a:r>
            <a:r>
              <a:rPr kumimoji="0" lang="en-US" altLang="ko-KR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달성 가능</a:t>
            </a:r>
            <a:endParaRPr kumimoji="0" lang="en-US" altLang="ko-KR" sz="1300" b="1" i="0" u="none" strike="noStrike" kern="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PB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제품 비중 확대 중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:</a:t>
            </a:r>
            <a:b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</a:b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’19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년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15%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  <a:sym typeface="Wingdings" panose="05000000000000000000" pitchFamily="2" charset="2"/>
              </a:rPr>
              <a:t> ’22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  <a:sym typeface="Wingdings" panose="05000000000000000000" pitchFamily="2" charset="2"/>
              </a:rPr>
              <a:t>년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  <a:sym typeface="Wingdings" panose="05000000000000000000" pitchFamily="2" charset="2"/>
              </a:rPr>
              <a:t>25%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  <a:sym typeface="Wingdings" panose="05000000000000000000" pitchFamily="2" charset="2"/>
              </a:rPr>
              <a:t>광고수익 확대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  <a:sym typeface="Wingdings" panose="05000000000000000000" pitchFamily="2" charset="2"/>
              </a:rPr>
              <a:t>:</a:t>
            </a:r>
            <a:b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  <a:sym typeface="Wingdings" panose="05000000000000000000" pitchFamily="2" charset="2"/>
              </a:rPr>
            </a:b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  <a:sym typeface="Wingdings" panose="05000000000000000000" pitchFamily="2" charset="2"/>
              </a:rPr>
              <a:t>’22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  <a:sym typeface="Wingdings" panose="05000000000000000000" pitchFamily="2" charset="2"/>
              </a:rPr>
              <a:t>년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  <a:sym typeface="Wingdings" panose="05000000000000000000" pitchFamily="2" charset="2"/>
              </a:rPr>
              <a:t>21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  <a:sym typeface="Wingdings" panose="05000000000000000000" pitchFamily="2" charset="2"/>
              </a:rPr>
              <a:t>억</a:t>
            </a:r>
            <a:endParaRPr kumimoji="0" lang="en-US" altLang="ko-KR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24" name="타원 23"/>
          <p:cNvSpPr>
            <a:spLocks noChangeAspect="1"/>
          </p:cNvSpPr>
          <p:nvPr/>
        </p:nvSpPr>
        <p:spPr bwMode="auto">
          <a:xfrm>
            <a:off x="5023480" y="4916873"/>
            <a:ext cx="216000" cy="216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3</a:t>
            </a:r>
            <a:endParaRPr kumimoji="0" lang="ko-KR" altLang="en-US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5306352" y="4877160"/>
            <a:ext cx="3452400" cy="61378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’21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년 기준 </a:t>
            </a:r>
            <a:r>
              <a:rPr kumimoji="0" lang="ko-KR" altLang="en-US" sz="13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고정비성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운영비</a:t>
            </a:r>
            <a:r>
              <a:rPr lang="en-US" altLang="ko-KR" sz="1300" b="1" kern="0" dirty="0" smtClean="0">
                <a:solidFill>
                  <a:srgbClr val="3C5A91"/>
                </a:solidFill>
                <a:latin typeface="Georgia"/>
                <a:ea typeface="맑은 고딕" pitchFamily="50" charset="-127"/>
              </a:rPr>
              <a:t>40</a:t>
            </a:r>
            <a:r>
              <a:rPr kumimoji="0" lang="ko-KR" altLang="en-US" sz="1300" b="1" i="0" u="none" strike="noStrike" kern="0" cap="none" spc="0" normalizeH="0" baseline="0" noProof="0" dirty="0" smtClean="0">
                <a:ln>
                  <a:noFill/>
                </a:ln>
                <a:solidFill>
                  <a:srgbClr val="3C5A91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억 내외</a:t>
            </a:r>
            <a:endParaRPr kumimoji="0" lang="en-US" altLang="ko-KR" sz="1300" b="1" i="0" u="none" strike="noStrike" kern="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인력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25 ~ 30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명 수준으로 운영 필요</a:t>
            </a:r>
            <a:endParaRPr kumimoji="0" lang="en-US" altLang="ko-KR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4860032" y="5618113"/>
            <a:ext cx="3960440" cy="4751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커뮤니티 기반 효과적 마케팅으로</a:t>
            </a: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/>
            </a:r>
            <a:b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</a:b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’21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년 영업이익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6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억 수준으로 </a:t>
            </a:r>
            <a:r>
              <a:rPr kumimoji="0" lang="ko-KR" altLang="en-US" sz="1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턴어라운드</a:t>
            </a: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가능</a:t>
            </a:r>
            <a:endParaRPr kumimoji="0" lang="en-US" altLang="ko-KR" sz="1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sp>
        <p:nvSpPr>
          <p:cNvPr id="27" name="내용 개체 틀 32"/>
          <p:cNvSpPr>
            <a:spLocks noGrp="1"/>
          </p:cNvSpPr>
          <p:nvPr>
            <p:ph sz="quarter" idx="15"/>
          </p:nvPr>
        </p:nvSpPr>
        <p:spPr>
          <a:xfrm>
            <a:off x="423610" y="6285440"/>
            <a:ext cx="6084000" cy="263624"/>
          </a:xfrm>
        </p:spPr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</p:spTree>
    <p:extLst>
      <p:ext uri="{BB962C8B-B14F-4D97-AF65-F5344CB8AC3E}">
        <p14:creationId xmlns="" xmlns:p14="http://schemas.microsoft.com/office/powerpoint/2010/main" val="76732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BC80C-B1D2-42DA-B465-5CACDB325AFD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233A63"/>
                </a:solidFill>
                <a:effectLst/>
                <a:uLnTx/>
                <a:uFillTx/>
                <a:latin typeface="Georgia"/>
                <a:ea typeface="맑은 고딕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233A63"/>
              </a:solidFill>
              <a:effectLst/>
              <a:uLnTx/>
              <a:uFillTx/>
              <a:latin typeface="Georgia"/>
              <a:ea typeface="맑은 고딕"/>
              <a:cs typeface="+mn-cs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 err="1"/>
              <a:t>재무현황</a:t>
            </a: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연도별 매출 구조</a:t>
            </a:r>
            <a:r>
              <a:rPr lang="en-US" altLang="ko-KR" dirty="0" smtClean="0"/>
              <a:t>(e)</a:t>
            </a:r>
            <a:endParaRPr lang="ko-KR" altLang="en-US" sz="1200" dirty="0">
              <a:effectLst/>
            </a:endParaRPr>
          </a:p>
        </p:txBody>
      </p:sp>
      <p:sp>
        <p:nvSpPr>
          <p:cNvPr id="27" name="내용 개체 틀 32"/>
          <p:cNvSpPr>
            <a:spLocks noGrp="1"/>
          </p:cNvSpPr>
          <p:nvPr>
            <p:ph sz="quarter" idx="15"/>
          </p:nvPr>
        </p:nvSpPr>
        <p:spPr>
          <a:xfrm>
            <a:off x="423610" y="6285440"/>
            <a:ext cx="6084000" cy="263624"/>
          </a:xfrm>
        </p:spPr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graphicFrame>
        <p:nvGraphicFramePr>
          <p:cNvPr id="28" name="차트 27"/>
          <p:cNvGraphicFramePr/>
          <p:nvPr/>
        </p:nvGraphicFramePr>
        <p:xfrm>
          <a:off x="-428660" y="1214422"/>
          <a:ext cx="6500826" cy="3714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6319400" y="1643051"/>
            <a:ext cx="2501072" cy="33518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ko-KR" altLang="en-US" sz="1300" b="1" kern="0" noProof="0" dirty="0" smtClean="0">
                <a:solidFill>
                  <a:srgbClr val="3C5A91"/>
                </a:solidFill>
                <a:latin typeface="Georgia"/>
                <a:ea typeface="맑은 고딕" pitchFamily="50" charset="-127"/>
              </a:rPr>
              <a:t>주요가정</a:t>
            </a:r>
            <a:endParaRPr kumimoji="0" lang="en-US" altLang="ko-KR" sz="1300" b="1" i="0" u="none" strike="noStrike" kern="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300" kern="0" dirty="0" err="1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앱</a:t>
            </a:r>
            <a:r>
              <a:rPr lang="ko-KR" altLang="en-US" sz="1300" kern="0" dirty="0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 </a:t>
            </a:r>
            <a:r>
              <a:rPr lang="ko-KR" altLang="en-US" sz="1300" kern="0" dirty="0" err="1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구매전환률</a:t>
            </a:r>
            <a:r>
              <a:rPr lang="ko-KR" altLang="en-US" sz="1300" kern="0" dirty="0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 평균 </a:t>
            </a:r>
            <a:r>
              <a:rPr lang="en-US" altLang="ko-KR" sz="1300" kern="0" dirty="0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4%-&gt;6% </a:t>
            </a:r>
            <a:r>
              <a:rPr lang="ko-KR" altLang="en-US" sz="1300" kern="0" dirty="0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성장</a:t>
            </a:r>
            <a:endParaRPr lang="en-US" altLang="ko-KR" sz="1300" kern="0" dirty="0" smtClean="0">
              <a:solidFill>
                <a:srgbClr val="000000"/>
              </a:solidFill>
              <a:latin typeface="Georgia"/>
              <a:ea typeface="맑은 고딕" pitchFamily="50" charset="-127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객단가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연평균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10%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성장</a:t>
            </a:r>
            <a:endParaRPr kumimoji="0" lang="en-US" altLang="ko-KR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300" kern="0" dirty="0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PB</a:t>
            </a:r>
            <a:r>
              <a:rPr lang="ko-KR" altLang="en-US" sz="1300" kern="0" dirty="0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매출의 전체 </a:t>
            </a:r>
            <a:r>
              <a:rPr lang="ko-KR" altLang="en-US" sz="1300" kern="0" dirty="0" err="1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거래액</a:t>
            </a:r>
            <a:r>
              <a:rPr lang="ko-KR" altLang="en-US" sz="1300" kern="0" dirty="0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 비중 </a:t>
            </a:r>
            <a:r>
              <a:rPr lang="en-US" altLang="ko-KR" sz="1300" kern="0" dirty="0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30% </a:t>
            </a:r>
            <a:r>
              <a:rPr lang="ko-KR" altLang="en-US" sz="1300" kern="0" dirty="0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목표 </a:t>
            </a:r>
            <a:endParaRPr lang="en-US" altLang="ko-KR" sz="1300" kern="0" dirty="0" smtClean="0">
              <a:solidFill>
                <a:srgbClr val="000000"/>
              </a:solidFill>
              <a:latin typeface="Georgia"/>
              <a:ea typeface="맑은 고딕" pitchFamily="50" charset="-127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전체 </a:t>
            </a:r>
            <a:r>
              <a:rPr kumimoji="0" lang="ko-KR" altLang="en-US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거래액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대비 매출비율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28%-&gt;40%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목표 </a:t>
            </a:r>
            <a:endParaRPr kumimoji="0" lang="en-US" altLang="ko-KR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285720" y="5003800"/>
          <a:ext cx="5643600" cy="1143000"/>
        </p:xfrm>
        <a:graphic>
          <a:graphicData uri="http://schemas.openxmlformats.org/drawingml/2006/table">
            <a:tbl>
              <a:tblPr firstRow="1" bandRow="1">
                <a:tableStyleId>{69D073F8-1565-44D7-B386-08B59EADF2EE}</a:tableStyleId>
              </a:tblPr>
              <a:tblGrid>
                <a:gridCol w="940600"/>
                <a:gridCol w="940600"/>
                <a:gridCol w="940600"/>
                <a:gridCol w="940600"/>
                <a:gridCol w="940600"/>
                <a:gridCol w="940600"/>
              </a:tblGrid>
              <a:tr h="18510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M+12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M+24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M+36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M+48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M+60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광고매출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0.15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2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4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4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1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PB</a:t>
                      </a:r>
                      <a:r>
                        <a:rPr lang="ko-KR" altLang="en-US" sz="900" dirty="0" smtClean="0"/>
                        <a:t>상품매출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25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114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275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376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456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입점상품매출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26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59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77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82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102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계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51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174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354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462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562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572132" y="4857760"/>
            <a:ext cx="914400" cy="914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700" dirty="0" smtClean="0">
                <a:latin typeface="Georgia" pitchFamily="18" charset="0"/>
              </a:rPr>
              <a:t>단위 </a:t>
            </a:r>
            <a:r>
              <a:rPr lang="en-US" altLang="ko-KR" sz="700" dirty="0" smtClean="0">
                <a:latin typeface="Georgia" pitchFamily="18" charset="0"/>
              </a:rPr>
              <a:t>: </a:t>
            </a:r>
            <a:r>
              <a:rPr lang="ko-KR" altLang="en-US" sz="700" dirty="0" err="1" smtClean="0">
                <a:latin typeface="Georgia" pitchFamily="18" charset="0"/>
              </a:rPr>
              <a:t>억원</a:t>
            </a:r>
            <a:endParaRPr lang="ko-KR" altLang="en-US" sz="700" dirty="0" smtClean="0">
              <a:latin typeface="Georgia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1513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BC80C-B1D2-42DA-B465-5CACDB325AFD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233A63"/>
                </a:solidFill>
                <a:effectLst/>
                <a:uLnTx/>
                <a:uFillTx/>
                <a:latin typeface="Georgia"/>
                <a:ea typeface="맑은 고딕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233A63"/>
              </a:solidFill>
              <a:effectLst/>
              <a:uLnTx/>
              <a:uFillTx/>
              <a:latin typeface="Georgia"/>
              <a:ea typeface="맑은 고딕"/>
              <a:cs typeface="+mn-cs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 err="1"/>
              <a:t>재무현황</a:t>
            </a: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연도별 지출 구조</a:t>
            </a:r>
            <a:r>
              <a:rPr lang="en-US" altLang="ko-KR" dirty="0" smtClean="0"/>
              <a:t>(e)</a:t>
            </a:r>
            <a:endParaRPr lang="ko-KR" altLang="en-US" sz="1200" dirty="0">
              <a:effectLst/>
            </a:endParaRPr>
          </a:p>
        </p:txBody>
      </p:sp>
      <p:sp>
        <p:nvSpPr>
          <p:cNvPr id="27" name="내용 개체 틀 32"/>
          <p:cNvSpPr>
            <a:spLocks noGrp="1"/>
          </p:cNvSpPr>
          <p:nvPr>
            <p:ph sz="quarter" idx="15"/>
          </p:nvPr>
        </p:nvSpPr>
        <p:spPr>
          <a:xfrm>
            <a:off x="423610" y="6285440"/>
            <a:ext cx="6084000" cy="263624"/>
          </a:xfrm>
        </p:spPr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 smtClean="0"/>
              <a:t>내부자료</a:t>
            </a:r>
            <a:endParaRPr lang="en-US" altLang="ko-KR" dirty="0"/>
          </a:p>
        </p:txBody>
      </p:sp>
      <p:graphicFrame>
        <p:nvGraphicFramePr>
          <p:cNvPr id="28" name="차트 27"/>
          <p:cNvGraphicFramePr/>
          <p:nvPr/>
        </p:nvGraphicFramePr>
        <p:xfrm>
          <a:off x="-428660" y="928670"/>
          <a:ext cx="6500826" cy="3714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6319400" y="1643051"/>
            <a:ext cx="2501072" cy="33518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000" tIns="36000" rIns="72000" bIns="3600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ko-KR" altLang="en-US" sz="1300" b="1" kern="0" noProof="0" dirty="0" smtClean="0">
                <a:solidFill>
                  <a:srgbClr val="3C5A91"/>
                </a:solidFill>
                <a:latin typeface="Georgia"/>
                <a:ea typeface="맑은 고딕" pitchFamily="50" charset="-127"/>
              </a:rPr>
              <a:t>주요가정</a:t>
            </a:r>
            <a:endParaRPr kumimoji="0" lang="en-US" altLang="ko-KR" sz="1300" b="1" i="0" u="none" strike="noStrike" kern="0" cap="none" spc="0" normalizeH="0" baseline="0" noProof="0" dirty="0" smtClean="0">
              <a:ln>
                <a:noFill/>
              </a:ln>
              <a:solidFill>
                <a:srgbClr val="3C5A91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300" kern="0" dirty="0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PB</a:t>
            </a:r>
            <a:r>
              <a:rPr lang="ko-KR" altLang="en-US" sz="1300" kern="0" dirty="0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상품 원가율 </a:t>
            </a:r>
            <a:r>
              <a:rPr lang="en-US" altLang="ko-KR" sz="1300" kern="0" dirty="0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60%</a:t>
            </a:r>
            <a:r>
              <a:rPr lang="ko-KR" altLang="en-US" sz="1300" kern="0" dirty="0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이하로 관리</a:t>
            </a:r>
            <a:endParaRPr lang="en-US" altLang="ko-KR" sz="1300" kern="0" dirty="0" smtClean="0">
              <a:solidFill>
                <a:srgbClr val="000000"/>
              </a:solidFill>
              <a:latin typeface="Georgia"/>
              <a:ea typeface="맑은 고딕" pitchFamily="50" charset="-127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전체 </a:t>
            </a:r>
            <a:r>
              <a:rPr kumimoji="0" lang="ko-KR" altLang="en-US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거래액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 대비 광고비 집행비율 </a:t>
            </a:r>
            <a:r>
              <a:rPr kumimoji="0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7% </a:t>
            </a:r>
            <a:r>
              <a:rPr kumimoji="0" lang="ko-KR" alt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맑은 고딕" pitchFamily="50" charset="-127"/>
                <a:cs typeface="+mn-cs"/>
              </a:rPr>
              <a:t>유지 </a:t>
            </a:r>
            <a:endParaRPr kumimoji="0" lang="en-US" altLang="ko-KR" sz="13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300" kern="0" dirty="0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2</a:t>
            </a:r>
            <a:r>
              <a:rPr lang="ko-KR" altLang="en-US" sz="1300" kern="0" dirty="0" err="1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년차</a:t>
            </a:r>
            <a:r>
              <a:rPr lang="ko-KR" altLang="en-US" sz="1300" kern="0" dirty="0" smtClean="0">
                <a:solidFill>
                  <a:srgbClr val="000000"/>
                </a:solidFill>
                <a:latin typeface="Georgia"/>
                <a:ea typeface="맑은 고딕" pitchFamily="50" charset="-127"/>
              </a:rPr>
              <a:t> 영업이익 흑자 달성 후  전체 매출대비 고정비 지출 안정화 </a:t>
            </a:r>
            <a:endParaRPr kumimoji="0" lang="en-US" altLang="ko-KR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맑은 고딕" pitchFamily="50" charset="-127"/>
              <a:cs typeface="+mn-cs"/>
            </a:endParaRPr>
          </a:p>
        </p:txBody>
      </p:sp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285720" y="4786330"/>
          <a:ext cx="5643600" cy="1386840"/>
        </p:xfrm>
        <a:graphic>
          <a:graphicData uri="http://schemas.openxmlformats.org/drawingml/2006/table">
            <a:tbl>
              <a:tblPr firstRow="1" bandRow="1">
                <a:tableStyleId>{69D073F8-1565-44D7-B386-08B59EADF2EE}</a:tableStyleId>
              </a:tblPr>
              <a:tblGrid>
                <a:gridCol w="940600"/>
                <a:gridCol w="940600"/>
                <a:gridCol w="940600"/>
                <a:gridCol w="940600"/>
                <a:gridCol w="940600"/>
                <a:gridCol w="940600"/>
              </a:tblGrid>
              <a:tr h="18510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M+12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M+24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M+36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M+48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M+60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매출원가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15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68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165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225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274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마케팅비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26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59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99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105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126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운영</a:t>
                      </a:r>
                      <a:r>
                        <a:rPr lang="en-US" altLang="ko-KR" sz="900" dirty="0" smtClean="0"/>
                        <a:t>/</a:t>
                      </a:r>
                      <a:r>
                        <a:rPr lang="ko-KR" altLang="en-US" sz="900" dirty="0" smtClean="0"/>
                        <a:t>인건비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17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41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72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83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113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계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58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168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336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413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513</a:t>
                      </a:r>
                      <a:endParaRPr lang="ko-KR" altLang="en-US" sz="9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영업이익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-7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47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49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572132" y="4640290"/>
            <a:ext cx="914400" cy="914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700" dirty="0" smtClean="0">
                <a:latin typeface="Georgia" pitchFamily="18" charset="0"/>
              </a:rPr>
              <a:t>단위 </a:t>
            </a:r>
            <a:r>
              <a:rPr lang="en-US" altLang="ko-KR" sz="700" dirty="0" smtClean="0">
                <a:latin typeface="Georgia" pitchFamily="18" charset="0"/>
              </a:rPr>
              <a:t>: </a:t>
            </a:r>
            <a:r>
              <a:rPr lang="ko-KR" altLang="en-US" sz="700" dirty="0" err="1" smtClean="0">
                <a:latin typeface="Georgia" pitchFamily="18" charset="0"/>
              </a:rPr>
              <a:t>억원</a:t>
            </a:r>
            <a:endParaRPr lang="ko-KR" altLang="en-US" sz="700" dirty="0" smtClean="0">
              <a:latin typeface="Georgia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1513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81000" y="704728"/>
            <a:ext cx="1833545" cy="432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ko-KR" altLang="en-US" sz="1600" b="1" smtClean="0">
                <a:solidFill>
                  <a:srgbClr val="233A63"/>
                </a:solidFill>
              </a:rPr>
              <a:t>예상 거래구조</a:t>
            </a:r>
            <a:endParaRPr lang="ko-KR" altLang="en-US" sz="1600" b="1" dirty="0" err="1">
              <a:solidFill>
                <a:srgbClr val="233A63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71472" y="1643050"/>
          <a:ext cx="8001056" cy="4286280"/>
        </p:xfrm>
        <a:graphic>
          <a:graphicData uri="http://schemas.openxmlformats.org/drawingml/2006/table">
            <a:tbl>
              <a:tblPr firstRow="1" bandRow="1">
                <a:tableStyleId>{69D073F8-1565-44D7-B386-08B59EADF2EE}</a:tableStyleId>
              </a:tblPr>
              <a:tblGrid>
                <a:gridCol w="2031504"/>
                <a:gridCol w="5969552"/>
              </a:tblGrid>
              <a:tr h="498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B9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</a:rPr>
                        <a:t>주요항목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B97"/>
                    </a:solidFill>
                  </a:tcPr>
                </a:tc>
              </a:tr>
              <a:tr h="498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 smtClean="0"/>
                        <a:t>총 발행주식 수</a:t>
                      </a:r>
                      <a:r>
                        <a:rPr lang="en-US" altLang="ko-KR" sz="1100" b="1" dirty="0" smtClean="0"/>
                        <a:t>(</a:t>
                      </a:r>
                      <a:r>
                        <a:rPr lang="ko-KR" altLang="en-US" sz="1100" b="1" dirty="0" smtClean="0"/>
                        <a:t>현 기준</a:t>
                      </a:r>
                      <a:r>
                        <a:rPr lang="en-US" altLang="ko-KR" sz="1100" b="1" dirty="0" smtClean="0"/>
                        <a:t>)</a:t>
                      </a:r>
                      <a:endParaRPr lang="ko-KR" altLang="en-US" sz="1100" b="1" dirty="0"/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3,178,300 </a:t>
                      </a:r>
                      <a:r>
                        <a:rPr lang="ko-KR" altLang="en-US" sz="1100" dirty="0" smtClean="0"/>
                        <a:t>주</a:t>
                      </a:r>
                      <a:endParaRPr lang="ko-KR" altLang="en-US" sz="11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 smtClean="0"/>
                        <a:t>주당 가격</a:t>
                      </a:r>
                      <a:endParaRPr lang="ko-KR" altLang="en-US" sz="1100" b="1" dirty="0"/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 </a:t>
                      </a:r>
                      <a:r>
                        <a:rPr lang="ko-KR" altLang="en-US" sz="1100" dirty="0" smtClean="0"/>
                        <a:t>주당 </a:t>
                      </a:r>
                      <a:r>
                        <a:rPr lang="en-US" altLang="ko-KR" sz="1100" dirty="0" smtClean="0"/>
                        <a:t>810</a:t>
                      </a:r>
                      <a:r>
                        <a:rPr lang="ko-KR" altLang="en-US" sz="1100" dirty="0" smtClean="0"/>
                        <a:t>원</a:t>
                      </a:r>
                      <a:endParaRPr lang="ko-KR" altLang="en-US" sz="11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 smtClean="0"/>
                        <a:t>구조 </a:t>
                      </a:r>
                      <a:r>
                        <a:rPr lang="en-US" altLang="ko-KR" sz="1100" b="1" dirty="0" smtClean="0"/>
                        <a:t>1</a:t>
                      </a:r>
                      <a:endParaRPr lang="ko-KR" altLang="en-US" sz="1100" b="1" dirty="0"/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100% </a:t>
                      </a:r>
                      <a:r>
                        <a:rPr lang="ko-KR" altLang="en-US" sz="1100" dirty="0" smtClean="0"/>
                        <a:t>구주 매각 후 신주증자</a:t>
                      </a:r>
                      <a:r>
                        <a:rPr lang="en-US" altLang="ko-KR" sz="1100" dirty="0" smtClean="0"/>
                        <a:t> </a:t>
                      </a:r>
                      <a:endParaRPr lang="ko-KR" altLang="en-US" sz="11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 smtClean="0"/>
                        <a:t>구조 </a:t>
                      </a:r>
                      <a:r>
                        <a:rPr lang="en-US" altLang="ko-KR" sz="1100" b="1" dirty="0" smtClean="0"/>
                        <a:t>2</a:t>
                      </a:r>
                      <a:endParaRPr lang="ko-KR" altLang="en-US" sz="1100" b="1" dirty="0"/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구주 일부 인수 후 신주증자</a:t>
                      </a:r>
                      <a:r>
                        <a:rPr lang="ko-KR" altLang="en-US" sz="1100" baseline="0" dirty="0" smtClean="0"/>
                        <a:t> </a:t>
                      </a:r>
                      <a:r>
                        <a:rPr lang="en-US" altLang="ko-KR" sz="1100" baseline="0" dirty="0" smtClean="0"/>
                        <a:t>(</a:t>
                      </a:r>
                      <a:r>
                        <a:rPr lang="ko-KR" altLang="en-US" sz="1100" baseline="0" dirty="0" smtClean="0"/>
                        <a:t>최대주주</a:t>
                      </a:r>
                      <a:r>
                        <a:rPr lang="en-US" altLang="ko-KR" sz="1100" baseline="0" dirty="0" smtClean="0"/>
                        <a:t>) </a:t>
                      </a:r>
                      <a:endParaRPr lang="ko-KR" altLang="en-US" sz="11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558">
                <a:tc>
                  <a:txBody>
                    <a:bodyPr/>
                    <a:lstStyle/>
                    <a:p>
                      <a:pPr latinLnBrk="1"/>
                      <a:endParaRPr lang="ko-KR" altLang="en-US" sz="1100" b="1" dirty="0"/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charset="0"/>
                        <a:buChar char="•"/>
                      </a:pPr>
                      <a:r>
                        <a:rPr lang="ko-KR" altLang="en-US" sz="1100" baseline="0" dirty="0" smtClean="0"/>
                        <a:t>하우스미디어 경영진 보유지분 일정이상 매각</a:t>
                      </a:r>
                      <a:endParaRPr lang="en-US" altLang="ko-KR" sz="1100" baseline="0" dirty="0" smtClean="0"/>
                    </a:p>
                    <a:p>
                      <a:pPr latinLnBrk="1">
                        <a:buFont typeface="Arial" charset="0"/>
                        <a:buChar char="•"/>
                      </a:pPr>
                      <a:r>
                        <a:rPr lang="en-US" altLang="ko-KR" sz="1100" baseline="0" dirty="0" smtClean="0"/>
                        <a:t> </a:t>
                      </a:r>
                      <a:r>
                        <a:rPr lang="ko-KR" altLang="en-US" sz="1100" baseline="0" dirty="0" smtClean="0"/>
                        <a:t>하우스미디어 </a:t>
                      </a:r>
                      <a:r>
                        <a:rPr lang="en-US" altLang="ko-KR" sz="1100" baseline="0" dirty="0" smtClean="0"/>
                        <a:t>FI</a:t>
                      </a:r>
                      <a:r>
                        <a:rPr lang="ko-KR" altLang="en-US" sz="1100" baseline="0" dirty="0" smtClean="0"/>
                        <a:t>보유지분</a:t>
                      </a:r>
                      <a:r>
                        <a:rPr lang="en-US" altLang="ko-KR" sz="1100" baseline="0" dirty="0" smtClean="0"/>
                        <a:t>(23%) </a:t>
                      </a:r>
                      <a:r>
                        <a:rPr lang="ko-KR" altLang="en-US" sz="1100" baseline="0" dirty="0" smtClean="0"/>
                        <a:t>전량 매각</a:t>
                      </a:r>
                      <a:endParaRPr lang="en-US" altLang="ko-KR" sz="1100" baseline="0" dirty="0" smtClean="0"/>
                    </a:p>
                    <a:p>
                      <a:pPr latinLnBrk="1">
                        <a:buFont typeface="Arial" charset="0"/>
                        <a:buChar char="•"/>
                      </a:pPr>
                      <a:r>
                        <a:rPr lang="en-US" altLang="ko-KR" sz="1100" baseline="0" dirty="0" smtClean="0"/>
                        <a:t> </a:t>
                      </a:r>
                      <a:r>
                        <a:rPr lang="ko-KR" altLang="en-US" sz="1100" baseline="0" dirty="0" smtClean="0"/>
                        <a:t>경영진 보유 잔여지분 </a:t>
                      </a:r>
                      <a:r>
                        <a:rPr lang="ko-KR" altLang="en-US" sz="1100" baseline="0" dirty="0" err="1" smtClean="0"/>
                        <a:t>풋옵션</a:t>
                      </a:r>
                      <a:r>
                        <a:rPr lang="ko-KR" altLang="en-US" sz="1100" baseline="0" dirty="0" smtClean="0"/>
                        <a:t> 계약</a:t>
                      </a:r>
                      <a:endParaRPr lang="ko-KR" altLang="en-US" sz="11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 smtClean="0"/>
                        <a:t>구조 </a:t>
                      </a:r>
                      <a:r>
                        <a:rPr lang="en-US" altLang="ko-KR" sz="1100" b="1" dirty="0" smtClean="0"/>
                        <a:t>3</a:t>
                      </a:r>
                      <a:endParaRPr lang="ko-KR" altLang="en-US" sz="1100" b="1" dirty="0"/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신주 지분투자 </a:t>
                      </a:r>
                      <a:r>
                        <a:rPr lang="en-US" altLang="ko-KR" sz="1100" dirty="0" smtClean="0"/>
                        <a:t>(</a:t>
                      </a:r>
                      <a:r>
                        <a:rPr lang="ko-KR" altLang="en-US" sz="1100" dirty="0" smtClean="0"/>
                        <a:t>목표 금액 </a:t>
                      </a:r>
                      <a:r>
                        <a:rPr lang="en-US" altLang="ko-KR" sz="1100" dirty="0" smtClean="0"/>
                        <a:t>20</a:t>
                      </a:r>
                      <a:r>
                        <a:rPr lang="ko-KR" altLang="en-US" sz="1100" dirty="0" smtClean="0"/>
                        <a:t>억 </a:t>
                      </a:r>
                      <a:r>
                        <a:rPr lang="en-US" altLang="ko-KR" sz="1100" dirty="0" smtClean="0"/>
                        <a:t>/ 40% </a:t>
                      </a:r>
                      <a:r>
                        <a:rPr lang="ko-KR" altLang="en-US" sz="1100" dirty="0" smtClean="0"/>
                        <a:t>지분</a:t>
                      </a:r>
                      <a:r>
                        <a:rPr lang="en-US" altLang="ko-KR" sz="1100" dirty="0" smtClean="0"/>
                        <a:t>) </a:t>
                      </a:r>
                      <a:endParaRPr lang="ko-KR" altLang="en-US" sz="11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 smtClean="0"/>
                        <a:t>기타사항</a:t>
                      </a:r>
                      <a:endParaRPr lang="ko-KR" altLang="en-US" sz="1100" b="1" dirty="0"/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 smtClean="0"/>
                        <a:t>풋옵션</a:t>
                      </a:r>
                      <a:r>
                        <a:rPr lang="ko-KR" altLang="en-US" sz="1100" dirty="0" smtClean="0"/>
                        <a:t> 조건에 따라 가격 및 추가인수 주식수 최종협의</a:t>
                      </a:r>
                      <a:endParaRPr lang="ko-KR" altLang="en-US" sz="11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30630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/>
          </p:cNvSpPr>
          <p:nvPr/>
        </p:nvSpPr>
        <p:spPr>
          <a:xfrm>
            <a:off x="1259632" y="2492896"/>
            <a:ext cx="6840000" cy="622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Tx/>
              <a:buFontTx/>
              <a:buNone/>
              <a:tabLst/>
              <a:defRPr sz="1600" b="1" kern="1200" baseline="0">
                <a:solidFill>
                  <a:srgbClr val="233A63"/>
                </a:solidFill>
                <a:latin typeface="+mn-lt"/>
                <a:ea typeface="맑은 고딕" panose="020B0503020000020004" pitchFamily="50" charset="-127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2pPr>
            <a:lvl3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-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3pPr>
            <a:lvl4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Georgia" pitchFamily="18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defRPr>
            </a:lvl5pPr>
            <a:lvl6pPr marL="274320" marR="0" indent="-27432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6pPr>
            <a:lvl7pPr marL="54864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alpha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7pPr>
            <a:lvl8pPr marL="82296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  <a:buFont typeface="+mj-lt"/>
              <a:buAutoNum type="romanLcPeriod"/>
              <a:defRPr sz="20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8pPr>
            <a:lvl9pPr marL="0" indent="-27432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None/>
              <a:defRPr sz="2000" b="1" kern="1200" baseline="0">
                <a:solidFill>
                  <a:schemeClr val="tx2"/>
                </a:solidFill>
                <a:latin typeface="Georgia" pitchFamily="18" charset="0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IV. Appendix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81001" y="704728"/>
            <a:ext cx="1238672" cy="432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600" b="1" dirty="0">
                <a:solidFill>
                  <a:srgbClr val="233A63"/>
                </a:solidFill>
              </a:rPr>
              <a:t>Contents</a:t>
            </a:r>
            <a:endParaRPr lang="ko-KR" altLang="en-US" sz="1600" b="1" dirty="0" err="1">
              <a:solidFill>
                <a:srgbClr val="233A63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0630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 bwMode="auto">
          <a:xfrm>
            <a:off x="395288" y="2285992"/>
            <a:ext cx="8208000" cy="3636861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5" name="내용 개체 틀 1"/>
          <p:cNvSpPr>
            <a:spLocks noGrp="1"/>
          </p:cNvSpPr>
          <p:nvPr>
            <p:ph sz="quarter" idx="15"/>
          </p:nvPr>
        </p:nvSpPr>
        <p:spPr>
          <a:xfrm>
            <a:off x="423610" y="6285440"/>
            <a:ext cx="6084000" cy="263624"/>
          </a:xfrm>
        </p:spPr>
        <p:txBody>
          <a:bodyPr/>
          <a:lstStyle/>
          <a:p>
            <a:pPr indent="0"/>
            <a:r>
              <a:rPr lang="en-US" altLang="ko-KR" dirty="0" smtClean="0"/>
              <a:t>(1) </a:t>
            </a:r>
            <a:r>
              <a:rPr lang="ko-KR" altLang="en-US" dirty="0" smtClean="0"/>
              <a:t>주문결제 </a:t>
            </a:r>
            <a:r>
              <a:rPr lang="ko-KR" altLang="en-US" dirty="0" err="1"/>
              <a:t>완료액</a:t>
            </a:r>
            <a:r>
              <a:rPr lang="ko-KR" altLang="en-US" dirty="0"/>
              <a:t> 기준의 </a:t>
            </a:r>
            <a:r>
              <a:rPr lang="ko-KR" altLang="en-US" dirty="0" smtClean="0"/>
              <a:t>분기별 누적 주문 금액</a:t>
            </a:r>
            <a:r>
              <a:rPr lang="en-US" altLang="ko-KR" dirty="0" smtClean="0"/>
              <a:t> (APP+WEB)</a:t>
            </a:r>
            <a:endParaRPr lang="ko-KR" altLang="en-US" dirty="0"/>
          </a:p>
        </p:txBody>
      </p:sp>
      <p:graphicFrame>
        <p:nvGraphicFramePr>
          <p:cNvPr id="6" name="차트 5"/>
          <p:cNvGraphicFramePr/>
          <p:nvPr>
            <p:extLst>
              <p:ext uri="{D42A27DB-BD31-4B8C-83A1-F6EECF244321}">
                <p14:modId xmlns="" xmlns:p14="http://schemas.microsoft.com/office/powerpoint/2010/main" val="1780557040"/>
              </p:ext>
            </p:extLst>
          </p:nvPr>
        </p:nvGraphicFramePr>
        <p:xfrm>
          <a:off x="785786" y="2571744"/>
          <a:ext cx="7643866" cy="3071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7884368" y="6237312"/>
            <a:ext cx="712800" cy="2628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BC80C-B1D2-42DA-B465-5CACDB325AFD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233A63"/>
                </a:solidFill>
                <a:effectLst/>
                <a:uLnTx/>
                <a:uFillTx/>
                <a:latin typeface="Georgia"/>
                <a:ea typeface="맑은 고딕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233A63"/>
              </a:solidFill>
              <a:effectLst/>
              <a:uLnTx/>
              <a:uFillTx/>
              <a:latin typeface="Georgia"/>
              <a:ea typeface="맑은 고딕"/>
              <a:cs typeface="+mn-cs"/>
            </a:endParaRPr>
          </a:p>
        </p:txBody>
      </p:sp>
      <p:sp>
        <p:nvSpPr>
          <p:cNvPr id="13" name="제목 3"/>
          <p:cNvSpPr>
            <a:spLocks noGrp="1"/>
          </p:cNvSpPr>
          <p:nvPr>
            <p:ph type="title"/>
          </p:nvPr>
        </p:nvSpPr>
        <p:spPr>
          <a:xfrm>
            <a:off x="381001" y="332656"/>
            <a:ext cx="6513095" cy="326488"/>
          </a:xfrm>
        </p:spPr>
        <p:txBody>
          <a:bodyPr/>
          <a:lstStyle/>
          <a:p>
            <a:r>
              <a:rPr lang="en-US" altLang="ko-KR" dirty="0" smtClean="0"/>
              <a:t>IV. Appendix</a:t>
            </a:r>
            <a:endParaRPr lang="ko-KR" altLang="en-US" dirty="0"/>
          </a:p>
        </p:txBody>
      </p:sp>
      <p:sp>
        <p:nvSpPr>
          <p:cNvPr id="14" name="내용 개체 틀 4"/>
          <p:cNvSpPr>
            <a:spLocks noGrp="1"/>
          </p:cNvSpPr>
          <p:nvPr>
            <p:ph sz="quarter" idx="16"/>
          </p:nvPr>
        </p:nvSpPr>
        <p:spPr>
          <a:xfrm>
            <a:off x="381001" y="695058"/>
            <a:ext cx="6513095" cy="389801"/>
          </a:xfrm>
        </p:spPr>
        <p:txBody>
          <a:bodyPr anchor="ctr"/>
          <a:lstStyle/>
          <a:p>
            <a:r>
              <a:rPr lang="ko-KR" altLang="en-US" dirty="0" err="1" smtClean="0"/>
              <a:t>누적거래액</a:t>
            </a:r>
            <a:endParaRPr lang="ko-KR" altLang="en-US" sz="1200" baseline="30000" dirty="0">
              <a:effectLst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6392" y="2472051"/>
            <a:ext cx="857256" cy="21431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000" dirty="0" smtClean="0">
                <a:latin typeface="Georgia" pitchFamily="18" charset="0"/>
              </a:rPr>
              <a:t>(</a:t>
            </a:r>
            <a:r>
              <a:rPr lang="ko-KR" altLang="en-US" sz="1000" dirty="0" smtClean="0">
                <a:latin typeface="Georgia" pitchFamily="18" charset="0"/>
              </a:rPr>
              <a:t>단위</a:t>
            </a:r>
            <a:r>
              <a:rPr lang="en-US" altLang="ko-KR" sz="1000" dirty="0" smtClean="0">
                <a:latin typeface="Georgia" pitchFamily="18" charset="0"/>
              </a:rPr>
              <a:t>: </a:t>
            </a:r>
            <a:r>
              <a:rPr lang="ko-KR" altLang="en-US" sz="1000" smtClean="0">
                <a:latin typeface="Georgia" pitchFamily="18" charset="0"/>
              </a:rPr>
              <a:t>백만</a:t>
            </a:r>
            <a:r>
              <a:rPr lang="en-US" altLang="ko-KR" sz="1000" dirty="0" smtClean="0">
                <a:latin typeface="Georgia" pitchFamily="18" charset="0"/>
              </a:rPr>
              <a:t>)</a:t>
            </a:r>
            <a:endParaRPr lang="ko-KR" altLang="en-US" sz="1000" dirty="0" err="1" smtClean="0">
              <a:latin typeface="Georgia" pitchFamily="18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395288" y="1785926"/>
            <a:ext cx="8208000" cy="4991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300" b="1" kern="0" dirty="0" smtClean="0">
                <a:solidFill>
                  <a:srgbClr val="000000"/>
                </a:solidFill>
                <a:ea typeface="맑은 고딕" pitchFamily="50" charset="-127"/>
              </a:rPr>
              <a:t>분기별 </a:t>
            </a:r>
            <a:r>
              <a:rPr lang="ko-KR" altLang="en-US" sz="1300" b="1" kern="0" dirty="0" err="1" smtClean="0">
                <a:solidFill>
                  <a:srgbClr val="000000"/>
                </a:solidFill>
                <a:ea typeface="맑은 고딕" pitchFamily="50" charset="-127"/>
              </a:rPr>
              <a:t>누적거래액</a:t>
            </a:r>
            <a:r>
              <a:rPr lang="en-US" altLang="ko-KR" sz="1300" b="1" kern="0" baseline="30000" dirty="0" smtClean="0">
                <a:solidFill>
                  <a:srgbClr val="000000"/>
                </a:solidFill>
                <a:ea typeface="맑은 고딕" pitchFamily="50" charset="-127"/>
              </a:rPr>
              <a:t>(1)</a:t>
            </a:r>
            <a:endParaRPr lang="ko-KR" altLang="en-US" sz="1300" b="1" kern="0" baseline="3000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15" name="직사각형 14"/>
          <p:cNvSpPr/>
          <p:nvPr/>
        </p:nvSpPr>
        <p:spPr bwMode="ltGray">
          <a:xfrm>
            <a:off x="7261488" y="3000371"/>
            <a:ext cx="684000" cy="259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</p:spTree>
    <p:extLst>
      <p:ext uri="{BB962C8B-B14F-4D97-AF65-F5344CB8AC3E}">
        <p14:creationId xmlns="" xmlns:p14="http://schemas.microsoft.com/office/powerpoint/2010/main" val="120435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 bwMode="auto">
          <a:xfrm>
            <a:off x="382029" y="2276872"/>
            <a:ext cx="8343314" cy="3636861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382029" y="1777700"/>
            <a:ext cx="8343314" cy="4991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300" b="1" kern="0" dirty="0" smtClean="0">
                <a:solidFill>
                  <a:srgbClr val="000000"/>
                </a:solidFill>
                <a:ea typeface="맑은 고딕" pitchFamily="50" charset="-127"/>
              </a:rPr>
              <a:t>연평균 </a:t>
            </a:r>
            <a:r>
              <a:rPr lang="en-US" altLang="ko-KR" sz="1300" b="1" kern="0" dirty="0" smtClean="0">
                <a:solidFill>
                  <a:srgbClr val="000000"/>
                </a:solidFill>
                <a:ea typeface="맑은 고딕" pitchFamily="50" charset="-127"/>
              </a:rPr>
              <a:t>MAU </a:t>
            </a:r>
            <a:r>
              <a:rPr lang="ko-KR" altLang="en-US" sz="1300" b="1" kern="0" smtClean="0">
                <a:solidFill>
                  <a:srgbClr val="000000"/>
                </a:solidFill>
                <a:ea typeface="맑은 고딕" pitchFamily="50" charset="-127"/>
              </a:rPr>
              <a:t>및 최대치</a:t>
            </a:r>
            <a:endParaRPr lang="ko-KR" altLang="en-US" sz="1300" b="1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5" name="내용 개체 틀 1"/>
          <p:cNvSpPr>
            <a:spLocks noGrp="1"/>
          </p:cNvSpPr>
          <p:nvPr>
            <p:ph sz="quarter" idx="15"/>
          </p:nvPr>
        </p:nvSpPr>
        <p:spPr>
          <a:xfrm>
            <a:off x="423610" y="6285440"/>
            <a:ext cx="6084000" cy="263624"/>
          </a:xfrm>
        </p:spPr>
        <p:txBody>
          <a:bodyPr/>
          <a:lstStyle/>
          <a:p>
            <a:pPr indent="0"/>
            <a:endParaRPr lang="ko-KR" altLang="en-US" dirty="0"/>
          </a:p>
        </p:txBody>
      </p:sp>
      <p:graphicFrame>
        <p:nvGraphicFramePr>
          <p:cNvPr id="30" name="차트 29"/>
          <p:cNvGraphicFramePr/>
          <p:nvPr>
            <p:extLst>
              <p:ext uri="{D42A27DB-BD31-4B8C-83A1-F6EECF244321}">
                <p14:modId xmlns="" xmlns:p14="http://schemas.microsoft.com/office/powerpoint/2010/main" val="2140555347"/>
              </p:ext>
            </p:extLst>
          </p:nvPr>
        </p:nvGraphicFramePr>
        <p:xfrm>
          <a:off x="714348" y="2500306"/>
          <a:ext cx="3500462" cy="3167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1" name="차트 30"/>
          <p:cNvGraphicFramePr/>
          <p:nvPr/>
        </p:nvGraphicFramePr>
        <p:xfrm>
          <a:off x="4929190" y="2571744"/>
          <a:ext cx="3500462" cy="3071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24287" y="2854646"/>
            <a:ext cx="714380" cy="21431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altLang="ko-KR" sz="1400" b="1" dirty="0" smtClean="0"/>
              <a:t>&lt;APP&gt;</a:t>
            </a:r>
            <a:endParaRPr lang="ko-KR" altLang="en-US" sz="1400" b="1" dirty="0" err="1" smtClean="0"/>
          </a:p>
        </p:txBody>
      </p:sp>
      <p:sp>
        <p:nvSpPr>
          <p:cNvPr id="16" name="TextBox 15"/>
          <p:cNvSpPr txBox="1"/>
          <p:nvPr/>
        </p:nvSpPr>
        <p:spPr>
          <a:xfrm>
            <a:off x="4748423" y="2854646"/>
            <a:ext cx="714380" cy="21431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altLang="ko-KR" sz="1400" b="1" dirty="0" smtClean="0"/>
              <a:t>&lt;WEB&gt;</a:t>
            </a:r>
            <a:endParaRPr lang="ko-KR" altLang="en-US" sz="1400" b="1" dirty="0" err="1" smtClean="0"/>
          </a:p>
        </p:txBody>
      </p:sp>
      <p:sp>
        <p:nvSpPr>
          <p:cNvPr id="19" name="TextBox 18"/>
          <p:cNvSpPr txBox="1"/>
          <p:nvPr/>
        </p:nvSpPr>
        <p:spPr>
          <a:xfrm>
            <a:off x="509973" y="2472051"/>
            <a:ext cx="857256" cy="21431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000" dirty="0" smtClean="0">
                <a:latin typeface="Georgia" pitchFamily="18" charset="0"/>
              </a:rPr>
              <a:t>(</a:t>
            </a:r>
            <a:r>
              <a:rPr lang="ko-KR" altLang="en-US" sz="1000" dirty="0" smtClean="0">
                <a:latin typeface="Georgia" pitchFamily="18" charset="0"/>
              </a:rPr>
              <a:t>단위</a:t>
            </a:r>
            <a:r>
              <a:rPr lang="en-US" altLang="ko-KR" sz="1000" dirty="0" smtClean="0">
                <a:latin typeface="Georgia" pitchFamily="18" charset="0"/>
              </a:rPr>
              <a:t>: </a:t>
            </a:r>
            <a:r>
              <a:rPr lang="ko-KR" altLang="en-US" sz="1000" dirty="0" smtClean="0">
                <a:latin typeface="Georgia" pitchFamily="18" charset="0"/>
              </a:rPr>
              <a:t>천명</a:t>
            </a:r>
            <a:r>
              <a:rPr lang="en-US" altLang="ko-KR" sz="1000" dirty="0" smtClean="0">
                <a:latin typeface="Georgia" pitchFamily="18" charset="0"/>
              </a:rPr>
              <a:t>)</a:t>
            </a:r>
            <a:endParaRPr lang="ko-KR" altLang="en-US" sz="1000" dirty="0" err="1" smtClean="0">
              <a:latin typeface="Georgia" pitchFamily="18" charset="0"/>
            </a:endParaRPr>
          </a:p>
        </p:txBody>
      </p:sp>
      <p:sp>
        <p:nvSpPr>
          <p:cNvPr id="1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7884368" y="6237312"/>
            <a:ext cx="712800" cy="2628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BC80C-B1D2-42DA-B465-5CACDB325AFD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233A63"/>
                </a:solidFill>
                <a:effectLst/>
                <a:uLnTx/>
                <a:uFillTx/>
                <a:latin typeface="Georgia"/>
                <a:ea typeface="맑은 고딕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233A63"/>
              </a:solidFill>
              <a:effectLst/>
              <a:uLnTx/>
              <a:uFillTx/>
              <a:latin typeface="Georgia"/>
              <a:ea typeface="맑은 고딕"/>
              <a:cs typeface="+mn-cs"/>
            </a:endParaRPr>
          </a:p>
        </p:txBody>
      </p:sp>
      <p:sp>
        <p:nvSpPr>
          <p:cNvPr id="14" name="제목 3"/>
          <p:cNvSpPr>
            <a:spLocks noGrp="1"/>
          </p:cNvSpPr>
          <p:nvPr>
            <p:ph type="title"/>
          </p:nvPr>
        </p:nvSpPr>
        <p:spPr>
          <a:xfrm>
            <a:off x="381001" y="332656"/>
            <a:ext cx="6513095" cy="326488"/>
          </a:xfrm>
        </p:spPr>
        <p:txBody>
          <a:bodyPr/>
          <a:lstStyle/>
          <a:p>
            <a:r>
              <a:rPr lang="en-US" altLang="ko-KR" dirty="0"/>
              <a:t>IV. Appendix</a:t>
            </a:r>
            <a:endParaRPr lang="ko-KR" altLang="en-US" dirty="0"/>
          </a:p>
        </p:txBody>
      </p:sp>
      <p:sp>
        <p:nvSpPr>
          <p:cNvPr id="17" name="내용 개체 틀 4"/>
          <p:cNvSpPr>
            <a:spLocks noGrp="1"/>
          </p:cNvSpPr>
          <p:nvPr>
            <p:ph sz="quarter" idx="16"/>
          </p:nvPr>
        </p:nvSpPr>
        <p:spPr>
          <a:xfrm>
            <a:off x="381001" y="695058"/>
            <a:ext cx="6513095" cy="389801"/>
          </a:xfrm>
        </p:spPr>
        <p:txBody>
          <a:bodyPr anchor="ctr"/>
          <a:lstStyle/>
          <a:p>
            <a:r>
              <a:rPr lang="ko-KR" altLang="en-US" dirty="0" smtClean="0"/>
              <a:t>연도별 </a:t>
            </a:r>
            <a:r>
              <a:rPr lang="en-US" altLang="ko-KR" dirty="0" smtClean="0"/>
              <a:t>MAU </a:t>
            </a:r>
            <a:r>
              <a:rPr lang="ko-KR" altLang="en-US" dirty="0" smtClean="0"/>
              <a:t>추이</a:t>
            </a:r>
            <a:endParaRPr lang="ko-KR" altLang="en-US" sz="1200" baseline="30000" dirty="0">
              <a:effectLst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0435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 bwMode="auto">
          <a:xfrm>
            <a:off x="4572000" y="2276872"/>
            <a:ext cx="4030113" cy="3636861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4572000" y="1777700"/>
            <a:ext cx="4030114" cy="4991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300" b="1" kern="0" dirty="0" err="1" smtClean="0">
                <a:solidFill>
                  <a:srgbClr val="000000"/>
                </a:solidFill>
                <a:ea typeface="맑은 고딕" pitchFamily="50" charset="-127"/>
              </a:rPr>
              <a:t>재방문율</a:t>
            </a:r>
            <a:r>
              <a:rPr lang="en-US" altLang="ko-KR" sz="1300" b="1" kern="0" baseline="30000" dirty="0" smtClean="0">
                <a:solidFill>
                  <a:srgbClr val="000000"/>
                </a:solidFill>
                <a:ea typeface="맑은 고딕" pitchFamily="50" charset="-127"/>
              </a:rPr>
              <a:t>(2)</a:t>
            </a:r>
            <a:endParaRPr lang="ko-KR" altLang="en-US" sz="1300" b="1" kern="0" baseline="3000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399010" y="2276872"/>
            <a:ext cx="4030113" cy="3636861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399010" y="1777700"/>
            <a:ext cx="4030114" cy="4991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300" b="1" kern="0" dirty="0" smtClean="0">
                <a:solidFill>
                  <a:srgbClr val="000000"/>
                </a:solidFill>
                <a:ea typeface="맑은 고딕" pitchFamily="50" charset="-127"/>
              </a:rPr>
              <a:t>연도별 </a:t>
            </a:r>
            <a:r>
              <a:rPr lang="ko-KR" altLang="en-US" sz="1300" b="1" kern="0" dirty="0" err="1" smtClean="0">
                <a:solidFill>
                  <a:srgbClr val="000000"/>
                </a:solidFill>
                <a:ea typeface="맑은 고딕" pitchFamily="50" charset="-127"/>
              </a:rPr>
              <a:t>구매전환율</a:t>
            </a:r>
            <a:r>
              <a:rPr lang="en-US" altLang="ko-KR" sz="1300" b="1" kern="0" baseline="30000" dirty="0" smtClean="0">
                <a:solidFill>
                  <a:srgbClr val="000000"/>
                </a:solidFill>
                <a:ea typeface="맑은 고딕" pitchFamily="50" charset="-127"/>
              </a:rPr>
              <a:t>(1)</a:t>
            </a:r>
            <a:r>
              <a:rPr lang="ko-KR" altLang="en-US" sz="1300" b="1" kern="0" baseline="30000" smtClean="0">
                <a:solidFill>
                  <a:srgbClr val="000000"/>
                </a:solidFill>
                <a:ea typeface="맑은 고딕" pitchFamily="50" charset="-127"/>
              </a:rPr>
              <a:t> </a:t>
            </a:r>
            <a:r>
              <a:rPr lang="ko-KR" altLang="en-US" sz="1300" b="1" kern="0" smtClean="0">
                <a:solidFill>
                  <a:srgbClr val="000000"/>
                </a:solidFill>
                <a:ea typeface="맑은 고딕" pitchFamily="50" charset="-127"/>
              </a:rPr>
              <a:t>추이</a:t>
            </a:r>
            <a:endParaRPr lang="ko-KR" altLang="en-US" sz="1300" b="1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IV. Appendix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 anchor="ctr"/>
          <a:lstStyle/>
          <a:p>
            <a:r>
              <a:rPr lang="ko-KR" altLang="en-US" dirty="0" err="1" smtClean="0"/>
              <a:t>구매전환율</a:t>
            </a:r>
            <a:r>
              <a:rPr lang="ko-KR" altLang="en-US" dirty="0" smtClean="0"/>
              <a:t> 및 재방문율</a:t>
            </a:r>
            <a:endParaRPr lang="ko-KR" altLang="en-US" sz="1200" baseline="30000" dirty="0">
              <a:effectLst/>
            </a:endParaRPr>
          </a:p>
        </p:txBody>
      </p:sp>
      <p:graphicFrame>
        <p:nvGraphicFramePr>
          <p:cNvPr id="7" name="내용 개체 틀 6"/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="" xmlns:p14="http://schemas.microsoft.com/office/powerpoint/2010/main" val="278917378"/>
              </p:ext>
            </p:extLst>
          </p:nvPr>
        </p:nvGraphicFramePr>
        <p:xfrm>
          <a:off x="785786" y="2714620"/>
          <a:ext cx="3286148" cy="2571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내용 개체 틀 11"/>
          <p:cNvSpPr txBox="1">
            <a:spLocks/>
          </p:cNvSpPr>
          <p:nvPr/>
        </p:nvSpPr>
        <p:spPr>
          <a:xfrm>
            <a:off x="423610" y="6285440"/>
            <a:ext cx="6084000" cy="2636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indent="-274320">
              <a:spcAft>
                <a:spcPts val="900"/>
              </a:spcAft>
              <a:buClr>
                <a:schemeClr val="tx1"/>
              </a:buClr>
              <a:defRPr/>
            </a:pPr>
            <a:r>
              <a:rPr lang="en-US" altLang="ko-KR" sz="1000" dirty="0" smtClean="0">
                <a:ea typeface="맑은 고딕" panose="020B0503020000020004" pitchFamily="50" charset="-127"/>
              </a:rPr>
              <a:t>(1) </a:t>
            </a:r>
            <a:r>
              <a:rPr lang="ko-KR" altLang="en-US" sz="1000" dirty="0" smtClean="0">
                <a:ea typeface="맑은 고딕" panose="020B0503020000020004" pitchFamily="50" charset="-127"/>
              </a:rPr>
              <a:t>연도별 총 방문자수 대비 총</a:t>
            </a:r>
            <a:r>
              <a:rPr kumimoji="0" lang="en-US" altLang="ko-KR" sz="1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맑은 고딕" panose="020B0503020000020004" pitchFamily="50" charset="-127"/>
                <a:cs typeface="+mn-cs"/>
              </a:rPr>
              <a:t>구매자 수 비율</a:t>
            </a:r>
            <a:r>
              <a:rPr kumimoji="0" lang="en-US" altLang="ko-KR" sz="1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맑은 고딕" panose="020B0503020000020004" pitchFamily="50" charset="-127"/>
                <a:cs typeface="+mn-cs"/>
              </a:rPr>
            </a:br>
            <a:r>
              <a:rPr lang="en-US" altLang="ko-KR" sz="1000" dirty="0" smtClean="0">
                <a:ea typeface="맑은 고딕" panose="020B0503020000020004" pitchFamily="50" charset="-127"/>
              </a:rPr>
              <a:t>(2) ’17~’19</a:t>
            </a:r>
            <a:r>
              <a:rPr lang="ko-KR" altLang="en-US" sz="1000" dirty="0" smtClean="0">
                <a:ea typeface="맑은 고딕" panose="020B0503020000020004" pitchFamily="50" charset="-127"/>
              </a:rPr>
              <a:t>년도 평균치</a:t>
            </a:r>
          </a:p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7884368" y="6237312"/>
            <a:ext cx="712800" cy="262800"/>
          </a:xfrm>
        </p:spPr>
        <p:txBody>
          <a:bodyPr/>
          <a:lstStyle/>
          <a:p>
            <a:fld id="{B68BC80C-B1D2-42DA-B465-5CACDB325AFD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graphicFrame>
        <p:nvGraphicFramePr>
          <p:cNvPr id="17" name="내용 개체 틀 10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1130466672"/>
              </p:ext>
            </p:extLst>
          </p:nvPr>
        </p:nvGraphicFramePr>
        <p:xfrm>
          <a:off x="5000628" y="2857496"/>
          <a:ext cx="3307075" cy="2551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22" name="직선 화살표 연결선 21"/>
          <p:cNvCxnSpPr/>
          <p:nvPr/>
        </p:nvCxnSpPr>
        <p:spPr>
          <a:xfrm flipV="1">
            <a:off x="1359570" y="3143248"/>
            <a:ext cx="1643074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 bwMode="ltGray">
          <a:xfrm>
            <a:off x="5214942" y="2786057"/>
            <a:ext cx="857256" cy="248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  <p:sp>
        <p:nvSpPr>
          <p:cNvPr id="16" name="직사각형 15"/>
          <p:cNvSpPr/>
          <p:nvPr/>
        </p:nvSpPr>
        <p:spPr bwMode="ltGray">
          <a:xfrm>
            <a:off x="3000364" y="2754253"/>
            <a:ext cx="857256" cy="248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</p:spTree>
    <p:extLst>
      <p:ext uri="{BB962C8B-B14F-4D97-AF65-F5344CB8AC3E}">
        <p14:creationId xmlns="" xmlns:p14="http://schemas.microsoft.com/office/powerpoint/2010/main" val="278949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 bwMode="auto">
          <a:xfrm>
            <a:off x="4572000" y="2276872"/>
            <a:ext cx="4030113" cy="3636861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572000" y="1786820"/>
            <a:ext cx="4030114" cy="4991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300" b="1" kern="0" dirty="0" smtClean="0">
                <a:solidFill>
                  <a:srgbClr val="000000"/>
                </a:solidFill>
                <a:ea typeface="맑은 고딕" pitchFamily="50" charset="-127"/>
              </a:rPr>
              <a:t>연도별 </a:t>
            </a:r>
            <a:r>
              <a:rPr lang="ko-KR" altLang="en-US" sz="1300" b="1" kern="0" dirty="0" err="1" smtClean="0">
                <a:solidFill>
                  <a:srgbClr val="000000"/>
                </a:solidFill>
                <a:ea typeface="맑은 고딕" pitchFamily="50" charset="-127"/>
              </a:rPr>
              <a:t>리모델링</a:t>
            </a:r>
            <a:r>
              <a:rPr lang="ko-KR" altLang="en-US" sz="1300" b="1" kern="0" dirty="0" smtClean="0">
                <a:solidFill>
                  <a:srgbClr val="000000"/>
                </a:solidFill>
                <a:ea typeface="맑은 고딕" pitchFamily="50" charset="-127"/>
              </a:rPr>
              <a:t> 문의 건수</a:t>
            </a:r>
          </a:p>
        </p:txBody>
      </p:sp>
      <p:sp>
        <p:nvSpPr>
          <p:cNvPr id="23" name="직사각형 22"/>
          <p:cNvSpPr/>
          <p:nvPr/>
        </p:nvSpPr>
        <p:spPr bwMode="auto">
          <a:xfrm>
            <a:off x="399010" y="2276872"/>
            <a:ext cx="4030113" cy="3636861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endParaRPr lang="ko-KR" altLang="en-US" sz="1300" kern="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2" name="직사각형 1"/>
          <p:cNvSpPr/>
          <p:nvPr/>
        </p:nvSpPr>
        <p:spPr bwMode="auto">
          <a:xfrm>
            <a:off x="399010" y="1786820"/>
            <a:ext cx="4030114" cy="4991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lIns="72000" tIns="72000" rIns="72000" bIns="72000" rtlCol="0" anchor="ctr" anchorCtr="0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ko-KR" altLang="en-US" sz="1300" b="1" kern="0" dirty="0" smtClean="0">
                <a:solidFill>
                  <a:srgbClr val="000000"/>
                </a:solidFill>
                <a:ea typeface="맑은 고딕" pitchFamily="50" charset="-127"/>
              </a:rPr>
              <a:t>지역별 </a:t>
            </a:r>
            <a:r>
              <a:rPr lang="ko-KR" altLang="en-US" sz="1300" b="1" kern="0" dirty="0" err="1" smtClean="0">
                <a:solidFill>
                  <a:srgbClr val="000000"/>
                </a:solidFill>
                <a:ea typeface="맑은 고딕" pitchFamily="50" charset="-127"/>
              </a:rPr>
              <a:t>리모델링</a:t>
            </a:r>
            <a:r>
              <a:rPr lang="ko-KR" altLang="en-US" sz="1300" b="1" kern="0" dirty="0" smtClean="0">
                <a:solidFill>
                  <a:srgbClr val="000000"/>
                </a:solidFill>
                <a:ea typeface="맑은 고딕" pitchFamily="50" charset="-127"/>
              </a:rPr>
              <a:t> 문의 건수</a:t>
            </a:r>
            <a:r>
              <a:rPr lang="en-US" altLang="ko-KR" sz="1300" b="1" kern="0" baseline="30000" dirty="0" smtClean="0">
                <a:solidFill>
                  <a:srgbClr val="000000"/>
                </a:solidFill>
                <a:ea typeface="맑은 고딕" pitchFamily="50" charset="-127"/>
              </a:rPr>
              <a:t>(1)</a:t>
            </a:r>
            <a:endParaRPr lang="ko-KR" altLang="en-US" sz="1300" b="1" kern="0" baseline="30000" dirty="0" smtClean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IV. Appendix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6"/>
          </p:nvPr>
        </p:nvSpPr>
        <p:spPr/>
        <p:txBody>
          <a:bodyPr anchor="ctr"/>
          <a:lstStyle/>
          <a:p>
            <a:r>
              <a:rPr lang="ko-KR" altLang="en-US" dirty="0" err="1" smtClean="0"/>
              <a:t>리모델링</a:t>
            </a:r>
            <a:r>
              <a:rPr lang="ko-KR" altLang="en-US" dirty="0" smtClean="0"/>
              <a:t> 업체 및 문의 현황</a:t>
            </a:r>
            <a:endParaRPr lang="ko-KR" altLang="en-US" sz="1200" baseline="30000" dirty="0">
              <a:effectLst/>
            </a:endParaRPr>
          </a:p>
        </p:txBody>
      </p:sp>
      <p:graphicFrame>
        <p:nvGraphicFramePr>
          <p:cNvPr id="11" name="내용 개체 틀 10"/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="" xmlns:p14="http://schemas.microsoft.com/office/powerpoint/2010/main" val="942516518"/>
              </p:ext>
            </p:extLst>
          </p:nvPr>
        </p:nvGraphicFramePr>
        <p:xfrm>
          <a:off x="4929190" y="2714620"/>
          <a:ext cx="3259253" cy="29051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차트 17"/>
          <p:cNvGraphicFramePr/>
          <p:nvPr>
            <p:extLst>
              <p:ext uri="{D42A27DB-BD31-4B8C-83A1-F6EECF244321}">
                <p14:modId xmlns="" xmlns:p14="http://schemas.microsoft.com/office/powerpoint/2010/main" val="3484954047"/>
              </p:ext>
            </p:extLst>
          </p:nvPr>
        </p:nvGraphicFramePr>
        <p:xfrm>
          <a:off x="1214414" y="2857496"/>
          <a:ext cx="2786082" cy="2500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4" name="직선 화살표 연결선 13">
            <a:extLst>
              <a:ext uri="{FF2B5EF4-FFF2-40B4-BE49-F238E27FC236}">
                <a16:creationId xmlns="" xmlns:a16="http://schemas.microsoft.com/office/drawing/2014/main" id="{E80894EC-8C13-41E7-9B4E-43F29E533320}"/>
              </a:ext>
            </a:extLst>
          </p:cNvPr>
          <p:cNvCxnSpPr>
            <a:cxnSpLocks/>
          </p:cNvCxnSpPr>
          <p:nvPr/>
        </p:nvCxnSpPr>
        <p:spPr>
          <a:xfrm flipV="1">
            <a:off x="6654811" y="3379927"/>
            <a:ext cx="0" cy="6120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="" xmlns:a16="http://schemas.microsoft.com/office/drawing/2014/main" id="{BCF77EC6-EE54-42E8-887D-DB9C2BAC247B}"/>
              </a:ext>
            </a:extLst>
          </p:cNvPr>
          <p:cNvCxnSpPr>
            <a:cxnSpLocks/>
          </p:cNvCxnSpPr>
          <p:nvPr/>
        </p:nvCxnSpPr>
        <p:spPr>
          <a:xfrm>
            <a:off x="6542606" y="3357925"/>
            <a:ext cx="60116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="" xmlns:a16="http://schemas.microsoft.com/office/drawing/2014/main" id="{0145BAF2-9AAA-4995-8ABB-558175647149}"/>
              </a:ext>
            </a:extLst>
          </p:cNvPr>
          <p:cNvSpPr/>
          <p:nvPr/>
        </p:nvSpPr>
        <p:spPr bwMode="ltGray">
          <a:xfrm>
            <a:off x="6296477" y="3500438"/>
            <a:ext cx="716666" cy="329706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00" b="1" dirty="0">
                <a:solidFill>
                  <a:schemeClr val="bg1"/>
                </a:solidFill>
              </a:rPr>
              <a:t>+</a:t>
            </a:r>
            <a:r>
              <a:rPr lang="en-US" altLang="ko-KR" sz="1300" b="1" dirty="0" smtClean="0">
                <a:solidFill>
                  <a:schemeClr val="bg1"/>
                </a:solidFill>
              </a:rPr>
              <a:t>52%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="" xmlns:a16="http://schemas.microsoft.com/office/drawing/2014/main" id="{DEE6B088-0412-4682-9AD9-916F9027BA43}"/>
              </a:ext>
            </a:extLst>
          </p:cNvPr>
          <p:cNvCxnSpPr>
            <a:cxnSpLocks/>
          </p:cNvCxnSpPr>
          <p:nvPr/>
        </p:nvCxnSpPr>
        <p:spPr>
          <a:xfrm>
            <a:off x="6163089" y="3992553"/>
            <a:ext cx="61001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3469" y="2494606"/>
            <a:ext cx="857256" cy="21431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000" dirty="0" smtClean="0">
                <a:latin typeface="Georgia" pitchFamily="18" charset="0"/>
              </a:rPr>
              <a:t>(</a:t>
            </a:r>
            <a:r>
              <a:rPr lang="ko-KR" altLang="en-US" sz="1000" dirty="0" smtClean="0">
                <a:latin typeface="Georgia" pitchFamily="18" charset="0"/>
              </a:rPr>
              <a:t>단위</a:t>
            </a:r>
            <a:r>
              <a:rPr lang="en-US" altLang="ko-KR" sz="1000" dirty="0" smtClean="0">
                <a:latin typeface="Georgia" pitchFamily="18" charset="0"/>
              </a:rPr>
              <a:t>: </a:t>
            </a:r>
            <a:r>
              <a:rPr lang="ko-KR" altLang="en-US" sz="1000" dirty="0" smtClean="0">
                <a:latin typeface="Georgia" pitchFamily="18" charset="0"/>
              </a:rPr>
              <a:t>건</a:t>
            </a:r>
            <a:r>
              <a:rPr lang="en-US" altLang="ko-KR" sz="1000" dirty="0" smtClean="0">
                <a:latin typeface="Georgia" pitchFamily="18" charset="0"/>
              </a:rPr>
              <a:t>)</a:t>
            </a:r>
            <a:endParaRPr lang="ko-KR" altLang="en-US" sz="1000" dirty="0" err="1" smtClean="0">
              <a:latin typeface="Georgia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86314" y="2492896"/>
            <a:ext cx="857256" cy="21431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altLang="ko-KR" sz="1000" dirty="0" smtClean="0">
                <a:latin typeface="Georgia" pitchFamily="18" charset="0"/>
              </a:rPr>
              <a:t>(</a:t>
            </a:r>
            <a:r>
              <a:rPr lang="ko-KR" altLang="en-US" sz="1000" dirty="0" smtClean="0">
                <a:latin typeface="Georgia" pitchFamily="18" charset="0"/>
              </a:rPr>
              <a:t>단위</a:t>
            </a:r>
            <a:r>
              <a:rPr lang="en-US" altLang="ko-KR" sz="1000" dirty="0" smtClean="0">
                <a:latin typeface="Georgia" pitchFamily="18" charset="0"/>
              </a:rPr>
              <a:t>: </a:t>
            </a:r>
            <a:r>
              <a:rPr lang="ko-KR" altLang="en-US" sz="1000" dirty="0" smtClean="0">
                <a:latin typeface="Georgia" pitchFamily="18" charset="0"/>
              </a:rPr>
              <a:t>건</a:t>
            </a:r>
            <a:r>
              <a:rPr lang="en-US" altLang="ko-KR" sz="1000" dirty="0" smtClean="0">
                <a:latin typeface="Georgia" pitchFamily="18" charset="0"/>
              </a:rPr>
              <a:t>)</a:t>
            </a:r>
            <a:endParaRPr lang="ko-KR" altLang="en-US" sz="1000" dirty="0" err="1" smtClean="0">
              <a:latin typeface="Georgia" pitchFamily="18" charset="0"/>
            </a:endParaRPr>
          </a:p>
        </p:txBody>
      </p:sp>
      <p:sp>
        <p:nvSpPr>
          <p:cNvPr id="21" name="내용 개체 틀 11"/>
          <p:cNvSpPr txBox="1">
            <a:spLocks/>
          </p:cNvSpPr>
          <p:nvPr/>
        </p:nvSpPr>
        <p:spPr>
          <a:xfrm>
            <a:off x="423610" y="6285440"/>
            <a:ext cx="6084000" cy="2636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Tx/>
              <a:buFontTx/>
              <a:buNone/>
              <a:tabLst/>
              <a:defRPr/>
            </a:pPr>
            <a:r>
              <a:rPr lang="en-US" altLang="ko-KR" sz="1000" dirty="0" smtClean="0">
                <a:ea typeface="맑은 고딕" panose="020B0503020000020004" pitchFamily="50" charset="-127"/>
              </a:rPr>
              <a:t>(1) ’18</a:t>
            </a:r>
            <a:r>
              <a:rPr lang="ko-KR" altLang="en-US" sz="1000" dirty="0" smtClean="0">
                <a:ea typeface="맑은 고딕" panose="020B0503020000020004" pitchFamily="50" charset="-127"/>
              </a:rPr>
              <a:t>년 </a:t>
            </a:r>
            <a:r>
              <a:rPr lang="en-US" altLang="ko-KR" sz="1000" dirty="0" smtClean="0">
                <a:ea typeface="맑은 고딕" panose="020B0503020000020004" pitchFamily="50" charset="-127"/>
              </a:rPr>
              <a:t>3</a:t>
            </a:r>
            <a:r>
              <a:rPr lang="ko-KR" altLang="en-US" sz="1000" dirty="0" smtClean="0">
                <a:ea typeface="맑은 고딕" panose="020B0503020000020004" pitchFamily="50" charset="-127"/>
              </a:rPr>
              <a:t>월 이후 누적 문의건수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7884368" y="6237312"/>
            <a:ext cx="712800" cy="262800"/>
          </a:xfrm>
        </p:spPr>
        <p:txBody>
          <a:bodyPr/>
          <a:lstStyle/>
          <a:p>
            <a:fld id="{B68BC80C-B1D2-42DA-B465-5CACDB325AFD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278949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IX 테마1">
  <a:themeElements>
    <a:clrScheme name="IX Color 1">
      <a:dk1>
        <a:srgbClr val="000000"/>
      </a:dk1>
      <a:lt1>
        <a:srgbClr val="FFFFFF"/>
      </a:lt1>
      <a:dk2>
        <a:srgbClr val="3C5A91"/>
      </a:dk2>
      <a:lt2>
        <a:srgbClr val="CCD7F6"/>
      </a:lt2>
      <a:accent1>
        <a:srgbClr val="026B97"/>
      </a:accent1>
      <a:accent2>
        <a:srgbClr val="0967BC"/>
      </a:accent2>
      <a:accent3>
        <a:srgbClr val="3C5A91"/>
      </a:accent3>
      <a:accent4>
        <a:srgbClr val="4B73E1"/>
      </a:accent4>
      <a:accent5>
        <a:srgbClr val="039ED9"/>
      </a:accent5>
      <a:accent6>
        <a:srgbClr val="A0E3F9"/>
      </a:accent6>
      <a:hlink>
        <a:srgbClr val="611348"/>
      </a:hlink>
      <a:folHlink>
        <a:srgbClr val="E0C4D8"/>
      </a:folHlink>
    </a:clrScheme>
    <a:fontScheme name="IX 서식 1">
      <a:majorFont>
        <a:latin typeface="Georgia"/>
        <a:ea typeface="맑은 고딕"/>
        <a:cs typeface=""/>
      </a:majorFont>
      <a:minorFont>
        <a:latin typeface="Georgi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>
            <a:lumMod val="20000"/>
            <a:lumOff val="80000"/>
          </a:schemeClr>
        </a:solidFill>
        <a:ln w="6350">
          <a:solidFill>
            <a:schemeClr val="tx2"/>
          </a:solidFill>
          <a:miter lim="800000"/>
          <a:headEnd/>
          <a:tailEnd/>
        </a:ln>
      </a:spPr>
      <a:bodyPr lIns="72000" tIns="72000" rIns="72000" bIns="72000" rtlCol="0" anchor="t" anchorCtr="0"/>
      <a:lstStyle>
        <a:defPPr algn="ctr">
          <a:spcBef>
            <a:spcPts val="300"/>
          </a:spcBef>
          <a:spcAft>
            <a:spcPts val="300"/>
          </a:spcAft>
          <a:buClr>
            <a:schemeClr val="tx1"/>
          </a:buClr>
          <a:defRPr sz="1300" kern="0" dirty="0" smtClean="0">
            <a:solidFill>
              <a:srgbClr val="000000"/>
            </a:solidFill>
            <a:ea typeface="맑은 고딕" pitchFamily="50" charset="-127"/>
          </a:defRPr>
        </a:defPPr>
      </a:lstStyle>
    </a:spDef>
    <a:txDef>
      <a:spPr>
        <a:noFill/>
      </a:spPr>
      <a:bodyPr vert="horz" wrap="square" lIns="0" tIns="0" rIns="0" bIns="0" rtlCol="0">
        <a:noAutofit/>
      </a:bodyPr>
      <a:lstStyle>
        <a:defPPr indent="-274320">
          <a:spcAft>
            <a:spcPts val="900"/>
          </a:spcAft>
          <a:defRPr sz="2000" dirty="0" err="1" smtClean="0">
            <a:latin typeface="Georgia" pitchFamily="18" charset="0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IX 테마1" id="{7D95CE8B-53C8-42F4-B5C6-BEF08908E6EB}" vid="{B9A9A40A-C5E1-4522-90CA-F9CE404326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IX 테마1</Template>
  <TotalTime>31571</TotalTime>
  <Words>4010</Words>
  <Application>Microsoft Office PowerPoint</Application>
  <PresentationFormat>화면 슬라이드 쇼(4:3)</PresentationFormat>
  <Paragraphs>958</Paragraphs>
  <Slides>41</Slides>
  <Notes>10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2" baseType="lpstr">
      <vt:lpstr>1_IX 테마1</vt:lpstr>
      <vt:lpstr>슬라이드 0</vt:lpstr>
      <vt:lpstr>슬라이드 1</vt:lpstr>
      <vt:lpstr>㈜하우스미디어 소개</vt:lpstr>
      <vt:lpstr>슬라이드 3</vt:lpstr>
      <vt:lpstr>Investment Highlights</vt:lpstr>
      <vt:lpstr>   국내 인테리어 시장의 높은 매력도</vt:lpstr>
      <vt:lpstr>   매력적인 인테리어 O2O 시장</vt:lpstr>
      <vt:lpstr>   매력적인 인테리어 O2O 시장</vt:lpstr>
      <vt:lpstr>   매력적인 인테리어 O2O 시장</vt:lpstr>
      <vt:lpstr>    Business Origin “커뮤니티”</vt:lpstr>
      <vt:lpstr>   Business Origin “커뮤니티”</vt:lpstr>
      <vt:lpstr>   성공경험이 이식된 차별화된 사업구조 구축</vt:lpstr>
      <vt:lpstr>   성공경험이 이식된 차별화된 사업구조 구축 – 커뮤니티  </vt:lpstr>
      <vt:lpstr>   성공경험이 이식된 차별화된 사업구조 구축 – 커뮤니티  </vt:lpstr>
      <vt:lpstr>   성공경험이 이식된 차별화된 사업구조 구축 – 커뮤니티 </vt:lpstr>
      <vt:lpstr>   성공경험이 이식된 차별화된 사업구조 구축 – 커뮤니티 </vt:lpstr>
      <vt:lpstr>   성공경험이 이식된 차별화된 사업구조 구축 – 커뮤니티 </vt:lpstr>
      <vt:lpstr>   성공경험이 이식된 차별화된 사업구조 구축 – 커머스 </vt:lpstr>
      <vt:lpstr>   성공경험이 이식된 차별화된 사업구조 구축 – 커머스 </vt:lpstr>
      <vt:lpstr>   성공경험이 이식된 차별화된 사업구조 구축 – 커머스 </vt:lpstr>
      <vt:lpstr>   성공경험이 이식된 차별화된 사업구조 구축 – 커머스 </vt:lpstr>
      <vt:lpstr>   성공경험이 이식된 차별화된 사업구조 구축 – 커머스 </vt:lpstr>
      <vt:lpstr>   성공경험이 이식된 차별화된 사업구조 구축 – 리모델링</vt:lpstr>
      <vt:lpstr>   성공경험이 이식된 차별화된 사업구조 구축 – 리모델링</vt:lpstr>
      <vt:lpstr>   성공경험이 이식된 차별화된 사업구조 구축 – 리모델링</vt:lpstr>
      <vt:lpstr>   성공경험이 이식된 차별화된 사업구조 구축</vt:lpstr>
      <vt:lpstr>   커뮤니티 기반 “Total Housing Service” 지향 </vt:lpstr>
      <vt:lpstr>슬라이드 27</vt:lpstr>
      <vt:lpstr>III. 재무현황 </vt:lpstr>
      <vt:lpstr>III. 재무현황 </vt:lpstr>
      <vt:lpstr>III. 재무현황 </vt:lpstr>
      <vt:lpstr>III. 재무현황 </vt:lpstr>
      <vt:lpstr>III. 재무현황</vt:lpstr>
      <vt:lpstr>III. 재무현황 </vt:lpstr>
      <vt:lpstr>III. 재무현황 </vt:lpstr>
      <vt:lpstr>슬라이드 35</vt:lpstr>
      <vt:lpstr>슬라이드 36</vt:lpstr>
      <vt:lpstr>IV. Appendix</vt:lpstr>
      <vt:lpstr>IV. Appendix</vt:lpstr>
      <vt:lpstr>IV. Appendix</vt:lpstr>
      <vt:lpstr>IV. Appendix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김용태</dc:creator>
  <cp:lastModifiedBy>Windows 사용자</cp:lastModifiedBy>
  <cp:revision>2942</cp:revision>
  <cp:lastPrinted>2018-11-20T03:31:58Z</cp:lastPrinted>
  <dcterms:created xsi:type="dcterms:W3CDTF">2012-05-31T09:09:27Z</dcterms:created>
  <dcterms:modified xsi:type="dcterms:W3CDTF">2020-06-25T07:49:38Z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