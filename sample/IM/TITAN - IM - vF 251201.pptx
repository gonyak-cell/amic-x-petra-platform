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Ex1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61"/>
  </p:notesMasterIdLst>
  <p:sldIdLst>
    <p:sldId id="288" r:id="rId2"/>
    <p:sldId id="322" r:id="rId3"/>
    <p:sldId id="384" r:id="rId4"/>
    <p:sldId id="395" r:id="rId5"/>
    <p:sldId id="396" r:id="rId6"/>
    <p:sldId id="323" r:id="rId7"/>
    <p:sldId id="328" r:id="rId8"/>
    <p:sldId id="337" r:id="rId9"/>
    <p:sldId id="411" r:id="rId10"/>
    <p:sldId id="427" r:id="rId11"/>
    <p:sldId id="428" r:id="rId12"/>
    <p:sldId id="408" r:id="rId13"/>
    <p:sldId id="426" r:id="rId14"/>
    <p:sldId id="418" r:id="rId15"/>
    <p:sldId id="468" r:id="rId16"/>
    <p:sldId id="409" r:id="rId17"/>
    <p:sldId id="414" r:id="rId18"/>
    <p:sldId id="415" r:id="rId19"/>
    <p:sldId id="410" r:id="rId20"/>
    <p:sldId id="324" r:id="rId21"/>
    <p:sldId id="419" r:id="rId22"/>
    <p:sldId id="420" r:id="rId23"/>
    <p:sldId id="423" r:id="rId24"/>
    <p:sldId id="424" r:id="rId25"/>
    <p:sldId id="425" r:id="rId26"/>
    <p:sldId id="421" r:id="rId27"/>
    <p:sldId id="309" r:id="rId28"/>
    <p:sldId id="434" r:id="rId29"/>
    <p:sldId id="436" r:id="rId30"/>
    <p:sldId id="457" r:id="rId31"/>
    <p:sldId id="460" r:id="rId32"/>
    <p:sldId id="442" r:id="rId33"/>
    <p:sldId id="485" r:id="rId34"/>
    <p:sldId id="443" r:id="rId35"/>
    <p:sldId id="463" r:id="rId36"/>
    <p:sldId id="444" r:id="rId37"/>
    <p:sldId id="454" r:id="rId38"/>
    <p:sldId id="452" r:id="rId39"/>
    <p:sldId id="453" r:id="rId40"/>
    <p:sldId id="445" r:id="rId41"/>
    <p:sldId id="446" r:id="rId42"/>
    <p:sldId id="455" r:id="rId43"/>
    <p:sldId id="447" r:id="rId44"/>
    <p:sldId id="450" r:id="rId45"/>
    <p:sldId id="464" r:id="rId46"/>
    <p:sldId id="448" r:id="rId47"/>
    <p:sldId id="486" r:id="rId48"/>
    <p:sldId id="472" r:id="rId49"/>
    <p:sldId id="480" r:id="rId50"/>
    <p:sldId id="482" r:id="rId51"/>
    <p:sldId id="484" r:id="rId52"/>
    <p:sldId id="478" r:id="rId53"/>
    <p:sldId id="490" r:id="rId54"/>
    <p:sldId id="325" r:id="rId55"/>
    <p:sldId id="471" r:id="rId56"/>
    <p:sldId id="489" r:id="rId57"/>
    <p:sldId id="487" r:id="rId58"/>
    <p:sldId id="488" r:id="rId59"/>
    <p:sldId id="282" r:id="rId60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1" orient="horz" pos="3974" userDrawn="1">
          <p15:clr>
            <a:srgbClr val="A4A3A4"/>
          </p15:clr>
        </p15:guide>
        <p15:guide id="12" pos="2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9DFF"/>
    <a:srgbClr val="11244A"/>
    <a:srgbClr val="E0E0E0"/>
    <a:srgbClr val="E6F3FF"/>
    <a:srgbClr val="3D3D3D"/>
    <a:srgbClr val="B2DAFF"/>
    <a:srgbClr val="2A5FA3"/>
    <a:srgbClr val="5CCFA0"/>
    <a:srgbClr val="4B6DE8"/>
    <a:srgbClr val="802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7384" autoAdjust="0"/>
  </p:normalViewPr>
  <p:slideViewPr>
    <p:cSldViewPr snapToGrid="0" showGuides="1">
      <p:cViewPr varScale="1">
        <p:scale>
          <a:sx n="123" d="100"/>
          <a:sy n="123" d="100"/>
        </p:scale>
        <p:origin x="1194" y="108"/>
      </p:cViewPr>
      <p:guideLst>
        <p:guide orient="horz" pos="3974"/>
        <p:guide pos="28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11244A"/>
            </a:solidFill>
            <a:ln>
              <a:noFill/>
            </a:ln>
            <a:effectLst/>
          </c:spPr>
          <c:invertIfNegative val="0"/>
          <c:dLbls>
            <c:numFmt formatCode="#,##0&quot;억원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19050" rIns="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2024A</c:v>
                </c:pt>
                <c:pt idx="1">
                  <c:v>2025 H1</c:v>
                </c:pt>
                <c:pt idx="2">
                  <c:v>2025E</c:v>
                </c:pt>
              </c:strCache>
            </c:strRef>
          </c:cat>
          <c:val>
            <c:numRef>
              <c:f>Sheet1!$B$2:$B$4</c:f>
              <c:numCache>
                <c:formatCode>#,##0;\(#,##0\);"-"</c:formatCode>
                <c:ptCount val="3"/>
                <c:pt idx="0">
                  <c:v>112.23</c:v>
                </c:pt>
                <c:pt idx="1">
                  <c:v>333.93</c:v>
                </c:pt>
                <c:pt idx="2">
                  <c:v>773.24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ED-400C-97E1-FBD6E34DC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38825807"/>
        <c:axId val="38828207"/>
      </c:barChart>
      <c:catAx>
        <c:axId val="3882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828207"/>
        <c:crosses val="autoZero"/>
        <c:auto val="1"/>
        <c:lblAlgn val="ctr"/>
        <c:lblOffset val="100"/>
        <c:noMultiLvlLbl val="0"/>
      </c:catAx>
      <c:valAx>
        <c:axId val="38828207"/>
        <c:scaling>
          <c:orientation val="minMax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rgbClr val="E6F3FF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8258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numFmt formatCode="#,##0&quot;억원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2025/5</c:v>
                </c:pt>
                <c:pt idx="1">
                  <c:v>2025/7</c:v>
                </c:pt>
                <c:pt idx="2">
                  <c:v>2025/9</c:v>
                </c:pt>
              </c:strCache>
            </c:strRef>
          </c:cat>
          <c:val>
            <c:numRef>
              <c:f>Sheet1!$B$2:$B$4</c:f>
              <c:numCache>
                <c:formatCode>#,##0;\(#,##0\);"-"</c:formatCode>
                <c:ptCount val="3"/>
                <c:pt idx="0">
                  <c:v>12.66</c:v>
                </c:pt>
                <c:pt idx="1">
                  <c:v>34.057000000000002</c:v>
                </c:pt>
                <c:pt idx="2">
                  <c:v>44.3718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5-4698-B4E1-3AC36B1DE9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38825807"/>
        <c:axId val="388282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ln w="19050" cap="rnd">
              <a:solidFill>
                <a:schemeClr val="bg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bg1"/>
                </a:solidFill>
              </a:ln>
              <a:effectLst/>
            </c:spPr>
          </c:marker>
          <c:dLbls>
            <c:numFmt formatCode="#,##0&quot;개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2025/5</c:v>
                </c:pt>
                <c:pt idx="1">
                  <c:v>2025/7</c:v>
                </c:pt>
                <c:pt idx="2">
                  <c:v>2025/9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75-4698-B4E1-3AC36B1DE9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7131071"/>
        <c:axId val="587127231"/>
      </c:lineChart>
      <c:catAx>
        <c:axId val="3882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0E0E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828207"/>
        <c:crosses val="autoZero"/>
        <c:auto val="1"/>
        <c:lblAlgn val="ctr"/>
        <c:lblOffset val="100"/>
        <c:noMultiLvlLbl val="0"/>
      </c:catAx>
      <c:valAx>
        <c:axId val="38828207"/>
        <c:scaling>
          <c:orientation val="minMax"/>
          <c:max val="10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rgbClr val="11244A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825807"/>
        <c:crosses val="autoZero"/>
        <c:crossBetween val="between"/>
      </c:valAx>
      <c:valAx>
        <c:axId val="587127231"/>
        <c:scaling>
          <c:orientation val="minMax"/>
          <c:max val="10"/>
          <c:min val="-1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rgbClr val="11244A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131071"/>
        <c:crosses val="max"/>
        <c:crossBetween val="between"/>
      </c:valAx>
      <c:catAx>
        <c:axId val="5871310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71272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numFmt formatCode="#,##0&quot;건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clip" vert="horz" wrap="square" lIns="0" tIns="19050" rIns="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2024 H1</c:v>
                </c:pt>
                <c:pt idx="1">
                  <c:v>2024 H2</c:v>
                </c:pt>
                <c:pt idx="2">
                  <c:v>2025 H1</c:v>
                </c:pt>
              </c:strCache>
            </c:strRef>
          </c:cat>
          <c:val>
            <c:numRef>
              <c:f>Sheet1!$B$2:$B$4</c:f>
              <c:numCache>
                <c:formatCode>#,##0;\(#,##0\);"-"</c:formatCode>
                <c:ptCount val="3"/>
                <c:pt idx="0">
                  <c:v>850</c:v>
                </c:pt>
                <c:pt idx="1">
                  <c:v>4074</c:v>
                </c:pt>
                <c:pt idx="2">
                  <c:v>13663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96-49EF-A2A4-4118F97302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38825807"/>
        <c:axId val="38828207"/>
      </c:barChart>
      <c:catAx>
        <c:axId val="3882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0E0E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828207"/>
        <c:crosses val="autoZero"/>
        <c:auto val="1"/>
        <c:lblAlgn val="ctr"/>
        <c:lblOffset val="100"/>
        <c:noMultiLvlLbl val="0"/>
      </c:catAx>
      <c:valAx>
        <c:axId val="38828207"/>
        <c:scaling>
          <c:orientation val="minMax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rgbClr val="539DFF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88258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dPt>
            <c:idx val="0"/>
            <c:bubble3D val="0"/>
            <c:spPr>
              <a:solidFill>
                <a:srgbClr val="1124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87-4846-9C4F-B3E8B9A03C9A}"/>
              </c:ext>
            </c:extLst>
          </c:dPt>
          <c:dPt>
            <c:idx val="1"/>
            <c:bubble3D val="0"/>
            <c:spPr>
              <a:solidFill>
                <a:srgbClr val="539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87-4846-9C4F-B3E8B9A03C9A}"/>
              </c:ext>
            </c:extLst>
          </c:dPt>
          <c:dPt>
            <c:idx val="2"/>
            <c:bubble3D val="0"/>
            <c:spPr>
              <a:solidFill>
                <a:srgbClr val="B2DA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87-4846-9C4F-B3E8B9A03C9A}"/>
              </c:ext>
            </c:extLst>
          </c:dPt>
          <c:dPt>
            <c:idx val="3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87-4846-9C4F-B3E8B9A03C9A}"/>
              </c:ext>
            </c:extLst>
          </c:dPt>
          <c:cat>
            <c:strRef>
              <c:f>Sheet1!$A$2:$A$5</c:f>
              <c:strCache>
                <c:ptCount val="4"/>
                <c:pt idx="0">
                  <c:v>네</c:v>
                </c:pt>
                <c:pt idx="1">
                  <c:v>앞으로 시작할 계획이 있다</c:v>
                </c:pt>
                <c:pt idx="2">
                  <c:v>아니요</c:v>
                </c:pt>
                <c:pt idx="3">
                  <c:v>과거에는 있지만 현재는 하고 있지 않다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0.30299999999999999</c:v>
                </c:pt>
                <c:pt idx="1">
                  <c:v>0.311</c:v>
                </c:pt>
                <c:pt idx="2">
                  <c:v>0.33100000000000002</c:v>
                </c:pt>
                <c:pt idx="3">
                  <c:v>5.5E-2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87-4846-9C4F-B3E8B9A03C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소비자물가지수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520-497C-B89A-3FC770958D3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20-497C-B89A-3FC770958D3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520-497C-B89A-3FC770958D3C}"/>
                </c:ext>
              </c:extLst>
            </c:dLbl>
            <c:dLbl>
              <c:idx val="5"/>
              <c:layout>
                <c:manualLayout>
                  <c:x val="-4.1611267100751893E-17"/>
                  <c:y val="-0.257209150326797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20-497C-B89A-3FC770958D3C}"/>
                </c:ext>
              </c:extLst>
            </c:dLbl>
            <c:dLbl>
              <c:idx val="6"/>
              <c:layout>
                <c:manualLayout>
                  <c:x val="0"/>
                  <c:y val="-0.2875441176470588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520-497C-B89A-3FC770958D3C}"/>
                </c:ext>
              </c:extLst>
            </c:dLbl>
            <c:dLbl>
              <c:idx val="7"/>
              <c:layout>
                <c:manualLayout>
                  <c:x val="0"/>
                  <c:y val="-0.303225490196078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20-497C-B89A-3FC770958D3C}"/>
                </c:ext>
              </c:extLst>
            </c:dLbl>
            <c:dLbl>
              <c:idx val="8"/>
              <c:layout>
                <c:manualLayout>
                  <c:x val="0"/>
                  <c:y val="-0.315239379084967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520-497C-B89A-3FC770958D3C}"/>
                </c:ext>
              </c:extLst>
            </c:dLbl>
            <c:dLbl>
              <c:idx val="9"/>
              <c:layout>
                <c:manualLayout>
                  <c:x val="-8.3222534201503786E-17"/>
                  <c:y val="-0.3190988562091503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520-497C-B89A-3FC770958D3C}"/>
                </c:ext>
              </c:extLst>
            </c:dLbl>
            <c:dLbl>
              <c:idx val="10"/>
              <c:layout>
                <c:manualLayout>
                  <c:x val="-8.3222534201503786E-17"/>
                  <c:y val="-0.3252581699346405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520-497C-B89A-3FC770958D3C}"/>
                </c:ext>
              </c:extLst>
            </c:dLbl>
            <c:dLbl>
              <c:idx val="11"/>
              <c:layout>
                <c:manualLayout>
                  <c:x val="-1.6644506840300757E-16"/>
                  <c:y val="-0.33698447712418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520-497C-B89A-3FC770958D3C}"/>
                </c:ext>
              </c:extLst>
            </c:dLbl>
            <c:dLbl>
              <c:idx val="12"/>
              <c:layout>
                <c:manualLayout>
                  <c:x val="-1.6644506840300757E-16"/>
                  <c:y val="-0.3688788126361655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520-497C-B89A-3FC770958D3C}"/>
                </c:ext>
              </c:extLst>
            </c:dLbl>
            <c:dLbl>
              <c:idx val="13"/>
              <c:layout>
                <c:manualLayout>
                  <c:x val="-1.6644506840300757E-16"/>
                  <c:y val="-0.378400871459694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520-497C-B89A-3FC770958D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2022 1Q</c:v>
                </c:pt>
                <c:pt idx="1">
                  <c:v>2022 2Q</c:v>
                </c:pt>
                <c:pt idx="2">
                  <c:v>2022 3Q</c:v>
                </c:pt>
                <c:pt idx="3">
                  <c:v>2022 4Q</c:v>
                </c:pt>
                <c:pt idx="4">
                  <c:v>2023 1Q</c:v>
                </c:pt>
                <c:pt idx="5">
                  <c:v>2023 2Q</c:v>
                </c:pt>
                <c:pt idx="6">
                  <c:v>2023 3Q</c:v>
                </c:pt>
                <c:pt idx="7">
                  <c:v>2023 4Q</c:v>
                </c:pt>
                <c:pt idx="8">
                  <c:v>2024 1Q</c:v>
                </c:pt>
                <c:pt idx="9">
                  <c:v>2024 2Q</c:v>
                </c:pt>
                <c:pt idx="10">
                  <c:v>2024 3Q</c:v>
                </c:pt>
                <c:pt idx="11">
                  <c:v>2024 4Q</c:v>
                </c:pt>
                <c:pt idx="12">
                  <c:v>2025 1Q</c:v>
                </c:pt>
                <c:pt idx="13">
                  <c:v>2025 2Q</c:v>
                </c:pt>
              </c:strCache>
            </c:strRef>
          </c:cat>
          <c:val>
            <c:numRef>
              <c:f>Sheet1!$D$2:$D$15</c:f>
              <c:numCache>
                <c:formatCode>0.0</c:formatCode>
                <c:ptCount val="14"/>
                <c:pt idx="0">
                  <c:v>105.46</c:v>
                </c:pt>
                <c:pt idx="1">
                  <c:v>107.51</c:v>
                </c:pt>
                <c:pt idx="2">
                  <c:v>108.73</c:v>
                </c:pt>
                <c:pt idx="3">
                  <c:v>109.16</c:v>
                </c:pt>
                <c:pt idx="4">
                  <c:v>110.31</c:v>
                </c:pt>
                <c:pt idx="5">
                  <c:v>111.02</c:v>
                </c:pt>
                <c:pt idx="6">
                  <c:v>112.14</c:v>
                </c:pt>
                <c:pt idx="7">
                  <c:v>112.89</c:v>
                </c:pt>
                <c:pt idx="8">
                  <c:v>113.63</c:v>
                </c:pt>
                <c:pt idx="9">
                  <c:v>113.98</c:v>
                </c:pt>
                <c:pt idx="10">
                  <c:v>114.44</c:v>
                </c:pt>
                <c:pt idx="11">
                  <c:v>114.67</c:v>
                </c:pt>
                <c:pt idx="12">
                  <c:v>116.03</c:v>
                </c:pt>
                <c:pt idx="13">
                  <c:v>116.32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520-497C-B89A-3FC770958D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249242079"/>
        <c:axId val="1249240159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명목소득</c:v>
                </c:pt>
              </c:strCache>
            </c:strRef>
          </c:tx>
          <c:spPr>
            <a:ln w="19050" cap="rnd">
              <a:solidFill>
                <a:srgbClr val="11244A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1244A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3.0365656565656565E-2"/>
                  <c:y val="3.54419934640522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520-497C-B89A-3FC770958D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2022 1Q</c:v>
                </c:pt>
                <c:pt idx="1">
                  <c:v>2022 2Q</c:v>
                </c:pt>
                <c:pt idx="2">
                  <c:v>2022 3Q</c:v>
                </c:pt>
                <c:pt idx="3">
                  <c:v>2022 4Q</c:v>
                </c:pt>
                <c:pt idx="4">
                  <c:v>2023 1Q</c:v>
                </c:pt>
                <c:pt idx="5">
                  <c:v>2023 2Q</c:v>
                </c:pt>
                <c:pt idx="6">
                  <c:v>2023 3Q</c:v>
                </c:pt>
                <c:pt idx="7">
                  <c:v>2023 4Q</c:v>
                </c:pt>
                <c:pt idx="8">
                  <c:v>2024 1Q</c:v>
                </c:pt>
                <c:pt idx="9">
                  <c:v>2024 2Q</c:v>
                </c:pt>
                <c:pt idx="10">
                  <c:v>2024 3Q</c:v>
                </c:pt>
                <c:pt idx="11">
                  <c:v>2024 4Q</c:v>
                </c:pt>
                <c:pt idx="12">
                  <c:v>2025 1Q</c:v>
                </c:pt>
                <c:pt idx="13">
                  <c:v>2025 2Q</c:v>
                </c:pt>
              </c:strCache>
            </c:strRef>
          </c:cat>
          <c:val>
            <c:numRef>
              <c:f>Sheet1!$B$2:$B$15</c:f>
              <c:numCache>
                <c:formatCode>0.0%</c:formatCode>
                <c:ptCount val="14"/>
                <c:pt idx="0">
                  <c:v>0.10099999999999999</c:v>
                </c:pt>
                <c:pt idx="1">
                  <c:v>0.127</c:v>
                </c:pt>
                <c:pt idx="2">
                  <c:v>0.03</c:v>
                </c:pt>
                <c:pt idx="3">
                  <c:v>4.0999999999999995E-2</c:v>
                </c:pt>
                <c:pt idx="4">
                  <c:v>4.7E-2</c:v>
                </c:pt>
                <c:pt idx="5">
                  <c:v>-8.0000000000000002E-3</c:v>
                </c:pt>
                <c:pt idx="6">
                  <c:v>3.4000000000000002E-2</c:v>
                </c:pt>
                <c:pt idx="7">
                  <c:v>3.9E-2</c:v>
                </c:pt>
                <c:pt idx="8">
                  <c:v>1.3999999999999999E-2</c:v>
                </c:pt>
                <c:pt idx="9">
                  <c:v>3.5000000000000003E-2</c:v>
                </c:pt>
                <c:pt idx="10">
                  <c:v>4.4000000000000004E-2</c:v>
                </c:pt>
                <c:pt idx="11">
                  <c:v>3.7999999999999999E-2</c:v>
                </c:pt>
                <c:pt idx="12">
                  <c:v>4.4999999999999998E-2</c:v>
                </c:pt>
                <c:pt idx="13">
                  <c:v>2.1000000000000001E-2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0520-497C-B89A-3FC770958D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실질소득</c:v>
                </c:pt>
              </c:strCache>
            </c:strRef>
          </c:tx>
          <c:spPr>
            <a:ln w="19050" cap="rnd">
              <a:solidFill>
                <a:srgbClr val="539DF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539DFF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6.2292087542087551E-2"/>
                  <c:y val="-4.58178104575163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520-497C-B89A-3FC770958D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539DFF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2022 1Q</c:v>
                </c:pt>
                <c:pt idx="1">
                  <c:v>2022 2Q</c:v>
                </c:pt>
                <c:pt idx="2">
                  <c:v>2022 3Q</c:v>
                </c:pt>
                <c:pt idx="3">
                  <c:v>2022 4Q</c:v>
                </c:pt>
                <c:pt idx="4">
                  <c:v>2023 1Q</c:v>
                </c:pt>
                <c:pt idx="5">
                  <c:v>2023 2Q</c:v>
                </c:pt>
                <c:pt idx="6">
                  <c:v>2023 3Q</c:v>
                </c:pt>
                <c:pt idx="7">
                  <c:v>2023 4Q</c:v>
                </c:pt>
                <c:pt idx="8">
                  <c:v>2024 1Q</c:v>
                </c:pt>
                <c:pt idx="9">
                  <c:v>2024 2Q</c:v>
                </c:pt>
                <c:pt idx="10">
                  <c:v>2024 3Q</c:v>
                </c:pt>
                <c:pt idx="11">
                  <c:v>2024 4Q</c:v>
                </c:pt>
                <c:pt idx="12">
                  <c:v>2025 1Q</c:v>
                </c:pt>
                <c:pt idx="13">
                  <c:v>2025 2Q</c:v>
                </c:pt>
              </c:strCache>
            </c:strRef>
          </c:cat>
          <c:val>
            <c:numRef>
              <c:f>Sheet1!$C$2:$C$15</c:f>
              <c:numCache>
                <c:formatCode>0.0%</c:formatCode>
                <c:ptCount val="14"/>
                <c:pt idx="0">
                  <c:v>5.9000000000000004E-2</c:v>
                </c:pt>
                <c:pt idx="1">
                  <c:v>6.9000000000000006E-2</c:v>
                </c:pt>
                <c:pt idx="2">
                  <c:v>-2.7000000000000003E-2</c:v>
                </c:pt>
                <c:pt idx="3">
                  <c:v>-0.01</c:v>
                </c:pt>
                <c:pt idx="4">
                  <c:v>1E-3</c:v>
                </c:pt>
                <c:pt idx="5">
                  <c:v>-3.9E-2</c:v>
                </c:pt>
                <c:pt idx="6">
                  <c:v>2E-3</c:v>
                </c:pt>
                <c:pt idx="7">
                  <c:v>5.0000000000000001E-3</c:v>
                </c:pt>
                <c:pt idx="8">
                  <c:v>-1.6E-2</c:v>
                </c:pt>
                <c:pt idx="9">
                  <c:v>8.0000000000000002E-3</c:v>
                </c:pt>
                <c:pt idx="10">
                  <c:v>2.3E-2</c:v>
                </c:pt>
                <c:pt idx="11">
                  <c:v>2.2000000000000002E-2</c:v>
                </c:pt>
                <c:pt idx="12">
                  <c:v>2.3E-2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0520-497C-B89A-3FC770958D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48046016"/>
        <c:axId val="448041216"/>
      </c:line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0.15000000000000002"/>
          <c:min val="-0.1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valAx>
        <c:axId val="1249240159"/>
        <c:scaling>
          <c:orientation val="minMax"/>
        </c:scaling>
        <c:delete val="0"/>
        <c:axPos val="r"/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242079"/>
        <c:crosses val="max"/>
        <c:crossBetween val="between"/>
      </c:valAx>
      <c:catAx>
        <c:axId val="124924207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492401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부업자수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pattFill prst="wdUpDiag">
                <a:fgClr>
                  <a:srgbClr val="539DFF"/>
                </a:fgClr>
                <a:bgClr>
                  <a:schemeClr val="bg1"/>
                </a:bgClr>
              </a:patt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C3-45F4-8678-DE161ED46B6F}"/>
              </c:ext>
            </c:extLst>
          </c:dPt>
          <c:dLbls>
            <c:dLbl>
              <c:idx val="0"/>
              <c:layout>
                <c:manualLayout>
                  <c:x val="0"/>
                  <c:y val="-0.278514070231731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AC3-45F4-8678-DE161ED46B6F}"/>
                </c:ext>
              </c:extLst>
            </c:dLbl>
            <c:dLbl>
              <c:idx val="1"/>
              <c:layout>
                <c:manualLayout>
                  <c:x val="-4.0253161074415609E-17"/>
                  <c:y val="-0.302003208685009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C3-45F4-8678-DE161ED46B6F}"/>
                </c:ext>
              </c:extLst>
            </c:dLbl>
            <c:dLbl>
              <c:idx val="2"/>
              <c:layout>
                <c:manualLayout>
                  <c:x val="4.0253161074415609E-17"/>
                  <c:y val="-0.3221367559306772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AC3-45F4-8678-DE161ED46B6F}"/>
                </c:ext>
              </c:extLst>
            </c:dLbl>
            <c:dLbl>
              <c:idx val="3"/>
              <c:layout>
                <c:manualLayout>
                  <c:x val="0"/>
                  <c:y val="-0.3355591207611221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C3-45F4-8678-DE161ED46B6F}"/>
                </c:ext>
              </c:extLst>
            </c:dLbl>
            <c:dLbl>
              <c:idx val="4"/>
              <c:layout>
                <c:manualLayout>
                  <c:x val="-1.6101264429766244E-16"/>
                  <c:y val="-0.362403850422011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AC3-45F4-8678-DE161ED46B6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C3-45F4-8678-DE161ED46B6F}"/>
                </c:ext>
              </c:extLst>
            </c:dLbl>
            <c:numFmt formatCode="#&quot;만&quot;&quot;명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A1A39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Sheet1!$B$3:$B$8</c:f>
              <c:numCache>
                <c:formatCode>_-* #,##0.0_-;\-* #,##0.0_-;_-* "-"_-;_-@_-</c:formatCode>
                <c:ptCount val="6"/>
                <c:pt idx="0">
                  <c:v>52.7</c:v>
                </c:pt>
                <c:pt idx="1">
                  <c:v>55.8</c:v>
                </c:pt>
                <c:pt idx="2">
                  <c:v>59.8</c:v>
                </c:pt>
                <c:pt idx="3">
                  <c:v>62.5</c:v>
                </c:pt>
                <c:pt idx="4">
                  <c:v>67.599999999999994</c:v>
                </c:pt>
                <c:pt idx="5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AC3-45F4-8678-DE161ED46B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448046016"/>
        <c:axId val="448041216"/>
      </c:bar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90"/>
          <c:min val="0"/>
        </c:scaling>
        <c:delete val="0"/>
        <c:axPos val="l"/>
        <c:numFmt formatCode="_-* #,##0.0_-;\-* #,##0.0_-;_-* &quot;-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Addressable User(만 명)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dirty="0"/>
                      <a:t>0.07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7CC-4723-8AF3-3A680C419E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dirty="0"/>
                      <a:t>1.04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7CC-4723-8AF3-3A680C419E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dirty="0"/>
                      <a:t>1.53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7CC-4723-8AF3-3A680C419E6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dirty="0"/>
                      <a:t>4.13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7CC-4723-8AF3-3A680C419E6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dirty="0"/>
                      <a:t>12.7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7CC-4723-8AF3-3A680C419E6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dirty="0"/>
                      <a:t>28.2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7CC-4723-8AF3-3A680C419E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539DFF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'24 1Q</c:v>
                </c:pt>
                <c:pt idx="1">
                  <c:v>'24 2Q</c:v>
                </c:pt>
                <c:pt idx="2">
                  <c:v>'24 3Q</c:v>
                </c:pt>
                <c:pt idx="3">
                  <c:v>'24 4Q</c:v>
                </c:pt>
                <c:pt idx="4">
                  <c:v>'25 1Q</c:v>
                </c:pt>
                <c:pt idx="5">
                  <c:v>'25 2Q</c:v>
                </c:pt>
              </c:strCache>
            </c:strRef>
          </c:cat>
          <c:val>
            <c:numRef>
              <c:f>Sheet1!$B$2:$B$7</c:f>
              <c:numCache>
                <c:formatCode>_(* #,##0_);_(* \(#,##0\);_(* "-"_);_(@_)</c:formatCode>
                <c:ptCount val="6"/>
                <c:pt idx="0">
                  <c:v>500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  <c:pt idx="4">
                  <c:v>9000</c:v>
                </c:pt>
                <c:pt idx="5">
                  <c:v>13000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7CC-4723-8AF3-3A680C419E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Serviceable User(만 명)</c:v>
                </c:pt>
              </c:strCache>
            </c:strRef>
          </c:tx>
          <c:spPr>
            <a:solidFill>
              <a:srgbClr val="11244A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7CC-4723-8AF3-3A680C419E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/>
                      <a:t>700</a:t>
                    </a:r>
                    <a:r>
                      <a:rPr lang="ko-KR" altLang="en-US"/>
                      <a:t>명</a:t>
                    </a:r>
                    <a:endParaRPr lang="ko-KR" alt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7CC-4723-8AF3-3A680C419E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dirty="0"/>
                      <a:t>0.3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C7CC-4723-8AF3-3A680C419E6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dirty="0"/>
                      <a:t>0.9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C7CC-4723-8AF3-3A680C419E6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dirty="0"/>
                      <a:t>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7CC-4723-8AF3-3A680C419E6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dirty="0"/>
                      <a:t>7.86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C7CC-4723-8AF3-3A680C419E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'24 1Q</c:v>
                </c:pt>
                <c:pt idx="1">
                  <c:v>'24 2Q</c:v>
                </c:pt>
                <c:pt idx="2">
                  <c:v>'24 3Q</c:v>
                </c:pt>
                <c:pt idx="3">
                  <c:v>'24 4Q</c:v>
                </c:pt>
                <c:pt idx="4">
                  <c:v>'25 1Q</c:v>
                </c:pt>
                <c:pt idx="5">
                  <c:v>'25 2Q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2" formatCode="_(* #,##0_);_(* \(#,##0\);_(* &quot;-&quot;_);_(@_)">
                  <c:v>900</c:v>
                </c:pt>
                <c:pt idx="3" formatCode="_(* #,##0_);_(* \(#,##0\);_(* &quot;-&quot;_);_(@_)">
                  <c:v>2000</c:v>
                </c:pt>
                <c:pt idx="4" formatCode="_(* #,##0_);_(* \(#,##0\);_(* &quot;-&quot;_);_(@_)">
                  <c:v>4000</c:v>
                </c:pt>
                <c:pt idx="5" formatCode="_(* #,##0_);_(* \(#,##0\);_(* &quot;-&quot;_);_(@_)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7CC-4723-8AF3-3A680C419E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10"/>
        <c:axId val="448046016"/>
        <c:axId val="448041216"/>
      </c:bar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in val="0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 altLang="ko-KR"/>
                      <a:t>6,556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47C-4A9C-9821-3A99D360775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/>
                      <a:t>13,774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47C-4A9C-9821-3A99D360775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/>
                      <a:t>21,711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47C-4A9C-9821-3A99D36077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539DFF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'24 1Q</c:v>
                </c:pt>
                <c:pt idx="1">
                  <c:v>'24 2Q</c:v>
                </c:pt>
                <c:pt idx="2">
                  <c:v>'24 3Q</c:v>
                </c:pt>
                <c:pt idx="3">
                  <c:v>'24 4Q</c:v>
                </c:pt>
                <c:pt idx="4">
                  <c:v>'25 1Q</c:v>
                </c:pt>
                <c:pt idx="5">
                  <c:v>'25 2Q</c:v>
                </c:pt>
              </c:strCache>
            </c:strRef>
          </c:cat>
          <c:val>
            <c:numRef>
              <c:f>Sheet1!$B$2:$B$7</c:f>
              <c:numCache>
                <c:formatCode>_(* #,##0_);_(* \(#,##0\);_(* "-"_);_(@_)</c:formatCode>
                <c:ptCount val="6"/>
                <c:pt idx="0">
                  <c:v>197.11</c:v>
                </c:pt>
                <c:pt idx="1">
                  <c:v>1483.1743329999999</c:v>
                </c:pt>
                <c:pt idx="2">
                  <c:v>3442.8872799999999</c:v>
                </c:pt>
                <c:pt idx="3">
                  <c:v>6534.5254210000003</c:v>
                </c:pt>
                <c:pt idx="4">
                  <c:v>12574.433673</c:v>
                </c:pt>
                <c:pt idx="5">
                  <c:v>16236.860457999999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7CC-4723-8AF3-3A680C419E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48046016"/>
        <c:axId val="44804121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유료결제건수(건)</c:v>
                </c:pt>
              </c:strCache>
            </c:strRef>
          </c:tx>
          <c:spPr>
            <a:ln w="19050" cap="rnd">
              <a:solidFill>
                <a:srgbClr val="11244A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1244A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9.4353618932973352E-2"/>
                  <c:y val="-5.2859030519242269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2,610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C7CC-4723-8AF3-3A680C419E6D}"/>
                </c:ext>
              </c:extLst>
            </c:dLbl>
            <c:dLbl>
              <c:idx val="4"/>
              <c:layout>
                <c:manualLayout>
                  <c:x val="-0.13000731557543616"/>
                  <c:y val="-4.2792254236567129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5,333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7CC-4723-8AF3-3A680C419E6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/>
                      <a:t>8,330</a:t>
                    </a:r>
                    <a:endParaRPr lang="en-US" altLang="ko-KR" dirty="0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47C-4A9C-9821-3A99D36077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'24 1Q</c:v>
                </c:pt>
                <c:pt idx="1">
                  <c:v>'24 2Q</c:v>
                </c:pt>
                <c:pt idx="2">
                  <c:v>'24 3Q</c:v>
                </c:pt>
                <c:pt idx="3">
                  <c:v>'24 4Q</c:v>
                </c:pt>
                <c:pt idx="4">
                  <c:v>'25 1Q</c:v>
                </c:pt>
                <c:pt idx="5">
                  <c:v>'25 2Q</c:v>
                </c:pt>
              </c:strCache>
            </c:strRef>
          </c:cat>
          <c:val>
            <c:numRef>
              <c:f>Sheet1!$C$2:$C$7</c:f>
              <c:numCache>
                <c:formatCode>_(* #,##0_);_(* \(#,##0\);_(* "-"_);_(@_)</c:formatCode>
                <c:ptCount val="6"/>
                <c:pt idx="0">
                  <c:v>110</c:v>
                </c:pt>
                <c:pt idx="1">
                  <c:v>740</c:v>
                </c:pt>
                <c:pt idx="2">
                  <c:v>1464</c:v>
                </c:pt>
                <c:pt idx="3">
                  <c:v>2599</c:v>
                </c:pt>
                <c:pt idx="4">
                  <c:v>4603</c:v>
                </c:pt>
                <c:pt idx="5">
                  <c:v>5744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7CC-4723-8AF3-3A680C419E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46879199"/>
        <c:axId val="446882559"/>
      </c:line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24500"/>
          <c:min val="0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valAx>
        <c:axId val="446882559"/>
        <c:scaling>
          <c:orientation val="minMax"/>
          <c:min val="-1000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6879199"/>
        <c:crosses val="max"/>
        <c:crossBetween val="between"/>
      </c:valAx>
      <c:catAx>
        <c:axId val="44687919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468825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강의매출</c:v>
                </c:pt>
              </c:strCache>
            </c:strRef>
          </c:tx>
          <c:spPr>
            <a:solidFill>
              <a:srgbClr val="11244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Sheet1!$B$2:$B$8</c:f>
              <c:numCache>
                <c:formatCode>#,##0;\(#,##0\);\-</c:formatCode>
                <c:ptCount val="7"/>
                <c:pt idx="0">
                  <c:v>111.92304433</c:v>
                </c:pt>
                <c:pt idx="1">
                  <c:v>747.53703380908803</c:v>
                </c:pt>
                <c:pt idx="2">
                  <c:v>860.73300804946689</c:v>
                </c:pt>
                <c:pt idx="3">
                  <c:v>941.09020751089599</c:v>
                </c:pt>
                <c:pt idx="4">
                  <c:v>1027.0792512968108</c:v>
                </c:pt>
                <c:pt idx="5">
                  <c:v>1114.0782033387713</c:v>
                </c:pt>
                <c:pt idx="6">
                  <c:v>1204.6788925584526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66-416C-B5E9-40FBCD3312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솔루션매출</c:v>
                </c:pt>
              </c:strCache>
            </c:strRef>
          </c:tx>
          <c:spPr>
            <a:solidFill>
              <a:srgbClr val="539DFF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4450954861111112E-2"/>
                  <c:y val="-6.218767191609766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866-416C-B5E9-40FBCD3312B7}"/>
                </c:ext>
              </c:extLst>
            </c:dLbl>
            <c:spPr>
              <a:solidFill>
                <a:srgbClr val="539DF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Sheet1!$C$2:$C$8</c:f>
              <c:numCache>
                <c:formatCode>#,##0;\(#,##0\);\-</c:formatCode>
                <c:ptCount val="7"/>
                <c:pt idx="1">
                  <c:v>25.707433011021557</c:v>
                </c:pt>
                <c:pt idx="2">
                  <c:v>71.962765716801172</c:v>
                </c:pt>
                <c:pt idx="3">
                  <c:v>94.26139058758892</c:v>
                </c:pt>
                <c:pt idx="4">
                  <c:v>119.24422935018569</c:v>
                </c:pt>
                <c:pt idx="5">
                  <c:v>146.53888890550294</c:v>
                </c:pt>
                <c:pt idx="6">
                  <c:v>176.54417030998815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66-416C-B5E9-40FBCD3312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기타매출</c:v>
                </c:pt>
              </c:strCache>
            </c:strRef>
          </c:tx>
          <c:spPr>
            <a:solidFill>
              <a:srgbClr val="E6F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3072916666666667E-2"/>
                  <c:y val="0"/>
                </c:manualLayout>
              </c:layout>
              <c:spPr>
                <a:solidFill>
                  <a:srgbClr val="E6F3FF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3D3D3D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866-416C-B5E9-40FBCD3312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 formatCode="#,##0;\(#,##0\);\-">
                  <c:v>31.054544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66-416C-B5E9-40FBCD3312B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합계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Sheet1!$E$2:$E$8</c:f>
              <c:numCache>
                <c:formatCode>#,##0;\(#,##0\);\-</c:formatCode>
                <c:ptCount val="7"/>
                <c:pt idx="0">
                  <c:v>112.23358976999999</c:v>
                </c:pt>
                <c:pt idx="1">
                  <c:v>773.24446682010955</c:v>
                </c:pt>
                <c:pt idx="2">
                  <c:v>932.69577376626808</c:v>
                </c:pt>
                <c:pt idx="3">
                  <c:v>1035.3515980984851</c:v>
                </c:pt>
                <c:pt idx="4">
                  <c:v>1146.3234806469964</c:v>
                </c:pt>
                <c:pt idx="5">
                  <c:v>1260.6170922442743</c:v>
                </c:pt>
                <c:pt idx="6">
                  <c:v>1381.2230628684408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66-416C-B5E9-40FBCD3312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29324927"/>
        <c:axId val="329336927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EBITDA율</c:v>
                </c:pt>
              </c:strCache>
            </c:strRef>
          </c:tx>
          <c:spPr>
            <a:ln w="19050" cap="rnd">
              <a:solidFill>
                <a:srgbClr val="5CCFA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5CCF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Sheet1!$F$2:$F$8</c:f>
              <c:numCache>
                <c:formatCode>0%</c:formatCode>
                <c:ptCount val="7"/>
                <c:pt idx="0">
                  <c:v>0.19212932887729747</c:v>
                </c:pt>
                <c:pt idx="1">
                  <c:v>0.29740086514332237</c:v>
                </c:pt>
                <c:pt idx="2">
                  <c:v>0.37983295507939463</c:v>
                </c:pt>
                <c:pt idx="3">
                  <c:v>0.42053463004303521</c:v>
                </c:pt>
                <c:pt idx="4">
                  <c:v>0.42991681046721819</c:v>
                </c:pt>
                <c:pt idx="5">
                  <c:v>0.43864079154639662</c:v>
                </c:pt>
                <c:pt idx="6">
                  <c:v>0.44670162310095346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66-416C-B5E9-40FBCD3312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0944511"/>
        <c:axId val="1520946911"/>
      </c:lineChart>
      <c:catAx>
        <c:axId val="329324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336927"/>
        <c:crosses val="autoZero"/>
        <c:auto val="1"/>
        <c:lblAlgn val="ctr"/>
        <c:lblOffset val="100"/>
        <c:noMultiLvlLbl val="0"/>
      </c:catAx>
      <c:valAx>
        <c:axId val="329336927"/>
        <c:scaling>
          <c:orientation val="minMax"/>
          <c:max val="1800"/>
          <c:min val="0"/>
        </c:scaling>
        <c:delete val="0"/>
        <c:axPos val="l"/>
        <c:numFmt formatCode="#,##0;\(#,##0\);\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324927"/>
        <c:crosses val="autoZero"/>
        <c:crossBetween val="between"/>
      </c:valAx>
      <c:valAx>
        <c:axId val="1520946911"/>
        <c:scaling>
          <c:orientation val="minMax"/>
          <c:max val="0.48000000000000004"/>
          <c:min val="0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0944511"/>
        <c:crosses val="max"/>
        <c:crossBetween val="between"/>
      </c:valAx>
      <c:catAx>
        <c:axId val="15209445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209469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소비자물가지수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BA7-4467-80F2-925056FB9A9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BA7-4467-80F2-925056FB9A9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BA7-4467-80F2-925056FB9A93}"/>
                </c:ext>
              </c:extLst>
            </c:dLbl>
            <c:dLbl>
              <c:idx val="5"/>
              <c:layout>
                <c:manualLayout>
                  <c:x val="-4.1611267100751893E-17"/>
                  <c:y val="-0.257209150326797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BA7-4467-80F2-925056FB9A93}"/>
                </c:ext>
              </c:extLst>
            </c:dLbl>
            <c:dLbl>
              <c:idx val="6"/>
              <c:layout>
                <c:manualLayout>
                  <c:x val="0"/>
                  <c:y val="-0.2875441176470588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BA7-4467-80F2-925056FB9A93}"/>
                </c:ext>
              </c:extLst>
            </c:dLbl>
            <c:dLbl>
              <c:idx val="7"/>
              <c:layout>
                <c:manualLayout>
                  <c:x val="0"/>
                  <c:y val="-0.303225490196078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BA7-4467-80F2-925056FB9A93}"/>
                </c:ext>
              </c:extLst>
            </c:dLbl>
            <c:dLbl>
              <c:idx val="8"/>
              <c:layout>
                <c:manualLayout>
                  <c:x val="0"/>
                  <c:y val="-0.315239379084967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BA7-4467-80F2-925056FB9A93}"/>
                </c:ext>
              </c:extLst>
            </c:dLbl>
            <c:dLbl>
              <c:idx val="9"/>
              <c:layout>
                <c:manualLayout>
                  <c:x val="-8.3222534201503786E-17"/>
                  <c:y val="-0.3190988562091503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BA7-4467-80F2-925056FB9A93}"/>
                </c:ext>
              </c:extLst>
            </c:dLbl>
            <c:dLbl>
              <c:idx val="10"/>
              <c:layout>
                <c:manualLayout>
                  <c:x val="-8.3222534201503786E-17"/>
                  <c:y val="-0.3252581699346405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BA7-4467-80F2-925056FB9A93}"/>
                </c:ext>
              </c:extLst>
            </c:dLbl>
            <c:dLbl>
              <c:idx val="11"/>
              <c:layout>
                <c:manualLayout>
                  <c:x val="-1.6644506840300757E-16"/>
                  <c:y val="-0.33698447712418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A7-4467-80F2-925056FB9A93}"/>
                </c:ext>
              </c:extLst>
            </c:dLbl>
            <c:dLbl>
              <c:idx val="12"/>
              <c:layout>
                <c:manualLayout>
                  <c:x val="-1.6644506840300757E-16"/>
                  <c:y val="-0.3688788126361655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BA7-4467-80F2-925056FB9A93}"/>
                </c:ext>
              </c:extLst>
            </c:dLbl>
            <c:dLbl>
              <c:idx val="13"/>
              <c:layout>
                <c:manualLayout>
                  <c:x val="-1.6644506840300757E-16"/>
                  <c:y val="-0.378400871459694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A7-4467-80F2-925056FB9A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2022 1Q</c:v>
                </c:pt>
                <c:pt idx="1">
                  <c:v>2022 2Q</c:v>
                </c:pt>
                <c:pt idx="2">
                  <c:v>2022 3Q</c:v>
                </c:pt>
                <c:pt idx="3">
                  <c:v>2022 4Q</c:v>
                </c:pt>
                <c:pt idx="4">
                  <c:v>2023 1Q</c:v>
                </c:pt>
                <c:pt idx="5">
                  <c:v>2023 2Q</c:v>
                </c:pt>
                <c:pt idx="6">
                  <c:v>2023 3Q</c:v>
                </c:pt>
                <c:pt idx="7">
                  <c:v>2023 4Q</c:v>
                </c:pt>
                <c:pt idx="8">
                  <c:v>2024 1Q</c:v>
                </c:pt>
                <c:pt idx="9">
                  <c:v>2024 2Q</c:v>
                </c:pt>
                <c:pt idx="10">
                  <c:v>2024 3Q</c:v>
                </c:pt>
                <c:pt idx="11">
                  <c:v>2024 4Q</c:v>
                </c:pt>
                <c:pt idx="12">
                  <c:v>2025 1Q</c:v>
                </c:pt>
                <c:pt idx="13">
                  <c:v>2025 2Q</c:v>
                </c:pt>
              </c:strCache>
            </c:strRef>
          </c:cat>
          <c:val>
            <c:numRef>
              <c:f>Sheet1!$D$2:$D$15</c:f>
              <c:numCache>
                <c:formatCode>0.0</c:formatCode>
                <c:ptCount val="14"/>
                <c:pt idx="0">
                  <c:v>105.46</c:v>
                </c:pt>
                <c:pt idx="1">
                  <c:v>107.51</c:v>
                </c:pt>
                <c:pt idx="2">
                  <c:v>108.73</c:v>
                </c:pt>
                <c:pt idx="3">
                  <c:v>109.16</c:v>
                </c:pt>
                <c:pt idx="4">
                  <c:v>110.31</c:v>
                </c:pt>
                <c:pt idx="5">
                  <c:v>111.02</c:v>
                </c:pt>
                <c:pt idx="6">
                  <c:v>112.14</c:v>
                </c:pt>
                <c:pt idx="7">
                  <c:v>112.89</c:v>
                </c:pt>
                <c:pt idx="8">
                  <c:v>113.63</c:v>
                </c:pt>
                <c:pt idx="9">
                  <c:v>113.98</c:v>
                </c:pt>
                <c:pt idx="10">
                  <c:v>114.44</c:v>
                </c:pt>
                <c:pt idx="11">
                  <c:v>114.67</c:v>
                </c:pt>
                <c:pt idx="12">
                  <c:v>116.03</c:v>
                </c:pt>
                <c:pt idx="13">
                  <c:v>116.32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A7-4467-80F2-925056FB9A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249242079"/>
        <c:axId val="1249240159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명목소득</c:v>
                </c:pt>
              </c:strCache>
            </c:strRef>
          </c:tx>
          <c:spPr>
            <a:ln w="19050" cap="rnd">
              <a:solidFill>
                <a:srgbClr val="11244A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1244A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3.0365656565656565E-2"/>
                  <c:y val="3.54419934640522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BA7-4467-80F2-925056FB9A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2022 1Q</c:v>
                </c:pt>
                <c:pt idx="1">
                  <c:v>2022 2Q</c:v>
                </c:pt>
                <c:pt idx="2">
                  <c:v>2022 3Q</c:v>
                </c:pt>
                <c:pt idx="3">
                  <c:v>2022 4Q</c:v>
                </c:pt>
                <c:pt idx="4">
                  <c:v>2023 1Q</c:v>
                </c:pt>
                <c:pt idx="5">
                  <c:v>2023 2Q</c:v>
                </c:pt>
                <c:pt idx="6">
                  <c:v>2023 3Q</c:v>
                </c:pt>
                <c:pt idx="7">
                  <c:v>2023 4Q</c:v>
                </c:pt>
                <c:pt idx="8">
                  <c:v>2024 1Q</c:v>
                </c:pt>
                <c:pt idx="9">
                  <c:v>2024 2Q</c:v>
                </c:pt>
                <c:pt idx="10">
                  <c:v>2024 3Q</c:v>
                </c:pt>
                <c:pt idx="11">
                  <c:v>2024 4Q</c:v>
                </c:pt>
                <c:pt idx="12">
                  <c:v>2025 1Q</c:v>
                </c:pt>
                <c:pt idx="13">
                  <c:v>2025 2Q</c:v>
                </c:pt>
              </c:strCache>
            </c:strRef>
          </c:cat>
          <c:val>
            <c:numRef>
              <c:f>Sheet1!$B$2:$B$15</c:f>
              <c:numCache>
                <c:formatCode>0.0%</c:formatCode>
                <c:ptCount val="14"/>
                <c:pt idx="0">
                  <c:v>0.10099999999999999</c:v>
                </c:pt>
                <c:pt idx="1">
                  <c:v>0.127</c:v>
                </c:pt>
                <c:pt idx="2">
                  <c:v>0.03</c:v>
                </c:pt>
                <c:pt idx="3">
                  <c:v>4.0999999999999995E-2</c:v>
                </c:pt>
                <c:pt idx="4">
                  <c:v>4.7E-2</c:v>
                </c:pt>
                <c:pt idx="5">
                  <c:v>-8.0000000000000002E-3</c:v>
                </c:pt>
                <c:pt idx="6">
                  <c:v>3.4000000000000002E-2</c:v>
                </c:pt>
                <c:pt idx="7">
                  <c:v>3.9E-2</c:v>
                </c:pt>
                <c:pt idx="8">
                  <c:v>1.3999999999999999E-2</c:v>
                </c:pt>
                <c:pt idx="9">
                  <c:v>3.5000000000000003E-2</c:v>
                </c:pt>
                <c:pt idx="10">
                  <c:v>4.4000000000000004E-2</c:v>
                </c:pt>
                <c:pt idx="11">
                  <c:v>3.7999999999999999E-2</c:v>
                </c:pt>
                <c:pt idx="12">
                  <c:v>4.4999999999999998E-2</c:v>
                </c:pt>
                <c:pt idx="13">
                  <c:v>2.1000000000000001E-2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A7-4467-80F2-925056FB9A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실질소득</c:v>
                </c:pt>
              </c:strCache>
            </c:strRef>
          </c:tx>
          <c:spPr>
            <a:ln w="19050" cap="rnd">
              <a:solidFill>
                <a:srgbClr val="539DF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539DFF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6.2292087542087551E-2"/>
                  <c:y val="-4.58178104575163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BA7-4467-80F2-925056FB9A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539DFF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2022 1Q</c:v>
                </c:pt>
                <c:pt idx="1">
                  <c:v>2022 2Q</c:v>
                </c:pt>
                <c:pt idx="2">
                  <c:v>2022 3Q</c:v>
                </c:pt>
                <c:pt idx="3">
                  <c:v>2022 4Q</c:v>
                </c:pt>
                <c:pt idx="4">
                  <c:v>2023 1Q</c:v>
                </c:pt>
                <c:pt idx="5">
                  <c:v>2023 2Q</c:v>
                </c:pt>
                <c:pt idx="6">
                  <c:v>2023 3Q</c:v>
                </c:pt>
                <c:pt idx="7">
                  <c:v>2023 4Q</c:v>
                </c:pt>
                <c:pt idx="8">
                  <c:v>2024 1Q</c:v>
                </c:pt>
                <c:pt idx="9">
                  <c:v>2024 2Q</c:v>
                </c:pt>
                <c:pt idx="10">
                  <c:v>2024 3Q</c:v>
                </c:pt>
                <c:pt idx="11">
                  <c:v>2024 4Q</c:v>
                </c:pt>
                <c:pt idx="12">
                  <c:v>2025 1Q</c:v>
                </c:pt>
                <c:pt idx="13">
                  <c:v>2025 2Q</c:v>
                </c:pt>
              </c:strCache>
            </c:strRef>
          </c:cat>
          <c:val>
            <c:numRef>
              <c:f>Sheet1!$C$2:$C$15</c:f>
              <c:numCache>
                <c:formatCode>0.0%</c:formatCode>
                <c:ptCount val="14"/>
                <c:pt idx="0">
                  <c:v>5.9000000000000004E-2</c:v>
                </c:pt>
                <c:pt idx="1">
                  <c:v>6.9000000000000006E-2</c:v>
                </c:pt>
                <c:pt idx="2">
                  <c:v>-2.7000000000000003E-2</c:v>
                </c:pt>
                <c:pt idx="3">
                  <c:v>-0.01</c:v>
                </c:pt>
                <c:pt idx="4">
                  <c:v>1E-3</c:v>
                </c:pt>
                <c:pt idx="5">
                  <c:v>-3.9E-2</c:v>
                </c:pt>
                <c:pt idx="6">
                  <c:v>2E-3</c:v>
                </c:pt>
                <c:pt idx="7">
                  <c:v>5.0000000000000001E-3</c:v>
                </c:pt>
                <c:pt idx="8">
                  <c:v>-1.6E-2</c:v>
                </c:pt>
                <c:pt idx="9">
                  <c:v>8.0000000000000002E-3</c:v>
                </c:pt>
                <c:pt idx="10">
                  <c:v>2.3E-2</c:v>
                </c:pt>
                <c:pt idx="11">
                  <c:v>2.2000000000000002E-2</c:v>
                </c:pt>
                <c:pt idx="12">
                  <c:v>2.3E-2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A7-4467-80F2-925056FB9A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48046016"/>
        <c:axId val="448041216"/>
      </c:line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0.15000000000000002"/>
          <c:min val="-0.1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valAx>
        <c:axId val="1249240159"/>
        <c:scaling>
          <c:orientation val="minMax"/>
        </c:scaling>
        <c:delete val="0"/>
        <c:axPos val="r"/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242079"/>
        <c:crosses val="max"/>
        <c:crossBetween val="between"/>
      </c:valAx>
      <c:catAx>
        <c:axId val="124924207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492401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rgbClr val="1124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00-48EA-BF83-9CC08141DC51}"/>
              </c:ext>
            </c:extLst>
          </c:dPt>
          <c:dPt>
            <c:idx val="1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00-48EA-BF83-9CC08141DC51}"/>
              </c:ext>
            </c:extLst>
          </c:dPt>
          <c:dPt>
            <c:idx val="2"/>
            <c:bubble3D val="0"/>
            <c:spPr>
              <a:solidFill>
                <a:srgbClr val="B2DA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00-48EA-BF83-9CC08141DC51}"/>
              </c:ext>
            </c:extLst>
          </c:dPt>
          <c:dPt>
            <c:idx val="3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C00-48EA-BF83-9CC08141DC51}"/>
              </c:ext>
            </c:extLst>
          </c:dPt>
          <c:cat>
            <c:strRef>
              <c:f>Sheet1!$A$2:$A$5</c:f>
              <c:strCache>
                <c:ptCount val="2"/>
                <c:pt idx="0">
                  <c:v>적자가구</c:v>
                </c:pt>
                <c:pt idx="1">
                  <c:v>비적자가구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0.23499999999999999</c:v>
                </c:pt>
                <c:pt idx="1">
                  <c:v>0.76500000000000001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00-48EA-BF83-9CC08141DC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rgbClr val="1124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14-4CCA-A50C-629D5ECB6377}"/>
              </c:ext>
            </c:extLst>
          </c:dPt>
          <c:dPt>
            <c:idx val="1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14-4CCA-A50C-629D5ECB6377}"/>
              </c:ext>
            </c:extLst>
          </c:dPt>
          <c:dPt>
            <c:idx val="2"/>
            <c:bubble3D val="0"/>
            <c:spPr>
              <a:solidFill>
                <a:srgbClr val="B2DA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314-4CCA-A50C-629D5ECB6377}"/>
              </c:ext>
            </c:extLst>
          </c:dPt>
          <c:dPt>
            <c:idx val="3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314-4CCA-A50C-629D5ECB6377}"/>
              </c:ext>
            </c:extLst>
          </c:dPt>
          <c:cat>
            <c:strRef>
              <c:f>Sheet1!$A$2:$A$5</c:f>
              <c:strCache>
                <c:ptCount val="2"/>
                <c:pt idx="0">
                  <c:v>적자자구</c:v>
                </c:pt>
                <c:pt idx="1">
                  <c:v>비적자가구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0.26800000000000002</c:v>
                </c:pt>
                <c:pt idx="1">
                  <c:v>0.73199999999999998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14-4CCA-A50C-629D5ECB63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dPt>
            <c:idx val="0"/>
            <c:bubble3D val="0"/>
            <c:spPr>
              <a:solidFill>
                <a:srgbClr val="1124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A1-49E5-AB25-C83B0FAF5855}"/>
              </c:ext>
            </c:extLst>
          </c:dPt>
          <c:dPt>
            <c:idx val="1"/>
            <c:bubble3D val="0"/>
            <c:spPr>
              <a:solidFill>
                <a:srgbClr val="539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A1-49E5-AB25-C83B0FAF5855}"/>
              </c:ext>
            </c:extLst>
          </c:dPt>
          <c:dPt>
            <c:idx val="2"/>
            <c:bubble3D val="0"/>
            <c:spPr>
              <a:solidFill>
                <a:srgbClr val="B2DA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A1-49E5-AB25-C83B0FAF5855}"/>
              </c:ext>
            </c:extLst>
          </c:dPt>
          <c:dPt>
            <c:idx val="3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A1-49E5-AB25-C83B0FAF5855}"/>
              </c:ext>
            </c:extLst>
          </c:dPt>
          <c:cat>
            <c:strRef>
              <c:f>Sheet1!$A$2:$A$5</c:f>
              <c:strCache>
                <c:ptCount val="4"/>
                <c:pt idx="0">
                  <c:v>네</c:v>
                </c:pt>
                <c:pt idx="1">
                  <c:v>앞으로 시작할 계획이 있다</c:v>
                </c:pt>
                <c:pt idx="2">
                  <c:v>아니요</c:v>
                </c:pt>
                <c:pt idx="3">
                  <c:v>과거에는 있지만 현재는 하고 있지 않다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0.30299999999999999</c:v>
                </c:pt>
                <c:pt idx="1">
                  <c:v>0.311</c:v>
                </c:pt>
                <c:pt idx="2">
                  <c:v>0.33100000000000002</c:v>
                </c:pt>
                <c:pt idx="3">
                  <c:v>5.5E-2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A1-49E5-AB25-C83B0FAF58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dPt>
            <c:idx val="0"/>
            <c:bubble3D val="0"/>
            <c:spPr>
              <a:solidFill>
                <a:srgbClr val="1124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A1-49E5-AB25-C83B0FAF5855}"/>
              </c:ext>
            </c:extLst>
          </c:dPt>
          <c:dPt>
            <c:idx val="1"/>
            <c:bubble3D val="0"/>
            <c:spPr>
              <a:solidFill>
                <a:srgbClr val="539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A1-49E5-AB25-C83B0FAF5855}"/>
              </c:ext>
            </c:extLst>
          </c:dPt>
          <c:dPt>
            <c:idx val="2"/>
            <c:bubble3D val="0"/>
            <c:spPr>
              <a:solidFill>
                <a:srgbClr val="B2DA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A1-49E5-AB25-C83B0FAF5855}"/>
              </c:ext>
            </c:extLst>
          </c:dPt>
          <c:dPt>
            <c:idx val="3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A1-49E5-AB25-C83B0FAF5855}"/>
              </c:ext>
            </c:extLst>
          </c:dPt>
          <c:dPt>
            <c:idx val="4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FBC9-474B-A657-FC61051E9195}"/>
              </c:ext>
            </c:extLst>
          </c:dPt>
          <c:cat>
            <c:strRef>
              <c:f>Sheet1!$A$2:$A$6</c:f>
              <c:strCache>
                <c:ptCount val="5"/>
                <c:pt idx="0">
                  <c:v>매우 큰 영향</c:v>
                </c:pt>
                <c:pt idx="1">
                  <c:v>어느 정도 영향</c:v>
                </c:pt>
                <c:pt idx="2">
                  <c:v>보통 수준</c:v>
                </c:pt>
                <c:pt idx="3">
                  <c:v>거의 영향을 미치지 않음</c:v>
                </c:pt>
                <c:pt idx="4">
                  <c:v>전혀 영향을 미치지 않음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0.32200000000000001</c:v>
                </c:pt>
                <c:pt idx="1">
                  <c:v>0.29199999999999998</c:v>
                </c:pt>
                <c:pt idx="2">
                  <c:v>0.22600000000000001</c:v>
                </c:pt>
                <c:pt idx="3">
                  <c:v>9.4E-2</c:v>
                </c:pt>
                <c:pt idx="4">
                  <c:v>6.6000000000000003E-2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A1-49E5-AB25-C83B0FAF58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rgbClr val="1124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A1-49E5-AB25-C83B0FAF5855}"/>
              </c:ext>
            </c:extLst>
          </c:dPt>
          <c:dPt>
            <c:idx val="1"/>
            <c:bubble3D val="0"/>
            <c:spPr>
              <a:solidFill>
                <a:srgbClr val="2A5FA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A1-49E5-AB25-C83B0FAF5855}"/>
              </c:ext>
            </c:extLst>
          </c:dPt>
          <c:dPt>
            <c:idx val="2"/>
            <c:bubble3D val="0"/>
            <c:spPr>
              <a:solidFill>
                <a:srgbClr val="539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A1-49E5-AB25-C83B0FAF5855}"/>
              </c:ext>
            </c:extLst>
          </c:dPt>
          <c:dPt>
            <c:idx val="3"/>
            <c:bubble3D val="0"/>
            <c:spPr>
              <a:solidFill>
                <a:srgbClr val="B2DA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A1-49E5-AB25-C83B0FAF5855}"/>
              </c:ext>
            </c:extLst>
          </c:dPt>
          <c:dPt>
            <c:idx val="4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7F33-4662-9D34-64E93F4801D2}"/>
              </c:ext>
            </c:extLst>
          </c:dPt>
          <c:dPt>
            <c:idx val="5"/>
            <c:bubble3D val="0"/>
            <c:spPr>
              <a:solidFill>
                <a:srgbClr val="F2F2F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F33-4662-9D34-64E93F4801D2}"/>
              </c:ext>
            </c:extLst>
          </c:dPt>
          <c:cat>
            <c:strRef>
              <c:f>Sheet1!$A$2:$A$7</c:f>
              <c:strCache>
                <c:ptCount val="6"/>
                <c:pt idx="0">
                  <c:v>수입을 늘리려고</c:v>
                </c:pt>
                <c:pt idx="1">
                  <c:v>관심분야 경험</c:v>
                </c:pt>
                <c:pt idx="2">
                  <c:v>고용불안감</c:v>
                </c:pt>
                <c:pt idx="3">
                  <c:v>부업으로 전향</c:v>
                </c:pt>
                <c:pt idx="4">
                  <c:v>퇴직 후 직업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0.81399999999999995</c:v>
                </c:pt>
                <c:pt idx="1">
                  <c:v>0.20200000000000001</c:v>
                </c:pt>
                <c:pt idx="2">
                  <c:v>0.159</c:v>
                </c:pt>
                <c:pt idx="3">
                  <c:v>6.2E-2</c:v>
                </c:pt>
                <c:pt idx="4">
                  <c:v>5.8999999999999997E-2</c:v>
                </c:pt>
                <c:pt idx="5">
                  <c:v>5.7000000000000002E-2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A1-49E5-AB25-C83B0FAF58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부업자수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pattFill prst="wdUpDiag">
                <a:fgClr>
                  <a:srgbClr val="539DFF"/>
                </a:fgClr>
                <a:bgClr>
                  <a:schemeClr val="bg1"/>
                </a:bgClr>
              </a:patt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901-4F74-8B14-1A2D67633D87}"/>
              </c:ext>
            </c:extLst>
          </c:dPt>
          <c:dLbls>
            <c:dLbl>
              <c:idx val="0"/>
              <c:layout>
                <c:manualLayout>
                  <c:x val="0"/>
                  <c:y val="-0.278514070231731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901-4F74-8B14-1A2D67633D87}"/>
                </c:ext>
              </c:extLst>
            </c:dLbl>
            <c:dLbl>
              <c:idx val="1"/>
              <c:layout>
                <c:manualLayout>
                  <c:x val="-4.0253161074415609E-17"/>
                  <c:y val="-0.3020032086850099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01-4F74-8B14-1A2D67633D87}"/>
                </c:ext>
              </c:extLst>
            </c:dLbl>
            <c:dLbl>
              <c:idx val="2"/>
              <c:layout>
                <c:manualLayout>
                  <c:x val="4.0253161074415609E-17"/>
                  <c:y val="-0.3221367559306772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901-4F74-8B14-1A2D67633D87}"/>
                </c:ext>
              </c:extLst>
            </c:dLbl>
            <c:dLbl>
              <c:idx val="3"/>
              <c:layout>
                <c:manualLayout>
                  <c:x val="0"/>
                  <c:y val="-0.3355591207611221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01-4F74-8B14-1A2D67633D87}"/>
                </c:ext>
              </c:extLst>
            </c:dLbl>
            <c:dLbl>
              <c:idx val="4"/>
              <c:layout>
                <c:manualLayout>
                  <c:x val="-1.6101264429766244E-16"/>
                  <c:y val="-0.362403850422011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901-4F74-8B14-1A2D67633D8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01-4F74-8B14-1A2D67633D87}"/>
                </c:ext>
              </c:extLst>
            </c:dLbl>
            <c:numFmt formatCode="#&quot;만&quot;&quot;명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A1A39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Sheet1!$B$3:$B$8</c:f>
              <c:numCache>
                <c:formatCode>_-* #,##0.0_-;\-* #,##0.0_-;_-* "-"_-;_-@_-</c:formatCode>
                <c:ptCount val="6"/>
                <c:pt idx="0">
                  <c:v>52.7</c:v>
                </c:pt>
                <c:pt idx="1">
                  <c:v>55.8</c:v>
                </c:pt>
                <c:pt idx="2">
                  <c:v>59.8</c:v>
                </c:pt>
                <c:pt idx="3">
                  <c:v>62.5</c:v>
                </c:pt>
                <c:pt idx="4">
                  <c:v>67.599999999999994</c:v>
                </c:pt>
                <c:pt idx="5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01-4F74-8B14-1A2D67633D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448046016"/>
        <c:axId val="448041216"/>
      </c:bar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90"/>
          <c:min val="0"/>
        </c:scaling>
        <c:delete val="0"/>
        <c:axPos val="l"/>
        <c:numFmt formatCode="_-* #,##0.0_-;\-* #,##0.0_-;_-* &quot;-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304442963060968E-2"/>
          <c:y val="0.11929362933216747"/>
          <c:w val="0.94829858584419346"/>
          <c:h val="0.798511099956280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11244A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39D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946-4021-AAD5-ED2A7977CF59}"/>
              </c:ext>
            </c:extLst>
          </c:dPt>
          <c:dPt>
            <c:idx val="1"/>
            <c:invertIfNegative val="0"/>
            <c:bubble3D val="0"/>
            <c:spPr>
              <a:solidFill>
                <a:srgbClr val="539D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946-4021-AAD5-ED2A7977CF59}"/>
              </c:ext>
            </c:extLst>
          </c:dPt>
          <c:dPt>
            <c:idx val="2"/>
            <c:invertIfNegative val="0"/>
            <c:bubble3D val="0"/>
            <c:spPr>
              <a:solidFill>
                <a:srgbClr val="539D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946-4021-AAD5-ED2A7977CF59}"/>
              </c:ext>
            </c:extLst>
          </c:dPt>
          <c:dPt>
            <c:idx val="3"/>
            <c:invertIfNegative val="0"/>
            <c:bubble3D val="0"/>
            <c:spPr>
              <a:solidFill>
                <a:srgbClr val="BFBFB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946-4021-AAD5-ED2A7977CF59}"/>
              </c:ext>
            </c:extLst>
          </c:dPt>
          <c:dPt>
            <c:idx val="4"/>
            <c:invertIfNegative val="0"/>
            <c:bubble3D val="0"/>
            <c:spPr>
              <a:solidFill>
                <a:srgbClr val="BFBFB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946-4021-AAD5-ED2A7977CF59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946-4021-AAD5-ED2A7977CF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크리에이터</c:v>
                </c:pt>
                <c:pt idx="1">
                  <c:v>온라인 쇼핑</c:v>
                </c:pt>
                <c:pt idx="2">
                  <c:v>재능마켓</c:v>
                </c:pt>
                <c:pt idx="3">
                  <c:v>배달/알바</c:v>
                </c:pt>
                <c:pt idx="4">
                  <c:v>기타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0.48</c:v>
                </c:pt>
                <c:pt idx="1">
                  <c:v>0.41</c:v>
                </c:pt>
                <c:pt idx="2">
                  <c:v>0.36</c:v>
                </c:pt>
                <c:pt idx="3">
                  <c:v>0.25</c:v>
                </c:pt>
                <c:pt idx="4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46-4021-AAD5-ED2A7977CF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448046016"/>
        <c:axId val="448041216"/>
      </c:bar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8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0.55000000000000004"/>
          <c:min val="0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3D3D3D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146.2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96E-4E7D-A372-4A5A756AF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에듀윌</c:v>
                </c:pt>
                <c:pt idx="1">
                  <c:v>해커스</c:v>
                </c:pt>
                <c:pt idx="2">
                  <c:v>KG에듀원</c:v>
                </c:pt>
                <c:pt idx="3">
                  <c:v>파고다</c:v>
                </c:pt>
              </c:strCache>
            </c:strRef>
          </c:cat>
          <c:val>
            <c:numRef>
              <c:f>Sheet1!$B$2:$B$5</c:f>
              <c:numCache>
                <c:formatCode>_-* #,##0.0_-;\-* #,##0.0_-;_-* "-"_-;_-@_-</c:formatCode>
                <c:ptCount val="4"/>
                <c:pt idx="0">
                  <c:v>66.225084777000006</c:v>
                </c:pt>
                <c:pt idx="1">
                  <c:v>25.168217522999999</c:v>
                </c:pt>
                <c:pt idx="2">
                  <c:v>49.653069240999997</c:v>
                </c:pt>
                <c:pt idx="3">
                  <c:v>20.905917899999999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96E-4E7D-A372-4A5A756AFA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112.8</a:t>
                    </a:r>
                    <a:endParaRPr lang="en-US" altLang="ko-KR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96E-4E7D-A372-4A5A756AF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에듀윌</c:v>
                </c:pt>
                <c:pt idx="1">
                  <c:v>해커스</c:v>
                </c:pt>
                <c:pt idx="2">
                  <c:v>KG에듀원</c:v>
                </c:pt>
                <c:pt idx="3">
                  <c:v>파고다</c:v>
                </c:pt>
              </c:strCache>
            </c:strRef>
          </c:cat>
          <c:val>
            <c:numRef>
              <c:f>Sheet1!$C$2:$C$5</c:f>
              <c:numCache>
                <c:formatCode>_-* #,##0.0_-;\-* #,##0.0_-;_-* "-"_-;_-@_-</c:formatCode>
                <c:ptCount val="4"/>
                <c:pt idx="0">
                  <c:v>52.817825204999998</c:v>
                </c:pt>
                <c:pt idx="1">
                  <c:v>23.364504739000001</c:v>
                </c:pt>
                <c:pt idx="2">
                  <c:v>40.127624030999996</c:v>
                </c:pt>
                <c:pt idx="3">
                  <c:v>19.077295282999998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96E-4E7D-A372-4A5A756AFA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82.6</a:t>
                    </a:r>
                    <a:endParaRPr lang="en-US" altLang="ko-KR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96E-4E7D-A372-4A5A756AF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에듀윌</c:v>
                </c:pt>
                <c:pt idx="1">
                  <c:v>해커스</c:v>
                </c:pt>
                <c:pt idx="2">
                  <c:v>KG에듀원</c:v>
                </c:pt>
                <c:pt idx="3">
                  <c:v>파고다</c:v>
                </c:pt>
              </c:strCache>
            </c:strRef>
          </c:cat>
          <c:val>
            <c:numRef>
              <c:f>Sheet1!$D$2:$D$5</c:f>
              <c:numCache>
                <c:formatCode>_-* #,##0.0_-;\-* #,##0.0_-;_-* "-"_-;_-@_-</c:formatCode>
                <c:ptCount val="4"/>
                <c:pt idx="0">
                  <c:v>32.595998582999997</c:v>
                </c:pt>
                <c:pt idx="1">
                  <c:v>22.586481932999998</c:v>
                </c:pt>
                <c:pt idx="2">
                  <c:v>36.501944404</c:v>
                </c:pt>
                <c:pt idx="3">
                  <c:v>18.832132541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96E-4E7D-A372-4A5A756AFA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-20"/>
        <c:axId val="448046016"/>
        <c:axId val="448041216"/>
      </c:bar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80"/>
        </c:scaling>
        <c:delete val="0"/>
        <c:axPos val="l"/>
        <c:numFmt formatCode="_-* #,##0.0_-;\-* #,##0.0_-;_-* &quot;-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B2DAF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104.1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E36-43DA-B0F2-410FAAF45E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B2DAFF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패스트캠퍼스</c:v>
                </c:pt>
                <c:pt idx="1">
                  <c:v>TITAN</c:v>
                </c:pt>
                <c:pt idx="2">
                  <c:v>월급쟁이부자들</c:v>
                </c:pt>
                <c:pt idx="3">
                  <c:v>탈잉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 formatCode="_-* #,##0.0_-;\-* #,##0.0_-;_-* &quot;-&quot;_-;_-@_-">
                  <c:v>50</c:v>
                </c:pt>
                <c:pt idx="1">
                  <c:v>1.3</c:v>
                </c:pt>
                <c:pt idx="2">
                  <c:v>22.104429467999999</c:v>
                </c:pt>
                <c:pt idx="3">
                  <c:v>4.4227720000000001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96E-4E7D-A372-4A5A756AFA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116.6</a:t>
                    </a:r>
                    <a:endParaRPr lang="en-US" altLang="ko-KR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E36-43DA-B0F2-410FAAF45E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539DFF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패스트캠퍼스</c:v>
                </c:pt>
                <c:pt idx="1">
                  <c:v>TITAN</c:v>
                </c:pt>
                <c:pt idx="2">
                  <c:v>월급쟁이부자들</c:v>
                </c:pt>
                <c:pt idx="3">
                  <c:v>탈잉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 formatCode="_-* #,##0.0_-;\-* #,##0.0_-;_-* &quot;-&quot;_-;_-@_-">
                  <c:v>60</c:v>
                </c:pt>
                <c:pt idx="1">
                  <c:v>11.2</c:v>
                </c:pt>
                <c:pt idx="2">
                  <c:v>34.995698060999999</c:v>
                </c:pt>
                <c:pt idx="3">
                  <c:v>5.4360900000000001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96E-4E7D-A372-4A5A756AFA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1244A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127.7</a:t>
                    </a:r>
                    <a:endParaRPr lang="en-US" altLang="ko-KR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E36-43DA-B0F2-410FAAF45E5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dirty="0"/>
                      <a:t>77.3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F04-45AB-9746-9339FFB9AD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패스트캠퍼스</c:v>
                </c:pt>
                <c:pt idx="1">
                  <c:v>TITAN</c:v>
                </c:pt>
                <c:pt idx="2">
                  <c:v>월급쟁이부자들</c:v>
                </c:pt>
                <c:pt idx="3">
                  <c:v>탈잉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 formatCode="_-* #,##0.0_-;\-* #,##0.0_-;_-* &quot;-&quot;_-;_-@_-">
                  <c:v>70</c:v>
                </c:pt>
                <c:pt idx="1">
                  <c:v>60</c:v>
                </c:pt>
                <c:pt idx="2">
                  <c:v>50.830546493999996</c:v>
                </c:pt>
                <c:pt idx="3">
                  <c:v>14.181402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96E-4E7D-A372-4A5A756AFA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-20"/>
        <c:axId val="448046016"/>
        <c:axId val="448041216"/>
      </c:bar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90"/>
        </c:scaling>
        <c:delete val="0"/>
        <c:axPos val="l"/>
        <c:numFmt formatCode="_-* #,##0.0_-;\-* #,##0.0_-;_-* &quot;-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82711903719413"/>
          <c:y val="0.14968683934840876"/>
          <c:w val="0.78916034345845254"/>
          <c:h val="0.6703198143569029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dPt>
            <c:idx val="0"/>
            <c:bubble3D val="0"/>
            <c:spPr>
              <a:solidFill>
                <a:srgbClr val="1124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35-496D-8623-B8D1D94319A3}"/>
              </c:ext>
            </c:extLst>
          </c:dPt>
          <c:dPt>
            <c:idx val="1"/>
            <c:bubble3D val="0"/>
            <c:spPr>
              <a:solidFill>
                <a:srgbClr val="539D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35-496D-8623-B8D1D94319A3}"/>
              </c:ext>
            </c:extLst>
          </c:dPt>
          <c:dPt>
            <c:idx val="2"/>
            <c:bubble3D val="0"/>
            <c:spPr>
              <a:solidFill>
                <a:srgbClr val="B2DA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35-496D-8623-B8D1D94319A3}"/>
              </c:ext>
            </c:extLst>
          </c:dPt>
          <c:dPt>
            <c:idx val="3"/>
            <c:bubble3D val="0"/>
            <c:spPr>
              <a:solidFill>
                <a:srgbClr val="E0E0E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F35-496D-8623-B8D1D94319A3}"/>
              </c:ext>
            </c:extLst>
          </c:dPt>
          <c:cat>
            <c:strRef>
              <c:f>Sheet1!$A$2:$A$5</c:f>
              <c:strCache>
                <c:ptCount val="4"/>
                <c:pt idx="0">
                  <c:v>타이탄컴퍼니</c:v>
                </c:pt>
                <c:pt idx="1">
                  <c:v>클래스어라운드</c:v>
                </c:pt>
                <c:pt idx="2">
                  <c:v>시스템노바</c:v>
                </c:pt>
                <c:pt idx="3">
                  <c:v>우모건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0.66800000000000004</c:v>
                </c:pt>
                <c:pt idx="1">
                  <c:v>0.307</c:v>
                </c:pt>
                <c:pt idx="2">
                  <c:v>8.0000000000000002E-3</c:v>
                </c:pt>
                <c:pt idx="3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35-496D-8623-B8D1D9431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807846907034108E-2"/>
          <c:y val="0.23826441849480512"/>
          <c:w val="0.93638430618593183"/>
          <c:h val="0.65598633749808799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1억미만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0.66666666666666663</c:v>
                </c:pt>
                <c:pt idx="1">
                  <c:v>0.625</c:v>
                </c:pt>
                <c:pt idx="2">
                  <c:v>0.3888888888888889</c:v>
                </c:pt>
                <c:pt idx="3">
                  <c:v>0.51351351351351349</c:v>
                </c:pt>
                <c:pt idx="4">
                  <c:v>0.28888888888888886</c:v>
                </c:pt>
                <c:pt idx="5">
                  <c:v>0.24242424242424243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54-4E48-B969-B6FA68203A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1~2억원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Sheet1!$C$2:$C$7</c:f>
              <c:numCache>
                <c:formatCode>0.0%</c:formatCode>
                <c:ptCount val="6"/>
                <c:pt idx="0">
                  <c:v>0.33333333333333331</c:v>
                </c:pt>
                <c:pt idx="1">
                  <c:v>0.25</c:v>
                </c:pt>
                <c:pt idx="2">
                  <c:v>0.3888888888888889</c:v>
                </c:pt>
                <c:pt idx="3">
                  <c:v>0.1891891891891892</c:v>
                </c:pt>
                <c:pt idx="4">
                  <c:v>0.26666666666666666</c:v>
                </c:pt>
                <c:pt idx="5">
                  <c:v>0.21212121212121213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54-4E48-B969-B6FA68203A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2억~3억원</c:v>
                </c:pt>
              </c:strCache>
            </c:strRef>
          </c:tx>
          <c:spPr>
            <a:solidFill>
              <a:srgbClr val="11244A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654-4E48-B969-B6FA68203A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Sheet1!$D$2:$D$7</c:f>
              <c:numCache>
                <c:formatCode>0.0%</c:formatCode>
                <c:ptCount val="6"/>
                <c:pt idx="0">
                  <c:v>0</c:v>
                </c:pt>
                <c:pt idx="1">
                  <c:v>0.125</c:v>
                </c:pt>
                <c:pt idx="2">
                  <c:v>5.5555555555555552E-2</c:v>
                </c:pt>
                <c:pt idx="3">
                  <c:v>0.10810810810810811</c:v>
                </c:pt>
                <c:pt idx="4">
                  <c:v>0.13333333333333333</c:v>
                </c:pt>
                <c:pt idx="5">
                  <c:v>0.13636363636363635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654-4E48-B969-B6FA68203A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3~ 5억원</c:v>
                </c:pt>
              </c:strCache>
            </c:strRef>
          </c:tx>
          <c:spPr>
            <a:solidFill>
              <a:srgbClr val="4B6DE8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654-4E48-B969-B6FA68203AF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654-4E48-B969-B6FA68203A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Sheet1!$E$2:$E$7</c:f>
              <c:numCache>
                <c:formatCode>0.0%</c:formatCode>
                <c:ptCount val="6"/>
                <c:pt idx="0">
                  <c:v>0</c:v>
                </c:pt>
                <c:pt idx="1">
                  <c:v>0</c:v>
                </c:pt>
                <c:pt idx="2">
                  <c:v>5.5555555555555552E-2</c:v>
                </c:pt>
                <c:pt idx="3">
                  <c:v>0.10810810810810811</c:v>
                </c:pt>
                <c:pt idx="4">
                  <c:v>0.1111111111111111</c:v>
                </c:pt>
                <c:pt idx="5">
                  <c:v>0.18181818181818182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54-4E48-B969-B6FA68203A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5~10억원</c:v>
                </c:pt>
              </c:strCache>
            </c:strRef>
          </c:tx>
          <c:spPr>
            <a:solidFill>
              <a:srgbClr val="539DFF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654-4E48-B969-B6FA68203AF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654-4E48-B969-B6FA68203A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Sheet1!$F$2:$F$7</c:f>
              <c:numCache>
                <c:formatCode>0.0%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0.1111111111111111</c:v>
                </c:pt>
                <c:pt idx="3">
                  <c:v>8.1081081081081086E-2</c:v>
                </c:pt>
                <c:pt idx="4">
                  <c:v>0.15555555555555556</c:v>
                </c:pt>
                <c:pt idx="5">
                  <c:v>0.16666666666666666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654-4E48-B969-B6FA68203AF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10억 이상</c:v>
                </c:pt>
              </c:strCache>
            </c:strRef>
          </c:tx>
          <c:spPr>
            <a:solidFill>
              <a:srgbClr val="B2DAFF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654-4E48-B969-B6FA68203AF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654-4E48-B969-B6FA68203AF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654-4E48-B969-B6FA68203AF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654-4E48-B969-B6FA68203A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Sheet1!$G$2:$G$7</c:f>
              <c:numCache>
                <c:formatCode>0.0%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4.4444444444444446E-2</c:v>
                </c:pt>
                <c:pt idx="5">
                  <c:v>6.0606060606060608E-2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654-4E48-B969-B6FA68203AF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349988544"/>
        <c:axId val="350000544"/>
      </c:barChart>
      <c:catAx>
        <c:axId val="34998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0000544"/>
        <c:crosses val="autoZero"/>
        <c:auto val="1"/>
        <c:lblAlgn val="ctr"/>
        <c:lblOffset val="100"/>
        <c:noMultiLvlLbl val="0"/>
      </c:catAx>
      <c:valAx>
        <c:axId val="35000054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49988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이커머스</c:v>
                </c:pt>
              </c:strCache>
            </c:strRef>
          </c:tx>
          <c:spPr>
            <a:solidFill>
              <a:srgbClr val="11244A"/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Sheet1!$B$2:$B$7</c:f>
              <c:numCache>
                <c:formatCode>_(* #,##0_);_(* \(#,##0\);_(* "-"_);_(@_)</c:formatCode>
                <c:ptCount val="6"/>
                <c:pt idx="0">
                  <c:v>1</c:v>
                </c:pt>
                <c:pt idx="1">
                  <c:v>7</c:v>
                </c:pt>
                <c:pt idx="2">
                  <c:v>4</c:v>
                </c:pt>
                <c:pt idx="3">
                  <c:v>9</c:v>
                </c:pt>
                <c:pt idx="4">
                  <c:v>11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2AA-444B-B8E9-E02ADF89D7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콘텐츠수익화</c:v>
                </c:pt>
              </c:strCache>
            </c:strRef>
          </c:tx>
          <c:spPr>
            <a:solidFill>
              <a:srgbClr val="2A5FA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  <c:pt idx="4">
                  <c:v>8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73-476B-8E16-95DBF2CC21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온라인마케팅</c:v>
                </c:pt>
              </c:strCache>
            </c:strRef>
          </c:tx>
          <c:spPr>
            <a:solidFill>
              <a:srgbClr val="4B6DE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2">
                  <c:v>1</c:v>
                </c:pt>
                <c:pt idx="3">
                  <c:v>2</c:v>
                </c:pt>
                <c:pt idx="4">
                  <c:v>8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C73-476B-8E16-95DBF2CC21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브랜딩/창업</c:v>
                </c:pt>
              </c:strCache>
            </c:strRef>
          </c:tx>
          <c:spPr>
            <a:solidFill>
              <a:srgbClr val="539D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3</c:v>
                </c:pt>
                <c:pt idx="3">
                  <c:v>10</c:v>
                </c:pt>
                <c:pt idx="4">
                  <c:v>5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73-476B-8E16-95DBF2CC21E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투자/재테크</c:v>
                </c:pt>
              </c:strCache>
            </c:strRef>
          </c:tx>
          <c:spPr>
            <a:solidFill>
              <a:srgbClr val="B2DAFF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altLang="ko-KR"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7C73-476B-8E16-95DBF2CC21E1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altLang="ko-KR"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7C73-476B-8E16-95DBF2CC21E1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altLang="ko-KR"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7C73-476B-8E16-95DBF2CC21E1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altLang="ko-KR"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7C73-476B-8E16-95DBF2CC21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2">
                  <c:v>4</c:v>
                </c:pt>
                <c:pt idx="3">
                  <c:v>10</c:v>
                </c:pt>
                <c:pt idx="4">
                  <c:v>13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C73-476B-8E16-95DBF2CC21E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AI/디지털 툴</c:v>
                </c:pt>
              </c:strCache>
            </c:strRef>
          </c:tx>
          <c:spPr>
            <a:solidFill>
              <a:srgbClr val="E6F3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C73-476B-8E16-95DBF2CC21E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합계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3</c:v>
                </c:pt>
                <c:pt idx="1">
                  <c:v>16</c:v>
                </c:pt>
                <c:pt idx="2">
                  <c:v>19</c:v>
                </c:pt>
                <c:pt idx="3">
                  <c:v>38</c:v>
                </c:pt>
                <c:pt idx="4">
                  <c:v>46</c:v>
                </c:pt>
                <c:pt idx="5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C73-476B-8E16-95DBF2CC21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8046016"/>
        <c:axId val="448041216"/>
      </c:bar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70"/>
          <c:min val="0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6"/>
        <c:delete val="1"/>
      </c:legendEntry>
      <c:layout>
        <c:manualLayout>
          <c:xMode val="edge"/>
          <c:yMode val="edge"/>
          <c:x val="5.8450324956514762E-4"/>
          <c:y val="3.0306817751323611E-2"/>
          <c:w val="0.99883099350086946"/>
          <c:h val="8.75544873926919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1기</c:v>
                </c:pt>
              </c:strCache>
            </c:strRef>
          </c:tx>
          <c:spPr>
            <a:solidFill>
              <a:srgbClr val="B2DA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B2DAFF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타이탄컴퍼니</c:v>
                </c:pt>
                <c:pt idx="1">
                  <c:v>클래스어라운드</c:v>
                </c:pt>
                <c:pt idx="2">
                  <c:v>티티에이컴퍼니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0.53658536585365857</c:v>
                </c:pt>
                <c:pt idx="1">
                  <c:v>0.44117647058823528</c:v>
                </c:pt>
                <c:pt idx="2">
                  <c:v>0.63636363636363635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D6-48C7-BC5E-D370864FE3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2기</c:v>
                </c:pt>
              </c:strCache>
            </c:strRef>
          </c:tx>
          <c:spPr>
            <a:solidFill>
              <a:srgbClr val="4B6DE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4B6DE8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타이탄컴퍼니</c:v>
                </c:pt>
                <c:pt idx="1">
                  <c:v>클래스어라운드</c:v>
                </c:pt>
                <c:pt idx="2">
                  <c:v>티티에이컴퍼니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0.17073170731707318</c:v>
                </c:pt>
                <c:pt idx="1">
                  <c:v>0.29411764705882354</c:v>
                </c:pt>
                <c:pt idx="2">
                  <c:v>0.36363636363636365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D6-48C7-BC5E-D370864FE3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3기</c:v>
                </c:pt>
              </c:strCache>
            </c:strRef>
          </c:tx>
          <c:spPr>
            <a:solidFill>
              <a:srgbClr val="539D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539DFF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타이탄컴퍼니</c:v>
                </c:pt>
                <c:pt idx="1">
                  <c:v>클래스어라운드</c:v>
                </c:pt>
                <c:pt idx="2">
                  <c:v>티티에이컴퍼니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0.12195121951219512</c:v>
                </c:pt>
                <c:pt idx="1">
                  <c:v>0.17647058823529413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D6-48C7-BC5E-D370864FE39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4기 이상</c:v>
                </c:pt>
              </c:strCache>
            </c:strRef>
          </c:tx>
          <c:spPr>
            <a:solidFill>
              <a:srgbClr val="11244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타이탄컴퍼니</c:v>
                </c:pt>
                <c:pt idx="1">
                  <c:v>클래스어라운드</c:v>
                </c:pt>
                <c:pt idx="2">
                  <c:v>티티에이컴퍼니</c:v>
                </c:pt>
              </c:strCache>
            </c:strRef>
          </c:cat>
          <c:val>
            <c:numRef>
              <c:f>Sheet1!$E$2:$E$4</c:f>
              <c:numCache>
                <c:formatCode>0%</c:formatCode>
                <c:ptCount val="3"/>
                <c:pt idx="0">
                  <c:v>0.17073170731707318</c:v>
                </c:pt>
                <c:pt idx="1">
                  <c:v>8.8235294117647065E-2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9D6-48C7-BC5E-D370864FE39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23631631"/>
        <c:axId val="1523637391"/>
      </c:barChart>
      <c:catAx>
        <c:axId val="1523631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3637391"/>
        <c:crosses val="autoZero"/>
        <c:auto val="1"/>
        <c:lblAlgn val="ctr"/>
        <c:lblOffset val="100"/>
        <c:noMultiLvlLbl val="0"/>
      </c:catAx>
      <c:valAx>
        <c:axId val="152363739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3631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매출액(억원)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1기</c:v>
                </c:pt>
                <c:pt idx="1">
                  <c:v>2기</c:v>
                </c:pt>
                <c:pt idx="2">
                  <c:v>3기</c:v>
                </c:pt>
                <c:pt idx="3">
                  <c:v>4기</c:v>
                </c:pt>
                <c:pt idx="4">
                  <c:v>5기</c:v>
                </c:pt>
                <c:pt idx="5">
                  <c:v>6기</c:v>
                </c:pt>
              </c:strCache>
            </c:strRef>
          </c:cat>
          <c:val>
            <c:numRef>
              <c:f>Sheet1!$B$2:$B$7</c:f>
              <c:numCache>
                <c:formatCode>_-* #,##0.0_-;\-* #,##0.0_-;_-* "-"_-;_-@_-</c:formatCode>
                <c:ptCount val="6"/>
                <c:pt idx="0">
                  <c:v>6.2</c:v>
                </c:pt>
                <c:pt idx="1">
                  <c:v>8.75</c:v>
                </c:pt>
                <c:pt idx="2">
                  <c:v>7.11</c:v>
                </c:pt>
                <c:pt idx="3">
                  <c:v>9.56</c:v>
                </c:pt>
                <c:pt idx="4">
                  <c:v>18.61</c:v>
                </c:pt>
                <c:pt idx="5">
                  <c:v>3.34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49-4469-978A-90D77ED1A6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8046016"/>
        <c:axId val="44804121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단가(백만원)</c:v>
                </c:pt>
              </c:strCache>
            </c:strRef>
          </c:tx>
          <c:spPr>
            <a:ln w="19050" cap="rnd">
              <a:solidFill>
                <a:srgbClr val="11244A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1244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1기</c:v>
                </c:pt>
                <c:pt idx="1">
                  <c:v>2기</c:v>
                </c:pt>
                <c:pt idx="2">
                  <c:v>3기</c:v>
                </c:pt>
                <c:pt idx="3">
                  <c:v>4기</c:v>
                </c:pt>
                <c:pt idx="4">
                  <c:v>5기</c:v>
                </c:pt>
                <c:pt idx="5">
                  <c:v>6기</c:v>
                </c:pt>
              </c:strCache>
            </c:strRef>
          </c:cat>
          <c:val>
            <c:numRef>
              <c:f>Sheet1!$C$2:$C$7</c:f>
              <c:numCache>
                <c:formatCode>_-* #,##0.0_-;\-* #,##0.0_-;_-* "-"_-;_-@_-</c:formatCode>
                <c:ptCount val="6"/>
                <c:pt idx="0">
                  <c:v>2.8</c:v>
                </c:pt>
                <c:pt idx="1">
                  <c:v>3</c:v>
                </c:pt>
                <c:pt idx="2">
                  <c:v>3.3</c:v>
                </c:pt>
                <c:pt idx="3">
                  <c:v>3.4</c:v>
                </c:pt>
                <c:pt idx="4">
                  <c:v>3.8</c:v>
                </c:pt>
                <c:pt idx="5">
                  <c:v>4.0999999999999996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CE49-4469-978A-90D77ED1A6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22490528"/>
        <c:axId val="1722499168"/>
      </c:line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30"/>
        </c:scaling>
        <c:delete val="0"/>
        <c:axPos val="l"/>
        <c:numFmt formatCode="_-* #,##0.0_-;\-* #,##0.0_-;_-* &quot;-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valAx>
        <c:axId val="1722499168"/>
        <c:scaling>
          <c:orientation val="minMax"/>
          <c:max val="6"/>
          <c:min val="1"/>
        </c:scaling>
        <c:delete val="0"/>
        <c:axPos val="r"/>
        <c:numFmt formatCode="_-* #,##0.0_-;\-* #,##0.0_-;_-* &quot;-&quot;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22490528"/>
        <c:crosses val="max"/>
        <c:crossBetween val="between"/>
      </c:valAx>
      <c:catAx>
        <c:axId val="17224905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224991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ayout>
        <c:manualLayout>
          <c:xMode val="edge"/>
          <c:yMode val="edge"/>
          <c:x val="0.15631902466280162"/>
          <c:y val="4.011349698095925E-2"/>
          <c:w val="0.51386441572504915"/>
          <c:h val="0.119041803317523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유저 수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702591044851836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F69-4D32-B344-4BFC974031D3}"/>
                </c:ext>
              </c:extLst>
            </c:dLbl>
            <c:dLbl>
              <c:idx val="1"/>
              <c:layout>
                <c:manualLayout>
                  <c:x val="0"/>
                  <c:y val="-5.40181487282573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69-4D32-B344-4BFC974031D3}"/>
                </c:ext>
              </c:extLst>
            </c:dLbl>
            <c:dLbl>
              <c:idx val="2"/>
              <c:layout>
                <c:manualLayout>
                  <c:x val="-4.0421986745463479E-17"/>
                  <c:y val="-6.09071510555053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F69-4D32-B344-4BFC974031D3}"/>
                </c:ext>
              </c:extLst>
            </c:dLbl>
            <c:dLbl>
              <c:idx val="3"/>
              <c:layout>
                <c:manualLayout>
                  <c:x val="0"/>
                  <c:y val="-8.718407240890230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69-4D32-B344-4BFC974031D3}"/>
                </c:ext>
              </c:extLst>
            </c:dLbl>
            <c:dLbl>
              <c:idx val="4"/>
              <c:layout>
                <c:manualLayout>
                  <c:x val="-8.0843973490926958E-17"/>
                  <c:y val="-0.197125394480131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F69-4D32-B344-4BFC974031D3}"/>
                </c:ext>
              </c:extLst>
            </c:dLbl>
            <c:dLbl>
              <c:idx val="5"/>
              <c:layout>
                <c:manualLayout>
                  <c:x val="0"/>
                  <c:y val="-0.3872172584132862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69-4D32-B344-4BFC974031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4B6DE8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Sheet1!$B$2:$B$7</c:f>
              <c:numCache>
                <c:formatCode>_-* #,##0.00_-;\-* #,##0.00_-;_-* "-"_-;_-@_-</c:formatCode>
                <c:ptCount val="6"/>
                <c:pt idx="0">
                  <c:v>6.8699999999999997E-2</c:v>
                </c:pt>
                <c:pt idx="1">
                  <c:v>1.0427999999999999</c:v>
                </c:pt>
                <c:pt idx="2">
                  <c:v>1.5348999999999999</c:v>
                </c:pt>
                <c:pt idx="3">
                  <c:v>4.1310000000000002</c:v>
                </c:pt>
                <c:pt idx="4" formatCode="_-* #,##0.0_-;\-* #,##0.0_-;_-* &quot;-&quot;_-;_-@_-">
                  <c:v>12.7034</c:v>
                </c:pt>
                <c:pt idx="5" formatCode="_-* #,##0.0_-;\-* #,##0.0_-;_-* &quot;-&quot;_-;_-@_-">
                  <c:v>28.1996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F69-4D32-B344-4BFC974031D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8046016"/>
        <c:axId val="44804121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강의별 평균</c:v>
                </c:pt>
              </c:strCache>
            </c:strRef>
          </c:tx>
          <c:spPr>
            <a:ln w="19050" cap="rnd">
              <a:solidFill>
                <a:srgbClr val="11244A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1244A"/>
                </a:solidFill>
              </a:ln>
              <a:effectLst/>
            </c:spPr>
          </c:marker>
          <c:dLbls>
            <c:dLbl>
              <c:idx val="4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4A-4254-84B4-1E9388D3963F}"/>
                </c:ext>
              </c:extLst>
            </c:dLbl>
            <c:dLbl>
              <c:idx val="5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44A-4254-84B4-1E9388D396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Sheet1!$C$2:$C$7</c:f>
              <c:numCache>
                <c:formatCode>_-* #,##0.00_-;\-* #,##0.00_-;_-* "-"_-;_-@_-</c:formatCode>
                <c:ptCount val="6"/>
                <c:pt idx="0">
                  <c:v>2.29E-2</c:v>
                </c:pt>
                <c:pt idx="1">
                  <c:v>6.5174999999999997E-2</c:v>
                </c:pt>
                <c:pt idx="2">
                  <c:v>8.0784210526315792E-2</c:v>
                </c:pt>
                <c:pt idx="3">
                  <c:v>0.10871052631578948</c:v>
                </c:pt>
                <c:pt idx="4">
                  <c:v>0.2761608695652174</c:v>
                </c:pt>
                <c:pt idx="5">
                  <c:v>0.42088955223880592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4A-4254-84B4-1E9388D39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22490528"/>
        <c:axId val="1722499168"/>
      </c:line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in val="0"/>
        </c:scaling>
        <c:delete val="0"/>
        <c:axPos val="l"/>
        <c:numFmt formatCode="_-* #,##0.00_-;\-* #,##0.00_-;_-* &quot;-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valAx>
        <c:axId val="1722499168"/>
        <c:scaling>
          <c:orientation val="minMax"/>
          <c:max val="0.60000000000000009"/>
          <c:min val="-0.2"/>
        </c:scaling>
        <c:delete val="0"/>
        <c:axPos val="r"/>
        <c:numFmt formatCode="_-* #,##0.00_-;\-* #,##0.00_-;_-* &quot;-&quot;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22490528"/>
        <c:crosses val="max"/>
        <c:crossBetween val="between"/>
      </c:valAx>
      <c:catAx>
        <c:axId val="17224905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224991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유저 수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F69-4D32-B344-4BFC974031D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69-4D32-B344-4BFC974031D3}"/>
                </c:ext>
              </c:extLst>
            </c:dLbl>
            <c:dLbl>
              <c:idx val="2"/>
              <c:layout>
                <c:manualLayout>
                  <c:x val="-4.0421986745463479E-17"/>
                  <c:y val="-3.74180126022266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F69-4D32-B344-4BFC974031D3}"/>
                </c:ext>
              </c:extLst>
            </c:dLbl>
            <c:dLbl>
              <c:idx val="3"/>
              <c:layout>
                <c:manualLayout>
                  <c:x val="0"/>
                  <c:y val="-7.376170757845754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69-4D32-B344-4BFC974031D3}"/>
                </c:ext>
              </c:extLst>
            </c:dLbl>
            <c:dLbl>
              <c:idx val="4"/>
              <c:layout>
                <c:manualLayout>
                  <c:x val="-8.0843973490926958E-17"/>
                  <c:y val="-0.2474592625943000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F69-4D32-B344-4BFC974031D3}"/>
                </c:ext>
              </c:extLst>
            </c:dLbl>
            <c:dLbl>
              <c:idx val="5"/>
              <c:layout>
                <c:manualLayout>
                  <c:x val="0"/>
                  <c:y val="-0.393928440828508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69-4D32-B344-4BFC974031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4B6DE8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Sheet1!$B$2:$B$7</c:f>
              <c:numCache>
                <c:formatCode>_-* #,##0.00_-;\-* #,##0.00_-;_-* "-"_-;_-@_-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0.27210000000000001</c:v>
                </c:pt>
                <c:pt idx="3">
                  <c:v>0.90890000000000004</c:v>
                </c:pt>
                <c:pt idx="4">
                  <c:v>4.8091999999999997</c:v>
                </c:pt>
                <c:pt idx="5">
                  <c:v>7.8578000000000001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F69-4D32-B344-4BFC974031D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8046016"/>
        <c:axId val="44804121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강의별 평균</c:v>
                </c:pt>
              </c:strCache>
            </c:strRef>
          </c:tx>
          <c:spPr>
            <a:ln w="19050" cap="rnd">
              <a:solidFill>
                <a:srgbClr val="11244A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1244A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0.10960381944444444"/>
                  <c:y val="-3.94366517223960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5B-44E9-B383-756ABC7F9CDB}"/>
                </c:ext>
              </c:extLst>
            </c:dLbl>
            <c:dLbl>
              <c:idx val="3"/>
              <c:layout>
                <c:manualLayout>
                  <c:x val="-0.12595277777777786"/>
                  <c:y val="-3.60810605147846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5B-44E9-B383-756ABC7F9CDB}"/>
                </c:ext>
              </c:extLst>
            </c:dLbl>
            <c:dLbl>
              <c:idx val="4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45B-44E9-B383-756ABC7F9CDB}"/>
                </c:ext>
              </c:extLst>
            </c:dLbl>
            <c:dLbl>
              <c:idx val="5"/>
              <c:layout>
                <c:manualLayout>
                  <c:x val="-0.15241909722222222"/>
                  <c:y val="-2.01335472456673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45B-44E9-B383-756ABC7F9C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2" formatCode="0.00">
                  <c:v>1.4321052631578948E-2</c:v>
                </c:pt>
                <c:pt idx="3" formatCode="0.00">
                  <c:v>2.3918421052631578E-2</c:v>
                </c:pt>
                <c:pt idx="4" formatCode="0.00">
                  <c:v>0.10454782608695652</c:v>
                </c:pt>
                <c:pt idx="5" formatCode="0.00">
                  <c:v>0.11728059701492537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5B-44E9-B383-756ABC7F9C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8637231"/>
        <c:axId val="1288628111"/>
      </c:line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ax val="8.5"/>
          <c:min val="0"/>
        </c:scaling>
        <c:delete val="0"/>
        <c:axPos val="l"/>
        <c:numFmt formatCode="_-* #,##0.00_-;\-* #,##0.00_-;_-* &quot;-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valAx>
        <c:axId val="1288628111"/>
        <c:scaling>
          <c:orientation val="minMax"/>
          <c:max val="0.16000000000000003"/>
          <c:min val="-5.000000000000001E-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88637231"/>
        <c:crosses val="max"/>
        <c:crossBetween val="between"/>
      </c:valAx>
      <c:catAx>
        <c:axId val="12886372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886281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결제건수</c:v>
                </c:pt>
              </c:strCache>
            </c:strRef>
          </c:tx>
          <c:spPr>
            <a:solidFill>
              <a:srgbClr val="539DF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10549668636587E-17"/>
                  <c:y val="-4.02670944913346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F69-4D32-B344-4BFC974031D3}"/>
                </c:ext>
              </c:extLst>
            </c:dLbl>
            <c:dLbl>
              <c:idx val="1"/>
              <c:layout>
                <c:manualLayout>
                  <c:x val="-4.0421986745463479E-17"/>
                  <c:y val="-4.697827690655709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69-4D32-B344-4BFC974031D3}"/>
                </c:ext>
              </c:extLst>
            </c:dLbl>
            <c:dLbl>
              <c:idx val="2"/>
              <c:layout>
                <c:manualLayout>
                  <c:x val="-4.0421986745463479E-17"/>
                  <c:y val="-0.1006677362283366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F69-4D32-B344-4BFC974031D3}"/>
                </c:ext>
              </c:extLst>
            </c:dLbl>
            <c:dLbl>
              <c:idx val="3"/>
              <c:layout>
                <c:manualLayout>
                  <c:x val="-8.0843973490926958E-17"/>
                  <c:y val="-0.151001604342504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69-4D32-B344-4BFC974031D3}"/>
                </c:ext>
              </c:extLst>
            </c:dLbl>
            <c:dLbl>
              <c:idx val="4"/>
              <c:layout>
                <c:manualLayout>
                  <c:x val="0"/>
                  <c:y val="-0.255024931778452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F69-4D32-B344-4BFC974031D3}"/>
                </c:ext>
              </c:extLst>
            </c:dLbl>
            <c:dLbl>
              <c:idx val="5"/>
              <c:layout>
                <c:manualLayout>
                  <c:x val="0"/>
                  <c:y val="-0.3791818064600679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69-4D32-B344-4BFC974031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4B6DE8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Sheet1!$B$2:$B$7</c:f>
              <c:numCache>
                <c:formatCode>_(* #,##0_);_(* \(#,##0\);_(* "-"_);_(@_)</c:formatCode>
                <c:ptCount val="6"/>
                <c:pt idx="0">
                  <c:v>110</c:v>
                </c:pt>
                <c:pt idx="1">
                  <c:v>740</c:v>
                </c:pt>
                <c:pt idx="2">
                  <c:v>1464</c:v>
                </c:pt>
                <c:pt idx="3">
                  <c:v>2610</c:v>
                </c:pt>
                <c:pt idx="4">
                  <c:v>5333</c:v>
                </c:pt>
                <c:pt idx="5">
                  <c:v>8330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F69-4D32-B344-4BFC974031D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8046016"/>
        <c:axId val="44804121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강의별 평균</c:v>
                </c:pt>
              </c:strCache>
            </c:strRef>
          </c:tx>
          <c:spPr>
            <a:ln w="19050" cap="rnd">
              <a:solidFill>
                <a:srgbClr val="11244A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1244A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8.9296874999999998E-2"/>
                  <c:y val="-5.28590165528408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8D-453B-AB0A-958ADAD2799F}"/>
                </c:ext>
              </c:extLst>
            </c:dLbl>
            <c:dLbl>
              <c:idx val="3"/>
              <c:layout>
                <c:manualLayout>
                  <c:x val="-8.3454166666666663E-2"/>
                  <c:y val="-5.28590165528407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8D-453B-AB0A-958ADAD2799F}"/>
                </c:ext>
              </c:extLst>
            </c:dLbl>
            <c:dLbl>
              <c:idx val="4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8D-453B-AB0A-958ADAD2799F}"/>
                </c:ext>
              </c:extLst>
            </c:dLbl>
            <c:dLbl>
              <c:idx val="5"/>
              <c:layout>
                <c:manualLayout>
                  <c:x val="-0.15241909722222238"/>
                  <c:y val="-2.01335472456673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E8D-453B-AB0A-958ADAD279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rgbClr val="11244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2024 1Q</c:v>
                </c:pt>
                <c:pt idx="1">
                  <c:v>2024 2Q</c:v>
                </c:pt>
                <c:pt idx="2">
                  <c:v>2024 3Q</c:v>
                </c:pt>
                <c:pt idx="3">
                  <c:v>2024 4Q</c:v>
                </c:pt>
                <c:pt idx="4">
                  <c:v>2025 1Q</c:v>
                </c:pt>
                <c:pt idx="5">
                  <c:v>2025 2Q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36.666666666666664</c:v>
                </c:pt>
                <c:pt idx="1">
                  <c:v>46.25</c:v>
                </c:pt>
                <c:pt idx="2">
                  <c:v>77.05263157894737</c:v>
                </c:pt>
                <c:pt idx="3">
                  <c:v>68.684210526315795</c:v>
                </c:pt>
                <c:pt idx="4">
                  <c:v>115.93478260869566</c:v>
                </c:pt>
                <c:pt idx="5">
                  <c:v>124.32835820895522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8D-453B-AB0A-958ADAD27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8568111"/>
        <c:axId val="1288574351"/>
      </c:lineChart>
      <c:catAx>
        <c:axId val="44804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1216"/>
        <c:crosses val="autoZero"/>
        <c:auto val="1"/>
        <c:lblAlgn val="ctr"/>
        <c:lblOffset val="100"/>
        <c:noMultiLvlLbl val="0"/>
      </c:catAx>
      <c:valAx>
        <c:axId val="448041216"/>
        <c:scaling>
          <c:orientation val="minMax"/>
          <c:min val="0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046016"/>
        <c:crosses val="autoZero"/>
        <c:crossBetween val="between"/>
      </c:valAx>
      <c:valAx>
        <c:axId val="1288574351"/>
        <c:scaling>
          <c:orientation val="minMax"/>
          <c:max val="150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88568111"/>
        <c:crosses val="max"/>
        <c:crossBetween val="between"/>
      </c:valAx>
      <c:catAx>
        <c:axId val="12885681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885743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강의매출</c:v>
                </c:pt>
              </c:strCache>
            </c:strRef>
          </c:tx>
          <c:spPr>
            <a:solidFill>
              <a:srgbClr val="11244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Sheet1!$B$2:$B$8</c:f>
              <c:numCache>
                <c:formatCode>#,##0;\(#,##0\);\-</c:formatCode>
                <c:ptCount val="7"/>
                <c:pt idx="0">
                  <c:v>111.92304433</c:v>
                </c:pt>
                <c:pt idx="1">
                  <c:v>747.53703380908803</c:v>
                </c:pt>
                <c:pt idx="2">
                  <c:v>860.73300804946689</c:v>
                </c:pt>
                <c:pt idx="3">
                  <c:v>941.09020751089599</c:v>
                </c:pt>
                <c:pt idx="4">
                  <c:v>1027.0792512968108</c:v>
                </c:pt>
                <c:pt idx="5">
                  <c:v>1114.0782033387713</c:v>
                </c:pt>
                <c:pt idx="6">
                  <c:v>1204.6788925584526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3-4AD2-9360-76CB2BCDA4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솔루션매출</c:v>
                </c:pt>
              </c:strCache>
            </c:strRef>
          </c:tx>
          <c:spPr>
            <a:solidFill>
              <a:srgbClr val="539DFF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4450954861111112E-2"/>
                  <c:y val="-6.218767191609766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E3-4AD2-9360-76CB2BCDA447}"/>
                </c:ext>
              </c:extLst>
            </c:dLbl>
            <c:spPr>
              <a:solidFill>
                <a:srgbClr val="539DF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Sheet1!$C$2:$C$8</c:f>
              <c:numCache>
                <c:formatCode>#,##0;\(#,##0\);\-</c:formatCode>
                <c:ptCount val="7"/>
                <c:pt idx="1">
                  <c:v>25.707433011021557</c:v>
                </c:pt>
                <c:pt idx="2">
                  <c:v>71.962765716801172</c:v>
                </c:pt>
                <c:pt idx="3">
                  <c:v>94.26139058758892</c:v>
                </c:pt>
                <c:pt idx="4">
                  <c:v>119.24422935018569</c:v>
                </c:pt>
                <c:pt idx="5">
                  <c:v>146.53888890550294</c:v>
                </c:pt>
                <c:pt idx="6">
                  <c:v>176.54417030998815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E3-4AD2-9360-76CB2BCDA4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기타매출</c:v>
                </c:pt>
              </c:strCache>
            </c:strRef>
          </c:tx>
          <c:spPr>
            <a:solidFill>
              <a:srgbClr val="E6F3FF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3072916666666667E-2"/>
                  <c:y val="0"/>
                </c:manualLayout>
              </c:layout>
              <c:spPr>
                <a:solidFill>
                  <a:srgbClr val="E6F3FF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3D3D3D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E3-4AD2-9360-76CB2BCDA4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 formatCode="#,##0;\(#,##0\);\-">
                  <c:v>31.054544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E3-4AD2-9360-76CB2BCDA4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합계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Sheet1!$E$2:$E$8</c:f>
              <c:numCache>
                <c:formatCode>#,##0;\(#,##0\);\-</c:formatCode>
                <c:ptCount val="7"/>
                <c:pt idx="0">
                  <c:v>112.23358976999999</c:v>
                </c:pt>
                <c:pt idx="1">
                  <c:v>773.24446682010955</c:v>
                </c:pt>
                <c:pt idx="2">
                  <c:v>932.69577376626808</c:v>
                </c:pt>
                <c:pt idx="3">
                  <c:v>1035.3515980984851</c:v>
                </c:pt>
                <c:pt idx="4">
                  <c:v>1146.3234806469964</c:v>
                </c:pt>
                <c:pt idx="5">
                  <c:v>1260.6170922442743</c:v>
                </c:pt>
                <c:pt idx="6">
                  <c:v>1381.2230628684408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E3-4AD2-9360-76CB2BCDA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29324927"/>
        <c:axId val="329336927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EBITDA율</c:v>
                </c:pt>
              </c:strCache>
            </c:strRef>
          </c:tx>
          <c:spPr>
            <a:ln w="19050" cap="rnd">
              <a:solidFill>
                <a:srgbClr val="5CCFA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5CCF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Sheet1!$F$2:$F$8</c:f>
              <c:numCache>
                <c:formatCode>0%</c:formatCode>
                <c:ptCount val="7"/>
                <c:pt idx="0">
                  <c:v>0.19212932887729747</c:v>
                </c:pt>
                <c:pt idx="1">
                  <c:v>0.29740086514332237</c:v>
                </c:pt>
                <c:pt idx="2">
                  <c:v>0.37983295507939463</c:v>
                </c:pt>
                <c:pt idx="3">
                  <c:v>0.42053463004303521</c:v>
                </c:pt>
                <c:pt idx="4">
                  <c:v>0.42991681046721819</c:v>
                </c:pt>
                <c:pt idx="5">
                  <c:v>0.43864079154639662</c:v>
                </c:pt>
                <c:pt idx="6">
                  <c:v>0.44670162310095346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CE3-4AD2-9360-76CB2BCDA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0944511"/>
        <c:axId val="1520946911"/>
      </c:lineChart>
      <c:catAx>
        <c:axId val="329324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336927"/>
        <c:crosses val="autoZero"/>
        <c:auto val="1"/>
        <c:lblAlgn val="ctr"/>
        <c:lblOffset val="100"/>
        <c:noMultiLvlLbl val="0"/>
      </c:catAx>
      <c:valAx>
        <c:axId val="329336927"/>
        <c:scaling>
          <c:orientation val="minMax"/>
          <c:max val="1800"/>
          <c:min val="0"/>
        </c:scaling>
        <c:delete val="0"/>
        <c:axPos val="l"/>
        <c:numFmt formatCode="#,##0;\(#,##0\);\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324927"/>
        <c:crosses val="autoZero"/>
        <c:crossBetween val="between"/>
      </c:valAx>
      <c:valAx>
        <c:axId val="1520946911"/>
        <c:scaling>
          <c:orientation val="minMax"/>
          <c:max val="0.48000000000000004"/>
          <c:min val="0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20944511"/>
        <c:crosses val="max"/>
        <c:crossBetween val="between"/>
      </c:valAx>
      <c:catAx>
        <c:axId val="15209445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209469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부업 강의</c:v>
                </c:pt>
              </c:strCache>
            </c:strRef>
          </c:tx>
          <c:spPr>
            <a:solidFill>
              <a:srgbClr val="11244A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84-4436-9BD3-ACB8A3F849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Sheet1!$B$2:$B$8</c:f>
              <c:numCache>
                <c:formatCode>#,##0;\(#,##0\);\-</c:formatCode>
                <c:ptCount val="7"/>
                <c:pt idx="0">
                  <c:v>65</c:v>
                </c:pt>
                <c:pt idx="1">
                  <c:v>235.1</c:v>
                </c:pt>
                <c:pt idx="2">
                  <c:v>256.08</c:v>
                </c:pt>
                <c:pt idx="3">
                  <c:v>277.06</c:v>
                </c:pt>
                <c:pt idx="4">
                  <c:v>298.03999999999996</c:v>
                </c:pt>
                <c:pt idx="5">
                  <c:v>319.02</c:v>
                </c:pt>
                <c:pt idx="6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4-4436-9BD3-ACB8A3F849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투자 강의</c:v>
                </c:pt>
              </c:strCache>
            </c:strRef>
          </c:tx>
          <c:spPr>
            <a:solidFill>
              <a:srgbClr val="539DFF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539DF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Sheet1!$C$2:$C$8</c:f>
              <c:numCache>
                <c:formatCode>#,##0;\(#,##0\);\-</c:formatCode>
                <c:ptCount val="7"/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84-4436-9BD3-ACB8A3F849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합계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Sheet1!$D$2:$D$8</c:f>
              <c:numCache>
                <c:formatCode>#,##0;\(#,##0\);\-</c:formatCode>
                <c:ptCount val="7"/>
                <c:pt idx="0">
                  <c:v>65</c:v>
                </c:pt>
                <c:pt idx="1">
                  <c:v>246.1</c:v>
                </c:pt>
                <c:pt idx="2">
                  <c:v>267.08</c:v>
                </c:pt>
                <c:pt idx="3">
                  <c:v>288.06</c:v>
                </c:pt>
                <c:pt idx="4">
                  <c:v>309.03999999999996</c:v>
                </c:pt>
                <c:pt idx="5">
                  <c:v>330.02</c:v>
                </c:pt>
                <c:pt idx="6">
                  <c:v>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84-4436-9BD3-ACB8A3F84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329324927"/>
        <c:axId val="329336927"/>
      </c:barChart>
      <c:catAx>
        <c:axId val="329324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336927"/>
        <c:crosses val="autoZero"/>
        <c:auto val="1"/>
        <c:lblAlgn val="ctr"/>
        <c:lblOffset val="100"/>
        <c:noMultiLvlLbl val="0"/>
      </c:catAx>
      <c:valAx>
        <c:axId val="329336927"/>
        <c:scaling>
          <c:orientation val="minMax"/>
          <c:max val="380"/>
          <c:min val="0"/>
        </c:scaling>
        <c:delete val="0"/>
        <c:axPos val="l"/>
        <c:numFmt formatCode="#,##0;\(#,##0\);\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324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구축관리형 플랫폼</c:v>
                </c:pt>
              </c:strCache>
            </c:strRef>
          </c:tx>
          <c:spPr>
            <a:solidFill>
              <a:srgbClr val="11244A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DB4-41F8-BADF-B28478B334D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DB4-41F8-BADF-B28478B334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Sheet1!$B$2:$B$8</c:f>
              <c:numCache>
                <c:formatCode>#,##0;\(#,##0\);\-</c:formatCode>
                <c:ptCount val="7"/>
                <c:pt idx="1">
                  <c:v>5.25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B4-41F8-BADF-B28478B334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구축형 플랫폼</c:v>
                </c:pt>
              </c:strCache>
            </c:strRef>
          </c:tx>
          <c:spPr>
            <a:solidFill>
              <a:srgbClr val="539DFF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539DF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2" formatCode="#,##0;\(#,##0\);\-">
                  <c:v>3</c:v>
                </c:pt>
                <c:pt idx="3" formatCode="#,##0;\(#,##0\);\-">
                  <c:v>4.75</c:v>
                </c:pt>
                <c:pt idx="4" formatCode="#,##0;\(#,##0\);\-">
                  <c:v>6.5</c:v>
                </c:pt>
                <c:pt idx="5" formatCode="#,##0;\(#,##0\);\-">
                  <c:v>8.25</c:v>
                </c:pt>
                <c:pt idx="6" formatCode="#,##0;\(#,##0\);\-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B4-41F8-BADF-B28478B334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합계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D3D3D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2024A</c:v>
                </c:pt>
                <c:pt idx="1">
                  <c:v>2025E</c:v>
                </c:pt>
                <c:pt idx="2">
                  <c:v>2026F</c:v>
                </c:pt>
                <c:pt idx="3">
                  <c:v>2027F</c:v>
                </c:pt>
                <c:pt idx="4">
                  <c:v>2028F</c:v>
                </c:pt>
                <c:pt idx="5">
                  <c:v>2029F</c:v>
                </c:pt>
                <c:pt idx="6">
                  <c:v>2030F</c:v>
                </c:pt>
              </c:strCache>
            </c:strRef>
          </c:cat>
          <c:val>
            <c:numRef>
              <c:f>Sheet1!$D$2:$D$8</c:f>
              <c:numCache>
                <c:formatCode>#,##0;\(#,##0\);\-</c:formatCode>
                <c:ptCount val="7"/>
                <c:pt idx="1">
                  <c:v>5.25</c:v>
                </c:pt>
                <c:pt idx="2">
                  <c:v>11</c:v>
                </c:pt>
                <c:pt idx="3">
                  <c:v>13.75</c:v>
                </c:pt>
                <c:pt idx="4">
                  <c:v>16.5</c:v>
                </c:pt>
                <c:pt idx="5">
                  <c:v>19.25</c:v>
                </c:pt>
                <c:pt idx="6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DB4-41F8-BADF-B28478B334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329324927"/>
        <c:axId val="329336927"/>
      </c:barChart>
      <c:catAx>
        <c:axId val="329324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D3D3D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336927"/>
        <c:crosses val="autoZero"/>
        <c:auto val="1"/>
        <c:lblAlgn val="ctr"/>
        <c:lblOffset val="100"/>
        <c:noMultiLvlLbl val="0"/>
      </c:catAx>
      <c:valAx>
        <c:axId val="329336927"/>
        <c:scaling>
          <c:orientation val="minMax"/>
          <c:max val="23"/>
          <c:min val="0"/>
        </c:scaling>
        <c:delete val="0"/>
        <c:axPos val="l"/>
        <c:numFmt formatCode="#,##0;\(#,##0\);\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29324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D3D3D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Sheet1!$A$2:$A$8</cx:f>
        <cx:lvl ptCount="7">
          <cx:pt idx="0">매출액</cx:pt>
          <cx:pt idx="1">영업비용</cx:pt>
          <cx:pt idx="2">D&amp;A</cx:pt>
          <cx:pt idx="3">EBITDA</cx:pt>
          <cx:pt idx="4">CAPEX</cx:pt>
          <cx:pt idx="5">△NWC</cx:pt>
          <cx:pt idx="6">FCF</cx:pt>
        </cx:lvl>
      </cx:strDim>
      <cx:numDim type="val">
        <cx:f>Sheet1!$B$2:$B$8</cx:f>
        <cx:lvl ptCount="7" formatCode="#,##0;!(#,##0!);&quot;-&quot;">
          <cx:pt idx="0">333.9289326</cx:pt>
          <cx:pt idx="1">-243.15748490161243</cx:pt>
          <cx:pt idx="2">0.57174701999999999</cx:pt>
          <cx:pt idx="3">91.343194718387537</cx:pt>
          <cx:pt idx="4">-1.9707567599999998</cx:pt>
          <cx:pt idx="5">-24.085126408387506</cx:pt>
          <cx:pt idx="6">65.287311550000027</cx:pt>
        </cx:lvl>
      </cx:numDim>
    </cx:data>
  </cx:chartData>
  <cx:chart>
    <cx:plotArea>
      <cx:plotAreaRegion>
        <cx:series layoutId="waterfall" uniqueId="{8896C02E-8A43-442A-A0FF-ACC085620F8B}">
          <cx:tx>
            <cx:txData>
              <cx:f>Sheet1!$B$1</cx:f>
              <cx:v>계열1</cx:v>
            </cx:txData>
          </cx:tx>
          <cx:spPr>
            <a:solidFill>
              <a:srgbClr val="11244A"/>
            </a:solidFill>
          </cx:spPr>
          <cx:dataPt idx="1">
            <cx:spPr>
              <a:solidFill>
                <a:srgbClr val="539DFF"/>
              </a:solidFill>
            </cx:spPr>
          </cx:dataPt>
          <cx:dataPt idx="2">
            <cx:spPr>
              <a:solidFill>
                <a:srgbClr val="539DFF"/>
              </a:solidFill>
            </cx:spPr>
          </cx:dataPt>
          <cx:dataPt idx="4">
            <cx:spPr>
              <a:solidFill>
                <a:srgbClr val="539DFF"/>
              </a:solidFill>
            </cx:spPr>
          </cx:dataPt>
          <cx:dataPt idx="5">
            <cx:spPr>
              <a:solidFill>
                <a:srgbClr val="539DFF"/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 b="1">
                    <a:solidFill>
                      <a:schemeClr val="tx1"/>
                    </a:solidFill>
                  </a:defRPr>
                </a:pPr>
                <a:endParaRPr lang="ko-KR" altLang="en-US" sz="1000" b="1" i="0" u="none" strike="noStrike" baseline="0">
                  <a:solidFill>
                    <a:schemeClr val="tx1"/>
                  </a:solidFill>
                  <a:latin typeface="Pretendard"/>
                  <a:ea typeface="Pretendard"/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0"/>
              <cx:idx val="3"/>
              <cx:idx val="6"/>
            </cx:subtotals>
          </cx:layoutPr>
        </cx:series>
      </cx:plotAreaRegion>
      <cx:axis id="0">
        <cx:catScaling gapWidth="0.5"/>
        <cx:tickLabels/>
        <cx:spPr>
          <a:ln>
            <a:solidFill>
              <a:srgbClr val="3D3D3D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00" b="1">
                <a:solidFill>
                  <a:schemeClr val="tx1"/>
                </a:solidFill>
              </a:defRPr>
            </a:pPr>
            <a:endParaRPr lang="ko-KR" altLang="en-US" sz="1000" b="1" i="0" u="none" strike="noStrike" baseline="0">
              <a:solidFill>
                <a:schemeClr val="tx1"/>
              </a:solidFill>
              <a:latin typeface="Pretendard"/>
              <a:ea typeface="Pretendard"/>
            </a:endParaRPr>
          </a:p>
        </cx:txPr>
      </cx:axis>
      <cx:axis id="1">
        <cx:valScaling max="360" min="0"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0">
                <a:solidFill>
                  <a:schemeClr val="bg1"/>
                </a:solidFill>
              </a:defRPr>
            </a:pPr>
            <a:endParaRPr lang="ko-KR" altLang="en-US" sz="100" b="0" i="0" u="none" strike="noStrike" baseline="0">
              <a:solidFill>
                <a:schemeClr val="bg1"/>
              </a:solidFill>
              <a:latin typeface="Pretendard"/>
              <a:ea typeface="Pretendard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JT">
    <p:bg>
      <p:bgPr>
        <a:solidFill>
          <a:srgbClr val="C6B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A5E160-BE55-1F46-A7B0-0233F05B9A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BCEDB82C-5CDE-3824-9E20-37C9C040C2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000" y="1557273"/>
            <a:ext cx="4500000" cy="153888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ts val="6000"/>
              </a:lnSpc>
              <a:spcBef>
                <a:spcPts val="0"/>
              </a:spcBef>
              <a:buNone/>
              <a:defRPr sz="60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PROJECT NAME</a:t>
            </a:r>
            <a:endParaRPr lang="ko-KR" altLang="en-US" dirty="0"/>
          </a:p>
        </p:txBody>
      </p:sp>
      <p:sp>
        <p:nvSpPr>
          <p:cNvPr id="4" name="텍스트 개체 틀 5">
            <a:extLst>
              <a:ext uri="{FF2B5EF4-FFF2-40B4-BE49-F238E27FC236}">
                <a16:creationId xmlns:a16="http://schemas.microsoft.com/office/drawing/2014/main" id="{10A51583-5D5A-9874-1C67-A37B491F35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2999" y="3393271"/>
            <a:ext cx="4499999" cy="23083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 altLang="ko-KR" dirty="0"/>
              <a:t>DOCUMENT TITLE</a:t>
            </a:r>
            <a:endParaRPr lang="ko-KR" alt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E64DA973-7A28-C41A-A1FE-05632E568D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0908" y="549275"/>
            <a:ext cx="1642500" cy="252000"/>
          </a:xfrm>
          <a:prstGeom prst="rect">
            <a:avLst/>
          </a:prstGeom>
        </p:spPr>
      </p:pic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1D2C79E0-29D0-555B-FD05-AECECFE3E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999" y="5663661"/>
            <a:ext cx="4499999" cy="1410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 altLang="ko-KR" dirty="0"/>
              <a:t>Other notes if needed</a:t>
            </a:r>
            <a:endParaRPr lang="ko-KR" altLang="en-US" dirty="0"/>
          </a:p>
        </p:txBody>
      </p:sp>
      <p:sp>
        <p:nvSpPr>
          <p:cNvPr id="14" name="텍스트 개체 틀 5">
            <a:extLst>
              <a:ext uri="{FF2B5EF4-FFF2-40B4-BE49-F238E27FC236}">
                <a16:creationId xmlns:a16="http://schemas.microsoft.com/office/drawing/2014/main" id="{9D59C383-36D9-B176-223D-926B9E6F47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999" y="3666439"/>
            <a:ext cx="4499999" cy="23083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Outfit Medium" pitchFamily="2" charset="0"/>
              </a:defRPr>
            </a:lvl1pPr>
          </a:lstStyle>
          <a:p>
            <a:pPr lvl="0"/>
            <a:r>
              <a:rPr lang="en-US" altLang="ko-KR" dirty="0"/>
              <a:t>Month Year</a:t>
            </a:r>
            <a:endParaRPr lang="ko-KR" altLang="en-US" dirty="0"/>
          </a:p>
        </p:txBody>
      </p:sp>
      <p:grpSp>
        <p:nvGrpSpPr>
          <p:cNvPr id="2" name="그래픽 12">
            <a:extLst>
              <a:ext uri="{FF2B5EF4-FFF2-40B4-BE49-F238E27FC236}">
                <a16:creationId xmlns:a16="http://schemas.microsoft.com/office/drawing/2014/main" id="{7F276D3F-4BA3-FF1E-AE2C-9728057F13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2999" y="461630"/>
            <a:ext cx="1363661" cy="427290"/>
            <a:chOff x="1748076" y="1492704"/>
            <a:chExt cx="2780254" cy="871165"/>
          </a:xfrm>
          <a:solidFill>
            <a:schemeClr val="bg1"/>
          </a:solidFill>
        </p:grpSpPr>
        <p:sp>
          <p:nvSpPr>
            <p:cNvPr id="5" name="자유형: 도형 21">
              <a:extLst>
                <a:ext uri="{FF2B5EF4-FFF2-40B4-BE49-F238E27FC236}">
                  <a16:creationId xmlns:a16="http://schemas.microsoft.com/office/drawing/2014/main" id="{9CEBDE68-4CF9-DD20-50D1-BEA6A9B8D707}"/>
                </a:ext>
              </a:extLst>
            </p:cNvPr>
            <p:cNvSpPr/>
            <p:nvPr/>
          </p:nvSpPr>
          <p:spPr>
            <a:xfrm flipV="1">
              <a:off x="2956473" y="1542367"/>
              <a:ext cx="1551422" cy="303005"/>
            </a:xfrm>
            <a:custGeom>
              <a:avLst/>
              <a:gdLst>
                <a:gd name="connsiteX0" fmla="*/ 1551596 w 1551422"/>
                <a:gd name="connsiteY0" fmla="*/ 303014 h 303005"/>
                <a:gd name="connsiteX1" fmla="*/ 173 w 1551422"/>
                <a:gd name="connsiteY1" fmla="*/ 303014 h 303005"/>
                <a:gd name="connsiteX2" fmla="*/ 173 w 1551422"/>
                <a:gd name="connsiteY2" fmla="*/ 8 h 303005"/>
                <a:gd name="connsiteX3" fmla="*/ 1551596 w 1551422"/>
                <a:gd name="connsiteY3" fmla="*/ 8 h 3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22" h="303005">
                  <a:moveTo>
                    <a:pt x="1551596" y="303014"/>
                  </a:moveTo>
                  <a:lnTo>
                    <a:pt x="173" y="303014"/>
                  </a:lnTo>
                  <a:lnTo>
                    <a:pt x="173" y="8"/>
                  </a:lnTo>
                  <a:lnTo>
                    <a:pt x="1551596" y="8"/>
                  </a:lnTo>
                  <a:close/>
                </a:path>
              </a:pathLst>
            </a:custGeom>
            <a:grpFill/>
            <a:ln w="60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8" name="그래픽 12">
              <a:extLst>
                <a:ext uri="{FF2B5EF4-FFF2-40B4-BE49-F238E27FC236}">
                  <a16:creationId xmlns:a16="http://schemas.microsoft.com/office/drawing/2014/main" id="{3D2D7E31-7B80-81C2-EBB7-4BE586192511}"/>
                </a:ext>
              </a:extLst>
            </p:cNvPr>
            <p:cNvGrpSpPr/>
            <p:nvPr/>
          </p:nvGrpSpPr>
          <p:grpSpPr>
            <a:xfrm>
              <a:off x="1748076" y="1492704"/>
              <a:ext cx="2780254" cy="871165"/>
              <a:chOff x="1748076" y="1492704"/>
              <a:chExt cx="2780254" cy="871165"/>
            </a:xfrm>
            <a:grpFill/>
          </p:grpSpPr>
          <p:sp>
            <p:nvSpPr>
              <p:cNvPr id="9" name="자유형: 도형 26">
                <a:extLst>
                  <a:ext uri="{FF2B5EF4-FFF2-40B4-BE49-F238E27FC236}">
                    <a16:creationId xmlns:a16="http://schemas.microsoft.com/office/drawing/2014/main" id="{A585908A-A82B-3C86-007A-7F3DC7CE6332}"/>
                  </a:ext>
                </a:extLst>
              </p:cNvPr>
              <p:cNvSpPr/>
              <p:nvPr/>
            </p:nvSpPr>
            <p:spPr>
              <a:xfrm flipV="1">
                <a:off x="1751153" y="1513324"/>
                <a:ext cx="258404" cy="360962"/>
              </a:xfrm>
              <a:custGeom>
                <a:avLst/>
                <a:gdLst>
                  <a:gd name="connsiteX0" fmla="*/ 113589 w 258404"/>
                  <a:gd name="connsiteY0" fmla="*/ 179798 h 360962"/>
                  <a:gd name="connsiteX1" fmla="*/ 82826 w 258404"/>
                  <a:gd name="connsiteY1" fmla="*/ 179798 h 360962"/>
                  <a:gd name="connsiteX2" fmla="*/ 82826 w 258404"/>
                  <a:gd name="connsiteY2" fmla="*/ 7014 h 360962"/>
                  <a:gd name="connsiteX3" fmla="*/ 105382 w 258404"/>
                  <a:gd name="connsiteY3" fmla="*/ 7014 h 360962"/>
                  <a:gd name="connsiteX4" fmla="*/ 201265 w 258404"/>
                  <a:gd name="connsiteY4" fmla="*/ 94177 h 360962"/>
                  <a:gd name="connsiteX5" fmla="*/ 113589 w 258404"/>
                  <a:gd name="connsiteY5" fmla="*/ 179798 h 360962"/>
                  <a:gd name="connsiteX6" fmla="*/ 82826 w 258404"/>
                  <a:gd name="connsiteY6" fmla="*/ 354638 h 360962"/>
                  <a:gd name="connsiteX7" fmla="*/ 82826 w 258404"/>
                  <a:gd name="connsiteY7" fmla="*/ 186461 h 360962"/>
                  <a:gd name="connsiteX8" fmla="*/ 113589 w 258404"/>
                  <a:gd name="connsiteY8" fmla="*/ 186461 h 360962"/>
                  <a:gd name="connsiteX9" fmla="*/ 179215 w 258404"/>
                  <a:gd name="connsiteY9" fmla="*/ 274137 h 360962"/>
                  <a:gd name="connsiteX10" fmla="*/ 105382 w 258404"/>
                  <a:gd name="connsiteY10" fmla="*/ 354638 h 360962"/>
                  <a:gd name="connsiteX11" fmla="*/ 102820 w 258404"/>
                  <a:gd name="connsiteY11" fmla="*/ 345 h 360962"/>
                  <a:gd name="connsiteX12" fmla="*/ 280 w 258404"/>
                  <a:gd name="connsiteY12" fmla="*/ 345 h 360962"/>
                  <a:gd name="connsiteX13" fmla="*/ 280 w 258404"/>
                  <a:gd name="connsiteY13" fmla="*/ 4957 h 360962"/>
                  <a:gd name="connsiteX14" fmla="*/ 30018 w 258404"/>
                  <a:gd name="connsiteY14" fmla="*/ 61871 h 360962"/>
                  <a:gd name="connsiteX15" fmla="*/ 30018 w 258404"/>
                  <a:gd name="connsiteY15" fmla="*/ 300800 h 360962"/>
                  <a:gd name="connsiteX16" fmla="*/ 280 w 258404"/>
                  <a:gd name="connsiteY16" fmla="*/ 356688 h 360962"/>
                  <a:gd name="connsiteX17" fmla="*/ 280 w 258404"/>
                  <a:gd name="connsiteY17" fmla="*/ 361307 h 360962"/>
                  <a:gd name="connsiteX18" fmla="*/ 102820 w 258404"/>
                  <a:gd name="connsiteY18" fmla="*/ 361307 h 360962"/>
                  <a:gd name="connsiteX19" fmla="*/ 234585 w 258404"/>
                  <a:gd name="connsiteY19" fmla="*/ 273631 h 360962"/>
                  <a:gd name="connsiteX20" fmla="*/ 148964 w 258404"/>
                  <a:gd name="connsiteY20" fmla="*/ 185442 h 360962"/>
                  <a:gd name="connsiteX21" fmla="*/ 258685 w 258404"/>
                  <a:gd name="connsiteY21" fmla="*/ 92121 h 360962"/>
                  <a:gd name="connsiteX22" fmla="*/ 102820 w 258404"/>
                  <a:gd name="connsiteY22" fmla="*/ 345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8404" h="360962">
                    <a:moveTo>
                      <a:pt x="113589" y="179798"/>
                    </a:moveTo>
                    <a:lnTo>
                      <a:pt x="82826" y="179798"/>
                    </a:lnTo>
                    <a:lnTo>
                      <a:pt x="82826" y="7014"/>
                    </a:lnTo>
                    <a:lnTo>
                      <a:pt x="105382" y="7014"/>
                    </a:lnTo>
                    <a:cubicBezTo>
                      <a:pt x="154608" y="7014"/>
                      <a:pt x="201265" y="5989"/>
                      <a:pt x="201265" y="94177"/>
                    </a:cubicBezTo>
                    <a:cubicBezTo>
                      <a:pt x="201265" y="177235"/>
                      <a:pt x="151527" y="179798"/>
                      <a:pt x="113589" y="179798"/>
                    </a:cubicBezTo>
                    <a:moveTo>
                      <a:pt x="82826" y="354638"/>
                    </a:moveTo>
                    <a:lnTo>
                      <a:pt x="82826" y="186461"/>
                    </a:lnTo>
                    <a:lnTo>
                      <a:pt x="113589" y="186461"/>
                    </a:lnTo>
                    <a:cubicBezTo>
                      <a:pt x="145377" y="186461"/>
                      <a:pt x="179215" y="196204"/>
                      <a:pt x="179215" y="274137"/>
                    </a:cubicBezTo>
                    <a:cubicBezTo>
                      <a:pt x="179215" y="349507"/>
                      <a:pt x="136664" y="354638"/>
                      <a:pt x="105382" y="354638"/>
                    </a:cubicBezTo>
                    <a:close/>
                    <a:moveTo>
                      <a:pt x="102820" y="345"/>
                    </a:moveTo>
                    <a:lnTo>
                      <a:pt x="280" y="345"/>
                    </a:lnTo>
                    <a:lnTo>
                      <a:pt x="280" y="4957"/>
                    </a:lnTo>
                    <a:cubicBezTo>
                      <a:pt x="22325" y="4957"/>
                      <a:pt x="30018" y="27008"/>
                      <a:pt x="30018" y="61871"/>
                    </a:cubicBezTo>
                    <a:lnTo>
                      <a:pt x="30018" y="300800"/>
                    </a:lnTo>
                    <a:cubicBezTo>
                      <a:pt x="30018" y="332588"/>
                      <a:pt x="22837" y="356688"/>
                      <a:pt x="280" y="356688"/>
                    </a:cubicBezTo>
                    <a:lnTo>
                      <a:pt x="280" y="361307"/>
                    </a:lnTo>
                    <a:lnTo>
                      <a:pt x="102820" y="361307"/>
                    </a:lnTo>
                    <a:cubicBezTo>
                      <a:pt x="174090" y="361307"/>
                      <a:pt x="234585" y="357201"/>
                      <a:pt x="234585" y="273631"/>
                    </a:cubicBezTo>
                    <a:cubicBezTo>
                      <a:pt x="234585" y="193642"/>
                      <a:pt x="159221" y="185442"/>
                      <a:pt x="148964" y="185442"/>
                    </a:cubicBezTo>
                    <a:cubicBezTo>
                      <a:pt x="182290" y="185442"/>
                      <a:pt x="258685" y="178779"/>
                      <a:pt x="258685" y="92121"/>
                    </a:cubicBezTo>
                    <a:cubicBezTo>
                      <a:pt x="258685" y="2913"/>
                      <a:pt x="191527" y="345"/>
                      <a:pt x="102820" y="345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" name="자유형: 도형 27">
                <a:extLst>
                  <a:ext uri="{FF2B5EF4-FFF2-40B4-BE49-F238E27FC236}">
                    <a16:creationId xmlns:a16="http://schemas.microsoft.com/office/drawing/2014/main" id="{290F8143-6E93-0C96-6F6A-978B31022C50}"/>
                  </a:ext>
                </a:extLst>
              </p:cNvPr>
              <p:cNvSpPr/>
              <p:nvPr/>
            </p:nvSpPr>
            <p:spPr>
              <a:xfrm flipV="1">
                <a:off x="2091574" y="1492704"/>
                <a:ext cx="324112" cy="386382"/>
              </a:xfrm>
              <a:custGeom>
                <a:avLst/>
                <a:gdLst>
                  <a:gd name="connsiteX0" fmla="*/ 99962 w 324112"/>
                  <a:gd name="connsiteY0" fmla="*/ 281518 h 386382"/>
                  <a:gd name="connsiteX1" fmla="*/ 134548 w 324112"/>
                  <a:gd name="connsiteY1" fmla="*/ 228704 h 386382"/>
                  <a:gd name="connsiteX2" fmla="*/ 168151 w 324112"/>
                  <a:gd name="connsiteY2" fmla="*/ 359450 h 386382"/>
                  <a:gd name="connsiteX3" fmla="*/ 112142 w 324112"/>
                  <a:gd name="connsiteY3" fmla="*/ 374319 h 386382"/>
                  <a:gd name="connsiteX4" fmla="*/ 99962 w 324112"/>
                  <a:gd name="connsiteY4" fmla="*/ 281518 h 386382"/>
                  <a:gd name="connsiteX5" fmla="*/ 180807 w 324112"/>
                  <a:gd name="connsiteY5" fmla="*/ 76945 h 386382"/>
                  <a:gd name="connsiteX6" fmla="*/ 99962 w 324112"/>
                  <a:gd name="connsiteY6" fmla="*/ 199997 h 386382"/>
                  <a:gd name="connsiteX7" fmla="*/ 72696 w 324112"/>
                  <a:gd name="connsiteY7" fmla="*/ 182047 h 386382"/>
                  <a:gd name="connsiteX8" fmla="*/ 58575 w 324112"/>
                  <a:gd name="connsiteY8" fmla="*/ 53870 h 386382"/>
                  <a:gd name="connsiteX9" fmla="*/ 180807 w 324112"/>
                  <a:gd name="connsiteY9" fmla="*/ 76945 h 386382"/>
                  <a:gd name="connsiteX10" fmla="*/ 324468 w 324112"/>
                  <a:gd name="connsiteY10" fmla="*/ 56945 h 386382"/>
                  <a:gd name="connsiteX11" fmla="*/ 274802 w 324112"/>
                  <a:gd name="connsiteY11" fmla="*/ 550 h 386382"/>
                  <a:gd name="connsiteX12" fmla="*/ 213927 w 324112"/>
                  <a:gd name="connsiteY12" fmla="*/ 26182 h 386382"/>
                  <a:gd name="connsiteX13" fmla="*/ 185679 w 324112"/>
                  <a:gd name="connsiteY13" fmla="*/ 70789 h 386382"/>
                  <a:gd name="connsiteX14" fmla="*/ 19617 w 324112"/>
                  <a:gd name="connsiteY14" fmla="*/ 34901 h 386382"/>
                  <a:gd name="connsiteX15" fmla="*/ 68795 w 324112"/>
                  <a:gd name="connsiteY15" fmla="*/ 188203 h 386382"/>
                  <a:gd name="connsiteX16" fmla="*/ 96073 w 324112"/>
                  <a:gd name="connsiteY16" fmla="*/ 205635 h 386382"/>
                  <a:gd name="connsiteX17" fmla="*/ 71725 w 324112"/>
                  <a:gd name="connsiteY17" fmla="*/ 243573 h 386382"/>
                  <a:gd name="connsiteX18" fmla="*/ 103857 w 324112"/>
                  <a:gd name="connsiteY18" fmla="*/ 385088 h 386382"/>
                  <a:gd name="connsiteX19" fmla="*/ 173993 w 324112"/>
                  <a:gd name="connsiteY19" fmla="*/ 364069 h 386382"/>
                  <a:gd name="connsiteX20" fmla="*/ 138437 w 324112"/>
                  <a:gd name="connsiteY20" fmla="*/ 222554 h 386382"/>
                  <a:gd name="connsiteX21" fmla="*/ 203701 w 324112"/>
                  <a:gd name="connsiteY21" fmla="*/ 121040 h 386382"/>
                  <a:gd name="connsiteX22" fmla="*/ 261646 w 324112"/>
                  <a:gd name="connsiteY22" fmla="*/ 181535 h 386382"/>
                  <a:gd name="connsiteX23" fmla="*/ 291842 w 324112"/>
                  <a:gd name="connsiteY23" fmla="*/ 175897 h 386382"/>
                  <a:gd name="connsiteX24" fmla="*/ 294278 w 324112"/>
                  <a:gd name="connsiteY24" fmla="*/ 139490 h 386382"/>
                  <a:gd name="connsiteX25" fmla="*/ 259216 w 324112"/>
                  <a:gd name="connsiteY25" fmla="*/ 136421 h 386382"/>
                  <a:gd name="connsiteX26" fmla="*/ 250931 w 324112"/>
                  <a:gd name="connsiteY26" fmla="*/ 153853 h 386382"/>
                  <a:gd name="connsiteX27" fmla="*/ 207590 w 324112"/>
                  <a:gd name="connsiteY27" fmla="*/ 115396 h 386382"/>
                  <a:gd name="connsiteX28" fmla="*/ 246059 w 324112"/>
                  <a:gd name="connsiteY28" fmla="*/ 56945 h 386382"/>
                  <a:gd name="connsiteX29" fmla="*/ 285028 w 324112"/>
                  <a:gd name="connsiteY29" fmla="*/ 32845 h 386382"/>
                  <a:gd name="connsiteX30" fmla="*/ 318137 w 324112"/>
                  <a:gd name="connsiteY30" fmla="*/ 56945 h 38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24112" h="386382">
                    <a:moveTo>
                      <a:pt x="99962" y="281518"/>
                    </a:moveTo>
                    <a:lnTo>
                      <a:pt x="134548" y="228704"/>
                    </a:lnTo>
                    <a:cubicBezTo>
                      <a:pt x="199318" y="271774"/>
                      <a:pt x="192010" y="328175"/>
                      <a:pt x="168151" y="359450"/>
                    </a:cubicBezTo>
                    <a:cubicBezTo>
                      <a:pt x="154023" y="374832"/>
                      <a:pt x="131623" y="382013"/>
                      <a:pt x="112142" y="374319"/>
                    </a:cubicBezTo>
                    <a:cubicBezTo>
                      <a:pt x="82446" y="362525"/>
                      <a:pt x="76591" y="317924"/>
                      <a:pt x="99962" y="281518"/>
                    </a:cubicBezTo>
                    <a:moveTo>
                      <a:pt x="180807" y="76945"/>
                    </a:moveTo>
                    <a:lnTo>
                      <a:pt x="99962" y="199997"/>
                    </a:lnTo>
                    <a:lnTo>
                      <a:pt x="72696" y="182047"/>
                    </a:lnTo>
                    <a:cubicBezTo>
                      <a:pt x="44459" y="161540"/>
                      <a:pt x="16699" y="106165"/>
                      <a:pt x="58575" y="53870"/>
                    </a:cubicBezTo>
                    <a:cubicBezTo>
                      <a:pt x="88771" y="15932"/>
                      <a:pt x="155971" y="16957"/>
                      <a:pt x="180807" y="76945"/>
                    </a:cubicBezTo>
                    <a:moveTo>
                      <a:pt x="324468" y="56945"/>
                    </a:moveTo>
                    <a:cubicBezTo>
                      <a:pt x="323980" y="19519"/>
                      <a:pt x="297202" y="2594"/>
                      <a:pt x="274802" y="550"/>
                    </a:cubicBezTo>
                    <a:cubicBezTo>
                      <a:pt x="274802" y="550"/>
                      <a:pt x="232921" y="-3556"/>
                      <a:pt x="213927" y="26182"/>
                    </a:cubicBezTo>
                    <a:lnTo>
                      <a:pt x="185679" y="70789"/>
                    </a:lnTo>
                    <a:cubicBezTo>
                      <a:pt x="168639" y="12338"/>
                      <a:pt x="70742" y="-33807"/>
                      <a:pt x="19617" y="34901"/>
                    </a:cubicBezTo>
                    <a:cubicBezTo>
                      <a:pt x="-31031" y="103096"/>
                      <a:pt x="29844" y="164616"/>
                      <a:pt x="68795" y="188203"/>
                    </a:cubicBezTo>
                    <a:lnTo>
                      <a:pt x="96073" y="205635"/>
                    </a:lnTo>
                    <a:lnTo>
                      <a:pt x="71725" y="243573"/>
                    </a:lnTo>
                    <a:cubicBezTo>
                      <a:pt x="23513" y="312281"/>
                      <a:pt x="49325" y="374832"/>
                      <a:pt x="103857" y="385088"/>
                    </a:cubicBezTo>
                    <a:cubicBezTo>
                      <a:pt x="135518" y="390726"/>
                      <a:pt x="159378" y="381500"/>
                      <a:pt x="173993" y="364069"/>
                    </a:cubicBezTo>
                    <a:cubicBezTo>
                      <a:pt x="194934" y="338937"/>
                      <a:pt x="213433" y="275874"/>
                      <a:pt x="138437" y="222554"/>
                    </a:cubicBezTo>
                    <a:lnTo>
                      <a:pt x="203701" y="121040"/>
                    </a:lnTo>
                    <a:cubicBezTo>
                      <a:pt x="222200" y="169228"/>
                      <a:pt x="248983" y="178460"/>
                      <a:pt x="261646" y="181535"/>
                    </a:cubicBezTo>
                    <a:cubicBezTo>
                      <a:pt x="271383" y="183591"/>
                      <a:pt x="283557" y="183072"/>
                      <a:pt x="291842" y="175897"/>
                    </a:cubicBezTo>
                    <a:cubicBezTo>
                      <a:pt x="301091" y="168203"/>
                      <a:pt x="304498" y="151284"/>
                      <a:pt x="294278" y="139490"/>
                    </a:cubicBezTo>
                    <a:cubicBezTo>
                      <a:pt x="285505" y="128727"/>
                      <a:pt x="269918" y="127184"/>
                      <a:pt x="259216" y="136421"/>
                    </a:cubicBezTo>
                    <a:cubicBezTo>
                      <a:pt x="253367" y="141546"/>
                      <a:pt x="251419" y="146671"/>
                      <a:pt x="250931" y="153853"/>
                    </a:cubicBezTo>
                    <a:cubicBezTo>
                      <a:pt x="250931" y="165128"/>
                      <a:pt x="220741" y="156928"/>
                      <a:pt x="207590" y="115396"/>
                    </a:cubicBezTo>
                    <a:lnTo>
                      <a:pt x="246059" y="56945"/>
                    </a:lnTo>
                    <a:cubicBezTo>
                      <a:pt x="261646" y="33363"/>
                      <a:pt x="285028" y="32845"/>
                      <a:pt x="285028" y="32845"/>
                    </a:cubicBezTo>
                    <a:cubicBezTo>
                      <a:pt x="300120" y="32845"/>
                      <a:pt x="315701" y="39001"/>
                      <a:pt x="318137" y="56945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29">
                <a:extLst>
                  <a:ext uri="{FF2B5EF4-FFF2-40B4-BE49-F238E27FC236}">
                    <a16:creationId xmlns:a16="http://schemas.microsoft.com/office/drawing/2014/main" id="{0F548FAA-BA7C-FF0F-0734-A8554B72C622}"/>
                  </a:ext>
                </a:extLst>
              </p:cNvPr>
              <p:cNvSpPr/>
              <p:nvPr/>
            </p:nvSpPr>
            <p:spPr>
              <a:xfrm flipV="1">
                <a:off x="2427647" y="1513327"/>
                <a:ext cx="343018" cy="360956"/>
              </a:xfrm>
              <a:custGeom>
                <a:avLst/>
                <a:gdLst>
                  <a:gd name="connsiteX0" fmla="*/ 343489 w 343018"/>
                  <a:gd name="connsiteY0" fmla="*/ 361331 h 360956"/>
                  <a:gd name="connsiteX1" fmla="*/ 343489 w 343018"/>
                  <a:gd name="connsiteY1" fmla="*/ 354662 h 360956"/>
                  <a:gd name="connsiteX2" fmla="*/ 237862 w 343018"/>
                  <a:gd name="connsiteY2" fmla="*/ 241867 h 360956"/>
                  <a:gd name="connsiteX3" fmla="*/ 198899 w 343018"/>
                  <a:gd name="connsiteY3" fmla="*/ 161371 h 360956"/>
                  <a:gd name="connsiteX4" fmla="*/ 198899 w 343018"/>
                  <a:gd name="connsiteY4" fmla="*/ 57801 h 360956"/>
                  <a:gd name="connsiteX5" fmla="*/ 237349 w 343018"/>
                  <a:gd name="connsiteY5" fmla="*/ 7044 h 360956"/>
                  <a:gd name="connsiteX6" fmla="*/ 237349 w 343018"/>
                  <a:gd name="connsiteY6" fmla="*/ 375 h 360956"/>
                  <a:gd name="connsiteX7" fmla="*/ 112241 w 343018"/>
                  <a:gd name="connsiteY7" fmla="*/ 375 h 360956"/>
                  <a:gd name="connsiteX8" fmla="*/ 112241 w 343018"/>
                  <a:gd name="connsiteY8" fmla="*/ 7044 h 360956"/>
                  <a:gd name="connsiteX9" fmla="*/ 150698 w 343018"/>
                  <a:gd name="connsiteY9" fmla="*/ 57801 h 360956"/>
                  <a:gd name="connsiteX10" fmla="*/ 150698 w 343018"/>
                  <a:gd name="connsiteY10" fmla="*/ 148034 h 360956"/>
                  <a:gd name="connsiteX11" fmla="*/ 54309 w 343018"/>
                  <a:gd name="connsiteY11" fmla="*/ 315186 h 360956"/>
                  <a:gd name="connsiteX12" fmla="*/ 471 w 343018"/>
                  <a:gd name="connsiteY12" fmla="*/ 355175 h 360956"/>
                  <a:gd name="connsiteX13" fmla="*/ 471 w 343018"/>
                  <a:gd name="connsiteY13" fmla="*/ 361331 h 360956"/>
                  <a:gd name="connsiteX14" fmla="*/ 132247 w 343018"/>
                  <a:gd name="connsiteY14" fmla="*/ 361331 h 360956"/>
                  <a:gd name="connsiteX15" fmla="*/ 132247 w 343018"/>
                  <a:gd name="connsiteY15" fmla="*/ 355175 h 360956"/>
                  <a:gd name="connsiteX16" fmla="*/ 120448 w 343018"/>
                  <a:gd name="connsiteY16" fmla="*/ 297242 h 360956"/>
                  <a:gd name="connsiteX17" fmla="*/ 195824 w 343018"/>
                  <a:gd name="connsiteY17" fmla="*/ 169572 h 360956"/>
                  <a:gd name="connsiteX18" fmla="*/ 234787 w 343018"/>
                  <a:gd name="connsiteY18" fmla="*/ 249554 h 360956"/>
                  <a:gd name="connsiteX19" fmla="*/ 211718 w 343018"/>
                  <a:gd name="connsiteY19" fmla="*/ 354662 h 360956"/>
                  <a:gd name="connsiteX20" fmla="*/ 211718 w 343018"/>
                  <a:gd name="connsiteY20" fmla="*/ 361331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3018" h="360956">
                    <a:moveTo>
                      <a:pt x="343489" y="361331"/>
                    </a:moveTo>
                    <a:lnTo>
                      <a:pt x="343489" y="354662"/>
                    </a:lnTo>
                    <a:cubicBezTo>
                      <a:pt x="321444" y="354662"/>
                      <a:pt x="294775" y="354662"/>
                      <a:pt x="237862" y="241867"/>
                    </a:cubicBezTo>
                    <a:lnTo>
                      <a:pt x="198899" y="161371"/>
                    </a:lnTo>
                    <a:lnTo>
                      <a:pt x="198899" y="57801"/>
                    </a:lnTo>
                    <a:cubicBezTo>
                      <a:pt x="198899" y="16269"/>
                      <a:pt x="215818" y="7044"/>
                      <a:pt x="237349" y="7044"/>
                    </a:cubicBezTo>
                    <a:lnTo>
                      <a:pt x="237349" y="375"/>
                    </a:lnTo>
                    <a:lnTo>
                      <a:pt x="112241" y="375"/>
                    </a:lnTo>
                    <a:lnTo>
                      <a:pt x="112241" y="7044"/>
                    </a:lnTo>
                    <a:cubicBezTo>
                      <a:pt x="133785" y="7044"/>
                      <a:pt x="150698" y="16269"/>
                      <a:pt x="150698" y="57801"/>
                    </a:cubicBezTo>
                    <a:lnTo>
                      <a:pt x="150698" y="148034"/>
                    </a:lnTo>
                    <a:cubicBezTo>
                      <a:pt x="75334" y="281342"/>
                      <a:pt x="54309" y="315186"/>
                      <a:pt x="54309" y="315186"/>
                    </a:cubicBezTo>
                    <a:cubicBezTo>
                      <a:pt x="31246" y="354156"/>
                      <a:pt x="17402" y="354156"/>
                      <a:pt x="471" y="355175"/>
                    </a:cubicBezTo>
                    <a:lnTo>
                      <a:pt x="471" y="361331"/>
                    </a:lnTo>
                    <a:lnTo>
                      <a:pt x="132247" y="361331"/>
                    </a:lnTo>
                    <a:lnTo>
                      <a:pt x="132247" y="355175"/>
                    </a:lnTo>
                    <a:cubicBezTo>
                      <a:pt x="117885" y="355175"/>
                      <a:pt x="85596" y="356200"/>
                      <a:pt x="120448" y="297242"/>
                    </a:cubicBezTo>
                    <a:lnTo>
                      <a:pt x="195824" y="169572"/>
                    </a:lnTo>
                    <a:lnTo>
                      <a:pt x="234787" y="249554"/>
                    </a:lnTo>
                    <a:cubicBezTo>
                      <a:pt x="252224" y="284936"/>
                      <a:pt x="280931" y="354662"/>
                      <a:pt x="211718" y="354662"/>
                    </a:cubicBezTo>
                    <a:lnTo>
                      <a:pt x="211718" y="361331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30">
                <a:extLst>
                  <a:ext uri="{FF2B5EF4-FFF2-40B4-BE49-F238E27FC236}">
                    <a16:creationId xmlns:a16="http://schemas.microsoft.com/office/drawing/2014/main" id="{CEEC2186-14FC-A0CB-CA44-B56D94DDEB29}"/>
                  </a:ext>
                </a:extLst>
              </p:cNvPr>
              <p:cNvSpPr/>
              <p:nvPr/>
            </p:nvSpPr>
            <p:spPr>
              <a:xfrm flipV="1">
                <a:off x="1748076" y="1998302"/>
                <a:ext cx="263535" cy="360956"/>
              </a:xfrm>
              <a:custGeom>
                <a:avLst/>
                <a:gdLst>
                  <a:gd name="connsiteX0" fmla="*/ 94103 w 263535"/>
                  <a:gd name="connsiteY0" fmla="*/ 161445 h 360956"/>
                  <a:gd name="connsiteX1" fmla="*/ 207930 w 263535"/>
                  <a:gd name="connsiteY1" fmla="*/ 257835 h 360956"/>
                  <a:gd name="connsiteX2" fmla="*/ 94103 w 263535"/>
                  <a:gd name="connsiteY2" fmla="*/ 354742 h 360956"/>
                  <a:gd name="connsiteX3" fmla="*/ 84878 w 263535"/>
                  <a:gd name="connsiteY3" fmla="*/ 354742 h 360956"/>
                  <a:gd name="connsiteX4" fmla="*/ 84878 w 263535"/>
                  <a:gd name="connsiteY4" fmla="*/ 161445 h 360956"/>
                  <a:gd name="connsiteX5" fmla="*/ 84878 w 263535"/>
                  <a:gd name="connsiteY5" fmla="*/ 70688 h 360956"/>
                  <a:gd name="connsiteX6" fmla="*/ 135629 w 263535"/>
                  <a:gd name="connsiteY6" fmla="*/ 7118 h 360956"/>
                  <a:gd name="connsiteX7" fmla="*/ 135629 w 263535"/>
                  <a:gd name="connsiteY7" fmla="*/ 449 h 360956"/>
                  <a:gd name="connsiteX8" fmla="*/ 277 w 263535"/>
                  <a:gd name="connsiteY8" fmla="*/ 449 h 360956"/>
                  <a:gd name="connsiteX9" fmla="*/ 277 w 263535"/>
                  <a:gd name="connsiteY9" fmla="*/ 7118 h 360956"/>
                  <a:gd name="connsiteX10" fmla="*/ 34115 w 263535"/>
                  <a:gd name="connsiteY10" fmla="*/ 69150 h 360956"/>
                  <a:gd name="connsiteX11" fmla="*/ 34115 w 263535"/>
                  <a:gd name="connsiteY11" fmla="*/ 306542 h 360956"/>
                  <a:gd name="connsiteX12" fmla="*/ 1302 w 263535"/>
                  <a:gd name="connsiteY12" fmla="*/ 354742 h 360956"/>
                  <a:gd name="connsiteX13" fmla="*/ 1302 w 263535"/>
                  <a:gd name="connsiteY13" fmla="*/ 361405 h 360956"/>
                  <a:gd name="connsiteX14" fmla="*/ 94103 w 263535"/>
                  <a:gd name="connsiteY14" fmla="*/ 361405 h 360956"/>
                  <a:gd name="connsiteX15" fmla="*/ 263813 w 263535"/>
                  <a:gd name="connsiteY15" fmla="*/ 257835 h 360956"/>
                  <a:gd name="connsiteX16" fmla="*/ 94103 w 263535"/>
                  <a:gd name="connsiteY16" fmla="*/ 154783 h 360956"/>
                  <a:gd name="connsiteX17" fmla="*/ 84878 w 263535"/>
                  <a:gd name="connsiteY17" fmla="*/ 154783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3535" h="360956">
                    <a:moveTo>
                      <a:pt x="94103" y="161445"/>
                    </a:moveTo>
                    <a:cubicBezTo>
                      <a:pt x="156660" y="161445"/>
                      <a:pt x="207930" y="162983"/>
                      <a:pt x="207930" y="257835"/>
                    </a:cubicBezTo>
                    <a:cubicBezTo>
                      <a:pt x="207930" y="355261"/>
                      <a:pt x="154092" y="354742"/>
                      <a:pt x="94103" y="354742"/>
                    </a:cubicBezTo>
                    <a:lnTo>
                      <a:pt x="84878" y="354742"/>
                    </a:lnTo>
                    <a:lnTo>
                      <a:pt x="84878" y="161445"/>
                    </a:lnTo>
                    <a:close/>
                    <a:moveTo>
                      <a:pt x="84878" y="70688"/>
                    </a:moveTo>
                    <a:cubicBezTo>
                      <a:pt x="84878" y="9162"/>
                      <a:pt x="103329" y="7118"/>
                      <a:pt x="135629" y="7118"/>
                    </a:cubicBezTo>
                    <a:lnTo>
                      <a:pt x="135629" y="449"/>
                    </a:lnTo>
                    <a:lnTo>
                      <a:pt x="277" y="449"/>
                    </a:lnTo>
                    <a:lnTo>
                      <a:pt x="277" y="7118"/>
                    </a:lnTo>
                    <a:cubicBezTo>
                      <a:pt x="25396" y="7118"/>
                      <a:pt x="34115" y="20449"/>
                      <a:pt x="34115" y="69150"/>
                    </a:cubicBezTo>
                    <a:lnTo>
                      <a:pt x="34115" y="306542"/>
                    </a:lnTo>
                    <a:cubicBezTo>
                      <a:pt x="34115" y="341923"/>
                      <a:pt x="26934" y="354742"/>
                      <a:pt x="1302" y="354742"/>
                    </a:cubicBezTo>
                    <a:lnTo>
                      <a:pt x="1302" y="361405"/>
                    </a:lnTo>
                    <a:lnTo>
                      <a:pt x="94103" y="361405"/>
                    </a:lnTo>
                    <a:cubicBezTo>
                      <a:pt x="196130" y="361405"/>
                      <a:pt x="263813" y="349099"/>
                      <a:pt x="263813" y="257835"/>
                    </a:cubicBezTo>
                    <a:cubicBezTo>
                      <a:pt x="263813" y="167089"/>
                      <a:pt x="196130" y="154783"/>
                      <a:pt x="94103" y="154783"/>
                    </a:cubicBezTo>
                    <a:lnTo>
                      <a:pt x="84878" y="154783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31">
                <a:extLst>
                  <a:ext uri="{FF2B5EF4-FFF2-40B4-BE49-F238E27FC236}">
                    <a16:creationId xmlns:a16="http://schemas.microsoft.com/office/drawing/2014/main" id="{A88A867B-5428-F702-3FCC-0AD051C9ADE3}"/>
                  </a:ext>
                </a:extLst>
              </p:cNvPr>
              <p:cNvSpPr/>
              <p:nvPr/>
            </p:nvSpPr>
            <p:spPr>
              <a:xfrm flipV="1">
                <a:off x="2031586" y="1998298"/>
                <a:ext cx="336343" cy="360962"/>
              </a:xfrm>
              <a:custGeom>
                <a:avLst/>
                <a:gdLst>
                  <a:gd name="connsiteX0" fmla="*/ 210577 w 336343"/>
                  <a:gd name="connsiteY0" fmla="*/ 116324 h 360962"/>
                  <a:gd name="connsiteX1" fmla="*/ 143401 w 336343"/>
                  <a:gd name="connsiteY1" fmla="*/ 286540 h 360962"/>
                  <a:gd name="connsiteX2" fmla="*/ 81368 w 336343"/>
                  <a:gd name="connsiteY2" fmla="*/ 116324 h 360962"/>
                  <a:gd name="connsiteX3" fmla="*/ 336704 w 336343"/>
                  <a:gd name="connsiteY3" fmla="*/ 442 h 360962"/>
                  <a:gd name="connsiteX4" fmla="*/ 219796 w 336343"/>
                  <a:gd name="connsiteY4" fmla="*/ 442 h 360962"/>
                  <a:gd name="connsiteX5" fmla="*/ 219796 w 336343"/>
                  <a:gd name="connsiteY5" fmla="*/ 7116 h 360962"/>
                  <a:gd name="connsiteX6" fmla="*/ 230565 w 336343"/>
                  <a:gd name="connsiteY6" fmla="*/ 65049 h 360962"/>
                  <a:gd name="connsiteX7" fmla="*/ 212627 w 336343"/>
                  <a:gd name="connsiteY7" fmla="*/ 109656 h 360962"/>
                  <a:gd name="connsiteX8" fmla="*/ 79825 w 336343"/>
                  <a:gd name="connsiteY8" fmla="*/ 109656 h 360962"/>
                  <a:gd name="connsiteX9" fmla="*/ 114700 w 336343"/>
                  <a:gd name="connsiteY9" fmla="*/ 7116 h 360962"/>
                  <a:gd name="connsiteX10" fmla="*/ 114700 w 336343"/>
                  <a:gd name="connsiteY10" fmla="*/ 442 h 360962"/>
                  <a:gd name="connsiteX11" fmla="*/ 361 w 336343"/>
                  <a:gd name="connsiteY11" fmla="*/ 442 h 360962"/>
                  <a:gd name="connsiteX12" fmla="*/ 361 w 336343"/>
                  <a:gd name="connsiteY12" fmla="*/ 7116 h 360962"/>
                  <a:gd name="connsiteX13" fmla="*/ 77268 w 336343"/>
                  <a:gd name="connsiteY13" fmla="*/ 128112 h 360962"/>
                  <a:gd name="connsiteX14" fmla="*/ 162889 w 336343"/>
                  <a:gd name="connsiteY14" fmla="*/ 361404 h 360962"/>
                  <a:gd name="connsiteX15" fmla="*/ 168520 w 336343"/>
                  <a:gd name="connsiteY15" fmla="*/ 361404 h 360962"/>
                  <a:gd name="connsiteX16" fmla="*/ 294660 w 336343"/>
                  <a:gd name="connsiteY16" fmla="*/ 48636 h 360962"/>
                  <a:gd name="connsiteX17" fmla="*/ 336704 w 336343"/>
                  <a:gd name="connsiteY17" fmla="*/ 7116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6343" h="360962">
                    <a:moveTo>
                      <a:pt x="210577" y="116324"/>
                    </a:moveTo>
                    <a:lnTo>
                      <a:pt x="143401" y="286540"/>
                    </a:lnTo>
                    <a:lnTo>
                      <a:pt x="81368" y="116324"/>
                    </a:lnTo>
                    <a:close/>
                    <a:moveTo>
                      <a:pt x="336704" y="442"/>
                    </a:moveTo>
                    <a:lnTo>
                      <a:pt x="219796" y="442"/>
                    </a:lnTo>
                    <a:lnTo>
                      <a:pt x="219796" y="7116"/>
                    </a:lnTo>
                    <a:cubicBezTo>
                      <a:pt x="247484" y="7116"/>
                      <a:pt x="242359" y="36330"/>
                      <a:pt x="230565" y="65049"/>
                    </a:cubicBezTo>
                    <a:lnTo>
                      <a:pt x="212627" y="109656"/>
                    </a:lnTo>
                    <a:lnTo>
                      <a:pt x="79825" y="109656"/>
                    </a:lnTo>
                    <a:cubicBezTo>
                      <a:pt x="65987" y="68636"/>
                      <a:pt x="43430" y="5060"/>
                      <a:pt x="114700" y="7116"/>
                    </a:cubicBezTo>
                    <a:lnTo>
                      <a:pt x="114700" y="442"/>
                    </a:lnTo>
                    <a:lnTo>
                      <a:pt x="361" y="442"/>
                    </a:lnTo>
                    <a:lnTo>
                      <a:pt x="361" y="7116"/>
                    </a:lnTo>
                    <a:cubicBezTo>
                      <a:pt x="19842" y="7623"/>
                      <a:pt x="32661" y="9679"/>
                      <a:pt x="77268" y="128112"/>
                    </a:cubicBezTo>
                    <a:lnTo>
                      <a:pt x="162889" y="361404"/>
                    </a:lnTo>
                    <a:lnTo>
                      <a:pt x="168520" y="361404"/>
                    </a:lnTo>
                    <a:cubicBezTo>
                      <a:pt x="231077" y="210664"/>
                      <a:pt x="294660" y="48636"/>
                      <a:pt x="294660" y="48636"/>
                    </a:cubicBezTo>
                    <a:cubicBezTo>
                      <a:pt x="311585" y="7623"/>
                      <a:pt x="322347" y="8141"/>
                      <a:pt x="336704" y="711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32">
                <a:extLst>
                  <a:ext uri="{FF2B5EF4-FFF2-40B4-BE49-F238E27FC236}">
                    <a16:creationId xmlns:a16="http://schemas.microsoft.com/office/drawing/2014/main" id="{876D7525-CA65-A82E-3B62-F514C47B4ABB}"/>
                  </a:ext>
                </a:extLst>
              </p:cNvPr>
              <p:cNvSpPr/>
              <p:nvPr/>
            </p:nvSpPr>
            <p:spPr>
              <a:xfrm flipV="1">
                <a:off x="2424299" y="1998303"/>
                <a:ext cx="311736" cy="360956"/>
              </a:xfrm>
              <a:custGeom>
                <a:avLst/>
                <a:gdLst>
                  <a:gd name="connsiteX0" fmla="*/ 98361 w 311736"/>
                  <a:gd name="connsiteY0" fmla="*/ 354774 h 360956"/>
                  <a:gd name="connsiteX1" fmla="*/ 82461 w 311736"/>
                  <a:gd name="connsiteY1" fmla="*/ 354774 h 360956"/>
                  <a:gd name="connsiteX2" fmla="*/ 82461 w 311736"/>
                  <a:gd name="connsiteY2" fmla="*/ 172759 h 360956"/>
                  <a:gd name="connsiteX3" fmla="*/ 98361 w 311736"/>
                  <a:gd name="connsiteY3" fmla="*/ 172759 h 360956"/>
                  <a:gd name="connsiteX4" fmla="*/ 200388 w 311736"/>
                  <a:gd name="connsiteY4" fmla="*/ 263504 h 360956"/>
                  <a:gd name="connsiteX5" fmla="*/ 98361 w 311736"/>
                  <a:gd name="connsiteY5" fmla="*/ 354774 h 360956"/>
                  <a:gd name="connsiteX6" fmla="*/ 312165 w 311736"/>
                  <a:gd name="connsiteY6" fmla="*/ 481 h 360956"/>
                  <a:gd name="connsiteX7" fmla="*/ 273189 w 311736"/>
                  <a:gd name="connsiteY7" fmla="*/ 481 h 360956"/>
                  <a:gd name="connsiteX8" fmla="*/ 186037 w 311736"/>
                  <a:gd name="connsiteY8" fmla="*/ 112258 h 360956"/>
                  <a:gd name="connsiteX9" fmla="*/ 106561 w 311736"/>
                  <a:gd name="connsiteY9" fmla="*/ 166090 h 360956"/>
                  <a:gd name="connsiteX10" fmla="*/ 82461 w 311736"/>
                  <a:gd name="connsiteY10" fmla="*/ 166090 h 360956"/>
                  <a:gd name="connsiteX11" fmla="*/ 82461 w 311736"/>
                  <a:gd name="connsiteY11" fmla="*/ 53807 h 360956"/>
                  <a:gd name="connsiteX12" fmla="*/ 115280 w 311736"/>
                  <a:gd name="connsiteY12" fmla="*/ 7156 h 360956"/>
                  <a:gd name="connsiteX13" fmla="*/ 115280 w 311736"/>
                  <a:gd name="connsiteY13" fmla="*/ 481 h 360956"/>
                  <a:gd name="connsiteX14" fmla="*/ 428 w 311736"/>
                  <a:gd name="connsiteY14" fmla="*/ 481 h 360956"/>
                  <a:gd name="connsiteX15" fmla="*/ 428 w 311736"/>
                  <a:gd name="connsiteY15" fmla="*/ 7156 h 360956"/>
                  <a:gd name="connsiteX16" fmla="*/ 32210 w 311736"/>
                  <a:gd name="connsiteY16" fmla="*/ 60470 h 360956"/>
                  <a:gd name="connsiteX17" fmla="*/ 32210 w 311736"/>
                  <a:gd name="connsiteY17" fmla="*/ 315811 h 360956"/>
                  <a:gd name="connsiteX18" fmla="*/ 428 w 311736"/>
                  <a:gd name="connsiteY18" fmla="*/ 354774 h 360956"/>
                  <a:gd name="connsiteX19" fmla="*/ 428 w 311736"/>
                  <a:gd name="connsiteY19" fmla="*/ 361437 h 360956"/>
                  <a:gd name="connsiteX20" fmla="*/ 98361 w 311736"/>
                  <a:gd name="connsiteY20" fmla="*/ 361437 h 360956"/>
                  <a:gd name="connsiteX21" fmla="*/ 256777 w 311736"/>
                  <a:gd name="connsiteY21" fmla="*/ 263504 h 360956"/>
                  <a:gd name="connsiteX22" fmla="*/ 161425 w 311736"/>
                  <a:gd name="connsiteY22" fmla="*/ 169684 h 360956"/>
                  <a:gd name="connsiteX23" fmla="*/ 257301 w 311736"/>
                  <a:gd name="connsiteY23" fmla="*/ 52269 h 360956"/>
                  <a:gd name="connsiteX24" fmla="*/ 312165 w 311736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6" h="360956">
                    <a:moveTo>
                      <a:pt x="98361" y="354774"/>
                    </a:moveTo>
                    <a:lnTo>
                      <a:pt x="82461" y="354774"/>
                    </a:lnTo>
                    <a:lnTo>
                      <a:pt x="82461" y="172759"/>
                    </a:lnTo>
                    <a:lnTo>
                      <a:pt x="98361" y="172759"/>
                    </a:lnTo>
                    <a:cubicBezTo>
                      <a:pt x="156293" y="172759"/>
                      <a:pt x="200388" y="172252"/>
                      <a:pt x="200388" y="263504"/>
                    </a:cubicBezTo>
                    <a:cubicBezTo>
                      <a:pt x="200388" y="356831"/>
                      <a:pt x="153224" y="354774"/>
                      <a:pt x="98361" y="354774"/>
                    </a:cubicBezTo>
                    <a:moveTo>
                      <a:pt x="312165" y="481"/>
                    </a:moveTo>
                    <a:lnTo>
                      <a:pt x="273189" y="481"/>
                    </a:lnTo>
                    <a:cubicBezTo>
                      <a:pt x="207557" y="481"/>
                      <a:pt x="215257" y="994"/>
                      <a:pt x="186037" y="112258"/>
                    </a:cubicBezTo>
                    <a:cubicBezTo>
                      <a:pt x="171669" y="166090"/>
                      <a:pt x="119887" y="166090"/>
                      <a:pt x="106561" y="166090"/>
                    </a:cubicBezTo>
                    <a:lnTo>
                      <a:pt x="82461" y="166090"/>
                    </a:lnTo>
                    <a:lnTo>
                      <a:pt x="82461" y="53807"/>
                    </a:lnTo>
                    <a:cubicBezTo>
                      <a:pt x="82461" y="18431"/>
                      <a:pt x="93742" y="7156"/>
                      <a:pt x="115280" y="7156"/>
                    </a:cubicBezTo>
                    <a:lnTo>
                      <a:pt x="115280" y="481"/>
                    </a:lnTo>
                    <a:lnTo>
                      <a:pt x="428" y="481"/>
                    </a:lnTo>
                    <a:lnTo>
                      <a:pt x="428" y="7156"/>
                    </a:lnTo>
                    <a:cubicBezTo>
                      <a:pt x="22479" y="7156"/>
                      <a:pt x="32210" y="17406"/>
                      <a:pt x="32210" y="60470"/>
                    </a:cubicBezTo>
                    <a:lnTo>
                      <a:pt x="32210" y="315811"/>
                    </a:lnTo>
                    <a:cubicBezTo>
                      <a:pt x="32210" y="347599"/>
                      <a:pt x="22985" y="354774"/>
                      <a:pt x="428" y="354774"/>
                    </a:cubicBezTo>
                    <a:lnTo>
                      <a:pt x="428" y="361437"/>
                    </a:lnTo>
                    <a:lnTo>
                      <a:pt x="98361" y="361437"/>
                    </a:lnTo>
                    <a:cubicBezTo>
                      <a:pt x="200388" y="361437"/>
                      <a:pt x="256777" y="349131"/>
                      <a:pt x="256777" y="263504"/>
                    </a:cubicBezTo>
                    <a:cubicBezTo>
                      <a:pt x="256777" y="193778"/>
                      <a:pt x="216801" y="173265"/>
                      <a:pt x="161425" y="169684"/>
                    </a:cubicBezTo>
                    <a:cubicBezTo>
                      <a:pt x="195257" y="168146"/>
                      <a:pt x="230638" y="164553"/>
                      <a:pt x="257301" y="52269"/>
                    </a:cubicBezTo>
                    <a:cubicBezTo>
                      <a:pt x="266533" y="13300"/>
                      <a:pt x="298833" y="8181"/>
                      <a:pt x="312165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33">
                <a:extLst>
                  <a:ext uri="{FF2B5EF4-FFF2-40B4-BE49-F238E27FC236}">
                    <a16:creationId xmlns:a16="http://schemas.microsoft.com/office/drawing/2014/main" id="{27C87CDE-6D69-4029-A9EC-8B899E81C982}"/>
                  </a:ext>
                </a:extLst>
              </p:cNvPr>
              <p:cNvSpPr/>
              <p:nvPr/>
            </p:nvSpPr>
            <p:spPr>
              <a:xfrm flipV="1">
                <a:off x="2770871" y="1998301"/>
                <a:ext cx="313786" cy="360956"/>
              </a:xfrm>
              <a:custGeom>
                <a:avLst/>
                <a:gdLst>
                  <a:gd name="connsiteX0" fmla="*/ 314327 w 313786"/>
                  <a:gd name="connsiteY0" fmla="*/ 361438 h 360956"/>
                  <a:gd name="connsiteX1" fmla="*/ 314327 w 313786"/>
                  <a:gd name="connsiteY1" fmla="*/ 271199 h 360956"/>
                  <a:gd name="connsiteX2" fmla="*/ 307671 w 313786"/>
                  <a:gd name="connsiteY2" fmla="*/ 271199 h 360956"/>
                  <a:gd name="connsiteX3" fmla="*/ 212813 w 313786"/>
                  <a:gd name="connsiteY3" fmla="*/ 354776 h 360956"/>
                  <a:gd name="connsiteX4" fmla="*/ 182556 w 313786"/>
                  <a:gd name="connsiteY4" fmla="*/ 354776 h 360956"/>
                  <a:gd name="connsiteX5" fmla="*/ 182556 w 313786"/>
                  <a:gd name="connsiteY5" fmla="*/ 50214 h 360956"/>
                  <a:gd name="connsiteX6" fmla="*/ 219988 w 313786"/>
                  <a:gd name="connsiteY6" fmla="*/ 7151 h 360956"/>
                  <a:gd name="connsiteX7" fmla="*/ 219988 w 313786"/>
                  <a:gd name="connsiteY7" fmla="*/ 482 h 360956"/>
                  <a:gd name="connsiteX8" fmla="*/ 94886 w 313786"/>
                  <a:gd name="connsiteY8" fmla="*/ 482 h 360956"/>
                  <a:gd name="connsiteX9" fmla="*/ 94886 w 313786"/>
                  <a:gd name="connsiteY9" fmla="*/ 7151 h 360956"/>
                  <a:gd name="connsiteX10" fmla="*/ 131799 w 313786"/>
                  <a:gd name="connsiteY10" fmla="*/ 50214 h 360956"/>
                  <a:gd name="connsiteX11" fmla="*/ 131799 w 313786"/>
                  <a:gd name="connsiteY11" fmla="*/ 354776 h 360956"/>
                  <a:gd name="connsiteX12" fmla="*/ 101549 w 313786"/>
                  <a:gd name="connsiteY12" fmla="*/ 354776 h 360956"/>
                  <a:gd name="connsiteX13" fmla="*/ 7209 w 313786"/>
                  <a:gd name="connsiteY13" fmla="*/ 271199 h 360956"/>
                  <a:gd name="connsiteX14" fmla="*/ 541 w 313786"/>
                  <a:gd name="connsiteY14" fmla="*/ 271199 h 360956"/>
                  <a:gd name="connsiteX15" fmla="*/ 541 w 313786"/>
                  <a:gd name="connsiteY15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3786" h="360956">
                    <a:moveTo>
                      <a:pt x="314327" y="361438"/>
                    </a:moveTo>
                    <a:lnTo>
                      <a:pt x="314327" y="271199"/>
                    </a:lnTo>
                    <a:lnTo>
                      <a:pt x="307671" y="271199"/>
                    </a:lnTo>
                    <a:cubicBezTo>
                      <a:pt x="305614" y="353751"/>
                      <a:pt x="219988" y="354776"/>
                      <a:pt x="212813" y="354776"/>
                    </a:cubicBezTo>
                    <a:lnTo>
                      <a:pt x="182556" y="354776"/>
                    </a:lnTo>
                    <a:lnTo>
                      <a:pt x="182556" y="50214"/>
                    </a:lnTo>
                    <a:cubicBezTo>
                      <a:pt x="182556" y="16376"/>
                      <a:pt x="198456" y="7151"/>
                      <a:pt x="219988" y="7151"/>
                    </a:cubicBezTo>
                    <a:lnTo>
                      <a:pt x="219988" y="482"/>
                    </a:lnTo>
                    <a:lnTo>
                      <a:pt x="94886" y="482"/>
                    </a:lnTo>
                    <a:lnTo>
                      <a:pt x="94886" y="7151"/>
                    </a:lnTo>
                    <a:cubicBezTo>
                      <a:pt x="116424" y="7151"/>
                      <a:pt x="131799" y="16376"/>
                      <a:pt x="131799" y="50214"/>
                    </a:cubicBezTo>
                    <a:lnTo>
                      <a:pt x="131799" y="354776"/>
                    </a:lnTo>
                    <a:lnTo>
                      <a:pt x="101549" y="354776"/>
                    </a:lnTo>
                    <a:cubicBezTo>
                      <a:pt x="85649" y="354776"/>
                      <a:pt x="9266" y="353751"/>
                      <a:pt x="7209" y="271199"/>
                    </a:cubicBezTo>
                    <a:lnTo>
                      <a:pt x="541" y="271199"/>
                    </a:lnTo>
                    <a:lnTo>
                      <a:pt x="541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34">
                <a:extLst>
                  <a:ext uri="{FF2B5EF4-FFF2-40B4-BE49-F238E27FC236}">
                    <a16:creationId xmlns:a16="http://schemas.microsoft.com/office/drawing/2014/main" id="{9F720224-9084-33D0-3650-85D6E3A8AE79}"/>
                  </a:ext>
                </a:extLst>
              </p:cNvPr>
              <p:cNvSpPr/>
              <p:nvPr/>
            </p:nvSpPr>
            <p:spPr>
              <a:xfrm flipV="1">
                <a:off x="3131802" y="1998301"/>
                <a:ext cx="395813" cy="360956"/>
              </a:xfrm>
              <a:custGeom>
                <a:avLst/>
                <a:gdLst>
                  <a:gd name="connsiteX0" fmla="*/ 396450 w 395813"/>
                  <a:gd name="connsiteY0" fmla="*/ 361438 h 360956"/>
                  <a:gd name="connsiteX1" fmla="*/ 396450 w 395813"/>
                  <a:gd name="connsiteY1" fmla="*/ 355288 h 360956"/>
                  <a:gd name="connsiteX2" fmla="*/ 323654 w 395813"/>
                  <a:gd name="connsiteY2" fmla="*/ 233773 h 360956"/>
                  <a:gd name="connsiteX3" fmla="*/ 323654 w 395813"/>
                  <a:gd name="connsiteY3" fmla="*/ 482 h 360956"/>
                  <a:gd name="connsiteX4" fmla="*/ 307248 w 395813"/>
                  <a:gd name="connsiteY4" fmla="*/ 482 h 360956"/>
                  <a:gd name="connsiteX5" fmla="*/ 89332 w 395813"/>
                  <a:gd name="connsiteY5" fmla="*/ 281456 h 360956"/>
                  <a:gd name="connsiteX6" fmla="*/ 89332 w 395813"/>
                  <a:gd name="connsiteY6" fmla="*/ 128665 h 360956"/>
                  <a:gd name="connsiteX7" fmla="*/ 156508 w 395813"/>
                  <a:gd name="connsiteY7" fmla="*/ 7151 h 360956"/>
                  <a:gd name="connsiteX8" fmla="*/ 156508 w 395813"/>
                  <a:gd name="connsiteY8" fmla="*/ 482 h 360956"/>
                  <a:gd name="connsiteX9" fmla="*/ 8324 w 395813"/>
                  <a:gd name="connsiteY9" fmla="*/ 482 h 360956"/>
                  <a:gd name="connsiteX10" fmla="*/ 8324 w 395813"/>
                  <a:gd name="connsiteY10" fmla="*/ 7151 h 360956"/>
                  <a:gd name="connsiteX11" fmla="*/ 82675 w 395813"/>
                  <a:gd name="connsiteY11" fmla="*/ 128665 h 360956"/>
                  <a:gd name="connsiteX12" fmla="*/ 82675 w 395813"/>
                  <a:gd name="connsiteY12" fmla="*/ 289143 h 360956"/>
                  <a:gd name="connsiteX13" fmla="*/ 61650 w 395813"/>
                  <a:gd name="connsiteY13" fmla="*/ 316319 h 360956"/>
                  <a:gd name="connsiteX14" fmla="*/ 636 w 395813"/>
                  <a:gd name="connsiteY14" fmla="*/ 355288 h 360956"/>
                  <a:gd name="connsiteX15" fmla="*/ 636 w 395813"/>
                  <a:gd name="connsiteY15" fmla="*/ 361438 h 360956"/>
                  <a:gd name="connsiteX16" fmla="*/ 95488 w 395813"/>
                  <a:gd name="connsiteY16" fmla="*/ 361438 h 360956"/>
                  <a:gd name="connsiteX17" fmla="*/ 316979 w 395813"/>
                  <a:gd name="connsiteY17" fmla="*/ 75346 h 360956"/>
                  <a:gd name="connsiteX18" fmla="*/ 316979 w 395813"/>
                  <a:gd name="connsiteY18" fmla="*/ 233773 h 360956"/>
                  <a:gd name="connsiteX19" fmla="*/ 249822 w 395813"/>
                  <a:gd name="connsiteY19" fmla="*/ 355288 h 360956"/>
                  <a:gd name="connsiteX20" fmla="*/ 249822 w 395813"/>
                  <a:gd name="connsiteY20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5813" h="360956">
                    <a:moveTo>
                      <a:pt x="396450" y="361438"/>
                    </a:moveTo>
                    <a:lnTo>
                      <a:pt x="396450" y="355288"/>
                    </a:lnTo>
                    <a:cubicBezTo>
                      <a:pt x="322111" y="355288"/>
                      <a:pt x="323654" y="281456"/>
                      <a:pt x="323654" y="233773"/>
                    </a:cubicBezTo>
                    <a:lnTo>
                      <a:pt x="323654" y="482"/>
                    </a:lnTo>
                    <a:lnTo>
                      <a:pt x="307248" y="482"/>
                    </a:lnTo>
                    <a:lnTo>
                      <a:pt x="89332" y="281456"/>
                    </a:lnTo>
                    <a:lnTo>
                      <a:pt x="89332" y="128665"/>
                    </a:lnTo>
                    <a:cubicBezTo>
                      <a:pt x="89332" y="83546"/>
                      <a:pt x="89332" y="7151"/>
                      <a:pt x="156508" y="7151"/>
                    </a:cubicBezTo>
                    <a:lnTo>
                      <a:pt x="156508" y="482"/>
                    </a:lnTo>
                    <a:lnTo>
                      <a:pt x="8324" y="482"/>
                    </a:lnTo>
                    <a:lnTo>
                      <a:pt x="8324" y="7151"/>
                    </a:lnTo>
                    <a:cubicBezTo>
                      <a:pt x="82675" y="7151"/>
                      <a:pt x="82675" y="82515"/>
                      <a:pt x="82675" y="128665"/>
                    </a:cubicBezTo>
                    <a:lnTo>
                      <a:pt x="82675" y="289143"/>
                    </a:lnTo>
                    <a:lnTo>
                      <a:pt x="61650" y="316319"/>
                    </a:lnTo>
                    <a:cubicBezTo>
                      <a:pt x="28837" y="357332"/>
                      <a:pt x="13968" y="354263"/>
                      <a:pt x="636" y="355288"/>
                    </a:cubicBezTo>
                    <a:lnTo>
                      <a:pt x="636" y="361438"/>
                    </a:lnTo>
                    <a:lnTo>
                      <a:pt x="95488" y="361438"/>
                    </a:lnTo>
                    <a:lnTo>
                      <a:pt x="316979" y="75346"/>
                    </a:lnTo>
                    <a:lnTo>
                      <a:pt x="316979" y="233773"/>
                    </a:lnTo>
                    <a:cubicBezTo>
                      <a:pt x="316979" y="281456"/>
                      <a:pt x="317498" y="355288"/>
                      <a:pt x="249822" y="355288"/>
                    </a:cubicBezTo>
                    <a:lnTo>
                      <a:pt x="249822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35">
                <a:extLst>
                  <a:ext uri="{FF2B5EF4-FFF2-40B4-BE49-F238E27FC236}">
                    <a16:creationId xmlns:a16="http://schemas.microsoft.com/office/drawing/2014/main" id="{774F4DB5-DB5E-16A1-AA39-E5D84595B752}"/>
                  </a:ext>
                </a:extLst>
              </p:cNvPr>
              <p:cNvSpPr/>
              <p:nvPr/>
            </p:nvSpPr>
            <p:spPr>
              <a:xfrm flipV="1">
                <a:off x="3587578" y="1998299"/>
                <a:ext cx="257892" cy="360956"/>
              </a:xfrm>
              <a:custGeom>
                <a:avLst/>
                <a:gdLst>
                  <a:gd name="connsiteX0" fmla="*/ 258603 w 257892"/>
                  <a:gd name="connsiteY0" fmla="*/ 107086 h 360956"/>
                  <a:gd name="connsiteX1" fmla="*/ 258603 w 257892"/>
                  <a:gd name="connsiteY1" fmla="*/ 440 h 360956"/>
                  <a:gd name="connsiteX2" fmla="*/ 711 w 257892"/>
                  <a:gd name="connsiteY2" fmla="*/ 440 h 360956"/>
                  <a:gd name="connsiteX3" fmla="*/ 711 w 257892"/>
                  <a:gd name="connsiteY3" fmla="*/ 7109 h 360956"/>
                  <a:gd name="connsiteX4" fmla="*/ 28392 w 257892"/>
                  <a:gd name="connsiteY4" fmla="*/ 60429 h 360956"/>
                  <a:gd name="connsiteX5" fmla="*/ 28392 w 257892"/>
                  <a:gd name="connsiteY5" fmla="*/ 306533 h 360956"/>
                  <a:gd name="connsiteX6" fmla="*/ 711 w 257892"/>
                  <a:gd name="connsiteY6" fmla="*/ 354727 h 360956"/>
                  <a:gd name="connsiteX7" fmla="*/ 711 w 257892"/>
                  <a:gd name="connsiteY7" fmla="*/ 361396 h 360956"/>
                  <a:gd name="connsiteX8" fmla="*/ 251946 w 257892"/>
                  <a:gd name="connsiteY8" fmla="*/ 361396 h 360956"/>
                  <a:gd name="connsiteX9" fmla="*/ 251946 w 257892"/>
                  <a:gd name="connsiteY9" fmla="*/ 269101 h 360956"/>
                  <a:gd name="connsiteX10" fmla="*/ 245283 w 257892"/>
                  <a:gd name="connsiteY10" fmla="*/ 269101 h 360956"/>
                  <a:gd name="connsiteX11" fmla="*/ 108900 w 257892"/>
                  <a:gd name="connsiteY11" fmla="*/ 354727 h 360956"/>
                  <a:gd name="connsiteX12" fmla="*/ 81212 w 257892"/>
                  <a:gd name="connsiteY12" fmla="*/ 354727 h 360956"/>
                  <a:gd name="connsiteX13" fmla="*/ 81212 w 257892"/>
                  <a:gd name="connsiteY13" fmla="*/ 186049 h 360956"/>
                  <a:gd name="connsiteX14" fmla="*/ 114531 w 257892"/>
                  <a:gd name="connsiteY14" fmla="*/ 186049 h 360956"/>
                  <a:gd name="connsiteX15" fmla="*/ 185295 w 257892"/>
                  <a:gd name="connsiteY15" fmla="*/ 237831 h 360956"/>
                  <a:gd name="connsiteX16" fmla="*/ 191951 w 257892"/>
                  <a:gd name="connsiteY16" fmla="*/ 237831 h 360956"/>
                  <a:gd name="connsiteX17" fmla="*/ 191951 w 257892"/>
                  <a:gd name="connsiteY17" fmla="*/ 127592 h 360956"/>
                  <a:gd name="connsiteX18" fmla="*/ 185295 w 257892"/>
                  <a:gd name="connsiteY18" fmla="*/ 127592 h 360956"/>
                  <a:gd name="connsiteX19" fmla="*/ 114531 w 257892"/>
                  <a:gd name="connsiteY19" fmla="*/ 179380 h 360956"/>
                  <a:gd name="connsiteX20" fmla="*/ 81212 w 257892"/>
                  <a:gd name="connsiteY20" fmla="*/ 179380 h 360956"/>
                  <a:gd name="connsiteX21" fmla="*/ 81212 w 257892"/>
                  <a:gd name="connsiteY21" fmla="*/ 7109 h 360956"/>
                  <a:gd name="connsiteX22" fmla="*/ 104787 w 257892"/>
                  <a:gd name="connsiteY22" fmla="*/ 7109 h 360956"/>
                  <a:gd name="connsiteX23" fmla="*/ 251946 w 257892"/>
                  <a:gd name="connsiteY23" fmla="*/ 10708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7892" h="360956">
                    <a:moveTo>
                      <a:pt x="258603" y="107086"/>
                    </a:moveTo>
                    <a:lnTo>
                      <a:pt x="258603" y="440"/>
                    </a:lnTo>
                    <a:lnTo>
                      <a:pt x="711" y="440"/>
                    </a:lnTo>
                    <a:lnTo>
                      <a:pt x="711" y="7109"/>
                    </a:lnTo>
                    <a:cubicBezTo>
                      <a:pt x="22242" y="7109"/>
                      <a:pt x="28392" y="25559"/>
                      <a:pt x="28392" y="60429"/>
                    </a:cubicBezTo>
                    <a:lnTo>
                      <a:pt x="28392" y="306533"/>
                    </a:lnTo>
                    <a:cubicBezTo>
                      <a:pt x="28392" y="338327"/>
                      <a:pt x="23267" y="354727"/>
                      <a:pt x="711" y="354727"/>
                    </a:cubicBezTo>
                    <a:lnTo>
                      <a:pt x="711" y="361396"/>
                    </a:lnTo>
                    <a:lnTo>
                      <a:pt x="251946" y="361396"/>
                    </a:lnTo>
                    <a:lnTo>
                      <a:pt x="251946" y="269101"/>
                    </a:lnTo>
                    <a:lnTo>
                      <a:pt x="245283" y="269101"/>
                    </a:lnTo>
                    <a:cubicBezTo>
                      <a:pt x="239121" y="353702"/>
                      <a:pt x="150426" y="354727"/>
                      <a:pt x="108900" y="354727"/>
                    </a:cubicBezTo>
                    <a:lnTo>
                      <a:pt x="81212" y="354727"/>
                    </a:lnTo>
                    <a:lnTo>
                      <a:pt x="81212" y="186049"/>
                    </a:lnTo>
                    <a:lnTo>
                      <a:pt x="114531" y="186049"/>
                    </a:lnTo>
                    <a:cubicBezTo>
                      <a:pt x="128375" y="186049"/>
                      <a:pt x="182726" y="186049"/>
                      <a:pt x="185295" y="237831"/>
                    </a:cubicBezTo>
                    <a:lnTo>
                      <a:pt x="191951" y="237831"/>
                    </a:lnTo>
                    <a:lnTo>
                      <a:pt x="191951" y="127592"/>
                    </a:lnTo>
                    <a:lnTo>
                      <a:pt x="185295" y="127592"/>
                    </a:lnTo>
                    <a:cubicBezTo>
                      <a:pt x="182726" y="178862"/>
                      <a:pt x="127344" y="179380"/>
                      <a:pt x="114531" y="179380"/>
                    </a:cubicBezTo>
                    <a:lnTo>
                      <a:pt x="81212" y="179380"/>
                    </a:lnTo>
                    <a:lnTo>
                      <a:pt x="81212" y="7109"/>
                    </a:lnTo>
                    <a:lnTo>
                      <a:pt x="104787" y="7109"/>
                    </a:lnTo>
                    <a:cubicBezTo>
                      <a:pt x="150426" y="7109"/>
                      <a:pt x="241171" y="4540"/>
                      <a:pt x="251946" y="10708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36">
                <a:extLst>
                  <a:ext uri="{FF2B5EF4-FFF2-40B4-BE49-F238E27FC236}">
                    <a16:creationId xmlns:a16="http://schemas.microsoft.com/office/drawing/2014/main" id="{BAD0ABB5-F9E3-EFB8-D2F3-B3C9B4AB5014}"/>
                  </a:ext>
                </a:extLst>
              </p:cNvPr>
              <p:cNvSpPr/>
              <p:nvPr/>
            </p:nvSpPr>
            <p:spPr>
              <a:xfrm flipV="1">
                <a:off x="3923379" y="1998303"/>
                <a:ext cx="311730" cy="360956"/>
              </a:xfrm>
              <a:custGeom>
                <a:avLst/>
                <a:gdLst>
                  <a:gd name="connsiteX0" fmla="*/ 98693 w 311730"/>
                  <a:gd name="connsiteY0" fmla="*/ 354774 h 360956"/>
                  <a:gd name="connsiteX1" fmla="*/ 82792 w 311730"/>
                  <a:gd name="connsiteY1" fmla="*/ 354774 h 360956"/>
                  <a:gd name="connsiteX2" fmla="*/ 82792 w 311730"/>
                  <a:gd name="connsiteY2" fmla="*/ 172759 h 360956"/>
                  <a:gd name="connsiteX3" fmla="*/ 98693 w 311730"/>
                  <a:gd name="connsiteY3" fmla="*/ 172759 h 360956"/>
                  <a:gd name="connsiteX4" fmla="*/ 200719 w 311730"/>
                  <a:gd name="connsiteY4" fmla="*/ 263504 h 360956"/>
                  <a:gd name="connsiteX5" fmla="*/ 98693 w 311730"/>
                  <a:gd name="connsiteY5" fmla="*/ 354774 h 360956"/>
                  <a:gd name="connsiteX6" fmla="*/ 312490 w 311730"/>
                  <a:gd name="connsiteY6" fmla="*/ 481 h 360956"/>
                  <a:gd name="connsiteX7" fmla="*/ 273527 w 311730"/>
                  <a:gd name="connsiteY7" fmla="*/ 481 h 360956"/>
                  <a:gd name="connsiteX8" fmla="*/ 186363 w 311730"/>
                  <a:gd name="connsiteY8" fmla="*/ 112258 h 360956"/>
                  <a:gd name="connsiteX9" fmla="*/ 106893 w 311730"/>
                  <a:gd name="connsiteY9" fmla="*/ 166090 h 360956"/>
                  <a:gd name="connsiteX10" fmla="*/ 82792 w 311730"/>
                  <a:gd name="connsiteY10" fmla="*/ 166090 h 360956"/>
                  <a:gd name="connsiteX11" fmla="*/ 82792 w 311730"/>
                  <a:gd name="connsiteY11" fmla="*/ 53807 h 360956"/>
                  <a:gd name="connsiteX12" fmla="*/ 115612 w 311730"/>
                  <a:gd name="connsiteY12" fmla="*/ 7156 h 360956"/>
                  <a:gd name="connsiteX13" fmla="*/ 115612 w 311730"/>
                  <a:gd name="connsiteY13" fmla="*/ 481 h 360956"/>
                  <a:gd name="connsiteX14" fmla="*/ 760 w 311730"/>
                  <a:gd name="connsiteY14" fmla="*/ 481 h 360956"/>
                  <a:gd name="connsiteX15" fmla="*/ 760 w 311730"/>
                  <a:gd name="connsiteY15" fmla="*/ 7156 h 360956"/>
                  <a:gd name="connsiteX16" fmla="*/ 32548 w 311730"/>
                  <a:gd name="connsiteY16" fmla="*/ 60470 h 360956"/>
                  <a:gd name="connsiteX17" fmla="*/ 32548 w 311730"/>
                  <a:gd name="connsiteY17" fmla="*/ 315811 h 360956"/>
                  <a:gd name="connsiteX18" fmla="*/ 760 w 311730"/>
                  <a:gd name="connsiteY18" fmla="*/ 354774 h 360956"/>
                  <a:gd name="connsiteX19" fmla="*/ 760 w 311730"/>
                  <a:gd name="connsiteY19" fmla="*/ 361437 h 360956"/>
                  <a:gd name="connsiteX20" fmla="*/ 98693 w 311730"/>
                  <a:gd name="connsiteY20" fmla="*/ 361437 h 360956"/>
                  <a:gd name="connsiteX21" fmla="*/ 257120 w 311730"/>
                  <a:gd name="connsiteY21" fmla="*/ 263504 h 360956"/>
                  <a:gd name="connsiteX22" fmla="*/ 161756 w 311730"/>
                  <a:gd name="connsiteY22" fmla="*/ 169684 h 360956"/>
                  <a:gd name="connsiteX23" fmla="*/ 257627 w 311730"/>
                  <a:gd name="connsiteY23" fmla="*/ 52269 h 360956"/>
                  <a:gd name="connsiteX24" fmla="*/ 312490 w 311730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0" h="360956">
                    <a:moveTo>
                      <a:pt x="98693" y="354774"/>
                    </a:moveTo>
                    <a:lnTo>
                      <a:pt x="82792" y="354774"/>
                    </a:lnTo>
                    <a:lnTo>
                      <a:pt x="82792" y="172759"/>
                    </a:lnTo>
                    <a:lnTo>
                      <a:pt x="98693" y="172759"/>
                    </a:lnTo>
                    <a:cubicBezTo>
                      <a:pt x="156625" y="172759"/>
                      <a:pt x="200719" y="172252"/>
                      <a:pt x="200719" y="263504"/>
                    </a:cubicBezTo>
                    <a:cubicBezTo>
                      <a:pt x="200719" y="356831"/>
                      <a:pt x="153550" y="354774"/>
                      <a:pt x="98693" y="354774"/>
                    </a:cubicBezTo>
                    <a:moveTo>
                      <a:pt x="312490" y="481"/>
                    </a:moveTo>
                    <a:lnTo>
                      <a:pt x="273527" y="481"/>
                    </a:lnTo>
                    <a:cubicBezTo>
                      <a:pt x="207901" y="481"/>
                      <a:pt x="215594" y="994"/>
                      <a:pt x="186363" y="112258"/>
                    </a:cubicBezTo>
                    <a:cubicBezTo>
                      <a:pt x="172012" y="166090"/>
                      <a:pt x="120224" y="166090"/>
                      <a:pt x="106893" y="166090"/>
                    </a:cubicBezTo>
                    <a:lnTo>
                      <a:pt x="82792" y="166090"/>
                    </a:lnTo>
                    <a:lnTo>
                      <a:pt x="82792" y="53807"/>
                    </a:lnTo>
                    <a:cubicBezTo>
                      <a:pt x="82792" y="18431"/>
                      <a:pt x="94068" y="7156"/>
                      <a:pt x="115612" y="7156"/>
                    </a:cubicBezTo>
                    <a:lnTo>
                      <a:pt x="115612" y="481"/>
                    </a:lnTo>
                    <a:lnTo>
                      <a:pt x="760" y="481"/>
                    </a:lnTo>
                    <a:lnTo>
                      <a:pt x="760" y="7156"/>
                    </a:lnTo>
                    <a:cubicBezTo>
                      <a:pt x="22804" y="7156"/>
                      <a:pt x="32548" y="17406"/>
                      <a:pt x="32548" y="60470"/>
                    </a:cubicBezTo>
                    <a:lnTo>
                      <a:pt x="32548" y="315811"/>
                    </a:lnTo>
                    <a:cubicBezTo>
                      <a:pt x="32548" y="347599"/>
                      <a:pt x="23316" y="354774"/>
                      <a:pt x="760" y="354774"/>
                    </a:cubicBezTo>
                    <a:lnTo>
                      <a:pt x="760" y="361437"/>
                    </a:lnTo>
                    <a:lnTo>
                      <a:pt x="98693" y="361437"/>
                    </a:lnTo>
                    <a:cubicBezTo>
                      <a:pt x="200719" y="361437"/>
                      <a:pt x="257120" y="349131"/>
                      <a:pt x="257120" y="263504"/>
                    </a:cubicBezTo>
                    <a:cubicBezTo>
                      <a:pt x="257120" y="193778"/>
                      <a:pt x="217126" y="173265"/>
                      <a:pt x="161756" y="169684"/>
                    </a:cubicBezTo>
                    <a:cubicBezTo>
                      <a:pt x="195588" y="168146"/>
                      <a:pt x="230964" y="164553"/>
                      <a:pt x="257627" y="52269"/>
                    </a:cubicBezTo>
                    <a:cubicBezTo>
                      <a:pt x="266870" y="13300"/>
                      <a:pt x="299159" y="8181"/>
                      <a:pt x="312490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37">
                <a:extLst>
                  <a:ext uri="{FF2B5EF4-FFF2-40B4-BE49-F238E27FC236}">
                    <a16:creationId xmlns:a16="http://schemas.microsoft.com/office/drawing/2014/main" id="{08021EEB-6842-C780-A709-656214C0E651}"/>
                  </a:ext>
                </a:extLst>
              </p:cNvPr>
              <p:cNvSpPr/>
              <p:nvPr/>
            </p:nvSpPr>
            <p:spPr>
              <a:xfrm flipV="1">
                <a:off x="4285907" y="1993688"/>
                <a:ext cx="242423" cy="370181"/>
              </a:xfrm>
              <a:custGeom>
                <a:avLst/>
                <a:gdLst>
                  <a:gd name="connsiteX0" fmla="*/ 128442 w 242423"/>
                  <a:gd name="connsiteY0" fmla="*/ 422 h 370181"/>
                  <a:gd name="connsiteX1" fmla="*/ 6421 w 242423"/>
                  <a:gd name="connsiteY1" fmla="*/ 29135 h 370181"/>
                  <a:gd name="connsiteX2" fmla="*/ 6421 w 242423"/>
                  <a:gd name="connsiteY2" fmla="*/ 127580 h 370181"/>
                  <a:gd name="connsiteX3" fmla="*/ 12566 w 242423"/>
                  <a:gd name="connsiteY3" fmla="*/ 127580 h 370181"/>
                  <a:gd name="connsiteX4" fmla="*/ 128442 w 242423"/>
                  <a:gd name="connsiteY4" fmla="*/ 7084 h 370181"/>
                  <a:gd name="connsiteX5" fmla="*/ 156649 w 242423"/>
                  <a:gd name="connsiteY5" fmla="*/ 136293 h 370181"/>
                  <a:gd name="connsiteX6" fmla="*/ 71535 w 242423"/>
                  <a:gd name="connsiteY6" fmla="*/ 191150 h 370181"/>
                  <a:gd name="connsiteX7" fmla="*/ 15647 w 242423"/>
                  <a:gd name="connsiteY7" fmla="*/ 330615 h 370181"/>
                  <a:gd name="connsiteX8" fmla="*/ 112030 w 242423"/>
                  <a:gd name="connsiteY8" fmla="*/ 370603 h 370181"/>
                  <a:gd name="connsiteX9" fmla="*/ 229444 w 242423"/>
                  <a:gd name="connsiteY9" fmla="*/ 346503 h 370181"/>
                  <a:gd name="connsiteX10" fmla="*/ 229444 w 242423"/>
                  <a:gd name="connsiteY10" fmla="*/ 260370 h 370181"/>
                  <a:gd name="connsiteX11" fmla="*/ 222275 w 242423"/>
                  <a:gd name="connsiteY11" fmla="*/ 260370 h 370181"/>
                  <a:gd name="connsiteX12" fmla="*/ 112030 w 242423"/>
                  <a:gd name="connsiteY12" fmla="*/ 363934 h 370181"/>
                  <a:gd name="connsiteX13" fmla="*/ 92042 w 242423"/>
                  <a:gd name="connsiteY13" fmla="*/ 242426 h 370181"/>
                  <a:gd name="connsiteX14" fmla="*/ 176637 w 242423"/>
                  <a:gd name="connsiteY14" fmla="*/ 186537 h 370181"/>
                  <a:gd name="connsiteX15" fmla="*/ 229969 w 242423"/>
                  <a:gd name="connsiteY15" fmla="*/ 42466 h 370181"/>
                  <a:gd name="connsiteX16" fmla="*/ 128442 w 242423"/>
                  <a:gd name="connsiteY16" fmla="*/ 422 h 37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2423" h="370181">
                    <a:moveTo>
                      <a:pt x="128442" y="422"/>
                    </a:moveTo>
                    <a:cubicBezTo>
                      <a:pt x="44872" y="422"/>
                      <a:pt x="6421" y="29135"/>
                      <a:pt x="6421" y="29135"/>
                    </a:cubicBezTo>
                    <a:lnTo>
                      <a:pt x="6421" y="127580"/>
                    </a:lnTo>
                    <a:lnTo>
                      <a:pt x="12566" y="127580"/>
                    </a:lnTo>
                    <a:cubicBezTo>
                      <a:pt x="18209" y="65023"/>
                      <a:pt x="41285" y="7084"/>
                      <a:pt x="128442" y="7084"/>
                    </a:cubicBezTo>
                    <a:cubicBezTo>
                      <a:pt x="206381" y="7084"/>
                      <a:pt x="216637" y="93736"/>
                      <a:pt x="156649" y="136293"/>
                    </a:cubicBezTo>
                    <a:lnTo>
                      <a:pt x="71535" y="191150"/>
                    </a:lnTo>
                    <a:cubicBezTo>
                      <a:pt x="22822" y="223450"/>
                      <a:pt x="-23829" y="270114"/>
                      <a:pt x="15647" y="330615"/>
                    </a:cubicBezTo>
                    <a:cubicBezTo>
                      <a:pt x="15647" y="330615"/>
                      <a:pt x="40766" y="370603"/>
                      <a:pt x="112030" y="370603"/>
                    </a:cubicBezTo>
                    <a:cubicBezTo>
                      <a:pt x="186381" y="370603"/>
                      <a:pt x="229444" y="346503"/>
                      <a:pt x="229444" y="346503"/>
                    </a:cubicBezTo>
                    <a:lnTo>
                      <a:pt x="229444" y="260370"/>
                    </a:lnTo>
                    <a:lnTo>
                      <a:pt x="222275" y="260370"/>
                    </a:lnTo>
                    <a:cubicBezTo>
                      <a:pt x="217656" y="310614"/>
                      <a:pt x="197662" y="363934"/>
                      <a:pt x="112030" y="363934"/>
                    </a:cubicBezTo>
                    <a:cubicBezTo>
                      <a:pt x="56666" y="363934"/>
                      <a:pt x="14622" y="292670"/>
                      <a:pt x="92042" y="242426"/>
                    </a:cubicBezTo>
                    <a:lnTo>
                      <a:pt x="176637" y="186537"/>
                    </a:lnTo>
                    <a:cubicBezTo>
                      <a:pt x="245344" y="141424"/>
                      <a:pt x="256620" y="84504"/>
                      <a:pt x="229969" y="42466"/>
                    </a:cubicBezTo>
                    <a:cubicBezTo>
                      <a:pt x="229969" y="42466"/>
                      <a:pt x="207925" y="422"/>
                      <a:pt x="128442" y="422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227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KOR">
    <p:bg>
      <p:bgPr>
        <a:gradFill>
          <a:gsLst>
            <a:gs pos="0">
              <a:srgbClr val="11244A"/>
            </a:gs>
            <a:gs pos="50000">
              <a:srgbClr val="0D1B3D"/>
            </a:gs>
            <a:gs pos="100000">
              <a:srgbClr val="080F2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9C1CC8D-DD48-2582-68A5-4DC48CEE8F40}"/>
              </a:ext>
            </a:extLst>
          </p:cNvPr>
          <p:cNvCxnSpPr>
            <a:cxnSpLocks/>
          </p:cNvCxnSpPr>
          <p:nvPr userDrawn="1"/>
        </p:nvCxnSpPr>
        <p:spPr>
          <a:xfrm>
            <a:off x="4953000" y="2709000"/>
            <a:ext cx="0" cy="144000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BCEDB82C-5CDE-3824-9E20-37C9C040C2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13000" y="2848072"/>
            <a:ext cx="3600000" cy="73866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DOCUMENT TITLE</a:t>
            </a:r>
            <a:endParaRPr lang="ko-KR" altLang="en-US" dirty="0"/>
          </a:p>
        </p:txBody>
      </p:sp>
      <p:sp>
        <p:nvSpPr>
          <p:cNvPr id="4" name="텍스트 개체 틀 5">
            <a:extLst>
              <a:ext uri="{FF2B5EF4-FFF2-40B4-BE49-F238E27FC236}">
                <a16:creationId xmlns:a16="http://schemas.microsoft.com/office/drawing/2014/main" id="{10A51583-5D5A-9874-1C67-A37B491F35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000" y="3586736"/>
            <a:ext cx="3600000" cy="307777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Outfit Medium" pitchFamily="2" charset="0"/>
              </a:defRPr>
            </a:lvl1pPr>
          </a:lstStyle>
          <a:p>
            <a:pPr lvl="0"/>
            <a:r>
              <a:rPr lang="en-US" altLang="ko-KR" dirty="0"/>
              <a:t>Month Year</a:t>
            </a:r>
            <a:endParaRPr lang="ko-KR" altLang="en-US" dirty="0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65EC1F3C-AEE7-4331-0AD3-4CF8CA42FE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000" y="2961240"/>
            <a:ext cx="3600000" cy="89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76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ENG">
    <p:bg>
      <p:bgPr>
        <a:gradFill>
          <a:gsLst>
            <a:gs pos="0">
              <a:srgbClr val="11244A"/>
            </a:gs>
            <a:gs pos="50000">
              <a:srgbClr val="0D1B3D"/>
            </a:gs>
            <a:gs pos="100000">
              <a:srgbClr val="080F2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9C1CC8D-DD48-2582-68A5-4DC48CEE8F40}"/>
              </a:ext>
            </a:extLst>
          </p:cNvPr>
          <p:cNvCxnSpPr>
            <a:cxnSpLocks/>
          </p:cNvCxnSpPr>
          <p:nvPr userDrawn="1"/>
        </p:nvCxnSpPr>
        <p:spPr>
          <a:xfrm>
            <a:off x="4953000" y="2709000"/>
            <a:ext cx="0" cy="144000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래픽 5">
            <a:extLst>
              <a:ext uri="{FF2B5EF4-FFF2-40B4-BE49-F238E27FC236}">
                <a16:creationId xmlns:a16="http://schemas.microsoft.com/office/drawing/2014/main" id="{2002D643-CDDC-7D1E-5A41-CF362AED96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000" y="2961240"/>
            <a:ext cx="3600000" cy="854850"/>
          </a:xfrm>
          <a:prstGeom prst="rect">
            <a:avLst/>
          </a:prstGeom>
        </p:spPr>
      </p:pic>
      <p:sp>
        <p:nvSpPr>
          <p:cNvPr id="5" name="텍스트 개체 틀 5">
            <a:extLst>
              <a:ext uri="{FF2B5EF4-FFF2-40B4-BE49-F238E27FC236}">
                <a16:creationId xmlns:a16="http://schemas.microsoft.com/office/drawing/2014/main" id="{0D4A0E7A-B3F5-E618-19B5-0BD4960AC3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13000" y="2848072"/>
            <a:ext cx="3600000" cy="738664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DOCUMENT TITLE</a:t>
            </a:r>
            <a:endParaRPr lang="ko-KR" altLang="en-US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819A372A-F930-9889-1B74-2DC961A59C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000" y="3586736"/>
            <a:ext cx="3600000" cy="307777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Outfit Medium" pitchFamily="2" charset="0"/>
              </a:defRPr>
            </a:lvl1pPr>
          </a:lstStyle>
          <a:p>
            <a:pPr lvl="0"/>
            <a:r>
              <a:rPr lang="en-US" altLang="ko-KR" dirty="0"/>
              <a:t>Month Year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432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rgbClr val="3D3D3D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12999" y="6020725"/>
            <a:ext cx="7092000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800">
                <a:solidFill>
                  <a:srgbClr val="A2AECF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0EEF51B-712E-FB61-E81C-47A644460F67}"/>
              </a:ext>
            </a:extLst>
          </p:cNvPr>
          <p:cNvGrpSpPr/>
          <p:nvPr userDrawn="1"/>
        </p:nvGrpSpPr>
        <p:grpSpPr>
          <a:xfrm>
            <a:off x="8982184" y="6056725"/>
            <a:ext cx="152853" cy="216000"/>
            <a:chOff x="11025858" y="6056725"/>
            <a:chExt cx="152853" cy="2160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625B83-7EB8-D2A5-0B70-8C84B20FFD9C}"/>
                </a:ext>
              </a:extLst>
            </p:cNvPr>
            <p:cNvSpPr txBox="1"/>
            <p:nvPr userDrawn="1"/>
          </p:nvSpPr>
          <p:spPr>
            <a:xfrm>
              <a:off x="11025858" y="6087781"/>
              <a:ext cx="152853" cy="153888"/>
            </a:xfrm>
            <a:prstGeom prst="rect">
              <a:avLst/>
            </a:prstGeom>
            <a:noFill/>
          </p:spPr>
          <p:txBody>
            <a:bodyPr wrap="none" lIns="0" tIns="0" rIns="72000" bIns="0" rtlCol="0" anchor="ctr">
              <a:spAutoFit/>
            </a:bodyPr>
            <a:lstStyle/>
            <a:p>
              <a:pPr algn="l"/>
              <a:r>
                <a:rPr lang="en-US" altLang="ko-KR" sz="1000" b="1" dirty="0">
                  <a:solidFill>
                    <a:srgbClr val="1124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</a:t>
              </a:r>
              <a:endParaRPr lang="ko-KR" altLang="en-US" sz="1000" b="1" dirty="0">
                <a:solidFill>
                  <a:srgbClr val="1124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B4A5E917-85BF-9F05-0D16-AFDC22952A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178711" y="6056725"/>
              <a:ext cx="0" cy="216000"/>
            </a:xfrm>
            <a:prstGeom prst="line">
              <a:avLst/>
            </a:prstGeom>
            <a:ln w="12700">
              <a:solidFill>
                <a:srgbClr val="539D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그래픽 8">
            <a:extLst>
              <a:ext uri="{FF2B5EF4-FFF2-40B4-BE49-F238E27FC236}">
                <a16:creationId xmlns:a16="http://schemas.microsoft.com/office/drawing/2014/main" id="{765BB419-076E-08E1-A73F-B3763F1551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83725"/>
            <a:ext cx="1055893" cy="162000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5037" y="6087781"/>
            <a:ext cx="33004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>
              <a:defRPr lang="ko-KR" altLang="en-US" sz="1000" b="1" smtClean="0">
                <a:solidFill>
                  <a:srgbClr val="11244A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8591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orient="horz" pos="845" userDrawn="1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baseline="0">
                <a:solidFill>
                  <a:srgbClr val="11244A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78327" y="6020725"/>
            <a:ext cx="6471231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800">
                <a:solidFill>
                  <a:srgbClr val="A2AECF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0EEF51B-712E-FB61-E81C-47A644460F67}"/>
              </a:ext>
            </a:extLst>
          </p:cNvPr>
          <p:cNvGrpSpPr/>
          <p:nvPr userDrawn="1"/>
        </p:nvGrpSpPr>
        <p:grpSpPr>
          <a:xfrm>
            <a:off x="9132224" y="6056725"/>
            <a:ext cx="152853" cy="216000"/>
            <a:chOff x="11025858" y="6056725"/>
            <a:chExt cx="152853" cy="2160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625B83-7EB8-D2A5-0B70-8C84B20FFD9C}"/>
                </a:ext>
              </a:extLst>
            </p:cNvPr>
            <p:cNvSpPr txBox="1"/>
            <p:nvPr userDrawn="1"/>
          </p:nvSpPr>
          <p:spPr>
            <a:xfrm>
              <a:off x="11025858" y="6087781"/>
              <a:ext cx="152853" cy="153888"/>
            </a:xfrm>
            <a:prstGeom prst="rect">
              <a:avLst/>
            </a:prstGeom>
            <a:noFill/>
          </p:spPr>
          <p:txBody>
            <a:bodyPr wrap="none" lIns="0" tIns="0" rIns="72000" bIns="0" rtlCol="0" anchor="ctr">
              <a:spAutoFit/>
            </a:bodyPr>
            <a:lstStyle/>
            <a:p>
              <a:pPr algn="l"/>
              <a:r>
                <a:rPr lang="en-US" altLang="ko-KR" sz="1000" b="1" dirty="0">
                  <a:solidFill>
                    <a:srgbClr val="1124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</a:t>
              </a:r>
              <a:endParaRPr lang="ko-KR" altLang="en-US" sz="1000" b="1" dirty="0">
                <a:solidFill>
                  <a:srgbClr val="1124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B4A5E917-85BF-9F05-0D16-AFDC22952A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162837" y="6056725"/>
              <a:ext cx="0" cy="216000"/>
            </a:xfrm>
            <a:prstGeom prst="line">
              <a:avLst/>
            </a:prstGeom>
            <a:ln w="12700">
              <a:solidFill>
                <a:srgbClr val="539D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5037" y="6087781"/>
            <a:ext cx="33004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1" smtClean="0">
                <a:solidFill>
                  <a:srgbClr val="11244A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27EDBEE-B909-B787-FE2E-707C1F2DF0D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2999" y="6048207"/>
            <a:ext cx="1800000" cy="233036"/>
            <a:chOff x="452999" y="7068170"/>
            <a:chExt cx="3300409" cy="427290"/>
          </a:xfrm>
        </p:grpSpPr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4ABC714D-1946-04C9-FE2B-0010DCDA1A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10908" y="7155815"/>
              <a:ext cx="1642500" cy="252000"/>
            </a:xfrm>
            <a:prstGeom prst="rect">
              <a:avLst/>
            </a:prstGeom>
          </p:spPr>
        </p:pic>
        <p:grpSp>
          <p:nvGrpSpPr>
            <p:cNvPr id="24" name="그래픽 12">
              <a:extLst>
                <a:ext uri="{FF2B5EF4-FFF2-40B4-BE49-F238E27FC236}">
                  <a16:creationId xmlns:a16="http://schemas.microsoft.com/office/drawing/2014/main" id="{34E95412-480E-DD1F-9F12-5B44F8D2607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52999" y="7068170"/>
              <a:ext cx="1363661" cy="427290"/>
              <a:chOff x="1748076" y="1492704"/>
              <a:chExt cx="2780254" cy="871165"/>
            </a:xfrm>
            <a:solidFill>
              <a:schemeClr val="tx1"/>
            </a:solidFill>
          </p:grpSpPr>
          <p:sp>
            <p:nvSpPr>
              <p:cNvPr id="25" name="자유형: 도형 21">
                <a:extLst>
                  <a:ext uri="{FF2B5EF4-FFF2-40B4-BE49-F238E27FC236}">
                    <a16:creationId xmlns:a16="http://schemas.microsoft.com/office/drawing/2014/main" id="{C84C2869-45BE-145B-FEB1-5AAD97166417}"/>
                  </a:ext>
                </a:extLst>
              </p:cNvPr>
              <p:cNvSpPr/>
              <p:nvPr/>
            </p:nvSpPr>
            <p:spPr>
              <a:xfrm flipV="1">
                <a:off x="2956473" y="1542367"/>
                <a:ext cx="1551422" cy="303005"/>
              </a:xfrm>
              <a:custGeom>
                <a:avLst/>
                <a:gdLst>
                  <a:gd name="connsiteX0" fmla="*/ 1551596 w 1551422"/>
                  <a:gd name="connsiteY0" fmla="*/ 303014 h 303005"/>
                  <a:gd name="connsiteX1" fmla="*/ 173 w 1551422"/>
                  <a:gd name="connsiteY1" fmla="*/ 303014 h 303005"/>
                  <a:gd name="connsiteX2" fmla="*/ 173 w 1551422"/>
                  <a:gd name="connsiteY2" fmla="*/ 8 h 303005"/>
                  <a:gd name="connsiteX3" fmla="*/ 1551596 w 1551422"/>
                  <a:gd name="connsiteY3" fmla="*/ 8 h 303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1422" h="303005">
                    <a:moveTo>
                      <a:pt x="1551596" y="303014"/>
                    </a:moveTo>
                    <a:lnTo>
                      <a:pt x="173" y="303014"/>
                    </a:lnTo>
                    <a:lnTo>
                      <a:pt x="173" y="8"/>
                    </a:lnTo>
                    <a:lnTo>
                      <a:pt x="1551596" y="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26" name="그래픽 12">
                <a:extLst>
                  <a:ext uri="{FF2B5EF4-FFF2-40B4-BE49-F238E27FC236}">
                    <a16:creationId xmlns:a16="http://schemas.microsoft.com/office/drawing/2014/main" id="{596C8784-53D1-F434-5B89-31B014892BDD}"/>
                  </a:ext>
                </a:extLst>
              </p:cNvPr>
              <p:cNvGrpSpPr/>
              <p:nvPr/>
            </p:nvGrpSpPr>
            <p:grpSpPr>
              <a:xfrm>
                <a:off x="1748076" y="1492704"/>
                <a:ext cx="2780254" cy="871165"/>
                <a:chOff x="1748076" y="1492704"/>
                <a:chExt cx="2780254" cy="871165"/>
              </a:xfrm>
              <a:grpFill/>
            </p:grpSpPr>
            <p:sp>
              <p:nvSpPr>
                <p:cNvPr id="27" name="자유형: 도형 26">
                  <a:extLst>
                    <a:ext uri="{FF2B5EF4-FFF2-40B4-BE49-F238E27FC236}">
                      <a16:creationId xmlns:a16="http://schemas.microsoft.com/office/drawing/2014/main" id="{29CEBDF8-4FD9-3CE7-4006-A1377F6B3D03}"/>
                    </a:ext>
                  </a:extLst>
                </p:cNvPr>
                <p:cNvSpPr/>
                <p:nvPr/>
              </p:nvSpPr>
              <p:spPr>
                <a:xfrm flipV="1">
                  <a:off x="1751153" y="1513324"/>
                  <a:ext cx="258404" cy="360962"/>
                </a:xfrm>
                <a:custGeom>
                  <a:avLst/>
                  <a:gdLst>
                    <a:gd name="connsiteX0" fmla="*/ 113589 w 258404"/>
                    <a:gd name="connsiteY0" fmla="*/ 179798 h 360962"/>
                    <a:gd name="connsiteX1" fmla="*/ 82826 w 258404"/>
                    <a:gd name="connsiteY1" fmla="*/ 179798 h 360962"/>
                    <a:gd name="connsiteX2" fmla="*/ 82826 w 258404"/>
                    <a:gd name="connsiteY2" fmla="*/ 7014 h 360962"/>
                    <a:gd name="connsiteX3" fmla="*/ 105382 w 258404"/>
                    <a:gd name="connsiteY3" fmla="*/ 7014 h 360962"/>
                    <a:gd name="connsiteX4" fmla="*/ 201265 w 258404"/>
                    <a:gd name="connsiteY4" fmla="*/ 94177 h 360962"/>
                    <a:gd name="connsiteX5" fmla="*/ 113589 w 258404"/>
                    <a:gd name="connsiteY5" fmla="*/ 179798 h 360962"/>
                    <a:gd name="connsiteX6" fmla="*/ 82826 w 258404"/>
                    <a:gd name="connsiteY6" fmla="*/ 354638 h 360962"/>
                    <a:gd name="connsiteX7" fmla="*/ 82826 w 258404"/>
                    <a:gd name="connsiteY7" fmla="*/ 186461 h 360962"/>
                    <a:gd name="connsiteX8" fmla="*/ 113589 w 258404"/>
                    <a:gd name="connsiteY8" fmla="*/ 186461 h 360962"/>
                    <a:gd name="connsiteX9" fmla="*/ 179215 w 258404"/>
                    <a:gd name="connsiteY9" fmla="*/ 274137 h 360962"/>
                    <a:gd name="connsiteX10" fmla="*/ 105382 w 258404"/>
                    <a:gd name="connsiteY10" fmla="*/ 354638 h 360962"/>
                    <a:gd name="connsiteX11" fmla="*/ 102820 w 258404"/>
                    <a:gd name="connsiteY11" fmla="*/ 345 h 360962"/>
                    <a:gd name="connsiteX12" fmla="*/ 280 w 258404"/>
                    <a:gd name="connsiteY12" fmla="*/ 345 h 360962"/>
                    <a:gd name="connsiteX13" fmla="*/ 280 w 258404"/>
                    <a:gd name="connsiteY13" fmla="*/ 4957 h 360962"/>
                    <a:gd name="connsiteX14" fmla="*/ 30018 w 258404"/>
                    <a:gd name="connsiteY14" fmla="*/ 61871 h 360962"/>
                    <a:gd name="connsiteX15" fmla="*/ 30018 w 258404"/>
                    <a:gd name="connsiteY15" fmla="*/ 300800 h 360962"/>
                    <a:gd name="connsiteX16" fmla="*/ 280 w 258404"/>
                    <a:gd name="connsiteY16" fmla="*/ 356688 h 360962"/>
                    <a:gd name="connsiteX17" fmla="*/ 280 w 258404"/>
                    <a:gd name="connsiteY17" fmla="*/ 361307 h 360962"/>
                    <a:gd name="connsiteX18" fmla="*/ 102820 w 258404"/>
                    <a:gd name="connsiteY18" fmla="*/ 361307 h 360962"/>
                    <a:gd name="connsiteX19" fmla="*/ 234585 w 258404"/>
                    <a:gd name="connsiteY19" fmla="*/ 273631 h 360962"/>
                    <a:gd name="connsiteX20" fmla="*/ 148964 w 258404"/>
                    <a:gd name="connsiteY20" fmla="*/ 185442 h 360962"/>
                    <a:gd name="connsiteX21" fmla="*/ 258685 w 258404"/>
                    <a:gd name="connsiteY21" fmla="*/ 92121 h 360962"/>
                    <a:gd name="connsiteX22" fmla="*/ 102820 w 258404"/>
                    <a:gd name="connsiteY22" fmla="*/ 345 h 360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404" h="360962">
                      <a:moveTo>
                        <a:pt x="113589" y="179798"/>
                      </a:moveTo>
                      <a:lnTo>
                        <a:pt x="82826" y="179798"/>
                      </a:lnTo>
                      <a:lnTo>
                        <a:pt x="82826" y="7014"/>
                      </a:lnTo>
                      <a:lnTo>
                        <a:pt x="105382" y="7014"/>
                      </a:lnTo>
                      <a:cubicBezTo>
                        <a:pt x="154608" y="7014"/>
                        <a:pt x="201265" y="5989"/>
                        <a:pt x="201265" y="94177"/>
                      </a:cubicBezTo>
                      <a:cubicBezTo>
                        <a:pt x="201265" y="177235"/>
                        <a:pt x="151527" y="179798"/>
                        <a:pt x="113589" y="179798"/>
                      </a:cubicBezTo>
                      <a:moveTo>
                        <a:pt x="82826" y="354638"/>
                      </a:moveTo>
                      <a:lnTo>
                        <a:pt x="82826" y="186461"/>
                      </a:lnTo>
                      <a:lnTo>
                        <a:pt x="113589" y="186461"/>
                      </a:lnTo>
                      <a:cubicBezTo>
                        <a:pt x="145377" y="186461"/>
                        <a:pt x="179215" y="196204"/>
                        <a:pt x="179215" y="274137"/>
                      </a:cubicBezTo>
                      <a:cubicBezTo>
                        <a:pt x="179215" y="349507"/>
                        <a:pt x="136664" y="354638"/>
                        <a:pt x="105382" y="354638"/>
                      </a:cubicBezTo>
                      <a:close/>
                      <a:moveTo>
                        <a:pt x="102820" y="345"/>
                      </a:moveTo>
                      <a:lnTo>
                        <a:pt x="280" y="345"/>
                      </a:lnTo>
                      <a:lnTo>
                        <a:pt x="280" y="4957"/>
                      </a:lnTo>
                      <a:cubicBezTo>
                        <a:pt x="22325" y="4957"/>
                        <a:pt x="30018" y="27008"/>
                        <a:pt x="30018" y="61871"/>
                      </a:cubicBezTo>
                      <a:lnTo>
                        <a:pt x="30018" y="300800"/>
                      </a:lnTo>
                      <a:cubicBezTo>
                        <a:pt x="30018" y="332588"/>
                        <a:pt x="22837" y="356688"/>
                        <a:pt x="280" y="356688"/>
                      </a:cubicBezTo>
                      <a:lnTo>
                        <a:pt x="280" y="361307"/>
                      </a:lnTo>
                      <a:lnTo>
                        <a:pt x="102820" y="361307"/>
                      </a:lnTo>
                      <a:cubicBezTo>
                        <a:pt x="174090" y="361307"/>
                        <a:pt x="234585" y="357201"/>
                        <a:pt x="234585" y="273631"/>
                      </a:cubicBezTo>
                      <a:cubicBezTo>
                        <a:pt x="234585" y="193642"/>
                        <a:pt x="159221" y="185442"/>
                        <a:pt x="148964" y="185442"/>
                      </a:cubicBezTo>
                      <a:cubicBezTo>
                        <a:pt x="182290" y="185442"/>
                        <a:pt x="258685" y="178779"/>
                        <a:pt x="258685" y="92121"/>
                      </a:cubicBezTo>
                      <a:cubicBezTo>
                        <a:pt x="258685" y="2913"/>
                        <a:pt x="191527" y="345"/>
                        <a:pt x="102820" y="345"/>
                      </a:cubicBezTo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8" name="자유형: 도형 27">
                  <a:extLst>
                    <a:ext uri="{FF2B5EF4-FFF2-40B4-BE49-F238E27FC236}">
                      <a16:creationId xmlns:a16="http://schemas.microsoft.com/office/drawing/2014/main" id="{20B56F8C-2FBF-96EA-4887-4A66FDFB5D2B}"/>
                    </a:ext>
                  </a:extLst>
                </p:cNvPr>
                <p:cNvSpPr/>
                <p:nvPr/>
              </p:nvSpPr>
              <p:spPr>
                <a:xfrm flipV="1">
                  <a:off x="2091574" y="1492704"/>
                  <a:ext cx="324112" cy="386382"/>
                </a:xfrm>
                <a:custGeom>
                  <a:avLst/>
                  <a:gdLst>
                    <a:gd name="connsiteX0" fmla="*/ 99962 w 324112"/>
                    <a:gd name="connsiteY0" fmla="*/ 281518 h 386382"/>
                    <a:gd name="connsiteX1" fmla="*/ 134548 w 324112"/>
                    <a:gd name="connsiteY1" fmla="*/ 228704 h 386382"/>
                    <a:gd name="connsiteX2" fmla="*/ 168151 w 324112"/>
                    <a:gd name="connsiteY2" fmla="*/ 359450 h 386382"/>
                    <a:gd name="connsiteX3" fmla="*/ 112142 w 324112"/>
                    <a:gd name="connsiteY3" fmla="*/ 374319 h 386382"/>
                    <a:gd name="connsiteX4" fmla="*/ 99962 w 324112"/>
                    <a:gd name="connsiteY4" fmla="*/ 281518 h 386382"/>
                    <a:gd name="connsiteX5" fmla="*/ 180807 w 324112"/>
                    <a:gd name="connsiteY5" fmla="*/ 76945 h 386382"/>
                    <a:gd name="connsiteX6" fmla="*/ 99962 w 324112"/>
                    <a:gd name="connsiteY6" fmla="*/ 199997 h 386382"/>
                    <a:gd name="connsiteX7" fmla="*/ 72696 w 324112"/>
                    <a:gd name="connsiteY7" fmla="*/ 182047 h 386382"/>
                    <a:gd name="connsiteX8" fmla="*/ 58575 w 324112"/>
                    <a:gd name="connsiteY8" fmla="*/ 53870 h 386382"/>
                    <a:gd name="connsiteX9" fmla="*/ 180807 w 324112"/>
                    <a:gd name="connsiteY9" fmla="*/ 76945 h 386382"/>
                    <a:gd name="connsiteX10" fmla="*/ 324468 w 324112"/>
                    <a:gd name="connsiteY10" fmla="*/ 56945 h 386382"/>
                    <a:gd name="connsiteX11" fmla="*/ 274802 w 324112"/>
                    <a:gd name="connsiteY11" fmla="*/ 550 h 386382"/>
                    <a:gd name="connsiteX12" fmla="*/ 213927 w 324112"/>
                    <a:gd name="connsiteY12" fmla="*/ 26182 h 386382"/>
                    <a:gd name="connsiteX13" fmla="*/ 185679 w 324112"/>
                    <a:gd name="connsiteY13" fmla="*/ 70789 h 386382"/>
                    <a:gd name="connsiteX14" fmla="*/ 19617 w 324112"/>
                    <a:gd name="connsiteY14" fmla="*/ 34901 h 386382"/>
                    <a:gd name="connsiteX15" fmla="*/ 68795 w 324112"/>
                    <a:gd name="connsiteY15" fmla="*/ 188203 h 386382"/>
                    <a:gd name="connsiteX16" fmla="*/ 96073 w 324112"/>
                    <a:gd name="connsiteY16" fmla="*/ 205635 h 386382"/>
                    <a:gd name="connsiteX17" fmla="*/ 71725 w 324112"/>
                    <a:gd name="connsiteY17" fmla="*/ 243573 h 386382"/>
                    <a:gd name="connsiteX18" fmla="*/ 103857 w 324112"/>
                    <a:gd name="connsiteY18" fmla="*/ 385088 h 386382"/>
                    <a:gd name="connsiteX19" fmla="*/ 173993 w 324112"/>
                    <a:gd name="connsiteY19" fmla="*/ 364069 h 386382"/>
                    <a:gd name="connsiteX20" fmla="*/ 138437 w 324112"/>
                    <a:gd name="connsiteY20" fmla="*/ 222554 h 386382"/>
                    <a:gd name="connsiteX21" fmla="*/ 203701 w 324112"/>
                    <a:gd name="connsiteY21" fmla="*/ 121040 h 386382"/>
                    <a:gd name="connsiteX22" fmla="*/ 261646 w 324112"/>
                    <a:gd name="connsiteY22" fmla="*/ 181535 h 386382"/>
                    <a:gd name="connsiteX23" fmla="*/ 291842 w 324112"/>
                    <a:gd name="connsiteY23" fmla="*/ 175897 h 386382"/>
                    <a:gd name="connsiteX24" fmla="*/ 294278 w 324112"/>
                    <a:gd name="connsiteY24" fmla="*/ 139490 h 386382"/>
                    <a:gd name="connsiteX25" fmla="*/ 259216 w 324112"/>
                    <a:gd name="connsiteY25" fmla="*/ 136421 h 386382"/>
                    <a:gd name="connsiteX26" fmla="*/ 250931 w 324112"/>
                    <a:gd name="connsiteY26" fmla="*/ 153853 h 386382"/>
                    <a:gd name="connsiteX27" fmla="*/ 207590 w 324112"/>
                    <a:gd name="connsiteY27" fmla="*/ 115396 h 386382"/>
                    <a:gd name="connsiteX28" fmla="*/ 246059 w 324112"/>
                    <a:gd name="connsiteY28" fmla="*/ 56945 h 386382"/>
                    <a:gd name="connsiteX29" fmla="*/ 285028 w 324112"/>
                    <a:gd name="connsiteY29" fmla="*/ 32845 h 386382"/>
                    <a:gd name="connsiteX30" fmla="*/ 318137 w 324112"/>
                    <a:gd name="connsiteY30" fmla="*/ 56945 h 386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324112" h="386382">
                      <a:moveTo>
                        <a:pt x="99962" y="281518"/>
                      </a:moveTo>
                      <a:lnTo>
                        <a:pt x="134548" y="228704"/>
                      </a:lnTo>
                      <a:cubicBezTo>
                        <a:pt x="199318" y="271774"/>
                        <a:pt x="192010" y="328175"/>
                        <a:pt x="168151" y="359450"/>
                      </a:cubicBezTo>
                      <a:cubicBezTo>
                        <a:pt x="154023" y="374832"/>
                        <a:pt x="131623" y="382013"/>
                        <a:pt x="112142" y="374319"/>
                      </a:cubicBezTo>
                      <a:cubicBezTo>
                        <a:pt x="82446" y="362525"/>
                        <a:pt x="76591" y="317924"/>
                        <a:pt x="99962" y="281518"/>
                      </a:cubicBezTo>
                      <a:moveTo>
                        <a:pt x="180807" y="76945"/>
                      </a:moveTo>
                      <a:lnTo>
                        <a:pt x="99962" y="199997"/>
                      </a:lnTo>
                      <a:lnTo>
                        <a:pt x="72696" y="182047"/>
                      </a:lnTo>
                      <a:cubicBezTo>
                        <a:pt x="44459" y="161540"/>
                        <a:pt x="16699" y="106165"/>
                        <a:pt x="58575" y="53870"/>
                      </a:cubicBezTo>
                      <a:cubicBezTo>
                        <a:pt x="88771" y="15932"/>
                        <a:pt x="155971" y="16957"/>
                        <a:pt x="180807" y="76945"/>
                      </a:cubicBezTo>
                      <a:moveTo>
                        <a:pt x="324468" y="56945"/>
                      </a:moveTo>
                      <a:cubicBezTo>
                        <a:pt x="323980" y="19519"/>
                        <a:pt x="297202" y="2594"/>
                        <a:pt x="274802" y="550"/>
                      </a:cubicBezTo>
                      <a:cubicBezTo>
                        <a:pt x="274802" y="550"/>
                        <a:pt x="232921" y="-3556"/>
                        <a:pt x="213927" y="26182"/>
                      </a:cubicBezTo>
                      <a:lnTo>
                        <a:pt x="185679" y="70789"/>
                      </a:lnTo>
                      <a:cubicBezTo>
                        <a:pt x="168639" y="12338"/>
                        <a:pt x="70742" y="-33807"/>
                        <a:pt x="19617" y="34901"/>
                      </a:cubicBezTo>
                      <a:cubicBezTo>
                        <a:pt x="-31031" y="103096"/>
                        <a:pt x="29844" y="164616"/>
                        <a:pt x="68795" y="188203"/>
                      </a:cubicBezTo>
                      <a:lnTo>
                        <a:pt x="96073" y="205635"/>
                      </a:lnTo>
                      <a:lnTo>
                        <a:pt x="71725" y="243573"/>
                      </a:lnTo>
                      <a:cubicBezTo>
                        <a:pt x="23513" y="312281"/>
                        <a:pt x="49325" y="374832"/>
                        <a:pt x="103857" y="385088"/>
                      </a:cubicBezTo>
                      <a:cubicBezTo>
                        <a:pt x="135518" y="390726"/>
                        <a:pt x="159378" y="381500"/>
                        <a:pt x="173993" y="364069"/>
                      </a:cubicBezTo>
                      <a:cubicBezTo>
                        <a:pt x="194934" y="338937"/>
                        <a:pt x="213433" y="275874"/>
                        <a:pt x="138437" y="222554"/>
                      </a:cubicBezTo>
                      <a:lnTo>
                        <a:pt x="203701" y="121040"/>
                      </a:lnTo>
                      <a:cubicBezTo>
                        <a:pt x="222200" y="169228"/>
                        <a:pt x="248983" y="178460"/>
                        <a:pt x="261646" y="181535"/>
                      </a:cubicBezTo>
                      <a:cubicBezTo>
                        <a:pt x="271383" y="183591"/>
                        <a:pt x="283557" y="183072"/>
                        <a:pt x="291842" y="175897"/>
                      </a:cubicBezTo>
                      <a:cubicBezTo>
                        <a:pt x="301091" y="168203"/>
                        <a:pt x="304498" y="151284"/>
                        <a:pt x="294278" y="139490"/>
                      </a:cubicBezTo>
                      <a:cubicBezTo>
                        <a:pt x="285505" y="128727"/>
                        <a:pt x="269918" y="127184"/>
                        <a:pt x="259216" y="136421"/>
                      </a:cubicBezTo>
                      <a:cubicBezTo>
                        <a:pt x="253367" y="141546"/>
                        <a:pt x="251419" y="146671"/>
                        <a:pt x="250931" y="153853"/>
                      </a:cubicBezTo>
                      <a:cubicBezTo>
                        <a:pt x="250931" y="165128"/>
                        <a:pt x="220741" y="156928"/>
                        <a:pt x="207590" y="115396"/>
                      </a:cubicBezTo>
                      <a:lnTo>
                        <a:pt x="246059" y="56945"/>
                      </a:lnTo>
                      <a:cubicBezTo>
                        <a:pt x="261646" y="33363"/>
                        <a:pt x="285028" y="32845"/>
                        <a:pt x="285028" y="32845"/>
                      </a:cubicBezTo>
                      <a:cubicBezTo>
                        <a:pt x="300120" y="32845"/>
                        <a:pt x="315701" y="39001"/>
                        <a:pt x="318137" y="56945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9" name="자유형: 도형 29">
                  <a:extLst>
                    <a:ext uri="{FF2B5EF4-FFF2-40B4-BE49-F238E27FC236}">
                      <a16:creationId xmlns:a16="http://schemas.microsoft.com/office/drawing/2014/main" id="{9FDD36E5-1B80-74B5-3E5E-D9F63D6D8A4C}"/>
                    </a:ext>
                  </a:extLst>
                </p:cNvPr>
                <p:cNvSpPr/>
                <p:nvPr/>
              </p:nvSpPr>
              <p:spPr>
                <a:xfrm flipV="1">
                  <a:off x="2427647" y="1513327"/>
                  <a:ext cx="343018" cy="360956"/>
                </a:xfrm>
                <a:custGeom>
                  <a:avLst/>
                  <a:gdLst>
                    <a:gd name="connsiteX0" fmla="*/ 343489 w 343018"/>
                    <a:gd name="connsiteY0" fmla="*/ 361331 h 360956"/>
                    <a:gd name="connsiteX1" fmla="*/ 343489 w 343018"/>
                    <a:gd name="connsiteY1" fmla="*/ 354662 h 360956"/>
                    <a:gd name="connsiteX2" fmla="*/ 237862 w 343018"/>
                    <a:gd name="connsiteY2" fmla="*/ 241867 h 360956"/>
                    <a:gd name="connsiteX3" fmla="*/ 198899 w 343018"/>
                    <a:gd name="connsiteY3" fmla="*/ 161371 h 360956"/>
                    <a:gd name="connsiteX4" fmla="*/ 198899 w 343018"/>
                    <a:gd name="connsiteY4" fmla="*/ 57801 h 360956"/>
                    <a:gd name="connsiteX5" fmla="*/ 237349 w 343018"/>
                    <a:gd name="connsiteY5" fmla="*/ 7044 h 360956"/>
                    <a:gd name="connsiteX6" fmla="*/ 237349 w 343018"/>
                    <a:gd name="connsiteY6" fmla="*/ 375 h 360956"/>
                    <a:gd name="connsiteX7" fmla="*/ 112241 w 343018"/>
                    <a:gd name="connsiteY7" fmla="*/ 375 h 360956"/>
                    <a:gd name="connsiteX8" fmla="*/ 112241 w 343018"/>
                    <a:gd name="connsiteY8" fmla="*/ 7044 h 360956"/>
                    <a:gd name="connsiteX9" fmla="*/ 150698 w 343018"/>
                    <a:gd name="connsiteY9" fmla="*/ 57801 h 360956"/>
                    <a:gd name="connsiteX10" fmla="*/ 150698 w 343018"/>
                    <a:gd name="connsiteY10" fmla="*/ 148034 h 360956"/>
                    <a:gd name="connsiteX11" fmla="*/ 54309 w 343018"/>
                    <a:gd name="connsiteY11" fmla="*/ 315186 h 360956"/>
                    <a:gd name="connsiteX12" fmla="*/ 471 w 343018"/>
                    <a:gd name="connsiteY12" fmla="*/ 355175 h 360956"/>
                    <a:gd name="connsiteX13" fmla="*/ 471 w 343018"/>
                    <a:gd name="connsiteY13" fmla="*/ 361331 h 360956"/>
                    <a:gd name="connsiteX14" fmla="*/ 132247 w 343018"/>
                    <a:gd name="connsiteY14" fmla="*/ 361331 h 360956"/>
                    <a:gd name="connsiteX15" fmla="*/ 132247 w 343018"/>
                    <a:gd name="connsiteY15" fmla="*/ 355175 h 360956"/>
                    <a:gd name="connsiteX16" fmla="*/ 120448 w 343018"/>
                    <a:gd name="connsiteY16" fmla="*/ 297242 h 360956"/>
                    <a:gd name="connsiteX17" fmla="*/ 195824 w 343018"/>
                    <a:gd name="connsiteY17" fmla="*/ 169572 h 360956"/>
                    <a:gd name="connsiteX18" fmla="*/ 234787 w 343018"/>
                    <a:gd name="connsiteY18" fmla="*/ 249554 h 360956"/>
                    <a:gd name="connsiteX19" fmla="*/ 211718 w 343018"/>
                    <a:gd name="connsiteY19" fmla="*/ 354662 h 360956"/>
                    <a:gd name="connsiteX20" fmla="*/ 211718 w 343018"/>
                    <a:gd name="connsiteY20" fmla="*/ 361331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3018" h="360956">
                      <a:moveTo>
                        <a:pt x="343489" y="361331"/>
                      </a:moveTo>
                      <a:lnTo>
                        <a:pt x="343489" y="354662"/>
                      </a:lnTo>
                      <a:cubicBezTo>
                        <a:pt x="321444" y="354662"/>
                        <a:pt x="294775" y="354662"/>
                        <a:pt x="237862" y="241867"/>
                      </a:cubicBezTo>
                      <a:lnTo>
                        <a:pt x="198899" y="161371"/>
                      </a:lnTo>
                      <a:lnTo>
                        <a:pt x="198899" y="57801"/>
                      </a:lnTo>
                      <a:cubicBezTo>
                        <a:pt x="198899" y="16269"/>
                        <a:pt x="215818" y="7044"/>
                        <a:pt x="237349" y="7044"/>
                      </a:cubicBezTo>
                      <a:lnTo>
                        <a:pt x="237349" y="375"/>
                      </a:lnTo>
                      <a:lnTo>
                        <a:pt x="112241" y="375"/>
                      </a:lnTo>
                      <a:lnTo>
                        <a:pt x="112241" y="7044"/>
                      </a:lnTo>
                      <a:cubicBezTo>
                        <a:pt x="133785" y="7044"/>
                        <a:pt x="150698" y="16269"/>
                        <a:pt x="150698" y="57801"/>
                      </a:cubicBezTo>
                      <a:lnTo>
                        <a:pt x="150698" y="148034"/>
                      </a:lnTo>
                      <a:cubicBezTo>
                        <a:pt x="75334" y="281342"/>
                        <a:pt x="54309" y="315186"/>
                        <a:pt x="54309" y="315186"/>
                      </a:cubicBezTo>
                      <a:cubicBezTo>
                        <a:pt x="31246" y="354156"/>
                        <a:pt x="17402" y="354156"/>
                        <a:pt x="471" y="355175"/>
                      </a:cubicBezTo>
                      <a:lnTo>
                        <a:pt x="471" y="361331"/>
                      </a:lnTo>
                      <a:lnTo>
                        <a:pt x="132247" y="361331"/>
                      </a:lnTo>
                      <a:lnTo>
                        <a:pt x="132247" y="355175"/>
                      </a:lnTo>
                      <a:cubicBezTo>
                        <a:pt x="117885" y="355175"/>
                        <a:pt x="85596" y="356200"/>
                        <a:pt x="120448" y="297242"/>
                      </a:cubicBezTo>
                      <a:lnTo>
                        <a:pt x="195824" y="169572"/>
                      </a:lnTo>
                      <a:lnTo>
                        <a:pt x="234787" y="249554"/>
                      </a:lnTo>
                      <a:cubicBezTo>
                        <a:pt x="252224" y="284936"/>
                        <a:pt x="280931" y="354662"/>
                        <a:pt x="211718" y="354662"/>
                      </a:cubicBezTo>
                      <a:lnTo>
                        <a:pt x="211718" y="361331"/>
                      </a:ln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0" name="자유형: 도형 30">
                  <a:extLst>
                    <a:ext uri="{FF2B5EF4-FFF2-40B4-BE49-F238E27FC236}">
                      <a16:creationId xmlns:a16="http://schemas.microsoft.com/office/drawing/2014/main" id="{9D8B543A-7165-7C75-CAD4-DF4E5497D31C}"/>
                    </a:ext>
                  </a:extLst>
                </p:cNvPr>
                <p:cNvSpPr/>
                <p:nvPr/>
              </p:nvSpPr>
              <p:spPr>
                <a:xfrm flipV="1">
                  <a:off x="1748076" y="1998302"/>
                  <a:ext cx="263535" cy="360956"/>
                </a:xfrm>
                <a:custGeom>
                  <a:avLst/>
                  <a:gdLst>
                    <a:gd name="connsiteX0" fmla="*/ 94103 w 263535"/>
                    <a:gd name="connsiteY0" fmla="*/ 161445 h 360956"/>
                    <a:gd name="connsiteX1" fmla="*/ 207930 w 263535"/>
                    <a:gd name="connsiteY1" fmla="*/ 257835 h 360956"/>
                    <a:gd name="connsiteX2" fmla="*/ 94103 w 263535"/>
                    <a:gd name="connsiteY2" fmla="*/ 354742 h 360956"/>
                    <a:gd name="connsiteX3" fmla="*/ 84878 w 263535"/>
                    <a:gd name="connsiteY3" fmla="*/ 354742 h 360956"/>
                    <a:gd name="connsiteX4" fmla="*/ 84878 w 263535"/>
                    <a:gd name="connsiteY4" fmla="*/ 161445 h 360956"/>
                    <a:gd name="connsiteX5" fmla="*/ 84878 w 263535"/>
                    <a:gd name="connsiteY5" fmla="*/ 70688 h 360956"/>
                    <a:gd name="connsiteX6" fmla="*/ 135629 w 263535"/>
                    <a:gd name="connsiteY6" fmla="*/ 7118 h 360956"/>
                    <a:gd name="connsiteX7" fmla="*/ 135629 w 263535"/>
                    <a:gd name="connsiteY7" fmla="*/ 449 h 360956"/>
                    <a:gd name="connsiteX8" fmla="*/ 277 w 263535"/>
                    <a:gd name="connsiteY8" fmla="*/ 449 h 360956"/>
                    <a:gd name="connsiteX9" fmla="*/ 277 w 263535"/>
                    <a:gd name="connsiteY9" fmla="*/ 7118 h 360956"/>
                    <a:gd name="connsiteX10" fmla="*/ 34115 w 263535"/>
                    <a:gd name="connsiteY10" fmla="*/ 69150 h 360956"/>
                    <a:gd name="connsiteX11" fmla="*/ 34115 w 263535"/>
                    <a:gd name="connsiteY11" fmla="*/ 306542 h 360956"/>
                    <a:gd name="connsiteX12" fmla="*/ 1302 w 263535"/>
                    <a:gd name="connsiteY12" fmla="*/ 354742 h 360956"/>
                    <a:gd name="connsiteX13" fmla="*/ 1302 w 263535"/>
                    <a:gd name="connsiteY13" fmla="*/ 361405 h 360956"/>
                    <a:gd name="connsiteX14" fmla="*/ 94103 w 263535"/>
                    <a:gd name="connsiteY14" fmla="*/ 361405 h 360956"/>
                    <a:gd name="connsiteX15" fmla="*/ 263813 w 263535"/>
                    <a:gd name="connsiteY15" fmla="*/ 257835 h 360956"/>
                    <a:gd name="connsiteX16" fmla="*/ 94103 w 263535"/>
                    <a:gd name="connsiteY16" fmla="*/ 154783 h 360956"/>
                    <a:gd name="connsiteX17" fmla="*/ 84878 w 263535"/>
                    <a:gd name="connsiteY17" fmla="*/ 154783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3535" h="360956">
                      <a:moveTo>
                        <a:pt x="94103" y="161445"/>
                      </a:moveTo>
                      <a:cubicBezTo>
                        <a:pt x="156660" y="161445"/>
                        <a:pt x="207930" y="162983"/>
                        <a:pt x="207930" y="257835"/>
                      </a:cubicBezTo>
                      <a:cubicBezTo>
                        <a:pt x="207930" y="355261"/>
                        <a:pt x="154092" y="354742"/>
                        <a:pt x="94103" y="354742"/>
                      </a:cubicBezTo>
                      <a:lnTo>
                        <a:pt x="84878" y="354742"/>
                      </a:lnTo>
                      <a:lnTo>
                        <a:pt x="84878" y="161445"/>
                      </a:lnTo>
                      <a:close/>
                      <a:moveTo>
                        <a:pt x="84878" y="70688"/>
                      </a:moveTo>
                      <a:cubicBezTo>
                        <a:pt x="84878" y="9162"/>
                        <a:pt x="103329" y="7118"/>
                        <a:pt x="135629" y="7118"/>
                      </a:cubicBezTo>
                      <a:lnTo>
                        <a:pt x="135629" y="449"/>
                      </a:lnTo>
                      <a:lnTo>
                        <a:pt x="277" y="449"/>
                      </a:lnTo>
                      <a:lnTo>
                        <a:pt x="277" y="7118"/>
                      </a:lnTo>
                      <a:cubicBezTo>
                        <a:pt x="25396" y="7118"/>
                        <a:pt x="34115" y="20449"/>
                        <a:pt x="34115" y="69150"/>
                      </a:cubicBezTo>
                      <a:lnTo>
                        <a:pt x="34115" y="306542"/>
                      </a:lnTo>
                      <a:cubicBezTo>
                        <a:pt x="34115" y="341923"/>
                        <a:pt x="26934" y="354742"/>
                        <a:pt x="1302" y="354742"/>
                      </a:cubicBezTo>
                      <a:lnTo>
                        <a:pt x="1302" y="361405"/>
                      </a:lnTo>
                      <a:lnTo>
                        <a:pt x="94103" y="361405"/>
                      </a:lnTo>
                      <a:cubicBezTo>
                        <a:pt x="196130" y="361405"/>
                        <a:pt x="263813" y="349099"/>
                        <a:pt x="263813" y="257835"/>
                      </a:cubicBezTo>
                      <a:cubicBezTo>
                        <a:pt x="263813" y="167089"/>
                        <a:pt x="196130" y="154783"/>
                        <a:pt x="94103" y="154783"/>
                      </a:cubicBezTo>
                      <a:lnTo>
                        <a:pt x="84878" y="154783"/>
                      </a:ln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1" name="자유형: 도형 31">
                  <a:extLst>
                    <a:ext uri="{FF2B5EF4-FFF2-40B4-BE49-F238E27FC236}">
                      <a16:creationId xmlns:a16="http://schemas.microsoft.com/office/drawing/2014/main" id="{E1C01494-7C03-5999-766A-614924035D52}"/>
                    </a:ext>
                  </a:extLst>
                </p:cNvPr>
                <p:cNvSpPr/>
                <p:nvPr/>
              </p:nvSpPr>
              <p:spPr>
                <a:xfrm flipV="1">
                  <a:off x="2031586" y="1998298"/>
                  <a:ext cx="336343" cy="360962"/>
                </a:xfrm>
                <a:custGeom>
                  <a:avLst/>
                  <a:gdLst>
                    <a:gd name="connsiteX0" fmla="*/ 210577 w 336343"/>
                    <a:gd name="connsiteY0" fmla="*/ 116324 h 360962"/>
                    <a:gd name="connsiteX1" fmla="*/ 143401 w 336343"/>
                    <a:gd name="connsiteY1" fmla="*/ 286540 h 360962"/>
                    <a:gd name="connsiteX2" fmla="*/ 81368 w 336343"/>
                    <a:gd name="connsiteY2" fmla="*/ 116324 h 360962"/>
                    <a:gd name="connsiteX3" fmla="*/ 336704 w 336343"/>
                    <a:gd name="connsiteY3" fmla="*/ 442 h 360962"/>
                    <a:gd name="connsiteX4" fmla="*/ 219796 w 336343"/>
                    <a:gd name="connsiteY4" fmla="*/ 442 h 360962"/>
                    <a:gd name="connsiteX5" fmla="*/ 219796 w 336343"/>
                    <a:gd name="connsiteY5" fmla="*/ 7116 h 360962"/>
                    <a:gd name="connsiteX6" fmla="*/ 230565 w 336343"/>
                    <a:gd name="connsiteY6" fmla="*/ 65049 h 360962"/>
                    <a:gd name="connsiteX7" fmla="*/ 212627 w 336343"/>
                    <a:gd name="connsiteY7" fmla="*/ 109656 h 360962"/>
                    <a:gd name="connsiteX8" fmla="*/ 79825 w 336343"/>
                    <a:gd name="connsiteY8" fmla="*/ 109656 h 360962"/>
                    <a:gd name="connsiteX9" fmla="*/ 114700 w 336343"/>
                    <a:gd name="connsiteY9" fmla="*/ 7116 h 360962"/>
                    <a:gd name="connsiteX10" fmla="*/ 114700 w 336343"/>
                    <a:gd name="connsiteY10" fmla="*/ 442 h 360962"/>
                    <a:gd name="connsiteX11" fmla="*/ 361 w 336343"/>
                    <a:gd name="connsiteY11" fmla="*/ 442 h 360962"/>
                    <a:gd name="connsiteX12" fmla="*/ 361 w 336343"/>
                    <a:gd name="connsiteY12" fmla="*/ 7116 h 360962"/>
                    <a:gd name="connsiteX13" fmla="*/ 77268 w 336343"/>
                    <a:gd name="connsiteY13" fmla="*/ 128112 h 360962"/>
                    <a:gd name="connsiteX14" fmla="*/ 162889 w 336343"/>
                    <a:gd name="connsiteY14" fmla="*/ 361404 h 360962"/>
                    <a:gd name="connsiteX15" fmla="*/ 168520 w 336343"/>
                    <a:gd name="connsiteY15" fmla="*/ 361404 h 360962"/>
                    <a:gd name="connsiteX16" fmla="*/ 294660 w 336343"/>
                    <a:gd name="connsiteY16" fmla="*/ 48636 h 360962"/>
                    <a:gd name="connsiteX17" fmla="*/ 336704 w 336343"/>
                    <a:gd name="connsiteY17" fmla="*/ 7116 h 360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36343" h="360962">
                      <a:moveTo>
                        <a:pt x="210577" y="116324"/>
                      </a:moveTo>
                      <a:lnTo>
                        <a:pt x="143401" y="286540"/>
                      </a:lnTo>
                      <a:lnTo>
                        <a:pt x="81368" y="116324"/>
                      </a:lnTo>
                      <a:close/>
                      <a:moveTo>
                        <a:pt x="336704" y="442"/>
                      </a:moveTo>
                      <a:lnTo>
                        <a:pt x="219796" y="442"/>
                      </a:lnTo>
                      <a:lnTo>
                        <a:pt x="219796" y="7116"/>
                      </a:lnTo>
                      <a:cubicBezTo>
                        <a:pt x="247484" y="7116"/>
                        <a:pt x="242359" y="36330"/>
                        <a:pt x="230565" y="65049"/>
                      </a:cubicBezTo>
                      <a:lnTo>
                        <a:pt x="212627" y="109656"/>
                      </a:lnTo>
                      <a:lnTo>
                        <a:pt x="79825" y="109656"/>
                      </a:lnTo>
                      <a:cubicBezTo>
                        <a:pt x="65987" y="68636"/>
                        <a:pt x="43430" y="5060"/>
                        <a:pt x="114700" y="7116"/>
                      </a:cubicBezTo>
                      <a:lnTo>
                        <a:pt x="114700" y="442"/>
                      </a:lnTo>
                      <a:lnTo>
                        <a:pt x="361" y="442"/>
                      </a:lnTo>
                      <a:lnTo>
                        <a:pt x="361" y="7116"/>
                      </a:lnTo>
                      <a:cubicBezTo>
                        <a:pt x="19842" y="7623"/>
                        <a:pt x="32661" y="9679"/>
                        <a:pt x="77268" y="128112"/>
                      </a:cubicBezTo>
                      <a:lnTo>
                        <a:pt x="162889" y="361404"/>
                      </a:lnTo>
                      <a:lnTo>
                        <a:pt x="168520" y="361404"/>
                      </a:lnTo>
                      <a:cubicBezTo>
                        <a:pt x="231077" y="210664"/>
                        <a:pt x="294660" y="48636"/>
                        <a:pt x="294660" y="48636"/>
                      </a:cubicBezTo>
                      <a:cubicBezTo>
                        <a:pt x="311585" y="7623"/>
                        <a:pt x="322347" y="8141"/>
                        <a:pt x="336704" y="7116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2">
                  <a:extLst>
                    <a:ext uri="{FF2B5EF4-FFF2-40B4-BE49-F238E27FC236}">
                      <a16:creationId xmlns:a16="http://schemas.microsoft.com/office/drawing/2014/main" id="{EB126B01-7EB4-03A4-D550-E08FC2FBA668}"/>
                    </a:ext>
                  </a:extLst>
                </p:cNvPr>
                <p:cNvSpPr/>
                <p:nvPr/>
              </p:nvSpPr>
              <p:spPr>
                <a:xfrm flipV="1">
                  <a:off x="2424299" y="1998303"/>
                  <a:ext cx="311736" cy="360956"/>
                </a:xfrm>
                <a:custGeom>
                  <a:avLst/>
                  <a:gdLst>
                    <a:gd name="connsiteX0" fmla="*/ 98361 w 311736"/>
                    <a:gd name="connsiteY0" fmla="*/ 354774 h 360956"/>
                    <a:gd name="connsiteX1" fmla="*/ 82461 w 311736"/>
                    <a:gd name="connsiteY1" fmla="*/ 354774 h 360956"/>
                    <a:gd name="connsiteX2" fmla="*/ 82461 w 311736"/>
                    <a:gd name="connsiteY2" fmla="*/ 172759 h 360956"/>
                    <a:gd name="connsiteX3" fmla="*/ 98361 w 311736"/>
                    <a:gd name="connsiteY3" fmla="*/ 172759 h 360956"/>
                    <a:gd name="connsiteX4" fmla="*/ 200388 w 311736"/>
                    <a:gd name="connsiteY4" fmla="*/ 263504 h 360956"/>
                    <a:gd name="connsiteX5" fmla="*/ 98361 w 311736"/>
                    <a:gd name="connsiteY5" fmla="*/ 354774 h 360956"/>
                    <a:gd name="connsiteX6" fmla="*/ 312165 w 311736"/>
                    <a:gd name="connsiteY6" fmla="*/ 481 h 360956"/>
                    <a:gd name="connsiteX7" fmla="*/ 273189 w 311736"/>
                    <a:gd name="connsiteY7" fmla="*/ 481 h 360956"/>
                    <a:gd name="connsiteX8" fmla="*/ 186037 w 311736"/>
                    <a:gd name="connsiteY8" fmla="*/ 112258 h 360956"/>
                    <a:gd name="connsiteX9" fmla="*/ 106561 w 311736"/>
                    <a:gd name="connsiteY9" fmla="*/ 166090 h 360956"/>
                    <a:gd name="connsiteX10" fmla="*/ 82461 w 311736"/>
                    <a:gd name="connsiteY10" fmla="*/ 166090 h 360956"/>
                    <a:gd name="connsiteX11" fmla="*/ 82461 w 311736"/>
                    <a:gd name="connsiteY11" fmla="*/ 53807 h 360956"/>
                    <a:gd name="connsiteX12" fmla="*/ 115280 w 311736"/>
                    <a:gd name="connsiteY12" fmla="*/ 7156 h 360956"/>
                    <a:gd name="connsiteX13" fmla="*/ 115280 w 311736"/>
                    <a:gd name="connsiteY13" fmla="*/ 481 h 360956"/>
                    <a:gd name="connsiteX14" fmla="*/ 428 w 311736"/>
                    <a:gd name="connsiteY14" fmla="*/ 481 h 360956"/>
                    <a:gd name="connsiteX15" fmla="*/ 428 w 311736"/>
                    <a:gd name="connsiteY15" fmla="*/ 7156 h 360956"/>
                    <a:gd name="connsiteX16" fmla="*/ 32210 w 311736"/>
                    <a:gd name="connsiteY16" fmla="*/ 60470 h 360956"/>
                    <a:gd name="connsiteX17" fmla="*/ 32210 w 311736"/>
                    <a:gd name="connsiteY17" fmla="*/ 315811 h 360956"/>
                    <a:gd name="connsiteX18" fmla="*/ 428 w 311736"/>
                    <a:gd name="connsiteY18" fmla="*/ 354774 h 360956"/>
                    <a:gd name="connsiteX19" fmla="*/ 428 w 311736"/>
                    <a:gd name="connsiteY19" fmla="*/ 361437 h 360956"/>
                    <a:gd name="connsiteX20" fmla="*/ 98361 w 311736"/>
                    <a:gd name="connsiteY20" fmla="*/ 361437 h 360956"/>
                    <a:gd name="connsiteX21" fmla="*/ 256777 w 311736"/>
                    <a:gd name="connsiteY21" fmla="*/ 263504 h 360956"/>
                    <a:gd name="connsiteX22" fmla="*/ 161425 w 311736"/>
                    <a:gd name="connsiteY22" fmla="*/ 169684 h 360956"/>
                    <a:gd name="connsiteX23" fmla="*/ 257301 w 311736"/>
                    <a:gd name="connsiteY23" fmla="*/ 52269 h 360956"/>
                    <a:gd name="connsiteX24" fmla="*/ 312165 w 311736"/>
                    <a:gd name="connsiteY24" fmla="*/ 7156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11736" h="360956">
                      <a:moveTo>
                        <a:pt x="98361" y="354774"/>
                      </a:moveTo>
                      <a:lnTo>
                        <a:pt x="82461" y="354774"/>
                      </a:lnTo>
                      <a:lnTo>
                        <a:pt x="82461" y="172759"/>
                      </a:lnTo>
                      <a:lnTo>
                        <a:pt x="98361" y="172759"/>
                      </a:lnTo>
                      <a:cubicBezTo>
                        <a:pt x="156293" y="172759"/>
                        <a:pt x="200388" y="172252"/>
                        <a:pt x="200388" y="263504"/>
                      </a:cubicBezTo>
                      <a:cubicBezTo>
                        <a:pt x="200388" y="356831"/>
                        <a:pt x="153224" y="354774"/>
                        <a:pt x="98361" y="354774"/>
                      </a:cubicBezTo>
                      <a:moveTo>
                        <a:pt x="312165" y="481"/>
                      </a:moveTo>
                      <a:lnTo>
                        <a:pt x="273189" y="481"/>
                      </a:lnTo>
                      <a:cubicBezTo>
                        <a:pt x="207557" y="481"/>
                        <a:pt x="215257" y="994"/>
                        <a:pt x="186037" y="112258"/>
                      </a:cubicBezTo>
                      <a:cubicBezTo>
                        <a:pt x="171669" y="166090"/>
                        <a:pt x="119887" y="166090"/>
                        <a:pt x="106561" y="166090"/>
                      </a:cubicBezTo>
                      <a:lnTo>
                        <a:pt x="82461" y="166090"/>
                      </a:lnTo>
                      <a:lnTo>
                        <a:pt x="82461" y="53807"/>
                      </a:lnTo>
                      <a:cubicBezTo>
                        <a:pt x="82461" y="18431"/>
                        <a:pt x="93742" y="7156"/>
                        <a:pt x="115280" y="7156"/>
                      </a:cubicBezTo>
                      <a:lnTo>
                        <a:pt x="115280" y="481"/>
                      </a:lnTo>
                      <a:lnTo>
                        <a:pt x="428" y="481"/>
                      </a:lnTo>
                      <a:lnTo>
                        <a:pt x="428" y="7156"/>
                      </a:lnTo>
                      <a:cubicBezTo>
                        <a:pt x="22479" y="7156"/>
                        <a:pt x="32210" y="17406"/>
                        <a:pt x="32210" y="60470"/>
                      </a:cubicBezTo>
                      <a:lnTo>
                        <a:pt x="32210" y="315811"/>
                      </a:lnTo>
                      <a:cubicBezTo>
                        <a:pt x="32210" y="347599"/>
                        <a:pt x="22985" y="354774"/>
                        <a:pt x="428" y="354774"/>
                      </a:cubicBezTo>
                      <a:lnTo>
                        <a:pt x="428" y="361437"/>
                      </a:lnTo>
                      <a:lnTo>
                        <a:pt x="98361" y="361437"/>
                      </a:lnTo>
                      <a:cubicBezTo>
                        <a:pt x="200388" y="361437"/>
                        <a:pt x="256777" y="349131"/>
                        <a:pt x="256777" y="263504"/>
                      </a:cubicBezTo>
                      <a:cubicBezTo>
                        <a:pt x="256777" y="193778"/>
                        <a:pt x="216801" y="173265"/>
                        <a:pt x="161425" y="169684"/>
                      </a:cubicBezTo>
                      <a:cubicBezTo>
                        <a:pt x="195257" y="168146"/>
                        <a:pt x="230638" y="164553"/>
                        <a:pt x="257301" y="52269"/>
                      </a:cubicBezTo>
                      <a:cubicBezTo>
                        <a:pt x="266533" y="13300"/>
                        <a:pt x="298833" y="8181"/>
                        <a:pt x="312165" y="7156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3" name="자유형: 도형 33">
                  <a:extLst>
                    <a:ext uri="{FF2B5EF4-FFF2-40B4-BE49-F238E27FC236}">
                      <a16:creationId xmlns:a16="http://schemas.microsoft.com/office/drawing/2014/main" id="{EB0DAF27-2DC5-88BA-425C-41891725EA79}"/>
                    </a:ext>
                  </a:extLst>
                </p:cNvPr>
                <p:cNvSpPr/>
                <p:nvPr/>
              </p:nvSpPr>
              <p:spPr>
                <a:xfrm flipV="1">
                  <a:off x="2770871" y="1998301"/>
                  <a:ext cx="313786" cy="360956"/>
                </a:xfrm>
                <a:custGeom>
                  <a:avLst/>
                  <a:gdLst>
                    <a:gd name="connsiteX0" fmla="*/ 314327 w 313786"/>
                    <a:gd name="connsiteY0" fmla="*/ 361438 h 360956"/>
                    <a:gd name="connsiteX1" fmla="*/ 314327 w 313786"/>
                    <a:gd name="connsiteY1" fmla="*/ 271199 h 360956"/>
                    <a:gd name="connsiteX2" fmla="*/ 307671 w 313786"/>
                    <a:gd name="connsiteY2" fmla="*/ 271199 h 360956"/>
                    <a:gd name="connsiteX3" fmla="*/ 212813 w 313786"/>
                    <a:gd name="connsiteY3" fmla="*/ 354776 h 360956"/>
                    <a:gd name="connsiteX4" fmla="*/ 182556 w 313786"/>
                    <a:gd name="connsiteY4" fmla="*/ 354776 h 360956"/>
                    <a:gd name="connsiteX5" fmla="*/ 182556 w 313786"/>
                    <a:gd name="connsiteY5" fmla="*/ 50214 h 360956"/>
                    <a:gd name="connsiteX6" fmla="*/ 219988 w 313786"/>
                    <a:gd name="connsiteY6" fmla="*/ 7151 h 360956"/>
                    <a:gd name="connsiteX7" fmla="*/ 219988 w 313786"/>
                    <a:gd name="connsiteY7" fmla="*/ 482 h 360956"/>
                    <a:gd name="connsiteX8" fmla="*/ 94886 w 313786"/>
                    <a:gd name="connsiteY8" fmla="*/ 482 h 360956"/>
                    <a:gd name="connsiteX9" fmla="*/ 94886 w 313786"/>
                    <a:gd name="connsiteY9" fmla="*/ 7151 h 360956"/>
                    <a:gd name="connsiteX10" fmla="*/ 131799 w 313786"/>
                    <a:gd name="connsiteY10" fmla="*/ 50214 h 360956"/>
                    <a:gd name="connsiteX11" fmla="*/ 131799 w 313786"/>
                    <a:gd name="connsiteY11" fmla="*/ 354776 h 360956"/>
                    <a:gd name="connsiteX12" fmla="*/ 101549 w 313786"/>
                    <a:gd name="connsiteY12" fmla="*/ 354776 h 360956"/>
                    <a:gd name="connsiteX13" fmla="*/ 7209 w 313786"/>
                    <a:gd name="connsiteY13" fmla="*/ 271199 h 360956"/>
                    <a:gd name="connsiteX14" fmla="*/ 541 w 313786"/>
                    <a:gd name="connsiteY14" fmla="*/ 271199 h 360956"/>
                    <a:gd name="connsiteX15" fmla="*/ 541 w 313786"/>
                    <a:gd name="connsiteY15" fmla="*/ 361438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13786" h="360956">
                      <a:moveTo>
                        <a:pt x="314327" y="361438"/>
                      </a:moveTo>
                      <a:lnTo>
                        <a:pt x="314327" y="271199"/>
                      </a:lnTo>
                      <a:lnTo>
                        <a:pt x="307671" y="271199"/>
                      </a:lnTo>
                      <a:cubicBezTo>
                        <a:pt x="305614" y="353751"/>
                        <a:pt x="219988" y="354776"/>
                        <a:pt x="212813" y="354776"/>
                      </a:cubicBezTo>
                      <a:lnTo>
                        <a:pt x="182556" y="354776"/>
                      </a:lnTo>
                      <a:lnTo>
                        <a:pt x="182556" y="50214"/>
                      </a:lnTo>
                      <a:cubicBezTo>
                        <a:pt x="182556" y="16376"/>
                        <a:pt x="198456" y="7151"/>
                        <a:pt x="219988" y="7151"/>
                      </a:cubicBezTo>
                      <a:lnTo>
                        <a:pt x="219988" y="482"/>
                      </a:lnTo>
                      <a:lnTo>
                        <a:pt x="94886" y="482"/>
                      </a:lnTo>
                      <a:lnTo>
                        <a:pt x="94886" y="7151"/>
                      </a:lnTo>
                      <a:cubicBezTo>
                        <a:pt x="116424" y="7151"/>
                        <a:pt x="131799" y="16376"/>
                        <a:pt x="131799" y="50214"/>
                      </a:cubicBezTo>
                      <a:lnTo>
                        <a:pt x="131799" y="354776"/>
                      </a:lnTo>
                      <a:lnTo>
                        <a:pt x="101549" y="354776"/>
                      </a:lnTo>
                      <a:cubicBezTo>
                        <a:pt x="85649" y="354776"/>
                        <a:pt x="9266" y="353751"/>
                        <a:pt x="7209" y="271199"/>
                      </a:cubicBezTo>
                      <a:lnTo>
                        <a:pt x="541" y="271199"/>
                      </a:lnTo>
                      <a:lnTo>
                        <a:pt x="541" y="361438"/>
                      </a:ln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4" name="자유형: 도형 34">
                  <a:extLst>
                    <a:ext uri="{FF2B5EF4-FFF2-40B4-BE49-F238E27FC236}">
                      <a16:creationId xmlns:a16="http://schemas.microsoft.com/office/drawing/2014/main" id="{BCC4DC26-0D30-2A52-328B-60A6AD2D0EC9}"/>
                    </a:ext>
                  </a:extLst>
                </p:cNvPr>
                <p:cNvSpPr/>
                <p:nvPr/>
              </p:nvSpPr>
              <p:spPr>
                <a:xfrm flipV="1">
                  <a:off x="3131802" y="1998301"/>
                  <a:ext cx="395813" cy="360956"/>
                </a:xfrm>
                <a:custGeom>
                  <a:avLst/>
                  <a:gdLst>
                    <a:gd name="connsiteX0" fmla="*/ 396450 w 395813"/>
                    <a:gd name="connsiteY0" fmla="*/ 361438 h 360956"/>
                    <a:gd name="connsiteX1" fmla="*/ 396450 w 395813"/>
                    <a:gd name="connsiteY1" fmla="*/ 355288 h 360956"/>
                    <a:gd name="connsiteX2" fmla="*/ 323654 w 395813"/>
                    <a:gd name="connsiteY2" fmla="*/ 233773 h 360956"/>
                    <a:gd name="connsiteX3" fmla="*/ 323654 w 395813"/>
                    <a:gd name="connsiteY3" fmla="*/ 482 h 360956"/>
                    <a:gd name="connsiteX4" fmla="*/ 307248 w 395813"/>
                    <a:gd name="connsiteY4" fmla="*/ 482 h 360956"/>
                    <a:gd name="connsiteX5" fmla="*/ 89332 w 395813"/>
                    <a:gd name="connsiteY5" fmla="*/ 281456 h 360956"/>
                    <a:gd name="connsiteX6" fmla="*/ 89332 w 395813"/>
                    <a:gd name="connsiteY6" fmla="*/ 128665 h 360956"/>
                    <a:gd name="connsiteX7" fmla="*/ 156508 w 395813"/>
                    <a:gd name="connsiteY7" fmla="*/ 7151 h 360956"/>
                    <a:gd name="connsiteX8" fmla="*/ 156508 w 395813"/>
                    <a:gd name="connsiteY8" fmla="*/ 482 h 360956"/>
                    <a:gd name="connsiteX9" fmla="*/ 8324 w 395813"/>
                    <a:gd name="connsiteY9" fmla="*/ 482 h 360956"/>
                    <a:gd name="connsiteX10" fmla="*/ 8324 w 395813"/>
                    <a:gd name="connsiteY10" fmla="*/ 7151 h 360956"/>
                    <a:gd name="connsiteX11" fmla="*/ 82675 w 395813"/>
                    <a:gd name="connsiteY11" fmla="*/ 128665 h 360956"/>
                    <a:gd name="connsiteX12" fmla="*/ 82675 w 395813"/>
                    <a:gd name="connsiteY12" fmla="*/ 289143 h 360956"/>
                    <a:gd name="connsiteX13" fmla="*/ 61650 w 395813"/>
                    <a:gd name="connsiteY13" fmla="*/ 316319 h 360956"/>
                    <a:gd name="connsiteX14" fmla="*/ 636 w 395813"/>
                    <a:gd name="connsiteY14" fmla="*/ 355288 h 360956"/>
                    <a:gd name="connsiteX15" fmla="*/ 636 w 395813"/>
                    <a:gd name="connsiteY15" fmla="*/ 361438 h 360956"/>
                    <a:gd name="connsiteX16" fmla="*/ 95488 w 395813"/>
                    <a:gd name="connsiteY16" fmla="*/ 361438 h 360956"/>
                    <a:gd name="connsiteX17" fmla="*/ 316979 w 395813"/>
                    <a:gd name="connsiteY17" fmla="*/ 75346 h 360956"/>
                    <a:gd name="connsiteX18" fmla="*/ 316979 w 395813"/>
                    <a:gd name="connsiteY18" fmla="*/ 233773 h 360956"/>
                    <a:gd name="connsiteX19" fmla="*/ 249822 w 395813"/>
                    <a:gd name="connsiteY19" fmla="*/ 355288 h 360956"/>
                    <a:gd name="connsiteX20" fmla="*/ 249822 w 395813"/>
                    <a:gd name="connsiteY20" fmla="*/ 361438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95813" h="360956">
                      <a:moveTo>
                        <a:pt x="396450" y="361438"/>
                      </a:moveTo>
                      <a:lnTo>
                        <a:pt x="396450" y="355288"/>
                      </a:lnTo>
                      <a:cubicBezTo>
                        <a:pt x="322111" y="355288"/>
                        <a:pt x="323654" y="281456"/>
                        <a:pt x="323654" y="233773"/>
                      </a:cubicBezTo>
                      <a:lnTo>
                        <a:pt x="323654" y="482"/>
                      </a:lnTo>
                      <a:lnTo>
                        <a:pt x="307248" y="482"/>
                      </a:lnTo>
                      <a:lnTo>
                        <a:pt x="89332" y="281456"/>
                      </a:lnTo>
                      <a:lnTo>
                        <a:pt x="89332" y="128665"/>
                      </a:lnTo>
                      <a:cubicBezTo>
                        <a:pt x="89332" y="83546"/>
                        <a:pt x="89332" y="7151"/>
                        <a:pt x="156508" y="7151"/>
                      </a:cubicBezTo>
                      <a:lnTo>
                        <a:pt x="156508" y="482"/>
                      </a:lnTo>
                      <a:lnTo>
                        <a:pt x="8324" y="482"/>
                      </a:lnTo>
                      <a:lnTo>
                        <a:pt x="8324" y="7151"/>
                      </a:lnTo>
                      <a:cubicBezTo>
                        <a:pt x="82675" y="7151"/>
                        <a:pt x="82675" y="82515"/>
                        <a:pt x="82675" y="128665"/>
                      </a:cubicBezTo>
                      <a:lnTo>
                        <a:pt x="82675" y="289143"/>
                      </a:lnTo>
                      <a:lnTo>
                        <a:pt x="61650" y="316319"/>
                      </a:lnTo>
                      <a:cubicBezTo>
                        <a:pt x="28837" y="357332"/>
                        <a:pt x="13968" y="354263"/>
                        <a:pt x="636" y="355288"/>
                      </a:cubicBezTo>
                      <a:lnTo>
                        <a:pt x="636" y="361438"/>
                      </a:lnTo>
                      <a:lnTo>
                        <a:pt x="95488" y="361438"/>
                      </a:lnTo>
                      <a:lnTo>
                        <a:pt x="316979" y="75346"/>
                      </a:lnTo>
                      <a:lnTo>
                        <a:pt x="316979" y="233773"/>
                      </a:lnTo>
                      <a:cubicBezTo>
                        <a:pt x="316979" y="281456"/>
                        <a:pt x="317498" y="355288"/>
                        <a:pt x="249822" y="355288"/>
                      </a:cubicBezTo>
                      <a:lnTo>
                        <a:pt x="249822" y="361438"/>
                      </a:ln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5" name="자유형: 도형 35">
                  <a:extLst>
                    <a:ext uri="{FF2B5EF4-FFF2-40B4-BE49-F238E27FC236}">
                      <a16:creationId xmlns:a16="http://schemas.microsoft.com/office/drawing/2014/main" id="{E020F200-CD86-A2F4-39C4-612DA7E04A51}"/>
                    </a:ext>
                  </a:extLst>
                </p:cNvPr>
                <p:cNvSpPr/>
                <p:nvPr/>
              </p:nvSpPr>
              <p:spPr>
                <a:xfrm flipV="1">
                  <a:off x="3587578" y="1998299"/>
                  <a:ext cx="257892" cy="360956"/>
                </a:xfrm>
                <a:custGeom>
                  <a:avLst/>
                  <a:gdLst>
                    <a:gd name="connsiteX0" fmla="*/ 258603 w 257892"/>
                    <a:gd name="connsiteY0" fmla="*/ 107086 h 360956"/>
                    <a:gd name="connsiteX1" fmla="*/ 258603 w 257892"/>
                    <a:gd name="connsiteY1" fmla="*/ 440 h 360956"/>
                    <a:gd name="connsiteX2" fmla="*/ 711 w 257892"/>
                    <a:gd name="connsiteY2" fmla="*/ 440 h 360956"/>
                    <a:gd name="connsiteX3" fmla="*/ 711 w 257892"/>
                    <a:gd name="connsiteY3" fmla="*/ 7109 h 360956"/>
                    <a:gd name="connsiteX4" fmla="*/ 28392 w 257892"/>
                    <a:gd name="connsiteY4" fmla="*/ 60429 h 360956"/>
                    <a:gd name="connsiteX5" fmla="*/ 28392 w 257892"/>
                    <a:gd name="connsiteY5" fmla="*/ 306533 h 360956"/>
                    <a:gd name="connsiteX6" fmla="*/ 711 w 257892"/>
                    <a:gd name="connsiteY6" fmla="*/ 354727 h 360956"/>
                    <a:gd name="connsiteX7" fmla="*/ 711 w 257892"/>
                    <a:gd name="connsiteY7" fmla="*/ 361396 h 360956"/>
                    <a:gd name="connsiteX8" fmla="*/ 251946 w 257892"/>
                    <a:gd name="connsiteY8" fmla="*/ 361396 h 360956"/>
                    <a:gd name="connsiteX9" fmla="*/ 251946 w 257892"/>
                    <a:gd name="connsiteY9" fmla="*/ 269101 h 360956"/>
                    <a:gd name="connsiteX10" fmla="*/ 245283 w 257892"/>
                    <a:gd name="connsiteY10" fmla="*/ 269101 h 360956"/>
                    <a:gd name="connsiteX11" fmla="*/ 108900 w 257892"/>
                    <a:gd name="connsiteY11" fmla="*/ 354727 h 360956"/>
                    <a:gd name="connsiteX12" fmla="*/ 81212 w 257892"/>
                    <a:gd name="connsiteY12" fmla="*/ 354727 h 360956"/>
                    <a:gd name="connsiteX13" fmla="*/ 81212 w 257892"/>
                    <a:gd name="connsiteY13" fmla="*/ 186049 h 360956"/>
                    <a:gd name="connsiteX14" fmla="*/ 114531 w 257892"/>
                    <a:gd name="connsiteY14" fmla="*/ 186049 h 360956"/>
                    <a:gd name="connsiteX15" fmla="*/ 185295 w 257892"/>
                    <a:gd name="connsiteY15" fmla="*/ 237831 h 360956"/>
                    <a:gd name="connsiteX16" fmla="*/ 191951 w 257892"/>
                    <a:gd name="connsiteY16" fmla="*/ 237831 h 360956"/>
                    <a:gd name="connsiteX17" fmla="*/ 191951 w 257892"/>
                    <a:gd name="connsiteY17" fmla="*/ 127592 h 360956"/>
                    <a:gd name="connsiteX18" fmla="*/ 185295 w 257892"/>
                    <a:gd name="connsiteY18" fmla="*/ 127592 h 360956"/>
                    <a:gd name="connsiteX19" fmla="*/ 114531 w 257892"/>
                    <a:gd name="connsiteY19" fmla="*/ 179380 h 360956"/>
                    <a:gd name="connsiteX20" fmla="*/ 81212 w 257892"/>
                    <a:gd name="connsiteY20" fmla="*/ 179380 h 360956"/>
                    <a:gd name="connsiteX21" fmla="*/ 81212 w 257892"/>
                    <a:gd name="connsiteY21" fmla="*/ 7109 h 360956"/>
                    <a:gd name="connsiteX22" fmla="*/ 104787 w 257892"/>
                    <a:gd name="connsiteY22" fmla="*/ 7109 h 360956"/>
                    <a:gd name="connsiteX23" fmla="*/ 251946 w 257892"/>
                    <a:gd name="connsiteY23" fmla="*/ 107086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57892" h="360956">
                      <a:moveTo>
                        <a:pt x="258603" y="107086"/>
                      </a:moveTo>
                      <a:lnTo>
                        <a:pt x="258603" y="440"/>
                      </a:lnTo>
                      <a:lnTo>
                        <a:pt x="711" y="440"/>
                      </a:lnTo>
                      <a:lnTo>
                        <a:pt x="711" y="7109"/>
                      </a:lnTo>
                      <a:cubicBezTo>
                        <a:pt x="22242" y="7109"/>
                        <a:pt x="28392" y="25559"/>
                        <a:pt x="28392" y="60429"/>
                      </a:cubicBezTo>
                      <a:lnTo>
                        <a:pt x="28392" y="306533"/>
                      </a:lnTo>
                      <a:cubicBezTo>
                        <a:pt x="28392" y="338327"/>
                        <a:pt x="23267" y="354727"/>
                        <a:pt x="711" y="354727"/>
                      </a:cubicBezTo>
                      <a:lnTo>
                        <a:pt x="711" y="361396"/>
                      </a:lnTo>
                      <a:lnTo>
                        <a:pt x="251946" y="361396"/>
                      </a:lnTo>
                      <a:lnTo>
                        <a:pt x="251946" y="269101"/>
                      </a:lnTo>
                      <a:lnTo>
                        <a:pt x="245283" y="269101"/>
                      </a:lnTo>
                      <a:cubicBezTo>
                        <a:pt x="239121" y="353702"/>
                        <a:pt x="150426" y="354727"/>
                        <a:pt x="108900" y="354727"/>
                      </a:cubicBezTo>
                      <a:lnTo>
                        <a:pt x="81212" y="354727"/>
                      </a:lnTo>
                      <a:lnTo>
                        <a:pt x="81212" y="186049"/>
                      </a:lnTo>
                      <a:lnTo>
                        <a:pt x="114531" y="186049"/>
                      </a:lnTo>
                      <a:cubicBezTo>
                        <a:pt x="128375" y="186049"/>
                        <a:pt x="182726" y="186049"/>
                        <a:pt x="185295" y="237831"/>
                      </a:cubicBezTo>
                      <a:lnTo>
                        <a:pt x="191951" y="237831"/>
                      </a:lnTo>
                      <a:lnTo>
                        <a:pt x="191951" y="127592"/>
                      </a:lnTo>
                      <a:lnTo>
                        <a:pt x="185295" y="127592"/>
                      </a:lnTo>
                      <a:cubicBezTo>
                        <a:pt x="182726" y="178862"/>
                        <a:pt x="127344" y="179380"/>
                        <a:pt x="114531" y="179380"/>
                      </a:cubicBezTo>
                      <a:lnTo>
                        <a:pt x="81212" y="179380"/>
                      </a:lnTo>
                      <a:lnTo>
                        <a:pt x="81212" y="7109"/>
                      </a:lnTo>
                      <a:lnTo>
                        <a:pt x="104787" y="7109"/>
                      </a:lnTo>
                      <a:cubicBezTo>
                        <a:pt x="150426" y="7109"/>
                        <a:pt x="241171" y="4540"/>
                        <a:pt x="251946" y="107086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6" name="자유형: 도형 36">
                  <a:extLst>
                    <a:ext uri="{FF2B5EF4-FFF2-40B4-BE49-F238E27FC236}">
                      <a16:creationId xmlns:a16="http://schemas.microsoft.com/office/drawing/2014/main" id="{E796B2BD-0D38-066A-5034-A3743169C971}"/>
                    </a:ext>
                  </a:extLst>
                </p:cNvPr>
                <p:cNvSpPr/>
                <p:nvPr/>
              </p:nvSpPr>
              <p:spPr>
                <a:xfrm flipV="1">
                  <a:off x="3923379" y="1998303"/>
                  <a:ext cx="311730" cy="360956"/>
                </a:xfrm>
                <a:custGeom>
                  <a:avLst/>
                  <a:gdLst>
                    <a:gd name="connsiteX0" fmla="*/ 98693 w 311730"/>
                    <a:gd name="connsiteY0" fmla="*/ 354774 h 360956"/>
                    <a:gd name="connsiteX1" fmla="*/ 82792 w 311730"/>
                    <a:gd name="connsiteY1" fmla="*/ 354774 h 360956"/>
                    <a:gd name="connsiteX2" fmla="*/ 82792 w 311730"/>
                    <a:gd name="connsiteY2" fmla="*/ 172759 h 360956"/>
                    <a:gd name="connsiteX3" fmla="*/ 98693 w 311730"/>
                    <a:gd name="connsiteY3" fmla="*/ 172759 h 360956"/>
                    <a:gd name="connsiteX4" fmla="*/ 200719 w 311730"/>
                    <a:gd name="connsiteY4" fmla="*/ 263504 h 360956"/>
                    <a:gd name="connsiteX5" fmla="*/ 98693 w 311730"/>
                    <a:gd name="connsiteY5" fmla="*/ 354774 h 360956"/>
                    <a:gd name="connsiteX6" fmla="*/ 312490 w 311730"/>
                    <a:gd name="connsiteY6" fmla="*/ 481 h 360956"/>
                    <a:gd name="connsiteX7" fmla="*/ 273527 w 311730"/>
                    <a:gd name="connsiteY7" fmla="*/ 481 h 360956"/>
                    <a:gd name="connsiteX8" fmla="*/ 186363 w 311730"/>
                    <a:gd name="connsiteY8" fmla="*/ 112258 h 360956"/>
                    <a:gd name="connsiteX9" fmla="*/ 106893 w 311730"/>
                    <a:gd name="connsiteY9" fmla="*/ 166090 h 360956"/>
                    <a:gd name="connsiteX10" fmla="*/ 82792 w 311730"/>
                    <a:gd name="connsiteY10" fmla="*/ 166090 h 360956"/>
                    <a:gd name="connsiteX11" fmla="*/ 82792 w 311730"/>
                    <a:gd name="connsiteY11" fmla="*/ 53807 h 360956"/>
                    <a:gd name="connsiteX12" fmla="*/ 115612 w 311730"/>
                    <a:gd name="connsiteY12" fmla="*/ 7156 h 360956"/>
                    <a:gd name="connsiteX13" fmla="*/ 115612 w 311730"/>
                    <a:gd name="connsiteY13" fmla="*/ 481 h 360956"/>
                    <a:gd name="connsiteX14" fmla="*/ 760 w 311730"/>
                    <a:gd name="connsiteY14" fmla="*/ 481 h 360956"/>
                    <a:gd name="connsiteX15" fmla="*/ 760 w 311730"/>
                    <a:gd name="connsiteY15" fmla="*/ 7156 h 360956"/>
                    <a:gd name="connsiteX16" fmla="*/ 32548 w 311730"/>
                    <a:gd name="connsiteY16" fmla="*/ 60470 h 360956"/>
                    <a:gd name="connsiteX17" fmla="*/ 32548 w 311730"/>
                    <a:gd name="connsiteY17" fmla="*/ 315811 h 360956"/>
                    <a:gd name="connsiteX18" fmla="*/ 760 w 311730"/>
                    <a:gd name="connsiteY18" fmla="*/ 354774 h 360956"/>
                    <a:gd name="connsiteX19" fmla="*/ 760 w 311730"/>
                    <a:gd name="connsiteY19" fmla="*/ 361437 h 360956"/>
                    <a:gd name="connsiteX20" fmla="*/ 98693 w 311730"/>
                    <a:gd name="connsiteY20" fmla="*/ 361437 h 360956"/>
                    <a:gd name="connsiteX21" fmla="*/ 257120 w 311730"/>
                    <a:gd name="connsiteY21" fmla="*/ 263504 h 360956"/>
                    <a:gd name="connsiteX22" fmla="*/ 161756 w 311730"/>
                    <a:gd name="connsiteY22" fmla="*/ 169684 h 360956"/>
                    <a:gd name="connsiteX23" fmla="*/ 257627 w 311730"/>
                    <a:gd name="connsiteY23" fmla="*/ 52269 h 360956"/>
                    <a:gd name="connsiteX24" fmla="*/ 312490 w 311730"/>
                    <a:gd name="connsiteY24" fmla="*/ 7156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11730" h="360956">
                      <a:moveTo>
                        <a:pt x="98693" y="354774"/>
                      </a:moveTo>
                      <a:lnTo>
                        <a:pt x="82792" y="354774"/>
                      </a:lnTo>
                      <a:lnTo>
                        <a:pt x="82792" y="172759"/>
                      </a:lnTo>
                      <a:lnTo>
                        <a:pt x="98693" y="172759"/>
                      </a:lnTo>
                      <a:cubicBezTo>
                        <a:pt x="156625" y="172759"/>
                        <a:pt x="200719" y="172252"/>
                        <a:pt x="200719" y="263504"/>
                      </a:cubicBezTo>
                      <a:cubicBezTo>
                        <a:pt x="200719" y="356831"/>
                        <a:pt x="153550" y="354774"/>
                        <a:pt x="98693" y="354774"/>
                      </a:cubicBezTo>
                      <a:moveTo>
                        <a:pt x="312490" y="481"/>
                      </a:moveTo>
                      <a:lnTo>
                        <a:pt x="273527" y="481"/>
                      </a:lnTo>
                      <a:cubicBezTo>
                        <a:pt x="207901" y="481"/>
                        <a:pt x="215594" y="994"/>
                        <a:pt x="186363" y="112258"/>
                      </a:cubicBezTo>
                      <a:cubicBezTo>
                        <a:pt x="172012" y="166090"/>
                        <a:pt x="120224" y="166090"/>
                        <a:pt x="106893" y="166090"/>
                      </a:cubicBezTo>
                      <a:lnTo>
                        <a:pt x="82792" y="166090"/>
                      </a:lnTo>
                      <a:lnTo>
                        <a:pt x="82792" y="53807"/>
                      </a:lnTo>
                      <a:cubicBezTo>
                        <a:pt x="82792" y="18431"/>
                        <a:pt x="94068" y="7156"/>
                        <a:pt x="115612" y="7156"/>
                      </a:cubicBezTo>
                      <a:lnTo>
                        <a:pt x="115612" y="481"/>
                      </a:lnTo>
                      <a:lnTo>
                        <a:pt x="760" y="481"/>
                      </a:lnTo>
                      <a:lnTo>
                        <a:pt x="760" y="7156"/>
                      </a:lnTo>
                      <a:cubicBezTo>
                        <a:pt x="22804" y="7156"/>
                        <a:pt x="32548" y="17406"/>
                        <a:pt x="32548" y="60470"/>
                      </a:cubicBezTo>
                      <a:lnTo>
                        <a:pt x="32548" y="315811"/>
                      </a:lnTo>
                      <a:cubicBezTo>
                        <a:pt x="32548" y="347599"/>
                        <a:pt x="23316" y="354774"/>
                        <a:pt x="760" y="354774"/>
                      </a:cubicBezTo>
                      <a:lnTo>
                        <a:pt x="760" y="361437"/>
                      </a:lnTo>
                      <a:lnTo>
                        <a:pt x="98693" y="361437"/>
                      </a:lnTo>
                      <a:cubicBezTo>
                        <a:pt x="200719" y="361437"/>
                        <a:pt x="257120" y="349131"/>
                        <a:pt x="257120" y="263504"/>
                      </a:cubicBezTo>
                      <a:cubicBezTo>
                        <a:pt x="257120" y="193778"/>
                        <a:pt x="217126" y="173265"/>
                        <a:pt x="161756" y="169684"/>
                      </a:cubicBezTo>
                      <a:cubicBezTo>
                        <a:pt x="195588" y="168146"/>
                        <a:pt x="230964" y="164553"/>
                        <a:pt x="257627" y="52269"/>
                      </a:cubicBezTo>
                      <a:cubicBezTo>
                        <a:pt x="266870" y="13300"/>
                        <a:pt x="299159" y="8181"/>
                        <a:pt x="312490" y="7156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7" name="자유형: 도형 37">
                  <a:extLst>
                    <a:ext uri="{FF2B5EF4-FFF2-40B4-BE49-F238E27FC236}">
                      <a16:creationId xmlns:a16="http://schemas.microsoft.com/office/drawing/2014/main" id="{ADB9D110-3483-BB06-6620-FF7E887BC47B}"/>
                    </a:ext>
                  </a:extLst>
                </p:cNvPr>
                <p:cNvSpPr/>
                <p:nvPr/>
              </p:nvSpPr>
              <p:spPr>
                <a:xfrm flipV="1">
                  <a:off x="4285907" y="1993688"/>
                  <a:ext cx="242423" cy="370181"/>
                </a:xfrm>
                <a:custGeom>
                  <a:avLst/>
                  <a:gdLst>
                    <a:gd name="connsiteX0" fmla="*/ 128442 w 242423"/>
                    <a:gd name="connsiteY0" fmla="*/ 422 h 370181"/>
                    <a:gd name="connsiteX1" fmla="*/ 6421 w 242423"/>
                    <a:gd name="connsiteY1" fmla="*/ 29135 h 370181"/>
                    <a:gd name="connsiteX2" fmla="*/ 6421 w 242423"/>
                    <a:gd name="connsiteY2" fmla="*/ 127580 h 370181"/>
                    <a:gd name="connsiteX3" fmla="*/ 12566 w 242423"/>
                    <a:gd name="connsiteY3" fmla="*/ 127580 h 370181"/>
                    <a:gd name="connsiteX4" fmla="*/ 128442 w 242423"/>
                    <a:gd name="connsiteY4" fmla="*/ 7084 h 370181"/>
                    <a:gd name="connsiteX5" fmla="*/ 156649 w 242423"/>
                    <a:gd name="connsiteY5" fmla="*/ 136293 h 370181"/>
                    <a:gd name="connsiteX6" fmla="*/ 71535 w 242423"/>
                    <a:gd name="connsiteY6" fmla="*/ 191150 h 370181"/>
                    <a:gd name="connsiteX7" fmla="*/ 15647 w 242423"/>
                    <a:gd name="connsiteY7" fmla="*/ 330615 h 370181"/>
                    <a:gd name="connsiteX8" fmla="*/ 112030 w 242423"/>
                    <a:gd name="connsiteY8" fmla="*/ 370603 h 370181"/>
                    <a:gd name="connsiteX9" fmla="*/ 229444 w 242423"/>
                    <a:gd name="connsiteY9" fmla="*/ 346503 h 370181"/>
                    <a:gd name="connsiteX10" fmla="*/ 229444 w 242423"/>
                    <a:gd name="connsiteY10" fmla="*/ 260370 h 370181"/>
                    <a:gd name="connsiteX11" fmla="*/ 222275 w 242423"/>
                    <a:gd name="connsiteY11" fmla="*/ 260370 h 370181"/>
                    <a:gd name="connsiteX12" fmla="*/ 112030 w 242423"/>
                    <a:gd name="connsiteY12" fmla="*/ 363934 h 370181"/>
                    <a:gd name="connsiteX13" fmla="*/ 92042 w 242423"/>
                    <a:gd name="connsiteY13" fmla="*/ 242426 h 370181"/>
                    <a:gd name="connsiteX14" fmla="*/ 176637 w 242423"/>
                    <a:gd name="connsiteY14" fmla="*/ 186537 h 370181"/>
                    <a:gd name="connsiteX15" fmla="*/ 229969 w 242423"/>
                    <a:gd name="connsiteY15" fmla="*/ 42466 h 370181"/>
                    <a:gd name="connsiteX16" fmla="*/ 128442 w 242423"/>
                    <a:gd name="connsiteY16" fmla="*/ 422 h 370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2423" h="370181">
                      <a:moveTo>
                        <a:pt x="128442" y="422"/>
                      </a:moveTo>
                      <a:cubicBezTo>
                        <a:pt x="44872" y="422"/>
                        <a:pt x="6421" y="29135"/>
                        <a:pt x="6421" y="29135"/>
                      </a:cubicBezTo>
                      <a:lnTo>
                        <a:pt x="6421" y="127580"/>
                      </a:lnTo>
                      <a:lnTo>
                        <a:pt x="12566" y="127580"/>
                      </a:lnTo>
                      <a:cubicBezTo>
                        <a:pt x="18209" y="65023"/>
                        <a:pt x="41285" y="7084"/>
                        <a:pt x="128442" y="7084"/>
                      </a:cubicBezTo>
                      <a:cubicBezTo>
                        <a:pt x="206381" y="7084"/>
                        <a:pt x="216637" y="93736"/>
                        <a:pt x="156649" y="136293"/>
                      </a:cubicBezTo>
                      <a:lnTo>
                        <a:pt x="71535" y="191150"/>
                      </a:lnTo>
                      <a:cubicBezTo>
                        <a:pt x="22822" y="223450"/>
                        <a:pt x="-23829" y="270114"/>
                        <a:pt x="15647" y="330615"/>
                      </a:cubicBezTo>
                      <a:cubicBezTo>
                        <a:pt x="15647" y="330615"/>
                        <a:pt x="40766" y="370603"/>
                        <a:pt x="112030" y="370603"/>
                      </a:cubicBezTo>
                      <a:cubicBezTo>
                        <a:pt x="186381" y="370603"/>
                        <a:pt x="229444" y="346503"/>
                        <a:pt x="229444" y="346503"/>
                      </a:cubicBezTo>
                      <a:lnTo>
                        <a:pt x="229444" y="260370"/>
                      </a:lnTo>
                      <a:lnTo>
                        <a:pt x="222275" y="260370"/>
                      </a:lnTo>
                      <a:cubicBezTo>
                        <a:pt x="217656" y="310614"/>
                        <a:pt x="197662" y="363934"/>
                        <a:pt x="112030" y="363934"/>
                      </a:cubicBezTo>
                      <a:cubicBezTo>
                        <a:pt x="56666" y="363934"/>
                        <a:pt x="14622" y="292670"/>
                        <a:pt x="92042" y="242426"/>
                      </a:cubicBezTo>
                      <a:lnTo>
                        <a:pt x="176637" y="186537"/>
                      </a:lnTo>
                      <a:cubicBezTo>
                        <a:pt x="245344" y="141424"/>
                        <a:pt x="256620" y="84504"/>
                        <a:pt x="229969" y="42466"/>
                      </a:cubicBezTo>
                      <a:cubicBezTo>
                        <a:pt x="229969" y="42466"/>
                        <a:pt x="207925" y="422"/>
                        <a:pt x="128442" y="422"/>
                      </a:cubicBezTo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634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91D42BC9-0612-807F-C114-1D385593E57F}"/>
              </a:ext>
            </a:extLst>
          </p:cNvPr>
          <p:cNvGrpSpPr/>
          <p:nvPr userDrawn="1"/>
        </p:nvGrpSpPr>
        <p:grpSpPr>
          <a:xfrm>
            <a:off x="0" y="-1"/>
            <a:ext cx="9906001" cy="6858001"/>
            <a:chOff x="1142999" y="-1"/>
            <a:chExt cx="9906001" cy="6858001"/>
          </a:xfrm>
        </p:grpSpPr>
        <p:pic>
          <p:nvPicPr>
            <p:cNvPr id="2" name="그림 1" descr="하늘, 구름, 건물, 대칭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F708C8CC-2F60-4EA4-71D5-4BC6399E3E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43000" y="-1"/>
              <a:ext cx="9906000" cy="6858001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99D03B5-3F20-4AB3-F5F6-A810F2B3C731}"/>
                </a:ext>
              </a:extLst>
            </p:cNvPr>
            <p:cNvSpPr/>
            <p:nvPr userDrawn="1"/>
          </p:nvSpPr>
          <p:spPr>
            <a:xfrm>
              <a:off x="1142999" y="-1"/>
              <a:ext cx="9905999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90000"/>
                  </a:schemeClr>
                </a:gs>
                <a:gs pos="100000">
                  <a:schemeClr val="tx1"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</p:grpSp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12999" y="6020725"/>
            <a:ext cx="7092000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800">
                <a:solidFill>
                  <a:srgbClr val="A2AECF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0EEF51B-712E-FB61-E81C-47A644460F67}"/>
              </a:ext>
            </a:extLst>
          </p:cNvPr>
          <p:cNvGrpSpPr/>
          <p:nvPr userDrawn="1"/>
        </p:nvGrpSpPr>
        <p:grpSpPr>
          <a:xfrm>
            <a:off x="8982184" y="6056725"/>
            <a:ext cx="152853" cy="216000"/>
            <a:chOff x="11025858" y="6056725"/>
            <a:chExt cx="152853" cy="2160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625B83-7EB8-D2A5-0B70-8C84B20FFD9C}"/>
                </a:ext>
              </a:extLst>
            </p:cNvPr>
            <p:cNvSpPr txBox="1"/>
            <p:nvPr userDrawn="1"/>
          </p:nvSpPr>
          <p:spPr>
            <a:xfrm>
              <a:off x="11025858" y="6087781"/>
              <a:ext cx="152853" cy="153888"/>
            </a:xfrm>
            <a:prstGeom prst="rect">
              <a:avLst/>
            </a:prstGeom>
            <a:noFill/>
          </p:spPr>
          <p:txBody>
            <a:bodyPr wrap="none" lIns="0" tIns="0" rIns="72000" bIns="0" rtlCol="0" anchor="ctr">
              <a:spAutoFit/>
            </a:bodyPr>
            <a:lstStyle/>
            <a:p>
              <a:pPr algn="l"/>
              <a:r>
                <a:rPr lang="en-US" altLang="ko-KR" sz="10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</a:t>
              </a:r>
              <a:endParaRPr lang="ko-KR" altLang="en-US" sz="1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B4A5E917-85BF-9F05-0D16-AFDC22952A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178711" y="6056725"/>
              <a:ext cx="0" cy="21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그래픽 8">
            <a:extLst>
              <a:ext uri="{FF2B5EF4-FFF2-40B4-BE49-F238E27FC236}">
                <a16:creationId xmlns:a16="http://schemas.microsoft.com/office/drawing/2014/main" id="{765BB419-076E-08E1-A73F-B3763F1551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000" y="6083725"/>
            <a:ext cx="1055893" cy="162000"/>
          </a:xfrm>
          <a:prstGeom prst="rect">
            <a:avLst/>
          </a:prstGeom>
        </p:spPr>
      </p:pic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9EFA69AE-05C9-8D03-B891-58DE4EF673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5037" y="6087781"/>
            <a:ext cx="33004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>
              <a:defRPr lang="ko-KR" altLang="en-US" sz="1000" b="1" smtClean="0">
                <a:solidFill>
                  <a:schemeClr val="bg1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671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618">
          <p15:clr>
            <a:srgbClr val="FBAE40"/>
          </p15:clr>
        </p15:guide>
        <p15:guide id="2" orient="horz" pos="845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FBDDD21-17AA-9039-4C59-66C46717204B}"/>
              </a:ext>
            </a:extLst>
          </p:cNvPr>
          <p:cNvSpPr/>
          <p:nvPr userDrawn="1"/>
        </p:nvSpPr>
        <p:spPr>
          <a:xfrm>
            <a:off x="-1332000" y="251999"/>
            <a:ext cx="1260000" cy="57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chemeClr val="bg1"/>
                </a:solidFill>
              </a:rPr>
              <a:t>SL Navy</a:t>
            </a:r>
          </a:p>
          <a:p>
            <a:pPr algn="l"/>
            <a:r>
              <a:rPr lang="en-US" altLang="ko-KR" sz="800" b="0" dirty="0">
                <a:solidFill>
                  <a:schemeClr val="bg1"/>
                </a:solidFill>
              </a:rPr>
              <a:t>Primary Color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AA68D9-0007-1137-8E9E-65F8F249E8B3}"/>
              </a:ext>
            </a:extLst>
          </p:cNvPr>
          <p:cNvSpPr/>
          <p:nvPr userDrawn="1"/>
        </p:nvSpPr>
        <p:spPr>
          <a:xfrm>
            <a:off x="-1332000" y="1115999"/>
            <a:ext cx="1260000" cy="576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chemeClr val="bg1"/>
                </a:solidFill>
              </a:rPr>
              <a:t>SL Blue</a:t>
            </a:r>
          </a:p>
          <a:p>
            <a:pPr algn="l"/>
            <a:r>
              <a:rPr lang="en-US" altLang="ko-KR" sz="800" dirty="0">
                <a:solidFill>
                  <a:schemeClr val="bg1"/>
                </a:solidFill>
              </a:rPr>
              <a:t>Primary Color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2FC22C-2810-F1BA-C8D4-DEF04431332F}"/>
              </a:ext>
            </a:extLst>
          </p:cNvPr>
          <p:cNvSpPr/>
          <p:nvPr userDrawn="1"/>
        </p:nvSpPr>
        <p:spPr>
          <a:xfrm>
            <a:off x="-1332000" y="1799999"/>
            <a:ext cx="1260000" cy="432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chemeClr val="bg1"/>
                </a:solidFill>
              </a:rPr>
              <a:t>Dark Gray</a:t>
            </a:r>
          </a:p>
          <a:p>
            <a:pPr algn="l"/>
            <a:r>
              <a:rPr lang="en-US" altLang="ko-KR" sz="800" b="0" dirty="0">
                <a:solidFill>
                  <a:schemeClr val="bg1"/>
                </a:solidFill>
              </a:rPr>
              <a:t>Text &amp; Line Color</a:t>
            </a:r>
            <a:endParaRPr lang="en-US" altLang="ko-KR" sz="1000" b="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47E68C-019C-8A2F-492D-27B9D3AF84EE}"/>
              </a:ext>
            </a:extLst>
          </p:cNvPr>
          <p:cNvSpPr/>
          <p:nvPr userDrawn="1"/>
        </p:nvSpPr>
        <p:spPr>
          <a:xfrm>
            <a:off x="-1332000" y="827999"/>
            <a:ext cx="180000" cy="288000"/>
          </a:xfrm>
          <a:prstGeom prst="rect">
            <a:avLst/>
          </a:prstGeom>
          <a:solidFill>
            <a:srgbClr val="F3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0D7CC4-4A15-5FED-68A7-1993F1727F1B}"/>
              </a:ext>
            </a:extLst>
          </p:cNvPr>
          <p:cNvSpPr/>
          <p:nvPr userDrawn="1"/>
        </p:nvSpPr>
        <p:spPr>
          <a:xfrm>
            <a:off x="-972000" y="827999"/>
            <a:ext cx="180000" cy="288000"/>
          </a:xfrm>
          <a:prstGeom prst="rect">
            <a:avLst/>
          </a:prstGeom>
          <a:solidFill>
            <a:srgbClr val="B2D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388674-7E06-90B3-8CC9-C5FBE25B5A8D}"/>
              </a:ext>
            </a:extLst>
          </p:cNvPr>
          <p:cNvSpPr/>
          <p:nvPr userDrawn="1"/>
        </p:nvSpPr>
        <p:spPr>
          <a:xfrm>
            <a:off x="-792000" y="827999"/>
            <a:ext cx="1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15722A-1E25-70E9-8E06-B675AE8E502C}"/>
              </a:ext>
            </a:extLst>
          </p:cNvPr>
          <p:cNvSpPr/>
          <p:nvPr userDrawn="1"/>
        </p:nvSpPr>
        <p:spPr>
          <a:xfrm>
            <a:off x="-612000" y="827999"/>
            <a:ext cx="180000" cy="288000"/>
          </a:xfrm>
          <a:prstGeom prst="rect">
            <a:avLst/>
          </a:prstGeom>
          <a:solidFill>
            <a:srgbClr val="2A5F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451712-90F2-1377-28A0-8AC3D5F92DCF}"/>
              </a:ext>
            </a:extLst>
          </p:cNvPr>
          <p:cNvSpPr/>
          <p:nvPr userDrawn="1"/>
        </p:nvSpPr>
        <p:spPr>
          <a:xfrm>
            <a:off x="-252000" y="827999"/>
            <a:ext cx="180000" cy="288000"/>
          </a:xfrm>
          <a:prstGeom prst="rect">
            <a:avLst/>
          </a:prstGeom>
          <a:solidFill>
            <a:srgbClr val="0A1A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BE180D-370B-57C1-BB19-B98463DF7833}"/>
              </a:ext>
            </a:extLst>
          </p:cNvPr>
          <p:cNvSpPr/>
          <p:nvPr userDrawn="1"/>
        </p:nvSpPr>
        <p:spPr>
          <a:xfrm>
            <a:off x="-1332000" y="3203998"/>
            <a:ext cx="1260000" cy="432000"/>
          </a:xfrm>
          <a:prstGeom prst="rect">
            <a:avLst/>
          </a:prstGeom>
          <a:solidFill>
            <a:srgbClr val="F253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chemeClr val="bg1"/>
                </a:solidFill>
              </a:rPr>
              <a:t>SL Red</a:t>
            </a:r>
          </a:p>
          <a:p>
            <a:pPr algn="l"/>
            <a:r>
              <a:rPr lang="en-US" altLang="ko-KR" sz="1000" dirty="0">
                <a:solidFill>
                  <a:schemeClr val="bg1"/>
                </a:solidFill>
              </a:rPr>
              <a:t>Highlight Color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F8C987-CC30-7CDE-D969-DE27DBA1423D}"/>
              </a:ext>
            </a:extLst>
          </p:cNvPr>
          <p:cNvSpPr/>
          <p:nvPr userDrawn="1"/>
        </p:nvSpPr>
        <p:spPr>
          <a:xfrm>
            <a:off x="-1332000" y="2663998"/>
            <a:ext cx="1260000" cy="432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rgbClr val="3D3D3D"/>
                </a:solidFill>
              </a:rPr>
              <a:t>Light Gray</a:t>
            </a:r>
          </a:p>
          <a:p>
            <a:pPr algn="l"/>
            <a:r>
              <a:rPr lang="en-US" altLang="ko-KR" sz="800" b="0" dirty="0">
                <a:solidFill>
                  <a:srgbClr val="3D3D3D"/>
                </a:solidFill>
              </a:rPr>
              <a:t>Light Shade</a:t>
            </a:r>
            <a:endParaRPr lang="en-US" altLang="ko-KR" sz="1000" b="0" dirty="0">
              <a:solidFill>
                <a:srgbClr val="3D3D3D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3A8D03-80FC-9D99-6EFF-4D2B1BC7141F}"/>
              </a:ext>
            </a:extLst>
          </p:cNvPr>
          <p:cNvSpPr/>
          <p:nvPr userDrawn="1"/>
        </p:nvSpPr>
        <p:spPr>
          <a:xfrm>
            <a:off x="-1332000" y="3743997"/>
            <a:ext cx="1260000" cy="432000"/>
          </a:xfrm>
          <a:prstGeom prst="rect">
            <a:avLst/>
          </a:prstGeom>
          <a:solidFill>
            <a:srgbClr val="5CCF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chemeClr val="bg1"/>
                </a:solidFill>
              </a:rPr>
              <a:t>SL Green</a:t>
            </a:r>
          </a:p>
          <a:p>
            <a:pPr algn="l"/>
            <a:r>
              <a:rPr lang="en-US" altLang="ko-KR" sz="1000" dirty="0">
                <a:solidFill>
                  <a:schemeClr val="bg1"/>
                </a:solidFill>
              </a:rPr>
              <a:t>Secondary Color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50D05B1-2BE2-7723-C8F2-AC65F977EFA6}"/>
              </a:ext>
            </a:extLst>
          </p:cNvPr>
          <p:cNvSpPr/>
          <p:nvPr userDrawn="1"/>
        </p:nvSpPr>
        <p:spPr>
          <a:xfrm>
            <a:off x="-1332000" y="4175997"/>
            <a:ext cx="252000" cy="216000"/>
          </a:xfrm>
          <a:prstGeom prst="rect">
            <a:avLst/>
          </a:prstGeom>
          <a:solidFill>
            <a:srgbClr val="E3FA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1C75F9-A18F-3210-B093-347FB007620A}"/>
              </a:ext>
            </a:extLst>
          </p:cNvPr>
          <p:cNvSpPr/>
          <p:nvPr userDrawn="1"/>
        </p:nvSpPr>
        <p:spPr>
          <a:xfrm>
            <a:off x="-1080000" y="4175997"/>
            <a:ext cx="252000" cy="216000"/>
          </a:xfrm>
          <a:prstGeom prst="rect">
            <a:avLst/>
          </a:prstGeom>
          <a:solidFill>
            <a:srgbClr val="B8F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4BFA9E0-641C-31EF-5C53-659762773C68}"/>
              </a:ext>
            </a:extLst>
          </p:cNvPr>
          <p:cNvSpPr/>
          <p:nvPr userDrawn="1"/>
        </p:nvSpPr>
        <p:spPr>
          <a:xfrm>
            <a:off x="-828000" y="4175997"/>
            <a:ext cx="252000" cy="216000"/>
          </a:xfrm>
          <a:prstGeom prst="rect">
            <a:avLst/>
          </a:prstGeom>
          <a:solidFill>
            <a:srgbClr val="5CCF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040CE9E-8DA7-1230-0600-0FA3A4457B27}"/>
              </a:ext>
            </a:extLst>
          </p:cNvPr>
          <p:cNvSpPr/>
          <p:nvPr userDrawn="1"/>
        </p:nvSpPr>
        <p:spPr>
          <a:xfrm>
            <a:off x="-576000" y="4175997"/>
            <a:ext cx="252000" cy="216000"/>
          </a:xfrm>
          <a:prstGeom prst="rect">
            <a:avLst/>
          </a:prstGeom>
          <a:solidFill>
            <a:srgbClr val="2EA3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CB029C-10CE-0BBC-FD7B-55E4604C0F19}"/>
              </a:ext>
            </a:extLst>
          </p:cNvPr>
          <p:cNvSpPr/>
          <p:nvPr userDrawn="1"/>
        </p:nvSpPr>
        <p:spPr>
          <a:xfrm>
            <a:off x="-324000" y="4175997"/>
            <a:ext cx="252000" cy="216000"/>
          </a:xfrm>
          <a:prstGeom prst="rect">
            <a:avLst/>
          </a:prstGeom>
          <a:solidFill>
            <a:srgbClr val="1E8A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1D08EB1-4ADD-7D0A-182B-904BADABF5A7}"/>
              </a:ext>
            </a:extLst>
          </p:cNvPr>
          <p:cNvSpPr/>
          <p:nvPr userDrawn="1"/>
        </p:nvSpPr>
        <p:spPr>
          <a:xfrm>
            <a:off x="-1332000" y="4499996"/>
            <a:ext cx="1260000" cy="432000"/>
          </a:xfrm>
          <a:prstGeom prst="rect">
            <a:avLst/>
          </a:prstGeom>
          <a:solidFill>
            <a:srgbClr val="9B5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chemeClr val="bg1"/>
                </a:solidFill>
              </a:rPr>
              <a:t>SL Purple</a:t>
            </a:r>
          </a:p>
          <a:p>
            <a:pPr algn="l"/>
            <a:r>
              <a:rPr lang="en-US" altLang="ko-KR" sz="1000" dirty="0">
                <a:solidFill>
                  <a:schemeClr val="bg1"/>
                </a:solidFill>
              </a:rPr>
              <a:t>Tertiary Color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9A1103-7437-A1E2-7CDA-20BAA7C0854B}"/>
              </a:ext>
            </a:extLst>
          </p:cNvPr>
          <p:cNvSpPr/>
          <p:nvPr userDrawn="1"/>
        </p:nvSpPr>
        <p:spPr>
          <a:xfrm>
            <a:off x="-1332000" y="4931996"/>
            <a:ext cx="252000" cy="216000"/>
          </a:xfrm>
          <a:prstGeom prst="rect">
            <a:avLst/>
          </a:prstGeom>
          <a:solidFill>
            <a:srgbClr val="F1E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FFD6B7A-B408-96EE-B932-21551F6E5600}"/>
              </a:ext>
            </a:extLst>
          </p:cNvPr>
          <p:cNvSpPr/>
          <p:nvPr userDrawn="1"/>
        </p:nvSpPr>
        <p:spPr>
          <a:xfrm>
            <a:off x="-1080000" y="4931996"/>
            <a:ext cx="252000" cy="216000"/>
          </a:xfrm>
          <a:prstGeom prst="rect">
            <a:avLst/>
          </a:prstGeom>
          <a:solidFill>
            <a:srgbClr val="D3B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ABE8E7-3D66-2DC4-EF99-6D8C45486161}"/>
              </a:ext>
            </a:extLst>
          </p:cNvPr>
          <p:cNvSpPr/>
          <p:nvPr userDrawn="1"/>
        </p:nvSpPr>
        <p:spPr>
          <a:xfrm>
            <a:off x="-828000" y="4931996"/>
            <a:ext cx="252000" cy="216000"/>
          </a:xfrm>
          <a:prstGeom prst="rect">
            <a:avLst/>
          </a:prstGeom>
          <a:solidFill>
            <a:srgbClr val="9B5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F3B8F1-CA0C-E0C0-BF4F-23726D228BBD}"/>
              </a:ext>
            </a:extLst>
          </p:cNvPr>
          <p:cNvSpPr/>
          <p:nvPr userDrawn="1"/>
        </p:nvSpPr>
        <p:spPr>
          <a:xfrm>
            <a:off x="-576000" y="4931996"/>
            <a:ext cx="252000" cy="216000"/>
          </a:xfrm>
          <a:prstGeom prst="rect">
            <a:avLst/>
          </a:prstGeom>
          <a:solidFill>
            <a:srgbClr val="783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468F99-45C4-A2AA-D07F-FBF756BA4181}"/>
              </a:ext>
            </a:extLst>
          </p:cNvPr>
          <p:cNvSpPr/>
          <p:nvPr userDrawn="1"/>
        </p:nvSpPr>
        <p:spPr>
          <a:xfrm>
            <a:off x="-324000" y="4931996"/>
            <a:ext cx="252000" cy="216000"/>
          </a:xfrm>
          <a:prstGeom prst="rect">
            <a:avLst/>
          </a:prstGeom>
          <a:solidFill>
            <a:srgbClr val="5A28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A4CDF29-3C6C-C492-9A89-838C3E6FCC2A}"/>
              </a:ext>
            </a:extLst>
          </p:cNvPr>
          <p:cNvSpPr/>
          <p:nvPr userDrawn="1"/>
        </p:nvSpPr>
        <p:spPr>
          <a:xfrm>
            <a:off x="-1152000" y="827999"/>
            <a:ext cx="180000" cy="288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A7837CB-A1A0-BC95-1AF7-BB4B520BB235}"/>
              </a:ext>
            </a:extLst>
          </p:cNvPr>
          <p:cNvSpPr/>
          <p:nvPr userDrawn="1"/>
        </p:nvSpPr>
        <p:spPr>
          <a:xfrm>
            <a:off x="-432000" y="827999"/>
            <a:ext cx="1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3CB71C-BE6A-7B12-895B-50C46ABE3CC9}"/>
              </a:ext>
            </a:extLst>
          </p:cNvPr>
          <p:cNvSpPr txBox="1"/>
          <p:nvPr userDrawn="1"/>
        </p:nvSpPr>
        <p:spPr>
          <a:xfrm>
            <a:off x="-1332000" y="0"/>
            <a:ext cx="86562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/>
              <a:t>Main Colors</a:t>
            </a:r>
            <a:endParaRPr lang="ko-KR" altLang="en-US" sz="1200" b="1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D36124D-DE2E-9924-BBCA-944BA34C1A9B}"/>
              </a:ext>
            </a:extLst>
          </p:cNvPr>
          <p:cNvSpPr/>
          <p:nvPr userDrawn="1"/>
        </p:nvSpPr>
        <p:spPr>
          <a:xfrm>
            <a:off x="-1332000" y="2231999"/>
            <a:ext cx="1260000" cy="43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rgbClr val="3D3D3D"/>
                </a:solidFill>
              </a:rPr>
              <a:t>Gray</a:t>
            </a:r>
          </a:p>
          <a:p>
            <a:pPr algn="l"/>
            <a:r>
              <a:rPr lang="en-US" altLang="ko-KR" sz="800" b="0" dirty="0">
                <a:solidFill>
                  <a:srgbClr val="3D3D3D"/>
                </a:solidFill>
              </a:rPr>
              <a:t>Neutral Shade</a:t>
            </a:r>
            <a:endParaRPr lang="en-US" altLang="ko-KR" sz="1000" b="0" dirty="0">
              <a:solidFill>
                <a:srgbClr val="3D3D3D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AA3BEE7-56E8-3FBE-01F0-110FB574D1F2}"/>
              </a:ext>
            </a:extLst>
          </p:cNvPr>
          <p:cNvSpPr/>
          <p:nvPr userDrawn="1"/>
        </p:nvSpPr>
        <p:spPr>
          <a:xfrm>
            <a:off x="-1332000" y="5454001"/>
            <a:ext cx="1260000" cy="576000"/>
          </a:xfrm>
          <a:prstGeom prst="rect">
            <a:avLst/>
          </a:prstGeom>
          <a:solidFill>
            <a:srgbClr val="A384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l"/>
            <a:r>
              <a:rPr lang="en-US" altLang="ko-KR" sz="1000" b="1" dirty="0">
                <a:solidFill>
                  <a:schemeClr val="bg1"/>
                </a:solidFill>
              </a:rPr>
              <a:t>Bloomsbury Gold</a:t>
            </a:r>
          </a:p>
          <a:p>
            <a:pPr algn="l"/>
            <a:r>
              <a:rPr lang="en-US" altLang="ko-KR" sz="800" b="0" dirty="0">
                <a:solidFill>
                  <a:schemeClr val="bg1"/>
                </a:solidFill>
              </a:rPr>
              <a:t>Target Co Color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63" r:id="rId3"/>
    <p:sldLayoutId id="2147483664" r:id="rId4"/>
    <p:sldLayoutId id="2147483665" r:id="rId5"/>
    <p:sldLayoutId id="2147483668" r:id="rId6"/>
    <p:sldLayoutId id="2147483666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20.svg"/><Relationship Id="rId7" Type="http://schemas.openxmlformats.org/officeDocument/2006/relationships/chart" Target="../charts/chart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0.svg"/><Relationship Id="rId7" Type="http://schemas.openxmlformats.org/officeDocument/2006/relationships/image" Target="../media/image38.svg"/><Relationship Id="rId12" Type="http://schemas.openxmlformats.org/officeDocument/2006/relationships/image" Target="../media/image43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11" Type="http://schemas.openxmlformats.org/officeDocument/2006/relationships/image" Target="../media/image42.jpe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12" Type="http://schemas.microsoft.com/office/2014/relationships/chartEx" Target="../charts/chartEx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5" Type="http://schemas.openxmlformats.org/officeDocument/2006/relationships/image" Target="../media/image47.sv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Relationship Id="rId1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7" Type="http://schemas.openxmlformats.org/officeDocument/2006/relationships/image" Target="../media/image69.png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10" Type="http://schemas.openxmlformats.org/officeDocument/2006/relationships/image" Target="../media/image78.jpeg"/><Relationship Id="rId4" Type="http://schemas.openxmlformats.org/officeDocument/2006/relationships/image" Target="../media/image73.jpeg"/><Relationship Id="rId9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jpeg"/><Relationship Id="rId12" Type="http://schemas.openxmlformats.org/officeDocument/2006/relationships/image" Target="../media/image93.png"/><Relationship Id="rId2" Type="http://schemas.openxmlformats.org/officeDocument/2006/relationships/image" Target="../media/image83.jpeg"/><Relationship Id="rId16" Type="http://schemas.openxmlformats.org/officeDocument/2006/relationships/image" Target="../media/image9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7.jpeg"/><Relationship Id="rId11" Type="http://schemas.openxmlformats.org/officeDocument/2006/relationships/image" Target="../media/image92.jpeg"/><Relationship Id="rId5" Type="http://schemas.openxmlformats.org/officeDocument/2006/relationships/image" Target="../media/image86.png"/><Relationship Id="rId15" Type="http://schemas.openxmlformats.org/officeDocument/2006/relationships/image" Target="../media/image96.jpeg"/><Relationship Id="rId10" Type="http://schemas.openxmlformats.org/officeDocument/2006/relationships/image" Target="../media/image91.jpe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svg"/><Relationship Id="rId7" Type="http://schemas.openxmlformats.org/officeDocument/2006/relationships/image" Target="../media/image103.jpe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2.jpe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image" Target="../media/image107.png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7" Type="http://schemas.openxmlformats.org/officeDocument/2006/relationships/image" Target="../media/image130.png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9.png"/><Relationship Id="rId5" Type="http://schemas.openxmlformats.org/officeDocument/2006/relationships/image" Target="../media/image128.jpeg"/><Relationship Id="rId4" Type="http://schemas.openxmlformats.org/officeDocument/2006/relationships/image" Target="../media/image12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svg"/><Relationship Id="rId18" Type="http://schemas.openxmlformats.org/officeDocument/2006/relationships/image" Target="../media/image148.png"/><Relationship Id="rId3" Type="http://schemas.openxmlformats.org/officeDocument/2006/relationships/image" Target="../media/image133.svg"/><Relationship Id="rId21" Type="http://schemas.openxmlformats.org/officeDocument/2006/relationships/image" Target="../media/image151.svg"/><Relationship Id="rId7" Type="http://schemas.openxmlformats.org/officeDocument/2006/relationships/image" Target="../media/image137.svg"/><Relationship Id="rId12" Type="http://schemas.openxmlformats.org/officeDocument/2006/relationships/image" Target="../media/image142.png"/><Relationship Id="rId17" Type="http://schemas.openxmlformats.org/officeDocument/2006/relationships/image" Target="../media/image147.svg"/><Relationship Id="rId25" Type="http://schemas.openxmlformats.org/officeDocument/2006/relationships/image" Target="../media/image155.svg"/><Relationship Id="rId2" Type="http://schemas.openxmlformats.org/officeDocument/2006/relationships/image" Target="../media/image132.png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24" Type="http://schemas.openxmlformats.org/officeDocument/2006/relationships/image" Target="../media/image154.png"/><Relationship Id="rId5" Type="http://schemas.openxmlformats.org/officeDocument/2006/relationships/image" Target="../media/image135.svg"/><Relationship Id="rId15" Type="http://schemas.openxmlformats.org/officeDocument/2006/relationships/image" Target="../media/image145.svg"/><Relationship Id="rId23" Type="http://schemas.openxmlformats.org/officeDocument/2006/relationships/image" Target="../media/image153.svg"/><Relationship Id="rId10" Type="http://schemas.openxmlformats.org/officeDocument/2006/relationships/image" Target="../media/image140.png"/><Relationship Id="rId19" Type="http://schemas.openxmlformats.org/officeDocument/2006/relationships/image" Target="../media/image149.svg"/><Relationship Id="rId4" Type="http://schemas.openxmlformats.org/officeDocument/2006/relationships/image" Target="../media/image134.png"/><Relationship Id="rId9" Type="http://schemas.openxmlformats.org/officeDocument/2006/relationships/image" Target="../media/image139.svg"/><Relationship Id="rId14" Type="http://schemas.openxmlformats.org/officeDocument/2006/relationships/image" Target="../media/image144.png"/><Relationship Id="rId22" Type="http://schemas.openxmlformats.org/officeDocument/2006/relationships/image" Target="../media/image15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svg"/><Relationship Id="rId18" Type="http://schemas.openxmlformats.org/officeDocument/2006/relationships/image" Target="../media/image168.png"/><Relationship Id="rId3" Type="http://schemas.openxmlformats.org/officeDocument/2006/relationships/image" Target="../media/image141.svg"/><Relationship Id="rId21" Type="http://schemas.openxmlformats.org/officeDocument/2006/relationships/image" Target="../media/image171.svg"/><Relationship Id="rId7" Type="http://schemas.openxmlformats.org/officeDocument/2006/relationships/image" Target="../media/image157.svg"/><Relationship Id="rId12" Type="http://schemas.openxmlformats.org/officeDocument/2006/relationships/image" Target="../media/image162.png"/><Relationship Id="rId17" Type="http://schemas.openxmlformats.org/officeDocument/2006/relationships/image" Target="../media/image167.svg"/><Relationship Id="rId25" Type="http://schemas.openxmlformats.org/officeDocument/2006/relationships/image" Target="../media/image175.svg"/><Relationship Id="rId2" Type="http://schemas.openxmlformats.org/officeDocument/2006/relationships/image" Target="../media/image140.png"/><Relationship Id="rId16" Type="http://schemas.openxmlformats.org/officeDocument/2006/relationships/image" Target="../media/image166.png"/><Relationship Id="rId20" Type="http://schemas.openxmlformats.org/officeDocument/2006/relationships/image" Target="../media/image1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6.png"/><Relationship Id="rId11" Type="http://schemas.openxmlformats.org/officeDocument/2006/relationships/image" Target="../media/image161.svg"/><Relationship Id="rId24" Type="http://schemas.openxmlformats.org/officeDocument/2006/relationships/image" Target="../media/image174.png"/><Relationship Id="rId5" Type="http://schemas.openxmlformats.org/officeDocument/2006/relationships/image" Target="../media/image147.svg"/><Relationship Id="rId15" Type="http://schemas.openxmlformats.org/officeDocument/2006/relationships/image" Target="../media/image165.svg"/><Relationship Id="rId23" Type="http://schemas.openxmlformats.org/officeDocument/2006/relationships/image" Target="../media/image173.svg"/><Relationship Id="rId10" Type="http://schemas.openxmlformats.org/officeDocument/2006/relationships/image" Target="../media/image160.png"/><Relationship Id="rId19" Type="http://schemas.openxmlformats.org/officeDocument/2006/relationships/image" Target="../media/image169.svg"/><Relationship Id="rId4" Type="http://schemas.openxmlformats.org/officeDocument/2006/relationships/image" Target="../media/image146.png"/><Relationship Id="rId9" Type="http://schemas.openxmlformats.org/officeDocument/2006/relationships/image" Target="../media/image159.svg"/><Relationship Id="rId14" Type="http://schemas.openxmlformats.org/officeDocument/2006/relationships/image" Target="../media/image164.png"/><Relationship Id="rId22" Type="http://schemas.openxmlformats.org/officeDocument/2006/relationships/image" Target="../media/image17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E64C957-2178-8993-DB06-7A675B101B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000" y="1557273"/>
            <a:ext cx="4500000" cy="1538883"/>
          </a:xfrm>
        </p:spPr>
        <p:txBody>
          <a:bodyPr/>
          <a:lstStyle/>
          <a:p>
            <a:r>
              <a:rPr lang="en-US" altLang="ko-KR" dirty="0"/>
              <a:t>PROJECT</a:t>
            </a:r>
          </a:p>
          <a:p>
            <a:r>
              <a:rPr lang="en-US" altLang="ko-KR" dirty="0"/>
              <a:t>TITAN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24D956-86AF-3237-C2B8-EFAD664467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INFORMATION MEMO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090FD3-74D1-B64D-A0DD-6B1AC0C466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Strictly Private &amp; Confidential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73299C-09E5-DF1F-BF8B-63A90771B7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December </a:t>
            </a:r>
            <a:r>
              <a:rPr lang="en-US" altLang="ko-KR" dirty="0"/>
              <a:t>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7363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06CD2-1AF6-E9DC-DB55-3239C0F0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EFFAAD-E8A8-6431-DBFD-6B29955F09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2A9648-F665-E22A-F99E-C8E1BCA208F3}"/>
              </a:ext>
            </a:extLst>
          </p:cNvPr>
          <p:cNvSpPr txBox="1"/>
          <p:nvPr/>
        </p:nvSpPr>
        <p:spPr>
          <a:xfrm>
            <a:off x="452438" y="549275"/>
            <a:ext cx="1415452" cy="2856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dirty="0">
                <a:solidFill>
                  <a:schemeClr val="bg1"/>
                </a:solidFill>
                <a:latin typeface="+mj-lt"/>
                <a:ea typeface="+mj-ea"/>
              </a:rPr>
              <a:t>DISCLAIMER</a:t>
            </a:r>
            <a:endParaRPr lang="ko-KR" altLang="en-US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2D9A4-D288-A149-DBA9-58C5DB7325DF}"/>
              </a:ext>
            </a:extLst>
          </p:cNvPr>
          <p:cNvSpPr txBox="1"/>
          <p:nvPr/>
        </p:nvSpPr>
        <p:spPr>
          <a:xfrm>
            <a:off x="452999" y="1089025"/>
            <a:ext cx="4140000" cy="4019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투자설명서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</a:t>
            </a:r>
            <a:r>
              <a:rPr lang="en-US" altLang="ko-KR" sz="800" dirty="0">
                <a:solidFill>
                  <a:schemeClr val="bg1"/>
                </a:solidFill>
              </a:rPr>
              <a:t>“IM”)</a:t>
            </a:r>
            <a:r>
              <a:rPr lang="ko-KR" altLang="en-US" sz="800" dirty="0">
                <a:solidFill>
                  <a:schemeClr val="bg1"/>
                </a:solidFill>
              </a:rPr>
              <a:t>는 주식회사 타이탄클래스와 주식회사 클래스어라운드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주식회사 시스템노바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주식회사 티티에이컴퍼니 등 </a:t>
            </a:r>
            <a:r>
              <a:rPr lang="en-US" altLang="ko-KR" sz="800" dirty="0">
                <a:solidFill>
                  <a:schemeClr val="bg1"/>
                </a:solidFill>
              </a:rPr>
              <a:t>3</a:t>
            </a:r>
            <a:r>
              <a:rPr lang="ko-KR" altLang="en-US" sz="800" dirty="0">
                <a:solidFill>
                  <a:schemeClr val="bg1"/>
                </a:solidFill>
              </a:rPr>
              <a:t>개 자회사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총칭하여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대상회사</a:t>
            </a:r>
            <a:r>
              <a:rPr lang="en-US" altLang="ko-KR" sz="800" dirty="0">
                <a:solidFill>
                  <a:schemeClr val="bg1"/>
                </a:solidFill>
              </a:rPr>
              <a:t>“)</a:t>
            </a:r>
            <a:r>
              <a:rPr lang="ko-KR" altLang="en-US" sz="800" dirty="0">
                <a:solidFill>
                  <a:schemeClr val="bg1"/>
                </a:solidFill>
              </a:rPr>
              <a:t>에 대한 투자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본 거래</a:t>
            </a:r>
            <a:r>
              <a:rPr lang="en-US" altLang="ko-KR" sz="800" dirty="0">
                <a:solidFill>
                  <a:schemeClr val="bg1"/>
                </a:solidFill>
              </a:rPr>
              <a:t>“)</a:t>
            </a:r>
            <a:r>
              <a:rPr lang="ko-KR" altLang="en-US" sz="800" dirty="0">
                <a:solidFill>
                  <a:schemeClr val="bg1"/>
                </a:solidFill>
              </a:rPr>
              <a:t>를 검토 중인 잠재적 투자자에게 일반적인 참고자료를 제공하기 위한 목적으로 대상회사의 공동 자문사인 주식회사 </a:t>
            </a:r>
            <a:r>
              <a:rPr lang="ko-KR" altLang="en-US" sz="800" dirty="0" err="1">
                <a:solidFill>
                  <a:schemeClr val="bg1"/>
                </a:solidFill>
              </a:rPr>
              <a:t>비앤와이파트너스와</a:t>
            </a:r>
            <a:r>
              <a:rPr lang="ko-KR" altLang="en-US" sz="800" dirty="0">
                <a:solidFill>
                  <a:schemeClr val="bg1"/>
                </a:solidFill>
              </a:rPr>
              <a:t> 법무법인 </a:t>
            </a:r>
            <a:r>
              <a:rPr lang="ko-KR" altLang="en-US" sz="800" dirty="0" err="1">
                <a:solidFill>
                  <a:schemeClr val="bg1"/>
                </a:solidFill>
              </a:rPr>
              <a:t>에스엘파트너스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총칭하여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공동 </a:t>
            </a:r>
            <a:r>
              <a:rPr lang="ko-KR" altLang="en-US" sz="800" dirty="0" err="1">
                <a:solidFill>
                  <a:schemeClr val="bg1"/>
                </a:solidFill>
              </a:rPr>
              <a:t>자문사</a:t>
            </a:r>
            <a:r>
              <a:rPr lang="en-US" altLang="ko-KR" sz="800" dirty="0">
                <a:solidFill>
                  <a:schemeClr val="bg1"/>
                </a:solidFill>
              </a:rPr>
              <a:t>“)</a:t>
            </a:r>
            <a:r>
              <a:rPr lang="ko-KR" altLang="en-US" sz="800" dirty="0">
                <a:solidFill>
                  <a:schemeClr val="bg1"/>
                </a:solidFill>
              </a:rPr>
              <a:t>가 작성한 것으로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투자자에게 어떠한 </a:t>
            </a:r>
            <a:r>
              <a:rPr lang="ko-KR" altLang="en-US" sz="800" dirty="0" err="1">
                <a:solidFill>
                  <a:schemeClr val="bg1"/>
                </a:solidFill>
              </a:rPr>
              <a:t>방식으로든</a:t>
            </a:r>
            <a:r>
              <a:rPr lang="ko-KR" altLang="en-US" sz="800" dirty="0">
                <a:solidFill>
                  <a:schemeClr val="bg1"/>
                </a:solidFill>
              </a:rPr>
              <a:t> 법률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회계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세무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또는 기타 자문을 제공하기 위한 것이 아닙니다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따라서 본 </a:t>
            </a:r>
            <a:r>
              <a:rPr lang="en-US" altLang="ko-KR" sz="800" dirty="0">
                <a:solidFill>
                  <a:schemeClr val="bg1"/>
                </a:solidFill>
              </a:rPr>
              <a:t>IM</a:t>
            </a:r>
            <a:r>
              <a:rPr lang="ko-KR" altLang="en-US" sz="800" dirty="0">
                <a:solidFill>
                  <a:schemeClr val="bg1"/>
                </a:solidFill>
              </a:rPr>
              <a:t>은 투자자가 개별적인 자문기관으로부터 적절한 전문 자문을 받거나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독자적인 판단에 따라 참고자료로 활용되어야 하며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이를 법률적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회계적</a:t>
            </a:r>
            <a:r>
              <a:rPr lang="en-US" altLang="ko-KR" sz="800" dirty="0">
                <a:solidFill>
                  <a:schemeClr val="bg1"/>
                </a:solidFill>
              </a:rPr>
              <a:t>,</a:t>
            </a:r>
            <a:r>
              <a:rPr lang="ko-KR" altLang="en-US" sz="800" dirty="0">
                <a:solidFill>
                  <a:schemeClr val="bg1"/>
                </a:solidFill>
              </a:rPr>
              <a:t> 또는 세무적 자문으로 간주하여서는 아니됩니다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IM </a:t>
            </a:r>
            <a:r>
              <a:rPr lang="ko-KR" altLang="en-US" sz="800" dirty="0">
                <a:solidFill>
                  <a:schemeClr val="bg1"/>
                </a:solidFill>
              </a:rPr>
              <a:t>및 향후 제공될 수 있는 기타 자료들은 신뢰할 수 있는 자료 및 정보를 기반으로 작성되었으나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IM </a:t>
            </a:r>
            <a:r>
              <a:rPr lang="ko-KR" altLang="en-US" sz="800" dirty="0">
                <a:solidFill>
                  <a:schemeClr val="bg1"/>
                </a:solidFill>
              </a:rPr>
              <a:t>또는 그에 첨부된 문서나 별도로 구두 또는 서면으로 제공되는 자료에 포함된 정보의 정확성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완전성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최신성에 대해서는 공동 </a:t>
            </a:r>
            <a:r>
              <a:rPr lang="ko-KR" altLang="en-US" sz="800" dirty="0" err="1">
                <a:solidFill>
                  <a:schemeClr val="bg1"/>
                </a:solidFill>
              </a:rPr>
              <a:t>자문사</a:t>
            </a:r>
            <a:r>
              <a:rPr lang="ko-KR" altLang="en-US" sz="800" dirty="0">
                <a:solidFill>
                  <a:schemeClr val="bg1"/>
                </a:solidFill>
              </a:rPr>
              <a:t> 및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대상회사</a:t>
            </a:r>
            <a:r>
              <a:rPr lang="en-US" altLang="ko-KR" sz="800" dirty="0">
                <a:solidFill>
                  <a:schemeClr val="bg1"/>
                </a:solidFill>
              </a:rPr>
              <a:t>,</a:t>
            </a:r>
            <a:r>
              <a:rPr lang="ko-KR" altLang="en-US" sz="800" dirty="0">
                <a:solidFill>
                  <a:schemeClr val="bg1"/>
                </a:solidFill>
              </a:rPr>
              <a:t> 그 주주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관계사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임직원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자문인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또는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향후 관련 계약의 당사자 등은 명시적이든 묵시적이든 어떠한 진술이나 보장도 하지 않으며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이에 대하여 일체의 법적 책임을 부담하지 않습니다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</a:t>
            </a:r>
            <a:r>
              <a:rPr lang="en-US" altLang="ko-KR" sz="800" dirty="0">
                <a:solidFill>
                  <a:schemeClr val="bg1"/>
                </a:solidFill>
              </a:rPr>
              <a:t> IM</a:t>
            </a:r>
            <a:r>
              <a:rPr lang="ko-KR" altLang="en-US" sz="800" dirty="0">
                <a:solidFill>
                  <a:schemeClr val="bg1"/>
                </a:solidFill>
              </a:rPr>
              <a:t>은 본 거래 검토를 위해 비밀유지의무를 확약한 잠재적 투자자에게 제공되는 것으로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투자자 외의 제</a:t>
            </a:r>
            <a:r>
              <a:rPr lang="en-US" altLang="ko-KR" sz="800" dirty="0">
                <a:solidFill>
                  <a:schemeClr val="bg1"/>
                </a:solidFill>
              </a:rPr>
              <a:t>3</a:t>
            </a:r>
            <a:r>
              <a:rPr lang="ko-KR" altLang="en-US" sz="800" dirty="0">
                <a:solidFill>
                  <a:schemeClr val="bg1"/>
                </a:solidFill>
              </a:rPr>
              <a:t>자에게 제공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복제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배포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유출되어서는 아니 됩니다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단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투자자가 본인의 법률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회계 또는 세무 자문기관에 본 </a:t>
            </a:r>
            <a:r>
              <a:rPr lang="en-US" altLang="ko-KR" sz="800" dirty="0">
                <a:solidFill>
                  <a:schemeClr val="bg1"/>
                </a:solidFill>
              </a:rPr>
              <a:t>IM</a:t>
            </a:r>
            <a:r>
              <a:rPr lang="ko-KR" altLang="en-US" sz="800" dirty="0">
                <a:solidFill>
                  <a:schemeClr val="bg1"/>
                </a:solidFill>
              </a:rPr>
              <a:t>의 내용을 전달하는 것은 예외로 하되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해당 자문기관 역시 비밀유지의무를 부담합니다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IM</a:t>
            </a:r>
            <a:r>
              <a:rPr lang="ko-KR" altLang="en-US" sz="800" dirty="0">
                <a:solidFill>
                  <a:schemeClr val="bg1"/>
                </a:solidFill>
              </a:rPr>
              <a:t>의 내용은 향후 실제로 체결될 주식매매계약 등 관련 계약서류의 기준이 되는 </a:t>
            </a:r>
            <a:r>
              <a:rPr lang="ko-KR" altLang="en-US" sz="800" dirty="0" err="1">
                <a:solidFill>
                  <a:schemeClr val="bg1"/>
                </a:solidFill>
              </a:rPr>
              <a:t>예시적</a:t>
            </a:r>
            <a:r>
              <a:rPr lang="ko-KR" altLang="en-US" sz="800" dirty="0">
                <a:solidFill>
                  <a:schemeClr val="bg1"/>
                </a:solidFill>
              </a:rPr>
              <a:t> 조건 및 설명을 포함하고 있으나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이는 확정된 사항이 아니며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추후 변경 또는 조정될 수 있습니다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투자자는 최종적인 투자 판단에 앞서 별도의 독립적인 분석과 검토를 수행하여야 하며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IM</a:t>
            </a:r>
            <a:r>
              <a:rPr lang="ko-KR" altLang="en-US" sz="800" dirty="0">
                <a:solidFill>
                  <a:schemeClr val="bg1"/>
                </a:solidFill>
              </a:rPr>
              <a:t>의 제공은 어떠한 방식으로도 본 거래에 대한 참여의 권유 또는 제안으로 해석되어서는 아니 됩니다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IM</a:t>
            </a:r>
            <a:r>
              <a:rPr lang="ko-KR" altLang="en-US" sz="800" dirty="0">
                <a:solidFill>
                  <a:schemeClr val="bg1"/>
                </a:solidFill>
              </a:rPr>
              <a:t>의 일부 내용은 별도의 사전 통지 없이 변경될 수 있으며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그러한 변경 사항에 대한 인지 여부는 전적으로 투자자의 책임임을 유의하시기 바랍니다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endParaRPr lang="en-US" altLang="ko-KR" sz="800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en-US" altLang="ko-KR" sz="800" dirty="0">
                <a:solidFill>
                  <a:schemeClr val="bg1"/>
                </a:solidFill>
              </a:rPr>
              <a:t>2025</a:t>
            </a:r>
            <a:r>
              <a:rPr lang="ko-KR" altLang="en-US" sz="800" dirty="0">
                <a:solidFill>
                  <a:schemeClr val="bg1"/>
                </a:solidFill>
              </a:rPr>
              <a:t>년 </a:t>
            </a:r>
            <a:r>
              <a:rPr lang="en-US" altLang="ko-KR" sz="800" dirty="0">
                <a:solidFill>
                  <a:schemeClr val="bg1"/>
                </a:solidFill>
              </a:rPr>
              <a:t>11</a:t>
            </a:r>
            <a:r>
              <a:rPr lang="ko-KR" altLang="en-US" sz="800" dirty="0">
                <a:solidFill>
                  <a:schemeClr val="bg1"/>
                </a:solidFill>
              </a:rPr>
              <a:t>월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dirty="0">
                <a:solidFill>
                  <a:schemeClr val="bg1"/>
                </a:solidFill>
                <a:latin typeface="+mj-lt"/>
                <a:ea typeface="+mj-ea"/>
              </a:rPr>
              <a:t>주식회사 </a:t>
            </a:r>
            <a:r>
              <a:rPr lang="ko-KR" altLang="en-US" sz="1000" dirty="0" err="1">
                <a:solidFill>
                  <a:schemeClr val="bg1"/>
                </a:solidFill>
                <a:latin typeface="+mj-lt"/>
                <a:ea typeface="+mj-ea"/>
              </a:rPr>
              <a:t>비앤와이파트너스</a:t>
            </a:r>
            <a:endParaRPr lang="en-US" altLang="ko-KR" sz="1000" dirty="0">
              <a:solidFill>
                <a:schemeClr val="bg1"/>
              </a:solidFill>
              <a:latin typeface="+mj-lt"/>
              <a:ea typeface="+mj-ea"/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1000" dirty="0">
                <a:solidFill>
                  <a:schemeClr val="bg1"/>
                </a:solidFill>
                <a:latin typeface="+mj-lt"/>
                <a:ea typeface="+mj-ea"/>
              </a:rPr>
              <a:t>법무법인 </a:t>
            </a:r>
            <a:r>
              <a:rPr lang="ko-KR" altLang="en-US" sz="1000" dirty="0" err="1">
                <a:solidFill>
                  <a:schemeClr val="bg1"/>
                </a:solidFill>
                <a:latin typeface="+mj-lt"/>
                <a:ea typeface="+mj-ea"/>
              </a:rPr>
              <a:t>에스엘파트너스</a:t>
            </a:r>
            <a:endParaRPr lang="ko-KR" altLang="en-US" sz="1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717386D5-673D-0040-B84C-7EFC64412FC3}"/>
              </a:ext>
            </a:extLst>
          </p:cNvPr>
          <p:cNvSpPr txBox="1">
            <a:spLocks/>
          </p:cNvSpPr>
          <p:nvPr/>
        </p:nvSpPr>
        <p:spPr>
          <a:xfrm>
            <a:off x="452999" y="5663661"/>
            <a:ext cx="4499999" cy="1410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Strictly Private &amp; Confidential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0722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57E6-ED04-20A0-CD65-CD9EFB43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EE7D0D-ECB4-7B6D-ACF1-3C10EA0322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FB7D98-7B01-0EBC-C78D-93371BC217D5}"/>
              </a:ext>
            </a:extLst>
          </p:cNvPr>
          <p:cNvSpPr txBox="1"/>
          <p:nvPr/>
        </p:nvSpPr>
        <p:spPr>
          <a:xfrm>
            <a:off x="452438" y="1386550"/>
            <a:ext cx="3064942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A5F2A13-EB62-FC42-3D09-DCB2627D1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5844"/>
              </p:ext>
            </p:extLst>
          </p:nvPr>
        </p:nvGraphicFramePr>
        <p:xfrm>
          <a:off x="344438" y="2080716"/>
          <a:ext cx="36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600" b="0" kern="120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600" b="0" kern="120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Investment Highlights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812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Market Opportunities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Business</a:t>
                      </a:r>
                      <a:r>
                        <a:rPr lang="ko-KR" altLang="en-US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 </a:t>
                      </a:r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Overview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05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Outfit ExtraBold"/>
                          <a:ea typeface="Pretendard ExtraBold"/>
                          <a:cs typeface="+mn-cs"/>
                        </a:rPr>
                        <a:t>Financial Summary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36481"/>
                  </a:ext>
                </a:extLst>
              </a:tr>
            </a:tbl>
          </a:graphicData>
        </a:graphic>
      </p:graphicFrame>
      <p:pic>
        <p:nvPicPr>
          <p:cNvPr id="7" name="그래픽 6">
            <a:extLst>
              <a:ext uri="{FF2B5EF4-FFF2-40B4-BE49-F238E27FC236}">
                <a16:creationId xmlns:a16="http://schemas.microsoft.com/office/drawing/2014/main" id="{0CA16624-D927-C820-8E4D-36FE4B9CC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0908" y="549275"/>
            <a:ext cx="1642500" cy="252000"/>
          </a:xfrm>
          <a:prstGeom prst="rect">
            <a:avLst/>
          </a:prstGeom>
        </p:spPr>
      </p:pic>
      <p:grpSp>
        <p:nvGrpSpPr>
          <p:cNvPr id="8" name="그래픽 12">
            <a:extLst>
              <a:ext uri="{FF2B5EF4-FFF2-40B4-BE49-F238E27FC236}">
                <a16:creationId xmlns:a16="http://schemas.microsoft.com/office/drawing/2014/main" id="{DAA8E056-034C-32DB-11CD-F3E0C8556F09}"/>
              </a:ext>
            </a:extLst>
          </p:cNvPr>
          <p:cNvGrpSpPr>
            <a:grpSpLocks noChangeAspect="1"/>
          </p:cNvGrpSpPr>
          <p:nvPr/>
        </p:nvGrpSpPr>
        <p:grpSpPr>
          <a:xfrm>
            <a:off x="452999" y="461630"/>
            <a:ext cx="1363661" cy="427290"/>
            <a:chOff x="1748076" y="1492704"/>
            <a:chExt cx="2780254" cy="871165"/>
          </a:xfrm>
          <a:solidFill>
            <a:schemeClr val="bg1"/>
          </a:solidFill>
        </p:grpSpPr>
        <p:sp>
          <p:nvSpPr>
            <p:cNvPr id="9" name="자유형: 도형 21">
              <a:extLst>
                <a:ext uri="{FF2B5EF4-FFF2-40B4-BE49-F238E27FC236}">
                  <a16:creationId xmlns:a16="http://schemas.microsoft.com/office/drawing/2014/main" id="{9BE67EEC-59B1-19ED-C9D5-368C3DAD5AB6}"/>
                </a:ext>
              </a:extLst>
            </p:cNvPr>
            <p:cNvSpPr/>
            <p:nvPr/>
          </p:nvSpPr>
          <p:spPr>
            <a:xfrm flipV="1">
              <a:off x="2956473" y="1542367"/>
              <a:ext cx="1551422" cy="303005"/>
            </a:xfrm>
            <a:custGeom>
              <a:avLst/>
              <a:gdLst>
                <a:gd name="connsiteX0" fmla="*/ 1551596 w 1551422"/>
                <a:gd name="connsiteY0" fmla="*/ 303014 h 303005"/>
                <a:gd name="connsiteX1" fmla="*/ 173 w 1551422"/>
                <a:gd name="connsiteY1" fmla="*/ 303014 h 303005"/>
                <a:gd name="connsiteX2" fmla="*/ 173 w 1551422"/>
                <a:gd name="connsiteY2" fmla="*/ 8 h 303005"/>
                <a:gd name="connsiteX3" fmla="*/ 1551596 w 1551422"/>
                <a:gd name="connsiteY3" fmla="*/ 8 h 3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22" h="303005">
                  <a:moveTo>
                    <a:pt x="1551596" y="303014"/>
                  </a:moveTo>
                  <a:lnTo>
                    <a:pt x="173" y="303014"/>
                  </a:lnTo>
                  <a:lnTo>
                    <a:pt x="173" y="8"/>
                  </a:lnTo>
                  <a:lnTo>
                    <a:pt x="1551596" y="8"/>
                  </a:lnTo>
                  <a:close/>
                </a:path>
              </a:pathLst>
            </a:custGeom>
            <a:grpFill/>
            <a:ln w="60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0" name="그래픽 12">
              <a:extLst>
                <a:ext uri="{FF2B5EF4-FFF2-40B4-BE49-F238E27FC236}">
                  <a16:creationId xmlns:a16="http://schemas.microsoft.com/office/drawing/2014/main" id="{E3B7C3FE-44A6-3612-3436-E4B91498A26B}"/>
                </a:ext>
              </a:extLst>
            </p:cNvPr>
            <p:cNvGrpSpPr/>
            <p:nvPr/>
          </p:nvGrpSpPr>
          <p:grpSpPr>
            <a:xfrm>
              <a:off x="1748076" y="1492704"/>
              <a:ext cx="2780254" cy="871165"/>
              <a:chOff x="1748076" y="1492704"/>
              <a:chExt cx="2780254" cy="871165"/>
            </a:xfrm>
            <a:grpFill/>
          </p:grpSpPr>
          <p:sp>
            <p:nvSpPr>
              <p:cNvPr id="11" name="자유형: 도형 26">
                <a:extLst>
                  <a:ext uri="{FF2B5EF4-FFF2-40B4-BE49-F238E27FC236}">
                    <a16:creationId xmlns:a16="http://schemas.microsoft.com/office/drawing/2014/main" id="{1AEB0868-0F8D-7591-B1F3-CB694F230DB7}"/>
                  </a:ext>
                </a:extLst>
              </p:cNvPr>
              <p:cNvSpPr/>
              <p:nvPr/>
            </p:nvSpPr>
            <p:spPr>
              <a:xfrm flipV="1">
                <a:off x="1751153" y="1513324"/>
                <a:ext cx="258404" cy="360962"/>
              </a:xfrm>
              <a:custGeom>
                <a:avLst/>
                <a:gdLst>
                  <a:gd name="connsiteX0" fmla="*/ 113589 w 258404"/>
                  <a:gd name="connsiteY0" fmla="*/ 179798 h 360962"/>
                  <a:gd name="connsiteX1" fmla="*/ 82826 w 258404"/>
                  <a:gd name="connsiteY1" fmla="*/ 179798 h 360962"/>
                  <a:gd name="connsiteX2" fmla="*/ 82826 w 258404"/>
                  <a:gd name="connsiteY2" fmla="*/ 7014 h 360962"/>
                  <a:gd name="connsiteX3" fmla="*/ 105382 w 258404"/>
                  <a:gd name="connsiteY3" fmla="*/ 7014 h 360962"/>
                  <a:gd name="connsiteX4" fmla="*/ 201265 w 258404"/>
                  <a:gd name="connsiteY4" fmla="*/ 94177 h 360962"/>
                  <a:gd name="connsiteX5" fmla="*/ 113589 w 258404"/>
                  <a:gd name="connsiteY5" fmla="*/ 179798 h 360962"/>
                  <a:gd name="connsiteX6" fmla="*/ 82826 w 258404"/>
                  <a:gd name="connsiteY6" fmla="*/ 354638 h 360962"/>
                  <a:gd name="connsiteX7" fmla="*/ 82826 w 258404"/>
                  <a:gd name="connsiteY7" fmla="*/ 186461 h 360962"/>
                  <a:gd name="connsiteX8" fmla="*/ 113589 w 258404"/>
                  <a:gd name="connsiteY8" fmla="*/ 186461 h 360962"/>
                  <a:gd name="connsiteX9" fmla="*/ 179215 w 258404"/>
                  <a:gd name="connsiteY9" fmla="*/ 274137 h 360962"/>
                  <a:gd name="connsiteX10" fmla="*/ 105382 w 258404"/>
                  <a:gd name="connsiteY10" fmla="*/ 354638 h 360962"/>
                  <a:gd name="connsiteX11" fmla="*/ 102820 w 258404"/>
                  <a:gd name="connsiteY11" fmla="*/ 345 h 360962"/>
                  <a:gd name="connsiteX12" fmla="*/ 280 w 258404"/>
                  <a:gd name="connsiteY12" fmla="*/ 345 h 360962"/>
                  <a:gd name="connsiteX13" fmla="*/ 280 w 258404"/>
                  <a:gd name="connsiteY13" fmla="*/ 4957 h 360962"/>
                  <a:gd name="connsiteX14" fmla="*/ 30018 w 258404"/>
                  <a:gd name="connsiteY14" fmla="*/ 61871 h 360962"/>
                  <a:gd name="connsiteX15" fmla="*/ 30018 w 258404"/>
                  <a:gd name="connsiteY15" fmla="*/ 300800 h 360962"/>
                  <a:gd name="connsiteX16" fmla="*/ 280 w 258404"/>
                  <a:gd name="connsiteY16" fmla="*/ 356688 h 360962"/>
                  <a:gd name="connsiteX17" fmla="*/ 280 w 258404"/>
                  <a:gd name="connsiteY17" fmla="*/ 361307 h 360962"/>
                  <a:gd name="connsiteX18" fmla="*/ 102820 w 258404"/>
                  <a:gd name="connsiteY18" fmla="*/ 361307 h 360962"/>
                  <a:gd name="connsiteX19" fmla="*/ 234585 w 258404"/>
                  <a:gd name="connsiteY19" fmla="*/ 273631 h 360962"/>
                  <a:gd name="connsiteX20" fmla="*/ 148964 w 258404"/>
                  <a:gd name="connsiteY20" fmla="*/ 185442 h 360962"/>
                  <a:gd name="connsiteX21" fmla="*/ 258685 w 258404"/>
                  <a:gd name="connsiteY21" fmla="*/ 92121 h 360962"/>
                  <a:gd name="connsiteX22" fmla="*/ 102820 w 258404"/>
                  <a:gd name="connsiteY22" fmla="*/ 345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8404" h="360962">
                    <a:moveTo>
                      <a:pt x="113589" y="179798"/>
                    </a:moveTo>
                    <a:lnTo>
                      <a:pt x="82826" y="179798"/>
                    </a:lnTo>
                    <a:lnTo>
                      <a:pt x="82826" y="7014"/>
                    </a:lnTo>
                    <a:lnTo>
                      <a:pt x="105382" y="7014"/>
                    </a:lnTo>
                    <a:cubicBezTo>
                      <a:pt x="154608" y="7014"/>
                      <a:pt x="201265" y="5989"/>
                      <a:pt x="201265" y="94177"/>
                    </a:cubicBezTo>
                    <a:cubicBezTo>
                      <a:pt x="201265" y="177235"/>
                      <a:pt x="151527" y="179798"/>
                      <a:pt x="113589" y="179798"/>
                    </a:cubicBezTo>
                    <a:moveTo>
                      <a:pt x="82826" y="354638"/>
                    </a:moveTo>
                    <a:lnTo>
                      <a:pt x="82826" y="186461"/>
                    </a:lnTo>
                    <a:lnTo>
                      <a:pt x="113589" y="186461"/>
                    </a:lnTo>
                    <a:cubicBezTo>
                      <a:pt x="145377" y="186461"/>
                      <a:pt x="179215" y="196204"/>
                      <a:pt x="179215" y="274137"/>
                    </a:cubicBezTo>
                    <a:cubicBezTo>
                      <a:pt x="179215" y="349507"/>
                      <a:pt x="136664" y="354638"/>
                      <a:pt x="105382" y="354638"/>
                    </a:cubicBezTo>
                    <a:close/>
                    <a:moveTo>
                      <a:pt x="102820" y="345"/>
                    </a:moveTo>
                    <a:lnTo>
                      <a:pt x="280" y="345"/>
                    </a:lnTo>
                    <a:lnTo>
                      <a:pt x="280" y="4957"/>
                    </a:lnTo>
                    <a:cubicBezTo>
                      <a:pt x="22325" y="4957"/>
                      <a:pt x="30018" y="27008"/>
                      <a:pt x="30018" y="61871"/>
                    </a:cubicBezTo>
                    <a:lnTo>
                      <a:pt x="30018" y="300800"/>
                    </a:lnTo>
                    <a:cubicBezTo>
                      <a:pt x="30018" y="332588"/>
                      <a:pt x="22837" y="356688"/>
                      <a:pt x="280" y="356688"/>
                    </a:cubicBezTo>
                    <a:lnTo>
                      <a:pt x="280" y="361307"/>
                    </a:lnTo>
                    <a:lnTo>
                      <a:pt x="102820" y="361307"/>
                    </a:lnTo>
                    <a:cubicBezTo>
                      <a:pt x="174090" y="361307"/>
                      <a:pt x="234585" y="357201"/>
                      <a:pt x="234585" y="273631"/>
                    </a:cubicBezTo>
                    <a:cubicBezTo>
                      <a:pt x="234585" y="193642"/>
                      <a:pt x="159221" y="185442"/>
                      <a:pt x="148964" y="185442"/>
                    </a:cubicBezTo>
                    <a:cubicBezTo>
                      <a:pt x="182290" y="185442"/>
                      <a:pt x="258685" y="178779"/>
                      <a:pt x="258685" y="92121"/>
                    </a:cubicBezTo>
                    <a:cubicBezTo>
                      <a:pt x="258685" y="2913"/>
                      <a:pt x="191527" y="345"/>
                      <a:pt x="102820" y="345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27">
                <a:extLst>
                  <a:ext uri="{FF2B5EF4-FFF2-40B4-BE49-F238E27FC236}">
                    <a16:creationId xmlns:a16="http://schemas.microsoft.com/office/drawing/2014/main" id="{F41D3376-001C-C113-15AC-21E59102613F}"/>
                  </a:ext>
                </a:extLst>
              </p:cNvPr>
              <p:cNvSpPr/>
              <p:nvPr/>
            </p:nvSpPr>
            <p:spPr>
              <a:xfrm flipV="1">
                <a:off x="2091574" y="1492704"/>
                <a:ext cx="324112" cy="386382"/>
              </a:xfrm>
              <a:custGeom>
                <a:avLst/>
                <a:gdLst>
                  <a:gd name="connsiteX0" fmla="*/ 99962 w 324112"/>
                  <a:gd name="connsiteY0" fmla="*/ 281518 h 386382"/>
                  <a:gd name="connsiteX1" fmla="*/ 134548 w 324112"/>
                  <a:gd name="connsiteY1" fmla="*/ 228704 h 386382"/>
                  <a:gd name="connsiteX2" fmla="*/ 168151 w 324112"/>
                  <a:gd name="connsiteY2" fmla="*/ 359450 h 386382"/>
                  <a:gd name="connsiteX3" fmla="*/ 112142 w 324112"/>
                  <a:gd name="connsiteY3" fmla="*/ 374319 h 386382"/>
                  <a:gd name="connsiteX4" fmla="*/ 99962 w 324112"/>
                  <a:gd name="connsiteY4" fmla="*/ 281518 h 386382"/>
                  <a:gd name="connsiteX5" fmla="*/ 180807 w 324112"/>
                  <a:gd name="connsiteY5" fmla="*/ 76945 h 386382"/>
                  <a:gd name="connsiteX6" fmla="*/ 99962 w 324112"/>
                  <a:gd name="connsiteY6" fmla="*/ 199997 h 386382"/>
                  <a:gd name="connsiteX7" fmla="*/ 72696 w 324112"/>
                  <a:gd name="connsiteY7" fmla="*/ 182047 h 386382"/>
                  <a:gd name="connsiteX8" fmla="*/ 58575 w 324112"/>
                  <a:gd name="connsiteY8" fmla="*/ 53870 h 386382"/>
                  <a:gd name="connsiteX9" fmla="*/ 180807 w 324112"/>
                  <a:gd name="connsiteY9" fmla="*/ 76945 h 386382"/>
                  <a:gd name="connsiteX10" fmla="*/ 324468 w 324112"/>
                  <a:gd name="connsiteY10" fmla="*/ 56945 h 386382"/>
                  <a:gd name="connsiteX11" fmla="*/ 274802 w 324112"/>
                  <a:gd name="connsiteY11" fmla="*/ 550 h 386382"/>
                  <a:gd name="connsiteX12" fmla="*/ 213927 w 324112"/>
                  <a:gd name="connsiteY12" fmla="*/ 26182 h 386382"/>
                  <a:gd name="connsiteX13" fmla="*/ 185679 w 324112"/>
                  <a:gd name="connsiteY13" fmla="*/ 70789 h 386382"/>
                  <a:gd name="connsiteX14" fmla="*/ 19617 w 324112"/>
                  <a:gd name="connsiteY14" fmla="*/ 34901 h 386382"/>
                  <a:gd name="connsiteX15" fmla="*/ 68795 w 324112"/>
                  <a:gd name="connsiteY15" fmla="*/ 188203 h 386382"/>
                  <a:gd name="connsiteX16" fmla="*/ 96073 w 324112"/>
                  <a:gd name="connsiteY16" fmla="*/ 205635 h 386382"/>
                  <a:gd name="connsiteX17" fmla="*/ 71725 w 324112"/>
                  <a:gd name="connsiteY17" fmla="*/ 243573 h 386382"/>
                  <a:gd name="connsiteX18" fmla="*/ 103857 w 324112"/>
                  <a:gd name="connsiteY18" fmla="*/ 385088 h 386382"/>
                  <a:gd name="connsiteX19" fmla="*/ 173993 w 324112"/>
                  <a:gd name="connsiteY19" fmla="*/ 364069 h 386382"/>
                  <a:gd name="connsiteX20" fmla="*/ 138437 w 324112"/>
                  <a:gd name="connsiteY20" fmla="*/ 222554 h 386382"/>
                  <a:gd name="connsiteX21" fmla="*/ 203701 w 324112"/>
                  <a:gd name="connsiteY21" fmla="*/ 121040 h 386382"/>
                  <a:gd name="connsiteX22" fmla="*/ 261646 w 324112"/>
                  <a:gd name="connsiteY22" fmla="*/ 181535 h 386382"/>
                  <a:gd name="connsiteX23" fmla="*/ 291842 w 324112"/>
                  <a:gd name="connsiteY23" fmla="*/ 175897 h 386382"/>
                  <a:gd name="connsiteX24" fmla="*/ 294278 w 324112"/>
                  <a:gd name="connsiteY24" fmla="*/ 139490 h 386382"/>
                  <a:gd name="connsiteX25" fmla="*/ 259216 w 324112"/>
                  <a:gd name="connsiteY25" fmla="*/ 136421 h 386382"/>
                  <a:gd name="connsiteX26" fmla="*/ 250931 w 324112"/>
                  <a:gd name="connsiteY26" fmla="*/ 153853 h 386382"/>
                  <a:gd name="connsiteX27" fmla="*/ 207590 w 324112"/>
                  <a:gd name="connsiteY27" fmla="*/ 115396 h 386382"/>
                  <a:gd name="connsiteX28" fmla="*/ 246059 w 324112"/>
                  <a:gd name="connsiteY28" fmla="*/ 56945 h 386382"/>
                  <a:gd name="connsiteX29" fmla="*/ 285028 w 324112"/>
                  <a:gd name="connsiteY29" fmla="*/ 32845 h 386382"/>
                  <a:gd name="connsiteX30" fmla="*/ 318137 w 324112"/>
                  <a:gd name="connsiteY30" fmla="*/ 56945 h 38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24112" h="386382">
                    <a:moveTo>
                      <a:pt x="99962" y="281518"/>
                    </a:moveTo>
                    <a:lnTo>
                      <a:pt x="134548" y="228704"/>
                    </a:lnTo>
                    <a:cubicBezTo>
                      <a:pt x="199318" y="271774"/>
                      <a:pt x="192010" y="328175"/>
                      <a:pt x="168151" y="359450"/>
                    </a:cubicBezTo>
                    <a:cubicBezTo>
                      <a:pt x="154023" y="374832"/>
                      <a:pt x="131623" y="382013"/>
                      <a:pt x="112142" y="374319"/>
                    </a:cubicBezTo>
                    <a:cubicBezTo>
                      <a:pt x="82446" y="362525"/>
                      <a:pt x="76591" y="317924"/>
                      <a:pt x="99962" y="281518"/>
                    </a:cubicBezTo>
                    <a:moveTo>
                      <a:pt x="180807" y="76945"/>
                    </a:moveTo>
                    <a:lnTo>
                      <a:pt x="99962" y="199997"/>
                    </a:lnTo>
                    <a:lnTo>
                      <a:pt x="72696" y="182047"/>
                    </a:lnTo>
                    <a:cubicBezTo>
                      <a:pt x="44459" y="161540"/>
                      <a:pt x="16699" y="106165"/>
                      <a:pt x="58575" y="53870"/>
                    </a:cubicBezTo>
                    <a:cubicBezTo>
                      <a:pt x="88771" y="15932"/>
                      <a:pt x="155971" y="16957"/>
                      <a:pt x="180807" y="76945"/>
                    </a:cubicBezTo>
                    <a:moveTo>
                      <a:pt x="324468" y="56945"/>
                    </a:moveTo>
                    <a:cubicBezTo>
                      <a:pt x="323980" y="19519"/>
                      <a:pt x="297202" y="2594"/>
                      <a:pt x="274802" y="550"/>
                    </a:cubicBezTo>
                    <a:cubicBezTo>
                      <a:pt x="274802" y="550"/>
                      <a:pt x="232921" y="-3556"/>
                      <a:pt x="213927" y="26182"/>
                    </a:cubicBezTo>
                    <a:lnTo>
                      <a:pt x="185679" y="70789"/>
                    </a:lnTo>
                    <a:cubicBezTo>
                      <a:pt x="168639" y="12338"/>
                      <a:pt x="70742" y="-33807"/>
                      <a:pt x="19617" y="34901"/>
                    </a:cubicBezTo>
                    <a:cubicBezTo>
                      <a:pt x="-31031" y="103096"/>
                      <a:pt x="29844" y="164616"/>
                      <a:pt x="68795" y="188203"/>
                    </a:cubicBezTo>
                    <a:lnTo>
                      <a:pt x="96073" y="205635"/>
                    </a:lnTo>
                    <a:lnTo>
                      <a:pt x="71725" y="243573"/>
                    </a:lnTo>
                    <a:cubicBezTo>
                      <a:pt x="23513" y="312281"/>
                      <a:pt x="49325" y="374832"/>
                      <a:pt x="103857" y="385088"/>
                    </a:cubicBezTo>
                    <a:cubicBezTo>
                      <a:pt x="135518" y="390726"/>
                      <a:pt x="159378" y="381500"/>
                      <a:pt x="173993" y="364069"/>
                    </a:cubicBezTo>
                    <a:cubicBezTo>
                      <a:pt x="194934" y="338937"/>
                      <a:pt x="213433" y="275874"/>
                      <a:pt x="138437" y="222554"/>
                    </a:cubicBezTo>
                    <a:lnTo>
                      <a:pt x="203701" y="121040"/>
                    </a:lnTo>
                    <a:cubicBezTo>
                      <a:pt x="222200" y="169228"/>
                      <a:pt x="248983" y="178460"/>
                      <a:pt x="261646" y="181535"/>
                    </a:cubicBezTo>
                    <a:cubicBezTo>
                      <a:pt x="271383" y="183591"/>
                      <a:pt x="283557" y="183072"/>
                      <a:pt x="291842" y="175897"/>
                    </a:cubicBezTo>
                    <a:cubicBezTo>
                      <a:pt x="301091" y="168203"/>
                      <a:pt x="304498" y="151284"/>
                      <a:pt x="294278" y="139490"/>
                    </a:cubicBezTo>
                    <a:cubicBezTo>
                      <a:pt x="285505" y="128727"/>
                      <a:pt x="269918" y="127184"/>
                      <a:pt x="259216" y="136421"/>
                    </a:cubicBezTo>
                    <a:cubicBezTo>
                      <a:pt x="253367" y="141546"/>
                      <a:pt x="251419" y="146671"/>
                      <a:pt x="250931" y="153853"/>
                    </a:cubicBezTo>
                    <a:cubicBezTo>
                      <a:pt x="250931" y="165128"/>
                      <a:pt x="220741" y="156928"/>
                      <a:pt x="207590" y="115396"/>
                    </a:cubicBezTo>
                    <a:lnTo>
                      <a:pt x="246059" y="56945"/>
                    </a:lnTo>
                    <a:cubicBezTo>
                      <a:pt x="261646" y="33363"/>
                      <a:pt x="285028" y="32845"/>
                      <a:pt x="285028" y="32845"/>
                    </a:cubicBezTo>
                    <a:cubicBezTo>
                      <a:pt x="300120" y="32845"/>
                      <a:pt x="315701" y="39001"/>
                      <a:pt x="318137" y="56945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29">
                <a:extLst>
                  <a:ext uri="{FF2B5EF4-FFF2-40B4-BE49-F238E27FC236}">
                    <a16:creationId xmlns:a16="http://schemas.microsoft.com/office/drawing/2014/main" id="{654069B7-E53C-C521-78B5-42055BF594C1}"/>
                  </a:ext>
                </a:extLst>
              </p:cNvPr>
              <p:cNvSpPr/>
              <p:nvPr/>
            </p:nvSpPr>
            <p:spPr>
              <a:xfrm flipV="1">
                <a:off x="2427647" y="1513327"/>
                <a:ext cx="343018" cy="360956"/>
              </a:xfrm>
              <a:custGeom>
                <a:avLst/>
                <a:gdLst>
                  <a:gd name="connsiteX0" fmla="*/ 343489 w 343018"/>
                  <a:gd name="connsiteY0" fmla="*/ 361331 h 360956"/>
                  <a:gd name="connsiteX1" fmla="*/ 343489 w 343018"/>
                  <a:gd name="connsiteY1" fmla="*/ 354662 h 360956"/>
                  <a:gd name="connsiteX2" fmla="*/ 237862 w 343018"/>
                  <a:gd name="connsiteY2" fmla="*/ 241867 h 360956"/>
                  <a:gd name="connsiteX3" fmla="*/ 198899 w 343018"/>
                  <a:gd name="connsiteY3" fmla="*/ 161371 h 360956"/>
                  <a:gd name="connsiteX4" fmla="*/ 198899 w 343018"/>
                  <a:gd name="connsiteY4" fmla="*/ 57801 h 360956"/>
                  <a:gd name="connsiteX5" fmla="*/ 237349 w 343018"/>
                  <a:gd name="connsiteY5" fmla="*/ 7044 h 360956"/>
                  <a:gd name="connsiteX6" fmla="*/ 237349 w 343018"/>
                  <a:gd name="connsiteY6" fmla="*/ 375 h 360956"/>
                  <a:gd name="connsiteX7" fmla="*/ 112241 w 343018"/>
                  <a:gd name="connsiteY7" fmla="*/ 375 h 360956"/>
                  <a:gd name="connsiteX8" fmla="*/ 112241 w 343018"/>
                  <a:gd name="connsiteY8" fmla="*/ 7044 h 360956"/>
                  <a:gd name="connsiteX9" fmla="*/ 150698 w 343018"/>
                  <a:gd name="connsiteY9" fmla="*/ 57801 h 360956"/>
                  <a:gd name="connsiteX10" fmla="*/ 150698 w 343018"/>
                  <a:gd name="connsiteY10" fmla="*/ 148034 h 360956"/>
                  <a:gd name="connsiteX11" fmla="*/ 54309 w 343018"/>
                  <a:gd name="connsiteY11" fmla="*/ 315186 h 360956"/>
                  <a:gd name="connsiteX12" fmla="*/ 471 w 343018"/>
                  <a:gd name="connsiteY12" fmla="*/ 355175 h 360956"/>
                  <a:gd name="connsiteX13" fmla="*/ 471 w 343018"/>
                  <a:gd name="connsiteY13" fmla="*/ 361331 h 360956"/>
                  <a:gd name="connsiteX14" fmla="*/ 132247 w 343018"/>
                  <a:gd name="connsiteY14" fmla="*/ 361331 h 360956"/>
                  <a:gd name="connsiteX15" fmla="*/ 132247 w 343018"/>
                  <a:gd name="connsiteY15" fmla="*/ 355175 h 360956"/>
                  <a:gd name="connsiteX16" fmla="*/ 120448 w 343018"/>
                  <a:gd name="connsiteY16" fmla="*/ 297242 h 360956"/>
                  <a:gd name="connsiteX17" fmla="*/ 195824 w 343018"/>
                  <a:gd name="connsiteY17" fmla="*/ 169572 h 360956"/>
                  <a:gd name="connsiteX18" fmla="*/ 234787 w 343018"/>
                  <a:gd name="connsiteY18" fmla="*/ 249554 h 360956"/>
                  <a:gd name="connsiteX19" fmla="*/ 211718 w 343018"/>
                  <a:gd name="connsiteY19" fmla="*/ 354662 h 360956"/>
                  <a:gd name="connsiteX20" fmla="*/ 211718 w 343018"/>
                  <a:gd name="connsiteY20" fmla="*/ 361331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3018" h="360956">
                    <a:moveTo>
                      <a:pt x="343489" y="361331"/>
                    </a:moveTo>
                    <a:lnTo>
                      <a:pt x="343489" y="354662"/>
                    </a:lnTo>
                    <a:cubicBezTo>
                      <a:pt x="321444" y="354662"/>
                      <a:pt x="294775" y="354662"/>
                      <a:pt x="237862" y="241867"/>
                    </a:cubicBezTo>
                    <a:lnTo>
                      <a:pt x="198899" y="161371"/>
                    </a:lnTo>
                    <a:lnTo>
                      <a:pt x="198899" y="57801"/>
                    </a:lnTo>
                    <a:cubicBezTo>
                      <a:pt x="198899" y="16269"/>
                      <a:pt x="215818" y="7044"/>
                      <a:pt x="237349" y="7044"/>
                    </a:cubicBezTo>
                    <a:lnTo>
                      <a:pt x="237349" y="375"/>
                    </a:lnTo>
                    <a:lnTo>
                      <a:pt x="112241" y="375"/>
                    </a:lnTo>
                    <a:lnTo>
                      <a:pt x="112241" y="7044"/>
                    </a:lnTo>
                    <a:cubicBezTo>
                      <a:pt x="133785" y="7044"/>
                      <a:pt x="150698" y="16269"/>
                      <a:pt x="150698" y="57801"/>
                    </a:cubicBezTo>
                    <a:lnTo>
                      <a:pt x="150698" y="148034"/>
                    </a:lnTo>
                    <a:cubicBezTo>
                      <a:pt x="75334" y="281342"/>
                      <a:pt x="54309" y="315186"/>
                      <a:pt x="54309" y="315186"/>
                    </a:cubicBezTo>
                    <a:cubicBezTo>
                      <a:pt x="31246" y="354156"/>
                      <a:pt x="17402" y="354156"/>
                      <a:pt x="471" y="355175"/>
                    </a:cubicBezTo>
                    <a:lnTo>
                      <a:pt x="471" y="361331"/>
                    </a:lnTo>
                    <a:lnTo>
                      <a:pt x="132247" y="361331"/>
                    </a:lnTo>
                    <a:lnTo>
                      <a:pt x="132247" y="355175"/>
                    </a:lnTo>
                    <a:cubicBezTo>
                      <a:pt x="117885" y="355175"/>
                      <a:pt x="85596" y="356200"/>
                      <a:pt x="120448" y="297242"/>
                    </a:cubicBezTo>
                    <a:lnTo>
                      <a:pt x="195824" y="169572"/>
                    </a:lnTo>
                    <a:lnTo>
                      <a:pt x="234787" y="249554"/>
                    </a:lnTo>
                    <a:cubicBezTo>
                      <a:pt x="252224" y="284936"/>
                      <a:pt x="280931" y="354662"/>
                      <a:pt x="211718" y="354662"/>
                    </a:cubicBezTo>
                    <a:lnTo>
                      <a:pt x="211718" y="361331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30">
                <a:extLst>
                  <a:ext uri="{FF2B5EF4-FFF2-40B4-BE49-F238E27FC236}">
                    <a16:creationId xmlns:a16="http://schemas.microsoft.com/office/drawing/2014/main" id="{9DAE66BB-6633-4C7D-2474-AF1237D2019B}"/>
                  </a:ext>
                </a:extLst>
              </p:cNvPr>
              <p:cNvSpPr/>
              <p:nvPr/>
            </p:nvSpPr>
            <p:spPr>
              <a:xfrm flipV="1">
                <a:off x="1748076" y="1998302"/>
                <a:ext cx="263535" cy="360956"/>
              </a:xfrm>
              <a:custGeom>
                <a:avLst/>
                <a:gdLst>
                  <a:gd name="connsiteX0" fmla="*/ 94103 w 263535"/>
                  <a:gd name="connsiteY0" fmla="*/ 161445 h 360956"/>
                  <a:gd name="connsiteX1" fmla="*/ 207930 w 263535"/>
                  <a:gd name="connsiteY1" fmla="*/ 257835 h 360956"/>
                  <a:gd name="connsiteX2" fmla="*/ 94103 w 263535"/>
                  <a:gd name="connsiteY2" fmla="*/ 354742 h 360956"/>
                  <a:gd name="connsiteX3" fmla="*/ 84878 w 263535"/>
                  <a:gd name="connsiteY3" fmla="*/ 354742 h 360956"/>
                  <a:gd name="connsiteX4" fmla="*/ 84878 w 263535"/>
                  <a:gd name="connsiteY4" fmla="*/ 161445 h 360956"/>
                  <a:gd name="connsiteX5" fmla="*/ 84878 w 263535"/>
                  <a:gd name="connsiteY5" fmla="*/ 70688 h 360956"/>
                  <a:gd name="connsiteX6" fmla="*/ 135629 w 263535"/>
                  <a:gd name="connsiteY6" fmla="*/ 7118 h 360956"/>
                  <a:gd name="connsiteX7" fmla="*/ 135629 w 263535"/>
                  <a:gd name="connsiteY7" fmla="*/ 449 h 360956"/>
                  <a:gd name="connsiteX8" fmla="*/ 277 w 263535"/>
                  <a:gd name="connsiteY8" fmla="*/ 449 h 360956"/>
                  <a:gd name="connsiteX9" fmla="*/ 277 w 263535"/>
                  <a:gd name="connsiteY9" fmla="*/ 7118 h 360956"/>
                  <a:gd name="connsiteX10" fmla="*/ 34115 w 263535"/>
                  <a:gd name="connsiteY10" fmla="*/ 69150 h 360956"/>
                  <a:gd name="connsiteX11" fmla="*/ 34115 w 263535"/>
                  <a:gd name="connsiteY11" fmla="*/ 306542 h 360956"/>
                  <a:gd name="connsiteX12" fmla="*/ 1302 w 263535"/>
                  <a:gd name="connsiteY12" fmla="*/ 354742 h 360956"/>
                  <a:gd name="connsiteX13" fmla="*/ 1302 w 263535"/>
                  <a:gd name="connsiteY13" fmla="*/ 361405 h 360956"/>
                  <a:gd name="connsiteX14" fmla="*/ 94103 w 263535"/>
                  <a:gd name="connsiteY14" fmla="*/ 361405 h 360956"/>
                  <a:gd name="connsiteX15" fmla="*/ 263813 w 263535"/>
                  <a:gd name="connsiteY15" fmla="*/ 257835 h 360956"/>
                  <a:gd name="connsiteX16" fmla="*/ 94103 w 263535"/>
                  <a:gd name="connsiteY16" fmla="*/ 154783 h 360956"/>
                  <a:gd name="connsiteX17" fmla="*/ 84878 w 263535"/>
                  <a:gd name="connsiteY17" fmla="*/ 154783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3535" h="360956">
                    <a:moveTo>
                      <a:pt x="94103" y="161445"/>
                    </a:moveTo>
                    <a:cubicBezTo>
                      <a:pt x="156660" y="161445"/>
                      <a:pt x="207930" y="162983"/>
                      <a:pt x="207930" y="257835"/>
                    </a:cubicBezTo>
                    <a:cubicBezTo>
                      <a:pt x="207930" y="355261"/>
                      <a:pt x="154092" y="354742"/>
                      <a:pt x="94103" y="354742"/>
                    </a:cubicBezTo>
                    <a:lnTo>
                      <a:pt x="84878" y="354742"/>
                    </a:lnTo>
                    <a:lnTo>
                      <a:pt x="84878" y="161445"/>
                    </a:lnTo>
                    <a:close/>
                    <a:moveTo>
                      <a:pt x="84878" y="70688"/>
                    </a:moveTo>
                    <a:cubicBezTo>
                      <a:pt x="84878" y="9162"/>
                      <a:pt x="103329" y="7118"/>
                      <a:pt x="135629" y="7118"/>
                    </a:cubicBezTo>
                    <a:lnTo>
                      <a:pt x="135629" y="449"/>
                    </a:lnTo>
                    <a:lnTo>
                      <a:pt x="277" y="449"/>
                    </a:lnTo>
                    <a:lnTo>
                      <a:pt x="277" y="7118"/>
                    </a:lnTo>
                    <a:cubicBezTo>
                      <a:pt x="25396" y="7118"/>
                      <a:pt x="34115" y="20449"/>
                      <a:pt x="34115" y="69150"/>
                    </a:cubicBezTo>
                    <a:lnTo>
                      <a:pt x="34115" y="306542"/>
                    </a:lnTo>
                    <a:cubicBezTo>
                      <a:pt x="34115" y="341923"/>
                      <a:pt x="26934" y="354742"/>
                      <a:pt x="1302" y="354742"/>
                    </a:cubicBezTo>
                    <a:lnTo>
                      <a:pt x="1302" y="361405"/>
                    </a:lnTo>
                    <a:lnTo>
                      <a:pt x="94103" y="361405"/>
                    </a:lnTo>
                    <a:cubicBezTo>
                      <a:pt x="196130" y="361405"/>
                      <a:pt x="263813" y="349099"/>
                      <a:pt x="263813" y="257835"/>
                    </a:cubicBezTo>
                    <a:cubicBezTo>
                      <a:pt x="263813" y="167089"/>
                      <a:pt x="196130" y="154783"/>
                      <a:pt x="94103" y="154783"/>
                    </a:cubicBezTo>
                    <a:lnTo>
                      <a:pt x="84878" y="154783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31">
                <a:extLst>
                  <a:ext uri="{FF2B5EF4-FFF2-40B4-BE49-F238E27FC236}">
                    <a16:creationId xmlns:a16="http://schemas.microsoft.com/office/drawing/2014/main" id="{EDC99D7E-CBA0-B93E-A144-31E8C5FB7DD6}"/>
                  </a:ext>
                </a:extLst>
              </p:cNvPr>
              <p:cNvSpPr/>
              <p:nvPr/>
            </p:nvSpPr>
            <p:spPr>
              <a:xfrm flipV="1">
                <a:off x="2031586" y="1998298"/>
                <a:ext cx="336343" cy="360962"/>
              </a:xfrm>
              <a:custGeom>
                <a:avLst/>
                <a:gdLst>
                  <a:gd name="connsiteX0" fmla="*/ 210577 w 336343"/>
                  <a:gd name="connsiteY0" fmla="*/ 116324 h 360962"/>
                  <a:gd name="connsiteX1" fmla="*/ 143401 w 336343"/>
                  <a:gd name="connsiteY1" fmla="*/ 286540 h 360962"/>
                  <a:gd name="connsiteX2" fmla="*/ 81368 w 336343"/>
                  <a:gd name="connsiteY2" fmla="*/ 116324 h 360962"/>
                  <a:gd name="connsiteX3" fmla="*/ 336704 w 336343"/>
                  <a:gd name="connsiteY3" fmla="*/ 442 h 360962"/>
                  <a:gd name="connsiteX4" fmla="*/ 219796 w 336343"/>
                  <a:gd name="connsiteY4" fmla="*/ 442 h 360962"/>
                  <a:gd name="connsiteX5" fmla="*/ 219796 w 336343"/>
                  <a:gd name="connsiteY5" fmla="*/ 7116 h 360962"/>
                  <a:gd name="connsiteX6" fmla="*/ 230565 w 336343"/>
                  <a:gd name="connsiteY6" fmla="*/ 65049 h 360962"/>
                  <a:gd name="connsiteX7" fmla="*/ 212627 w 336343"/>
                  <a:gd name="connsiteY7" fmla="*/ 109656 h 360962"/>
                  <a:gd name="connsiteX8" fmla="*/ 79825 w 336343"/>
                  <a:gd name="connsiteY8" fmla="*/ 109656 h 360962"/>
                  <a:gd name="connsiteX9" fmla="*/ 114700 w 336343"/>
                  <a:gd name="connsiteY9" fmla="*/ 7116 h 360962"/>
                  <a:gd name="connsiteX10" fmla="*/ 114700 w 336343"/>
                  <a:gd name="connsiteY10" fmla="*/ 442 h 360962"/>
                  <a:gd name="connsiteX11" fmla="*/ 361 w 336343"/>
                  <a:gd name="connsiteY11" fmla="*/ 442 h 360962"/>
                  <a:gd name="connsiteX12" fmla="*/ 361 w 336343"/>
                  <a:gd name="connsiteY12" fmla="*/ 7116 h 360962"/>
                  <a:gd name="connsiteX13" fmla="*/ 77268 w 336343"/>
                  <a:gd name="connsiteY13" fmla="*/ 128112 h 360962"/>
                  <a:gd name="connsiteX14" fmla="*/ 162889 w 336343"/>
                  <a:gd name="connsiteY14" fmla="*/ 361404 h 360962"/>
                  <a:gd name="connsiteX15" fmla="*/ 168520 w 336343"/>
                  <a:gd name="connsiteY15" fmla="*/ 361404 h 360962"/>
                  <a:gd name="connsiteX16" fmla="*/ 294660 w 336343"/>
                  <a:gd name="connsiteY16" fmla="*/ 48636 h 360962"/>
                  <a:gd name="connsiteX17" fmla="*/ 336704 w 336343"/>
                  <a:gd name="connsiteY17" fmla="*/ 7116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6343" h="360962">
                    <a:moveTo>
                      <a:pt x="210577" y="116324"/>
                    </a:moveTo>
                    <a:lnTo>
                      <a:pt x="143401" y="286540"/>
                    </a:lnTo>
                    <a:lnTo>
                      <a:pt x="81368" y="116324"/>
                    </a:lnTo>
                    <a:close/>
                    <a:moveTo>
                      <a:pt x="336704" y="442"/>
                    </a:moveTo>
                    <a:lnTo>
                      <a:pt x="219796" y="442"/>
                    </a:lnTo>
                    <a:lnTo>
                      <a:pt x="219796" y="7116"/>
                    </a:lnTo>
                    <a:cubicBezTo>
                      <a:pt x="247484" y="7116"/>
                      <a:pt x="242359" y="36330"/>
                      <a:pt x="230565" y="65049"/>
                    </a:cubicBezTo>
                    <a:lnTo>
                      <a:pt x="212627" y="109656"/>
                    </a:lnTo>
                    <a:lnTo>
                      <a:pt x="79825" y="109656"/>
                    </a:lnTo>
                    <a:cubicBezTo>
                      <a:pt x="65987" y="68636"/>
                      <a:pt x="43430" y="5060"/>
                      <a:pt x="114700" y="7116"/>
                    </a:cubicBezTo>
                    <a:lnTo>
                      <a:pt x="114700" y="442"/>
                    </a:lnTo>
                    <a:lnTo>
                      <a:pt x="361" y="442"/>
                    </a:lnTo>
                    <a:lnTo>
                      <a:pt x="361" y="7116"/>
                    </a:lnTo>
                    <a:cubicBezTo>
                      <a:pt x="19842" y="7623"/>
                      <a:pt x="32661" y="9679"/>
                      <a:pt x="77268" y="128112"/>
                    </a:cubicBezTo>
                    <a:lnTo>
                      <a:pt x="162889" y="361404"/>
                    </a:lnTo>
                    <a:lnTo>
                      <a:pt x="168520" y="361404"/>
                    </a:lnTo>
                    <a:cubicBezTo>
                      <a:pt x="231077" y="210664"/>
                      <a:pt x="294660" y="48636"/>
                      <a:pt x="294660" y="48636"/>
                    </a:cubicBezTo>
                    <a:cubicBezTo>
                      <a:pt x="311585" y="7623"/>
                      <a:pt x="322347" y="8141"/>
                      <a:pt x="336704" y="711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32">
                <a:extLst>
                  <a:ext uri="{FF2B5EF4-FFF2-40B4-BE49-F238E27FC236}">
                    <a16:creationId xmlns:a16="http://schemas.microsoft.com/office/drawing/2014/main" id="{AA64DCFE-64C1-4168-1847-A18A8257B58B}"/>
                  </a:ext>
                </a:extLst>
              </p:cNvPr>
              <p:cNvSpPr/>
              <p:nvPr/>
            </p:nvSpPr>
            <p:spPr>
              <a:xfrm flipV="1">
                <a:off x="2424299" y="1998303"/>
                <a:ext cx="311736" cy="360956"/>
              </a:xfrm>
              <a:custGeom>
                <a:avLst/>
                <a:gdLst>
                  <a:gd name="connsiteX0" fmla="*/ 98361 w 311736"/>
                  <a:gd name="connsiteY0" fmla="*/ 354774 h 360956"/>
                  <a:gd name="connsiteX1" fmla="*/ 82461 w 311736"/>
                  <a:gd name="connsiteY1" fmla="*/ 354774 h 360956"/>
                  <a:gd name="connsiteX2" fmla="*/ 82461 w 311736"/>
                  <a:gd name="connsiteY2" fmla="*/ 172759 h 360956"/>
                  <a:gd name="connsiteX3" fmla="*/ 98361 w 311736"/>
                  <a:gd name="connsiteY3" fmla="*/ 172759 h 360956"/>
                  <a:gd name="connsiteX4" fmla="*/ 200388 w 311736"/>
                  <a:gd name="connsiteY4" fmla="*/ 263504 h 360956"/>
                  <a:gd name="connsiteX5" fmla="*/ 98361 w 311736"/>
                  <a:gd name="connsiteY5" fmla="*/ 354774 h 360956"/>
                  <a:gd name="connsiteX6" fmla="*/ 312165 w 311736"/>
                  <a:gd name="connsiteY6" fmla="*/ 481 h 360956"/>
                  <a:gd name="connsiteX7" fmla="*/ 273189 w 311736"/>
                  <a:gd name="connsiteY7" fmla="*/ 481 h 360956"/>
                  <a:gd name="connsiteX8" fmla="*/ 186037 w 311736"/>
                  <a:gd name="connsiteY8" fmla="*/ 112258 h 360956"/>
                  <a:gd name="connsiteX9" fmla="*/ 106561 w 311736"/>
                  <a:gd name="connsiteY9" fmla="*/ 166090 h 360956"/>
                  <a:gd name="connsiteX10" fmla="*/ 82461 w 311736"/>
                  <a:gd name="connsiteY10" fmla="*/ 166090 h 360956"/>
                  <a:gd name="connsiteX11" fmla="*/ 82461 w 311736"/>
                  <a:gd name="connsiteY11" fmla="*/ 53807 h 360956"/>
                  <a:gd name="connsiteX12" fmla="*/ 115280 w 311736"/>
                  <a:gd name="connsiteY12" fmla="*/ 7156 h 360956"/>
                  <a:gd name="connsiteX13" fmla="*/ 115280 w 311736"/>
                  <a:gd name="connsiteY13" fmla="*/ 481 h 360956"/>
                  <a:gd name="connsiteX14" fmla="*/ 428 w 311736"/>
                  <a:gd name="connsiteY14" fmla="*/ 481 h 360956"/>
                  <a:gd name="connsiteX15" fmla="*/ 428 w 311736"/>
                  <a:gd name="connsiteY15" fmla="*/ 7156 h 360956"/>
                  <a:gd name="connsiteX16" fmla="*/ 32210 w 311736"/>
                  <a:gd name="connsiteY16" fmla="*/ 60470 h 360956"/>
                  <a:gd name="connsiteX17" fmla="*/ 32210 w 311736"/>
                  <a:gd name="connsiteY17" fmla="*/ 315811 h 360956"/>
                  <a:gd name="connsiteX18" fmla="*/ 428 w 311736"/>
                  <a:gd name="connsiteY18" fmla="*/ 354774 h 360956"/>
                  <a:gd name="connsiteX19" fmla="*/ 428 w 311736"/>
                  <a:gd name="connsiteY19" fmla="*/ 361437 h 360956"/>
                  <a:gd name="connsiteX20" fmla="*/ 98361 w 311736"/>
                  <a:gd name="connsiteY20" fmla="*/ 361437 h 360956"/>
                  <a:gd name="connsiteX21" fmla="*/ 256777 w 311736"/>
                  <a:gd name="connsiteY21" fmla="*/ 263504 h 360956"/>
                  <a:gd name="connsiteX22" fmla="*/ 161425 w 311736"/>
                  <a:gd name="connsiteY22" fmla="*/ 169684 h 360956"/>
                  <a:gd name="connsiteX23" fmla="*/ 257301 w 311736"/>
                  <a:gd name="connsiteY23" fmla="*/ 52269 h 360956"/>
                  <a:gd name="connsiteX24" fmla="*/ 312165 w 311736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6" h="360956">
                    <a:moveTo>
                      <a:pt x="98361" y="354774"/>
                    </a:moveTo>
                    <a:lnTo>
                      <a:pt x="82461" y="354774"/>
                    </a:lnTo>
                    <a:lnTo>
                      <a:pt x="82461" y="172759"/>
                    </a:lnTo>
                    <a:lnTo>
                      <a:pt x="98361" y="172759"/>
                    </a:lnTo>
                    <a:cubicBezTo>
                      <a:pt x="156293" y="172759"/>
                      <a:pt x="200388" y="172252"/>
                      <a:pt x="200388" y="263504"/>
                    </a:cubicBezTo>
                    <a:cubicBezTo>
                      <a:pt x="200388" y="356831"/>
                      <a:pt x="153224" y="354774"/>
                      <a:pt x="98361" y="354774"/>
                    </a:cubicBezTo>
                    <a:moveTo>
                      <a:pt x="312165" y="481"/>
                    </a:moveTo>
                    <a:lnTo>
                      <a:pt x="273189" y="481"/>
                    </a:lnTo>
                    <a:cubicBezTo>
                      <a:pt x="207557" y="481"/>
                      <a:pt x="215257" y="994"/>
                      <a:pt x="186037" y="112258"/>
                    </a:cubicBezTo>
                    <a:cubicBezTo>
                      <a:pt x="171669" y="166090"/>
                      <a:pt x="119887" y="166090"/>
                      <a:pt x="106561" y="166090"/>
                    </a:cubicBezTo>
                    <a:lnTo>
                      <a:pt x="82461" y="166090"/>
                    </a:lnTo>
                    <a:lnTo>
                      <a:pt x="82461" y="53807"/>
                    </a:lnTo>
                    <a:cubicBezTo>
                      <a:pt x="82461" y="18431"/>
                      <a:pt x="93742" y="7156"/>
                      <a:pt x="115280" y="7156"/>
                    </a:cubicBezTo>
                    <a:lnTo>
                      <a:pt x="115280" y="481"/>
                    </a:lnTo>
                    <a:lnTo>
                      <a:pt x="428" y="481"/>
                    </a:lnTo>
                    <a:lnTo>
                      <a:pt x="428" y="7156"/>
                    </a:lnTo>
                    <a:cubicBezTo>
                      <a:pt x="22479" y="7156"/>
                      <a:pt x="32210" y="17406"/>
                      <a:pt x="32210" y="60470"/>
                    </a:cubicBezTo>
                    <a:lnTo>
                      <a:pt x="32210" y="315811"/>
                    </a:lnTo>
                    <a:cubicBezTo>
                      <a:pt x="32210" y="347599"/>
                      <a:pt x="22985" y="354774"/>
                      <a:pt x="428" y="354774"/>
                    </a:cubicBezTo>
                    <a:lnTo>
                      <a:pt x="428" y="361437"/>
                    </a:lnTo>
                    <a:lnTo>
                      <a:pt x="98361" y="361437"/>
                    </a:lnTo>
                    <a:cubicBezTo>
                      <a:pt x="200388" y="361437"/>
                      <a:pt x="256777" y="349131"/>
                      <a:pt x="256777" y="263504"/>
                    </a:cubicBezTo>
                    <a:cubicBezTo>
                      <a:pt x="256777" y="193778"/>
                      <a:pt x="216801" y="173265"/>
                      <a:pt x="161425" y="169684"/>
                    </a:cubicBezTo>
                    <a:cubicBezTo>
                      <a:pt x="195257" y="168146"/>
                      <a:pt x="230638" y="164553"/>
                      <a:pt x="257301" y="52269"/>
                    </a:cubicBezTo>
                    <a:cubicBezTo>
                      <a:pt x="266533" y="13300"/>
                      <a:pt x="298833" y="8181"/>
                      <a:pt x="312165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33">
                <a:extLst>
                  <a:ext uri="{FF2B5EF4-FFF2-40B4-BE49-F238E27FC236}">
                    <a16:creationId xmlns:a16="http://schemas.microsoft.com/office/drawing/2014/main" id="{3E7FA02A-5445-AEE7-BA99-14F6F5AE3173}"/>
                  </a:ext>
                </a:extLst>
              </p:cNvPr>
              <p:cNvSpPr/>
              <p:nvPr/>
            </p:nvSpPr>
            <p:spPr>
              <a:xfrm flipV="1">
                <a:off x="2770871" y="1998301"/>
                <a:ext cx="313786" cy="360956"/>
              </a:xfrm>
              <a:custGeom>
                <a:avLst/>
                <a:gdLst>
                  <a:gd name="connsiteX0" fmla="*/ 314327 w 313786"/>
                  <a:gd name="connsiteY0" fmla="*/ 361438 h 360956"/>
                  <a:gd name="connsiteX1" fmla="*/ 314327 w 313786"/>
                  <a:gd name="connsiteY1" fmla="*/ 271199 h 360956"/>
                  <a:gd name="connsiteX2" fmla="*/ 307671 w 313786"/>
                  <a:gd name="connsiteY2" fmla="*/ 271199 h 360956"/>
                  <a:gd name="connsiteX3" fmla="*/ 212813 w 313786"/>
                  <a:gd name="connsiteY3" fmla="*/ 354776 h 360956"/>
                  <a:gd name="connsiteX4" fmla="*/ 182556 w 313786"/>
                  <a:gd name="connsiteY4" fmla="*/ 354776 h 360956"/>
                  <a:gd name="connsiteX5" fmla="*/ 182556 w 313786"/>
                  <a:gd name="connsiteY5" fmla="*/ 50214 h 360956"/>
                  <a:gd name="connsiteX6" fmla="*/ 219988 w 313786"/>
                  <a:gd name="connsiteY6" fmla="*/ 7151 h 360956"/>
                  <a:gd name="connsiteX7" fmla="*/ 219988 w 313786"/>
                  <a:gd name="connsiteY7" fmla="*/ 482 h 360956"/>
                  <a:gd name="connsiteX8" fmla="*/ 94886 w 313786"/>
                  <a:gd name="connsiteY8" fmla="*/ 482 h 360956"/>
                  <a:gd name="connsiteX9" fmla="*/ 94886 w 313786"/>
                  <a:gd name="connsiteY9" fmla="*/ 7151 h 360956"/>
                  <a:gd name="connsiteX10" fmla="*/ 131799 w 313786"/>
                  <a:gd name="connsiteY10" fmla="*/ 50214 h 360956"/>
                  <a:gd name="connsiteX11" fmla="*/ 131799 w 313786"/>
                  <a:gd name="connsiteY11" fmla="*/ 354776 h 360956"/>
                  <a:gd name="connsiteX12" fmla="*/ 101549 w 313786"/>
                  <a:gd name="connsiteY12" fmla="*/ 354776 h 360956"/>
                  <a:gd name="connsiteX13" fmla="*/ 7209 w 313786"/>
                  <a:gd name="connsiteY13" fmla="*/ 271199 h 360956"/>
                  <a:gd name="connsiteX14" fmla="*/ 541 w 313786"/>
                  <a:gd name="connsiteY14" fmla="*/ 271199 h 360956"/>
                  <a:gd name="connsiteX15" fmla="*/ 541 w 313786"/>
                  <a:gd name="connsiteY15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3786" h="360956">
                    <a:moveTo>
                      <a:pt x="314327" y="361438"/>
                    </a:moveTo>
                    <a:lnTo>
                      <a:pt x="314327" y="271199"/>
                    </a:lnTo>
                    <a:lnTo>
                      <a:pt x="307671" y="271199"/>
                    </a:lnTo>
                    <a:cubicBezTo>
                      <a:pt x="305614" y="353751"/>
                      <a:pt x="219988" y="354776"/>
                      <a:pt x="212813" y="354776"/>
                    </a:cubicBezTo>
                    <a:lnTo>
                      <a:pt x="182556" y="354776"/>
                    </a:lnTo>
                    <a:lnTo>
                      <a:pt x="182556" y="50214"/>
                    </a:lnTo>
                    <a:cubicBezTo>
                      <a:pt x="182556" y="16376"/>
                      <a:pt x="198456" y="7151"/>
                      <a:pt x="219988" y="7151"/>
                    </a:cubicBezTo>
                    <a:lnTo>
                      <a:pt x="219988" y="482"/>
                    </a:lnTo>
                    <a:lnTo>
                      <a:pt x="94886" y="482"/>
                    </a:lnTo>
                    <a:lnTo>
                      <a:pt x="94886" y="7151"/>
                    </a:lnTo>
                    <a:cubicBezTo>
                      <a:pt x="116424" y="7151"/>
                      <a:pt x="131799" y="16376"/>
                      <a:pt x="131799" y="50214"/>
                    </a:cubicBezTo>
                    <a:lnTo>
                      <a:pt x="131799" y="354776"/>
                    </a:lnTo>
                    <a:lnTo>
                      <a:pt x="101549" y="354776"/>
                    </a:lnTo>
                    <a:cubicBezTo>
                      <a:pt x="85649" y="354776"/>
                      <a:pt x="9266" y="353751"/>
                      <a:pt x="7209" y="271199"/>
                    </a:cubicBezTo>
                    <a:lnTo>
                      <a:pt x="541" y="271199"/>
                    </a:lnTo>
                    <a:lnTo>
                      <a:pt x="541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34">
                <a:extLst>
                  <a:ext uri="{FF2B5EF4-FFF2-40B4-BE49-F238E27FC236}">
                    <a16:creationId xmlns:a16="http://schemas.microsoft.com/office/drawing/2014/main" id="{3A44AB37-EDC6-DBE5-1861-8CBF24F52EFB}"/>
                  </a:ext>
                </a:extLst>
              </p:cNvPr>
              <p:cNvSpPr/>
              <p:nvPr/>
            </p:nvSpPr>
            <p:spPr>
              <a:xfrm flipV="1">
                <a:off x="3131802" y="1998301"/>
                <a:ext cx="395813" cy="360956"/>
              </a:xfrm>
              <a:custGeom>
                <a:avLst/>
                <a:gdLst>
                  <a:gd name="connsiteX0" fmla="*/ 396450 w 395813"/>
                  <a:gd name="connsiteY0" fmla="*/ 361438 h 360956"/>
                  <a:gd name="connsiteX1" fmla="*/ 396450 w 395813"/>
                  <a:gd name="connsiteY1" fmla="*/ 355288 h 360956"/>
                  <a:gd name="connsiteX2" fmla="*/ 323654 w 395813"/>
                  <a:gd name="connsiteY2" fmla="*/ 233773 h 360956"/>
                  <a:gd name="connsiteX3" fmla="*/ 323654 w 395813"/>
                  <a:gd name="connsiteY3" fmla="*/ 482 h 360956"/>
                  <a:gd name="connsiteX4" fmla="*/ 307248 w 395813"/>
                  <a:gd name="connsiteY4" fmla="*/ 482 h 360956"/>
                  <a:gd name="connsiteX5" fmla="*/ 89332 w 395813"/>
                  <a:gd name="connsiteY5" fmla="*/ 281456 h 360956"/>
                  <a:gd name="connsiteX6" fmla="*/ 89332 w 395813"/>
                  <a:gd name="connsiteY6" fmla="*/ 128665 h 360956"/>
                  <a:gd name="connsiteX7" fmla="*/ 156508 w 395813"/>
                  <a:gd name="connsiteY7" fmla="*/ 7151 h 360956"/>
                  <a:gd name="connsiteX8" fmla="*/ 156508 w 395813"/>
                  <a:gd name="connsiteY8" fmla="*/ 482 h 360956"/>
                  <a:gd name="connsiteX9" fmla="*/ 8324 w 395813"/>
                  <a:gd name="connsiteY9" fmla="*/ 482 h 360956"/>
                  <a:gd name="connsiteX10" fmla="*/ 8324 w 395813"/>
                  <a:gd name="connsiteY10" fmla="*/ 7151 h 360956"/>
                  <a:gd name="connsiteX11" fmla="*/ 82675 w 395813"/>
                  <a:gd name="connsiteY11" fmla="*/ 128665 h 360956"/>
                  <a:gd name="connsiteX12" fmla="*/ 82675 w 395813"/>
                  <a:gd name="connsiteY12" fmla="*/ 289143 h 360956"/>
                  <a:gd name="connsiteX13" fmla="*/ 61650 w 395813"/>
                  <a:gd name="connsiteY13" fmla="*/ 316319 h 360956"/>
                  <a:gd name="connsiteX14" fmla="*/ 636 w 395813"/>
                  <a:gd name="connsiteY14" fmla="*/ 355288 h 360956"/>
                  <a:gd name="connsiteX15" fmla="*/ 636 w 395813"/>
                  <a:gd name="connsiteY15" fmla="*/ 361438 h 360956"/>
                  <a:gd name="connsiteX16" fmla="*/ 95488 w 395813"/>
                  <a:gd name="connsiteY16" fmla="*/ 361438 h 360956"/>
                  <a:gd name="connsiteX17" fmla="*/ 316979 w 395813"/>
                  <a:gd name="connsiteY17" fmla="*/ 75346 h 360956"/>
                  <a:gd name="connsiteX18" fmla="*/ 316979 w 395813"/>
                  <a:gd name="connsiteY18" fmla="*/ 233773 h 360956"/>
                  <a:gd name="connsiteX19" fmla="*/ 249822 w 395813"/>
                  <a:gd name="connsiteY19" fmla="*/ 355288 h 360956"/>
                  <a:gd name="connsiteX20" fmla="*/ 249822 w 395813"/>
                  <a:gd name="connsiteY20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5813" h="360956">
                    <a:moveTo>
                      <a:pt x="396450" y="361438"/>
                    </a:moveTo>
                    <a:lnTo>
                      <a:pt x="396450" y="355288"/>
                    </a:lnTo>
                    <a:cubicBezTo>
                      <a:pt x="322111" y="355288"/>
                      <a:pt x="323654" y="281456"/>
                      <a:pt x="323654" y="233773"/>
                    </a:cubicBezTo>
                    <a:lnTo>
                      <a:pt x="323654" y="482"/>
                    </a:lnTo>
                    <a:lnTo>
                      <a:pt x="307248" y="482"/>
                    </a:lnTo>
                    <a:lnTo>
                      <a:pt x="89332" y="281456"/>
                    </a:lnTo>
                    <a:lnTo>
                      <a:pt x="89332" y="128665"/>
                    </a:lnTo>
                    <a:cubicBezTo>
                      <a:pt x="89332" y="83546"/>
                      <a:pt x="89332" y="7151"/>
                      <a:pt x="156508" y="7151"/>
                    </a:cubicBezTo>
                    <a:lnTo>
                      <a:pt x="156508" y="482"/>
                    </a:lnTo>
                    <a:lnTo>
                      <a:pt x="8324" y="482"/>
                    </a:lnTo>
                    <a:lnTo>
                      <a:pt x="8324" y="7151"/>
                    </a:lnTo>
                    <a:cubicBezTo>
                      <a:pt x="82675" y="7151"/>
                      <a:pt x="82675" y="82515"/>
                      <a:pt x="82675" y="128665"/>
                    </a:cubicBezTo>
                    <a:lnTo>
                      <a:pt x="82675" y="289143"/>
                    </a:lnTo>
                    <a:lnTo>
                      <a:pt x="61650" y="316319"/>
                    </a:lnTo>
                    <a:cubicBezTo>
                      <a:pt x="28837" y="357332"/>
                      <a:pt x="13968" y="354263"/>
                      <a:pt x="636" y="355288"/>
                    </a:cubicBezTo>
                    <a:lnTo>
                      <a:pt x="636" y="361438"/>
                    </a:lnTo>
                    <a:lnTo>
                      <a:pt x="95488" y="361438"/>
                    </a:lnTo>
                    <a:lnTo>
                      <a:pt x="316979" y="75346"/>
                    </a:lnTo>
                    <a:lnTo>
                      <a:pt x="316979" y="233773"/>
                    </a:lnTo>
                    <a:cubicBezTo>
                      <a:pt x="316979" y="281456"/>
                      <a:pt x="317498" y="355288"/>
                      <a:pt x="249822" y="355288"/>
                    </a:cubicBezTo>
                    <a:lnTo>
                      <a:pt x="249822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35">
                <a:extLst>
                  <a:ext uri="{FF2B5EF4-FFF2-40B4-BE49-F238E27FC236}">
                    <a16:creationId xmlns:a16="http://schemas.microsoft.com/office/drawing/2014/main" id="{3E8DB16B-5849-5FFF-792B-DCDE2FE1DD19}"/>
                  </a:ext>
                </a:extLst>
              </p:cNvPr>
              <p:cNvSpPr/>
              <p:nvPr/>
            </p:nvSpPr>
            <p:spPr>
              <a:xfrm flipV="1">
                <a:off x="3587578" y="1998299"/>
                <a:ext cx="257892" cy="360956"/>
              </a:xfrm>
              <a:custGeom>
                <a:avLst/>
                <a:gdLst>
                  <a:gd name="connsiteX0" fmla="*/ 258603 w 257892"/>
                  <a:gd name="connsiteY0" fmla="*/ 107086 h 360956"/>
                  <a:gd name="connsiteX1" fmla="*/ 258603 w 257892"/>
                  <a:gd name="connsiteY1" fmla="*/ 440 h 360956"/>
                  <a:gd name="connsiteX2" fmla="*/ 711 w 257892"/>
                  <a:gd name="connsiteY2" fmla="*/ 440 h 360956"/>
                  <a:gd name="connsiteX3" fmla="*/ 711 w 257892"/>
                  <a:gd name="connsiteY3" fmla="*/ 7109 h 360956"/>
                  <a:gd name="connsiteX4" fmla="*/ 28392 w 257892"/>
                  <a:gd name="connsiteY4" fmla="*/ 60429 h 360956"/>
                  <a:gd name="connsiteX5" fmla="*/ 28392 w 257892"/>
                  <a:gd name="connsiteY5" fmla="*/ 306533 h 360956"/>
                  <a:gd name="connsiteX6" fmla="*/ 711 w 257892"/>
                  <a:gd name="connsiteY6" fmla="*/ 354727 h 360956"/>
                  <a:gd name="connsiteX7" fmla="*/ 711 w 257892"/>
                  <a:gd name="connsiteY7" fmla="*/ 361396 h 360956"/>
                  <a:gd name="connsiteX8" fmla="*/ 251946 w 257892"/>
                  <a:gd name="connsiteY8" fmla="*/ 361396 h 360956"/>
                  <a:gd name="connsiteX9" fmla="*/ 251946 w 257892"/>
                  <a:gd name="connsiteY9" fmla="*/ 269101 h 360956"/>
                  <a:gd name="connsiteX10" fmla="*/ 245283 w 257892"/>
                  <a:gd name="connsiteY10" fmla="*/ 269101 h 360956"/>
                  <a:gd name="connsiteX11" fmla="*/ 108900 w 257892"/>
                  <a:gd name="connsiteY11" fmla="*/ 354727 h 360956"/>
                  <a:gd name="connsiteX12" fmla="*/ 81212 w 257892"/>
                  <a:gd name="connsiteY12" fmla="*/ 354727 h 360956"/>
                  <a:gd name="connsiteX13" fmla="*/ 81212 w 257892"/>
                  <a:gd name="connsiteY13" fmla="*/ 186049 h 360956"/>
                  <a:gd name="connsiteX14" fmla="*/ 114531 w 257892"/>
                  <a:gd name="connsiteY14" fmla="*/ 186049 h 360956"/>
                  <a:gd name="connsiteX15" fmla="*/ 185295 w 257892"/>
                  <a:gd name="connsiteY15" fmla="*/ 237831 h 360956"/>
                  <a:gd name="connsiteX16" fmla="*/ 191951 w 257892"/>
                  <a:gd name="connsiteY16" fmla="*/ 237831 h 360956"/>
                  <a:gd name="connsiteX17" fmla="*/ 191951 w 257892"/>
                  <a:gd name="connsiteY17" fmla="*/ 127592 h 360956"/>
                  <a:gd name="connsiteX18" fmla="*/ 185295 w 257892"/>
                  <a:gd name="connsiteY18" fmla="*/ 127592 h 360956"/>
                  <a:gd name="connsiteX19" fmla="*/ 114531 w 257892"/>
                  <a:gd name="connsiteY19" fmla="*/ 179380 h 360956"/>
                  <a:gd name="connsiteX20" fmla="*/ 81212 w 257892"/>
                  <a:gd name="connsiteY20" fmla="*/ 179380 h 360956"/>
                  <a:gd name="connsiteX21" fmla="*/ 81212 w 257892"/>
                  <a:gd name="connsiteY21" fmla="*/ 7109 h 360956"/>
                  <a:gd name="connsiteX22" fmla="*/ 104787 w 257892"/>
                  <a:gd name="connsiteY22" fmla="*/ 7109 h 360956"/>
                  <a:gd name="connsiteX23" fmla="*/ 251946 w 257892"/>
                  <a:gd name="connsiteY23" fmla="*/ 10708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7892" h="360956">
                    <a:moveTo>
                      <a:pt x="258603" y="107086"/>
                    </a:moveTo>
                    <a:lnTo>
                      <a:pt x="258603" y="440"/>
                    </a:lnTo>
                    <a:lnTo>
                      <a:pt x="711" y="440"/>
                    </a:lnTo>
                    <a:lnTo>
                      <a:pt x="711" y="7109"/>
                    </a:lnTo>
                    <a:cubicBezTo>
                      <a:pt x="22242" y="7109"/>
                      <a:pt x="28392" y="25559"/>
                      <a:pt x="28392" y="60429"/>
                    </a:cubicBezTo>
                    <a:lnTo>
                      <a:pt x="28392" y="306533"/>
                    </a:lnTo>
                    <a:cubicBezTo>
                      <a:pt x="28392" y="338327"/>
                      <a:pt x="23267" y="354727"/>
                      <a:pt x="711" y="354727"/>
                    </a:cubicBezTo>
                    <a:lnTo>
                      <a:pt x="711" y="361396"/>
                    </a:lnTo>
                    <a:lnTo>
                      <a:pt x="251946" y="361396"/>
                    </a:lnTo>
                    <a:lnTo>
                      <a:pt x="251946" y="269101"/>
                    </a:lnTo>
                    <a:lnTo>
                      <a:pt x="245283" y="269101"/>
                    </a:lnTo>
                    <a:cubicBezTo>
                      <a:pt x="239121" y="353702"/>
                      <a:pt x="150426" y="354727"/>
                      <a:pt x="108900" y="354727"/>
                    </a:cubicBezTo>
                    <a:lnTo>
                      <a:pt x="81212" y="354727"/>
                    </a:lnTo>
                    <a:lnTo>
                      <a:pt x="81212" y="186049"/>
                    </a:lnTo>
                    <a:lnTo>
                      <a:pt x="114531" y="186049"/>
                    </a:lnTo>
                    <a:cubicBezTo>
                      <a:pt x="128375" y="186049"/>
                      <a:pt x="182726" y="186049"/>
                      <a:pt x="185295" y="237831"/>
                    </a:cubicBezTo>
                    <a:lnTo>
                      <a:pt x="191951" y="237831"/>
                    </a:lnTo>
                    <a:lnTo>
                      <a:pt x="191951" y="127592"/>
                    </a:lnTo>
                    <a:lnTo>
                      <a:pt x="185295" y="127592"/>
                    </a:lnTo>
                    <a:cubicBezTo>
                      <a:pt x="182726" y="178862"/>
                      <a:pt x="127344" y="179380"/>
                      <a:pt x="114531" y="179380"/>
                    </a:cubicBezTo>
                    <a:lnTo>
                      <a:pt x="81212" y="179380"/>
                    </a:lnTo>
                    <a:lnTo>
                      <a:pt x="81212" y="7109"/>
                    </a:lnTo>
                    <a:lnTo>
                      <a:pt x="104787" y="7109"/>
                    </a:lnTo>
                    <a:cubicBezTo>
                      <a:pt x="150426" y="7109"/>
                      <a:pt x="241171" y="4540"/>
                      <a:pt x="251946" y="10708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36">
                <a:extLst>
                  <a:ext uri="{FF2B5EF4-FFF2-40B4-BE49-F238E27FC236}">
                    <a16:creationId xmlns:a16="http://schemas.microsoft.com/office/drawing/2014/main" id="{D0865F9D-BB89-9ADB-CA15-6A61A71C22CD}"/>
                  </a:ext>
                </a:extLst>
              </p:cNvPr>
              <p:cNvSpPr/>
              <p:nvPr/>
            </p:nvSpPr>
            <p:spPr>
              <a:xfrm flipV="1">
                <a:off x="3923379" y="1998303"/>
                <a:ext cx="311730" cy="360956"/>
              </a:xfrm>
              <a:custGeom>
                <a:avLst/>
                <a:gdLst>
                  <a:gd name="connsiteX0" fmla="*/ 98693 w 311730"/>
                  <a:gd name="connsiteY0" fmla="*/ 354774 h 360956"/>
                  <a:gd name="connsiteX1" fmla="*/ 82792 w 311730"/>
                  <a:gd name="connsiteY1" fmla="*/ 354774 h 360956"/>
                  <a:gd name="connsiteX2" fmla="*/ 82792 w 311730"/>
                  <a:gd name="connsiteY2" fmla="*/ 172759 h 360956"/>
                  <a:gd name="connsiteX3" fmla="*/ 98693 w 311730"/>
                  <a:gd name="connsiteY3" fmla="*/ 172759 h 360956"/>
                  <a:gd name="connsiteX4" fmla="*/ 200719 w 311730"/>
                  <a:gd name="connsiteY4" fmla="*/ 263504 h 360956"/>
                  <a:gd name="connsiteX5" fmla="*/ 98693 w 311730"/>
                  <a:gd name="connsiteY5" fmla="*/ 354774 h 360956"/>
                  <a:gd name="connsiteX6" fmla="*/ 312490 w 311730"/>
                  <a:gd name="connsiteY6" fmla="*/ 481 h 360956"/>
                  <a:gd name="connsiteX7" fmla="*/ 273527 w 311730"/>
                  <a:gd name="connsiteY7" fmla="*/ 481 h 360956"/>
                  <a:gd name="connsiteX8" fmla="*/ 186363 w 311730"/>
                  <a:gd name="connsiteY8" fmla="*/ 112258 h 360956"/>
                  <a:gd name="connsiteX9" fmla="*/ 106893 w 311730"/>
                  <a:gd name="connsiteY9" fmla="*/ 166090 h 360956"/>
                  <a:gd name="connsiteX10" fmla="*/ 82792 w 311730"/>
                  <a:gd name="connsiteY10" fmla="*/ 166090 h 360956"/>
                  <a:gd name="connsiteX11" fmla="*/ 82792 w 311730"/>
                  <a:gd name="connsiteY11" fmla="*/ 53807 h 360956"/>
                  <a:gd name="connsiteX12" fmla="*/ 115612 w 311730"/>
                  <a:gd name="connsiteY12" fmla="*/ 7156 h 360956"/>
                  <a:gd name="connsiteX13" fmla="*/ 115612 w 311730"/>
                  <a:gd name="connsiteY13" fmla="*/ 481 h 360956"/>
                  <a:gd name="connsiteX14" fmla="*/ 760 w 311730"/>
                  <a:gd name="connsiteY14" fmla="*/ 481 h 360956"/>
                  <a:gd name="connsiteX15" fmla="*/ 760 w 311730"/>
                  <a:gd name="connsiteY15" fmla="*/ 7156 h 360956"/>
                  <a:gd name="connsiteX16" fmla="*/ 32548 w 311730"/>
                  <a:gd name="connsiteY16" fmla="*/ 60470 h 360956"/>
                  <a:gd name="connsiteX17" fmla="*/ 32548 w 311730"/>
                  <a:gd name="connsiteY17" fmla="*/ 315811 h 360956"/>
                  <a:gd name="connsiteX18" fmla="*/ 760 w 311730"/>
                  <a:gd name="connsiteY18" fmla="*/ 354774 h 360956"/>
                  <a:gd name="connsiteX19" fmla="*/ 760 w 311730"/>
                  <a:gd name="connsiteY19" fmla="*/ 361437 h 360956"/>
                  <a:gd name="connsiteX20" fmla="*/ 98693 w 311730"/>
                  <a:gd name="connsiteY20" fmla="*/ 361437 h 360956"/>
                  <a:gd name="connsiteX21" fmla="*/ 257120 w 311730"/>
                  <a:gd name="connsiteY21" fmla="*/ 263504 h 360956"/>
                  <a:gd name="connsiteX22" fmla="*/ 161756 w 311730"/>
                  <a:gd name="connsiteY22" fmla="*/ 169684 h 360956"/>
                  <a:gd name="connsiteX23" fmla="*/ 257627 w 311730"/>
                  <a:gd name="connsiteY23" fmla="*/ 52269 h 360956"/>
                  <a:gd name="connsiteX24" fmla="*/ 312490 w 311730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0" h="360956">
                    <a:moveTo>
                      <a:pt x="98693" y="354774"/>
                    </a:moveTo>
                    <a:lnTo>
                      <a:pt x="82792" y="354774"/>
                    </a:lnTo>
                    <a:lnTo>
                      <a:pt x="82792" y="172759"/>
                    </a:lnTo>
                    <a:lnTo>
                      <a:pt x="98693" y="172759"/>
                    </a:lnTo>
                    <a:cubicBezTo>
                      <a:pt x="156625" y="172759"/>
                      <a:pt x="200719" y="172252"/>
                      <a:pt x="200719" y="263504"/>
                    </a:cubicBezTo>
                    <a:cubicBezTo>
                      <a:pt x="200719" y="356831"/>
                      <a:pt x="153550" y="354774"/>
                      <a:pt x="98693" y="354774"/>
                    </a:cubicBezTo>
                    <a:moveTo>
                      <a:pt x="312490" y="481"/>
                    </a:moveTo>
                    <a:lnTo>
                      <a:pt x="273527" y="481"/>
                    </a:lnTo>
                    <a:cubicBezTo>
                      <a:pt x="207901" y="481"/>
                      <a:pt x="215594" y="994"/>
                      <a:pt x="186363" y="112258"/>
                    </a:cubicBezTo>
                    <a:cubicBezTo>
                      <a:pt x="172012" y="166090"/>
                      <a:pt x="120224" y="166090"/>
                      <a:pt x="106893" y="166090"/>
                    </a:cubicBezTo>
                    <a:lnTo>
                      <a:pt x="82792" y="166090"/>
                    </a:lnTo>
                    <a:lnTo>
                      <a:pt x="82792" y="53807"/>
                    </a:lnTo>
                    <a:cubicBezTo>
                      <a:pt x="82792" y="18431"/>
                      <a:pt x="94068" y="7156"/>
                      <a:pt x="115612" y="7156"/>
                    </a:cubicBezTo>
                    <a:lnTo>
                      <a:pt x="115612" y="481"/>
                    </a:lnTo>
                    <a:lnTo>
                      <a:pt x="760" y="481"/>
                    </a:lnTo>
                    <a:lnTo>
                      <a:pt x="760" y="7156"/>
                    </a:lnTo>
                    <a:cubicBezTo>
                      <a:pt x="22804" y="7156"/>
                      <a:pt x="32548" y="17406"/>
                      <a:pt x="32548" y="60470"/>
                    </a:cubicBezTo>
                    <a:lnTo>
                      <a:pt x="32548" y="315811"/>
                    </a:lnTo>
                    <a:cubicBezTo>
                      <a:pt x="32548" y="347599"/>
                      <a:pt x="23316" y="354774"/>
                      <a:pt x="760" y="354774"/>
                    </a:cubicBezTo>
                    <a:lnTo>
                      <a:pt x="760" y="361437"/>
                    </a:lnTo>
                    <a:lnTo>
                      <a:pt x="98693" y="361437"/>
                    </a:lnTo>
                    <a:cubicBezTo>
                      <a:pt x="200719" y="361437"/>
                      <a:pt x="257120" y="349131"/>
                      <a:pt x="257120" y="263504"/>
                    </a:cubicBezTo>
                    <a:cubicBezTo>
                      <a:pt x="257120" y="193778"/>
                      <a:pt x="217126" y="173265"/>
                      <a:pt x="161756" y="169684"/>
                    </a:cubicBezTo>
                    <a:cubicBezTo>
                      <a:pt x="195588" y="168146"/>
                      <a:pt x="230964" y="164553"/>
                      <a:pt x="257627" y="52269"/>
                    </a:cubicBezTo>
                    <a:cubicBezTo>
                      <a:pt x="266870" y="13300"/>
                      <a:pt x="299159" y="8181"/>
                      <a:pt x="312490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37">
                <a:extLst>
                  <a:ext uri="{FF2B5EF4-FFF2-40B4-BE49-F238E27FC236}">
                    <a16:creationId xmlns:a16="http://schemas.microsoft.com/office/drawing/2014/main" id="{39969B10-4184-E166-B1EC-D10C5C32CFFE}"/>
                  </a:ext>
                </a:extLst>
              </p:cNvPr>
              <p:cNvSpPr/>
              <p:nvPr/>
            </p:nvSpPr>
            <p:spPr>
              <a:xfrm flipV="1">
                <a:off x="4285907" y="1993688"/>
                <a:ext cx="242423" cy="370181"/>
              </a:xfrm>
              <a:custGeom>
                <a:avLst/>
                <a:gdLst>
                  <a:gd name="connsiteX0" fmla="*/ 128442 w 242423"/>
                  <a:gd name="connsiteY0" fmla="*/ 422 h 370181"/>
                  <a:gd name="connsiteX1" fmla="*/ 6421 w 242423"/>
                  <a:gd name="connsiteY1" fmla="*/ 29135 h 370181"/>
                  <a:gd name="connsiteX2" fmla="*/ 6421 w 242423"/>
                  <a:gd name="connsiteY2" fmla="*/ 127580 h 370181"/>
                  <a:gd name="connsiteX3" fmla="*/ 12566 w 242423"/>
                  <a:gd name="connsiteY3" fmla="*/ 127580 h 370181"/>
                  <a:gd name="connsiteX4" fmla="*/ 128442 w 242423"/>
                  <a:gd name="connsiteY4" fmla="*/ 7084 h 370181"/>
                  <a:gd name="connsiteX5" fmla="*/ 156649 w 242423"/>
                  <a:gd name="connsiteY5" fmla="*/ 136293 h 370181"/>
                  <a:gd name="connsiteX6" fmla="*/ 71535 w 242423"/>
                  <a:gd name="connsiteY6" fmla="*/ 191150 h 370181"/>
                  <a:gd name="connsiteX7" fmla="*/ 15647 w 242423"/>
                  <a:gd name="connsiteY7" fmla="*/ 330615 h 370181"/>
                  <a:gd name="connsiteX8" fmla="*/ 112030 w 242423"/>
                  <a:gd name="connsiteY8" fmla="*/ 370603 h 370181"/>
                  <a:gd name="connsiteX9" fmla="*/ 229444 w 242423"/>
                  <a:gd name="connsiteY9" fmla="*/ 346503 h 370181"/>
                  <a:gd name="connsiteX10" fmla="*/ 229444 w 242423"/>
                  <a:gd name="connsiteY10" fmla="*/ 260370 h 370181"/>
                  <a:gd name="connsiteX11" fmla="*/ 222275 w 242423"/>
                  <a:gd name="connsiteY11" fmla="*/ 260370 h 370181"/>
                  <a:gd name="connsiteX12" fmla="*/ 112030 w 242423"/>
                  <a:gd name="connsiteY12" fmla="*/ 363934 h 370181"/>
                  <a:gd name="connsiteX13" fmla="*/ 92042 w 242423"/>
                  <a:gd name="connsiteY13" fmla="*/ 242426 h 370181"/>
                  <a:gd name="connsiteX14" fmla="*/ 176637 w 242423"/>
                  <a:gd name="connsiteY14" fmla="*/ 186537 h 370181"/>
                  <a:gd name="connsiteX15" fmla="*/ 229969 w 242423"/>
                  <a:gd name="connsiteY15" fmla="*/ 42466 h 370181"/>
                  <a:gd name="connsiteX16" fmla="*/ 128442 w 242423"/>
                  <a:gd name="connsiteY16" fmla="*/ 422 h 37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2423" h="370181">
                    <a:moveTo>
                      <a:pt x="128442" y="422"/>
                    </a:moveTo>
                    <a:cubicBezTo>
                      <a:pt x="44872" y="422"/>
                      <a:pt x="6421" y="29135"/>
                      <a:pt x="6421" y="29135"/>
                    </a:cubicBezTo>
                    <a:lnTo>
                      <a:pt x="6421" y="127580"/>
                    </a:lnTo>
                    <a:lnTo>
                      <a:pt x="12566" y="127580"/>
                    </a:lnTo>
                    <a:cubicBezTo>
                      <a:pt x="18209" y="65023"/>
                      <a:pt x="41285" y="7084"/>
                      <a:pt x="128442" y="7084"/>
                    </a:cubicBezTo>
                    <a:cubicBezTo>
                      <a:pt x="206381" y="7084"/>
                      <a:pt x="216637" y="93736"/>
                      <a:pt x="156649" y="136293"/>
                    </a:cubicBezTo>
                    <a:lnTo>
                      <a:pt x="71535" y="191150"/>
                    </a:lnTo>
                    <a:cubicBezTo>
                      <a:pt x="22822" y="223450"/>
                      <a:pt x="-23829" y="270114"/>
                      <a:pt x="15647" y="330615"/>
                    </a:cubicBezTo>
                    <a:cubicBezTo>
                      <a:pt x="15647" y="330615"/>
                      <a:pt x="40766" y="370603"/>
                      <a:pt x="112030" y="370603"/>
                    </a:cubicBezTo>
                    <a:cubicBezTo>
                      <a:pt x="186381" y="370603"/>
                      <a:pt x="229444" y="346503"/>
                      <a:pt x="229444" y="346503"/>
                    </a:cubicBezTo>
                    <a:lnTo>
                      <a:pt x="229444" y="260370"/>
                    </a:lnTo>
                    <a:lnTo>
                      <a:pt x="222275" y="260370"/>
                    </a:lnTo>
                    <a:cubicBezTo>
                      <a:pt x="217656" y="310614"/>
                      <a:pt x="197662" y="363934"/>
                      <a:pt x="112030" y="363934"/>
                    </a:cubicBezTo>
                    <a:cubicBezTo>
                      <a:pt x="56666" y="363934"/>
                      <a:pt x="14622" y="292670"/>
                      <a:pt x="92042" y="242426"/>
                    </a:cubicBezTo>
                    <a:lnTo>
                      <a:pt x="176637" y="186537"/>
                    </a:lnTo>
                    <a:cubicBezTo>
                      <a:pt x="245344" y="141424"/>
                      <a:pt x="256620" y="84504"/>
                      <a:pt x="229969" y="42466"/>
                    </a:cubicBezTo>
                    <a:cubicBezTo>
                      <a:pt x="229969" y="42466"/>
                      <a:pt x="207925" y="422"/>
                      <a:pt x="128442" y="422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733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5F80C01E-A4DE-9B1F-CAA9-E4CBBBAAC425}"/>
              </a:ext>
            </a:extLst>
          </p:cNvPr>
          <p:cNvSpPr/>
          <p:nvPr/>
        </p:nvSpPr>
        <p:spPr>
          <a:xfrm>
            <a:off x="5073752" y="2240525"/>
            <a:ext cx="4355995" cy="612000"/>
          </a:xfrm>
          <a:prstGeom prst="rect">
            <a:avLst/>
          </a:prstGeom>
          <a:noFill/>
          <a:ln>
            <a:solidFill>
              <a:srgbClr val="F2535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E9B2764-9CCC-C472-FD39-F7EF82D16A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 dirty="0"/>
              <a:t>TRANSACTION OVERVIEW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C8F006-88E4-8894-298E-C5206F435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</a:t>
            </a:r>
            <a:r>
              <a:rPr lang="ko-KR" altLang="en-US" dirty="0" err="1"/>
              <a:t>오윤록</a:t>
            </a:r>
            <a:r>
              <a:rPr lang="ko-KR" altLang="en-US" dirty="0"/>
              <a:t> 대표이사의 특수관계자인 </a:t>
            </a:r>
            <a:r>
              <a:rPr lang="ko-KR" altLang="en-US" dirty="0" err="1"/>
              <a:t>배주안</a:t>
            </a:r>
            <a:r>
              <a:rPr lang="en-US" altLang="ko-KR" dirty="0"/>
              <a:t>, </a:t>
            </a:r>
            <a:r>
              <a:rPr lang="ko-KR" altLang="en-US" dirty="0"/>
              <a:t>오예준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ko-KR" altLang="en-US" dirty="0" err="1"/>
              <a:t>오예안</a:t>
            </a:r>
            <a:r>
              <a:rPr lang="ko-KR" altLang="en-US" dirty="0"/>
              <a:t> 보유 지분 포함</a:t>
            </a:r>
            <a:r>
              <a:rPr lang="en-US" altLang="ko-KR" dirty="0"/>
              <a:t>; (2) </a:t>
            </a:r>
            <a:r>
              <a:rPr lang="ko-KR" altLang="en-US" dirty="0"/>
              <a:t>상기 외 타이탄컴퍼니 임직원인 최유진 </a:t>
            </a:r>
            <a:r>
              <a:rPr lang="en-US" altLang="ko-KR" dirty="0"/>
              <a:t>4%, </a:t>
            </a:r>
            <a:r>
              <a:rPr lang="ko-KR" altLang="en-US" dirty="0" err="1"/>
              <a:t>최지운</a:t>
            </a:r>
            <a:r>
              <a:rPr lang="ko-KR" altLang="en-US" dirty="0"/>
              <a:t> </a:t>
            </a:r>
            <a:r>
              <a:rPr lang="en-US" altLang="ko-KR" dirty="0"/>
              <a:t>1%, </a:t>
            </a:r>
            <a:r>
              <a:rPr lang="ko-KR" altLang="en-US" dirty="0"/>
              <a:t>김태희 </a:t>
            </a:r>
            <a:r>
              <a:rPr lang="en-US" altLang="ko-KR" dirty="0"/>
              <a:t>1% </a:t>
            </a:r>
            <a:r>
              <a:rPr lang="ko-KR" altLang="en-US" dirty="0"/>
              <a:t>보유</a:t>
            </a:r>
            <a:r>
              <a:rPr lang="en-US" altLang="ko-KR" dirty="0"/>
              <a:t>; (3) </a:t>
            </a:r>
            <a:r>
              <a:rPr lang="ko-KR" altLang="en-US" dirty="0"/>
              <a:t>상기 외 클래스어라운드 임직원인 최유진이 지분 </a:t>
            </a:r>
            <a:r>
              <a:rPr lang="en-US" altLang="ko-KR" dirty="0"/>
              <a:t>10% </a:t>
            </a:r>
            <a:r>
              <a:rPr lang="ko-KR" altLang="en-US" dirty="0"/>
              <a:t>보유</a:t>
            </a:r>
            <a:r>
              <a:rPr lang="en-US" altLang="ko-KR" dirty="0"/>
              <a:t>; (4) </a:t>
            </a:r>
            <a:r>
              <a:rPr lang="ko-KR" altLang="en-US" dirty="0"/>
              <a:t>상기 외 시스템노바 임직원인 </a:t>
            </a:r>
            <a:r>
              <a:rPr lang="ko-KR" altLang="en-US" dirty="0" err="1"/>
              <a:t>황지유</a:t>
            </a:r>
            <a:r>
              <a:rPr lang="ko-KR" altLang="en-US" dirty="0"/>
              <a:t> </a:t>
            </a:r>
            <a:r>
              <a:rPr lang="en-US" altLang="ko-KR" dirty="0"/>
              <a:t>4%, </a:t>
            </a:r>
            <a:r>
              <a:rPr lang="ko-KR" altLang="en-US" dirty="0"/>
              <a:t>김태희 </a:t>
            </a:r>
            <a:r>
              <a:rPr lang="en-US" altLang="ko-KR" dirty="0"/>
              <a:t>1.5% </a:t>
            </a:r>
            <a:r>
              <a:rPr lang="ko-KR" altLang="en-US" dirty="0"/>
              <a:t>보유</a:t>
            </a:r>
            <a:r>
              <a:rPr lang="en-US" altLang="ko-KR" dirty="0"/>
              <a:t>; (5) </a:t>
            </a:r>
            <a:r>
              <a:rPr lang="ko-KR" altLang="en-US" dirty="0"/>
              <a:t>필요 시</a:t>
            </a:r>
            <a:r>
              <a:rPr lang="en-US" altLang="ko-KR" dirty="0"/>
              <a:t> </a:t>
            </a:r>
            <a:r>
              <a:rPr lang="ko-KR" altLang="en-US" dirty="0"/>
              <a:t>상기 외 임직원 보유 지분 포함하여 협의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E5E91-221D-1498-38CE-3FFD88AFDD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74FE4-71D9-38DC-7589-2FB2E9715985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타이탄컴퍼니는 국내 </a:t>
            </a:r>
            <a:r>
              <a:rPr lang="en-US" altLang="ko-KR" sz="1400" b="1" dirty="0">
                <a:solidFill>
                  <a:srgbClr val="3D3D3D"/>
                </a:solidFill>
              </a:rPr>
              <a:t>1</a:t>
            </a:r>
            <a:r>
              <a:rPr lang="ko-KR" altLang="en-US" sz="1400" b="1" dirty="0">
                <a:solidFill>
                  <a:srgbClr val="3D3D3D"/>
                </a:solidFill>
              </a:rPr>
              <a:t>위의 성인 </a:t>
            </a:r>
            <a:r>
              <a:rPr lang="en-US" altLang="ko-KR" sz="1400" b="1" dirty="0">
                <a:solidFill>
                  <a:srgbClr val="3D3D3D"/>
                </a:solidFill>
              </a:rPr>
              <a:t>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ko-KR" altLang="en-US" sz="1400" b="1" dirty="0">
                <a:solidFill>
                  <a:srgbClr val="3D3D3D"/>
                </a:solidFill>
              </a:rPr>
              <a:t> 및 부업 강의 전문 플랫폼으로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현재 클래스어라운드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시스템노바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티티에이컴퍼니 등 </a:t>
            </a:r>
            <a:r>
              <a:rPr lang="en-US" altLang="ko-KR" sz="1400" b="1" dirty="0">
                <a:solidFill>
                  <a:srgbClr val="3D3D3D"/>
                </a:solidFill>
              </a:rPr>
              <a:t>3</a:t>
            </a:r>
            <a:r>
              <a:rPr lang="ko-KR" altLang="en-US" sz="1400" b="1" dirty="0">
                <a:solidFill>
                  <a:srgbClr val="3D3D3D"/>
                </a:solidFill>
              </a:rPr>
              <a:t>개 자회사</a:t>
            </a:r>
            <a:r>
              <a:rPr lang="en-US" altLang="ko-KR" sz="1000" dirty="0">
                <a:solidFill>
                  <a:srgbClr val="3D3D3D"/>
                </a:solidFill>
              </a:rPr>
              <a:t>(</a:t>
            </a:r>
            <a:r>
              <a:rPr lang="ko-KR" altLang="en-US" sz="1000" dirty="0">
                <a:solidFill>
                  <a:srgbClr val="3D3D3D"/>
                </a:solidFill>
              </a:rPr>
              <a:t>이하 타이탄컴퍼니와 </a:t>
            </a:r>
            <a:r>
              <a:rPr lang="en-US" altLang="ko-KR" sz="1000" dirty="0">
                <a:solidFill>
                  <a:srgbClr val="3D3D3D"/>
                </a:solidFill>
              </a:rPr>
              <a:t>3</a:t>
            </a:r>
            <a:r>
              <a:rPr lang="ko-KR" altLang="en-US" sz="1000" dirty="0">
                <a:solidFill>
                  <a:srgbClr val="3D3D3D"/>
                </a:solidFill>
              </a:rPr>
              <a:t>개 자회사를 총칭하여 </a:t>
            </a:r>
            <a:r>
              <a:rPr lang="en-US" altLang="ko-KR" sz="1000" dirty="0">
                <a:solidFill>
                  <a:srgbClr val="3D3D3D"/>
                </a:solidFill>
              </a:rPr>
              <a:t>“TITAN“)</a:t>
            </a:r>
            <a:r>
              <a:rPr lang="ko-KR" altLang="en-US" sz="1400" b="1" dirty="0">
                <a:solidFill>
                  <a:srgbClr val="3D3D3D"/>
                </a:solidFill>
              </a:rPr>
              <a:t>를 포함한 그룹 전사 경영권 지분 매각</a:t>
            </a:r>
            <a:r>
              <a:rPr lang="en-US" altLang="ko-KR" sz="1000" dirty="0">
                <a:solidFill>
                  <a:srgbClr val="3D3D3D"/>
                </a:solidFill>
              </a:rPr>
              <a:t>(</a:t>
            </a:r>
            <a:r>
              <a:rPr lang="ko-KR" altLang="en-US" sz="1000" dirty="0">
                <a:solidFill>
                  <a:srgbClr val="3D3D3D"/>
                </a:solidFill>
              </a:rPr>
              <a:t>이하 </a:t>
            </a:r>
            <a:r>
              <a:rPr lang="en-US" altLang="ko-KR" sz="1000" dirty="0">
                <a:solidFill>
                  <a:srgbClr val="3D3D3D"/>
                </a:solidFill>
              </a:rPr>
              <a:t>“</a:t>
            </a:r>
            <a:r>
              <a:rPr lang="ko-KR" altLang="en-US" sz="1000" dirty="0">
                <a:solidFill>
                  <a:srgbClr val="3D3D3D"/>
                </a:solidFill>
              </a:rPr>
              <a:t>본 거래</a:t>
            </a:r>
            <a:r>
              <a:rPr lang="en-US" altLang="ko-KR" sz="1000" dirty="0">
                <a:solidFill>
                  <a:srgbClr val="3D3D3D"/>
                </a:solidFill>
              </a:rPr>
              <a:t>“)</a:t>
            </a:r>
            <a:r>
              <a:rPr lang="ko-KR" altLang="en-US" sz="1400" b="1" dirty="0">
                <a:solidFill>
                  <a:srgbClr val="3D3D3D"/>
                </a:solidFill>
              </a:rPr>
              <a:t>을 추진 중입니다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E25B28-DC4A-5606-48BF-3F120F5F9528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TITAN</a:t>
            </a:r>
            <a:r>
              <a:rPr lang="ko-KR" altLang="en-US" sz="1200" b="1" dirty="0">
                <a:solidFill>
                  <a:schemeClr val="bg1"/>
                </a:solidFill>
              </a:rPr>
              <a:t> 개요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35A5D2-52C1-B827-F10A-D2E9C6F68F01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본 거래 제안구조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pic>
        <p:nvPicPr>
          <p:cNvPr id="12" name="Picture 4" descr="타이탄클래스">
            <a:extLst>
              <a:ext uri="{FF2B5EF4-FFF2-40B4-BE49-F238E27FC236}">
                <a16:creationId xmlns:a16="http://schemas.microsoft.com/office/drawing/2014/main" id="{A4A00C66-24F8-D219-79A2-A1C19D371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0806" y="4690365"/>
            <a:ext cx="1763265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DB245791-FC74-6CA4-57CA-99CCCBF8B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9400" y="4726365"/>
            <a:ext cx="1651200" cy="28800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D7645FE7-468F-79CE-82EE-48C4ACD5C360}"/>
              </a:ext>
            </a:extLst>
          </p:cNvPr>
          <p:cNvGrpSpPr>
            <a:grpSpLocks noChangeAspect="1"/>
          </p:cNvGrpSpPr>
          <p:nvPr/>
        </p:nvGrpSpPr>
        <p:grpSpPr>
          <a:xfrm>
            <a:off x="695928" y="5210422"/>
            <a:ext cx="953020" cy="288000"/>
            <a:chOff x="2579869" y="3037522"/>
            <a:chExt cx="5279449" cy="1595438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84CFF9E-C5A9-CE1F-0A3B-1E39C629C087}"/>
                </a:ext>
              </a:extLst>
            </p:cNvPr>
            <p:cNvSpPr/>
            <p:nvPr/>
          </p:nvSpPr>
          <p:spPr>
            <a:xfrm rot="19916371">
              <a:off x="3030445" y="3594627"/>
              <a:ext cx="1023329" cy="628863"/>
            </a:xfrm>
            <a:prstGeom prst="rect">
              <a:avLst/>
            </a:prstGeom>
            <a:solidFill>
              <a:srgbClr val="E0F9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F4E1F17A-EE38-306B-C985-6524C3956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79869" y="3037522"/>
              <a:ext cx="5279449" cy="1595438"/>
            </a:xfrm>
            <a:prstGeom prst="rect">
              <a:avLst/>
            </a:prstGeom>
          </p:spPr>
        </p:pic>
      </p:grpSp>
      <p:pic>
        <p:nvPicPr>
          <p:cNvPr id="17" name="그래픽 16">
            <a:extLst>
              <a:ext uri="{FF2B5EF4-FFF2-40B4-BE49-F238E27FC236}">
                <a16:creationId xmlns:a16="http://schemas.microsoft.com/office/drawing/2014/main" id="{3AB4B192-BB57-80FA-C979-4B627C7813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47094" y="5228422"/>
            <a:ext cx="803251" cy="252000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ED8E6A98-AFB6-C0CC-EDBB-1941DE3F5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510801"/>
              </p:ext>
            </p:extLst>
          </p:nvPr>
        </p:nvGraphicFramePr>
        <p:xfrm>
          <a:off x="453000" y="2168525"/>
          <a:ext cx="4392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19678019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740998687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6393966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26258973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5380688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회사명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3D3D3D"/>
                          </a:solidFill>
                        </a:rPr>
                        <a:t>주식회사 타이탄컴퍼니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4178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대표이사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0" dirty="0" err="1">
                          <a:solidFill>
                            <a:srgbClr val="3D3D3D"/>
                          </a:solidFill>
                        </a:rPr>
                        <a:t>오윤록</a:t>
                      </a:r>
                      <a:endParaRPr lang="ko-KR" altLang="en-US" sz="1000" b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54268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설립일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2022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8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월 </a:t>
                      </a: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23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일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01419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주요사업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온라인 강의 플랫폼 구축 및 운영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22904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주요 자회사</a:t>
                      </a:r>
                      <a:endParaRPr lang="en-US" altLang="ko-KR" sz="1000" b="1" dirty="0">
                        <a:solidFill>
                          <a:srgbClr val="11244A"/>
                        </a:solidFill>
                      </a:endParaRP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및 브랜드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spc="-30" baseline="0" dirty="0">
                          <a:solidFill>
                            <a:srgbClr val="3D3D3D"/>
                          </a:solidFill>
                        </a:rPr>
                        <a:t>주식회사 클래스어라운드</a:t>
                      </a:r>
                      <a:endParaRPr lang="en-US" altLang="ko-KR" sz="1000" b="0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spc="-30" baseline="0" dirty="0">
                          <a:solidFill>
                            <a:srgbClr val="3D3D3D"/>
                          </a:solidFill>
                        </a:rPr>
                        <a:t>주식회사 티티에이컴퍼니</a:t>
                      </a:r>
                      <a:endParaRPr lang="en-US" altLang="ko-KR" sz="800" b="0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marL="171450" indent="-17145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spc="-30" baseline="0" dirty="0">
                          <a:solidFill>
                            <a:srgbClr val="3D3D3D"/>
                          </a:solidFill>
                        </a:rPr>
                        <a:t>주식회사 시스템노바</a:t>
                      </a:r>
                      <a:endParaRPr lang="en-US" altLang="ko-KR" sz="9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spc="-30" baseline="0" dirty="0">
                          <a:solidFill>
                            <a:srgbClr val="3D3D3D"/>
                          </a:solidFill>
                        </a:rPr>
                        <a:t>: </a:t>
                      </a:r>
                      <a:r>
                        <a:rPr lang="ko-KR" altLang="en-US" sz="1000" b="0" spc="-30" baseline="0" dirty="0">
                          <a:solidFill>
                            <a:srgbClr val="3D3D3D"/>
                          </a:solidFill>
                        </a:rPr>
                        <a:t>코주부클래스 </a:t>
                      </a:r>
                      <a:r>
                        <a:rPr lang="en-US" altLang="ko-KR" sz="1000" b="0" spc="-30" baseline="0" dirty="0">
                          <a:solidFill>
                            <a:srgbClr val="3D3D3D"/>
                          </a:solidFill>
                        </a:rPr>
                        <a:t>· </a:t>
                      </a:r>
                      <a:r>
                        <a:rPr lang="ko-KR" altLang="en-US" sz="1000" b="0" spc="-30" baseline="0" dirty="0" err="1">
                          <a:solidFill>
                            <a:srgbClr val="3D3D3D"/>
                          </a:solidFill>
                        </a:rPr>
                        <a:t>아이비클래스</a:t>
                      </a:r>
                      <a:r>
                        <a:rPr lang="ko-KR" altLang="en-US" sz="1000" b="0" spc="-30" baseline="0" dirty="0">
                          <a:solidFill>
                            <a:srgbClr val="3D3D3D"/>
                          </a:solidFill>
                        </a:rPr>
                        <a:t> 운영</a:t>
                      </a:r>
                      <a:endParaRPr lang="en-US" altLang="ko-KR" sz="1000" b="0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marL="0" indent="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spc="-30" baseline="0" dirty="0">
                          <a:solidFill>
                            <a:srgbClr val="3D3D3D"/>
                          </a:solidFill>
                        </a:rPr>
                        <a:t>: N</a:t>
                      </a:r>
                      <a:r>
                        <a:rPr lang="ko-KR" altLang="en-US" sz="1000" b="0" spc="-30" baseline="0" dirty="0" err="1">
                          <a:solidFill>
                            <a:srgbClr val="3D3D3D"/>
                          </a:solidFill>
                        </a:rPr>
                        <a:t>잡연구소</a:t>
                      </a:r>
                      <a:r>
                        <a:rPr lang="ko-KR" altLang="en-US" sz="1000" b="0" spc="-30" baseline="0" dirty="0">
                          <a:solidFill>
                            <a:srgbClr val="3D3D3D"/>
                          </a:solidFill>
                        </a:rPr>
                        <a:t> 운영</a:t>
                      </a:r>
                      <a:endParaRPr lang="en-US" altLang="ko-KR" sz="1000" b="0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marL="0" indent="0" algn="l" latinLnBrk="1"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spc="-30" baseline="0" dirty="0">
                          <a:solidFill>
                            <a:srgbClr val="3D3D3D"/>
                          </a:solidFill>
                        </a:rPr>
                        <a:t>: </a:t>
                      </a:r>
                      <a:r>
                        <a:rPr lang="ko-KR" altLang="en-US" sz="1000" b="0" spc="-30" baseline="0" dirty="0">
                          <a:solidFill>
                            <a:srgbClr val="3D3D3D"/>
                          </a:solidFill>
                        </a:rPr>
                        <a:t>온라인 강의 플랫폼 구축 </a:t>
                      </a:r>
                      <a:r>
                        <a:rPr lang="en-US" altLang="ko-KR" sz="1000" b="0" spc="-30" baseline="0" dirty="0">
                          <a:solidFill>
                            <a:srgbClr val="3D3D3D"/>
                          </a:solidFill>
                        </a:rPr>
                        <a:t>· </a:t>
                      </a:r>
                      <a:r>
                        <a:rPr lang="ko-KR" altLang="en-US" sz="1000" b="0" spc="-30" baseline="0" dirty="0">
                          <a:solidFill>
                            <a:srgbClr val="3D3D3D"/>
                          </a:solidFill>
                        </a:rPr>
                        <a:t>운영 </a:t>
                      </a:r>
                      <a:r>
                        <a:rPr lang="en-US" altLang="ko-KR" sz="1000" b="0" spc="-30" baseline="0" dirty="0">
                          <a:solidFill>
                            <a:srgbClr val="3D3D3D"/>
                          </a:solidFill>
                        </a:rPr>
                        <a:t>SI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84701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1" dirty="0">
                          <a:solidFill>
                            <a:srgbClr val="11244A"/>
                          </a:solidFill>
                        </a:rPr>
                        <a:t>재무현황</a:t>
                      </a:r>
                      <a:endParaRPr lang="en-US" altLang="ko-KR" sz="1000" b="1" dirty="0">
                        <a:solidFill>
                          <a:srgbClr val="11244A"/>
                        </a:solidFill>
                      </a:endParaRP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en-US" altLang="ko-KR" sz="800" b="0" dirty="0">
                          <a:solidFill>
                            <a:srgbClr val="11244A"/>
                          </a:solidFill>
                        </a:rPr>
                        <a:t>(2025</a:t>
                      </a:r>
                      <a:r>
                        <a:rPr lang="ko-KR" altLang="en-US" sz="800" b="0" dirty="0">
                          <a:solidFill>
                            <a:srgbClr val="11244A"/>
                          </a:solidFill>
                        </a:rPr>
                        <a:t>년 상반기</a:t>
                      </a:r>
                      <a:endParaRPr lang="en-US" altLang="ko-KR" sz="800" b="0" dirty="0">
                        <a:solidFill>
                          <a:srgbClr val="11244A"/>
                        </a:solidFill>
                      </a:endParaRP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800" b="0" dirty="0">
                          <a:solidFill>
                            <a:srgbClr val="11244A"/>
                          </a:solidFill>
                        </a:rPr>
                        <a:t>연결 기준</a:t>
                      </a:r>
                      <a:r>
                        <a:rPr lang="en-US" altLang="ko-KR" sz="800" b="0" dirty="0">
                          <a:solidFill>
                            <a:srgbClr val="11244A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rgbClr val="11244A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자산총계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부채총계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순자산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173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71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103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108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매출액</a:t>
                      </a:r>
                      <a:r>
                        <a:rPr lang="en-US" altLang="ko-KR" sz="800" b="0" dirty="0">
                          <a:solidFill>
                            <a:srgbClr val="3D3D3D"/>
                          </a:solidFill>
                        </a:rPr>
                        <a:t>(1H)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영업이익</a:t>
                      </a:r>
                      <a:r>
                        <a:rPr lang="en-US" altLang="ko-KR" sz="800" b="0" dirty="0">
                          <a:solidFill>
                            <a:srgbClr val="3D3D3D"/>
                          </a:solidFill>
                        </a:rPr>
                        <a:t>(1H)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EBITDA</a:t>
                      </a:r>
                      <a:r>
                        <a:rPr lang="en-US" altLang="ko-KR" sz="800" b="0" dirty="0">
                          <a:solidFill>
                            <a:srgbClr val="3D3D3D"/>
                          </a:solidFill>
                        </a:rPr>
                        <a:t>(1H)</a:t>
                      </a:r>
                      <a:endParaRPr lang="ko-KR" altLang="en-US" sz="1000" b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334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91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rgbClr val="3D3D3D"/>
                        </a:solidFill>
                      </a:endParaRPr>
                    </a:p>
                    <a:p>
                      <a:pPr algn="r" latinLnBrk="1">
                        <a:spcAft>
                          <a:spcPts val="100"/>
                        </a:spcAft>
                      </a:pPr>
                      <a:r>
                        <a:rPr lang="en-US" altLang="ko-KR" sz="1000" b="0" dirty="0">
                          <a:solidFill>
                            <a:srgbClr val="3D3D3D"/>
                          </a:solidFill>
                        </a:rPr>
                        <a:t>91</a:t>
                      </a:r>
                      <a:r>
                        <a:rPr lang="ko-KR" altLang="en-US" sz="1000" b="0" dirty="0">
                          <a:solidFill>
                            <a:srgbClr val="3D3D3D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200210"/>
                  </a:ext>
                </a:extLst>
              </a:tr>
            </a:tbl>
          </a:graphicData>
        </a:graphic>
      </p:graphicFrame>
      <p:grpSp>
        <p:nvGrpSpPr>
          <p:cNvPr id="45" name="그룹 44">
            <a:extLst>
              <a:ext uri="{FF2B5EF4-FFF2-40B4-BE49-F238E27FC236}">
                <a16:creationId xmlns:a16="http://schemas.microsoft.com/office/drawing/2014/main" id="{178467B0-01A1-EAF0-86B9-96CEC5C59DB1}"/>
              </a:ext>
            </a:extLst>
          </p:cNvPr>
          <p:cNvGrpSpPr>
            <a:grpSpLocks noChangeAspect="1"/>
          </p:cNvGrpSpPr>
          <p:nvPr/>
        </p:nvGrpSpPr>
        <p:grpSpPr>
          <a:xfrm>
            <a:off x="3495000" y="5257278"/>
            <a:ext cx="1260000" cy="194289"/>
            <a:chOff x="4185285" y="4568965"/>
            <a:chExt cx="2334671" cy="372522"/>
          </a:xfrm>
          <a:solidFill>
            <a:schemeClr val="tx1"/>
          </a:solidFill>
        </p:grpSpPr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E3217A66-B469-BEEA-AAAC-4DF9DFBAA09A}"/>
                </a:ext>
              </a:extLst>
            </p:cNvPr>
            <p:cNvSpPr/>
            <p:nvPr/>
          </p:nvSpPr>
          <p:spPr>
            <a:xfrm>
              <a:off x="4486846" y="4568965"/>
              <a:ext cx="114395" cy="372427"/>
            </a:xfrm>
            <a:custGeom>
              <a:avLst/>
              <a:gdLst>
                <a:gd name="connsiteX0" fmla="*/ 114395 w 114395"/>
                <a:gd name="connsiteY0" fmla="*/ 141827 h 372427"/>
                <a:gd name="connsiteX1" fmla="*/ 114395 w 114395"/>
                <a:gd name="connsiteY1" fmla="*/ 192024 h 372427"/>
                <a:gd name="connsiteX2" fmla="*/ 61817 w 114395"/>
                <a:gd name="connsiteY2" fmla="*/ 192024 h 372427"/>
                <a:gd name="connsiteX3" fmla="*/ 61817 w 114395"/>
                <a:gd name="connsiteY3" fmla="*/ 372428 h 372427"/>
                <a:gd name="connsiteX4" fmla="*/ 0 w 114395"/>
                <a:gd name="connsiteY4" fmla="*/ 372428 h 372427"/>
                <a:gd name="connsiteX5" fmla="*/ 0 w 114395"/>
                <a:gd name="connsiteY5" fmla="*/ 0 h 372427"/>
                <a:gd name="connsiteX6" fmla="*/ 61817 w 114395"/>
                <a:gd name="connsiteY6" fmla="*/ 0 h 372427"/>
                <a:gd name="connsiteX7" fmla="*/ 61817 w 114395"/>
                <a:gd name="connsiteY7" fmla="*/ 141827 h 372427"/>
                <a:gd name="connsiteX8" fmla="*/ 114395 w 114395"/>
                <a:gd name="connsiteY8" fmla="*/ 141827 h 37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395" h="372427">
                  <a:moveTo>
                    <a:pt x="114395" y="141827"/>
                  </a:moveTo>
                  <a:lnTo>
                    <a:pt x="114395" y="192024"/>
                  </a:lnTo>
                  <a:lnTo>
                    <a:pt x="61817" y="192024"/>
                  </a:lnTo>
                  <a:lnTo>
                    <a:pt x="61817" y="372428"/>
                  </a:lnTo>
                  <a:lnTo>
                    <a:pt x="0" y="372428"/>
                  </a:lnTo>
                  <a:lnTo>
                    <a:pt x="0" y="0"/>
                  </a:lnTo>
                  <a:lnTo>
                    <a:pt x="61817" y="0"/>
                  </a:lnTo>
                  <a:lnTo>
                    <a:pt x="61817" y="141827"/>
                  </a:lnTo>
                  <a:lnTo>
                    <a:pt x="114395" y="14182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29755B84-0E83-B7C6-0357-FBE033AED606}"/>
                </a:ext>
              </a:extLst>
            </p:cNvPr>
            <p:cNvSpPr/>
            <p:nvPr/>
          </p:nvSpPr>
          <p:spPr>
            <a:xfrm>
              <a:off x="4872989" y="4568965"/>
              <a:ext cx="61721" cy="372522"/>
            </a:xfrm>
            <a:custGeom>
              <a:avLst/>
              <a:gdLst>
                <a:gd name="connsiteX0" fmla="*/ 61721 w 61721"/>
                <a:gd name="connsiteY0" fmla="*/ 0 h 372522"/>
                <a:gd name="connsiteX1" fmla="*/ 0 w 61721"/>
                <a:gd name="connsiteY1" fmla="*/ 0 h 372522"/>
                <a:gd name="connsiteX2" fmla="*/ 0 w 61721"/>
                <a:gd name="connsiteY2" fmla="*/ 372523 h 372522"/>
                <a:gd name="connsiteX3" fmla="*/ 61721 w 61721"/>
                <a:gd name="connsiteY3" fmla="*/ 372523 h 372522"/>
                <a:gd name="connsiteX4" fmla="*/ 61721 w 61721"/>
                <a:gd name="connsiteY4" fmla="*/ 0 h 37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21" h="372522">
                  <a:moveTo>
                    <a:pt x="61721" y="0"/>
                  </a:moveTo>
                  <a:lnTo>
                    <a:pt x="0" y="0"/>
                  </a:lnTo>
                  <a:lnTo>
                    <a:pt x="0" y="372523"/>
                  </a:lnTo>
                  <a:lnTo>
                    <a:pt x="61721" y="372523"/>
                  </a:lnTo>
                  <a:lnTo>
                    <a:pt x="6172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1077878B-0AF7-CC4F-3469-3C8E243DB8E9}"/>
                </a:ext>
              </a:extLst>
            </p:cNvPr>
            <p:cNvSpPr/>
            <p:nvPr/>
          </p:nvSpPr>
          <p:spPr>
            <a:xfrm>
              <a:off x="4998054" y="4574108"/>
              <a:ext cx="204405" cy="360139"/>
            </a:xfrm>
            <a:custGeom>
              <a:avLst/>
              <a:gdLst>
                <a:gd name="connsiteX0" fmla="*/ 142303 w 204405"/>
                <a:gd name="connsiteY0" fmla="*/ 0 h 360139"/>
                <a:gd name="connsiteX1" fmla="*/ 142303 w 204405"/>
                <a:gd name="connsiteY1" fmla="*/ 140589 h 360139"/>
                <a:gd name="connsiteX2" fmla="*/ 62197 w 204405"/>
                <a:gd name="connsiteY2" fmla="*/ 140589 h 360139"/>
                <a:gd name="connsiteX3" fmla="*/ 62197 w 204405"/>
                <a:gd name="connsiteY3" fmla="*/ 0 h 360139"/>
                <a:gd name="connsiteX4" fmla="*/ 0 w 204405"/>
                <a:gd name="connsiteY4" fmla="*/ 0 h 360139"/>
                <a:gd name="connsiteX5" fmla="*/ 0 w 204405"/>
                <a:gd name="connsiteY5" fmla="*/ 360140 h 360139"/>
                <a:gd name="connsiteX6" fmla="*/ 204406 w 204405"/>
                <a:gd name="connsiteY6" fmla="*/ 360140 h 360139"/>
                <a:gd name="connsiteX7" fmla="*/ 204406 w 204405"/>
                <a:gd name="connsiteY7" fmla="*/ 0 h 360139"/>
                <a:gd name="connsiteX8" fmla="*/ 142207 w 204405"/>
                <a:gd name="connsiteY8" fmla="*/ 0 h 360139"/>
                <a:gd name="connsiteX9" fmla="*/ 142303 w 204405"/>
                <a:gd name="connsiteY9" fmla="*/ 0 h 360139"/>
                <a:gd name="connsiteX10" fmla="*/ 142303 w 204405"/>
                <a:gd name="connsiteY10" fmla="*/ 310705 h 360139"/>
                <a:gd name="connsiteX11" fmla="*/ 62197 w 204405"/>
                <a:gd name="connsiteY11" fmla="*/ 310705 h 360139"/>
                <a:gd name="connsiteX12" fmla="*/ 62197 w 204405"/>
                <a:gd name="connsiteY12" fmla="*/ 190405 h 360139"/>
                <a:gd name="connsiteX13" fmla="*/ 142303 w 204405"/>
                <a:gd name="connsiteY13" fmla="*/ 190405 h 360139"/>
                <a:gd name="connsiteX14" fmla="*/ 142303 w 204405"/>
                <a:gd name="connsiteY14" fmla="*/ 310705 h 36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4405" h="360139">
                  <a:moveTo>
                    <a:pt x="142303" y="0"/>
                  </a:moveTo>
                  <a:lnTo>
                    <a:pt x="142303" y="140589"/>
                  </a:lnTo>
                  <a:lnTo>
                    <a:pt x="62197" y="140589"/>
                  </a:lnTo>
                  <a:lnTo>
                    <a:pt x="62197" y="0"/>
                  </a:lnTo>
                  <a:lnTo>
                    <a:pt x="0" y="0"/>
                  </a:lnTo>
                  <a:lnTo>
                    <a:pt x="0" y="360140"/>
                  </a:lnTo>
                  <a:lnTo>
                    <a:pt x="204406" y="360140"/>
                  </a:lnTo>
                  <a:lnTo>
                    <a:pt x="204406" y="0"/>
                  </a:lnTo>
                  <a:lnTo>
                    <a:pt x="142207" y="0"/>
                  </a:lnTo>
                  <a:lnTo>
                    <a:pt x="142303" y="0"/>
                  </a:lnTo>
                  <a:close/>
                  <a:moveTo>
                    <a:pt x="142303" y="310705"/>
                  </a:moveTo>
                  <a:lnTo>
                    <a:pt x="62197" y="310705"/>
                  </a:lnTo>
                  <a:lnTo>
                    <a:pt x="62197" y="190405"/>
                  </a:lnTo>
                  <a:lnTo>
                    <a:pt x="142303" y="190405"/>
                  </a:lnTo>
                  <a:lnTo>
                    <a:pt x="142303" y="3107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01CAB4C0-2B7D-92BA-6528-D76C1D8FDDE1}"/>
                </a:ext>
              </a:extLst>
            </p:cNvPr>
            <p:cNvSpPr/>
            <p:nvPr/>
          </p:nvSpPr>
          <p:spPr>
            <a:xfrm>
              <a:off x="5263419" y="4568965"/>
              <a:ext cx="61721" cy="372522"/>
            </a:xfrm>
            <a:custGeom>
              <a:avLst/>
              <a:gdLst>
                <a:gd name="connsiteX0" fmla="*/ 61722 w 61721"/>
                <a:gd name="connsiteY0" fmla="*/ 0 h 372522"/>
                <a:gd name="connsiteX1" fmla="*/ 0 w 61721"/>
                <a:gd name="connsiteY1" fmla="*/ 0 h 372522"/>
                <a:gd name="connsiteX2" fmla="*/ 0 w 61721"/>
                <a:gd name="connsiteY2" fmla="*/ 372523 h 372522"/>
                <a:gd name="connsiteX3" fmla="*/ 61722 w 61721"/>
                <a:gd name="connsiteY3" fmla="*/ 372523 h 372522"/>
                <a:gd name="connsiteX4" fmla="*/ 61722 w 61721"/>
                <a:gd name="connsiteY4" fmla="*/ 0 h 37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21" h="372522">
                  <a:moveTo>
                    <a:pt x="61722" y="0"/>
                  </a:moveTo>
                  <a:lnTo>
                    <a:pt x="0" y="0"/>
                  </a:lnTo>
                  <a:lnTo>
                    <a:pt x="0" y="372523"/>
                  </a:lnTo>
                  <a:lnTo>
                    <a:pt x="61722" y="372523"/>
                  </a:lnTo>
                  <a:lnTo>
                    <a:pt x="6172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ADDBE936-BC8E-8F0C-E379-59F762E01579}"/>
                </a:ext>
              </a:extLst>
            </p:cNvPr>
            <p:cNvSpPr/>
            <p:nvPr/>
          </p:nvSpPr>
          <p:spPr>
            <a:xfrm>
              <a:off x="5372576" y="4574108"/>
              <a:ext cx="365760" cy="185261"/>
            </a:xfrm>
            <a:custGeom>
              <a:avLst/>
              <a:gdLst>
                <a:gd name="connsiteX0" fmla="*/ 0 w 365760"/>
                <a:gd name="connsiteY0" fmla="*/ 135445 h 185261"/>
                <a:gd name="connsiteX1" fmla="*/ 276892 w 365760"/>
                <a:gd name="connsiteY1" fmla="*/ 135445 h 185261"/>
                <a:gd name="connsiteX2" fmla="*/ 276892 w 365760"/>
                <a:gd name="connsiteY2" fmla="*/ 117919 h 185261"/>
                <a:gd name="connsiteX3" fmla="*/ 21907 w 365760"/>
                <a:gd name="connsiteY3" fmla="*/ 117919 h 185261"/>
                <a:gd name="connsiteX4" fmla="*/ 21907 w 365760"/>
                <a:gd name="connsiteY4" fmla="*/ 68961 h 185261"/>
                <a:gd name="connsiteX5" fmla="*/ 276892 w 365760"/>
                <a:gd name="connsiteY5" fmla="*/ 68961 h 185261"/>
                <a:gd name="connsiteX6" fmla="*/ 276892 w 365760"/>
                <a:gd name="connsiteY6" fmla="*/ 49435 h 185261"/>
                <a:gd name="connsiteX7" fmla="*/ 27908 w 365760"/>
                <a:gd name="connsiteY7" fmla="*/ 49435 h 185261"/>
                <a:gd name="connsiteX8" fmla="*/ 27908 w 365760"/>
                <a:gd name="connsiteY8" fmla="*/ 0 h 185261"/>
                <a:gd name="connsiteX9" fmla="*/ 338614 w 365760"/>
                <a:gd name="connsiteY9" fmla="*/ 0 h 185261"/>
                <a:gd name="connsiteX10" fmla="*/ 338614 w 365760"/>
                <a:gd name="connsiteY10" fmla="*/ 135445 h 185261"/>
                <a:gd name="connsiteX11" fmla="*/ 365760 w 365760"/>
                <a:gd name="connsiteY11" fmla="*/ 135445 h 185261"/>
                <a:gd name="connsiteX12" fmla="*/ 365760 w 365760"/>
                <a:gd name="connsiteY12" fmla="*/ 185262 h 185261"/>
                <a:gd name="connsiteX13" fmla="*/ 0 w 365760"/>
                <a:gd name="connsiteY13" fmla="*/ 185262 h 185261"/>
                <a:gd name="connsiteX14" fmla="*/ 0 w 365760"/>
                <a:gd name="connsiteY14" fmla="*/ 135445 h 18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5760" h="185261">
                  <a:moveTo>
                    <a:pt x="0" y="135445"/>
                  </a:moveTo>
                  <a:lnTo>
                    <a:pt x="276892" y="135445"/>
                  </a:lnTo>
                  <a:lnTo>
                    <a:pt x="276892" y="117919"/>
                  </a:lnTo>
                  <a:lnTo>
                    <a:pt x="21907" y="117919"/>
                  </a:lnTo>
                  <a:lnTo>
                    <a:pt x="21907" y="68961"/>
                  </a:lnTo>
                  <a:lnTo>
                    <a:pt x="276892" y="68961"/>
                  </a:lnTo>
                  <a:lnTo>
                    <a:pt x="276892" y="49435"/>
                  </a:lnTo>
                  <a:lnTo>
                    <a:pt x="27908" y="49435"/>
                  </a:lnTo>
                  <a:lnTo>
                    <a:pt x="27908" y="0"/>
                  </a:lnTo>
                  <a:lnTo>
                    <a:pt x="338614" y="0"/>
                  </a:lnTo>
                  <a:lnTo>
                    <a:pt x="338614" y="135445"/>
                  </a:lnTo>
                  <a:lnTo>
                    <a:pt x="365760" y="135445"/>
                  </a:lnTo>
                  <a:lnTo>
                    <a:pt x="365760" y="185262"/>
                  </a:lnTo>
                  <a:lnTo>
                    <a:pt x="0" y="185262"/>
                  </a:lnTo>
                  <a:lnTo>
                    <a:pt x="0" y="1354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AC1ECEBA-33EC-7E64-B006-91B7FF1DF4B4}"/>
                </a:ext>
              </a:extLst>
            </p:cNvPr>
            <p:cNvSpPr/>
            <p:nvPr/>
          </p:nvSpPr>
          <p:spPr>
            <a:xfrm>
              <a:off x="5398484" y="4774896"/>
              <a:ext cx="322706" cy="166497"/>
            </a:xfrm>
            <a:custGeom>
              <a:avLst/>
              <a:gdLst>
                <a:gd name="connsiteX0" fmla="*/ 0 w 322706"/>
                <a:gd name="connsiteY0" fmla="*/ 60960 h 166497"/>
                <a:gd name="connsiteX1" fmla="*/ 252984 w 322706"/>
                <a:gd name="connsiteY1" fmla="*/ 60960 h 166497"/>
                <a:gd name="connsiteX2" fmla="*/ 252984 w 322706"/>
                <a:gd name="connsiteY2" fmla="*/ 46577 h 166497"/>
                <a:gd name="connsiteX3" fmla="*/ 0 w 322706"/>
                <a:gd name="connsiteY3" fmla="*/ 46577 h 166497"/>
                <a:gd name="connsiteX4" fmla="*/ 0 w 322706"/>
                <a:gd name="connsiteY4" fmla="*/ 0 h 166497"/>
                <a:gd name="connsiteX5" fmla="*/ 314706 w 322706"/>
                <a:gd name="connsiteY5" fmla="*/ 0 h 166497"/>
                <a:gd name="connsiteX6" fmla="*/ 314706 w 322706"/>
                <a:gd name="connsiteY6" fmla="*/ 106013 h 166497"/>
                <a:gd name="connsiteX7" fmla="*/ 62103 w 322706"/>
                <a:gd name="connsiteY7" fmla="*/ 106013 h 166497"/>
                <a:gd name="connsiteX8" fmla="*/ 62103 w 322706"/>
                <a:gd name="connsiteY8" fmla="*/ 119920 h 166497"/>
                <a:gd name="connsiteX9" fmla="*/ 322707 w 322706"/>
                <a:gd name="connsiteY9" fmla="*/ 119920 h 166497"/>
                <a:gd name="connsiteX10" fmla="*/ 322707 w 322706"/>
                <a:gd name="connsiteY10" fmla="*/ 166497 h 166497"/>
                <a:gd name="connsiteX11" fmla="*/ 0 w 322706"/>
                <a:gd name="connsiteY11" fmla="*/ 166497 h 166497"/>
                <a:gd name="connsiteX12" fmla="*/ 0 w 322706"/>
                <a:gd name="connsiteY12" fmla="*/ 60960 h 16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706" h="166497">
                  <a:moveTo>
                    <a:pt x="0" y="60960"/>
                  </a:moveTo>
                  <a:lnTo>
                    <a:pt x="252984" y="60960"/>
                  </a:lnTo>
                  <a:lnTo>
                    <a:pt x="252984" y="46577"/>
                  </a:lnTo>
                  <a:lnTo>
                    <a:pt x="0" y="46577"/>
                  </a:lnTo>
                  <a:lnTo>
                    <a:pt x="0" y="0"/>
                  </a:lnTo>
                  <a:lnTo>
                    <a:pt x="314706" y="0"/>
                  </a:lnTo>
                  <a:lnTo>
                    <a:pt x="314706" y="106013"/>
                  </a:lnTo>
                  <a:lnTo>
                    <a:pt x="62103" y="106013"/>
                  </a:lnTo>
                  <a:lnTo>
                    <a:pt x="62103" y="119920"/>
                  </a:lnTo>
                  <a:lnTo>
                    <a:pt x="322707" y="119920"/>
                  </a:lnTo>
                  <a:lnTo>
                    <a:pt x="322707" y="166497"/>
                  </a:lnTo>
                  <a:lnTo>
                    <a:pt x="0" y="166497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B3570528-E212-D695-9E0C-985CB90C5BE1}"/>
                </a:ext>
              </a:extLst>
            </p:cNvPr>
            <p:cNvSpPr/>
            <p:nvPr/>
          </p:nvSpPr>
          <p:spPr>
            <a:xfrm>
              <a:off x="5779389" y="4574108"/>
              <a:ext cx="176879" cy="360139"/>
            </a:xfrm>
            <a:custGeom>
              <a:avLst/>
              <a:gdLst>
                <a:gd name="connsiteX0" fmla="*/ 176879 w 176879"/>
                <a:gd name="connsiteY0" fmla="*/ 360140 h 360139"/>
                <a:gd name="connsiteX1" fmla="*/ 762 w 176879"/>
                <a:gd name="connsiteY1" fmla="*/ 360140 h 360139"/>
                <a:gd name="connsiteX2" fmla="*/ 762 w 176879"/>
                <a:gd name="connsiteY2" fmla="*/ 152591 h 360139"/>
                <a:gd name="connsiteX3" fmla="*/ 110300 w 176879"/>
                <a:gd name="connsiteY3" fmla="*/ 152591 h 360139"/>
                <a:gd name="connsiteX4" fmla="*/ 110300 w 176879"/>
                <a:gd name="connsiteY4" fmla="*/ 50197 h 360139"/>
                <a:gd name="connsiteX5" fmla="*/ 0 w 176879"/>
                <a:gd name="connsiteY5" fmla="*/ 50197 h 360139"/>
                <a:gd name="connsiteX6" fmla="*/ 0 w 176879"/>
                <a:gd name="connsiteY6" fmla="*/ 0 h 360139"/>
                <a:gd name="connsiteX7" fmla="*/ 172879 w 176879"/>
                <a:gd name="connsiteY7" fmla="*/ 0 h 360139"/>
                <a:gd name="connsiteX8" fmla="*/ 172879 w 176879"/>
                <a:gd name="connsiteY8" fmla="*/ 202787 h 360139"/>
                <a:gd name="connsiteX9" fmla="*/ 62865 w 176879"/>
                <a:gd name="connsiteY9" fmla="*/ 202787 h 360139"/>
                <a:gd name="connsiteX10" fmla="*/ 62865 w 176879"/>
                <a:gd name="connsiteY10" fmla="*/ 310325 h 360139"/>
                <a:gd name="connsiteX11" fmla="*/ 176879 w 176879"/>
                <a:gd name="connsiteY11" fmla="*/ 310325 h 360139"/>
                <a:gd name="connsiteX12" fmla="*/ 176879 w 176879"/>
                <a:gd name="connsiteY12" fmla="*/ 360140 h 36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879" h="360139">
                  <a:moveTo>
                    <a:pt x="176879" y="360140"/>
                  </a:moveTo>
                  <a:lnTo>
                    <a:pt x="762" y="360140"/>
                  </a:lnTo>
                  <a:lnTo>
                    <a:pt x="762" y="152591"/>
                  </a:lnTo>
                  <a:lnTo>
                    <a:pt x="110300" y="152591"/>
                  </a:lnTo>
                  <a:lnTo>
                    <a:pt x="110300" y="50197"/>
                  </a:lnTo>
                  <a:lnTo>
                    <a:pt x="0" y="50197"/>
                  </a:lnTo>
                  <a:lnTo>
                    <a:pt x="0" y="0"/>
                  </a:lnTo>
                  <a:lnTo>
                    <a:pt x="172879" y="0"/>
                  </a:lnTo>
                  <a:lnTo>
                    <a:pt x="172879" y="202787"/>
                  </a:lnTo>
                  <a:lnTo>
                    <a:pt x="62865" y="202787"/>
                  </a:lnTo>
                  <a:lnTo>
                    <a:pt x="62865" y="310325"/>
                  </a:lnTo>
                  <a:lnTo>
                    <a:pt x="176879" y="310325"/>
                  </a:lnTo>
                  <a:lnTo>
                    <a:pt x="176879" y="3601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6A5ADD1F-F60B-9043-6370-49F1562DC866}"/>
                </a:ext>
              </a:extLst>
            </p:cNvPr>
            <p:cNvSpPr/>
            <p:nvPr/>
          </p:nvSpPr>
          <p:spPr>
            <a:xfrm>
              <a:off x="5974556" y="4568965"/>
              <a:ext cx="139826" cy="372427"/>
            </a:xfrm>
            <a:custGeom>
              <a:avLst/>
              <a:gdLst>
                <a:gd name="connsiteX0" fmla="*/ 80105 w 139826"/>
                <a:gd name="connsiteY0" fmla="*/ 142208 h 372427"/>
                <a:gd name="connsiteX1" fmla="*/ 80105 w 139826"/>
                <a:gd name="connsiteY1" fmla="*/ 0 h 372427"/>
                <a:gd name="connsiteX2" fmla="*/ 139827 w 139826"/>
                <a:gd name="connsiteY2" fmla="*/ 0 h 372427"/>
                <a:gd name="connsiteX3" fmla="*/ 139827 w 139826"/>
                <a:gd name="connsiteY3" fmla="*/ 372428 h 372427"/>
                <a:gd name="connsiteX4" fmla="*/ 80105 w 139826"/>
                <a:gd name="connsiteY4" fmla="*/ 372428 h 372427"/>
                <a:gd name="connsiteX5" fmla="*/ 80105 w 139826"/>
                <a:gd name="connsiteY5" fmla="*/ 192024 h 372427"/>
                <a:gd name="connsiteX6" fmla="*/ 59341 w 139826"/>
                <a:gd name="connsiteY6" fmla="*/ 192024 h 372427"/>
                <a:gd name="connsiteX7" fmla="*/ 59341 w 139826"/>
                <a:gd name="connsiteY7" fmla="*/ 367284 h 372427"/>
                <a:gd name="connsiteX8" fmla="*/ 0 w 139826"/>
                <a:gd name="connsiteY8" fmla="*/ 367284 h 372427"/>
                <a:gd name="connsiteX9" fmla="*/ 0 w 139826"/>
                <a:gd name="connsiteY9" fmla="*/ 3143 h 372427"/>
                <a:gd name="connsiteX10" fmla="*/ 59341 w 139826"/>
                <a:gd name="connsiteY10" fmla="*/ 3143 h 372427"/>
                <a:gd name="connsiteX11" fmla="*/ 59341 w 139826"/>
                <a:gd name="connsiteY11" fmla="*/ 142208 h 372427"/>
                <a:gd name="connsiteX12" fmla="*/ 80105 w 139826"/>
                <a:gd name="connsiteY12" fmla="*/ 142208 h 37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9826" h="372427">
                  <a:moveTo>
                    <a:pt x="80105" y="142208"/>
                  </a:moveTo>
                  <a:lnTo>
                    <a:pt x="80105" y="0"/>
                  </a:lnTo>
                  <a:lnTo>
                    <a:pt x="139827" y="0"/>
                  </a:lnTo>
                  <a:lnTo>
                    <a:pt x="139827" y="372428"/>
                  </a:lnTo>
                  <a:lnTo>
                    <a:pt x="80105" y="372428"/>
                  </a:lnTo>
                  <a:lnTo>
                    <a:pt x="80105" y="192024"/>
                  </a:lnTo>
                  <a:lnTo>
                    <a:pt x="59341" y="192024"/>
                  </a:lnTo>
                  <a:lnTo>
                    <a:pt x="59341" y="367284"/>
                  </a:lnTo>
                  <a:lnTo>
                    <a:pt x="0" y="367284"/>
                  </a:lnTo>
                  <a:lnTo>
                    <a:pt x="0" y="3143"/>
                  </a:lnTo>
                  <a:lnTo>
                    <a:pt x="59341" y="3143"/>
                  </a:lnTo>
                  <a:lnTo>
                    <a:pt x="59341" y="142208"/>
                  </a:lnTo>
                  <a:lnTo>
                    <a:pt x="80105" y="1422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5BA30F41-11CD-E367-B7A1-4FB3D97C3673}"/>
                </a:ext>
              </a:extLst>
            </p:cNvPr>
            <p:cNvSpPr/>
            <p:nvPr/>
          </p:nvSpPr>
          <p:spPr>
            <a:xfrm>
              <a:off x="6153435" y="4883671"/>
              <a:ext cx="366521" cy="49816"/>
            </a:xfrm>
            <a:custGeom>
              <a:avLst/>
              <a:gdLst>
                <a:gd name="connsiteX0" fmla="*/ 366522 w 366521"/>
                <a:gd name="connsiteY0" fmla="*/ 0 h 49816"/>
                <a:gd name="connsiteX1" fmla="*/ 0 w 366521"/>
                <a:gd name="connsiteY1" fmla="*/ 0 h 49816"/>
                <a:gd name="connsiteX2" fmla="*/ 0 w 366521"/>
                <a:gd name="connsiteY2" fmla="*/ 49817 h 49816"/>
                <a:gd name="connsiteX3" fmla="*/ 366522 w 366521"/>
                <a:gd name="connsiteY3" fmla="*/ 49817 h 49816"/>
                <a:gd name="connsiteX4" fmla="*/ 366522 w 366521"/>
                <a:gd name="connsiteY4" fmla="*/ 0 h 49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521" h="49816">
                  <a:moveTo>
                    <a:pt x="366522" y="0"/>
                  </a:moveTo>
                  <a:lnTo>
                    <a:pt x="0" y="0"/>
                  </a:lnTo>
                  <a:lnTo>
                    <a:pt x="0" y="49817"/>
                  </a:lnTo>
                  <a:lnTo>
                    <a:pt x="366522" y="49817"/>
                  </a:lnTo>
                  <a:lnTo>
                    <a:pt x="36652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2FFC583F-6720-8FCB-4126-142ACB9EAAA9}"/>
                </a:ext>
              </a:extLst>
            </p:cNvPr>
            <p:cNvSpPr/>
            <p:nvPr/>
          </p:nvSpPr>
          <p:spPr>
            <a:xfrm>
              <a:off x="6162960" y="4571918"/>
              <a:ext cx="347567" cy="240792"/>
            </a:xfrm>
            <a:custGeom>
              <a:avLst/>
              <a:gdLst>
                <a:gd name="connsiteX0" fmla="*/ 327946 w 347567"/>
                <a:gd name="connsiteY0" fmla="*/ 240792 h 240792"/>
                <a:gd name="connsiteX1" fmla="*/ 280511 w 347567"/>
                <a:gd name="connsiteY1" fmla="*/ 228886 h 240792"/>
                <a:gd name="connsiteX2" fmla="*/ 236696 w 347567"/>
                <a:gd name="connsiteY2" fmla="*/ 209550 h 240792"/>
                <a:gd name="connsiteX3" fmla="*/ 200025 w 347567"/>
                <a:gd name="connsiteY3" fmla="*/ 183642 h 240792"/>
                <a:gd name="connsiteX4" fmla="*/ 173736 w 347567"/>
                <a:gd name="connsiteY4" fmla="*/ 151543 h 240792"/>
                <a:gd name="connsiteX5" fmla="*/ 147828 w 347567"/>
                <a:gd name="connsiteY5" fmla="*/ 183642 h 240792"/>
                <a:gd name="connsiteX6" fmla="*/ 111538 w 347567"/>
                <a:gd name="connsiteY6" fmla="*/ 209550 h 240792"/>
                <a:gd name="connsiteX7" fmla="*/ 67723 w 347567"/>
                <a:gd name="connsiteY7" fmla="*/ 228886 h 240792"/>
                <a:gd name="connsiteX8" fmla="*/ 19526 w 347567"/>
                <a:gd name="connsiteY8" fmla="*/ 240792 h 240792"/>
                <a:gd name="connsiteX9" fmla="*/ 0 w 347567"/>
                <a:gd name="connsiteY9" fmla="*/ 193739 h 240792"/>
                <a:gd name="connsiteX10" fmla="*/ 57817 w 347567"/>
                <a:gd name="connsiteY10" fmla="*/ 176784 h 240792"/>
                <a:gd name="connsiteX11" fmla="*/ 102870 w 347567"/>
                <a:gd name="connsiteY11" fmla="*/ 150113 h 240792"/>
                <a:gd name="connsiteX12" fmla="*/ 131921 w 347567"/>
                <a:gd name="connsiteY12" fmla="*/ 114015 h 240792"/>
                <a:gd name="connsiteX13" fmla="*/ 142304 w 347567"/>
                <a:gd name="connsiteY13" fmla="*/ 68961 h 240792"/>
                <a:gd name="connsiteX14" fmla="*/ 142304 w 347567"/>
                <a:gd name="connsiteY14" fmla="*/ 0 h 240792"/>
                <a:gd name="connsiteX15" fmla="*/ 205264 w 347567"/>
                <a:gd name="connsiteY15" fmla="*/ 0 h 240792"/>
                <a:gd name="connsiteX16" fmla="*/ 205264 w 347567"/>
                <a:gd name="connsiteY16" fmla="*/ 68961 h 240792"/>
                <a:gd name="connsiteX17" fmla="*/ 215646 w 347567"/>
                <a:gd name="connsiteY17" fmla="*/ 114015 h 240792"/>
                <a:gd name="connsiteX18" fmla="*/ 244697 w 347567"/>
                <a:gd name="connsiteY18" fmla="*/ 150113 h 240792"/>
                <a:gd name="connsiteX19" fmla="*/ 289560 w 347567"/>
                <a:gd name="connsiteY19" fmla="*/ 176784 h 240792"/>
                <a:gd name="connsiteX20" fmla="*/ 347567 w 347567"/>
                <a:gd name="connsiteY20" fmla="*/ 193739 h 240792"/>
                <a:gd name="connsiteX21" fmla="*/ 328041 w 347567"/>
                <a:gd name="connsiteY21" fmla="*/ 240792 h 240792"/>
                <a:gd name="connsiteX22" fmla="*/ 327946 w 347567"/>
                <a:gd name="connsiteY22" fmla="*/ 240792 h 24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7567" h="240792">
                  <a:moveTo>
                    <a:pt x="327946" y="240792"/>
                  </a:moveTo>
                  <a:cubicBezTo>
                    <a:pt x="312039" y="238125"/>
                    <a:pt x="296227" y="234125"/>
                    <a:pt x="280511" y="228886"/>
                  </a:cubicBezTo>
                  <a:cubicBezTo>
                    <a:pt x="264795" y="223552"/>
                    <a:pt x="250222" y="217170"/>
                    <a:pt x="236696" y="209550"/>
                  </a:cubicBezTo>
                  <a:cubicBezTo>
                    <a:pt x="223171" y="202026"/>
                    <a:pt x="210979" y="193358"/>
                    <a:pt x="200025" y="183642"/>
                  </a:cubicBezTo>
                  <a:cubicBezTo>
                    <a:pt x="189167" y="173927"/>
                    <a:pt x="180404" y="163259"/>
                    <a:pt x="173736" y="151543"/>
                  </a:cubicBezTo>
                  <a:cubicBezTo>
                    <a:pt x="167068" y="163259"/>
                    <a:pt x="158496" y="173927"/>
                    <a:pt x="147828" y="183642"/>
                  </a:cubicBezTo>
                  <a:cubicBezTo>
                    <a:pt x="137160" y="193358"/>
                    <a:pt x="125158" y="201930"/>
                    <a:pt x="111538" y="209550"/>
                  </a:cubicBezTo>
                  <a:cubicBezTo>
                    <a:pt x="98012" y="217075"/>
                    <a:pt x="83344" y="223552"/>
                    <a:pt x="67723" y="228886"/>
                  </a:cubicBezTo>
                  <a:cubicBezTo>
                    <a:pt x="52006" y="234220"/>
                    <a:pt x="36004" y="238221"/>
                    <a:pt x="19526" y="240792"/>
                  </a:cubicBezTo>
                  <a:lnTo>
                    <a:pt x="0" y="193739"/>
                  </a:lnTo>
                  <a:cubicBezTo>
                    <a:pt x="20955" y="189738"/>
                    <a:pt x="40196" y="184119"/>
                    <a:pt x="57817" y="176784"/>
                  </a:cubicBezTo>
                  <a:cubicBezTo>
                    <a:pt x="75343" y="169450"/>
                    <a:pt x="90392" y="160591"/>
                    <a:pt x="102870" y="150113"/>
                  </a:cubicBezTo>
                  <a:cubicBezTo>
                    <a:pt x="115348" y="139636"/>
                    <a:pt x="125063" y="127635"/>
                    <a:pt x="131921" y="114015"/>
                  </a:cubicBezTo>
                  <a:cubicBezTo>
                    <a:pt x="138779" y="100489"/>
                    <a:pt x="142304" y="85439"/>
                    <a:pt x="142304" y="68961"/>
                  </a:cubicBezTo>
                  <a:lnTo>
                    <a:pt x="142304" y="0"/>
                  </a:lnTo>
                  <a:lnTo>
                    <a:pt x="205264" y="0"/>
                  </a:lnTo>
                  <a:lnTo>
                    <a:pt x="205264" y="68961"/>
                  </a:lnTo>
                  <a:cubicBezTo>
                    <a:pt x="205264" y="85439"/>
                    <a:pt x="208693" y="100394"/>
                    <a:pt x="215646" y="114015"/>
                  </a:cubicBezTo>
                  <a:cubicBezTo>
                    <a:pt x="222504" y="127540"/>
                    <a:pt x="232219" y="139541"/>
                    <a:pt x="244697" y="150113"/>
                  </a:cubicBezTo>
                  <a:cubicBezTo>
                    <a:pt x="257175" y="160686"/>
                    <a:pt x="272129" y="169545"/>
                    <a:pt x="289560" y="176784"/>
                  </a:cubicBezTo>
                  <a:cubicBezTo>
                    <a:pt x="306991" y="184119"/>
                    <a:pt x="326231" y="189738"/>
                    <a:pt x="347567" y="193739"/>
                  </a:cubicBezTo>
                  <a:lnTo>
                    <a:pt x="328041" y="240792"/>
                  </a:lnTo>
                  <a:lnTo>
                    <a:pt x="327946" y="24079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75BAA009-5488-FDE6-16E1-3613DD415109}"/>
                </a:ext>
              </a:extLst>
            </p:cNvPr>
            <p:cNvSpPr/>
            <p:nvPr/>
          </p:nvSpPr>
          <p:spPr>
            <a:xfrm>
              <a:off x="4589429" y="4591442"/>
              <a:ext cx="252603" cy="346243"/>
            </a:xfrm>
            <a:custGeom>
              <a:avLst/>
              <a:gdLst>
                <a:gd name="connsiteX0" fmla="*/ 252604 w 252603"/>
                <a:gd name="connsiteY0" fmla="*/ 126207 h 346243"/>
                <a:gd name="connsiteX1" fmla="*/ 134398 w 252603"/>
                <a:gd name="connsiteY1" fmla="*/ 342900 h 346243"/>
                <a:gd name="connsiteX2" fmla="*/ 107061 w 252603"/>
                <a:gd name="connsiteY2" fmla="*/ 328899 h 346243"/>
                <a:gd name="connsiteX3" fmla="*/ 112967 w 252603"/>
                <a:gd name="connsiteY3" fmla="*/ 316040 h 346243"/>
                <a:gd name="connsiteX4" fmla="*/ 157924 w 252603"/>
                <a:gd name="connsiteY4" fmla="*/ 248412 h 346243"/>
                <a:gd name="connsiteX5" fmla="*/ 126301 w 252603"/>
                <a:gd name="connsiteY5" fmla="*/ 252603 h 346243"/>
                <a:gd name="connsiteX6" fmla="*/ 0 w 252603"/>
                <a:gd name="connsiteY6" fmla="*/ 126302 h 346243"/>
                <a:gd name="connsiteX7" fmla="*/ 126301 w 252603"/>
                <a:gd name="connsiteY7" fmla="*/ 0 h 346243"/>
                <a:gd name="connsiteX8" fmla="*/ 252604 w 252603"/>
                <a:gd name="connsiteY8" fmla="*/ 126302 h 346243"/>
                <a:gd name="connsiteX9" fmla="*/ 252604 w 252603"/>
                <a:gd name="connsiteY9" fmla="*/ 126207 h 34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2603" h="346243">
                  <a:moveTo>
                    <a:pt x="252604" y="126207"/>
                  </a:moveTo>
                  <a:cubicBezTo>
                    <a:pt x="252604" y="240221"/>
                    <a:pt x="176498" y="311944"/>
                    <a:pt x="134398" y="342900"/>
                  </a:cubicBezTo>
                  <a:cubicBezTo>
                    <a:pt x="123063" y="351282"/>
                    <a:pt x="107061" y="342900"/>
                    <a:pt x="107061" y="328899"/>
                  </a:cubicBezTo>
                  <a:cubicBezTo>
                    <a:pt x="107061" y="323946"/>
                    <a:pt x="109252" y="319278"/>
                    <a:pt x="112967" y="316040"/>
                  </a:cubicBezTo>
                  <a:cubicBezTo>
                    <a:pt x="133160" y="298133"/>
                    <a:pt x="147542" y="273749"/>
                    <a:pt x="157924" y="248412"/>
                  </a:cubicBezTo>
                  <a:cubicBezTo>
                    <a:pt x="147828" y="250984"/>
                    <a:pt x="137255" y="252603"/>
                    <a:pt x="126301" y="252603"/>
                  </a:cubicBezTo>
                  <a:cubicBezTo>
                    <a:pt x="56483" y="252603"/>
                    <a:pt x="0" y="196025"/>
                    <a:pt x="0" y="126302"/>
                  </a:cubicBezTo>
                  <a:cubicBezTo>
                    <a:pt x="0" y="56579"/>
                    <a:pt x="56578" y="0"/>
                    <a:pt x="126301" y="0"/>
                  </a:cubicBezTo>
                  <a:cubicBezTo>
                    <a:pt x="196024" y="0"/>
                    <a:pt x="252604" y="56579"/>
                    <a:pt x="252604" y="126302"/>
                  </a:cubicBezTo>
                  <a:lnTo>
                    <a:pt x="252604" y="126207"/>
                  </a:lnTo>
                  <a:close/>
                </a:path>
              </a:pathLst>
            </a:custGeom>
            <a:solidFill>
              <a:srgbClr val="0090C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BAD4E910-E230-86EB-63C7-5F400540E75D}"/>
                </a:ext>
              </a:extLst>
            </p:cNvPr>
            <p:cNvSpPr/>
            <p:nvPr/>
          </p:nvSpPr>
          <p:spPr>
            <a:xfrm>
              <a:off x="4185285" y="4591349"/>
              <a:ext cx="263270" cy="293560"/>
            </a:xfrm>
            <a:custGeom>
              <a:avLst/>
              <a:gdLst>
                <a:gd name="connsiteX0" fmla="*/ 131636 w 263270"/>
                <a:gd name="connsiteY0" fmla="*/ 293561 h 293560"/>
                <a:gd name="connsiteX1" fmla="*/ 263271 w 263270"/>
                <a:gd name="connsiteY1" fmla="*/ 146780 h 293560"/>
                <a:gd name="connsiteX2" fmla="*/ 131636 w 263270"/>
                <a:gd name="connsiteY2" fmla="*/ 0 h 293560"/>
                <a:gd name="connsiteX3" fmla="*/ 0 w 263270"/>
                <a:gd name="connsiteY3" fmla="*/ 146780 h 293560"/>
                <a:gd name="connsiteX4" fmla="*/ 131636 w 263270"/>
                <a:gd name="connsiteY4" fmla="*/ 293561 h 29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270" h="293560">
                  <a:moveTo>
                    <a:pt x="131636" y="293561"/>
                  </a:moveTo>
                  <a:cubicBezTo>
                    <a:pt x="204336" y="293561"/>
                    <a:pt x="263271" y="227845"/>
                    <a:pt x="263271" y="146780"/>
                  </a:cubicBezTo>
                  <a:cubicBezTo>
                    <a:pt x="263271" y="65716"/>
                    <a:pt x="204336" y="0"/>
                    <a:pt x="131636" y="0"/>
                  </a:cubicBezTo>
                  <a:cubicBezTo>
                    <a:pt x="58935" y="0"/>
                    <a:pt x="0" y="65716"/>
                    <a:pt x="0" y="146780"/>
                  </a:cubicBezTo>
                  <a:cubicBezTo>
                    <a:pt x="0" y="227845"/>
                    <a:pt x="58935" y="293561"/>
                    <a:pt x="131636" y="293561"/>
                  </a:cubicBezTo>
                  <a:close/>
                </a:path>
              </a:pathLst>
            </a:custGeom>
            <a:solidFill>
              <a:srgbClr val="55C6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89355FE-B6F9-D1DB-EB04-6298631DF2C3}"/>
              </a:ext>
            </a:extLst>
          </p:cNvPr>
          <p:cNvSpPr txBox="1"/>
          <p:nvPr/>
        </p:nvSpPr>
        <p:spPr>
          <a:xfrm>
            <a:off x="5061000" y="4726365"/>
            <a:ext cx="4392000" cy="742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3D3D3D"/>
                </a:solidFill>
              </a:rPr>
              <a:t>본 거래는 타이탄컴퍼니 및 </a:t>
            </a:r>
            <a:r>
              <a:rPr lang="en-US" altLang="ko-KR" sz="1000" dirty="0">
                <a:solidFill>
                  <a:srgbClr val="3D3D3D"/>
                </a:solidFill>
              </a:rPr>
              <a:t>3</a:t>
            </a:r>
            <a:r>
              <a:rPr lang="ko-KR" altLang="en-US" sz="1000" dirty="0">
                <a:solidFill>
                  <a:srgbClr val="3D3D3D"/>
                </a:solidFill>
              </a:rPr>
              <a:t>개 자회사의 경영권 매각 거래로</a:t>
            </a:r>
            <a:r>
              <a:rPr lang="en-US" altLang="ko-KR" sz="1000" dirty="0">
                <a:solidFill>
                  <a:srgbClr val="3D3D3D"/>
                </a:solidFill>
              </a:rPr>
              <a:t>, </a:t>
            </a:r>
            <a:r>
              <a:rPr lang="ko-KR" altLang="en-US" sz="1000" dirty="0">
                <a:solidFill>
                  <a:srgbClr val="3D3D3D"/>
                </a:solidFill>
              </a:rPr>
              <a:t>거래대상 지분은 </a:t>
            </a:r>
            <a:r>
              <a:rPr lang="ko-KR" altLang="en-US" sz="1000" dirty="0" err="1">
                <a:solidFill>
                  <a:srgbClr val="3D3D3D"/>
                </a:solidFill>
              </a:rPr>
              <a:t>오윤록</a:t>
            </a:r>
            <a:r>
              <a:rPr lang="en-US" altLang="ko-KR" sz="1000" dirty="0">
                <a:solidFill>
                  <a:srgbClr val="3D3D3D"/>
                </a:solidFill>
              </a:rPr>
              <a:t>, </a:t>
            </a:r>
            <a:r>
              <a:rPr lang="ko-KR" altLang="en-US" sz="1000" dirty="0">
                <a:solidFill>
                  <a:srgbClr val="3D3D3D"/>
                </a:solidFill>
              </a:rPr>
              <a:t>박세영</a:t>
            </a:r>
            <a:r>
              <a:rPr lang="en-US" altLang="ko-KR" sz="1000" dirty="0">
                <a:solidFill>
                  <a:srgbClr val="3D3D3D"/>
                </a:solidFill>
              </a:rPr>
              <a:t>, </a:t>
            </a:r>
            <a:r>
              <a:rPr lang="ko-KR" altLang="en-US" sz="1000" dirty="0">
                <a:solidFill>
                  <a:srgbClr val="3D3D3D"/>
                </a:solidFill>
              </a:rPr>
              <a:t>주식회사 </a:t>
            </a:r>
            <a:r>
              <a:rPr lang="ko-KR" altLang="en-US" sz="1000" dirty="0" err="1">
                <a:solidFill>
                  <a:srgbClr val="3D3D3D"/>
                </a:solidFill>
              </a:rPr>
              <a:t>어베러라이프</a:t>
            </a:r>
            <a:r>
              <a:rPr lang="ko-KR" altLang="en-US" sz="1000" dirty="0">
                <a:solidFill>
                  <a:srgbClr val="3D3D3D"/>
                </a:solidFill>
              </a:rPr>
              <a:t> 등 핵심 주주 보유 지분임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361950" indent="-171450" algn="l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rgbClr val="3D3D3D"/>
                </a:solidFill>
              </a:rPr>
              <a:t>구체적인 거래대상 지분율 및 기타 거래구조 </a:t>
            </a:r>
            <a:r>
              <a:rPr lang="en-US" altLang="ko-KR" sz="1000" dirty="0">
                <a:solidFill>
                  <a:srgbClr val="3D3D3D"/>
                </a:solidFill>
              </a:rPr>
              <a:t>· </a:t>
            </a:r>
            <a:r>
              <a:rPr lang="ko-KR" altLang="en-US" sz="1000" dirty="0">
                <a:solidFill>
                  <a:srgbClr val="3D3D3D"/>
                </a:solidFill>
              </a:rPr>
              <a:t>조건은 협의 가능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361950" indent="-171450" algn="l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 err="1">
                <a:solidFill>
                  <a:srgbClr val="3D3D3D"/>
                </a:solidFill>
              </a:rPr>
              <a:t>티티에이컴퍼니의</a:t>
            </a:r>
            <a:r>
              <a:rPr lang="ko-KR" altLang="en-US" sz="1000" dirty="0">
                <a:solidFill>
                  <a:srgbClr val="3D3D3D"/>
                </a:solidFill>
              </a:rPr>
              <a:t> 공동 운영사인 주식회사 </a:t>
            </a:r>
            <a:r>
              <a:rPr lang="ko-KR" altLang="en-US" sz="1000" dirty="0" err="1">
                <a:solidFill>
                  <a:srgbClr val="3D3D3D"/>
                </a:solidFill>
              </a:rPr>
              <a:t>어베러라이프</a:t>
            </a:r>
            <a:r>
              <a:rPr lang="ko-KR" altLang="en-US" sz="1000" dirty="0">
                <a:solidFill>
                  <a:srgbClr val="3D3D3D"/>
                </a:solidFill>
              </a:rPr>
              <a:t> 보유 지분 포함</a:t>
            </a:r>
            <a:endParaRPr lang="en-US" altLang="ko-KR" sz="1000" dirty="0">
              <a:solidFill>
                <a:srgbClr val="3D3D3D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A51CCDF-9870-CEC8-A273-6C13327EFA57}"/>
              </a:ext>
            </a:extLst>
          </p:cNvPr>
          <p:cNvSpPr/>
          <p:nvPr/>
        </p:nvSpPr>
        <p:spPr>
          <a:xfrm>
            <a:off x="6717000" y="4040525"/>
            <a:ext cx="1080000" cy="360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시스템노바</a:t>
            </a:r>
            <a:r>
              <a:rPr lang="en-US" altLang="ko-KR" sz="1000" b="1" baseline="30000" dirty="0">
                <a:solidFill>
                  <a:schemeClr val="bg1"/>
                </a:solidFill>
              </a:rPr>
              <a:t>(4)</a:t>
            </a:r>
            <a:endParaRPr lang="ko-KR" altLang="en-US" sz="1000" b="1" baseline="30000" dirty="0">
              <a:solidFill>
                <a:schemeClr val="bg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278DFD8-A89C-AA41-29FD-25E7FBB2D565}"/>
              </a:ext>
            </a:extLst>
          </p:cNvPr>
          <p:cNvSpPr/>
          <p:nvPr/>
        </p:nvSpPr>
        <p:spPr>
          <a:xfrm>
            <a:off x="5169000" y="4040525"/>
            <a:ext cx="1080000" cy="360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클래스어라운드</a:t>
            </a:r>
            <a:r>
              <a:rPr lang="en-US" altLang="ko-KR" sz="1000" b="1" baseline="30000" dirty="0">
                <a:solidFill>
                  <a:schemeClr val="bg1"/>
                </a:solidFill>
              </a:rPr>
              <a:t>(3)</a:t>
            </a:r>
            <a:endParaRPr lang="ko-KR" altLang="en-US" sz="1000" b="1" baseline="30000" dirty="0">
              <a:solidFill>
                <a:schemeClr val="bg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3BC374-158E-8DB8-F1FE-3DB797393CBC}"/>
              </a:ext>
            </a:extLst>
          </p:cNvPr>
          <p:cNvSpPr/>
          <p:nvPr/>
        </p:nvSpPr>
        <p:spPr>
          <a:xfrm>
            <a:off x="8265000" y="4040525"/>
            <a:ext cx="1080000" cy="360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티티에이컴퍼니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468D850-6E83-C77A-3DDC-9C620C09C14E}"/>
              </a:ext>
            </a:extLst>
          </p:cNvPr>
          <p:cNvSpPr/>
          <p:nvPr/>
        </p:nvSpPr>
        <p:spPr>
          <a:xfrm>
            <a:off x="6717000" y="3230525"/>
            <a:ext cx="1080000" cy="360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타이탄컴퍼니</a:t>
            </a:r>
            <a:r>
              <a:rPr lang="en-US" altLang="ko-KR" sz="1000" b="1" baseline="30000" dirty="0">
                <a:solidFill>
                  <a:schemeClr val="bg1"/>
                </a:solidFill>
              </a:rPr>
              <a:t>(2)</a:t>
            </a:r>
            <a:endParaRPr lang="ko-KR" altLang="en-US" sz="1000" b="1" baseline="30000" dirty="0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91AE92F-70C9-DBAB-773A-CA8523E08B58}"/>
              </a:ext>
            </a:extLst>
          </p:cNvPr>
          <p:cNvSpPr/>
          <p:nvPr/>
        </p:nvSpPr>
        <p:spPr>
          <a:xfrm>
            <a:off x="8265000" y="2420525"/>
            <a:ext cx="1080000" cy="36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 err="1">
                <a:solidFill>
                  <a:srgbClr val="3D3D3D"/>
                </a:solidFill>
              </a:rPr>
              <a:t>어베러라이프</a:t>
            </a:r>
            <a:endParaRPr lang="ko-KR" altLang="en-US" sz="1000" b="1" dirty="0">
              <a:solidFill>
                <a:srgbClr val="3D3D3D"/>
              </a:solidFill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DB4D2DB-4A63-A9BE-3F9D-E4D624E14D13}"/>
              </a:ext>
            </a:extLst>
          </p:cNvPr>
          <p:cNvCxnSpPr>
            <a:cxnSpLocks/>
          </p:cNvCxnSpPr>
          <p:nvPr/>
        </p:nvCxnSpPr>
        <p:spPr>
          <a:xfrm>
            <a:off x="5619000" y="3815525"/>
            <a:ext cx="3276000" cy="0"/>
          </a:xfrm>
          <a:prstGeom prst="line">
            <a:avLst/>
          </a:prstGeom>
          <a:ln w="6350">
            <a:solidFill>
              <a:srgbClr val="53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17130F7C-F1E2-9100-2029-41FCA7012429}"/>
              </a:ext>
            </a:extLst>
          </p:cNvPr>
          <p:cNvCxnSpPr>
            <a:cxnSpLocks/>
          </p:cNvCxnSpPr>
          <p:nvPr/>
        </p:nvCxnSpPr>
        <p:spPr>
          <a:xfrm flipV="1">
            <a:off x="5619000" y="3815525"/>
            <a:ext cx="0" cy="225000"/>
          </a:xfrm>
          <a:prstGeom prst="line">
            <a:avLst/>
          </a:prstGeom>
          <a:ln w="6350">
            <a:solidFill>
              <a:srgbClr val="53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5846992C-B124-A007-8AAA-C7920482A0C2}"/>
              </a:ext>
            </a:extLst>
          </p:cNvPr>
          <p:cNvCxnSpPr>
            <a:cxnSpLocks/>
          </p:cNvCxnSpPr>
          <p:nvPr/>
        </p:nvCxnSpPr>
        <p:spPr>
          <a:xfrm>
            <a:off x="7257000" y="3590525"/>
            <a:ext cx="0" cy="450000"/>
          </a:xfrm>
          <a:prstGeom prst="line">
            <a:avLst/>
          </a:prstGeom>
          <a:ln w="6350">
            <a:solidFill>
              <a:srgbClr val="53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C5DBF49-F74C-DC65-48FC-4A9412284B72}"/>
              </a:ext>
            </a:extLst>
          </p:cNvPr>
          <p:cNvCxnSpPr>
            <a:cxnSpLocks/>
          </p:cNvCxnSpPr>
          <p:nvPr/>
        </p:nvCxnSpPr>
        <p:spPr>
          <a:xfrm flipV="1">
            <a:off x="8895000" y="3815525"/>
            <a:ext cx="0" cy="225000"/>
          </a:xfrm>
          <a:prstGeom prst="line">
            <a:avLst/>
          </a:prstGeom>
          <a:ln w="6350">
            <a:solidFill>
              <a:srgbClr val="53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2246543-0FF8-D5E6-B519-A6B444C3F7A1}"/>
              </a:ext>
            </a:extLst>
          </p:cNvPr>
          <p:cNvSpPr txBox="1"/>
          <p:nvPr/>
        </p:nvSpPr>
        <p:spPr>
          <a:xfrm>
            <a:off x="5510086" y="3663612"/>
            <a:ext cx="229230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b="1" dirty="0">
                <a:solidFill>
                  <a:srgbClr val="539DFF"/>
                </a:solidFill>
              </a:rPr>
              <a:t>39%</a:t>
            </a:r>
            <a:endParaRPr lang="ko-KR" altLang="en-US" sz="800" b="1" dirty="0">
              <a:solidFill>
                <a:srgbClr val="539DFF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7842418-3271-F4B9-E6CD-494104ED360C}"/>
              </a:ext>
            </a:extLst>
          </p:cNvPr>
          <p:cNvSpPr txBox="1"/>
          <p:nvPr/>
        </p:nvSpPr>
        <p:spPr>
          <a:xfrm>
            <a:off x="7272586" y="3867223"/>
            <a:ext cx="317396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b="1" dirty="0">
                <a:solidFill>
                  <a:srgbClr val="539DFF"/>
                </a:solidFill>
              </a:rPr>
              <a:t>70.5%</a:t>
            </a:r>
            <a:endParaRPr lang="ko-KR" altLang="en-US" sz="800" b="1" dirty="0">
              <a:solidFill>
                <a:srgbClr val="539DFF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511D7DF-181A-0EE5-B458-F68BB3280CD8}"/>
              </a:ext>
            </a:extLst>
          </p:cNvPr>
          <p:cNvSpPr txBox="1"/>
          <p:nvPr/>
        </p:nvSpPr>
        <p:spPr>
          <a:xfrm>
            <a:off x="8635286" y="3867223"/>
            <a:ext cx="209994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b="1" dirty="0">
                <a:solidFill>
                  <a:srgbClr val="539DFF"/>
                </a:solidFill>
              </a:rPr>
              <a:t>51%</a:t>
            </a:r>
            <a:endParaRPr lang="ko-KR" altLang="en-US" sz="800" b="1" dirty="0">
              <a:solidFill>
                <a:srgbClr val="539DFF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C024024-C22F-105E-26A8-20C7506F230C}"/>
              </a:ext>
            </a:extLst>
          </p:cNvPr>
          <p:cNvSpPr txBox="1"/>
          <p:nvPr/>
        </p:nvSpPr>
        <p:spPr>
          <a:xfrm>
            <a:off x="8997669" y="3867223"/>
            <a:ext cx="230832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b="1" dirty="0">
                <a:solidFill>
                  <a:srgbClr val="539DFF"/>
                </a:solidFill>
              </a:rPr>
              <a:t>49%</a:t>
            </a:r>
            <a:endParaRPr lang="ko-KR" altLang="en-US" sz="800" b="1" dirty="0">
              <a:solidFill>
                <a:srgbClr val="539DFF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9200467-5877-80F2-D8A6-966D3B916447}"/>
              </a:ext>
            </a:extLst>
          </p:cNvPr>
          <p:cNvSpPr/>
          <p:nvPr/>
        </p:nvSpPr>
        <p:spPr>
          <a:xfrm>
            <a:off x="5169000" y="2420525"/>
            <a:ext cx="1080000" cy="360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rgbClr val="3D3D3D"/>
                </a:solidFill>
              </a:rPr>
              <a:t>박세영</a:t>
            </a:r>
            <a:endParaRPr lang="en-US" altLang="ko-KR" sz="1000" b="1" dirty="0">
              <a:solidFill>
                <a:srgbClr val="3D3D3D"/>
              </a:solidFill>
            </a:endParaRPr>
          </a:p>
          <a:p>
            <a:pPr algn="ctr"/>
            <a:r>
              <a:rPr lang="ko-KR" altLang="en-US" sz="800" dirty="0">
                <a:solidFill>
                  <a:srgbClr val="3D3D3D"/>
                </a:solidFill>
              </a:rPr>
              <a:t>클래스어라운드 </a:t>
            </a:r>
            <a:r>
              <a:rPr lang="en-US" altLang="ko-KR" sz="800" dirty="0">
                <a:solidFill>
                  <a:srgbClr val="3D3D3D"/>
                </a:solidFill>
              </a:rPr>
              <a:t>CEO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7B468BE-2C75-E1EF-25DD-985BBD6B2BCC}"/>
              </a:ext>
            </a:extLst>
          </p:cNvPr>
          <p:cNvSpPr/>
          <p:nvPr/>
        </p:nvSpPr>
        <p:spPr>
          <a:xfrm>
            <a:off x="6717000" y="2420525"/>
            <a:ext cx="1080000" cy="360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 err="1">
                <a:solidFill>
                  <a:srgbClr val="3D3D3D"/>
                </a:solidFill>
              </a:rPr>
              <a:t>오윤록</a:t>
            </a:r>
            <a:r>
              <a:rPr lang="en-US" altLang="ko-KR" sz="1000" b="1" baseline="30000" dirty="0">
                <a:solidFill>
                  <a:srgbClr val="3D3D3D"/>
                </a:solidFill>
              </a:rPr>
              <a:t>(1)</a:t>
            </a:r>
          </a:p>
          <a:p>
            <a:pPr algn="ctr"/>
            <a:r>
              <a:rPr lang="ko-KR" altLang="en-US" sz="800" dirty="0">
                <a:solidFill>
                  <a:srgbClr val="3D3D3D"/>
                </a:solidFill>
              </a:rPr>
              <a:t>타이탄컴퍼니 </a:t>
            </a:r>
            <a:r>
              <a:rPr lang="en-US" altLang="ko-KR" sz="800" dirty="0">
                <a:solidFill>
                  <a:srgbClr val="3D3D3D"/>
                </a:solidFill>
              </a:rPr>
              <a:t>CEO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cxnSp>
        <p:nvCxnSpPr>
          <p:cNvPr id="137" name="연결선: 꺾임 136">
            <a:extLst>
              <a:ext uri="{FF2B5EF4-FFF2-40B4-BE49-F238E27FC236}">
                <a16:creationId xmlns:a16="http://schemas.microsoft.com/office/drawing/2014/main" id="{7455EBBD-34C9-C05D-B3A1-2FCA7407259E}"/>
              </a:ext>
            </a:extLst>
          </p:cNvPr>
          <p:cNvCxnSpPr>
            <a:cxnSpLocks/>
          </p:cNvCxnSpPr>
          <p:nvPr/>
        </p:nvCxnSpPr>
        <p:spPr>
          <a:xfrm rot="5400000">
            <a:off x="5898000" y="2681525"/>
            <a:ext cx="1260000" cy="1458000"/>
          </a:xfrm>
          <a:prstGeom prst="bentConnector3">
            <a:avLst>
              <a:gd name="adj1" fmla="val 17872"/>
            </a:avLst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1E130CF6-4740-99AF-4BD6-8F4E86485BCE}"/>
              </a:ext>
            </a:extLst>
          </p:cNvPr>
          <p:cNvSpPr txBox="1"/>
          <p:nvPr/>
        </p:nvSpPr>
        <p:spPr>
          <a:xfrm>
            <a:off x="6946603" y="3026672"/>
            <a:ext cx="211597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90%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6AC00F5-7DE8-68B8-3AA0-476B37FFBD14}"/>
              </a:ext>
            </a:extLst>
          </p:cNvPr>
          <p:cNvSpPr txBox="1"/>
          <p:nvPr/>
        </p:nvSpPr>
        <p:spPr>
          <a:xfrm>
            <a:off x="6866659" y="3890652"/>
            <a:ext cx="150682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9%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811147E-D311-EC23-F4FB-7A9283A5AD2E}"/>
              </a:ext>
            </a:extLst>
          </p:cNvPr>
          <p:cNvSpPr txBox="1"/>
          <p:nvPr/>
        </p:nvSpPr>
        <p:spPr>
          <a:xfrm>
            <a:off x="6450003" y="4247205"/>
            <a:ext cx="209994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25%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BF86AAF-B765-1F58-CCA5-8E93EF32F9C6}"/>
              </a:ext>
            </a:extLst>
          </p:cNvPr>
          <p:cNvSpPr txBox="1"/>
          <p:nvPr/>
        </p:nvSpPr>
        <p:spPr>
          <a:xfrm>
            <a:off x="5187020" y="3891673"/>
            <a:ext cx="213200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40%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E1F203F-A34E-C668-551A-EAA17B04802A}"/>
              </a:ext>
            </a:extLst>
          </p:cNvPr>
          <p:cNvSpPr txBox="1"/>
          <p:nvPr/>
        </p:nvSpPr>
        <p:spPr>
          <a:xfrm>
            <a:off x="5842963" y="3891673"/>
            <a:ext cx="177934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11%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1E372D1-2D00-F3BF-57A2-C50A89025E3B}"/>
              </a:ext>
            </a:extLst>
          </p:cNvPr>
          <p:cNvSpPr txBox="1"/>
          <p:nvPr/>
        </p:nvSpPr>
        <p:spPr>
          <a:xfrm>
            <a:off x="6772421" y="2161495"/>
            <a:ext cx="1061238" cy="158057"/>
          </a:xfrm>
          <a:prstGeom prst="rect">
            <a:avLst/>
          </a:prstGeom>
          <a:solidFill>
            <a:schemeClr val="bg1"/>
          </a:solidFill>
        </p:spPr>
        <p:txBody>
          <a:bodyPr wrap="none" lIns="54000" tIns="0" rIns="54000" bIns="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F25353"/>
                </a:solidFill>
              </a:rPr>
              <a:t>본 거래대상 지분</a:t>
            </a:r>
            <a:r>
              <a:rPr lang="en-US" altLang="ko-KR" sz="1000" b="1" baseline="30000" dirty="0">
                <a:solidFill>
                  <a:srgbClr val="F25353"/>
                </a:solidFill>
              </a:rPr>
              <a:t>(5)</a:t>
            </a:r>
            <a:endParaRPr lang="ko-KR" altLang="en-US" sz="1000" b="1" baseline="30000" dirty="0">
              <a:solidFill>
                <a:srgbClr val="F25353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1BD35BF-50D7-E457-3BB9-203ACF04F625}"/>
              </a:ext>
            </a:extLst>
          </p:cNvPr>
          <p:cNvCxnSpPr>
            <a:cxnSpLocks/>
          </p:cNvCxnSpPr>
          <p:nvPr/>
        </p:nvCxnSpPr>
        <p:spPr>
          <a:xfrm>
            <a:off x="7257000" y="2780525"/>
            <a:ext cx="0" cy="450000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A6FD574-5149-9C6A-12DE-4734DEE7A9F5}"/>
              </a:ext>
            </a:extLst>
          </p:cNvPr>
          <p:cNvCxnSpPr>
            <a:cxnSpLocks/>
          </p:cNvCxnSpPr>
          <p:nvPr/>
        </p:nvCxnSpPr>
        <p:spPr>
          <a:xfrm>
            <a:off x="8967000" y="2780525"/>
            <a:ext cx="0" cy="1260000"/>
          </a:xfrm>
          <a:prstGeom prst="line">
            <a:avLst/>
          </a:prstGeom>
          <a:ln w="6350">
            <a:solidFill>
              <a:srgbClr val="53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A024C3D-DD6D-1BA9-8DF1-37E26577EB0F}"/>
              </a:ext>
            </a:extLst>
          </p:cNvPr>
          <p:cNvCxnSpPr>
            <a:cxnSpLocks/>
          </p:cNvCxnSpPr>
          <p:nvPr/>
        </p:nvCxnSpPr>
        <p:spPr>
          <a:xfrm>
            <a:off x="5439000" y="3410524"/>
            <a:ext cx="0" cy="630001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7F348E4-FD06-CEC2-4AA9-0FD526EA8A06}"/>
              </a:ext>
            </a:extLst>
          </p:cNvPr>
          <p:cNvCxnSpPr>
            <a:cxnSpLocks/>
          </p:cNvCxnSpPr>
          <p:nvPr/>
        </p:nvCxnSpPr>
        <p:spPr>
          <a:xfrm>
            <a:off x="5709000" y="2780524"/>
            <a:ext cx="0" cy="630001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BE30BF8-BE9A-D759-11A9-9C2F4E5CC7F9}"/>
              </a:ext>
            </a:extLst>
          </p:cNvPr>
          <p:cNvCxnSpPr>
            <a:cxnSpLocks/>
          </p:cNvCxnSpPr>
          <p:nvPr/>
        </p:nvCxnSpPr>
        <p:spPr>
          <a:xfrm>
            <a:off x="7077001" y="3867223"/>
            <a:ext cx="0" cy="173302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9269EE20-B29E-E8E4-8258-C553BCA0B0D2}"/>
              </a:ext>
            </a:extLst>
          </p:cNvPr>
          <p:cNvCxnSpPr>
            <a:cxnSpLocks/>
          </p:cNvCxnSpPr>
          <p:nvPr/>
        </p:nvCxnSpPr>
        <p:spPr>
          <a:xfrm>
            <a:off x="6393000" y="3410524"/>
            <a:ext cx="0" cy="810001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C91F5088-E323-057A-C901-81480CBD38BC}"/>
              </a:ext>
            </a:extLst>
          </p:cNvPr>
          <p:cNvCxnSpPr>
            <a:cxnSpLocks/>
          </p:cNvCxnSpPr>
          <p:nvPr/>
        </p:nvCxnSpPr>
        <p:spPr>
          <a:xfrm>
            <a:off x="6572999" y="3005525"/>
            <a:ext cx="0" cy="861698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7F19B8A3-EBF9-706A-BBCD-3964CC10C5BB}"/>
              </a:ext>
            </a:extLst>
          </p:cNvPr>
          <p:cNvCxnSpPr>
            <a:cxnSpLocks/>
          </p:cNvCxnSpPr>
          <p:nvPr/>
        </p:nvCxnSpPr>
        <p:spPr>
          <a:xfrm>
            <a:off x="5439000" y="3410524"/>
            <a:ext cx="954000" cy="0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F3285F0-CC5D-35A1-F440-E203D5FFEF87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6393000" y="4220525"/>
            <a:ext cx="324000" cy="0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5ACC0D7B-2C17-06E8-7AA5-84F587667CCE}"/>
              </a:ext>
            </a:extLst>
          </p:cNvPr>
          <p:cNvCxnSpPr>
            <a:cxnSpLocks/>
          </p:cNvCxnSpPr>
          <p:nvPr/>
        </p:nvCxnSpPr>
        <p:spPr>
          <a:xfrm flipH="1">
            <a:off x="6572999" y="3867223"/>
            <a:ext cx="504002" cy="0"/>
          </a:xfrm>
          <a:prstGeom prst="line">
            <a:avLst/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D51C0A8C-65D7-7A33-2B57-6A241A7281D4}"/>
              </a:ext>
            </a:extLst>
          </p:cNvPr>
          <p:cNvCxnSpPr>
            <a:cxnSpLocks/>
            <a:stCxn id="110" idx="2"/>
            <a:endCxn id="57" idx="0"/>
          </p:cNvCxnSpPr>
          <p:nvPr/>
        </p:nvCxnSpPr>
        <p:spPr>
          <a:xfrm rot="16200000" flipH="1">
            <a:off x="6222000" y="2267525"/>
            <a:ext cx="450000" cy="1476000"/>
          </a:xfrm>
          <a:prstGeom prst="bentConnector3">
            <a:avLst>
              <a:gd name="adj1" fmla="val 84441"/>
            </a:avLst>
          </a:prstGeom>
          <a:ln w="63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9BBF5B-BE96-2B0C-A63B-54220F227D87}"/>
              </a:ext>
            </a:extLst>
          </p:cNvPr>
          <p:cNvSpPr txBox="1"/>
          <p:nvPr/>
        </p:nvSpPr>
        <p:spPr>
          <a:xfrm>
            <a:off x="6057393" y="3173680"/>
            <a:ext cx="152286" cy="126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4%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35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50CC-2055-8ADD-F567-67173D2C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502A65D-3E94-E2DB-5658-1106192B95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Why Titan?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3E6098-9855-C0CA-2486-ECBFE7D0A7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TITAN</a:t>
            </a:r>
            <a:r>
              <a:rPr lang="ko-KR" altLang="en-US" dirty="0"/>
              <a:t>이 구축하였으나 </a:t>
            </a:r>
            <a:r>
              <a:rPr lang="en-US" altLang="ko-KR" dirty="0"/>
              <a:t>TITAN</a:t>
            </a:r>
            <a:r>
              <a:rPr lang="ko-KR" altLang="en-US" dirty="0"/>
              <a:t>과는 독립적으로 운영되는 각 플랫폼의 월간 매출액 집계액임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947455-75B1-4AA1-043F-A68A0E4266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ED4F3-089B-1F8F-742E-D05D7EB7091D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강사 발굴부터 잠재 고객 유인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유료결제 전환까지 체계화된 세일즈 </a:t>
            </a:r>
            <a:r>
              <a:rPr lang="ko-KR" altLang="en-US" sz="1400" b="1" dirty="0" err="1">
                <a:solidFill>
                  <a:srgbClr val="3D3D3D"/>
                </a:solidFill>
              </a:rPr>
              <a:t>퍼널을</a:t>
            </a:r>
            <a:r>
              <a:rPr lang="ko-KR" altLang="en-US" sz="1400" b="1" dirty="0">
                <a:solidFill>
                  <a:srgbClr val="3D3D3D"/>
                </a:solidFill>
              </a:rPr>
              <a:t> 구축</a:t>
            </a:r>
            <a:r>
              <a:rPr lang="en-US" altLang="ko-KR" sz="1400" b="1" dirty="0">
                <a:solidFill>
                  <a:srgbClr val="3D3D3D"/>
                </a:solidFill>
              </a:rPr>
              <a:t>, 2023</a:t>
            </a:r>
            <a:r>
              <a:rPr lang="ko-KR" altLang="en-US" sz="1400" b="1" dirty="0">
                <a:solidFill>
                  <a:srgbClr val="3D3D3D"/>
                </a:solidFill>
              </a:rPr>
              <a:t>년 플랫폼 런칭 이후 단 </a:t>
            </a:r>
            <a:r>
              <a:rPr lang="en-US" altLang="ko-KR" sz="1400" b="1" dirty="0">
                <a:solidFill>
                  <a:srgbClr val="3D3D3D"/>
                </a:solidFill>
              </a:rPr>
              <a:t>2</a:t>
            </a:r>
            <a:r>
              <a:rPr lang="ko-KR" altLang="en-US" sz="1400" b="1" dirty="0">
                <a:solidFill>
                  <a:srgbClr val="3D3D3D"/>
                </a:solidFill>
              </a:rPr>
              <a:t>년 만에 매출액 </a:t>
            </a:r>
            <a:r>
              <a:rPr lang="en-US" altLang="ko-KR" sz="1400" b="1" dirty="0">
                <a:solidFill>
                  <a:srgbClr val="3D3D3D"/>
                </a:solidFill>
              </a:rPr>
              <a:t>770</a:t>
            </a:r>
            <a:r>
              <a:rPr lang="ko-KR" altLang="en-US" sz="1400" b="1" dirty="0">
                <a:solidFill>
                  <a:srgbClr val="3D3D3D"/>
                </a:solidFill>
              </a:rPr>
              <a:t>억원 규모로 성장하였으며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시장 내 </a:t>
            </a:r>
            <a:r>
              <a:rPr lang="en-US" altLang="ko-KR" sz="1400" b="1" dirty="0">
                <a:solidFill>
                  <a:srgbClr val="3D3D3D"/>
                </a:solidFill>
              </a:rPr>
              <a:t>TITAN-MADE </a:t>
            </a:r>
            <a:r>
              <a:rPr lang="ko-KR" altLang="en-US" sz="1400" b="1" dirty="0">
                <a:solidFill>
                  <a:srgbClr val="3D3D3D"/>
                </a:solidFill>
              </a:rPr>
              <a:t>플랫폼 확산 통해 생태계를 장악하고 있는 시장 선도업체입니다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599017-9340-C7F4-67B5-3AFDCA3A1568}"/>
              </a:ext>
            </a:extLst>
          </p:cNvPr>
          <p:cNvSpPr/>
          <p:nvPr/>
        </p:nvSpPr>
        <p:spPr>
          <a:xfrm>
            <a:off x="453000" y="1700213"/>
            <a:ext cx="2880000" cy="3960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E49E4B-CD63-B898-0991-63EA9ABDC76C}"/>
              </a:ext>
            </a:extLst>
          </p:cNvPr>
          <p:cNvSpPr/>
          <p:nvPr/>
        </p:nvSpPr>
        <p:spPr>
          <a:xfrm>
            <a:off x="3513000" y="1700213"/>
            <a:ext cx="2880000" cy="3960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7C5934-A4C8-896B-8297-7AB8FFEBACFE}"/>
              </a:ext>
            </a:extLst>
          </p:cNvPr>
          <p:cNvSpPr/>
          <p:nvPr/>
        </p:nvSpPr>
        <p:spPr>
          <a:xfrm>
            <a:off x="6573000" y="1700213"/>
            <a:ext cx="2880000" cy="3960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96FE875-FB52-54C9-B3E3-DCCD3BA9FA01}"/>
              </a:ext>
            </a:extLst>
          </p:cNvPr>
          <p:cNvGrpSpPr/>
          <p:nvPr/>
        </p:nvGrpSpPr>
        <p:grpSpPr>
          <a:xfrm>
            <a:off x="561000" y="1900486"/>
            <a:ext cx="2664000" cy="391454"/>
            <a:chOff x="561000" y="1948223"/>
            <a:chExt cx="2664000" cy="39145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CC3263-7C82-8920-AE3E-903F5785DD2E}"/>
                </a:ext>
              </a:extLst>
            </p:cNvPr>
            <p:cNvSpPr txBox="1"/>
            <p:nvPr/>
          </p:nvSpPr>
          <p:spPr>
            <a:xfrm>
              <a:off x="993000" y="1948223"/>
              <a:ext cx="2232000" cy="39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1000" spc="-30" dirty="0">
                  <a:solidFill>
                    <a:srgbClr val="11244A"/>
                  </a:solidFill>
                </a:rPr>
                <a:t>Skill-to-Earn </a:t>
              </a:r>
              <a:r>
                <a:rPr lang="ko-KR" altLang="en-US" sz="1000" spc="-30" dirty="0">
                  <a:solidFill>
                    <a:srgbClr val="11244A"/>
                  </a:solidFill>
                </a:rPr>
                <a:t>시장에서 가장 빠르게 성장하는 </a:t>
              </a:r>
              <a:endParaRPr lang="en-US" altLang="ko-KR" sz="1000" spc="-30" dirty="0">
                <a:solidFill>
                  <a:srgbClr val="11244A"/>
                </a:solidFill>
              </a:endParaRPr>
            </a:p>
            <a:p>
              <a:pPr algn="l">
                <a:lnSpc>
                  <a:spcPct val="110000"/>
                </a:lnSpc>
              </a:pPr>
              <a:r>
                <a:rPr lang="en-US" altLang="ko-KR" sz="1400" dirty="0">
                  <a:solidFill>
                    <a:srgbClr val="11244A"/>
                  </a:solidFill>
                  <a:latin typeface="+mj-lt"/>
                  <a:ea typeface="+mj-ea"/>
                </a:rPr>
                <a:t>GROWTH ENGINE</a:t>
              </a:r>
              <a:endParaRPr lang="ko-KR" altLang="en-US" sz="1400" dirty="0">
                <a:solidFill>
                  <a:srgbClr val="11244A"/>
                </a:solidFill>
                <a:latin typeface="+mj-lt"/>
                <a:ea typeface="+mj-ea"/>
              </a:endParaRP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F6C4F6D9-9A6D-BA58-5877-012D0F89B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1000" y="1981950"/>
              <a:ext cx="324000" cy="324000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E9A25C4-68F5-CED9-46C2-243E1C075DF9}"/>
              </a:ext>
            </a:extLst>
          </p:cNvPr>
          <p:cNvGrpSpPr/>
          <p:nvPr/>
        </p:nvGrpSpPr>
        <p:grpSpPr>
          <a:xfrm>
            <a:off x="3620999" y="1900486"/>
            <a:ext cx="2664000" cy="391454"/>
            <a:chOff x="561000" y="1948223"/>
            <a:chExt cx="2664000" cy="39145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0B2DB33-18C0-7100-F8A6-38D95F4CD439}"/>
                </a:ext>
              </a:extLst>
            </p:cNvPr>
            <p:cNvSpPr txBox="1"/>
            <p:nvPr/>
          </p:nvSpPr>
          <p:spPr>
            <a:xfrm>
              <a:off x="993000" y="1948223"/>
              <a:ext cx="2232000" cy="39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000" spc="-30" dirty="0">
                  <a:solidFill>
                    <a:schemeClr val="bg1"/>
                  </a:solidFill>
                </a:rPr>
                <a:t>강력한 세일즈 </a:t>
              </a:r>
              <a:r>
                <a:rPr lang="ko-KR" altLang="en-US" sz="1000" spc="-30" dirty="0" err="1">
                  <a:solidFill>
                    <a:schemeClr val="bg1"/>
                  </a:solidFill>
                </a:rPr>
                <a:t>퍼널</a:t>
              </a:r>
              <a:r>
                <a:rPr lang="ko-KR" altLang="en-US" sz="1000" spc="-30" dirty="0">
                  <a:solidFill>
                    <a:schemeClr val="bg1"/>
                  </a:solidFill>
                </a:rPr>
                <a:t> 기반 </a:t>
              </a:r>
              <a:r>
                <a:rPr lang="ko-KR" altLang="en-US" sz="1000" spc="-30" dirty="0" err="1">
                  <a:solidFill>
                    <a:schemeClr val="bg1"/>
                  </a:solidFill>
                </a:rPr>
                <a:t>모객</a:t>
              </a:r>
              <a:r>
                <a:rPr lang="ko-KR" altLang="en-US" sz="1000" spc="-30" dirty="0">
                  <a:solidFill>
                    <a:schemeClr val="bg1"/>
                  </a:solidFill>
                </a:rPr>
                <a:t> 능력이 검증된</a:t>
              </a:r>
              <a:endParaRPr lang="en-US" altLang="ko-KR" sz="1000" spc="-30" dirty="0">
                <a:solidFill>
                  <a:schemeClr val="bg1"/>
                </a:solidFill>
              </a:endParaRPr>
            </a:p>
            <a:p>
              <a:pPr algn="l">
                <a:lnSpc>
                  <a:spcPct val="110000"/>
                </a:lnSpc>
              </a:pPr>
              <a:r>
                <a:rPr lang="en-US" altLang="ko-KR" sz="1400" dirty="0">
                  <a:solidFill>
                    <a:schemeClr val="bg1"/>
                  </a:solidFill>
                  <a:latin typeface="+mj-lt"/>
                  <a:ea typeface="+mj-ea"/>
                </a:rPr>
                <a:t>MARKETING CHAMPION</a:t>
              </a:r>
              <a:endParaRPr lang="ko-KR" altLang="en-US" sz="1400" dirty="0">
                <a:solidFill>
                  <a:schemeClr val="bg1"/>
                </a:solidFill>
                <a:latin typeface="+mj-lt"/>
                <a:ea typeface="+mj-ea"/>
              </a:endParaRPr>
            </a:p>
          </p:txBody>
        </p:sp>
        <p:pic>
          <p:nvPicPr>
            <p:cNvPr id="47" name="그래픽 46">
              <a:extLst>
                <a:ext uri="{FF2B5EF4-FFF2-40B4-BE49-F238E27FC236}">
                  <a16:creationId xmlns:a16="http://schemas.microsoft.com/office/drawing/2014/main" id="{20A8F76B-2339-C78E-27BD-323203842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1000" y="1981950"/>
              <a:ext cx="324000" cy="324000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38F9A06-8484-C4C3-5AF0-0E6854D8925A}"/>
              </a:ext>
            </a:extLst>
          </p:cNvPr>
          <p:cNvGrpSpPr/>
          <p:nvPr/>
        </p:nvGrpSpPr>
        <p:grpSpPr>
          <a:xfrm>
            <a:off x="6681000" y="1900486"/>
            <a:ext cx="2664000" cy="391454"/>
            <a:chOff x="561000" y="1948223"/>
            <a:chExt cx="2664000" cy="39145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676C649-86CD-4F60-811E-EEF983462A3F}"/>
                </a:ext>
              </a:extLst>
            </p:cNvPr>
            <p:cNvSpPr txBox="1"/>
            <p:nvPr/>
          </p:nvSpPr>
          <p:spPr>
            <a:xfrm>
              <a:off x="993000" y="1948223"/>
              <a:ext cx="2232000" cy="391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000" spc="-30" dirty="0">
                  <a:solidFill>
                    <a:schemeClr val="bg1"/>
                  </a:solidFill>
                </a:rPr>
                <a:t>플랫폼 구축 서비스를 통해 생태계를 장악하는</a:t>
              </a:r>
              <a:endParaRPr lang="en-US" altLang="ko-KR" sz="1000" spc="-30" dirty="0">
                <a:solidFill>
                  <a:schemeClr val="bg1"/>
                </a:solidFill>
              </a:endParaRPr>
            </a:p>
            <a:p>
              <a:pPr algn="l">
                <a:lnSpc>
                  <a:spcPct val="110000"/>
                </a:lnSpc>
              </a:pPr>
              <a:r>
                <a:rPr lang="en-US" altLang="ko-KR" sz="1400" dirty="0">
                  <a:solidFill>
                    <a:schemeClr val="bg1"/>
                  </a:solidFill>
                  <a:latin typeface="+mj-lt"/>
                  <a:ea typeface="+mj-ea"/>
                </a:rPr>
                <a:t>SOLUTION INNOVATOR</a:t>
              </a:r>
              <a:endParaRPr lang="ko-KR" altLang="en-US" sz="1400" dirty="0">
                <a:solidFill>
                  <a:schemeClr val="bg1"/>
                </a:solidFill>
                <a:latin typeface="+mj-lt"/>
                <a:ea typeface="+mj-ea"/>
              </a:endParaRPr>
            </a:p>
          </p:txBody>
        </p:sp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8B04DFEA-25A8-C0FC-8EA5-51AE44679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1000" y="1981950"/>
              <a:ext cx="324000" cy="324000"/>
            </a:xfrm>
            <a:prstGeom prst="rect">
              <a:avLst/>
            </a:prstGeom>
          </p:spPr>
        </p:pic>
      </p:grpSp>
      <p:graphicFrame>
        <p:nvGraphicFramePr>
          <p:cNvPr id="57" name="차트 56">
            <a:extLst>
              <a:ext uri="{FF2B5EF4-FFF2-40B4-BE49-F238E27FC236}">
                <a16:creationId xmlns:a16="http://schemas.microsoft.com/office/drawing/2014/main" id="{508830F0-5E59-A8DF-4DBE-84BAE09C92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179248"/>
              </p:ext>
            </p:extLst>
          </p:nvPr>
        </p:nvGraphicFramePr>
        <p:xfrm>
          <a:off x="543000" y="2672211"/>
          <a:ext cx="270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6ED0BE1E-460F-B24C-8D78-C0445612C2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88620" y="2674250"/>
            <a:ext cx="936000" cy="1332000"/>
          </a:xfrm>
          <a:prstGeom prst="bentConnector2">
            <a:avLst/>
          </a:prstGeom>
          <a:ln w="6350">
            <a:solidFill>
              <a:srgbClr val="1124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91649DE-AF45-AFFA-CC37-8C34DA94A279}"/>
              </a:ext>
            </a:extLst>
          </p:cNvPr>
          <p:cNvSpPr txBox="1"/>
          <p:nvPr/>
        </p:nvSpPr>
        <p:spPr>
          <a:xfrm>
            <a:off x="1394057" y="2793221"/>
            <a:ext cx="725126" cy="158057"/>
          </a:xfrm>
          <a:prstGeom prst="rect">
            <a:avLst/>
          </a:prstGeom>
          <a:solidFill>
            <a:srgbClr val="E6F3FF"/>
          </a:solidFill>
        </p:spPr>
        <p:txBody>
          <a:bodyPr wrap="none" lIns="36000" tIns="0" rIns="3600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000" b="1" dirty="0">
                <a:solidFill>
                  <a:srgbClr val="11244A"/>
                </a:solidFill>
              </a:rPr>
              <a:t>YoY 689%</a:t>
            </a:r>
            <a:endParaRPr lang="ko-KR" altLang="en-US" sz="1000" b="1" dirty="0">
              <a:solidFill>
                <a:srgbClr val="11244A"/>
              </a:solidFill>
            </a:endParaRPr>
          </a:p>
        </p:txBody>
      </p:sp>
      <p:graphicFrame>
        <p:nvGraphicFramePr>
          <p:cNvPr id="64" name="차트 63">
            <a:extLst>
              <a:ext uri="{FF2B5EF4-FFF2-40B4-BE49-F238E27FC236}">
                <a16:creationId xmlns:a16="http://schemas.microsoft.com/office/drawing/2014/main" id="{FC36B1FB-2021-62FB-FA5E-1529B5007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357563"/>
              </p:ext>
            </p:extLst>
          </p:nvPr>
        </p:nvGraphicFramePr>
        <p:xfrm>
          <a:off x="6663000" y="2672211"/>
          <a:ext cx="270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F4054F5B-1313-BC2E-639E-6A4497B9D306}"/>
              </a:ext>
            </a:extLst>
          </p:cNvPr>
          <p:cNvSpPr txBox="1"/>
          <p:nvPr/>
        </p:nvSpPr>
        <p:spPr>
          <a:xfrm>
            <a:off x="668438" y="2492211"/>
            <a:ext cx="1163780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rgbClr val="11244A"/>
                </a:solidFill>
              </a:rPr>
              <a:t>TITAN </a:t>
            </a:r>
            <a:r>
              <a:rPr lang="ko-KR" altLang="en-US" sz="1000" b="1" dirty="0">
                <a:solidFill>
                  <a:srgbClr val="11244A"/>
                </a:solidFill>
              </a:rPr>
              <a:t>연결 매출액</a:t>
            </a:r>
            <a:endParaRPr lang="ko-KR" altLang="en-US" sz="900" dirty="0">
              <a:solidFill>
                <a:srgbClr val="11244A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3037EF-BC4D-1A19-3D65-310B674404D3}"/>
              </a:ext>
            </a:extLst>
          </p:cNvPr>
          <p:cNvSpPr txBox="1"/>
          <p:nvPr/>
        </p:nvSpPr>
        <p:spPr>
          <a:xfrm>
            <a:off x="6788438" y="2492211"/>
            <a:ext cx="1963679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bg1"/>
                </a:solidFill>
              </a:rPr>
              <a:t>TITAN </a:t>
            </a:r>
            <a:r>
              <a:rPr lang="ko-KR" altLang="en-US" sz="1000" b="1" dirty="0">
                <a:solidFill>
                  <a:schemeClr val="bg1"/>
                </a:solidFill>
              </a:rPr>
              <a:t>구축 플랫폼 수 및 매출액</a:t>
            </a:r>
            <a:r>
              <a:rPr lang="en-US" altLang="ko-KR" sz="1000" b="1" baseline="30000" dirty="0">
                <a:solidFill>
                  <a:schemeClr val="bg1"/>
                </a:solidFill>
              </a:rPr>
              <a:t>(1)</a:t>
            </a:r>
            <a:endParaRPr lang="ko-KR" altLang="en-US" sz="900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68" name="차트 67">
            <a:extLst>
              <a:ext uri="{FF2B5EF4-FFF2-40B4-BE49-F238E27FC236}">
                <a16:creationId xmlns:a16="http://schemas.microsoft.com/office/drawing/2014/main" id="{0EAC8678-7844-92F4-C14B-7525C67FE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7435129"/>
              </p:ext>
            </p:extLst>
          </p:nvPr>
        </p:nvGraphicFramePr>
        <p:xfrm>
          <a:off x="3603000" y="2672211"/>
          <a:ext cx="270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BE7396C2-1231-68BE-78EA-700CDA104365}"/>
              </a:ext>
            </a:extLst>
          </p:cNvPr>
          <p:cNvSpPr txBox="1"/>
          <p:nvPr/>
        </p:nvSpPr>
        <p:spPr>
          <a:xfrm>
            <a:off x="3728438" y="2492211"/>
            <a:ext cx="1274388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1000" b="1" dirty="0">
                <a:solidFill>
                  <a:schemeClr val="bg1"/>
                </a:solidFill>
              </a:rPr>
              <a:t>TITAN </a:t>
            </a:r>
            <a:r>
              <a:rPr lang="ko-KR" altLang="en-US" sz="1000" b="1" dirty="0">
                <a:solidFill>
                  <a:schemeClr val="bg1"/>
                </a:solidFill>
              </a:rPr>
              <a:t>유료 결제건수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64311A46-B7E1-453B-4215-9C22B030F56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226663" y="2764250"/>
            <a:ext cx="1080000" cy="1296000"/>
          </a:xfrm>
          <a:prstGeom prst="bentConnector2">
            <a:avLst/>
          </a:prstGeom>
          <a:ln w="6350">
            <a:solidFill>
              <a:srgbClr val="E0E0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7195FCA-6CB0-BA59-D621-EF6C398DF8DA}"/>
              </a:ext>
            </a:extLst>
          </p:cNvPr>
          <p:cNvSpPr txBox="1"/>
          <p:nvPr/>
        </p:nvSpPr>
        <p:spPr>
          <a:xfrm>
            <a:off x="4358415" y="2793221"/>
            <a:ext cx="816496" cy="158057"/>
          </a:xfrm>
          <a:prstGeom prst="rect">
            <a:avLst/>
          </a:prstGeom>
          <a:solidFill>
            <a:srgbClr val="539DFF"/>
          </a:solidFill>
        </p:spPr>
        <p:txBody>
          <a:bodyPr wrap="none" lIns="36000" tIns="0" rIns="3600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</a:rPr>
              <a:t>YoY 1,507%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172593-1A92-873C-A024-738A81AA37B7}"/>
              </a:ext>
            </a:extLst>
          </p:cNvPr>
          <p:cNvSpPr txBox="1"/>
          <p:nvPr/>
        </p:nvSpPr>
        <p:spPr>
          <a:xfrm>
            <a:off x="543000" y="4792271"/>
            <a:ext cx="2700000" cy="704360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11244A"/>
                </a:solidFill>
              </a:rPr>
              <a:t>2022</a:t>
            </a:r>
            <a:r>
              <a:rPr lang="ko-KR" altLang="en-US" sz="1000" spc="-30" dirty="0">
                <a:solidFill>
                  <a:srgbClr val="11244A"/>
                </a:solidFill>
              </a:rPr>
              <a:t>년 </a:t>
            </a:r>
            <a:r>
              <a:rPr lang="en-US" altLang="ko-KR" sz="1000" spc="-30" dirty="0">
                <a:solidFill>
                  <a:srgbClr val="11244A"/>
                </a:solidFill>
              </a:rPr>
              <a:t>8</a:t>
            </a:r>
            <a:r>
              <a:rPr lang="ko-KR" altLang="en-US" sz="1000" spc="-30" dirty="0">
                <a:solidFill>
                  <a:srgbClr val="11244A"/>
                </a:solidFill>
              </a:rPr>
              <a:t>월 법인 설립 </a:t>
            </a:r>
            <a:r>
              <a:rPr lang="en-US" altLang="ko-KR" sz="1000" spc="-30" dirty="0">
                <a:solidFill>
                  <a:srgbClr val="11244A"/>
                </a:solidFill>
              </a:rPr>
              <a:t>· 2023</a:t>
            </a:r>
            <a:r>
              <a:rPr lang="ko-KR" altLang="en-US" sz="1000" spc="-30" dirty="0">
                <a:solidFill>
                  <a:srgbClr val="11244A"/>
                </a:solidFill>
              </a:rPr>
              <a:t>년 </a:t>
            </a:r>
            <a:r>
              <a:rPr lang="en-US" altLang="ko-KR" sz="1000" spc="-30" dirty="0">
                <a:solidFill>
                  <a:srgbClr val="11244A"/>
                </a:solidFill>
              </a:rPr>
              <a:t>10</a:t>
            </a:r>
            <a:r>
              <a:rPr lang="ko-KR" altLang="en-US" sz="1000" spc="-30" dirty="0">
                <a:solidFill>
                  <a:srgbClr val="11244A"/>
                </a:solidFill>
              </a:rPr>
              <a:t>월 플랫폼 런칭 이후 단기간 내 국내 부업 </a:t>
            </a:r>
            <a:r>
              <a:rPr lang="en-US" altLang="ko-KR" sz="1000" spc="-30" dirty="0">
                <a:solidFill>
                  <a:srgbClr val="11244A"/>
                </a:solidFill>
              </a:rPr>
              <a:t>· N</a:t>
            </a:r>
            <a:r>
              <a:rPr lang="ko-KR" altLang="en-US" sz="1000" spc="-30" dirty="0" err="1">
                <a:solidFill>
                  <a:srgbClr val="11244A"/>
                </a:solidFill>
              </a:rPr>
              <a:t>잡</a:t>
            </a:r>
            <a:r>
              <a:rPr lang="ko-KR" altLang="en-US" sz="1000" spc="-30" dirty="0">
                <a:solidFill>
                  <a:srgbClr val="11244A"/>
                </a:solidFill>
              </a:rPr>
              <a:t> 교육시장 장악</a:t>
            </a:r>
            <a:endParaRPr lang="en-US" altLang="ko-KR" sz="1000" spc="-30" dirty="0">
              <a:solidFill>
                <a:srgbClr val="11244A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11244A"/>
                </a:solidFill>
              </a:rPr>
              <a:t>2025</a:t>
            </a:r>
            <a:r>
              <a:rPr lang="ko-KR" altLang="en-US" sz="1000" spc="-30" dirty="0">
                <a:solidFill>
                  <a:srgbClr val="11244A"/>
                </a:solidFill>
              </a:rPr>
              <a:t>년 예상 매출액은 약 </a:t>
            </a:r>
            <a:r>
              <a:rPr lang="en-US" altLang="ko-KR" sz="1000" spc="-30" dirty="0">
                <a:solidFill>
                  <a:srgbClr val="11244A"/>
                </a:solidFill>
              </a:rPr>
              <a:t>770</a:t>
            </a:r>
            <a:r>
              <a:rPr lang="ko-KR" altLang="en-US" sz="1000" spc="-30" dirty="0">
                <a:solidFill>
                  <a:srgbClr val="11244A"/>
                </a:solidFill>
              </a:rPr>
              <a:t>억원으로</a:t>
            </a:r>
            <a:r>
              <a:rPr lang="en-US" altLang="ko-KR" sz="1000" spc="-30" dirty="0">
                <a:solidFill>
                  <a:srgbClr val="11244A"/>
                </a:solidFill>
              </a:rPr>
              <a:t>, Full Year Operation </a:t>
            </a:r>
            <a:r>
              <a:rPr lang="ko-KR" altLang="en-US" sz="1000" spc="-30" dirty="0">
                <a:solidFill>
                  <a:srgbClr val="11244A"/>
                </a:solidFill>
              </a:rPr>
              <a:t>첫 해인 </a:t>
            </a:r>
            <a:r>
              <a:rPr lang="en-US" altLang="ko-KR" sz="1000" spc="-30" dirty="0">
                <a:solidFill>
                  <a:srgbClr val="11244A"/>
                </a:solidFill>
              </a:rPr>
              <a:t>2024</a:t>
            </a:r>
            <a:r>
              <a:rPr lang="ko-KR" altLang="en-US" sz="1000" spc="-30" dirty="0">
                <a:solidFill>
                  <a:srgbClr val="11244A"/>
                </a:solidFill>
              </a:rPr>
              <a:t>년 대비 </a:t>
            </a:r>
            <a:r>
              <a:rPr lang="en-US" altLang="ko-KR" sz="1000" spc="-30" dirty="0">
                <a:solidFill>
                  <a:srgbClr val="11244A"/>
                </a:solidFill>
              </a:rPr>
              <a:t>7.9</a:t>
            </a:r>
            <a:r>
              <a:rPr lang="ko-KR" altLang="en-US" sz="1000" spc="-30" dirty="0">
                <a:solidFill>
                  <a:srgbClr val="11244A"/>
                </a:solidFill>
              </a:rPr>
              <a:t>배 성장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BEB667-2236-BC16-F462-D6816343133F}"/>
              </a:ext>
            </a:extLst>
          </p:cNvPr>
          <p:cNvSpPr txBox="1"/>
          <p:nvPr/>
        </p:nvSpPr>
        <p:spPr>
          <a:xfrm>
            <a:off x="3603000" y="4792271"/>
            <a:ext cx="2700000" cy="704360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자체적인 강사 발굴 </a:t>
            </a:r>
            <a:r>
              <a:rPr lang="en-US" altLang="ko-KR" sz="1000" spc="-30" dirty="0">
                <a:solidFill>
                  <a:schemeClr val="bg1"/>
                </a:solidFill>
              </a:rPr>
              <a:t>· </a:t>
            </a:r>
            <a:r>
              <a:rPr lang="ko-KR" altLang="en-US" sz="1000" spc="-30" dirty="0">
                <a:solidFill>
                  <a:schemeClr val="bg1"/>
                </a:solidFill>
              </a:rPr>
              <a:t>커리큘럼 개발부터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온드미디어</a:t>
            </a:r>
            <a:r>
              <a:rPr lang="ko-KR" altLang="en-US" sz="1000" spc="-30" dirty="0">
                <a:solidFill>
                  <a:schemeClr val="bg1"/>
                </a:solidFill>
              </a:rPr>
              <a:t> 통한 마케팅까지 자체 수행 가능한 역량 내재화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chemeClr val="bg1"/>
                </a:solidFill>
              </a:rPr>
              <a:t>2025</a:t>
            </a:r>
            <a:r>
              <a:rPr lang="ko-KR" altLang="en-US" sz="1000" spc="-30" dirty="0">
                <a:solidFill>
                  <a:schemeClr val="bg1"/>
                </a:solidFill>
              </a:rPr>
              <a:t>년 상반기 약 </a:t>
            </a:r>
            <a:r>
              <a:rPr lang="en-US" altLang="ko-KR" sz="1000" spc="-30" dirty="0">
                <a:solidFill>
                  <a:schemeClr val="bg1"/>
                </a:solidFill>
              </a:rPr>
              <a:t>41</a:t>
            </a:r>
            <a:r>
              <a:rPr lang="ko-KR" altLang="en-US" sz="1000" spc="-30" dirty="0">
                <a:solidFill>
                  <a:schemeClr val="bg1"/>
                </a:solidFill>
              </a:rPr>
              <a:t>만명의 </a:t>
            </a:r>
            <a:r>
              <a:rPr lang="en-US" altLang="ko-KR" sz="1000" spc="-30" dirty="0">
                <a:solidFill>
                  <a:schemeClr val="bg1"/>
                </a:solidFill>
              </a:rPr>
              <a:t>Addressable User </a:t>
            </a:r>
            <a:r>
              <a:rPr lang="ko-KR" altLang="en-US" sz="1000" spc="-30" dirty="0">
                <a:solidFill>
                  <a:schemeClr val="bg1"/>
                </a:solidFill>
              </a:rPr>
              <a:t>모집하여 이 중 </a:t>
            </a:r>
            <a:r>
              <a:rPr lang="en-US" altLang="ko-KR" sz="1000" spc="-30" dirty="0">
                <a:solidFill>
                  <a:schemeClr val="bg1"/>
                </a:solidFill>
              </a:rPr>
              <a:t>1.3</a:t>
            </a:r>
            <a:r>
              <a:rPr lang="ko-KR" altLang="en-US" sz="1000" spc="-30" dirty="0">
                <a:solidFill>
                  <a:schemeClr val="bg1"/>
                </a:solidFill>
              </a:rPr>
              <a:t>만여명의 유료결제 전환 성공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5FFDA3-9002-A8AA-1C4D-91710F9DAAE3}"/>
              </a:ext>
            </a:extLst>
          </p:cNvPr>
          <p:cNvSpPr txBox="1"/>
          <p:nvPr/>
        </p:nvSpPr>
        <p:spPr>
          <a:xfrm>
            <a:off x="6663000" y="4792271"/>
            <a:ext cx="2700000" cy="704360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50" dirty="0">
                <a:solidFill>
                  <a:schemeClr val="bg1"/>
                </a:solidFill>
              </a:rPr>
              <a:t>독립적인 플랫폼 운영을 원하는 크리에이터 대상 </a:t>
            </a:r>
            <a:r>
              <a:rPr lang="en-US" altLang="ko-KR" sz="1000" spc="-50" dirty="0">
                <a:solidFill>
                  <a:schemeClr val="bg1"/>
                </a:solidFill>
              </a:rPr>
              <a:t>TITAN</a:t>
            </a:r>
            <a:r>
              <a:rPr lang="ko-KR" altLang="en-US" sz="1000" spc="-50" dirty="0">
                <a:solidFill>
                  <a:schemeClr val="bg1"/>
                </a:solidFill>
              </a:rPr>
              <a:t> 성공 </a:t>
            </a:r>
            <a:r>
              <a:rPr lang="en-US" altLang="ko-KR" sz="1000" spc="-50" dirty="0">
                <a:solidFill>
                  <a:schemeClr val="bg1"/>
                </a:solidFill>
              </a:rPr>
              <a:t>DNA</a:t>
            </a:r>
            <a:r>
              <a:rPr lang="ko-KR" altLang="en-US" sz="1000" spc="-50" dirty="0">
                <a:solidFill>
                  <a:schemeClr val="bg1"/>
                </a:solidFill>
              </a:rPr>
              <a:t>가 이식된 플랫폼 구축 서비스 제공</a:t>
            </a:r>
            <a:endParaRPr lang="en-US" altLang="ko-KR" sz="1000" spc="-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국내 부업 </a:t>
            </a:r>
            <a:r>
              <a:rPr lang="en-US" altLang="ko-KR" sz="1000" spc="-30" dirty="0">
                <a:solidFill>
                  <a:schemeClr val="bg1"/>
                </a:solidFill>
              </a:rPr>
              <a:t>· N</a:t>
            </a:r>
            <a:r>
              <a:rPr lang="ko-KR" altLang="en-US" sz="1000" spc="-30" dirty="0" err="1">
                <a:solidFill>
                  <a:schemeClr val="bg1"/>
                </a:solidFill>
              </a:rPr>
              <a:t>잡</a:t>
            </a:r>
            <a:r>
              <a:rPr lang="ko-KR" altLang="en-US" sz="1000" spc="-30" dirty="0">
                <a:solidFill>
                  <a:schemeClr val="bg1"/>
                </a:solidFill>
              </a:rPr>
              <a:t> 교육시장 내 </a:t>
            </a:r>
            <a:r>
              <a:rPr lang="en-US" altLang="ko-KR" sz="1000" spc="-30" dirty="0">
                <a:solidFill>
                  <a:schemeClr val="bg1"/>
                </a:solidFill>
              </a:rPr>
              <a:t>TITAN-MADE </a:t>
            </a:r>
            <a:r>
              <a:rPr lang="ko-KR" altLang="en-US" sz="1000" spc="-30" dirty="0">
                <a:solidFill>
                  <a:schemeClr val="bg1"/>
                </a:solidFill>
              </a:rPr>
              <a:t>플랫폼 확산하여 생태계 장악 및 경쟁 플랫폼 성장 견제</a:t>
            </a:r>
          </a:p>
        </p:txBody>
      </p:sp>
    </p:spTree>
    <p:extLst>
      <p:ext uri="{BB962C8B-B14F-4D97-AF65-F5344CB8AC3E}">
        <p14:creationId xmlns:p14="http://schemas.microsoft.com/office/powerpoint/2010/main" val="120873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6F0D-8582-F14D-198A-DDD6BC77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F8A0C7-E91F-7F67-1558-C89AE61E13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D9A780-FD7B-9662-62CC-CBB09BF07A5F}"/>
              </a:ext>
            </a:extLst>
          </p:cNvPr>
          <p:cNvSpPr txBox="1"/>
          <p:nvPr/>
        </p:nvSpPr>
        <p:spPr>
          <a:xfrm>
            <a:off x="452438" y="1386550"/>
            <a:ext cx="3064942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D3C9305-AFCC-693F-4A9A-E616F60D1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113035"/>
              </p:ext>
            </p:extLst>
          </p:nvPr>
        </p:nvGraphicFramePr>
        <p:xfrm>
          <a:off x="344438" y="2080716"/>
          <a:ext cx="36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Investment Highlights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8812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Market Opportunities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Business Overview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05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Financial Summary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36481"/>
                  </a:ext>
                </a:extLst>
              </a:tr>
            </a:tbl>
          </a:graphicData>
        </a:graphic>
      </p:graphicFrame>
      <p:pic>
        <p:nvPicPr>
          <p:cNvPr id="2" name="그래픽 1">
            <a:extLst>
              <a:ext uri="{FF2B5EF4-FFF2-40B4-BE49-F238E27FC236}">
                <a16:creationId xmlns:a16="http://schemas.microsoft.com/office/drawing/2014/main" id="{2F687E73-A069-1AE4-61A9-052C8BC04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0908" y="549275"/>
            <a:ext cx="1642500" cy="252000"/>
          </a:xfrm>
          <a:prstGeom prst="rect">
            <a:avLst/>
          </a:prstGeom>
        </p:spPr>
      </p:pic>
      <p:grpSp>
        <p:nvGrpSpPr>
          <p:cNvPr id="4" name="그래픽 12">
            <a:extLst>
              <a:ext uri="{FF2B5EF4-FFF2-40B4-BE49-F238E27FC236}">
                <a16:creationId xmlns:a16="http://schemas.microsoft.com/office/drawing/2014/main" id="{22EA585B-85A9-9A2E-77ED-225AFCED0198}"/>
              </a:ext>
            </a:extLst>
          </p:cNvPr>
          <p:cNvGrpSpPr>
            <a:grpSpLocks noChangeAspect="1"/>
          </p:cNvGrpSpPr>
          <p:nvPr/>
        </p:nvGrpSpPr>
        <p:grpSpPr>
          <a:xfrm>
            <a:off x="452999" y="461630"/>
            <a:ext cx="1363661" cy="427290"/>
            <a:chOff x="1748076" y="1492704"/>
            <a:chExt cx="2780254" cy="871165"/>
          </a:xfrm>
          <a:solidFill>
            <a:schemeClr val="bg1"/>
          </a:solidFill>
        </p:grpSpPr>
        <p:sp>
          <p:nvSpPr>
            <p:cNvPr id="8" name="자유형: 도형 21">
              <a:extLst>
                <a:ext uri="{FF2B5EF4-FFF2-40B4-BE49-F238E27FC236}">
                  <a16:creationId xmlns:a16="http://schemas.microsoft.com/office/drawing/2014/main" id="{05328DAC-951D-B643-B3D5-BCFEACABB4E5}"/>
                </a:ext>
              </a:extLst>
            </p:cNvPr>
            <p:cNvSpPr/>
            <p:nvPr/>
          </p:nvSpPr>
          <p:spPr>
            <a:xfrm flipV="1">
              <a:off x="2956473" y="1542367"/>
              <a:ext cx="1551422" cy="303005"/>
            </a:xfrm>
            <a:custGeom>
              <a:avLst/>
              <a:gdLst>
                <a:gd name="connsiteX0" fmla="*/ 1551596 w 1551422"/>
                <a:gd name="connsiteY0" fmla="*/ 303014 h 303005"/>
                <a:gd name="connsiteX1" fmla="*/ 173 w 1551422"/>
                <a:gd name="connsiteY1" fmla="*/ 303014 h 303005"/>
                <a:gd name="connsiteX2" fmla="*/ 173 w 1551422"/>
                <a:gd name="connsiteY2" fmla="*/ 8 h 303005"/>
                <a:gd name="connsiteX3" fmla="*/ 1551596 w 1551422"/>
                <a:gd name="connsiteY3" fmla="*/ 8 h 3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22" h="303005">
                  <a:moveTo>
                    <a:pt x="1551596" y="303014"/>
                  </a:moveTo>
                  <a:lnTo>
                    <a:pt x="173" y="303014"/>
                  </a:lnTo>
                  <a:lnTo>
                    <a:pt x="173" y="8"/>
                  </a:lnTo>
                  <a:lnTo>
                    <a:pt x="1551596" y="8"/>
                  </a:lnTo>
                  <a:close/>
                </a:path>
              </a:pathLst>
            </a:custGeom>
            <a:grpFill/>
            <a:ln w="60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" name="그래픽 12">
              <a:extLst>
                <a:ext uri="{FF2B5EF4-FFF2-40B4-BE49-F238E27FC236}">
                  <a16:creationId xmlns:a16="http://schemas.microsoft.com/office/drawing/2014/main" id="{DF70DDD9-22C4-803E-E2FE-DAC3EFDC3215}"/>
                </a:ext>
              </a:extLst>
            </p:cNvPr>
            <p:cNvGrpSpPr/>
            <p:nvPr/>
          </p:nvGrpSpPr>
          <p:grpSpPr>
            <a:xfrm>
              <a:off x="1748076" y="1492704"/>
              <a:ext cx="2780254" cy="871165"/>
              <a:chOff x="1748076" y="1492704"/>
              <a:chExt cx="2780254" cy="871165"/>
            </a:xfrm>
            <a:grpFill/>
          </p:grpSpPr>
          <p:sp>
            <p:nvSpPr>
              <p:cNvPr id="10" name="자유형: 도형 26">
                <a:extLst>
                  <a:ext uri="{FF2B5EF4-FFF2-40B4-BE49-F238E27FC236}">
                    <a16:creationId xmlns:a16="http://schemas.microsoft.com/office/drawing/2014/main" id="{3609B453-0182-A753-4CAB-D549B6C27953}"/>
                  </a:ext>
                </a:extLst>
              </p:cNvPr>
              <p:cNvSpPr/>
              <p:nvPr/>
            </p:nvSpPr>
            <p:spPr>
              <a:xfrm flipV="1">
                <a:off x="1751153" y="1513324"/>
                <a:ext cx="258404" cy="360962"/>
              </a:xfrm>
              <a:custGeom>
                <a:avLst/>
                <a:gdLst>
                  <a:gd name="connsiteX0" fmla="*/ 113589 w 258404"/>
                  <a:gd name="connsiteY0" fmla="*/ 179798 h 360962"/>
                  <a:gd name="connsiteX1" fmla="*/ 82826 w 258404"/>
                  <a:gd name="connsiteY1" fmla="*/ 179798 h 360962"/>
                  <a:gd name="connsiteX2" fmla="*/ 82826 w 258404"/>
                  <a:gd name="connsiteY2" fmla="*/ 7014 h 360962"/>
                  <a:gd name="connsiteX3" fmla="*/ 105382 w 258404"/>
                  <a:gd name="connsiteY3" fmla="*/ 7014 h 360962"/>
                  <a:gd name="connsiteX4" fmla="*/ 201265 w 258404"/>
                  <a:gd name="connsiteY4" fmla="*/ 94177 h 360962"/>
                  <a:gd name="connsiteX5" fmla="*/ 113589 w 258404"/>
                  <a:gd name="connsiteY5" fmla="*/ 179798 h 360962"/>
                  <a:gd name="connsiteX6" fmla="*/ 82826 w 258404"/>
                  <a:gd name="connsiteY6" fmla="*/ 354638 h 360962"/>
                  <a:gd name="connsiteX7" fmla="*/ 82826 w 258404"/>
                  <a:gd name="connsiteY7" fmla="*/ 186461 h 360962"/>
                  <a:gd name="connsiteX8" fmla="*/ 113589 w 258404"/>
                  <a:gd name="connsiteY8" fmla="*/ 186461 h 360962"/>
                  <a:gd name="connsiteX9" fmla="*/ 179215 w 258404"/>
                  <a:gd name="connsiteY9" fmla="*/ 274137 h 360962"/>
                  <a:gd name="connsiteX10" fmla="*/ 105382 w 258404"/>
                  <a:gd name="connsiteY10" fmla="*/ 354638 h 360962"/>
                  <a:gd name="connsiteX11" fmla="*/ 102820 w 258404"/>
                  <a:gd name="connsiteY11" fmla="*/ 345 h 360962"/>
                  <a:gd name="connsiteX12" fmla="*/ 280 w 258404"/>
                  <a:gd name="connsiteY12" fmla="*/ 345 h 360962"/>
                  <a:gd name="connsiteX13" fmla="*/ 280 w 258404"/>
                  <a:gd name="connsiteY13" fmla="*/ 4957 h 360962"/>
                  <a:gd name="connsiteX14" fmla="*/ 30018 w 258404"/>
                  <a:gd name="connsiteY14" fmla="*/ 61871 h 360962"/>
                  <a:gd name="connsiteX15" fmla="*/ 30018 w 258404"/>
                  <a:gd name="connsiteY15" fmla="*/ 300800 h 360962"/>
                  <a:gd name="connsiteX16" fmla="*/ 280 w 258404"/>
                  <a:gd name="connsiteY16" fmla="*/ 356688 h 360962"/>
                  <a:gd name="connsiteX17" fmla="*/ 280 w 258404"/>
                  <a:gd name="connsiteY17" fmla="*/ 361307 h 360962"/>
                  <a:gd name="connsiteX18" fmla="*/ 102820 w 258404"/>
                  <a:gd name="connsiteY18" fmla="*/ 361307 h 360962"/>
                  <a:gd name="connsiteX19" fmla="*/ 234585 w 258404"/>
                  <a:gd name="connsiteY19" fmla="*/ 273631 h 360962"/>
                  <a:gd name="connsiteX20" fmla="*/ 148964 w 258404"/>
                  <a:gd name="connsiteY20" fmla="*/ 185442 h 360962"/>
                  <a:gd name="connsiteX21" fmla="*/ 258685 w 258404"/>
                  <a:gd name="connsiteY21" fmla="*/ 92121 h 360962"/>
                  <a:gd name="connsiteX22" fmla="*/ 102820 w 258404"/>
                  <a:gd name="connsiteY22" fmla="*/ 345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8404" h="360962">
                    <a:moveTo>
                      <a:pt x="113589" y="179798"/>
                    </a:moveTo>
                    <a:lnTo>
                      <a:pt x="82826" y="179798"/>
                    </a:lnTo>
                    <a:lnTo>
                      <a:pt x="82826" y="7014"/>
                    </a:lnTo>
                    <a:lnTo>
                      <a:pt x="105382" y="7014"/>
                    </a:lnTo>
                    <a:cubicBezTo>
                      <a:pt x="154608" y="7014"/>
                      <a:pt x="201265" y="5989"/>
                      <a:pt x="201265" y="94177"/>
                    </a:cubicBezTo>
                    <a:cubicBezTo>
                      <a:pt x="201265" y="177235"/>
                      <a:pt x="151527" y="179798"/>
                      <a:pt x="113589" y="179798"/>
                    </a:cubicBezTo>
                    <a:moveTo>
                      <a:pt x="82826" y="354638"/>
                    </a:moveTo>
                    <a:lnTo>
                      <a:pt x="82826" y="186461"/>
                    </a:lnTo>
                    <a:lnTo>
                      <a:pt x="113589" y="186461"/>
                    </a:lnTo>
                    <a:cubicBezTo>
                      <a:pt x="145377" y="186461"/>
                      <a:pt x="179215" y="196204"/>
                      <a:pt x="179215" y="274137"/>
                    </a:cubicBezTo>
                    <a:cubicBezTo>
                      <a:pt x="179215" y="349507"/>
                      <a:pt x="136664" y="354638"/>
                      <a:pt x="105382" y="354638"/>
                    </a:cubicBezTo>
                    <a:close/>
                    <a:moveTo>
                      <a:pt x="102820" y="345"/>
                    </a:moveTo>
                    <a:lnTo>
                      <a:pt x="280" y="345"/>
                    </a:lnTo>
                    <a:lnTo>
                      <a:pt x="280" y="4957"/>
                    </a:lnTo>
                    <a:cubicBezTo>
                      <a:pt x="22325" y="4957"/>
                      <a:pt x="30018" y="27008"/>
                      <a:pt x="30018" y="61871"/>
                    </a:cubicBezTo>
                    <a:lnTo>
                      <a:pt x="30018" y="300800"/>
                    </a:lnTo>
                    <a:cubicBezTo>
                      <a:pt x="30018" y="332588"/>
                      <a:pt x="22837" y="356688"/>
                      <a:pt x="280" y="356688"/>
                    </a:cubicBezTo>
                    <a:lnTo>
                      <a:pt x="280" y="361307"/>
                    </a:lnTo>
                    <a:lnTo>
                      <a:pt x="102820" y="361307"/>
                    </a:lnTo>
                    <a:cubicBezTo>
                      <a:pt x="174090" y="361307"/>
                      <a:pt x="234585" y="357201"/>
                      <a:pt x="234585" y="273631"/>
                    </a:cubicBezTo>
                    <a:cubicBezTo>
                      <a:pt x="234585" y="193642"/>
                      <a:pt x="159221" y="185442"/>
                      <a:pt x="148964" y="185442"/>
                    </a:cubicBezTo>
                    <a:cubicBezTo>
                      <a:pt x="182290" y="185442"/>
                      <a:pt x="258685" y="178779"/>
                      <a:pt x="258685" y="92121"/>
                    </a:cubicBezTo>
                    <a:cubicBezTo>
                      <a:pt x="258685" y="2913"/>
                      <a:pt x="191527" y="345"/>
                      <a:pt x="102820" y="345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27">
                <a:extLst>
                  <a:ext uri="{FF2B5EF4-FFF2-40B4-BE49-F238E27FC236}">
                    <a16:creationId xmlns:a16="http://schemas.microsoft.com/office/drawing/2014/main" id="{8973B937-57F8-68EE-9EBA-73EB8D007114}"/>
                  </a:ext>
                </a:extLst>
              </p:cNvPr>
              <p:cNvSpPr/>
              <p:nvPr/>
            </p:nvSpPr>
            <p:spPr>
              <a:xfrm flipV="1">
                <a:off x="2091574" y="1492704"/>
                <a:ext cx="324112" cy="386382"/>
              </a:xfrm>
              <a:custGeom>
                <a:avLst/>
                <a:gdLst>
                  <a:gd name="connsiteX0" fmla="*/ 99962 w 324112"/>
                  <a:gd name="connsiteY0" fmla="*/ 281518 h 386382"/>
                  <a:gd name="connsiteX1" fmla="*/ 134548 w 324112"/>
                  <a:gd name="connsiteY1" fmla="*/ 228704 h 386382"/>
                  <a:gd name="connsiteX2" fmla="*/ 168151 w 324112"/>
                  <a:gd name="connsiteY2" fmla="*/ 359450 h 386382"/>
                  <a:gd name="connsiteX3" fmla="*/ 112142 w 324112"/>
                  <a:gd name="connsiteY3" fmla="*/ 374319 h 386382"/>
                  <a:gd name="connsiteX4" fmla="*/ 99962 w 324112"/>
                  <a:gd name="connsiteY4" fmla="*/ 281518 h 386382"/>
                  <a:gd name="connsiteX5" fmla="*/ 180807 w 324112"/>
                  <a:gd name="connsiteY5" fmla="*/ 76945 h 386382"/>
                  <a:gd name="connsiteX6" fmla="*/ 99962 w 324112"/>
                  <a:gd name="connsiteY6" fmla="*/ 199997 h 386382"/>
                  <a:gd name="connsiteX7" fmla="*/ 72696 w 324112"/>
                  <a:gd name="connsiteY7" fmla="*/ 182047 h 386382"/>
                  <a:gd name="connsiteX8" fmla="*/ 58575 w 324112"/>
                  <a:gd name="connsiteY8" fmla="*/ 53870 h 386382"/>
                  <a:gd name="connsiteX9" fmla="*/ 180807 w 324112"/>
                  <a:gd name="connsiteY9" fmla="*/ 76945 h 386382"/>
                  <a:gd name="connsiteX10" fmla="*/ 324468 w 324112"/>
                  <a:gd name="connsiteY10" fmla="*/ 56945 h 386382"/>
                  <a:gd name="connsiteX11" fmla="*/ 274802 w 324112"/>
                  <a:gd name="connsiteY11" fmla="*/ 550 h 386382"/>
                  <a:gd name="connsiteX12" fmla="*/ 213927 w 324112"/>
                  <a:gd name="connsiteY12" fmla="*/ 26182 h 386382"/>
                  <a:gd name="connsiteX13" fmla="*/ 185679 w 324112"/>
                  <a:gd name="connsiteY13" fmla="*/ 70789 h 386382"/>
                  <a:gd name="connsiteX14" fmla="*/ 19617 w 324112"/>
                  <a:gd name="connsiteY14" fmla="*/ 34901 h 386382"/>
                  <a:gd name="connsiteX15" fmla="*/ 68795 w 324112"/>
                  <a:gd name="connsiteY15" fmla="*/ 188203 h 386382"/>
                  <a:gd name="connsiteX16" fmla="*/ 96073 w 324112"/>
                  <a:gd name="connsiteY16" fmla="*/ 205635 h 386382"/>
                  <a:gd name="connsiteX17" fmla="*/ 71725 w 324112"/>
                  <a:gd name="connsiteY17" fmla="*/ 243573 h 386382"/>
                  <a:gd name="connsiteX18" fmla="*/ 103857 w 324112"/>
                  <a:gd name="connsiteY18" fmla="*/ 385088 h 386382"/>
                  <a:gd name="connsiteX19" fmla="*/ 173993 w 324112"/>
                  <a:gd name="connsiteY19" fmla="*/ 364069 h 386382"/>
                  <a:gd name="connsiteX20" fmla="*/ 138437 w 324112"/>
                  <a:gd name="connsiteY20" fmla="*/ 222554 h 386382"/>
                  <a:gd name="connsiteX21" fmla="*/ 203701 w 324112"/>
                  <a:gd name="connsiteY21" fmla="*/ 121040 h 386382"/>
                  <a:gd name="connsiteX22" fmla="*/ 261646 w 324112"/>
                  <a:gd name="connsiteY22" fmla="*/ 181535 h 386382"/>
                  <a:gd name="connsiteX23" fmla="*/ 291842 w 324112"/>
                  <a:gd name="connsiteY23" fmla="*/ 175897 h 386382"/>
                  <a:gd name="connsiteX24" fmla="*/ 294278 w 324112"/>
                  <a:gd name="connsiteY24" fmla="*/ 139490 h 386382"/>
                  <a:gd name="connsiteX25" fmla="*/ 259216 w 324112"/>
                  <a:gd name="connsiteY25" fmla="*/ 136421 h 386382"/>
                  <a:gd name="connsiteX26" fmla="*/ 250931 w 324112"/>
                  <a:gd name="connsiteY26" fmla="*/ 153853 h 386382"/>
                  <a:gd name="connsiteX27" fmla="*/ 207590 w 324112"/>
                  <a:gd name="connsiteY27" fmla="*/ 115396 h 386382"/>
                  <a:gd name="connsiteX28" fmla="*/ 246059 w 324112"/>
                  <a:gd name="connsiteY28" fmla="*/ 56945 h 386382"/>
                  <a:gd name="connsiteX29" fmla="*/ 285028 w 324112"/>
                  <a:gd name="connsiteY29" fmla="*/ 32845 h 386382"/>
                  <a:gd name="connsiteX30" fmla="*/ 318137 w 324112"/>
                  <a:gd name="connsiteY30" fmla="*/ 56945 h 38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24112" h="386382">
                    <a:moveTo>
                      <a:pt x="99962" y="281518"/>
                    </a:moveTo>
                    <a:lnTo>
                      <a:pt x="134548" y="228704"/>
                    </a:lnTo>
                    <a:cubicBezTo>
                      <a:pt x="199318" y="271774"/>
                      <a:pt x="192010" y="328175"/>
                      <a:pt x="168151" y="359450"/>
                    </a:cubicBezTo>
                    <a:cubicBezTo>
                      <a:pt x="154023" y="374832"/>
                      <a:pt x="131623" y="382013"/>
                      <a:pt x="112142" y="374319"/>
                    </a:cubicBezTo>
                    <a:cubicBezTo>
                      <a:pt x="82446" y="362525"/>
                      <a:pt x="76591" y="317924"/>
                      <a:pt x="99962" y="281518"/>
                    </a:cubicBezTo>
                    <a:moveTo>
                      <a:pt x="180807" y="76945"/>
                    </a:moveTo>
                    <a:lnTo>
                      <a:pt x="99962" y="199997"/>
                    </a:lnTo>
                    <a:lnTo>
                      <a:pt x="72696" y="182047"/>
                    </a:lnTo>
                    <a:cubicBezTo>
                      <a:pt x="44459" y="161540"/>
                      <a:pt x="16699" y="106165"/>
                      <a:pt x="58575" y="53870"/>
                    </a:cubicBezTo>
                    <a:cubicBezTo>
                      <a:pt x="88771" y="15932"/>
                      <a:pt x="155971" y="16957"/>
                      <a:pt x="180807" y="76945"/>
                    </a:cubicBezTo>
                    <a:moveTo>
                      <a:pt x="324468" y="56945"/>
                    </a:moveTo>
                    <a:cubicBezTo>
                      <a:pt x="323980" y="19519"/>
                      <a:pt x="297202" y="2594"/>
                      <a:pt x="274802" y="550"/>
                    </a:cubicBezTo>
                    <a:cubicBezTo>
                      <a:pt x="274802" y="550"/>
                      <a:pt x="232921" y="-3556"/>
                      <a:pt x="213927" y="26182"/>
                    </a:cubicBezTo>
                    <a:lnTo>
                      <a:pt x="185679" y="70789"/>
                    </a:lnTo>
                    <a:cubicBezTo>
                      <a:pt x="168639" y="12338"/>
                      <a:pt x="70742" y="-33807"/>
                      <a:pt x="19617" y="34901"/>
                    </a:cubicBezTo>
                    <a:cubicBezTo>
                      <a:pt x="-31031" y="103096"/>
                      <a:pt x="29844" y="164616"/>
                      <a:pt x="68795" y="188203"/>
                    </a:cubicBezTo>
                    <a:lnTo>
                      <a:pt x="96073" y="205635"/>
                    </a:lnTo>
                    <a:lnTo>
                      <a:pt x="71725" y="243573"/>
                    </a:lnTo>
                    <a:cubicBezTo>
                      <a:pt x="23513" y="312281"/>
                      <a:pt x="49325" y="374832"/>
                      <a:pt x="103857" y="385088"/>
                    </a:cubicBezTo>
                    <a:cubicBezTo>
                      <a:pt x="135518" y="390726"/>
                      <a:pt x="159378" y="381500"/>
                      <a:pt x="173993" y="364069"/>
                    </a:cubicBezTo>
                    <a:cubicBezTo>
                      <a:pt x="194934" y="338937"/>
                      <a:pt x="213433" y="275874"/>
                      <a:pt x="138437" y="222554"/>
                    </a:cubicBezTo>
                    <a:lnTo>
                      <a:pt x="203701" y="121040"/>
                    </a:lnTo>
                    <a:cubicBezTo>
                      <a:pt x="222200" y="169228"/>
                      <a:pt x="248983" y="178460"/>
                      <a:pt x="261646" y="181535"/>
                    </a:cubicBezTo>
                    <a:cubicBezTo>
                      <a:pt x="271383" y="183591"/>
                      <a:pt x="283557" y="183072"/>
                      <a:pt x="291842" y="175897"/>
                    </a:cubicBezTo>
                    <a:cubicBezTo>
                      <a:pt x="301091" y="168203"/>
                      <a:pt x="304498" y="151284"/>
                      <a:pt x="294278" y="139490"/>
                    </a:cubicBezTo>
                    <a:cubicBezTo>
                      <a:pt x="285505" y="128727"/>
                      <a:pt x="269918" y="127184"/>
                      <a:pt x="259216" y="136421"/>
                    </a:cubicBezTo>
                    <a:cubicBezTo>
                      <a:pt x="253367" y="141546"/>
                      <a:pt x="251419" y="146671"/>
                      <a:pt x="250931" y="153853"/>
                    </a:cubicBezTo>
                    <a:cubicBezTo>
                      <a:pt x="250931" y="165128"/>
                      <a:pt x="220741" y="156928"/>
                      <a:pt x="207590" y="115396"/>
                    </a:cubicBezTo>
                    <a:lnTo>
                      <a:pt x="246059" y="56945"/>
                    </a:lnTo>
                    <a:cubicBezTo>
                      <a:pt x="261646" y="33363"/>
                      <a:pt x="285028" y="32845"/>
                      <a:pt x="285028" y="32845"/>
                    </a:cubicBezTo>
                    <a:cubicBezTo>
                      <a:pt x="300120" y="32845"/>
                      <a:pt x="315701" y="39001"/>
                      <a:pt x="318137" y="56945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29">
                <a:extLst>
                  <a:ext uri="{FF2B5EF4-FFF2-40B4-BE49-F238E27FC236}">
                    <a16:creationId xmlns:a16="http://schemas.microsoft.com/office/drawing/2014/main" id="{1E9D096C-A811-C748-59E5-E3D3D7E6D74C}"/>
                  </a:ext>
                </a:extLst>
              </p:cNvPr>
              <p:cNvSpPr/>
              <p:nvPr/>
            </p:nvSpPr>
            <p:spPr>
              <a:xfrm flipV="1">
                <a:off x="2427647" y="1513327"/>
                <a:ext cx="343018" cy="360956"/>
              </a:xfrm>
              <a:custGeom>
                <a:avLst/>
                <a:gdLst>
                  <a:gd name="connsiteX0" fmla="*/ 343489 w 343018"/>
                  <a:gd name="connsiteY0" fmla="*/ 361331 h 360956"/>
                  <a:gd name="connsiteX1" fmla="*/ 343489 w 343018"/>
                  <a:gd name="connsiteY1" fmla="*/ 354662 h 360956"/>
                  <a:gd name="connsiteX2" fmla="*/ 237862 w 343018"/>
                  <a:gd name="connsiteY2" fmla="*/ 241867 h 360956"/>
                  <a:gd name="connsiteX3" fmla="*/ 198899 w 343018"/>
                  <a:gd name="connsiteY3" fmla="*/ 161371 h 360956"/>
                  <a:gd name="connsiteX4" fmla="*/ 198899 w 343018"/>
                  <a:gd name="connsiteY4" fmla="*/ 57801 h 360956"/>
                  <a:gd name="connsiteX5" fmla="*/ 237349 w 343018"/>
                  <a:gd name="connsiteY5" fmla="*/ 7044 h 360956"/>
                  <a:gd name="connsiteX6" fmla="*/ 237349 w 343018"/>
                  <a:gd name="connsiteY6" fmla="*/ 375 h 360956"/>
                  <a:gd name="connsiteX7" fmla="*/ 112241 w 343018"/>
                  <a:gd name="connsiteY7" fmla="*/ 375 h 360956"/>
                  <a:gd name="connsiteX8" fmla="*/ 112241 w 343018"/>
                  <a:gd name="connsiteY8" fmla="*/ 7044 h 360956"/>
                  <a:gd name="connsiteX9" fmla="*/ 150698 w 343018"/>
                  <a:gd name="connsiteY9" fmla="*/ 57801 h 360956"/>
                  <a:gd name="connsiteX10" fmla="*/ 150698 w 343018"/>
                  <a:gd name="connsiteY10" fmla="*/ 148034 h 360956"/>
                  <a:gd name="connsiteX11" fmla="*/ 54309 w 343018"/>
                  <a:gd name="connsiteY11" fmla="*/ 315186 h 360956"/>
                  <a:gd name="connsiteX12" fmla="*/ 471 w 343018"/>
                  <a:gd name="connsiteY12" fmla="*/ 355175 h 360956"/>
                  <a:gd name="connsiteX13" fmla="*/ 471 w 343018"/>
                  <a:gd name="connsiteY13" fmla="*/ 361331 h 360956"/>
                  <a:gd name="connsiteX14" fmla="*/ 132247 w 343018"/>
                  <a:gd name="connsiteY14" fmla="*/ 361331 h 360956"/>
                  <a:gd name="connsiteX15" fmla="*/ 132247 w 343018"/>
                  <a:gd name="connsiteY15" fmla="*/ 355175 h 360956"/>
                  <a:gd name="connsiteX16" fmla="*/ 120448 w 343018"/>
                  <a:gd name="connsiteY16" fmla="*/ 297242 h 360956"/>
                  <a:gd name="connsiteX17" fmla="*/ 195824 w 343018"/>
                  <a:gd name="connsiteY17" fmla="*/ 169572 h 360956"/>
                  <a:gd name="connsiteX18" fmla="*/ 234787 w 343018"/>
                  <a:gd name="connsiteY18" fmla="*/ 249554 h 360956"/>
                  <a:gd name="connsiteX19" fmla="*/ 211718 w 343018"/>
                  <a:gd name="connsiteY19" fmla="*/ 354662 h 360956"/>
                  <a:gd name="connsiteX20" fmla="*/ 211718 w 343018"/>
                  <a:gd name="connsiteY20" fmla="*/ 361331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3018" h="360956">
                    <a:moveTo>
                      <a:pt x="343489" y="361331"/>
                    </a:moveTo>
                    <a:lnTo>
                      <a:pt x="343489" y="354662"/>
                    </a:lnTo>
                    <a:cubicBezTo>
                      <a:pt x="321444" y="354662"/>
                      <a:pt x="294775" y="354662"/>
                      <a:pt x="237862" y="241867"/>
                    </a:cubicBezTo>
                    <a:lnTo>
                      <a:pt x="198899" y="161371"/>
                    </a:lnTo>
                    <a:lnTo>
                      <a:pt x="198899" y="57801"/>
                    </a:lnTo>
                    <a:cubicBezTo>
                      <a:pt x="198899" y="16269"/>
                      <a:pt x="215818" y="7044"/>
                      <a:pt x="237349" y="7044"/>
                    </a:cubicBezTo>
                    <a:lnTo>
                      <a:pt x="237349" y="375"/>
                    </a:lnTo>
                    <a:lnTo>
                      <a:pt x="112241" y="375"/>
                    </a:lnTo>
                    <a:lnTo>
                      <a:pt x="112241" y="7044"/>
                    </a:lnTo>
                    <a:cubicBezTo>
                      <a:pt x="133785" y="7044"/>
                      <a:pt x="150698" y="16269"/>
                      <a:pt x="150698" y="57801"/>
                    </a:cubicBezTo>
                    <a:lnTo>
                      <a:pt x="150698" y="148034"/>
                    </a:lnTo>
                    <a:cubicBezTo>
                      <a:pt x="75334" y="281342"/>
                      <a:pt x="54309" y="315186"/>
                      <a:pt x="54309" y="315186"/>
                    </a:cubicBezTo>
                    <a:cubicBezTo>
                      <a:pt x="31246" y="354156"/>
                      <a:pt x="17402" y="354156"/>
                      <a:pt x="471" y="355175"/>
                    </a:cubicBezTo>
                    <a:lnTo>
                      <a:pt x="471" y="361331"/>
                    </a:lnTo>
                    <a:lnTo>
                      <a:pt x="132247" y="361331"/>
                    </a:lnTo>
                    <a:lnTo>
                      <a:pt x="132247" y="355175"/>
                    </a:lnTo>
                    <a:cubicBezTo>
                      <a:pt x="117885" y="355175"/>
                      <a:pt x="85596" y="356200"/>
                      <a:pt x="120448" y="297242"/>
                    </a:cubicBezTo>
                    <a:lnTo>
                      <a:pt x="195824" y="169572"/>
                    </a:lnTo>
                    <a:lnTo>
                      <a:pt x="234787" y="249554"/>
                    </a:lnTo>
                    <a:cubicBezTo>
                      <a:pt x="252224" y="284936"/>
                      <a:pt x="280931" y="354662"/>
                      <a:pt x="211718" y="354662"/>
                    </a:cubicBezTo>
                    <a:lnTo>
                      <a:pt x="211718" y="361331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30">
                <a:extLst>
                  <a:ext uri="{FF2B5EF4-FFF2-40B4-BE49-F238E27FC236}">
                    <a16:creationId xmlns:a16="http://schemas.microsoft.com/office/drawing/2014/main" id="{D30F4F8E-84CE-D661-650E-D2E33412BC08}"/>
                  </a:ext>
                </a:extLst>
              </p:cNvPr>
              <p:cNvSpPr/>
              <p:nvPr/>
            </p:nvSpPr>
            <p:spPr>
              <a:xfrm flipV="1">
                <a:off x="1748076" y="1998302"/>
                <a:ext cx="263535" cy="360956"/>
              </a:xfrm>
              <a:custGeom>
                <a:avLst/>
                <a:gdLst>
                  <a:gd name="connsiteX0" fmla="*/ 94103 w 263535"/>
                  <a:gd name="connsiteY0" fmla="*/ 161445 h 360956"/>
                  <a:gd name="connsiteX1" fmla="*/ 207930 w 263535"/>
                  <a:gd name="connsiteY1" fmla="*/ 257835 h 360956"/>
                  <a:gd name="connsiteX2" fmla="*/ 94103 w 263535"/>
                  <a:gd name="connsiteY2" fmla="*/ 354742 h 360956"/>
                  <a:gd name="connsiteX3" fmla="*/ 84878 w 263535"/>
                  <a:gd name="connsiteY3" fmla="*/ 354742 h 360956"/>
                  <a:gd name="connsiteX4" fmla="*/ 84878 w 263535"/>
                  <a:gd name="connsiteY4" fmla="*/ 161445 h 360956"/>
                  <a:gd name="connsiteX5" fmla="*/ 84878 w 263535"/>
                  <a:gd name="connsiteY5" fmla="*/ 70688 h 360956"/>
                  <a:gd name="connsiteX6" fmla="*/ 135629 w 263535"/>
                  <a:gd name="connsiteY6" fmla="*/ 7118 h 360956"/>
                  <a:gd name="connsiteX7" fmla="*/ 135629 w 263535"/>
                  <a:gd name="connsiteY7" fmla="*/ 449 h 360956"/>
                  <a:gd name="connsiteX8" fmla="*/ 277 w 263535"/>
                  <a:gd name="connsiteY8" fmla="*/ 449 h 360956"/>
                  <a:gd name="connsiteX9" fmla="*/ 277 w 263535"/>
                  <a:gd name="connsiteY9" fmla="*/ 7118 h 360956"/>
                  <a:gd name="connsiteX10" fmla="*/ 34115 w 263535"/>
                  <a:gd name="connsiteY10" fmla="*/ 69150 h 360956"/>
                  <a:gd name="connsiteX11" fmla="*/ 34115 w 263535"/>
                  <a:gd name="connsiteY11" fmla="*/ 306542 h 360956"/>
                  <a:gd name="connsiteX12" fmla="*/ 1302 w 263535"/>
                  <a:gd name="connsiteY12" fmla="*/ 354742 h 360956"/>
                  <a:gd name="connsiteX13" fmla="*/ 1302 w 263535"/>
                  <a:gd name="connsiteY13" fmla="*/ 361405 h 360956"/>
                  <a:gd name="connsiteX14" fmla="*/ 94103 w 263535"/>
                  <a:gd name="connsiteY14" fmla="*/ 361405 h 360956"/>
                  <a:gd name="connsiteX15" fmla="*/ 263813 w 263535"/>
                  <a:gd name="connsiteY15" fmla="*/ 257835 h 360956"/>
                  <a:gd name="connsiteX16" fmla="*/ 94103 w 263535"/>
                  <a:gd name="connsiteY16" fmla="*/ 154783 h 360956"/>
                  <a:gd name="connsiteX17" fmla="*/ 84878 w 263535"/>
                  <a:gd name="connsiteY17" fmla="*/ 154783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3535" h="360956">
                    <a:moveTo>
                      <a:pt x="94103" y="161445"/>
                    </a:moveTo>
                    <a:cubicBezTo>
                      <a:pt x="156660" y="161445"/>
                      <a:pt x="207930" y="162983"/>
                      <a:pt x="207930" y="257835"/>
                    </a:cubicBezTo>
                    <a:cubicBezTo>
                      <a:pt x="207930" y="355261"/>
                      <a:pt x="154092" y="354742"/>
                      <a:pt x="94103" y="354742"/>
                    </a:cubicBezTo>
                    <a:lnTo>
                      <a:pt x="84878" y="354742"/>
                    </a:lnTo>
                    <a:lnTo>
                      <a:pt x="84878" y="161445"/>
                    </a:lnTo>
                    <a:close/>
                    <a:moveTo>
                      <a:pt x="84878" y="70688"/>
                    </a:moveTo>
                    <a:cubicBezTo>
                      <a:pt x="84878" y="9162"/>
                      <a:pt x="103329" y="7118"/>
                      <a:pt x="135629" y="7118"/>
                    </a:cubicBezTo>
                    <a:lnTo>
                      <a:pt x="135629" y="449"/>
                    </a:lnTo>
                    <a:lnTo>
                      <a:pt x="277" y="449"/>
                    </a:lnTo>
                    <a:lnTo>
                      <a:pt x="277" y="7118"/>
                    </a:lnTo>
                    <a:cubicBezTo>
                      <a:pt x="25396" y="7118"/>
                      <a:pt x="34115" y="20449"/>
                      <a:pt x="34115" y="69150"/>
                    </a:cubicBezTo>
                    <a:lnTo>
                      <a:pt x="34115" y="306542"/>
                    </a:lnTo>
                    <a:cubicBezTo>
                      <a:pt x="34115" y="341923"/>
                      <a:pt x="26934" y="354742"/>
                      <a:pt x="1302" y="354742"/>
                    </a:cubicBezTo>
                    <a:lnTo>
                      <a:pt x="1302" y="361405"/>
                    </a:lnTo>
                    <a:lnTo>
                      <a:pt x="94103" y="361405"/>
                    </a:lnTo>
                    <a:cubicBezTo>
                      <a:pt x="196130" y="361405"/>
                      <a:pt x="263813" y="349099"/>
                      <a:pt x="263813" y="257835"/>
                    </a:cubicBezTo>
                    <a:cubicBezTo>
                      <a:pt x="263813" y="167089"/>
                      <a:pt x="196130" y="154783"/>
                      <a:pt x="94103" y="154783"/>
                    </a:cubicBezTo>
                    <a:lnTo>
                      <a:pt x="84878" y="154783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31">
                <a:extLst>
                  <a:ext uri="{FF2B5EF4-FFF2-40B4-BE49-F238E27FC236}">
                    <a16:creationId xmlns:a16="http://schemas.microsoft.com/office/drawing/2014/main" id="{511434D4-9481-74BC-FFFF-03C893360170}"/>
                  </a:ext>
                </a:extLst>
              </p:cNvPr>
              <p:cNvSpPr/>
              <p:nvPr/>
            </p:nvSpPr>
            <p:spPr>
              <a:xfrm flipV="1">
                <a:off x="2031586" y="1998298"/>
                <a:ext cx="336343" cy="360962"/>
              </a:xfrm>
              <a:custGeom>
                <a:avLst/>
                <a:gdLst>
                  <a:gd name="connsiteX0" fmla="*/ 210577 w 336343"/>
                  <a:gd name="connsiteY0" fmla="*/ 116324 h 360962"/>
                  <a:gd name="connsiteX1" fmla="*/ 143401 w 336343"/>
                  <a:gd name="connsiteY1" fmla="*/ 286540 h 360962"/>
                  <a:gd name="connsiteX2" fmla="*/ 81368 w 336343"/>
                  <a:gd name="connsiteY2" fmla="*/ 116324 h 360962"/>
                  <a:gd name="connsiteX3" fmla="*/ 336704 w 336343"/>
                  <a:gd name="connsiteY3" fmla="*/ 442 h 360962"/>
                  <a:gd name="connsiteX4" fmla="*/ 219796 w 336343"/>
                  <a:gd name="connsiteY4" fmla="*/ 442 h 360962"/>
                  <a:gd name="connsiteX5" fmla="*/ 219796 w 336343"/>
                  <a:gd name="connsiteY5" fmla="*/ 7116 h 360962"/>
                  <a:gd name="connsiteX6" fmla="*/ 230565 w 336343"/>
                  <a:gd name="connsiteY6" fmla="*/ 65049 h 360962"/>
                  <a:gd name="connsiteX7" fmla="*/ 212627 w 336343"/>
                  <a:gd name="connsiteY7" fmla="*/ 109656 h 360962"/>
                  <a:gd name="connsiteX8" fmla="*/ 79825 w 336343"/>
                  <a:gd name="connsiteY8" fmla="*/ 109656 h 360962"/>
                  <a:gd name="connsiteX9" fmla="*/ 114700 w 336343"/>
                  <a:gd name="connsiteY9" fmla="*/ 7116 h 360962"/>
                  <a:gd name="connsiteX10" fmla="*/ 114700 w 336343"/>
                  <a:gd name="connsiteY10" fmla="*/ 442 h 360962"/>
                  <a:gd name="connsiteX11" fmla="*/ 361 w 336343"/>
                  <a:gd name="connsiteY11" fmla="*/ 442 h 360962"/>
                  <a:gd name="connsiteX12" fmla="*/ 361 w 336343"/>
                  <a:gd name="connsiteY12" fmla="*/ 7116 h 360962"/>
                  <a:gd name="connsiteX13" fmla="*/ 77268 w 336343"/>
                  <a:gd name="connsiteY13" fmla="*/ 128112 h 360962"/>
                  <a:gd name="connsiteX14" fmla="*/ 162889 w 336343"/>
                  <a:gd name="connsiteY14" fmla="*/ 361404 h 360962"/>
                  <a:gd name="connsiteX15" fmla="*/ 168520 w 336343"/>
                  <a:gd name="connsiteY15" fmla="*/ 361404 h 360962"/>
                  <a:gd name="connsiteX16" fmla="*/ 294660 w 336343"/>
                  <a:gd name="connsiteY16" fmla="*/ 48636 h 360962"/>
                  <a:gd name="connsiteX17" fmla="*/ 336704 w 336343"/>
                  <a:gd name="connsiteY17" fmla="*/ 7116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6343" h="360962">
                    <a:moveTo>
                      <a:pt x="210577" y="116324"/>
                    </a:moveTo>
                    <a:lnTo>
                      <a:pt x="143401" y="286540"/>
                    </a:lnTo>
                    <a:lnTo>
                      <a:pt x="81368" y="116324"/>
                    </a:lnTo>
                    <a:close/>
                    <a:moveTo>
                      <a:pt x="336704" y="442"/>
                    </a:moveTo>
                    <a:lnTo>
                      <a:pt x="219796" y="442"/>
                    </a:lnTo>
                    <a:lnTo>
                      <a:pt x="219796" y="7116"/>
                    </a:lnTo>
                    <a:cubicBezTo>
                      <a:pt x="247484" y="7116"/>
                      <a:pt x="242359" y="36330"/>
                      <a:pt x="230565" y="65049"/>
                    </a:cubicBezTo>
                    <a:lnTo>
                      <a:pt x="212627" y="109656"/>
                    </a:lnTo>
                    <a:lnTo>
                      <a:pt x="79825" y="109656"/>
                    </a:lnTo>
                    <a:cubicBezTo>
                      <a:pt x="65987" y="68636"/>
                      <a:pt x="43430" y="5060"/>
                      <a:pt x="114700" y="7116"/>
                    </a:cubicBezTo>
                    <a:lnTo>
                      <a:pt x="114700" y="442"/>
                    </a:lnTo>
                    <a:lnTo>
                      <a:pt x="361" y="442"/>
                    </a:lnTo>
                    <a:lnTo>
                      <a:pt x="361" y="7116"/>
                    </a:lnTo>
                    <a:cubicBezTo>
                      <a:pt x="19842" y="7623"/>
                      <a:pt x="32661" y="9679"/>
                      <a:pt x="77268" y="128112"/>
                    </a:cubicBezTo>
                    <a:lnTo>
                      <a:pt x="162889" y="361404"/>
                    </a:lnTo>
                    <a:lnTo>
                      <a:pt x="168520" y="361404"/>
                    </a:lnTo>
                    <a:cubicBezTo>
                      <a:pt x="231077" y="210664"/>
                      <a:pt x="294660" y="48636"/>
                      <a:pt x="294660" y="48636"/>
                    </a:cubicBezTo>
                    <a:cubicBezTo>
                      <a:pt x="311585" y="7623"/>
                      <a:pt x="322347" y="8141"/>
                      <a:pt x="336704" y="711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32">
                <a:extLst>
                  <a:ext uri="{FF2B5EF4-FFF2-40B4-BE49-F238E27FC236}">
                    <a16:creationId xmlns:a16="http://schemas.microsoft.com/office/drawing/2014/main" id="{FD61FBD6-593B-7C59-DE2A-090B820E2F8A}"/>
                  </a:ext>
                </a:extLst>
              </p:cNvPr>
              <p:cNvSpPr/>
              <p:nvPr/>
            </p:nvSpPr>
            <p:spPr>
              <a:xfrm flipV="1">
                <a:off x="2424299" y="1998303"/>
                <a:ext cx="311736" cy="360956"/>
              </a:xfrm>
              <a:custGeom>
                <a:avLst/>
                <a:gdLst>
                  <a:gd name="connsiteX0" fmla="*/ 98361 w 311736"/>
                  <a:gd name="connsiteY0" fmla="*/ 354774 h 360956"/>
                  <a:gd name="connsiteX1" fmla="*/ 82461 w 311736"/>
                  <a:gd name="connsiteY1" fmla="*/ 354774 h 360956"/>
                  <a:gd name="connsiteX2" fmla="*/ 82461 w 311736"/>
                  <a:gd name="connsiteY2" fmla="*/ 172759 h 360956"/>
                  <a:gd name="connsiteX3" fmla="*/ 98361 w 311736"/>
                  <a:gd name="connsiteY3" fmla="*/ 172759 h 360956"/>
                  <a:gd name="connsiteX4" fmla="*/ 200388 w 311736"/>
                  <a:gd name="connsiteY4" fmla="*/ 263504 h 360956"/>
                  <a:gd name="connsiteX5" fmla="*/ 98361 w 311736"/>
                  <a:gd name="connsiteY5" fmla="*/ 354774 h 360956"/>
                  <a:gd name="connsiteX6" fmla="*/ 312165 w 311736"/>
                  <a:gd name="connsiteY6" fmla="*/ 481 h 360956"/>
                  <a:gd name="connsiteX7" fmla="*/ 273189 w 311736"/>
                  <a:gd name="connsiteY7" fmla="*/ 481 h 360956"/>
                  <a:gd name="connsiteX8" fmla="*/ 186037 w 311736"/>
                  <a:gd name="connsiteY8" fmla="*/ 112258 h 360956"/>
                  <a:gd name="connsiteX9" fmla="*/ 106561 w 311736"/>
                  <a:gd name="connsiteY9" fmla="*/ 166090 h 360956"/>
                  <a:gd name="connsiteX10" fmla="*/ 82461 w 311736"/>
                  <a:gd name="connsiteY10" fmla="*/ 166090 h 360956"/>
                  <a:gd name="connsiteX11" fmla="*/ 82461 w 311736"/>
                  <a:gd name="connsiteY11" fmla="*/ 53807 h 360956"/>
                  <a:gd name="connsiteX12" fmla="*/ 115280 w 311736"/>
                  <a:gd name="connsiteY12" fmla="*/ 7156 h 360956"/>
                  <a:gd name="connsiteX13" fmla="*/ 115280 w 311736"/>
                  <a:gd name="connsiteY13" fmla="*/ 481 h 360956"/>
                  <a:gd name="connsiteX14" fmla="*/ 428 w 311736"/>
                  <a:gd name="connsiteY14" fmla="*/ 481 h 360956"/>
                  <a:gd name="connsiteX15" fmla="*/ 428 w 311736"/>
                  <a:gd name="connsiteY15" fmla="*/ 7156 h 360956"/>
                  <a:gd name="connsiteX16" fmla="*/ 32210 w 311736"/>
                  <a:gd name="connsiteY16" fmla="*/ 60470 h 360956"/>
                  <a:gd name="connsiteX17" fmla="*/ 32210 w 311736"/>
                  <a:gd name="connsiteY17" fmla="*/ 315811 h 360956"/>
                  <a:gd name="connsiteX18" fmla="*/ 428 w 311736"/>
                  <a:gd name="connsiteY18" fmla="*/ 354774 h 360956"/>
                  <a:gd name="connsiteX19" fmla="*/ 428 w 311736"/>
                  <a:gd name="connsiteY19" fmla="*/ 361437 h 360956"/>
                  <a:gd name="connsiteX20" fmla="*/ 98361 w 311736"/>
                  <a:gd name="connsiteY20" fmla="*/ 361437 h 360956"/>
                  <a:gd name="connsiteX21" fmla="*/ 256777 w 311736"/>
                  <a:gd name="connsiteY21" fmla="*/ 263504 h 360956"/>
                  <a:gd name="connsiteX22" fmla="*/ 161425 w 311736"/>
                  <a:gd name="connsiteY22" fmla="*/ 169684 h 360956"/>
                  <a:gd name="connsiteX23" fmla="*/ 257301 w 311736"/>
                  <a:gd name="connsiteY23" fmla="*/ 52269 h 360956"/>
                  <a:gd name="connsiteX24" fmla="*/ 312165 w 311736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6" h="360956">
                    <a:moveTo>
                      <a:pt x="98361" y="354774"/>
                    </a:moveTo>
                    <a:lnTo>
                      <a:pt x="82461" y="354774"/>
                    </a:lnTo>
                    <a:lnTo>
                      <a:pt x="82461" y="172759"/>
                    </a:lnTo>
                    <a:lnTo>
                      <a:pt x="98361" y="172759"/>
                    </a:lnTo>
                    <a:cubicBezTo>
                      <a:pt x="156293" y="172759"/>
                      <a:pt x="200388" y="172252"/>
                      <a:pt x="200388" y="263504"/>
                    </a:cubicBezTo>
                    <a:cubicBezTo>
                      <a:pt x="200388" y="356831"/>
                      <a:pt x="153224" y="354774"/>
                      <a:pt x="98361" y="354774"/>
                    </a:cubicBezTo>
                    <a:moveTo>
                      <a:pt x="312165" y="481"/>
                    </a:moveTo>
                    <a:lnTo>
                      <a:pt x="273189" y="481"/>
                    </a:lnTo>
                    <a:cubicBezTo>
                      <a:pt x="207557" y="481"/>
                      <a:pt x="215257" y="994"/>
                      <a:pt x="186037" y="112258"/>
                    </a:cubicBezTo>
                    <a:cubicBezTo>
                      <a:pt x="171669" y="166090"/>
                      <a:pt x="119887" y="166090"/>
                      <a:pt x="106561" y="166090"/>
                    </a:cubicBezTo>
                    <a:lnTo>
                      <a:pt x="82461" y="166090"/>
                    </a:lnTo>
                    <a:lnTo>
                      <a:pt x="82461" y="53807"/>
                    </a:lnTo>
                    <a:cubicBezTo>
                      <a:pt x="82461" y="18431"/>
                      <a:pt x="93742" y="7156"/>
                      <a:pt x="115280" y="7156"/>
                    </a:cubicBezTo>
                    <a:lnTo>
                      <a:pt x="115280" y="481"/>
                    </a:lnTo>
                    <a:lnTo>
                      <a:pt x="428" y="481"/>
                    </a:lnTo>
                    <a:lnTo>
                      <a:pt x="428" y="7156"/>
                    </a:lnTo>
                    <a:cubicBezTo>
                      <a:pt x="22479" y="7156"/>
                      <a:pt x="32210" y="17406"/>
                      <a:pt x="32210" y="60470"/>
                    </a:cubicBezTo>
                    <a:lnTo>
                      <a:pt x="32210" y="315811"/>
                    </a:lnTo>
                    <a:cubicBezTo>
                      <a:pt x="32210" y="347599"/>
                      <a:pt x="22985" y="354774"/>
                      <a:pt x="428" y="354774"/>
                    </a:cubicBezTo>
                    <a:lnTo>
                      <a:pt x="428" y="361437"/>
                    </a:lnTo>
                    <a:lnTo>
                      <a:pt x="98361" y="361437"/>
                    </a:lnTo>
                    <a:cubicBezTo>
                      <a:pt x="200388" y="361437"/>
                      <a:pt x="256777" y="349131"/>
                      <a:pt x="256777" y="263504"/>
                    </a:cubicBezTo>
                    <a:cubicBezTo>
                      <a:pt x="256777" y="193778"/>
                      <a:pt x="216801" y="173265"/>
                      <a:pt x="161425" y="169684"/>
                    </a:cubicBezTo>
                    <a:cubicBezTo>
                      <a:pt x="195257" y="168146"/>
                      <a:pt x="230638" y="164553"/>
                      <a:pt x="257301" y="52269"/>
                    </a:cubicBezTo>
                    <a:cubicBezTo>
                      <a:pt x="266533" y="13300"/>
                      <a:pt x="298833" y="8181"/>
                      <a:pt x="312165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33">
                <a:extLst>
                  <a:ext uri="{FF2B5EF4-FFF2-40B4-BE49-F238E27FC236}">
                    <a16:creationId xmlns:a16="http://schemas.microsoft.com/office/drawing/2014/main" id="{111C680B-82C0-B71B-FE23-83B3E2CDCC3D}"/>
                  </a:ext>
                </a:extLst>
              </p:cNvPr>
              <p:cNvSpPr/>
              <p:nvPr/>
            </p:nvSpPr>
            <p:spPr>
              <a:xfrm flipV="1">
                <a:off x="2770871" y="1998301"/>
                <a:ext cx="313786" cy="360956"/>
              </a:xfrm>
              <a:custGeom>
                <a:avLst/>
                <a:gdLst>
                  <a:gd name="connsiteX0" fmla="*/ 314327 w 313786"/>
                  <a:gd name="connsiteY0" fmla="*/ 361438 h 360956"/>
                  <a:gd name="connsiteX1" fmla="*/ 314327 w 313786"/>
                  <a:gd name="connsiteY1" fmla="*/ 271199 h 360956"/>
                  <a:gd name="connsiteX2" fmla="*/ 307671 w 313786"/>
                  <a:gd name="connsiteY2" fmla="*/ 271199 h 360956"/>
                  <a:gd name="connsiteX3" fmla="*/ 212813 w 313786"/>
                  <a:gd name="connsiteY3" fmla="*/ 354776 h 360956"/>
                  <a:gd name="connsiteX4" fmla="*/ 182556 w 313786"/>
                  <a:gd name="connsiteY4" fmla="*/ 354776 h 360956"/>
                  <a:gd name="connsiteX5" fmla="*/ 182556 w 313786"/>
                  <a:gd name="connsiteY5" fmla="*/ 50214 h 360956"/>
                  <a:gd name="connsiteX6" fmla="*/ 219988 w 313786"/>
                  <a:gd name="connsiteY6" fmla="*/ 7151 h 360956"/>
                  <a:gd name="connsiteX7" fmla="*/ 219988 w 313786"/>
                  <a:gd name="connsiteY7" fmla="*/ 482 h 360956"/>
                  <a:gd name="connsiteX8" fmla="*/ 94886 w 313786"/>
                  <a:gd name="connsiteY8" fmla="*/ 482 h 360956"/>
                  <a:gd name="connsiteX9" fmla="*/ 94886 w 313786"/>
                  <a:gd name="connsiteY9" fmla="*/ 7151 h 360956"/>
                  <a:gd name="connsiteX10" fmla="*/ 131799 w 313786"/>
                  <a:gd name="connsiteY10" fmla="*/ 50214 h 360956"/>
                  <a:gd name="connsiteX11" fmla="*/ 131799 w 313786"/>
                  <a:gd name="connsiteY11" fmla="*/ 354776 h 360956"/>
                  <a:gd name="connsiteX12" fmla="*/ 101549 w 313786"/>
                  <a:gd name="connsiteY12" fmla="*/ 354776 h 360956"/>
                  <a:gd name="connsiteX13" fmla="*/ 7209 w 313786"/>
                  <a:gd name="connsiteY13" fmla="*/ 271199 h 360956"/>
                  <a:gd name="connsiteX14" fmla="*/ 541 w 313786"/>
                  <a:gd name="connsiteY14" fmla="*/ 271199 h 360956"/>
                  <a:gd name="connsiteX15" fmla="*/ 541 w 313786"/>
                  <a:gd name="connsiteY15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3786" h="360956">
                    <a:moveTo>
                      <a:pt x="314327" y="361438"/>
                    </a:moveTo>
                    <a:lnTo>
                      <a:pt x="314327" y="271199"/>
                    </a:lnTo>
                    <a:lnTo>
                      <a:pt x="307671" y="271199"/>
                    </a:lnTo>
                    <a:cubicBezTo>
                      <a:pt x="305614" y="353751"/>
                      <a:pt x="219988" y="354776"/>
                      <a:pt x="212813" y="354776"/>
                    </a:cubicBezTo>
                    <a:lnTo>
                      <a:pt x="182556" y="354776"/>
                    </a:lnTo>
                    <a:lnTo>
                      <a:pt x="182556" y="50214"/>
                    </a:lnTo>
                    <a:cubicBezTo>
                      <a:pt x="182556" y="16376"/>
                      <a:pt x="198456" y="7151"/>
                      <a:pt x="219988" y="7151"/>
                    </a:cubicBezTo>
                    <a:lnTo>
                      <a:pt x="219988" y="482"/>
                    </a:lnTo>
                    <a:lnTo>
                      <a:pt x="94886" y="482"/>
                    </a:lnTo>
                    <a:lnTo>
                      <a:pt x="94886" y="7151"/>
                    </a:lnTo>
                    <a:cubicBezTo>
                      <a:pt x="116424" y="7151"/>
                      <a:pt x="131799" y="16376"/>
                      <a:pt x="131799" y="50214"/>
                    </a:cubicBezTo>
                    <a:lnTo>
                      <a:pt x="131799" y="354776"/>
                    </a:lnTo>
                    <a:lnTo>
                      <a:pt x="101549" y="354776"/>
                    </a:lnTo>
                    <a:cubicBezTo>
                      <a:pt x="85649" y="354776"/>
                      <a:pt x="9266" y="353751"/>
                      <a:pt x="7209" y="271199"/>
                    </a:cubicBezTo>
                    <a:lnTo>
                      <a:pt x="541" y="271199"/>
                    </a:lnTo>
                    <a:lnTo>
                      <a:pt x="541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34">
                <a:extLst>
                  <a:ext uri="{FF2B5EF4-FFF2-40B4-BE49-F238E27FC236}">
                    <a16:creationId xmlns:a16="http://schemas.microsoft.com/office/drawing/2014/main" id="{9EFF2A86-EE69-3846-8407-725E8088F3FB}"/>
                  </a:ext>
                </a:extLst>
              </p:cNvPr>
              <p:cNvSpPr/>
              <p:nvPr/>
            </p:nvSpPr>
            <p:spPr>
              <a:xfrm flipV="1">
                <a:off x="3131802" y="1998301"/>
                <a:ext cx="395813" cy="360956"/>
              </a:xfrm>
              <a:custGeom>
                <a:avLst/>
                <a:gdLst>
                  <a:gd name="connsiteX0" fmla="*/ 396450 w 395813"/>
                  <a:gd name="connsiteY0" fmla="*/ 361438 h 360956"/>
                  <a:gd name="connsiteX1" fmla="*/ 396450 w 395813"/>
                  <a:gd name="connsiteY1" fmla="*/ 355288 h 360956"/>
                  <a:gd name="connsiteX2" fmla="*/ 323654 w 395813"/>
                  <a:gd name="connsiteY2" fmla="*/ 233773 h 360956"/>
                  <a:gd name="connsiteX3" fmla="*/ 323654 w 395813"/>
                  <a:gd name="connsiteY3" fmla="*/ 482 h 360956"/>
                  <a:gd name="connsiteX4" fmla="*/ 307248 w 395813"/>
                  <a:gd name="connsiteY4" fmla="*/ 482 h 360956"/>
                  <a:gd name="connsiteX5" fmla="*/ 89332 w 395813"/>
                  <a:gd name="connsiteY5" fmla="*/ 281456 h 360956"/>
                  <a:gd name="connsiteX6" fmla="*/ 89332 w 395813"/>
                  <a:gd name="connsiteY6" fmla="*/ 128665 h 360956"/>
                  <a:gd name="connsiteX7" fmla="*/ 156508 w 395813"/>
                  <a:gd name="connsiteY7" fmla="*/ 7151 h 360956"/>
                  <a:gd name="connsiteX8" fmla="*/ 156508 w 395813"/>
                  <a:gd name="connsiteY8" fmla="*/ 482 h 360956"/>
                  <a:gd name="connsiteX9" fmla="*/ 8324 w 395813"/>
                  <a:gd name="connsiteY9" fmla="*/ 482 h 360956"/>
                  <a:gd name="connsiteX10" fmla="*/ 8324 w 395813"/>
                  <a:gd name="connsiteY10" fmla="*/ 7151 h 360956"/>
                  <a:gd name="connsiteX11" fmla="*/ 82675 w 395813"/>
                  <a:gd name="connsiteY11" fmla="*/ 128665 h 360956"/>
                  <a:gd name="connsiteX12" fmla="*/ 82675 w 395813"/>
                  <a:gd name="connsiteY12" fmla="*/ 289143 h 360956"/>
                  <a:gd name="connsiteX13" fmla="*/ 61650 w 395813"/>
                  <a:gd name="connsiteY13" fmla="*/ 316319 h 360956"/>
                  <a:gd name="connsiteX14" fmla="*/ 636 w 395813"/>
                  <a:gd name="connsiteY14" fmla="*/ 355288 h 360956"/>
                  <a:gd name="connsiteX15" fmla="*/ 636 w 395813"/>
                  <a:gd name="connsiteY15" fmla="*/ 361438 h 360956"/>
                  <a:gd name="connsiteX16" fmla="*/ 95488 w 395813"/>
                  <a:gd name="connsiteY16" fmla="*/ 361438 h 360956"/>
                  <a:gd name="connsiteX17" fmla="*/ 316979 w 395813"/>
                  <a:gd name="connsiteY17" fmla="*/ 75346 h 360956"/>
                  <a:gd name="connsiteX18" fmla="*/ 316979 w 395813"/>
                  <a:gd name="connsiteY18" fmla="*/ 233773 h 360956"/>
                  <a:gd name="connsiteX19" fmla="*/ 249822 w 395813"/>
                  <a:gd name="connsiteY19" fmla="*/ 355288 h 360956"/>
                  <a:gd name="connsiteX20" fmla="*/ 249822 w 395813"/>
                  <a:gd name="connsiteY20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5813" h="360956">
                    <a:moveTo>
                      <a:pt x="396450" y="361438"/>
                    </a:moveTo>
                    <a:lnTo>
                      <a:pt x="396450" y="355288"/>
                    </a:lnTo>
                    <a:cubicBezTo>
                      <a:pt x="322111" y="355288"/>
                      <a:pt x="323654" y="281456"/>
                      <a:pt x="323654" y="233773"/>
                    </a:cubicBezTo>
                    <a:lnTo>
                      <a:pt x="323654" y="482"/>
                    </a:lnTo>
                    <a:lnTo>
                      <a:pt x="307248" y="482"/>
                    </a:lnTo>
                    <a:lnTo>
                      <a:pt x="89332" y="281456"/>
                    </a:lnTo>
                    <a:lnTo>
                      <a:pt x="89332" y="128665"/>
                    </a:lnTo>
                    <a:cubicBezTo>
                      <a:pt x="89332" y="83546"/>
                      <a:pt x="89332" y="7151"/>
                      <a:pt x="156508" y="7151"/>
                    </a:cubicBezTo>
                    <a:lnTo>
                      <a:pt x="156508" y="482"/>
                    </a:lnTo>
                    <a:lnTo>
                      <a:pt x="8324" y="482"/>
                    </a:lnTo>
                    <a:lnTo>
                      <a:pt x="8324" y="7151"/>
                    </a:lnTo>
                    <a:cubicBezTo>
                      <a:pt x="82675" y="7151"/>
                      <a:pt x="82675" y="82515"/>
                      <a:pt x="82675" y="128665"/>
                    </a:cubicBezTo>
                    <a:lnTo>
                      <a:pt x="82675" y="289143"/>
                    </a:lnTo>
                    <a:lnTo>
                      <a:pt x="61650" y="316319"/>
                    </a:lnTo>
                    <a:cubicBezTo>
                      <a:pt x="28837" y="357332"/>
                      <a:pt x="13968" y="354263"/>
                      <a:pt x="636" y="355288"/>
                    </a:cubicBezTo>
                    <a:lnTo>
                      <a:pt x="636" y="361438"/>
                    </a:lnTo>
                    <a:lnTo>
                      <a:pt x="95488" y="361438"/>
                    </a:lnTo>
                    <a:lnTo>
                      <a:pt x="316979" y="75346"/>
                    </a:lnTo>
                    <a:lnTo>
                      <a:pt x="316979" y="233773"/>
                    </a:lnTo>
                    <a:cubicBezTo>
                      <a:pt x="316979" y="281456"/>
                      <a:pt x="317498" y="355288"/>
                      <a:pt x="249822" y="355288"/>
                    </a:cubicBezTo>
                    <a:lnTo>
                      <a:pt x="249822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35">
                <a:extLst>
                  <a:ext uri="{FF2B5EF4-FFF2-40B4-BE49-F238E27FC236}">
                    <a16:creationId xmlns:a16="http://schemas.microsoft.com/office/drawing/2014/main" id="{8309BE2D-6B1B-CB92-5FC8-FBFE0DF96CAA}"/>
                  </a:ext>
                </a:extLst>
              </p:cNvPr>
              <p:cNvSpPr/>
              <p:nvPr/>
            </p:nvSpPr>
            <p:spPr>
              <a:xfrm flipV="1">
                <a:off x="3587578" y="1998299"/>
                <a:ext cx="257892" cy="360956"/>
              </a:xfrm>
              <a:custGeom>
                <a:avLst/>
                <a:gdLst>
                  <a:gd name="connsiteX0" fmla="*/ 258603 w 257892"/>
                  <a:gd name="connsiteY0" fmla="*/ 107086 h 360956"/>
                  <a:gd name="connsiteX1" fmla="*/ 258603 w 257892"/>
                  <a:gd name="connsiteY1" fmla="*/ 440 h 360956"/>
                  <a:gd name="connsiteX2" fmla="*/ 711 w 257892"/>
                  <a:gd name="connsiteY2" fmla="*/ 440 h 360956"/>
                  <a:gd name="connsiteX3" fmla="*/ 711 w 257892"/>
                  <a:gd name="connsiteY3" fmla="*/ 7109 h 360956"/>
                  <a:gd name="connsiteX4" fmla="*/ 28392 w 257892"/>
                  <a:gd name="connsiteY4" fmla="*/ 60429 h 360956"/>
                  <a:gd name="connsiteX5" fmla="*/ 28392 w 257892"/>
                  <a:gd name="connsiteY5" fmla="*/ 306533 h 360956"/>
                  <a:gd name="connsiteX6" fmla="*/ 711 w 257892"/>
                  <a:gd name="connsiteY6" fmla="*/ 354727 h 360956"/>
                  <a:gd name="connsiteX7" fmla="*/ 711 w 257892"/>
                  <a:gd name="connsiteY7" fmla="*/ 361396 h 360956"/>
                  <a:gd name="connsiteX8" fmla="*/ 251946 w 257892"/>
                  <a:gd name="connsiteY8" fmla="*/ 361396 h 360956"/>
                  <a:gd name="connsiteX9" fmla="*/ 251946 w 257892"/>
                  <a:gd name="connsiteY9" fmla="*/ 269101 h 360956"/>
                  <a:gd name="connsiteX10" fmla="*/ 245283 w 257892"/>
                  <a:gd name="connsiteY10" fmla="*/ 269101 h 360956"/>
                  <a:gd name="connsiteX11" fmla="*/ 108900 w 257892"/>
                  <a:gd name="connsiteY11" fmla="*/ 354727 h 360956"/>
                  <a:gd name="connsiteX12" fmla="*/ 81212 w 257892"/>
                  <a:gd name="connsiteY12" fmla="*/ 354727 h 360956"/>
                  <a:gd name="connsiteX13" fmla="*/ 81212 w 257892"/>
                  <a:gd name="connsiteY13" fmla="*/ 186049 h 360956"/>
                  <a:gd name="connsiteX14" fmla="*/ 114531 w 257892"/>
                  <a:gd name="connsiteY14" fmla="*/ 186049 h 360956"/>
                  <a:gd name="connsiteX15" fmla="*/ 185295 w 257892"/>
                  <a:gd name="connsiteY15" fmla="*/ 237831 h 360956"/>
                  <a:gd name="connsiteX16" fmla="*/ 191951 w 257892"/>
                  <a:gd name="connsiteY16" fmla="*/ 237831 h 360956"/>
                  <a:gd name="connsiteX17" fmla="*/ 191951 w 257892"/>
                  <a:gd name="connsiteY17" fmla="*/ 127592 h 360956"/>
                  <a:gd name="connsiteX18" fmla="*/ 185295 w 257892"/>
                  <a:gd name="connsiteY18" fmla="*/ 127592 h 360956"/>
                  <a:gd name="connsiteX19" fmla="*/ 114531 w 257892"/>
                  <a:gd name="connsiteY19" fmla="*/ 179380 h 360956"/>
                  <a:gd name="connsiteX20" fmla="*/ 81212 w 257892"/>
                  <a:gd name="connsiteY20" fmla="*/ 179380 h 360956"/>
                  <a:gd name="connsiteX21" fmla="*/ 81212 w 257892"/>
                  <a:gd name="connsiteY21" fmla="*/ 7109 h 360956"/>
                  <a:gd name="connsiteX22" fmla="*/ 104787 w 257892"/>
                  <a:gd name="connsiteY22" fmla="*/ 7109 h 360956"/>
                  <a:gd name="connsiteX23" fmla="*/ 251946 w 257892"/>
                  <a:gd name="connsiteY23" fmla="*/ 10708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7892" h="360956">
                    <a:moveTo>
                      <a:pt x="258603" y="107086"/>
                    </a:moveTo>
                    <a:lnTo>
                      <a:pt x="258603" y="440"/>
                    </a:lnTo>
                    <a:lnTo>
                      <a:pt x="711" y="440"/>
                    </a:lnTo>
                    <a:lnTo>
                      <a:pt x="711" y="7109"/>
                    </a:lnTo>
                    <a:cubicBezTo>
                      <a:pt x="22242" y="7109"/>
                      <a:pt x="28392" y="25559"/>
                      <a:pt x="28392" y="60429"/>
                    </a:cubicBezTo>
                    <a:lnTo>
                      <a:pt x="28392" y="306533"/>
                    </a:lnTo>
                    <a:cubicBezTo>
                      <a:pt x="28392" y="338327"/>
                      <a:pt x="23267" y="354727"/>
                      <a:pt x="711" y="354727"/>
                    </a:cubicBezTo>
                    <a:lnTo>
                      <a:pt x="711" y="361396"/>
                    </a:lnTo>
                    <a:lnTo>
                      <a:pt x="251946" y="361396"/>
                    </a:lnTo>
                    <a:lnTo>
                      <a:pt x="251946" y="269101"/>
                    </a:lnTo>
                    <a:lnTo>
                      <a:pt x="245283" y="269101"/>
                    </a:lnTo>
                    <a:cubicBezTo>
                      <a:pt x="239121" y="353702"/>
                      <a:pt x="150426" y="354727"/>
                      <a:pt x="108900" y="354727"/>
                    </a:cubicBezTo>
                    <a:lnTo>
                      <a:pt x="81212" y="354727"/>
                    </a:lnTo>
                    <a:lnTo>
                      <a:pt x="81212" y="186049"/>
                    </a:lnTo>
                    <a:lnTo>
                      <a:pt x="114531" y="186049"/>
                    </a:lnTo>
                    <a:cubicBezTo>
                      <a:pt x="128375" y="186049"/>
                      <a:pt x="182726" y="186049"/>
                      <a:pt x="185295" y="237831"/>
                    </a:cubicBezTo>
                    <a:lnTo>
                      <a:pt x="191951" y="237831"/>
                    </a:lnTo>
                    <a:lnTo>
                      <a:pt x="191951" y="127592"/>
                    </a:lnTo>
                    <a:lnTo>
                      <a:pt x="185295" y="127592"/>
                    </a:lnTo>
                    <a:cubicBezTo>
                      <a:pt x="182726" y="178862"/>
                      <a:pt x="127344" y="179380"/>
                      <a:pt x="114531" y="179380"/>
                    </a:cubicBezTo>
                    <a:lnTo>
                      <a:pt x="81212" y="179380"/>
                    </a:lnTo>
                    <a:lnTo>
                      <a:pt x="81212" y="7109"/>
                    </a:lnTo>
                    <a:lnTo>
                      <a:pt x="104787" y="7109"/>
                    </a:lnTo>
                    <a:cubicBezTo>
                      <a:pt x="150426" y="7109"/>
                      <a:pt x="241171" y="4540"/>
                      <a:pt x="251946" y="10708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36">
                <a:extLst>
                  <a:ext uri="{FF2B5EF4-FFF2-40B4-BE49-F238E27FC236}">
                    <a16:creationId xmlns:a16="http://schemas.microsoft.com/office/drawing/2014/main" id="{1F40F8FF-9BCE-8ACE-4255-D2620D98DDEC}"/>
                  </a:ext>
                </a:extLst>
              </p:cNvPr>
              <p:cNvSpPr/>
              <p:nvPr/>
            </p:nvSpPr>
            <p:spPr>
              <a:xfrm flipV="1">
                <a:off x="3923379" y="1998303"/>
                <a:ext cx="311730" cy="360956"/>
              </a:xfrm>
              <a:custGeom>
                <a:avLst/>
                <a:gdLst>
                  <a:gd name="connsiteX0" fmla="*/ 98693 w 311730"/>
                  <a:gd name="connsiteY0" fmla="*/ 354774 h 360956"/>
                  <a:gd name="connsiteX1" fmla="*/ 82792 w 311730"/>
                  <a:gd name="connsiteY1" fmla="*/ 354774 h 360956"/>
                  <a:gd name="connsiteX2" fmla="*/ 82792 w 311730"/>
                  <a:gd name="connsiteY2" fmla="*/ 172759 h 360956"/>
                  <a:gd name="connsiteX3" fmla="*/ 98693 w 311730"/>
                  <a:gd name="connsiteY3" fmla="*/ 172759 h 360956"/>
                  <a:gd name="connsiteX4" fmla="*/ 200719 w 311730"/>
                  <a:gd name="connsiteY4" fmla="*/ 263504 h 360956"/>
                  <a:gd name="connsiteX5" fmla="*/ 98693 w 311730"/>
                  <a:gd name="connsiteY5" fmla="*/ 354774 h 360956"/>
                  <a:gd name="connsiteX6" fmla="*/ 312490 w 311730"/>
                  <a:gd name="connsiteY6" fmla="*/ 481 h 360956"/>
                  <a:gd name="connsiteX7" fmla="*/ 273527 w 311730"/>
                  <a:gd name="connsiteY7" fmla="*/ 481 h 360956"/>
                  <a:gd name="connsiteX8" fmla="*/ 186363 w 311730"/>
                  <a:gd name="connsiteY8" fmla="*/ 112258 h 360956"/>
                  <a:gd name="connsiteX9" fmla="*/ 106893 w 311730"/>
                  <a:gd name="connsiteY9" fmla="*/ 166090 h 360956"/>
                  <a:gd name="connsiteX10" fmla="*/ 82792 w 311730"/>
                  <a:gd name="connsiteY10" fmla="*/ 166090 h 360956"/>
                  <a:gd name="connsiteX11" fmla="*/ 82792 w 311730"/>
                  <a:gd name="connsiteY11" fmla="*/ 53807 h 360956"/>
                  <a:gd name="connsiteX12" fmla="*/ 115612 w 311730"/>
                  <a:gd name="connsiteY12" fmla="*/ 7156 h 360956"/>
                  <a:gd name="connsiteX13" fmla="*/ 115612 w 311730"/>
                  <a:gd name="connsiteY13" fmla="*/ 481 h 360956"/>
                  <a:gd name="connsiteX14" fmla="*/ 760 w 311730"/>
                  <a:gd name="connsiteY14" fmla="*/ 481 h 360956"/>
                  <a:gd name="connsiteX15" fmla="*/ 760 w 311730"/>
                  <a:gd name="connsiteY15" fmla="*/ 7156 h 360956"/>
                  <a:gd name="connsiteX16" fmla="*/ 32548 w 311730"/>
                  <a:gd name="connsiteY16" fmla="*/ 60470 h 360956"/>
                  <a:gd name="connsiteX17" fmla="*/ 32548 w 311730"/>
                  <a:gd name="connsiteY17" fmla="*/ 315811 h 360956"/>
                  <a:gd name="connsiteX18" fmla="*/ 760 w 311730"/>
                  <a:gd name="connsiteY18" fmla="*/ 354774 h 360956"/>
                  <a:gd name="connsiteX19" fmla="*/ 760 w 311730"/>
                  <a:gd name="connsiteY19" fmla="*/ 361437 h 360956"/>
                  <a:gd name="connsiteX20" fmla="*/ 98693 w 311730"/>
                  <a:gd name="connsiteY20" fmla="*/ 361437 h 360956"/>
                  <a:gd name="connsiteX21" fmla="*/ 257120 w 311730"/>
                  <a:gd name="connsiteY21" fmla="*/ 263504 h 360956"/>
                  <a:gd name="connsiteX22" fmla="*/ 161756 w 311730"/>
                  <a:gd name="connsiteY22" fmla="*/ 169684 h 360956"/>
                  <a:gd name="connsiteX23" fmla="*/ 257627 w 311730"/>
                  <a:gd name="connsiteY23" fmla="*/ 52269 h 360956"/>
                  <a:gd name="connsiteX24" fmla="*/ 312490 w 311730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0" h="360956">
                    <a:moveTo>
                      <a:pt x="98693" y="354774"/>
                    </a:moveTo>
                    <a:lnTo>
                      <a:pt x="82792" y="354774"/>
                    </a:lnTo>
                    <a:lnTo>
                      <a:pt x="82792" y="172759"/>
                    </a:lnTo>
                    <a:lnTo>
                      <a:pt x="98693" y="172759"/>
                    </a:lnTo>
                    <a:cubicBezTo>
                      <a:pt x="156625" y="172759"/>
                      <a:pt x="200719" y="172252"/>
                      <a:pt x="200719" y="263504"/>
                    </a:cubicBezTo>
                    <a:cubicBezTo>
                      <a:pt x="200719" y="356831"/>
                      <a:pt x="153550" y="354774"/>
                      <a:pt x="98693" y="354774"/>
                    </a:cubicBezTo>
                    <a:moveTo>
                      <a:pt x="312490" y="481"/>
                    </a:moveTo>
                    <a:lnTo>
                      <a:pt x="273527" y="481"/>
                    </a:lnTo>
                    <a:cubicBezTo>
                      <a:pt x="207901" y="481"/>
                      <a:pt x="215594" y="994"/>
                      <a:pt x="186363" y="112258"/>
                    </a:cubicBezTo>
                    <a:cubicBezTo>
                      <a:pt x="172012" y="166090"/>
                      <a:pt x="120224" y="166090"/>
                      <a:pt x="106893" y="166090"/>
                    </a:cubicBezTo>
                    <a:lnTo>
                      <a:pt x="82792" y="166090"/>
                    </a:lnTo>
                    <a:lnTo>
                      <a:pt x="82792" y="53807"/>
                    </a:lnTo>
                    <a:cubicBezTo>
                      <a:pt x="82792" y="18431"/>
                      <a:pt x="94068" y="7156"/>
                      <a:pt x="115612" y="7156"/>
                    </a:cubicBezTo>
                    <a:lnTo>
                      <a:pt x="115612" y="481"/>
                    </a:lnTo>
                    <a:lnTo>
                      <a:pt x="760" y="481"/>
                    </a:lnTo>
                    <a:lnTo>
                      <a:pt x="760" y="7156"/>
                    </a:lnTo>
                    <a:cubicBezTo>
                      <a:pt x="22804" y="7156"/>
                      <a:pt x="32548" y="17406"/>
                      <a:pt x="32548" y="60470"/>
                    </a:cubicBezTo>
                    <a:lnTo>
                      <a:pt x="32548" y="315811"/>
                    </a:lnTo>
                    <a:cubicBezTo>
                      <a:pt x="32548" y="347599"/>
                      <a:pt x="23316" y="354774"/>
                      <a:pt x="760" y="354774"/>
                    </a:cubicBezTo>
                    <a:lnTo>
                      <a:pt x="760" y="361437"/>
                    </a:lnTo>
                    <a:lnTo>
                      <a:pt x="98693" y="361437"/>
                    </a:lnTo>
                    <a:cubicBezTo>
                      <a:pt x="200719" y="361437"/>
                      <a:pt x="257120" y="349131"/>
                      <a:pt x="257120" y="263504"/>
                    </a:cubicBezTo>
                    <a:cubicBezTo>
                      <a:pt x="257120" y="193778"/>
                      <a:pt x="217126" y="173265"/>
                      <a:pt x="161756" y="169684"/>
                    </a:cubicBezTo>
                    <a:cubicBezTo>
                      <a:pt x="195588" y="168146"/>
                      <a:pt x="230964" y="164553"/>
                      <a:pt x="257627" y="52269"/>
                    </a:cubicBezTo>
                    <a:cubicBezTo>
                      <a:pt x="266870" y="13300"/>
                      <a:pt x="299159" y="8181"/>
                      <a:pt x="312490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37">
                <a:extLst>
                  <a:ext uri="{FF2B5EF4-FFF2-40B4-BE49-F238E27FC236}">
                    <a16:creationId xmlns:a16="http://schemas.microsoft.com/office/drawing/2014/main" id="{983A0A17-6305-BA2B-F408-C21F938DCB50}"/>
                  </a:ext>
                </a:extLst>
              </p:cNvPr>
              <p:cNvSpPr/>
              <p:nvPr/>
            </p:nvSpPr>
            <p:spPr>
              <a:xfrm flipV="1">
                <a:off x="4285907" y="1993688"/>
                <a:ext cx="242423" cy="370181"/>
              </a:xfrm>
              <a:custGeom>
                <a:avLst/>
                <a:gdLst>
                  <a:gd name="connsiteX0" fmla="*/ 128442 w 242423"/>
                  <a:gd name="connsiteY0" fmla="*/ 422 h 370181"/>
                  <a:gd name="connsiteX1" fmla="*/ 6421 w 242423"/>
                  <a:gd name="connsiteY1" fmla="*/ 29135 h 370181"/>
                  <a:gd name="connsiteX2" fmla="*/ 6421 w 242423"/>
                  <a:gd name="connsiteY2" fmla="*/ 127580 h 370181"/>
                  <a:gd name="connsiteX3" fmla="*/ 12566 w 242423"/>
                  <a:gd name="connsiteY3" fmla="*/ 127580 h 370181"/>
                  <a:gd name="connsiteX4" fmla="*/ 128442 w 242423"/>
                  <a:gd name="connsiteY4" fmla="*/ 7084 h 370181"/>
                  <a:gd name="connsiteX5" fmla="*/ 156649 w 242423"/>
                  <a:gd name="connsiteY5" fmla="*/ 136293 h 370181"/>
                  <a:gd name="connsiteX6" fmla="*/ 71535 w 242423"/>
                  <a:gd name="connsiteY6" fmla="*/ 191150 h 370181"/>
                  <a:gd name="connsiteX7" fmla="*/ 15647 w 242423"/>
                  <a:gd name="connsiteY7" fmla="*/ 330615 h 370181"/>
                  <a:gd name="connsiteX8" fmla="*/ 112030 w 242423"/>
                  <a:gd name="connsiteY8" fmla="*/ 370603 h 370181"/>
                  <a:gd name="connsiteX9" fmla="*/ 229444 w 242423"/>
                  <a:gd name="connsiteY9" fmla="*/ 346503 h 370181"/>
                  <a:gd name="connsiteX10" fmla="*/ 229444 w 242423"/>
                  <a:gd name="connsiteY10" fmla="*/ 260370 h 370181"/>
                  <a:gd name="connsiteX11" fmla="*/ 222275 w 242423"/>
                  <a:gd name="connsiteY11" fmla="*/ 260370 h 370181"/>
                  <a:gd name="connsiteX12" fmla="*/ 112030 w 242423"/>
                  <a:gd name="connsiteY12" fmla="*/ 363934 h 370181"/>
                  <a:gd name="connsiteX13" fmla="*/ 92042 w 242423"/>
                  <a:gd name="connsiteY13" fmla="*/ 242426 h 370181"/>
                  <a:gd name="connsiteX14" fmla="*/ 176637 w 242423"/>
                  <a:gd name="connsiteY14" fmla="*/ 186537 h 370181"/>
                  <a:gd name="connsiteX15" fmla="*/ 229969 w 242423"/>
                  <a:gd name="connsiteY15" fmla="*/ 42466 h 370181"/>
                  <a:gd name="connsiteX16" fmla="*/ 128442 w 242423"/>
                  <a:gd name="connsiteY16" fmla="*/ 422 h 37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2423" h="370181">
                    <a:moveTo>
                      <a:pt x="128442" y="422"/>
                    </a:moveTo>
                    <a:cubicBezTo>
                      <a:pt x="44872" y="422"/>
                      <a:pt x="6421" y="29135"/>
                      <a:pt x="6421" y="29135"/>
                    </a:cubicBezTo>
                    <a:lnTo>
                      <a:pt x="6421" y="127580"/>
                    </a:lnTo>
                    <a:lnTo>
                      <a:pt x="12566" y="127580"/>
                    </a:lnTo>
                    <a:cubicBezTo>
                      <a:pt x="18209" y="65023"/>
                      <a:pt x="41285" y="7084"/>
                      <a:pt x="128442" y="7084"/>
                    </a:cubicBezTo>
                    <a:cubicBezTo>
                      <a:pt x="206381" y="7084"/>
                      <a:pt x="216637" y="93736"/>
                      <a:pt x="156649" y="136293"/>
                    </a:cubicBezTo>
                    <a:lnTo>
                      <a:pt x="71535" y="191150"/>
                    </a:lnTo>
                    <a:cubicBezTo>
                      <a:pt x="22822" y="223450"/>
                      <a:pt x="-23829" y="270114"/>
                      <a:pt x="15647" y="330615"/>
                    </a:cubicBezTo>
                    <a:cubicBezTo>
                      <a:pt x="15647" y="330615"/>
                      <a:pt x="40766" y="370603"/>
                      <a:pt x="112030" y="370603"/>
                    </a:cubicBezTo>
                    <a:cubicBezTo>
                      <a:pt x="186381" y="370603"/>
                      <a:pt x="229444" y="346503"/>
                      <a:pt x="229444" y="346503"/>
                    </a:cubicBezTo>
                    <a:lnTo>
                      <a:pt x="229444" y="260370"/>
                    </a:lnTo>
                    <a:lnTo>
                      <a:pt x="222275" y="260370"/>
                    </a:lnTo>
                    <a:cubicBezTo>
                      <a:pt x="217656" y="310614"/>
                      <a:pt x="197662" y="363934"/>
                      <a:pt x="112030" y="363934"/>
                    </a:cubicBezTo>
                    <a:cubicBezTo>
                      <a:pt x="56666" y="363934"/>
                      <a:pt x="14622" y="292670"/>
                      <a:pt x="92042" y="242426"/>
                    </a:cubicBezTo>
                    <a:lnTo>
                      <a:pt x="176637" y="186537"/>
                    </a:lnTo>
                    <a:cubicBezTo>
                      <a:pt x="245344" y="141424"/>
                      <a:pt x="256620" y="84504"/>
                      <a:pt x="229969" y="42466"/>
                    </a:cubicBezTo>
                    <a:cubicBezTo>
                      <a:pt x="229969" y="42466"/>
                      <a:pt x="207925" y="422"/>
                      <a:pt x="128442" y="422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007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0ACB-6B53-839D-D37D-F9DBABD1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94BAADB-C95F-BDD7-422A-D600009FB4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Investment Highlights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222511-70E9-5E7C-5D28-799DA7C13F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2025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분기 기준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E869C-2CA4-22DE-6FAF-E18AD11FCB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6</a:t>
            </a:fld>
            <a:endParaRPr 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A7DCAF8-D735-BF8D-A3A7-C573CC06024B}"/>
              </a:ext>
            </a:extLst>
          </p:cNvPr>
          <p:cNvGrpSpPr/>
          <p:nvPr/>
        </p:nvGrpSpPr>
        <p:grpSpPr>
          <a:xfrm>
            <a:off x="453000" y="2456975"/>
            <a:ext cx="2880000" cy="1800000"/>
            <a:chOff x="453000" y="2475025"/>
            <a:chExt cx="2880000" cy="1800000"/>
          </a:xfrm>
        </p:grpSpPr>
        <p:sp>
          <p:nvSpPr>
            <p:cNvPr id="12" name="막힌 원호 11">
              <a:extLst>
                <a:ext uri="{FF2B5EF4-FFF2-40B4-BE49-F238E27FC236}">
                  <a16:creationId xmlns:a16="http://schemas.microsoft.com/office/drawing/2014/main" id="{8BA76079-6F35-83E6-4F6B-2B649B073673}"/>
                </a:ext>
              </a:extLst>
            </p:cNvPr>
            <p:cNvSpPr/>
            <p:nvPr/>
          </p:nvSpPr>
          <p:spPr>
            <a:xfrm>
              <a:off x="453000" y="2475025"/>
              <a:ext cx="1800000" cy="1800000"/>
            </a:xfrm>
            <a:prstGeom prst="blockArc">
              <a:avLst>
                <a:gd name="adj1" fmla="val 2764251"/>
                <a:gd name="adj2" fmla="val 19460420"/>
                <a:gd name="adj3" fmla="val 9058"/>
              </a:avLst>
            </a:prstGeom>
            <a:solidFill>
              <a:srgbClr val="E517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>
                <a:solidFill>
                  <a:srgbClr val="3D3D3D"/>
                </a:solidFill>
              </a:endParaRPr>
            </a:p>
          </p:txBody>
        </p:sp>
        <p:sp>
          <p:nvSpPr>
            <p:cNvPr id="13" name="막힌 원호 12">
              <a:extLst>
                <a:ext uri="{FF2B5EF4-FFF2-40B4-BE49-F238E27FC236}">
                  <a16:creationId xmlns:a16="http://schemas.microsoft.com/office/drawing/2014/main" id="{BD205900-754A-DB2B-2824-A614FAC1F3F3}"/>
                </a:ext>
              </a:extLst>
            </p:cNvPr>
            <p:cNvSpPr/>
            <p:nvPr/>
          </p:nvSpPr>
          <p:spPr>
            <a:xfrm flipH="1" flipV="1">
              <a:off x="1533000" y="2475025"/>
              <a:ext cx="1800000" cy="1800000"/>
            </a:xfrm>
            <a:prstGeom prst="blockArc">
              <a:avLst>
                <a:gd name="adj1" fmla="val 2764251"/>
                <a:gd name="adj2" fmla="val 19460420"/>
                <a:gd name="adj3" fmla="val 9058"/>
              </a:avLst>
            </a:prstGeom>
            <a:solidFill>
              <a:srgbClr val="1124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>
                <a:solidFill>
                  <a:srgbClr val="3D3D3D"/>
                </a:solidFill>
              </a:endParaRPr>
            </a:p>
          </p:txBody>
        </p:sp>
        <p:sp>
          <p:nvSpPr>
            <p:cNvPr id="14" name="막힌 원호 13">
              <a:extLst>
                <a:ext uri="{FF2B5EF4-FFF2-40B4-BE49-F238E27FC236}">
                  <a16:creationId xmlns:a16="http://schemas.microsoft.com/office/drawing/2014/main" id="{34D8C5F9-C20C-C615-0F1A-AAC4DF9E4E8A}"/>
                </a:ext>
              </a:extLst>
            </p:cNvPr>
            <p:cNvSpPr/>
            <p:nvPr/>
          </p:nvSpPr>
          <p:spPr>
            <a:xfrm>
              <a:off x="453000" y="2475025"/>
              <a:ext cx="1800000" cy="1800000"/>
            </a:xfrm>
            <a:prstGeom prst="blockArc">
              <a:avLst>
                <a:gd name="adj1" fmla="val 5096530"/>
                <a:gd name="adj2" fmla="val 19460420"/>
                <a:gd name="adj3" fmla="val 9058"/>
              </a:avLst>
            </a:prstGeom>
            <a:solidFill>
              <a:srgbClr val="E517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>
                <a:solidFill>
                  <a:srgbClr val="3D3D3D"/>
                </a:solidFill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FF239F-6AB0-DB7C-3B8B-65CE18636C6B}"/>
              </a:ext>
            </a:extLst>
          </p:cNvPr>
          <p:cNvSpPr/>
          <p:nvPr/>
        </p:nvSpPr>
        <p:spPr>
          <a:xfrm>
            <a:off x="4413000" y="1196975"/>
            <a:ext cx="648000" cy="64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j-lt"/>
                <a:ea typeface="+mj-ea"/>
              </a:rPr>
              <a:t>01</a:t>
            </a:r>
            <a:endParaRPr lang="ko-KR" altLang="en-US" sz="3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CB6C84F-D798-B052-2C86-2852BA3F832D}"/>
              </a:ext>
            </a:extLst>
          </p:cNvPr>
          <p:cNvSpPr/>
          <p:nvPr/>
        </p:nvSpPr>
        <p:spPr>
          <a:xfrm>
            <a:off x="4413000" y="1988975"/>
            <a:ext cx="648000" cy="64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j-lt"/>
                <a:ea typeface="+mj-ea"/>
              </a:rPr>
              <a:t>02</a:t>
            </a:r>
            <a:endParaRPr lang="ko-KR" altLang="en-US" sz="3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FA961E-6729-3E98-12E1-FDBE6052FAC0}"/>
              </a:ext>
            </a:extLst>
          </p:cNvPr>
          <p:cNvSpPr/>
          <p:nvPr/>
        </p:nvSpPr>
        <p:spPr>
          <a:xfrm>
            <a:off x="4413000" y="2780975"/>
            <a:ext cx="648000" cy="64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ko-KR" altLang="en-US" sz="3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D85B6B9-5882-C21D-3426-689DD399EAE2}"/>
              </a:ext>
            </a:extLst>
          </p:cNvPr>
          <p:cNvSpPr/>
          <p:nvPr/>
        </p:nvSpPr>
        <p:spPr>
          <a:xfrm>
            <a:off x="4413000" y="3572975"/>
            <a:ext cx="648000" cy="64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j-lt"/>
                <a:ea typeface="+mj-ea"/>
              </a:rPr>
              <a:t>04</a:t>
            </a:r>
            <a:endParaRPr lang="ko-KR" altLang="en-US" sz="3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F43A2E3-EEE4-4E74-32CB-6E1280C38628}"/>
              </a:ext>
            </a:extLst>
          </p:cNvPr>
          <p:cNvSpPr/>
          <p:nvPr/>
        </p:nvSpPr>
        <p:spPr>
          <a:xfrm>
            <a:off x="4413000" y="4364975"/>
            <a:ext cx="648000" cy="64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j-lt"/>
                <a:ea typeface="+mj-ea"/>
              </a:rPr>
              <a:t>05</a:t>
            </a:r>
            <a:endParaRPr lang="ko-KR" altLang="en-US" sz="3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C8BF36-9C7A-FA68-2884-742A8312500B}"/>
              </a:ext>
            </a:extLst>
          </p:cNvPr>
          <p:cNvSpPr txBox="1"/>
          <p:nvPr/>
        </p:nvSpPr>
        <p:spPr>
          <a:xfrm>
            <a:off x="5133000" y="1996446"/>
            <a:ext cx="4320000" cy="633058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lang="ko-KR" altLang="en-US" sz="1200" b="1" dirty="0">
                <a:solidFill>
                  <a:srgbClr val="11244A"/>
                </a:solidFill>
              </a:rPr>
              <a:t>진화하는 성인교육 시장의 새로운 시장 선도업체</a:t>
            </a: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성인교육 시장 내 </a:t>
            </a:r>
            <a:r>
              <a:rPr lang="en-US" altLang="ko-KR" sz="1000" spc="-30" dirty="0">
                <a:solidFill>
                  <a:srgbClr val="3D3D3D"/>
                </a:solidFill>
              </a:rPr>
              <a:t>N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잡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부업 중심의 </a:t>
            </a:r>
            <a:r>
              <a:rPr lang="en-US" altLang="ko-KR" sz="1000" spc="-30" dirty="0">
                <a:solidFill>
                  <a:srgbClr val="3D3D3D"/>
                </a:solidFill>
              </a:rPr>
              <a:t>Skill-to-Earn </a:t>
            </a:r>
            <a:r>
              <a:rPr lang="ko-KR" altLang="en-US" sz="1000" spc="-30" dirty="0">
                <a:solidFill>
                  <a:srgbClr val="3D3D3D"/>
                </a:solidFill>
              </a:rPr>
              <a:t>패러다임을 주도하는 선도업체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altLang="ko-KR" sz="1000" spc="-30" dirty="0">
                <a:solidFill>
                  <a:srgbClr val="3D3D3D"/>
                </a:solidFill>
              </a:rPr>
              <a:t>2024</a:t>
            </a:r>
            <a:r>
              <a:rPr lang="ko-KR" altLang="en-US" sz="1000" spc="-30" dirty="0">
                <a:solidFill>
                  <a:srgbClr val="3D3D3D"/>
                </a:solidFill>
              </a:rPr>
              <a:t>년 런칭 후 단기간 내 분기 매출 </a:t>
            </a:r>
            <a:r>
              <a:rPr lang="en-US" altLang="ko-KR" sz="1000" spc="-30" dirty="0">
                <a:solidFill>
                  <a:srgbClr val="3D3D3D"/>
                </a:solidFill>
              </a:rPr>
              <a:t>162</a:t>
            </a:r>
            <a:r>
              <a:rPr lang="ko-KR" altLang="en-US" sz="1000" spc="-30" dirty="0">
                <a:solidFill>
                  <a:srgbClr val="3D3D3D"/>
                </a:solidFill>
              </a:rPr>
              <a:t>억원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수강생 </a:t>
            </a:r>
            <a:r>
              <a:rPr lang="en-US" altLang="ko-KR" sz="1000" spc="-30" dirty="0">
                <a:solidFill>
                  <a:srgbClr val="3D3D3D"/>
                </a:solidFill>
              </a:rPr>
              <a:t>57</a:t>
            </a:r>
            <a:r>
              <a:rPr lang="ko-KR" altLang="en-US" sz="1000" spc="-30" dirty="0">
                <a:solidFill>
                  <a:srgbClr val="3D3D3D"/>
                </a:solidFill>
              </a:rPr>
              <a:t>백여명</a:t>
            </a:r>
            <a:r>
              <a:rPr lang="en-US" altLang="ko-KR" sz="1000" spc="-30" baseline="30000" dirty="0">
                <a:solidFill>
                  <a:srgbClr val="3D3D3D"/>
                </a:solidFill>
              </a:rPr>
              <a:t>(1)</a:t>
            </a:r>
            <a:r>
              <a:rPr lang="ko-KR" altLang="en-US" sz="1000" spc="-30" dirty="0">
                <a:solidFill>
                  <a:srgbClr val="3D3D3D"/>
                </a:solidFill>
              </a:rPr>
              <a:t>의 고성장 기록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B75B32-191A-526D-8F02-E64FBD775CEF}"/>
              </a:ext>
            </a:extLst>
          </p:cNvPr>
          <p:cNvSpPr txBox="1"/>
          <p:nvPr/>
        </p:nvSpPr>
        <p:spPr>
          <a:xfrm>
            <a:off x="5133000" y="1204446"/>
            <a:ext cx="4320000" cy="633058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lang="ko-KR" altLang="en-US" sz="1200" b="1" dirty="0">
                <a:solidFill>
                  <a:srgbClr val="11244A"/>
                </a:solidFill>
              </a:rPr>
              <a:t>부업 </a:t>
            </a:r>
            <a:r>
              <a:rPr lang="en-US" altLang="ko-KR" sz="1200" b="1" dirty="0">
                <a:solidFill>
                  <a:srgbClr val="11244A"/>
                </a:solidFill>
              </a:rPr>
              <a:t>· N</a:t>
            </a:r>
            <a:r>
              <a:rPr lang="ko-KR" altLang="en-US" sz="1200" b="1" dirty="0" err="1">
                <a:solidFill>
                  <a:srgbClr val="11244A"/>
                </a:solidFill>
              </a:rPr>
              <a:t>잡</a:t>
            </a:r>
            <a:r>
              <a:rPr lang="ko-KR" altLang="en-US" sz="1200" b="1" dirty="0">
                <a:solidFill>
                  <a:srgbClr val="11244A"/>
                </a:solidFill>
              </a:rPr>
              <a:t> 중심의 성인교육 시장 내 패러다임 전환</a:t>
            </a:r>
            <a:endParaRPr lang="en-US" altLang="ko-KR" sz="1200" b="1" dirty="0">
              <a:solidFill>
                <a:srgbClr val="11244A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경기 불확실성과 물가 상승에 따른 가계 소득 정체 해소를 위한 </a:t>
            </a:r>
            <a:r>
              <a:rPr lang="en-US" altLang="ko-KR" sz="1000" spc="-30" dirty="0">
                <a:solidFill>
                  <a:srgbClr val="3D3D3D"/>
                </a:solidFill>
              </a:rPr>
              <a:t>N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잡</a:t>
            </a:r>
            <a:r>
              <a:rPr lang="ko-KR" altLang="en-US" sz="1000" spc="-30" dirty="0">
                <a:solidFill>
                  <a:srgbClr val="3D3D3D"/>
                </a:solidFill>
              </a:rPr>
              <a:t> 트렌드 확산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성인교육 시장 또한 학업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자기계발 영역에서 </a:t>
            </a:r>
            <a:r>
              <a:rPr lang="en-US" altLang="ko-KR" sz="1000" spc="-30" dirty="0">
                <a:solidFill>
                  <a:srgbClr val="3D3D3D"/>
                </a:solidFill>
              </a:rPr>
              <a:t>Skill-to-Earn </a:t>
            </a:r>
            <a:r>
              <a:rPr lang="ko-KR" altLang="en-US" sz="1000" spc="-30" dirty="0">
                <a:solidFill>
                  <a:srgbClr val="3D3D3D"/>
                </a:solidFill>
              </a:rPr>
              <a:t>영역으로 빠르게 전환 중</a:t>
            </a:r>
            <a:endParaRPr lang="ko-KR" altLang="en-US" sz="1000" spc="-50" dirty="0">
              <a:solidFill>
                <a:srgbClr val="3D3D3D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4D4F1-4336-8C4D-CEB1-ADF0599EE64D}"/>
              </a:ext>
            </a:extLst>
          </p:cNvPr>
          <p:cNvSpPr txBox="1"/>
          <p:nvPr/>
        </p:nvSpPr>
        <p:spPr>
          <a:xfrm>
            <a:off x="5133000" y="2788446"/>
            <a:ext cx="4320000" cy="633058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lang="ko-KR" altLang="en-US" sz="1200" b="1" dirty="0">
                <a:solidFill>
                  <a:srgbClr val="11244A"/>
                </a:solidFill>
              </a:rPr>
              <a:t>압도적 수익화 성과로 검증된 세일즈 </a:t>
            </a:r>
            <a:r>
              <a:rPr lang="ko-KR" altLang="en-US" sz="1200" b="1" dirty="0" err="1">
                <a:solidFill>
                  <a:srgbClr val="11244A"/>
                </a:solidFill>
              </a:rPr>
              <a:t>퍼널</a:t>
            </a:r>
            <a:endParaRPr lang="ko-KR" altLang="en-US" sz="1200" b="1" dirty="0">
              <a:solidFill>
                <a:srgbClr val="11244A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 err="1">
                <a:solidFill>
                  <a:srgbClr val="3D3D3D"/>
                </a:solidFill>
              </a:rPr>
              <a:t>온드미디어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밀착케어</a:t>
            </a:r>
            <a:r>
              <a:rPr lang="ko-KR" altLang="en-US" sz="1000" spc="-30" dirty="0">
                <a:solidFill>
                  <a:srgbClr val="3D3D3D"/>
                </a:solidFill>
              </a:rPr>
              <a:t> 시스템을 결합한 체계적 세일즈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퍼널을</a:t>
            </a:r>
            <a:r>
              <a:rPr lang="ko-KR" altLang="en-US" sz="1000" spc="-30" dirty="0">
                <a:solidFill>
                  <a:srgbClr val="3D3D3D"/>
                </a:solidFill>
              </a:rPr>
              <a:t> 통한 효율적 고객 유입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클릭 후 무료강의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전환율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19% · </a:t>
            </a:r>
            <a:r>
              <a:rPr lang="ko-KR" altLang="en-US" sz="1000" spc="-30" dirty="0">
                <a:solidFill>
                  <a:srgbClr val="3D3D3D"/>
                </a:solidFill>
              </a:rPr>
              <a:t>무료 </a:t>
            </a:r>
            <a:r>
              <a:rPr lang="en-US" altLang="ko-KR" sz="1000" spc="-30" dirty="0">
                <a:solidFill>
                  <a:srgbClr val="3D3D3D"/>
                </a:solidFill>
              </a:rPr>
              <a:t>- </a:t>
            </a:r>
            <a:r>
              <a:rPr lang="ko-KR" altLang="en-US" sz="1000" spc="-30" dirty="0">
                <a:solidFill>
                  <a:srgbClr val="3D3D3D"/>
                </a:solidFill>
              </a:rPr>
              <a:t>유료강의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전환율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9%</a:t>
            </a:r>
            <a:r>
              <a:rPr lang="ko-KR" altLang="en-US" sz="1000" spc="-30" dirty="0">
                <a:solidFill>
                  <a:srgbClr val="3D3D3D"/>
                </a:solidFill>
              </a:rPr>
              <a:t>의 독보적 수익화 성과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F87040-3CD5-064C-D4EC-4F893B68F6A6}"/>
              </a:ext>
            </a:extLst>
          </p:cNvPr>
          <p:cNvSpPr txBox="1"/>
          <p:nvPr/>
        </p:nvSpPr>
        <p:spPr>
          <a:xfrm>
            <a:off x="5133000" y="3580446"/>
            <a:ext cx="4320000" cy="633058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lang="ko-KR" altLang="en-US" sz="1200" b="1" dirty="0">
                <a:solidFill>
                  <a:srgbClr val="11244A"/>
                </a:solidFill>
              </a:rPr>
              <a:t>효율적 사업모델 기반 우수한 현금흐름 창출능력</a:t>
            </a:r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강사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리쿠르팅부터</a:t>
            </a:r>
            <a:r>
              <a:rPr lang="ko-KR" altLang="en-US" sz="1000" spc="-30" dirty="0">
                <a:solidFill>
                  <a:srgbClr val="3D3D3D"/>
                </a:solidFill>
              </a:rPr>
              <a:t> 마케팅까지 모두 내재화한 </a:t>
            </a:r>
            <a:r>
              <a:rPr lang="en-US" altLang="ko-KR" sz="1000" spc="-30" dirty="0">
                <a:solidFill>
                  <a:srgbClr val="3D3D3D"/>
                </a:solidFill>
              </a:rPr>
              <a:t>Capital &amp; Cost-Light </a:t>
            </a:r>
            <a:r>
              <a:rPr lang="ko-KR" altLang="en-US" sz="1000" spc="-30" dirty="0">
                <a:solidFill>
                  <a:srgbClr val="3D3D3D"/>
                </a:solidFill>
              </a:rPr>
              <a:t>사업구조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en-US" altLang="ko-KR" sz="1000" spc="-30" dirty="0">
                <a:solidFill>
                  <a:srgbClr val="3D3D3D"/>
                </a:solidFill>
              </a:rPr>
              <a:t>2025</a:t>
            </a:r>
            <a:r>
              <a:rPr lang="ko-KR" altLang="en-US" sz="1000" spc="-30" dirty="0">
                <a:solidFill>
                  <a:srgbClr val="3D3D3D"/>
                </a:solidFill>
              </a:rPr>
              <a:t>년 상반기 </a:t>
            </a:r>
            <a:r>
              <a:rPr lang="en-US" altLang="ko-KR" sz="1000" spc="-30" dirty="0">
                <a:solidFill>
                  <a:srgbClr val="3D3D3D"/>
                </a:solidFill>
              </a:rPr>
              <a:t>71%</a:t>
            </a:r>
            <a:r>
              <a:rPr lang="ko-KR" altLang="en-US" sz="1000" spc="-30" dirty="0">
                <a:solidFill>
                  <a:srgbClr val="3D3D3D"/>
                </a:solidFill>
              </a:rPr>
              <a:t>의 높은</a:t>
            </a:r>
            <a:r>
              <a:rPr lang="en-US" altLang="ko-KR" sz="1000" spc="-30" dirty="0">
                <a:solidFill>
                  <a:srgbClr val="3D3D3D"/>
                </a:solidFill>
              </a:rPr>
              <a:t> FCF Conversion </a:t>
            </a:r>
            <a:r>
              <a:rPr lang="ko-KR" altLang="en-US" sz="1000" spc="-30" dirty="0">
                <a:solidFill>
                  <a:srgbClr val="3D3D3D"/>
                </a:solidFill>
              </a:rPr>
              <a:t>기록하여 현금흐름 창출능력 검증</a:t>
            </a: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79DED14F-09CF-FFBD-ED12-F480D629239B}"/>
              </a:ext>
            </a:extLst>
          </p:cNvPr>
          <p:cNvCxnSpPr>
            <a:cxnSpLocks/>
          </p:cNvCxnSpPr>
          <p:nvPr/>
        </p:nvCxnSpPr>
        <p:spPr>
          <a:xfrm flipV="1">
            <a:off x="3441000" y="1556975"/>
            <a:ext cx="864000" cy="1584000"/>
          </a:xfrm>
          <a:prstGeom prst="bentConnector3">
            <a:avLst>
              <a:gd name="adj1" fmla="val 41364"/>
            </a:avLst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B78F64D-5EAE-5709-2E51-11701955D01E}"/>
              </a:ext>
            </a:extLst>
          </p:cNvPr>
          <p:cNvCxnSpPr>
            <a:cxnSpLocks/>
          </p:cNvCxnSpPr>
          <p:nvPr/>
        </p:nvCxnSpPr>
        <p:spPr>
          <a:xfrm flipV="1">
            <a:off x="3441000" y="2456975"/>
            <a:ext cx="864000" cy="792000"/>
          </a:xfrm>
          <a:prstGeom prst="bentConnector3">
            <a:avLst>
              <a:gd name="adj1" fmla="val 58544"/>
            </a:avLst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134326F-0071-92B4-1414-DFDE6FFD37C4}"/>
              </a:ext>
            </a:extLst>
          </p:cNvPr>
          <p:cNvCxnSpPr>
            <a:cxnSpLocks/>
          </p:cNvCxnSpPr>
          <p:nvPr/>
        </p:nvCxnSpPr>
        <p:spPr>
          <a:xfrm>
            <a:off x="3441000" y="3356975"/>
            <a:ext cx="864000" cy="0"/>
          </a:xfrm>
          <a:prstGeom prst="line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44822A06-231F-E967-5910-E08CE0435DA2}"/>
              </a:ext>
            </a:extLst>
          </p:cNvPr>
          <p:cNvCxnSpPr>
            <a:cxnSpLocks/>
          </p:cNvCxnSpPr>
          <p:nvPr/>
        </p:nvCxnSpPr>
        <p:spPr>
          <a:xfrm>
            <a:off x="3441000" y="3464975"/>
            <a:ext cx="864000" cy="792000"/>
          </a:xfrm>
          <a:prstGeom prst="bentConnector3">
            <a:avLst>
              <a:gd name="adj1" fmla="val 58544"/>
            </a:avLst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F1F0AED9-532C-64D2-7F67-81117FFBCFE9}"/>
              </a:ext>
            </a:extLst>
          </p:cNvPr>
          <p:cNvCxnSpPr>
            <a:cxnSpLocks/>
          </p:cNvCxnSpPr>
          <p:nvPr/>
        </p:nvCxnSpPr>
        <p:spPr>
          <a:xfrm>
            <a:off x="3441000" y="3572975"/>
            <a:ext cx="864000" cy="1584000"/>
          </a:xfrm>
          <a:prstGeom prst="bentConnector3">
            <a:avLst>
              <a:gd name="adj1" fmla="val 41364"/>
            </a:avLst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그래픽 4">
            <a:extLst>
              <a:ext uri="{FF2B5EF4-FFF2-40B4-BE49-F238E27FC236}">
                <a16:creationId xmlns:a16="http://schemas.microsoft.com/office/drawing/2014/main" id="{D2FD8DE0-8278-77FA-CC1C-F992A5C4F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28" y="3176975"/>
            <a:ext cx="2081745" cy="360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35B5BCC-D37A-9EE4-318D-E0500EBDE15C}"/>
              </a:ext>
            </a:extLst>
          </p:cNvPr>
          <p:cNvSpPr/>
          <p:nvPr/>
        </p:nvSpPr>
        <p:spPr>
          <a:xfrm>
            <a:off x="4413000" y="5156975"/>
            <a:ext cx="648000" cy="64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j-lt"/>
                <a:ea typeface="+mj-ea"/>
              </a:rPr>
              <a:t>06</a:t>
            </a:r>
            <a:endParaRPr lang="ko-KR" altLang="en-US" sz="3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93DD0-0F94-081E-896B-FC121292F81D}"/>
              </a:ext>
            </a:extLst>
          </p:cNvPr>
          <p:cNvSpPr txBox="1"/>
          <p:nvPr/>
        </p:nvSpPr>
        <p:spPr>
          <a:xfrm>
            <a:off x="5133000" y="5164446"/>
            <a:ext cx="4320000" cy="633058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lang="ko-KR" altLang="en-US" sz="1200" b="1" dirty="0">
                <a:solidFill>
                  <a:srgbClr val="11244A"/>
                </a:solidFill>
              </a:rPr>
              <a:t>글로벌 지식 비즈니스 플랫폼으로의 성장 로드맵</a:t>
            </a:r>
            <a:endParaRPr lang="en-US" altLang="ko-KR" sz="1200" b="1" dirty="0">
              <a:solidFill>
                <a:srgbClr val="11244A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핵심사업 확대와 동반한 구독 서비스 </a:t>
            </a:r>
            <a:r>
              <a:rPr lang="en-US" altLang="ko-KR" sz="1000" spc="-30" dirty="0">
                <a:solidFill>
                  <a:srgbClr val="3D3D3D"/>
                </a:solidFill>
              </a:rPr>
              <a:t>· SI </a:t>
            </a:r>
            <a:r>
              <a:rPr lang="ko-KR" altLang="en-US" sz="1000" spc="-30" dirty="0">
                <a:solidFill>
                  <a:srgbClr val="3D3D3D"/>
                </a:solidFill>
              </a:rPr>
              <a:t>사업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글로벌 진출 통한 중장기 성장 목표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향후 </a:t>
            </a:r>
            <a:r>
              <a:rPr lang="en-US" altLang="ko-KR" sz="1000" spc="-30" dirty="0">
                <a:solidFill>
                  <a:srgbClr val="3D3D3D"/>
                </a:solidFill>
              </a:rPr>
              <a:t>5</a:t>
            </a:r>
            <a:r>
              <a:rPr lang="ko-KR" altLang="en-US" sz="1000" spc="-30" dirty="0">
                <a:solidFill>
                  <a:srgbClr val="3D3D3D"/>
                </a:solidFill>
              </a:rPr>
              <a:t>년 내 매출액 </a:t>
            </a:r>
            <a:r>
              <a:rPr lang="en-US" altLang="ko-KR" sz="1000" spc="-30" dirty="0">
                <a:solidFill>
                  <a:srgbClr val="3D3D3D"/>
                </a:solidFill>
              </a:rPr>
              <a:t>1,346</a:t>
            </a:r>
            <a:r>
              <a:rPr lang="ko-KR" altLang="en-US" sz="1000" spc="-30" dirty="0">
                <a:solidFill>
                  <a:srgbClr val="3D3D3D"/>
                </a:solidFill>
              </a:rPr>
              <a:t>억원 및 </a:t>
            </a:r>
            <a:r>
              <a:rPr lang="en-US" altLang="ko-KR" sz="1000" spc="-30" dirty="0">
                <a:solidFill>
                  <a:srgbClr val="3D3D3D"/>
                </a:solidFill>
              </a:rPr>
              <a:t>EBITDA</a:t>
            </a:r>
            <a:r>
              <a:rPr lang="ko-KR" altLang="en-US" sz="1000" spc="-30" dirty="0">
                <a:solidFill>
                  <a:srgbClr val="3D3D3D"/>
                </a:solidFill>
              </a:rPr>
              <a:t>율 </a:t>
            </a:r>
            <a:r>
              <a:rPr lang="en-US" altLang="ko-KR" sz="1000" spc="-30" dirty="0">
                <a:solidFill>
                  <a:srgbClr val="3D3D3D"/>
                </a:solidFill>
              </a:rPr>
              <a:t>45%</a:t>
            </a:r>
            <a:r>
              <a:rPr lang="ko-KR" altLang="en-US" sz="1000" spc="-30" dirty="0">
                <a:solidFill>
                  <a:srgbClr val="3D3D3D"/>
                </a:solidFill>
              </a:rPr>
              <a:t>의 압도적 성장 계획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B84ED-4F19-ECAD-6C35-5FEF3B318890}"/>
              </a:ext>
            </a:extLst>
          </p:cNvPr>
          <p:cNvSpPr txBox="1"/>
          <p:nvPr/>
        </p:nvSpPr>
        <p:spPr>
          <a:xfrm>
            <a:off x="5133000" y="4372446"/>
            <a:ext cx="4320000" cy="633058"/>
          </a:xfrm>
          <a:prstGeom prst="rect">
            <a:avLst/>
          </a:prstGeom>
          <a:noFill/>
        </p:spPr>
        <p:txBody>
          <a:bodyPr wrap="square" lIns="18000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altLang="ko-KR" sz="1200" b="1" dirty="0">
                <a:solidFill>
                  <a:srgbClr val="11244A"/>
                </a:solidFill>
              </a:rPr>
              <a:t>SI </a:t>
            </a:r>
            <a:r>
              <a:rPr lang="ko-KR" altLang="en-US" sz="1200" b="1" dirty="0">
                <a:solidFill>
                  <a:srgbClr val="11244A"/>
                </a:solidFill>
              </a:rPr>
              <a:t>사업 확장으로</a:t>
            </a:r>
            <a:r>
              <a:rPr lang="en-US" altLang="ko-KR" sz="1200" b="1" dirty="0">
                <a:solidFill>
                  <a:srgbClr val="11244A"/>
                </a:solidFill>
              </a:rPr>
              <a:t> </a:t>
            </a:r>
            <a:r>
              <a:rPr lang="ko-KR" altLang="en-US" sz="1200" b="1" dirty="0">
                <a:solidFill>
                  <a:srgbClr val="11244A"/>
                </a:solidFill>
              </a:rPr>
              <a:t>생태계를 재편하는 </a:t>
            </a:r>
            <a:r>
              <a:rPr lang="en-US" altLang="ko-KR" sz="1200" b="1" dirty="0">
                <a:solidFill>
                  <a:srgbClr val="11244A"/>
                </a:solidFill>
              </a:rPr>
              <a:t>Game Changer</a:t>
            </a:r>
            <a:endParaRPr lang="ko-KR" altLang="en-US" sz="1200" b="1" dirty="0">
              <a:solidFill>
                <a:srgbClr val="11244A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독립적 플랫폼 구축 의향이 높은 크리에이터 대상 지식 비즈니스 플랫폼 </a:t>
            </a:r>
            <a:r>
              <a:rPr lang="en-US" altLang="ko-KR" sz="1000" spc="-30" dirty="0">
                <a:solidFill>
                  <a:srgbClr val="3D3D3D"/>
                </a:solidFill>
              </a:rPr>
              <a:t>SI </a:t>
            </a:r>
            <a:r>
              <a:rPr lang="ko-KR" altLang="en-US" sz="1000" spc="-30" dirty="0">
                <a:solidFill>
                  <a:srgbClr val="3D3D3D"/>
                </a:solidFill>
              </a:rPr>
              <a:t>사업 전개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단순 </a:t>
            </a:r>
            <a:r>
              <a:rPr lang="en-US" altLang="ko-KR" sz="1000" spc="-30" dirty="0">
                <a:solidFill>
                  <a:srgbClr val="3D3D3D"/>
                </a:solidFill>
              </a:rPr>
              <a:t>IT </a:t>
            </a:r>
            <a:r>
              <a:rPr lang="ko-KR" altLang="en-US" sz="1000" spc="-30" dirty="0">
                <a:solidFill>
                  <a:srgbClr val="3D3D3D"/>
                </a:solidFill>
              </a:rPr>
              <a:t>용역이 아닌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마케팅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콘텐츠 노하우 이식을 통한 </a:t>
            </a:r>
            <a:r>
              <a:rPr lang="en-US" altLang="ko-KR" sz="1000" spc="-30" dirty="0">
                <a:solidFill>
                  <a:srgbClr val="3D3D3D"/>
                </a:solidFill>
              </a:rPr>
              <a:t>“Titan-Made” </a:t>
            </a:r>
            <a:r>
              <a:rPr lang="ko-KR" altLang="en-US" sz="1000" spc="-30" dirty="0">
                <a:solidFill>
                  <a:srgbClr val="3D3D3D"/>
                </a:solidFill>
              </a:rPr>
              <a:t>생태계 장악</a:t>
            </a:r>
          </a:p>
        </p:txBody>
      </p:sp>
    </p:spTree>
    <p:extLst>
      <p:ext uri="{BB962C8B-B14F-4D97-AF65-F5344CB8AC3E}">
        <p14:creationId xmlns:p14="http://schemas.microsoft.com/office/powerpoint/2010/main" val="2089493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B281C-536E-6BFB-8521-B25F3BE21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3734EA19-6771-01CC-D61C-18D8C21902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43389" y="2161404"/>
            <a:ext cx="250630" cy="20087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669A3D-51BD-CFF1-4971-ABD6FF78B6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dirty="0"/>
              <a:t>부업 </a:t>
            </a:r>
            <a:r>
              <a:rPr lang="en-US" altLang="ko-KR" dirty="0"/>
              <a:t>· N</a:t>
            </a:r>
            <a:r>
              <a:rPr lang="ko-KR" altLang="en-US" dirty="0" err="1"/>
              <a:t>잡</a:t>
            </a:r>
            <a:r>
              <a:rPr lang="ko-KR" altLang="en-US" dirty="0"/>
              <a:t> 중심의 성인교육 시장 내 패러다임 전환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C99010-89D6-249D-3EC3-6BDE204BED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</a:t>
            </a:r>
            <a:r>
              <a:rPr lang="ko-KR" altLang="en-US" dirty="0"/>
              <a:t> </a:t>
            </a:r>
            <a:r>
              <a:rPr lang="en-US" altLang="ko-KR" dirty="0"/>
              <a:t>(1) </a:t>
            </a:r>
            <a:r>
              <a:rPr lang="ko-KR" altLang="en-US" dirty="0"/>
              <a:t>전년동기 대비 명목</a:t>
            </a:r>
            <a:r>
              <a:rPr lang="en-US" altLang="ko-KR" dirty="0"/>
              <a:t>/</a:t>
            </a:r>
            <a:r>
              <a:rPr lang="ko-KR" altLang="en-US" dirty="0"/>
              <a:t>실직소득 증감률 추이이며</a:t>
            </a:r>
            <a:r>
              <a:rPr lang="en-US" altLang="ko-KR" dirty="0"/>
              <a:t>, </a:t>
            </a:r>
            <a:r>
              <a:rPr lang="ko-KR" altLang="en-US" dirty="0"/>
              <a:t>소비자물가지수는 </a:t>
            </a:r>
            <a:r>
              <a:rPr lang="en-US" altLang="ko-KR" dirty="0"/>
              <a:t>2020</a:t>
            </a:r>
            <a:r>
              <a:rPr lang="ko-KR" altLang="en-US" dirty="0"/>
              <a:t>년 물가를 기준</a:t>
            </a:r>
            <a:r>
              <a:rPr lang="en-US" altLang="ko-KR" dirty="0"/>
              <a:t>(=100)</a:t>
            </a:r>
            <a:r>
              <a:rPr lang="ko-KR" altLang="en-US" dirty="0"/>
              <a:t>으로 산출한 수치임</a:t>
            </a:r>
            <a:r>
              <a:rPr lang="en-US" altLang="ko-KR" dirty="0"/>
              <a:t>; (2) 2024</a:t>
            </a:r>
            <a:r>
              <a:rPr lang="ko-KR" altLang="en-US" dirty="0"/>
              <a:t>년 </a:t>
            </a:r>
            <a:r>
              <a:rPr lang="ko-KR" altLang="en-US" dirty="0" err="1"/>
              <a:t>어퍼니</a:t>
            </a:r>
            <a:r>
              <a:rPr lang="ko-KR" altLang="en-US" dirty="0"/>
              <a:t> </a:t>
            </a:r>
            <a:r>
              <a:rPr lang="ko-KR" altLang="en-US" dirty="0" err="1"/>
              <a:t>머니레터</a:t>
            </a:r>
            <a:r>
              <a:rPr lang="ko-KR" altLang="en-US" dirty="0"/>
              <a:t> 구독자 </a:t>
            </a:r>
            <a:r>
              <a:rPr lang="en-US" altLang="ko-KR" dirty="0"/>
              <a:t>350</a:t>
            </a:r>
            <a:r>
              <a:rPr lang="ko-KR" altLang="en-US" dirty="0"/>
              <a:t>명을 대상으로 한 온라인 설문조사 결과</a:t>
            </a:r>
            <a:r>
              <a:rPr lang="en-US" altLang="ko-KR" dirty="0"/>
              <a:t>. Source:</a:t>
            </a:r>
            <a:r>
              <a:rPr lang="ko-KR" altLang="en-US" dirty="0"/>
              <a:t> 통계청</a:t>
            </a:r>
            <a:r>
              <a:rPr lang="en-US" altLang="ko-KR" dirty="0"/>
              <a:t>, </a:t>
            </a:r>
            <a:r>
              <a:rPr lang="ko-KR" altLang="en-US" dirty="0" err="1"/>
              <a:t>어퍼니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F828D-6564-4179-910E-8582BCE68A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D21286-2864-D945-DE46-8AFF799C8949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01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96D39-81BD-3781-07AE-8F0DF48B27EA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경기 불확실성과 물가 상승으로 가계 소득이 정체되는 가운데 노동인구 다수가 부업을 모색하며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디지털 플랫폼과 </a:t>
            </a:r>
            <a:r>
              <a:rPr lang="en-US" altLang="ko-KR" sz="1400" b="1" dirty="0">
                <a:solidFill>
                  <a:srgbClr val="3D3D3D"/>
                </a:solidFill>
              </a:rPr>
              <a:t>AI </a:t>
            </a:r>
            <a:r>
              <a:rPr lang="ko-KR" altLang="en-US" sz="1400" b="1" dirty="0">
                <a:solidFill>
                  <a:srgbClr val="3D3D3D"/>
                </a:solidFill>
              </a:rPr>
              <a:t>기술의 발전에 힘입어 ‘</a:t>
            </a:r>
            <a:r>
              <a:rPr lang="en-US" altLang="ko-KR" sz="1400" b="1" dirty="0">
                <a:solidFill>
                  <a:srgbClr val="3D3D3D"/>
                </a:solidFill>
              </a:rPr>
              <a:t>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ko-KR" altLang="en-US" sz="1400" b="1" dirty="0">
                <a:solidFill>
                  <a:srgbClr val="3D3D3D"/>
                </a:solidFill>
              </a:rPr>
              <a:t>’ 트렌드가 단순한 유행을 넘어 새로운 패러다임으로 자리잡고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D7BDA5-7285-9F2D-0B48-D516E966B74C}"/>
              </a:ext>
            </a:extLst>
          </p:cNvPr>
          <p:cNvSpPr/>
          <p:nvPr/>
        </p:nvSpPr>
        <p:spPr>
          <a:xfrm>
            <a:off x="6573000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10</a:t>
            </a:r>
            <a:r>
              <a:rPr lang="ko-KR" altLang="en-US" sz="1200" b="1" dirty="0">
                <a:solidFill>
                  <a:schemeClr val="bg1"/>
                </a:solidFill>
              </a:rPr>
              <a:t>명 중 </a:t>
            </a:r>
            <a:r>
              <a:rPr lang="en-US" altLang="ko-KR" sz="1200" b="1" dirty="0">
                <a:solidFill>
                  <a:schemeClr val="bg1"/>
                </a:solidFill>
              </a:rPr>
              <a:t>6</a:t>
            </a:r>
            <a:r>
              <a:rPr lang="ko-KR" altLang="en-US" sz="1200" b="1" dirty="0">
                <a:solidFill>
                  <a:schemeClr val="bg1"/>
                </a:solidFill>
              </a:rPr>
              <a:t>명은 부업 뛰는 </a:t>
            </a:r>
            <a:r>
              <a:rPr lang="en-US" altLang="ko-KR" sz="1200" b="1" dirty="0">
                <a:solidFill>
                  <a:schemeClr val="bg1"/>
                </a:solidFill>
              </a:rPr>
              <a:t>‘N</a:t>
            </a:r>
            <a:r>
              <a:rPr lang="ko-KR" altLang="en-US" sz="1200" b="1" dirty="0" err="1">
                <a:solidFill>
                  <a:schemeClr val="bg1"/>
                </a:solidFill>
              </a:rPr>
              <a:t>잡러</a:t>
            </a:r>
            <a:r>
              <a:rPr lang="en-US" altLang="ko-KR" sz="1200" b="1" dirty="0">
                <a:solidFill>
                  <a:schemeClr val="bg1"/>
                </a:solidFill>
              </a:rPr>
              <a:t>’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(2)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B5656553-3564-C17C-B6D4-BE2C279633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3532"/>
              </p:ext>
            </p:extLst>
          </p:nvPr>
        </p:nvGraphicFramePr>
        <p:xfrm>
          <a:off x="6573000" y="2096213"/>
          <a:ext cx="2880000" cy="1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E6CF45-0FFF-A1FF-970A-C4AF38E8562C}"/>
              </a:ext>
            </a:extLst>
          </p:cNvPr>
          <p:cNvSpPr/>
          <p:nvPr/>
        </p:nvSpPr>
        <p:spPr>
          <a:xfrm>
            <a:off x="8692567" y="2445123"/>
            <a:ext cx="607490" cy="317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3D3D3D"/>
                </a:solidFill>
              </a:rPr>
              <a:t>하고 있음</a:t>
            </a:r>
            <a:endParaRPr lang="en-US" altLang="ko-KR" sz="1100" dirty="0">
              <a:solidFill>
                <a:srgbClr val="3D3D3D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3D3D3D"/>
                </a:solidFill>
              </a:rPr>
              <a:t>30.3%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B173F4-165A-0758-4AC1-67397EBFA8D8}"/>
              </a:ext>
            </a:extLst>
          </p:cNvPr>
          <p:cNvSpPr/>
          <p:nvPr/>
        </p:nvSpPr>
        <p:spPr>
          <a:xfrm>
            <a:off x="8567751" y="3168463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3D3D3D"/>
                </a:solidFill>
              </a:rPr>
              <a:t>시작할 계획</a:t>
            </a:r>
            <a:endParaRPr lang="en-US" altLang="ko-KR" sz="1100" dirty="0">
              <a:solidFill>
                <a:srgbClr val="3D3D3D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3D3D3D"/>
                </a:solidFill>
              </a:rPr>
              <a:t>31.1%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1E3085-B255-9E15-9259-DA8B6ACA61BD}"/>
              </a:ext>
            </a:extLst>
          </p:cNvPr>
          <p:cNvSpPr/>
          <p:nvPr/>
        </p:nvSpPr>
        <p:spPr>
          <a:xfrm>
            <a:off x="6566777" y="2655583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3D3D3D"/>
                </a:solidFill>
              </a:rPr>
              <a:t>아니요</a:t>
            </a:r>
            <a:br>
              <a:rPr lang="en-US" altLang="ko-KR" sz="1100" dirty="0">
                <a:solidFill>
                  <a:srgbClr val="3D3D3D"/>
                </a:solidFill>
              </a:rPr>
            </a:br>
            <a:r>
              <a:rPr lang="en-US" altLang="ko-KR" sz="1100" b="1" dirty="0">
                <a:solidFill>
                  <a:srgbClr val="3D3D3D"/>
                </a:solidFill>
              </a:rPr>
              <a:t>33.1%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1BC0F4-D8D2-3E9E-0C5F-BA25C2C4721C}"/>
              </a:ext>
            </a:extLst>
          </p:cNvPr>
          <p:cNvSpPr/>
          <p:nvPr/>
        </p:nvSpPr>
        <p:spPr>
          <a:xfrm>
            <a:off x="6689881" y="2011209"/>
            <a:ext cx="999280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과거에는 했지만 현재는 하지 않음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5.5%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BB92506-2B2A-847C-8754-C9A3B6AD3A69}"/>
              </a:ext>
            </a:extLst>
          </p:cNvPr>
          <p:cNvCxnSpPr/>
          <p:nvPr/>
        </p:nvCxnSpPr>
        <p:spPr>
          <a:xfrm flipV="1">
            <a:off x="2207173" y="2404241"/>
            <a:ext cx="0" cy="289297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E7D8DAF-DAD7-29CD-512E-52B4BEA56391}"/>
              </a:ext>
            </a:extLst>
          </p:cNvPr>
          <p:cNvCxnSpPr/>
          <p:nvPr/>
        </p:nvCxnSpPr>
        <p:spPr>
          <a:xfrm flipV="1">
            <a:off x="3831020" y="2404241"/>
            <a:ext cx="0" cy="289297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CCCF907-DF14-2613-C84E-EF845095B3CF}"/>
              </a:ext>
            </a:extLst>
          </p:cNvPr>
          <p:cNvCxnSpPr/>
          <p:nvPr/>
        </p:nvCxnSpPr>
        <p:spPr>
          <a:xfrm flipV="1">
            <a:off x="5446985" y="2404241"/>
            <a:ext cx="0" cy="289297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차트 23">
            <a:extLst>
              <a:ext uri="{FF2B5EF4-FFF2-40B4-BE49-F238E27FC236}">
                <a16:creationId xmlns:a16="http://schemas.microsoft.com/office/drawing/2014/main" id="{6CE1A96A-2A65-4CC2-FF6D-A32197401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101821"/>
              </p:ext>
            </p:extLst>
          </p:nvPr>
        </p:nvGraphicFramePr>
        <p:xfrm>
          <a:off x="453000" y="2096975"/>
          <a:ext cx="5940000" cy="36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065BCA-80FE-E3EA-8104-B5B92BD51CE3}"/>
              </a:ext>
            </a:extLst>
          </p:cNvPr>
          <p:cNvSpPr/>
          <p:nvPr/>
        </p:nvSpPr>
        <p:spPr>
          <a:xfrm>
            <a:off x="453000" y="1700213"/>
            <a:ext cx="594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증가하는 소비자물가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감소하는 가구당 월평균 소득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(1)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C2CDBD7-D954-1D14-AA70-AFC390AEB4E0}"/>
              </a:ext>
            </a:extLst>
          </p:cNvPr>
          <p:cNvCxnSpPr/>
          <p:nvPr/>
        </p:nvCxnSpPr>
        <p:spPr>
          <a:xfrm>
            <a:off x="586740" y="5297214"/>
            <a:ext cx="5697280" cy="0"/>
          </a:xfrm>
          <a:prstGeom prst="line">
            <a:avLst/>
          </a:prstGeom>
          <a:ln w="9525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차트 26">
            <a:extLst>
              <a:ext uri="{FF2B5EF4-FFF2-40B4-BE49-F238E27FC236}">
                <a16:creationId xmlns:a16="http://schemas.microsoft.com/office/drawing/2014/main" id="{340A94FF-C9E6-F735-0844-AA876DFE1F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4555286"/>
              </p:ext>
            </p:extLst>
          </p:nvPr>
        </p:nvGraphicFramePr>
        <p:xfrm>
          <a:off x="6573000" y="4148974"/>
          <a:ext cx="2880000" cy="1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CBC69596-1E9D-0D6B-F9F5-DAD5A08393E7}"/>
              </a:ext>
            </a:extLst>
          </p:cNvPr>
          <p:cNvSpPr/>
          <p:nvPr/>
        </p:nvSpPr>
        <p:spPr>
          <a:xfrm>
            <a:off x="6573000" y="3752974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N</a:t>
            </a:r>
            <a:r>
              <a:rPr lang="ko-KR" altLang="en-US" sz="1200" b="1" dirty="0" err="1">
                <a:solidFill>
                  <a:schemeClr val="bg1"/>
                </a:solidFill>
              </a:rPr>
              <a:t>잡</a:t>
            </a:r>
            <a:r>
              <a:rPr lang="ko-KR" altLang="en-US" sz="1200" b="1" dirty="0">
                <a:solidFill>
                  <a:schemeClr val="bg1"/>
                </a:solidFill>
              </a:rPr>
              <a:t> 인구는 지속 상승할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전망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E16A5B0-9DED-C065-74F6-84A957BEF596}"/>
              </a:ext>
            </a:extLst>
          </p:cNvPr>
          <p:cNvSpPr txBox="1">
            <a:spLocks/>
          </p:cNvSpPr>
          <p:nvPr/>
        </p:nvSpPr>
        <p:spPr>
          <a:xfrm>
            <a:off x="8959752" y="5535496"/>
            <a:ext cx="270172" cy="13916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44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3888" indent="-279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938" indent="-273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980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716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—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45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0A1A39"/>
                </a:solidFill>
                <a:latin typeface="+mj-ea"/>
                <a:ea typeface="+mj-ea"/>
              </a:rPr>
              <a:t>·</a:t>
            </a:r>
            <a:r>
              <a:rPr lang="de-DE" altLang="ko-KR" sz="12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0A1A39"/>
                </a:solidFill>
                <a:latin typeface="+mj-ea"/>
              </a:rPr>
              <a:t>··</a:t>
            </a:r>
            <a:endParaRPr lang="de-DE" sz="12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0A1A39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97025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8675-969F-644D-011C-298A0612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39F449-7A18-EA59-CFE7-E599DBC56F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dirty="0"/>
              <a:t>부업 </a:t>
            </a:r>
            <a:r>
              <a:rPr lang="en-US" altLang="ko-KR" dirty="0"/>
              <a:t>· N</a:t>
            </a:r>
            <a:r>
              <a:rPr lang="ko-KR" altLang="en-US" dirty="0" err="1"/>
              <a:t>잡</a:t>
            </a:r>
            <a:r>
              <a:rPr lang="ko-KR" altLang="en-US" dirty="0"/>
              <a:t> 중심의 성인교육 시장 내 패러다임 전환 </a:t>
            </a:r>
            <a:r>
              <a:rPr lang="en-US" altLang="ko-KR" sz="1800" dirty="0"/>
              <a:t>(</a:t>
            </a:r>
            <a:r>
              <a:rPr lang="ko-KR" altLang="en-US" sz="1800" dirty="0"/>
              <a:t>계속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DDDF3-B86E-A748-FDC7-37880FDBA0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FE8F9-34B1-6CA3-9D62-322C009C8A3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6004DF-CAD4-74CF-AC4C-06B98D6178C7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01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7F388-FF59-265E-707D-17F43201217C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가속화되는 </a:t>
            </a:r>
            <a:r>
              <a:rPr lang="en-US" altLang="ko-KR" sz="1400" b="1" dirty="0">
                <a:solidFill>
                  <a:srgbClr val="3D3D3D"/>
                </a:solidFill>
              </a:rPr>
              <a:t>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ko-KR" altLang="en-US" sz="1400" b="1" dirty="0">
                <a:solidFill>
                  <a:srgbClr val="3D3D3D"/>
                </a:solidFill>
              </a:rPr>
              <a:t> 트렌드로 성인교육 시장은 학력 보완 중심에서 실질적 수익과 자기실현을 중시하는 </a:t>
            </a:r>
            <a:r>
              <a:rPr lang="en-US" altLang="ko-KR" sz="1400" b="1" dirty="0">
                <a:solidFill>
                  <a:srgbClr val="3D3D3D"/>
                </a:solidFill>
              </a:rPr>
              <a:t>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영역으로 이동하며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온라인</a:t>
            </a:r>
            <a:r>
              <a:rPr lang="en-US" altLang="ko-KR" sz="1400" b="1" dirty="0">
                <a:solidFill>
                  <a:srgbClr val="3D3D3D"/>
                </a:solidFill>
              </a:rPr>
              <a:t>·D2C </a:t>
            </a:r>
            <a:r>
              <a:rPr lang="ko-KR" altLang="en-US" sz="1400" b="1" dirty="0">
                <a:solidFill>
                  <a:srgbClr val="3D3D3D"/>
                </a:solidFill>
              </a:rPr>
              <a:t>기반의 새로운 교육 생태계가 빠르게 형성되고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049FE5-DCF5-E475-0BF1-FE5624283373}"/>
              </a:ext>
            </a:extLst>
          </p:cNvPr>
          <p:cNvSpPr/>
          <p:nvPr/>
        </p:nvSpPr>
        <p:spPr>
          <a:xfrm>
            <a:off x="453000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N</a:t>
            </a:r>
            <a:r>
              <a:rPr lang="ko-KR" altLang="en-US" sz="1200" b="1" dirty="0" err="1">
                <a:solidFill>
                  <a:schemeClr val="bg1"/>
                </a:solidFill>
              </a:rPr>
              <a:t>잡</a:t>
            </a:r>
            <a:r>
              <a:rPr lang="ko-KR" altLang="en-US" sz="1200" b="1" dirty="0">
                <a:solidFill>
                  <a:schemeClr val="bg1"/>
                </a:solidFill>
              </a:rPr>
              <a:t> 트렌드로 인한 성인교육시장 패러다임 전환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pSp>
        <p:nvGrpSpPr>
          <p:cNvPr id="11" name="그룹 35">
            <a:extLst>
              <a:ext uri="{FF2B5EF4-FFF2-40B4-BE49-F238E27FC236}">
                <a16:creationId xmlns:a16="http://schemas.microsoft.com/office/drawing/2014/main" id="{183CD5AA-BBC5-7A84-901A-51232618A488}"/>
              </a:ext>
            </a:extLst>
          </p:cNvPr>
          <p:cNvGrpSpPr/>
          <p:nvPr/>
        </p:nvGrpSpPr>
        <p:grpSpPr>
          <a:xfrm>
            <a:off x="4800180" y="2018210"/>
            <a:ext cx="4625174" cy="496472"/>
            <a:chOff x="5847078" y="2537609"/>
            <a:chExt cx="6993683" cy="592873"/>
          </a:xfrm>
        </p:grpSpPr>
        <p:sp>
          <p:nvSpPr>
            <p:cNvPr id="14" name="직각 삼각형 36">
              <a:extLst>
                <a:ext uri="{FF2B5EF4-FFF2-40B4-BE49-F238E27FC236}">
                  <a16:creationId xmlns:a16="http://schemas.microsoft.com/office/drawing/2014/main" id="{D1AC53C5-203D-634D-EF85-C841BF74CEB9}"/>
                </a:ext>
              </a:extLst>
            </p:cNvPr>
            <p:cNvSpPr/>
            <p:nvPr/>
          </p:nvSpPr>
          <p:spPr>
            <a:xfrm>
              <a:off x="12401775" y="2537609"/>
              <a:ext cx="438986" cy="476200"/>
            </a:xfrm>
            <a:prstGeom prst="rtTriangle">
              <a:avLst/>
            </a:prstGeom>
            <a:solidFill>
              <a:srgbClr val="539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endParaRPr>
            </a:p>
          </p:txBody>
        </p:sp>
        <p:sp>
          <p:nvSpPr>
            <p:cNvPr id="15" name="직사각형 37">
              <a:extLst>
                <a:ext uri="{FF2B5EF4-FFF2-40B4-BE49-F238E27FC236}">
                  <a16:creationId xmlns:a16="http://schemas.microsoft.com/office/drawing/2014/main" id="{92DE9DDE-131B-D31B-A4CE-366B805BFEED}"/>
                </a:ext>
              </a:extLst>
            </p:cNvPr>
            <p:cNvSpPr/>
            <p:nvPr/>
          </p:nvSpPr>
          <p:spPr>
            <a:xfrm flipH="1">
              <a:off x="5924548" y="2669887"/>
              <a:ext cx="6477225" cy="343922"/>
            </a:xfrm>
            <a:prstGeom prst="rect">
              <a:avLst/>
            </a:prstGeom>
            <a:solidFill>
              <a:srgbClr val="539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68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schemeClr val="bg1"/>
                  </a:solidFill>
                </a:rPr>
                <a:t>현대적 성인 교육 시장 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: 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온라인 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D2C 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기반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 Skill-to-Earn</a:t>
              </a:r>
            </a:p>
          </p:txBody>
        </p:sp>
        <p:sp>
          <p:nvSpPr>
            <p:cNvPr id="16" name="직각 삼각형 38">
              <a:extLst>
                <a:ext uri="{FF2B5EF4-FFF2-40B4-BE49-F238E27FC236}">
                  <a16:creationId xmlns:a16="http://schemas.microsoft.com/office/drawing/2014/main" id="{460901B7-9FB5-2A10-4EEF-F2245BF8C9E3}"/>
                </a:ext>
              </a:extLst>
            </p:cNvPr>
            <p:cNvSpPr/>
            <p:nvPr/>
          </p:nvSpPr>
          <p:spPr>
            <a:xfrm>
              <a:off x="5847078" y="2537609"/>
              <a:ext cx="438986" cy="59287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endParaRPr>
            </a:p>
          </p:txBody>
        </p:sp>
      </p:grpSp>
      <p:grpSp>
        <p:nvGrpSpPr>
          <p:cNvPr id="17" name="그룹 42">
            <a:extLst>
              <a:ext uri="{FF2B5EF4-FFF2-40B4-BE49-F238E27FC236}">
                <a16:creationId xmlns:a16="http://schemas.microsoft.com/office/drawing/2014/main" id="{5A1E0893-2CAF-B5C1-40C9-5981B8F36036}"/>
              </a:ext>
            </a:extLst>
          </p:cNvPr>
          <p:cNvGrpSpPr/>
          <p:nvPr/>
        </p:nvGrpSpPr>
        <p:grpSpPr>
          <a:xfrm>
            <a:off x="1781503" y="2033351"/>
            <a:ext cx="3145768" cy="398772"/>
            <a:chOff x="1164542" y="4671716"/>
            <a:chExt cx="4082812" cy="476202"/>
          </a:xfrm>
        </p:grpSpPr>
        <p:sp>
          <p:nvSpPr>
            <p:cNvPr id="18" name="직사각형 39">
              <a:extLst>
                <a:ext uri="{FF2B5EF4-FFF2-40B4-BE49-F238E27FC236}">
                  <a16:creationId xmlns:a16="http://schemas.microsoft.com/office/drawing/2014/main" id="{3C3DF462-0FE9-5E12-C2A7-9DF51D0F0DA7}"/>
                </a:ext>
              </a:extLst>
            </p:cNvPr>
            <p:cNvSpPr/>
            <p:nvPr/>
          </p:nvSpPr>
          <p:spPr>
            <a:xfrm flipH="1">
              <a:off x="1164542" y="4803997"/>
              <a:ext cx="3752913" cy="34392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spc="-70" dirty="0">
                  <a:solidFill>
                    <a:schemeClr val="bg1"/>
                  </a:solidFill>
                </a:rPr>
                <a:t>  전통적 성인교육 </a:t>
              </a:r>
              <a:r>
                <a:rPr lang="en-US" altLang="ko-KR" sz="1200" b="1" spc="-70" dirty="0">
                  <a:solidFill>
                    <a:schemeClr val="bg1"/>
                  </a:solidFill>
                </a:rPr>
                <a:t>: </a:t>
              </a:r>
              <a:r>
                <a:rPr lang="ko-KR" altLang="en-US" sz="1200" b="1" spc="-70" dirty="0">
                  <a:solidFill>
                    <a:schemeClr val="bg1"/>
                  </a:solidFill>
                </a:rPr>
                <a:t>오프라인 중심 </a:t>
              </a:r>
              <a:r>
                <a:rPr lang="en-US" altLang="ko-KR" sz="1200" b="1" spc="-70" dirty="0">
                  <a:solidFill>
                    <a:schemeClr val="bg1"/>
                  </a:solidFill>
                </a:rPr>
                <a:t>Learn-to-Qualify</a:t>
              </a:r>
            </a:p>
          </p:txBody>
        </p:sp>
        <p:sp>
          <p:nvSpPr>
            <p:cNvPr id="19" name="직각 삼각형 40">
              <a:extLst>
                <a:ext uri="{FF2B5EF4-FFF2-40B4-BE49-F238E27FC236}">
                  <a16:creationId xmlns:a16="http://schemas.microsoft.com/office/drawing/2014/main" id="{306909CB-306F-F459-CD00-1084D397369F}"/>
                </a:ext>
              </a:extLst>
            </p:cNvPr>
            <p:cNvSpPr/>
            <p:nvPr/>
          </p:nvSpPr>
          <p:spPr>
            <a:xfrm>
              <a:off x="4917459" y="4671716"/>
              <a:ext cx="329895" cy="476202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endParaRPr>
            </a:p>
          </p:txBody>
        </p:sp>
      </p:grpSp>
      <p:sp>
        <p:nvSpPr>
          <p:cNvPr id="20" name="직사각형 74">
            <a:extLst>
              <a:ext uri="{FF2B5EF4-FFF2-40B4-BE49-F238E27FC236}">
                <a16:creationId xmlns:a16="http://schemas.microsoft.com/office/drawing/2014/main" id="{0C03C34A-1CA4-0216-008F-DEC7880F266C}"/>
              </a:ext>
            </a:extLst>
          </p:cNvPr>
          <p:cNvSpPr/>
          <p:nvPr/>
        </p:nvSpPr>
        <p:spPr>
          <a:xfrm>
            <a:off x="462091" y="2535681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주요 교육 목적</a:t>
            </a:r>
          </a:p>
        </p:txBody>
      </p:sp>
      <p:sp>
        <p:nvSpPr>
          <p:cNvPr id="21" name="직사각형 74">
            <a:extLst>
              <a:ext uri="{FF2B5EF4-FFF2-40B4-BE49-F238E27FC236}">
                <a16:creationId xmlns:a16="http://schemas.microsoft.com/office/drawing/2014/main" id="{F0B2A45C-6C77-126E-A2A3-0DEA098EFC23}"/>
              </a:ext>
            </a:extLst>
          </p:cNvPr>
          <p:cNvSpPr/>
          <p:nvPr/>
        </p:nvSpPr>
        <p:spPr>
          <a:xfrm>
            <a:off x="462091" y="3638118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주요 수강 연령층</a:t>
            </a:r>
          </a:p>
        </p:txBody>
      </p:sp>
      <p:sp>
        <p:nvSpPr>
          <p:cNvPr id="22" name="직사각형 74">
            <a:extLst>
              <a:ext uri="{FF2B5EF4-FFF2-40B4-BE49-F238E27FC236}">
                <a16:creationId xmlns:a16="http://schemas.microsoft.com/office/drawing/2014/main" id="{54DCFE44-E0D1-169A-8A60-E12018117B73}"/>
              </a:ext>
            </a:extLst>
          </p:cNvPr>
          <p:cNvSpPr/>
          <p:nvPr/>
        </p:nvSpPr>
        <p:spPr>
          <a:xfrm>
            <a:off x="462091" y="4198255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공급</a:t>
            </a:r>
            <a:r>
              <a:rPr lang="en-US" altLang="ko-KR" sz="1100" b="1" dirty="0">
                <a:solidFill>
                  <a:schemeClr val="bg1"/>
                </a:solidFill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</a:rPr>
              <a:t>수강 채널</a:t>
            </a:r>
          </a:p>
        </p:txBody>
      </p:sp>
      <p:sp>
        <p:nvSpPr>
          <p:cNvPr id="23" name="직사각형 74">
            <a:extLst>
              <a:ext uri="{FF2B5EF4-FFF2-40B4-BE49-F238E27FC236}">
                <a16:creationId xmlns:a16="http://schemas.microsoft.com/office/drawing/2014/main" id="{3704F3E9-B8DB-F7B6-E50A-CFF5E68B1095}"/>
              </a:ext>
            </a:extLst>
          </p:cNvPr>
          <p:cNvSpPr/>
          <p:nvPr/>
        </p:nvSpPr>
        <p:spPr>
          <a:xfrm>
            <a:off x="1781502" y="2535681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취업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자격증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어학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 등 직무역량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및 학력 보완</a:t>
            </a:r>
          </a:p>
        </p:txBody>
      </p:sp>
      <p:sp>
        <p:nvSpPr>
          <p:cNvPr id="24" name="직사각형 74">
            <a:extLst>
              <a:ext uri="{FF2B5EF4-FFF2-40B4-BE49-F238E27FC236}">
                <a16:creationId xmlns:a16="http://schemas.microsoft.com/office/drawing/2014/main" id="{8B991339-9180-F388-0E14-048C7AC181AC}"/>
              </a:ext>
            </a:extLst>
          </p:cNvPr>
          <p:cNvSpPr/>
          <p:nvPr/>
        </p:nvSpPr>
        <p:spPr>
          <a:xfrm>
            <a:off x="462091" y="5315773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수강 콘텐츠 공급자</a:t>
            </a:r>
          </a:p>
        </p:txBody>
      </p:sp>
      <p:sp>
        <p:nvSpPr>
          <p:cNvPr id="25" name="직사각형 74">
            <a:extLst>
              <a:ext uri="{FF2B5EF4-FFF2-40B4-BE49-F238E27FC236}">
                <a16:creationId xmlns:a16="http://schemas.microsoft.com/office/drawing/2014/main" id="{023B8943-C1EF-501A-1848-E0B5565FA2FF}"/>
              </a:ext>
            </a:extLst>
          </p:cNvPr>
          <p:cNvSpPr/>
          <p:nvPr/>
        </p:nvSpPr>
        <p:spPr>
          <a:xfrm>
            <a:off x="462091" y="4758740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공급 방식</a:t>
            </a:r>
          </a:p>
        </p:txBody>
      </p:sp>
      <p:sp>
        <p:nvSpPr>
          <p:cNvPr id="26" name="직사각형 74">
            <a:extLst>
              <a:ext uri="{FF2B5EF4-FFF2-40B4-BE49-F238E27FC236}">
                <a16:creationId xmlns:a16="http://schemas.microsoft.com/office/drawing/2014/main" id="{6D422137-7FED-032E-6845-E5259591FDE3}"/>
              </a:ext>
            </a:extLst>
          </p:cNvPr>
          <p:cNvSpPr/>
          <p:nvPr/>
        </p:nvSpPr>
        <p:spPr>
          <a:xfrm>
            <a:off x="462091" y="3088810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콘텐츠</a:t>
            </a:r>
          </a:p>
        </p:txBody>
      </p:sp>
      <p:sp>
        <p:nvSpPr>
          <p:cNvPr id="27" name="직사각형 74">
            <a:extLst>
              <a:ext uri="{FF2B5EF4-FFF2-40B4-BE49-F238E27FC236}">
                <a16:creationId xmlns:a16="http://schemas.microsoft.com/office/drawing/2014/main" id="{3ABD4C5E-3EA8-C8A0-A6FA-EF97FEE85436}"/>
              </a:ext>
            </a:extLst>
          </p:cNvPr>
          <p:cNvSpPr/>
          <p:nvPr/>
        </p:nvSpPr>
        <p:spPr>
          <a:xfrm>
            <a:off x="1781502" y="3088810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교과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학문 지식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직무 자격 스킬 </a:t>
            </a:r>
            <a:r>
              <a:rPr lang="en-US" altLang="ko-KR" sz="1000" spc="-30" dirty="0">
                <a:solidFill>
                  <a:srgbClr val="3D3D3D"/>
                </a:solidFill>
              </a:rPr>
              <a:t>(</a:t>
            </a:r>
            <a:r>
              <a:rPr lang="ko-KR" altLang="en-US" sz="1000" spc="-30" dirty="0">
                <a:solidFill>
                  <a:srgbClr val="3D3D3D"/>
                </a:solidFill>
              </a:rPr>
              <a:t>예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회계</a:t>
            </a:r>
            <a:r>
              <a:rPr lang="en-US" altLang="ko-KR" sz="1000" spc="-30" dirty="0">
                <a:solidFill>
                  <a:srgbClr val="3D3D3D"/>
                </a:solidFill>
              </a:rPr>
              <a:t>, IT </a:t>
            </a:r>
            <a:r>
              <a:rPr lang="ko-KR" altLang="en-US" sz="1000" spc="-30" dirty="0">
                <a:solidFill>
                  <a:srgbClr val="3D3D3D"/>
                </a:solidFill>
              </a:rPr>
              <a:t>자격증</a:t>
            </a:r>
            <a:r>
              <a:rPr lang="en-US" altLang="ko-KR" sz="1000" spc="-30" dirty="0">
                <a:solidFill>
                  <a:srgbClr val="3D3D3D"/>
                </a:solidFill>
              </a:rPr>
              <a:t>)</a:t>
            </a:r>
            <a:endParaRPr lang="ko-KR" altLang="en-US" sz="1000" spc="-30" dirty="0">
              <a:solidFill>
                <a:srgbClr val="3D3D3D"/>
              </a:solidFill>
            </a:endParaRPr>
          </a:p>
        </p:txBody>
      </p:sp>
      <p:sp>
        <p:nvSpPr>
          <p:cNvPr id="28" name="직사각형 74">
            <a:extLst>
              <a:ext uri="{FF2B5EF4-FFF2-40B4-BE49-F238E27FC236}">
                <a16:creationId xmlns:a16="http://schemas.microsoft.com/office/drawing/2014/main" id="{274AA09A-386A-3520-97FA-F6D23AE0ACBA}"/>
              </a:ext>
            </a:extLst>
          </p:cNvPr>
          <p:cNvSpPr/>
          <p:nvPr/>
        </p:nvSpPr>
        <p:spPr>
          <a:xfrm>
            <a:off x="1781502" y="3638118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000" spc="-30" dirty="0">
                <a:solidFill>
                  <a:srgbClr val="3D3D3D"/>
                </a:solidFill>
              </a:rPr>
              <a:t>20</a:t>
            </a:r>
            <a:r>
              <a:rPr lang="ko-KR" altLang="en-US" sz="1000" spc="-30" dirty="0">
                <a:solidFill>
                  <a:srgbClr val="3D3D3D"/>
                </a:solidFill>
              </a:rPr>
              <a:t>대 초반 대학생 부터 </a:t>
            </a:r>
            <a:r>
              <a:rPr lang="en-US" altLang="ko-KR" sz="1000" spc="-30" dirty="0">
                <a:solidFill>
                  <a:srgbClr val="3D3D3D"/>
                </a:solidFill>
              </a:rPr>
              <a:t>30</a:t>
            </a:r>
            <a:r>
              <a:rPr lang="ko-KR" altLang="en-US" sz="1000" spc="-30" dirty="0">
                <a:solidFill>
                  <a:srgbClr val="3D3D3D"/>
                </a:solidFill>
              </a:rPr>
              <a:t>대 직장인</a:t>
            </a:r>
          </a:p>
        </p:txBody>
      </p:sp>
      <p:sp>
        <p:nvSpPr>
          <p:cNvPr id="29" name="직사각형 74">
            <a:extLst>
              <a:ext uri="{FF2B5EF4-FFF2-40B4-BE49-F238E27FC236}">
                <a16:creationId xmlns:a16="http://schemas.microsoft.com/office/drawing/2014/main" id="{8B30BA10-BE3D-62B6-5A05-CB82C7064275}"/>
              </a:ext>
            </a:extLst>
          </p:cNvPr>
          <p:cNvSpPr/>
          <p:nvPr/>
        </p:nvSpPr>
        <p:spPr>
          <a:xfrm>
            <a:off x="1781502" y="4198255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 err="1">
                <a:solidFill>
                  <a:srgbClr val="3D3D3D"/>
                </a:solidFill>
              </a:rPr>
              <a:t>해커스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에듀윌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주경야독</a:t>
            </a:r>
            <a:r>
              <a:rPr lang="en-US" altLang="ko-KR" sz="1000" spc="-30" dirty="0">
                <a:solidFill>
                  <a:srgbClr val="3D3D3D"/>
                </a:solidFill>
              </a:rPr>
              <a:t>, YBM, </a:t>
            </a:r>
            <a:r>
              <a:rPr lang="ko-KR" altLang="en-US" sz="1000" spc="-30" dirty="0">
                <a:solidFill>
                  <a:srgbClr val="3D3D3D"/>
                </a:solidFill>
              </a:rPr>
              <a:t>파고다어학원 등 대형 오프라인 학원</a:t>
            </a:r>
          </a:p>
        </p:txBody>
      </p:sp>
      <p:sp>
        <p:nvSpPr>
          <p:cNvPr id="30" name="직사각형 74">
            <a:extLst>
              <a:ext uri="{FF2B5EF4-FFF2-40B4-BE49-F238E27FC236}">
                <a16:creationId xmlns:a16="http://schemas.microsoft.com/office/drawing/2014/main" id="{00F29512-71BA-7ABF-8EE1-1359A2795752}"/>
              </a:ext>
            </a:extLst>
          </p:cNvPr>
          <p:cNvSpPr/>
          <p:nvPr/>
        </p:nvSpPr>
        <p:spPr>
          <a:xfrm>
            <a:off x="1781502" y="4758740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교재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강사 중심의 강의식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장기간 커리큘럼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일방향</a:t>
            </a:r>
            <a:r>
              <a:rPr lang="ko-KR" altLang="en-US" sz="1000" spc="-30" dirty="0">
                <a:solidFill>
                  <a:srgbClr val="3D3D3D"/>
                </a:solidFill>
              </a:rPr>
              <a:t> 교육 방식</a:t>
            </a:r>
          </a:p>
        </p:txBody>
      </p:sp>
      <p:sp>
        <p:nvSpPr>
          <p:cNvPr id="31" name="직사각형 74">
            <a:extLst>
              <a:ext uri="{FF2B5EF4-FFF2-40B4-BE49-F238E27FC236}">
                <a16:creationId xmlns:a16="http://schemas.microsoft.com/office/drawing/2014/main" id="{D09C16A0-E834-9018-98ED-6F6A8A2AE189}"/>
              </a:ext>
            </a:extLst>
          </p:cNvPr>
          <p:cNvSpPr/>
          <p:nvPr/>
        </p:nvSpPr>
        <p:spPr>
          <a:xfrm>
            <a:off x="1781502" y="5315773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자격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학력 기반 전문 교사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학원 강사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대학 교수</a:t>
            </a:r>
          </a:p>
        </p:txBody>
      </p:sp>
      <p:sp>
        <p:nvSpPr>
          <p:cNvPr id="32" name="직사각형 74">
            <a:extLst>
              <a:ext uri="{FF2B5EF4-FFF2-40B4-BE49-F238E27FC236}">
                <a16:creationId xmlns:a16="http://schemas.microsoft.com/office/drawing/2014/main" id="{6E946E6F-76BC-2F7C-6C31-C001FEFC633A}"/>
              </a:ext>
            </a:extLst>
          </p:cNvPr>
          <p:cNvSpPr/>
          <p:nvPr/>
        </p:nvSpPr>
        <p:spPr>
          <a:xfrm>
            <a:off x="5232630" y="2512608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주식</a:t>
            </a:r>
            <a:r>
              <a:rPr lang="en-US" altLang="ko-KR" sz="1100" b="1" dirty="0">
                <a:solidFill>
                  <a:srgbClr val="539DFF"/>
                </a:solidFill>
              </a:rPr>
              <a:t>/</a:t>
            </a:r>
            <a:r>
              <a:rPr lang="ko-KR" altLang="en-US" sz="1100" b="1" dirty="0" err="1">
                <a:solidFill>
                  <a:srgbClr val="539DFF"/>
                </a:solidFill>
              </a:rPr>
              <a:t>제테크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창업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부업 등 즉시 수익화 및 </a:t>
            </a:r>
            <a:r>
              <a:rPr lang="ko-KR" altLang="en-US" sz="1100" b="1" dirty="0" err="1">
                <a:solidFill>
                  <a:srgbClr val="539DFF"/>
                </a:solidFill>
              </a:rPr>
              <a:t>패시브인컴</a:t>
            </a:r>
            <a:r>
              <a:rPr lang="ko-KR" altLang="en-US" sz="1100" b="1" dirty="0">
                <a:solidFill>
                  <a:srgbClr val="539DFF"/>
                </a:solidFill>
              </a:rPr>
              <a:t> 창출을 통해 추가소득 창출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경제적 자유 확보 중심의 </a:t>
            </a:r>
            <a:r>
              <a:rPr lang="en-US" altLang="ko-KR" sz="1100" b="1" dirty="0">
                <a:solidFill>
                  <a:srgbClr val="539DFF"/>
                </a:solidFill>
              </a:rPr>
              <a:t>‘Skill-to-Earn’</a:t>
            </a:r>
            <a:r>
              <a:rPr lang="ko-KR" altLang="en-US" sz="1100" b="1" dirty="0">
                <a:solidFill>
                  <a:srgbClr val="539DFF"/>
                </a:solidFill>
              </a:rPr>
              <a:t> 역량 학습 목적</a:t>
            </a:r>
          </a:p>
        </p:txBody>
      </p:sp>
      <p:sp>
        <p:nvSpPr>
          <p:cNvPr id="33" name="직사각형 74">
            <a:extLst>
              <a:ext uri="{FF2B5EF4-FFF2-40B4-BE49-F238E27FC236}">
                <a16:creationId xmlns:a16="http://schemas.microsoft.com/office/drawing/2014/main" id="{6D1395A9-8BF2-DE82-808E-3B1D010A85CF}"/>
              </a:ext>
            </a:extLst>
          </p:cNvPr>
          <p:cNvSpPr/>
          <p:nvPr/>
        </p:nvSpPr>
        <p:spPr>
          <a:xfrm>
            <a:off x="5232630" y="3069641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실전 수익화 노하우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창업 방법 등</a:t>
            </a:r>
            <a:br>
              <a:rPr lang="en-US" altLang="ko-KR" sz="1100" b="1" dirty="0">
                <a:solidFill>
                  <a:srgbClr val="539DFF"/>
                </a:solidFill>
              </a:rPr>
            </a:br>
            <a:r>
              <a:rPr lang="en-US" altLang="ko-KR" sz="1100" b="1" dirty="0">
                <a:solidFill>
                  <a:srgbClr val="539DFF"/>
                </a:solidFill>
              </a:rPr>
              <a:t>(</a:t>
            </a:r>
            <a:r>
              <a:rPr lang="ko-KR" altLang="en-US" sz="1100" b="1" dirty="0">
                <a:solidFill>
                  <a:srgbClr val="539DFF"/>
                </a:solidFill>
              </a:rPr>
              <a:t>예</a:t>
            </a:r>
            <a:r>
              <a:rPr lang="en-US" altLang="ko-KR" sz="1100" b="1" dirty="0">
                <a:solidFill>
                  <a:srgbClr val="539DFF"/>
                </a:solidFill>
              </a:rPr>
              <a:t>: </a:t>
            </a:r>
            <a:r>
              <a:rPr lang="ko-KR" altLang="en-US" sz="1100" b="1" dirty="0">
                <a:solidFill>
                  <a:srgbClr val="539DFF"/>
                </a:solidFill>
              </a:rPr>
              <a:t>온라인 판매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콘텐츠 </a:t>
            </a:r>
            <a:r>
              <a:rPr lang="ko-KR" altLang="en-US" sz="1100" b="1" dirty="0" err="1">
                <a:solidFill>
                  <a:srgbClr val="539DFF"/>
                </a:solidFill>
              </a:rPr>
              <a:t>크리에이션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투자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블로그</a:t>
            </a:r>
            <a:r>
              <a:rPr lang="en-US" altLang="ko-KR" sz="1100" b="1" dirty="0">
                <a:solidFill>
                  <a:srgbClr val="539DFF"/>
                </a:solidFill>
              </a:rPr>
              <a:t>·SNS </a:t>
            </a:r>
            <a:r>
              <a:rPr lang="ko-KR" altLang="en-US" sz="1100" b="1" dirty="0">
                <a:solidFill>
                  <a:srgbClr val="539DFF"/>
                </a:solidFill>
              </a:rPr>
              <a:t>수익</a:t>
            </a:r>
            <a:r>
              <a:rPr lang="en-US" altLang="ko-KR" sz="1100" b="1" dirty="0">
                <a:solidFill>
                  <a:srgbClr val="539DFF"/>
                </a:solidFill>
              </a:rPr>
              <a:t>)</a:t>
            </a:r>
            <a:endParaRPr lang="ko-KR" altLang="en-US" sz="1100" b="1" dirty="0">
              <a:solidFill>
                <a:srgbClr val="539DFF"/>
              </a:solidFill>
            </a:endParaRPr>
          </a:p>
        </p:txBody>
      </p:sp>
      <p:sp>
        <p:nvSpPr>
          <p:cNvPr id="34" name="직사각형 74">
            <a:extLst>
              <a:ext uri="{FF2B5EF4-FFF2-40B4-BE49-F238E27FC236}">
                <a16:creationId xmlns:a16="http://schemas.microsoft.com/office/drawing/2014/main" id="{D0EF4F1A-0BF0-FFE3-0D10-F8C900E65A96}"/>
              </a:ext>
            </a:extLst>
          </p:cNvPr>
          <p:cNvSpPr/>
          <p:nvPr/>
        </p:nvSpPr>
        <p:spPr>
          <a:xfrm>
            <a:off x="5232630" y="3626674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직장인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주부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은퇴자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프리랜서 등 성인 전반</a:t>
            </a:r>
          </a:p>
        </p:txBody>
      </p:sp>
      <p:sp>
        <p:nvSpPr>
          <p:cNvPr id="35" name="직사각형 74">
            <a:extLst>
              <a:ext uri="{FF2B5EF4-FFF2-40B4-BE49-F238E27FC236}">
                <a16:creationId xmlns:a16="http://schemas.microsoft.com/office/drawing/2014/main" id="{54988402-C931-1311-F828-F5122F27DF89}"/>
              </a:ext>
            </a:extLst>
          </p:cNvPr>
          <p:cNvSpPr/>
          <p:nvPr/>
        </p:nvSpPr>
        <p:spPr>
          <a:xfrm>
            <a:off x="5232630" y="4183707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신생 온라인 </a:t>
            </a:r>
            <a:r>
              <a:rPr lang="en-US" altLang="ko-KR" sz="1100" b="1" dirty="0">
                <a:solidFill>
                  <a:srgbClr val="539DFF"/>
                </a:solidFill>
              </a:rPr>
              <a:t>D2C </a:t>
            </a:r>
            <a:r>
              <a:rPr lang="ko-KR" altLang="en-US" sz="1100" b="1" dirty="0">
                <a:solidFill>
                  <a:srgbClr val="539DFF"/>
                </a:solidFill>
              </a:rPr>
              <a:t>지식 플랫폼</a:t>
            </a:r>
            <a:br>
              <a:rPr lang="en-US" altLang="ko-KR" sz="1100" b="1" dirty="0">
                <a:solidFill>
                  <a:srgbClr val="539DFF"/>
                </a:solidFill>
              </a:rPr>
            </a:br>
            <a:r>
              <a:rPr lang="en-US" altLang="ko-KR" sz="1100" b="1" dirty="0">
                <a:solidFill>
                  <a:srgbClr val="539DFF"/>
                </a:solidFill>
              </a:rPr>
              <a:t>(</a:t>
            </a:r>
            <a:r>
              <a:rPr lang="ko-KR" altLang="en-US" sz="1100" b="1" dirty="0">
                <a:solidFill>
                  <a:srgbClr val="539DFF"/>
                </a:solidFill>
              </a:rPr>
              <a:t>클래스</a:t>
            </a:r>
            <a:r>
              <a:rPr lang="en-US" altLang="ko-KR" sz="1100" b="1" dirty="0">
                <a:solidFill>
                  <a:srgbClr val="539DFF"/>
                </a:solidFill>
              </a:rPr>
              <a:t>101, </a:t>
            </a:r>
            <a:r>
              <a:rPr lang="ko-KR" altLang="en-US" sz="1100" b="1" dirty="0" err="1">
                <a:solidFill>
                  <a:srgbClr val="539DFF"/>
                </a:solidFill>
              </a:rPr>
              <a:t>패스트캠퍼스</a:t>
            </a:r>
            <a:r>
              <a:rPr lang="en-US" altLang="ko-KR" sz="1100" b="1" dirty="0">
                <a:solidFill>
                  <a:srgbClr val="539DFF"/>
                </a:solidFill>
              </a:rPr>
              <a:t>,</a:t>
            </a:r>
            <a:r>
              <a:rPr lang="ko-KR" altLang="en-US" sz="1100" b="1" dirty="0">
                <a:solidFill>
                  <a:srgbClr val="539DFF"/>
                </a:solidFill>
              </a:rPr>
              <a:t>라이브클래스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월급쟁이부자들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타이탄클래스 등</a:t>
            </a:r>
            <a:r>
              <a:rPr lang="en-US" altLang="ko-KR" sz="1100" b="1" dirty="0">
                <a:solidFill>
                  <a:srgbClr val="539DFF"/>
                </a:solidFill>
              </a:rPr>
              <a:t>)</a:t>
            </a:r>
            <a:endParaRPr lang="ko-KR" altLang="en-US" sz="1100" b="1" dirty="0">
              <a:solidFill>
                <a:srgbClr val="539DFF"/>
              </a:solidFill>
            </a:endParaRPr>
          </a:p>
        </p:txBody>
      </p:sp>
      <p:sp>
        <p:nvSpPr>
          <p:cNvPr id="36" name="직사각형 74">
            <a:extLst>
              <a:ext uri="{FF2B5EF4-FFF2-40B4-BE49-F238E27FC236}">
                <a16:creationId xmlns:a16="http://schemas.microsoft.com/office/drawing/2014/main" id="{39A52DF3-881B-AA36-FCB9-15031AAF3C28}"/>
              </a:ext>
            </a:extLst>
          </p:cNvPr>
          <p:cNvSpPr/>
          <p:nvPr/>
        </p:nvSpPr>
        <p:spPr>
          <a:xfrm>
            <a:off x="5232630" y="4740740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온라인</a:t>
            </a:r>
            <a:r>
              <a:rPr lang="en-US" altLang="ko-KR" sz="1100" b="1" dirty="0">
                <a:solidFill>
                  <a:srgbClr val="539DFF"/>
                </a:solidFill>
              </a:rPr>
              <a:t>·</a:t>
            </a:r>
            <a:r>
              <a:rPr lang="ko-KR" altLang="en-US" sz="1100" b="1" dirty="0">
                <a:solidFill>
                  <a:srgbClr val="539DFF"/>
                </a:solidFill>
              </a:rPr>
              <a:t>모바일 중심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단기 실습</a:t>
            </a:r>
            <a:r>
              <a:rPr lang="en-US" altLang="ko-KR" sz="1100" b="1" dirty="0">
                <a:solidFill>
                  <a:srgbClr val="539DFF"/>
                </a:solidFill>
              </a:rPr>
              <a:t>·</a:t>
            </a:r>
            <a:r>
              <a:rPr lang="ko-KR" altLang="en-US" sz="1100" b="1" dirty="0">
                <a:solidFill>
                  <a:srgbClr val="539DFF"/>
                </a:solidFill>
              </a:rPr>
              <a:t>워크숍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멘토링</a:t>
            </a:r>
            <a:r>
              <a:rPr lang="en-US" altLang="ko-KR" sz="1100" b="1" dirty="0">
                <a:solidFill>
                  <a:srgbClr val="539DFF"/>
                </a:solidFill>
              </a:rPr>
              <a:t>·</a:t>
            </a:r>
            <a:r>
              <a:rPr lang="ko-KR" altLang="en-US" sz="1100" b="1" dirty="0">
                <a:solidFill>
                  <a:srgbClr val="539DFF"/>
                </a:solidFill>
              </a:rPr>
              <a:t>커뮤니티</a:t>
            </a:r>
          </a:p>
        </p:txBody>
      </p:sp>
      <p:sp>
        <p:nvSpPr>
          <p:cNvPr id="37" name="직사각형 74">
            <a:extLst>
              <a:ext uri="{FF2B5EF4-FFF2-40B4-BE49-F238E27FC236}">
                <a16:creationId xmlns:a16="http://schemas.microsoft.com/office/drawing/2014/main" id="{BABD8C68-C975-BA7F-CA75-AD38C9553795}"/>
              </a:ext>
            </a:extLst>
          </p:cNvPr>
          <p:cNvSpPr/>
          <p:nvPr/>
        </p:nvSpPr>
        <p:spPr>
          <a:xfrm>
            <a:off x="5232630" y="5297773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 err="1">
                <a:solidFill>
                  <a:srgbClr val="539DFF"/>
                </a:solidFill>
              </a:rPr>
              <a:t>팬덤과</a:t>
            </a:r>
            <a:r>
              <a:rPr lang="ko-KR" altLang="en-US" sz="1100" b="1" dirty="0">
                <a:solidFill>
                  <a:srgbClr val="539DFF"/>
                </a:solidFill>
              </a:rPr>
              <a:t> 충성 구독층을 보유한 경험</a:t>
            </a:r>
            <a:r>
              <a:rPr lang="en-US" altLang="ko-KR" sz="1100" b="1" dirty="0">
                <a:solidFill>
                  <a:srgbClr val="539DFF"/>
                </a:solidFill>
              </a:rPr>
              <a:t>·</a:t>
            </a:r>
            <a:r>
              <a:rPr lang="ko-KR" altLang="en-US" sz="1100" b="1" dirty="0">
                <a:solidFill>
                  <a:srgbClr val="539DFF"/>
                </a:solidFill>
              </a:rPr>
              <a:t>성과 기반의 특정 분야 전문가</a:t>
            </a:r>
            <a:r>
              <a:rPr lang="en-US" altLang="ko-KR" sz="1100" b="1" dirty="0">
                <a:solidFill>
                  <a:srgbClr val="539DFF"/>
                </a:solidFill>
              </a:rPr>
              <a:t>,</a:t>
            </a:r>
            <a:br>
              <a:rPr lang="en-US" altLang="ko-KR" sz="1100" b="1" dirty="0">
                <a:solidFill>
                  <a:srgbClr val="539DFF"/>
                </a:solidFill>
              </a:rPr>
            </a:br>
            <a:r>
              <a:rPr lang="en-US" altLang="ko-KR" sz="1100" b="1" dirty="0">
                <a:solidFill>
                  <a:srgbClr val="539DFF"/>
                </a:solidFill>
              </a:rPr>
              <a:t>1</a:t>
            </a:r>
            <a:r>
              <a:rPr lang="ko-KR" altLang="en-US" sz="1100" b="1" dirty="0">
                <a:solidFill>
                  <a:srgbClr val="539DFF"/>
                </a:solidFill>
              </a:rPr>
              <a:t>인 창업자 출신 등의 크리에이터 및 </a:t>
            </a:r>
            <a:r>
              <a:rPr lang="ko-KR" altLang="en-US" sz="1100" b="1" dirty="0" err="1">
                <a:solidFill>
                  <a:srgbClr val="539DFF"/>
                </a:solidFill>
              </a:rPr>
              <a:t>인플루언서</a:t>
            </a:r>
            <a:endParaRPr lang="ko-KR" altLang="en-US" sz="1100" b="1" dirty="0">
              <a:solidFill>
                <a:srgbClr val="539DFF"/>
              </a:solidFill>
            </a:endParaRPr>
          </a:p>
        </p:txBody>
      </p:sp>
      <p:grpSp>
        <p:nvGrpSpPr>
          <p:cNvPr id="38" name="그룹 65">
            <a:extLst>
              <a:ext uri="{FF2B5EF4-FFF2-40B4-BE49-F238E27FC236}">
                <a16:creationId xmlns:a16="http://schemas.microsoft.com/office/drawing/2014/main" id="{D46B7657-A315-4AD4-BC65-B5D1EF702776}"/>
              </a:ext>
            </a:extLst>
          </p:cNvPr>
          <p:cNvGrpSpPr/>
          <p:nvPr/>
        </p:nvGrpSpPr>
        <p:grpSpPr>
          <a:xfrm>
            <a:off x="4959913" y="2623076"/>
            <a:ext cx="189352" cy="189412"/>
            <a:chOff x="3795386" y="7152361"/>
            <a:chExt cx="496702" cy="450937"/>
          </a:xfrm>
        </p:grpSpPr>
        <p:sp>
          <p:nvSpPr>
            <p:cNvPr id="39" name="화살표: 갈매기형 수장 66">
              <a:extLst>
                <a:ext uri="{FF2B5EF4-FFF2-40B4-BE49-F238E27FC236}">
                  <a16:creationId xmlns:a16="http://schemas.microsoft.com/office/drawing/2014/main" id="{CCBF500D-2269-7D58-6EAE-E9F755A8AD5D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0" name="화살표: 갈매기형 수장 67">
              <a:extLst>
                <a:ext uri="{FF2B5EF4-FFF2-40B4-BE49-F238E27FC236}">
                  <a16:creationId xmlns:a16="http://schemas.microsoft.com/office/drawing/2014/main" id="{3BBF59E3-DFF2-6819-DABF-EED3F55B5E87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1" name="화살표: 갈매기형 수장 68">
              <a:extLst>
                <a:ext uri="{FF2B5EF4-FFF2-40B4-BE49-F238E27FC236}">
                  <a16:creationId xmlns:a16="http://schemas.microsoft.com/office/drawing/2014/main" id="{A918AB37-C18C-7A22-524E-4A808A24ED29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2" name="그룹 65">
            <a:extLst>
              <a:ext uri="{FF2B5EF4-FFF2-40B4-BE49-F238E27FC236}">
                <a16:creationId xmlns:a16="http://schemas.microsoft.com/office/drawing/2014/main" id="{F610A4D3-8F97-B055-D325-5CA2889942F9}"/>
              </a:ext>
            </a:extLst>
          </p:cNvPr>
          <p:cNvGrpSpPr/>
          <p:nvPr/>
        </p:nvGrpSpPr>
        <p:grpSpPr>
          <a:xfrm>
            <a:off x="4959913" y="3200537"/>
            <a:ext cx="189352" cy="189412"/>
            <a:chOff x="3795386" y="7152361"/>
            <a:chExt cx="496702" cy="450937"/>
          </a:xfrm>
        </p:grpSpPr>
        <p:sp>
          <p:nvSpPr>
            <p:cNvPr id="43" name="화살표: 갈매기형 수장 66">
              <a:extLst>
                <a:ext uri="{FF2B5EF4-FFF2-40B4-BE49-F238E27FC236}">
                  <a16:creationId xmlns:a16="http://schemas.microsoft.com/office/drawing/2014/main" id="{863604F4-0E16-653A-57A6-B615F839E058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4" name="화살표: 갈매기형 수장 67">
              <a:extLst>
                <a:ext uri="{FF2B5EF4-FFF2-40B4-BE49-F238E27FC236}">
                  <a16:creationId xmlns:a16="http://schemas.microsoft.com/office/drawing/2014/main" id="{2B0578ED-A686-4595-A823-D4E996423345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5" name="화살표: 갈매기형 수장 68">
              <a:extLst>
                <a:ext uri="{FF2B5EF4-FFF2-40B4-BE49-F238E27FC236}">
                  <a16:creationId xmlns:a16="http://schemas.microsoft.com/office/drawing/2014/main" id="{D40BE80E-BAE4-5356-BBEE-A7FB6C6424AC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6" name="그룹 65">
            <a:extLst>
              <a:ext uri="{FF2B5EF4-FFF2-40B4-BE49-F238E27FC236}">
                <a16:creationId xmlns:a16="http://schemas.microsoft.com/office/drawing/2014/main" id="{D86EDBC6-E5AC-BD7A-8A31-C76D83059823}"/>
              </a:ext>
            </a:extLst>
          </p:cNvPr>
          <p:cNvGrpSpPr/>
          <p:nvPr/>
        </p:nvGrpSpPr>
        <p:grpSpPr>
          <a:xfrm>
            <a:off x="4959913" y="3758343"/>
            <a:ext cx="189352" cy="189412"/>
            <a:chOff x="3795386" y="7152361"/>
            <a:chExt cx="496702" cy="450937"/>
          </a:xfrm>
        </p:grpSpPr>
        <p:sp>
          <p:nvSpPr>
            <p:cNvPr id="47" name="화살표: 갈매기형 수장 66">
              <a:extLst>
                <a:ext uri="{FF2B5EF4-FFF2-40B4-BE49-F238E27FC236}">
                  <a16:creationId xmlns:a16="http://schemas.microsoft.com/office/drawing/2014/main" id="{143D1DAF-6FFC-9A9A-6217-6E9DDA99357B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8" name="화살표: 갈매기형 수장 67">
              <a:extLst>
                <a:ext uri="{FF2B5EF4-FFF2-40B4-BE49-F238E27FC236}">
                  <a16:creationId xmlns:a16="http://schemas.microsoft.com/office/drawing/2014/main" id="{CB3ED660-6183-FD33-F548-72DA614FB9DD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9" name="화살표: 갈매기형 수장 68">
              <a:extLst>
                <a:ext uri="{FF2B5EF4-FFF2-40B4-BE49-F238E27FC236}">
                  <a16:creationId xmlns:a16="http://schemas.microsoft.com/office/drawing/2014/main" id="{488C3D26-F1EB-296F-2CA2-AB279D725A6F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50" name="그룹 65">
            <a:extLst>
              <a:ext uri="{FF2B5EF4-FFF2-40B4-BE49-F238E27FC236}">
                <a16:creationId xmlns:a16="http://schemas.microsoft.com/office/drawing/2014/main" id="{216FDA50-E2A1-A8BC-8067-0520D1FBDF1F}"/>
              </a:ext>
            </a:extLst>
          </p:cNvPr>
          <p:cNvGrpSpPr/>
          <p:nvPr/>
        </p:nvGrpSpPr>
        <p:grpSpPr>
          <a:xfrm>
            <a:off x="4959913" y="4327938"/>
            <a:ext cx="189352" cy="189412"/>
            <a:chOff x="3795386" y="7152361"/>
            <a:chExt cx="496702" cy="450937"/>
          </a:xfrm>
        </p:grpSpPr>
        <p:sp>
          <p:nvSpPr>
            <p:cNvPr id="51" name="화살표: 갈매기형 수장 66">
              <a:extLst>
                <a:ext uri="{FF2B5EF4-FFF2-40B4-BE49-F238E27FC236}">
                  <a16:creationId xmlns:a16="http://schemas.microsoft.com/office/drawing/2014/main" id="{B244100E-6E83-7359-907C-D8E7416225F4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2" name="화살표: 갈매기형 수장 67">
              <a:extLst>
                <a:ext uri="{FF2B5EF4-FFF2-40B4-BE49-F238E27FC236}">
                  <a16:creationId xmlns:a16="http://schemas.microsoft.com/office/drawing/2014/main" id="{2DD0C4E3-E0A9-DD32-290E-4C7324F14382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3" name="화살표: 갈매기형 수장 68">
              <a:extLst>
                <a:ext uri="{FF2B5EF4-FFF2-40B4-BE49-F238E27FC236}">
                  <a16:creationId xmlns:a16="http://schemas.microsoft.com/office/drawing/2014/main" id="{41F6FCF0-8345-05EF-C90C-EEAC0EDF30DC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54" name="그룹 65">
            <a:extLst>
              <a:ext uri="{FF2B5EF4-FFF2-40B4-BE49-F238E27FC236}">
                <a16:creationId xmlns:a16="http://schemas.microsoft.com/office/drawing/2014/main" id="{3BAC8AB2-4C78-FC73-E817-62EB49227C96}"/>
              </a:ext>
            </a:extLst>
          </p:cNvPr>
          <p:cNvGrpSpPr/>
          <p:nvPr/>
        </p:nvGrpSpPr>
        <p:grpSpPr>
          <a:xfrm>
            <a:off x="4959913" y="4891039"/>
            <a:ext cx="189352" cy="189412"/>
            <a:chOff x="3795386" y="7152361"/>
            <a:chExt cx="496702" cy="450937"/>
          </a:xfrm>
        </p:grpSpPr>
        <p:sp>
          <p:nvSpPr>
            <p:cNvPr id="55" name="화살표: 갈매기형 수장 66">
              <a:extLst>
                <a:ext uri="{FF2B5EF4-FFF2-40B4-BE49-F238E27FC236}">
                  <a16:creationId xmlns:a16="http://schemas.microsoft.com/office/drawing/2014/main" id="{C0B91AB5-1177-6733-E188-2B9244D78CD5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6" name="화살표: 갈매기형 수장 67">
              <a:extLst>
                <a:ext uri="{FF2B5EF4-FFF2-40B4-BE49-F238E27FC236}">
                  <a16:creationId xmlns:a16="http://schemas.microsoft.com/office/drawing/2014/main" id="{10E1F489-1797-6B1B-0200-BE22E8B9F34D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7" name="화살표: 갈매기형 수장 68">
              <a:extLst>
                <a:ext uri="{FF2B5EF4-FFF2-40B4-BE49-F238E27FC236}">
                  <a16:creationId xmlns:a16="http://schemas.microsoft.com/office/drawing/2014/main" id="{397FB26C-74F6-9C14-B623-D0CDA887F7F4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58" name="그룹 65">
            <a:extLst>
              <a:ext uri="{FF2B5EF4-FFF2-40B4-BE49-F238E27FC236}">
                <a16:creationId xmlns:a16="http://schemas.microsoft.com/office/drawing/2014/main" id="{2DC10C5C-42B5-EE8A-61E7-5766535F10FB}"/>
              </a:ext>
            </a:extLst>
          </p:cNvPr>
          <p:cNvGrpSpPr/>
          <p:nvPr/>
        </p:nvGrpSpPr>
        <p:grpSpPr>
          <a:xfrm>
            <a:off x="4959913" y="5471854"/>
            <a:ext cx="189352" cy="189412"/>
            <a:chOff x="3795386" y="7152361"/>
            <a:chExt cx="496702" cy="450937"/>
          </a:xfrm>
        </p:grpSpPr>
        <p:sp>
          <p:nvSpPr>
            <p:cNvPr id="59" name="화살표: 갈매기형 수장 66">
              <a:extLst>
                <a:ext uri="{FF2B5EF4-FFF2-40B4-BE49-F238E27FC236}">
                  <a16:creationId xmlns:a16="http://schemas.microsoft.com/office/drawing/2014/main" id="{99F90CAF-1947-3C73-3257-A21081E7EA89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0" name="화살표: 갈매기형 수장 67">
              <a:extLst>
                <a:ext uri="{FF2B5EF4-FFF2-40B4-BE49-F238E27FC236}">
                  <a16:creationId xmlns:a16="http://schemas.microsoft.com/office/drawing/2014/main" id="{4C7AF97F-7934-3DE4-E4B5-A7AB0BA8E877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1" name="화살표: 갈매기형 수장 68">
              <a:extLst>
                <a:ext uri="{FF2B5EF4-FFF2-40B4-BE49-F238E27FC236}">
                  <a16:creationId xmlns:a16="http://schemas.microsoft.com/office/drawing/2014/main" id="{563D2EEF-BE64-6D8B-DD21-95881FAFBAE8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8535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D8A-F1CA-9947-FA4E-7AE6506F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5875CB3-86D6-65E0-C4B1-86D24ECB29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b="1" dirty="0"/>
              <a:t>진화하는 성인교육 시장의 새로운 시장 선도업체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30F8EC-0245-23CD-5E02-BB7F757F3B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/>
              <a:t>각 사 홈페이지</a:t>
            </a:r>
            <a:r>
              <a:rPr lang="en-US" altLang="ko-KR" dirty="0"/>
              <a:t>/</a:t>
            </a:r>
            <a:r>
              <a:rPr lang="ko-KR" altLang="en-US" dirty="0"/>
              <a:t>유튜브</a:t>
            </a:r>
            <a:r>
              <a:rPr lang="en-US" altLang="ko-KR" dirty="0"/>
              <a:t>/</a:t>
            </a:r>
            <a:r>
              <a:rPr lang="ko-KR" altLang="en-US" dirty="0"/>
              <a:t>인스타그램 페이지</a:t>
            </a:r>
            <a:r>
              <a:rPr lang="en-US" altLang="ko-KR" dirty="0"/>
              <a:t>, </a:t>
            </a:r>
            <a:r>
              <a:rPr lang="ko-KR" altLang="en-US" dirty="0"/>
              <a:t>각종 언론보도</a:t>
            </a:r>
            <a:r>
              <a:rPr lang="en-US" altLang="ko-KR" dirty="0"/>
              <a:t>, DART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D6BCCF-D7B8-11A0-B162-2E6B2D807E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4C1A3F-9818-78C4-D26D-25C2C37936EF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02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F6C01-3C6E-CA5A-9167-DD3FDE2D0E7C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성인교육 시장이 전통적인 학력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자격 중심에서 </a:t>
            </a:r>
            <a:r>
              <a:rPr lang="en-US" altLang="ko-KR" sz="1400" b="1" dirty="0">
                <a:solidFill>
                  <a:srgbClr val="3D3D3D"/>
                </a:solidFill>
              </a:rPr>
              <a:t>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부업 중심의 </a:t>
            </a:r>
            <a:r>
              <a:rPr lang="en-US" altLang="ko-KR" sz="1400" b="1" dirty="0">
                <a:solidFill>
                  <a:srgbClr val="3D3D3D"/>
                </a:solidFill>
              </a:rPr>
              <a:t>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패러다임으로 빠르게 전환되는 가운데</a:t>
            </a:r>
            <a:r>
              <a:rPr lang="en-US" altLang="ko-KR" sz="1400" b="1" dirty="0">
                <a:solidFill>
                  <a:srgbClr val="3D3D3D"/>
                </a:solidFill>
              </a:rPr>
              <a:t>, TITAN</a:t>
            </a:r>
            <a:r>
              <a:rPr lang="ko-KR" altLang="en-US" sz="1400" b="1" dirty="0">
                <a:solidFill>
                  <a:srgbClr val="3D3D3D"/>
                </a:solidFill>
              </a:rPr>
              <a:t>은 이 흐름을 선도적으로 주도하며 새로운 시장을 형성해 나가는 개척자로 자리매김하고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194C98-B24F-5D25-2B09-6B091C0879E0}"/>
              </a:ext>
            </a:extLst>
          </p:cNvPr>
          <p:cNvSpPr/>
          <p:nvPr/>
        </p:nvSpPr>
        <p:spPr>
          <a:xfrm>
            <a:off x="453000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</a:t>
            </a:r>
            <a:r>
              <a:rPr lang="en-US" altLang="ko-KR" sz="1200" b="1" dirty="0">
                <a:solidFill>
                  <a:schemeClr val="bg1"/>
                </a:solidFill>
              </a:rPr>
              <a:t>D2C Skill-to-Earn </a:t>
            </a:r>
            <a:r>
              <a:rPr lang="ko-KR" altLang="en-US" sz="1200" b="1" dirty="0">
                <a:solidFill>
                  <a:schemeClr val="bg1"/>
                </a:solidFill>
              </a:rPr>
              <a:t>지식 플랫폼 </a:t>
            </a:r>
            <a:r>
              <a:rPr lang="en-US" altLang="ko-KR" sz="1200" b="1" dirty="0">
                <a:solidFill>
                  <a:schemeClr val="bg1"/>
                </a:solidFill>
              </a:rPr>
              <a:t>Player </a:t>
            </a:r>
            <a:r>
              <a:rPr lang="ko-KR" altLang="en-US" sz="1200" b="1" dirty="0">
                <a:solidFill>
                  <a:schemeClr val="bg1"/>
                </a:solidFill>
              </a:rPr>
              <a:t>비교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9" name="표 28">
            <a:extLst>
              <a:ext uri="{FF2B5EF4-FFF2-40B4-BE49-F238E27FC236}">
                <a16:creationId xmlns:a16="http://schemas.microsoft.com/office/drawing/2014/main" id="{BA51FB1E-B674-5C76-7079-325F43A14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218953"/>
              </p:ext>
            </p:extLst>
          </p:nvPr>
        </p:nvGraphicFramePr>
        <p:xfrm>
          <a:off x="685800" y="2095322"/>
          <a:ext cx="8757302" cy="3711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106">
                  <a:extLst>
                    <a:ext uri="{9D8B030D-6E8A-4147-A177-3AD203B41FA5}">
                      <a16:colId xmlns:a16="http://schemas.microsoft.com/office/drawing/2014/main" val="775626028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714373574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1267368470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4240548715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1452096826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2759268855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3776723997"/>
                    </a:ext>
                  </a:extLst>
                </a:gridCol>
              </a:tblGrid>
              <a:tr h="249441">
                <a:tc>
                  <a:txBody>
                    <a:bodyPr/>
                    <a:lstStyle/>
                    <a:p>
                      <a:pPr latinLnBrk="1"/>
                      <a:endParaRPr lang="ko-KR" altLang="en-US" sz="1000" b="1" i="0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1244A"/>
                        </a:solidFill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유저 확보</a:t>
                      </a:r>
                      <a:r>
                        <a:rPr lang="en-US" altLang="ko-KR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마케팅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1E1E3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크리에이터</a:t>
                      </a:r>
                      <a:r>
                        <a:rPr lang="en-US" altLang="ko-KR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콘텐츠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1E1E3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평균 커리큘럼 단가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영업성과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285427"/>
                  </a:ext>
                </a:extLst>
              </a:tr>
              <a:tr h="2494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회사명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마케팅 역량</a:t>
                      </a:r>
                    </a:p>
                  </a:txBody>
                  <a:tcPr marL="0" marR="0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세일즈 역량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크리에이터 역량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강의 콘텐츠 역량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10771"/>
                  </a:ext>
                </a:extLst>
              </a:tr>
              <a:tr h="6929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11244A"/>
                          </a:solidFill>
                          <a:latin typeface="+mj-ea"/>
                          <a:ea typeface="+mj-ea"/>
                          <a:cs typeface="+mn-cs"/>
                        </a:rPr>
                        <a:t>TITAN</a:t>
                      </a:r>
                      <a:endParaRPr lang="ko-KR" altLang="en-US" sz="800" kern="1200" spc="-6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90626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539DFF"/>
                          </a:solidFill>
                          <a:latin typeface="+mj-ea"/>
                          <a:ea typeface="+mj-ea"/>
                          <a:cs typeface="+mn-cs"/>
                        </a:rPr>
                        <a:t>월급쟁이부자들</a:t>
                      </a: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42984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데이원</a:t>
                      </a:r>
                      <a:endParaRPr lang="ko-KR" altLang="en-US" sz="900" kern="1200" spc="-6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84314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클래스</a:t>
                      </a:r>
                      <a:r>
                        <a:rPr lang="en-US" altLang="ko-KR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101</a:t>
                      </a:r>
                      <a:endParaRPr lang="ko-KR" altLang="en-US" sz="900" kern="1200" spc="-6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78688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클래스유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856165"/>
                  </a:ext>
                </a:extLst>
              </a:tr>
            </a:tbl>
          </a:graphicData>
        </a:graphic>
      </p:graphicFrame>
      <p:sp>
        <p:nvSpPr>
          <p:cNvPr id="10" name="사각형: 둥근 모서리 245">
            <a:extLst>
              <a:ext uri="{FF2B5EF4-FFF2-40B4-BE49-F238E27FC236}">
                <a16:creationId xmlns:a16="http://schemas.microsoft.com/office/drawing/2014/main" id="{0A07680B-6C9F-8A15-596A-45D065CC4B7B}"/>
              </a:ext>
            </a:extLst>
          </p:cNvPr>
          <p:cNvSpPr/>
          <p:nvPr/>
        </p:nvSpPr>
        <p:spPr>
          <a:xfrm>
            <a:off x="1592843" y="2628135"/>
            <a:ext cx="1230853" cy="626132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800" spc="-60" dirty="0">
                <a:solidFill>
                  <a:schemeClr val="bg1"/>
                </a:solidFill>
              </a:rPr>
              <a:t>18</a:t>
            </a:r>
            <a:r>
              <a:rPr lang="ko-KR" altLang="en-US" sz="800" spc="-60" dirty="0">
                <a:solidFill>
                  <a:schemeClr val="bg1"/>
                </a:solidFill>
              </a:rPr>
              <a:t>개 채널 </a:t>
            </a:r>
            <a:r>
              <a:rPr lang="en-US" altLang="ko-KR" sz="800" spc="-60" dirty="0">
                <a:solidFill>
                  <a:schemeClr val="bg1"/>
                </a:solidFill>
              </a:rPr>
              <a:t>/ </a:t>
            </a:r>
            <a:r>
              <a:rPr lang="ko-KR" altLang="en-US" sz="800" spc="-60" dirty="0">
                <a:solidFill>
                  <a:schemeClr val="bg1"/>
                </a:solidFill>
              </a:rPr>
              <a:t>약 </a:t>
            </a:r>
            <a:r>
              <a:rPr lang="en-US" altLang="ko-KR" sz="800" spc="-60" dirty="0">
                <a:solidFill>
                  <a:schemeClr val="bg1"/>
                </a:solidFill>
              </a:rPr>
              <a:t>270</a:t>
            </a:r>
            <a:r>
              <a:rPr lang="ko-KR" altLang="en-US" sz="800" spc="-60" dirty="0">
                <a:solidFill>
                  <a:schemeClr val="bg1"/>
                </a:solidFill>
              </a:rPr>
              <a:t>만명 구독자의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온드미디어</a:t>
            </a:r>
            <a:r>
              <a:rPr lang="en-US" altLang="ko-KR" sz="700" spc="-60" dirty="0">
                <a:solidFill>
                  <a:schemeClr val="bg1"/>
                </a:solidFill>
              </a:rPr>
              <a:t>(</a:t>
            </a:r>
            <a:r>
              <a:rPr lang="ko-KR" altLang="en-US" sz="700" spc="-60" dirty="0">
                <a:solidFill>
                  <a:schemeClr val="bg1"/>
                </a:solidFill>
              </a:rPr>
              <a:t>유튜브</a:t>
            </a:r>
            <a:r>
              <a:rPr lang="en-US" altLang="ko-KR" sz="700" spc="-60" dirty="0">
                <a:solidFill>
                  <a:schemeClr val="bg1"/>
                </a:solidFill>
              </a:rPr>
              <a:t>, </a:t>
            </a:r>
            <a:r>
              <a:rPr lang="ko-KR" altLang="en-US" sz="700" spc="-60" dirty="0">
                <a:solidFill>
                  <a:schemeClr val="bg1"/>
                </a:solidFill>
              </a:rPr>
              <a:t>인스타 등</a:t>
            </a:r>
            <a:r>
              <a:rPr lang="en-US" altLang="ko-KR" sz="700" spc="-60" dirty="0">
                <a:solidFill>
                  <a:schemeClr val="bg1"/>
                </a:solidFill>
              </a:rPr>
              <a:t>) </a:t>
            </a:r>
            <a:r>
              <a:rPr lang="ko-KR" altLang="en-US" sz="800" spc="-60" dirty="0">
                <a:solidFill>
                  <a:schemeClr val="bg1"/>
                </a:solidFill>
              </a:rPr>
              <a:t>기반 콘텐츠 마케팅</a:t>
            </a:r>
          </a:p>
        </p:txBody>
      </p:sp>
      <p:sp>
        <p:nvSpPr>
          <p:cNvPr id="12" name="사각형: 둥근 모서리 245">
            <a:extLst>
              <a:ext uri="{FF2B5EF4-FFF2-40B4-BE49-F238E27FC236}">
                <a16:creationId xmlns:a16="http://schemas.microsoft.com/office/drawing/2014/main" id="{16703881-1E40-2947-33B3-B7EEB5E8208D}"/>
              </a:ext>
            </a:extLst>
          </p:cNvPr>
          <p:cNvSpPr/>
          <p:nvPr/>
        </p:nvSpPr>
        <p:spPr>
          <a:xfrm>
            <a:off x="2910124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spc="-60" dirty="0">
                <a:solidFill>
                  <a:schemeClr val="bg1"/>
                </a:solidFill>
              </a:rPr>
              <a:t>최적화된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세일즈퍼널</a:t>
            </a:r>
            <a:r>
              <a:rPr lang="ko-KR" altLang="en-US" sz="800" spc="-60" dirty="0">
                <a:solidFill>
                  <a:schemeClr val="bg1"/>
                </a:solidFill>
              </a:rPr>
              <a:t> 기반 평균 </a:t>
            </a:r>
            <a:r>
              <a:rPr lang="en-US" altLang="ko-KR" sz="800" spc="-60" dirty="0">
                <a:solidFill>
                  <a:schemeClr val="bg1"/>
                </a:solidFill>
              </a:rPr>
              <a:t>12%</a:t>
            </a:r>
            <a:r>
              <a:rPr lang="ko-KR" altLang="en-US" sz="800" spc="-60" dirty="0">
                <a:solidFill>
                  <a:schemeClr val="bg1"/>
                </a:solidFill>
              </a:rPr>
              <a:t>에 달하는  유료강의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전환율</a:t>
            </a:r>
            <a:endParaRPr lang="ko-KR" altLang="en-US" sz="800" spc="-6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245">
            <a:extLst>
              <a:ext uri="{FF2B5EF4-FFF2-40B4-BE49-F238E27FC236}">
                <a16:creationId xmlns:a16="http://schemas.microsoft.com/office/drawing/2014/main" id="{B1947633-1348-B0E2-E8C4-EC253BCD7F1D}"/>
              </a:ext>
            </a:extLst>
          </p:cNvPr>
          <p:cNvSpPr/>
          <p:nvPr/>
        </p:nvSpPr>
        <p:spPr>
          <a:xfrm>
            <a:off x="4227405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spc="-60" dirty="0">
                <a:solidFill>
                  <a:schemeClr val="bg1"/>
                </a:solidFill>
              </a:rPr>
              <a:t>강사 퍼스널 브랜딩 및 자체 육성을 기반한 차별화된 크리에이터 </a:t>
            </a:r>
            <a:r>
              <a:rPr lang="en-US" altLang="ko-KR" sz="800" spc="-60" dirty="0">
                <a:solidFill>
                  <a:schemeClr val="bg1"/>
                </a:solidFill>
              </a:rPr>
              <a:t>Pool</a:t>
            </a:r>
            <a:endParaRPr lang="ko-KR" altLang="en-US" sz="800" spc="-60" dirty="0">
              <a:solidFill>
                <a:schemeClr val="bg1"/>
              </a:solidFill>
            </a:endParaRPr>
          </a:p>
        </p:txBody>
      </p:sp>
      <p:sp>
        <p:nvSpPr>
          <p:cNvPr id="51" name="사각형: 둥근 모서리 245">
            <a:extLst>
              <a:ext uri="{FF2B5EF4-FFF2-40B4-BE49-F238E27FC236}">
                <a16:creationId xmlns:a16="http://schemas.microsoft.com/office/drawing/2014/main" id="{A08EB2FC-8901-E127-BE50-031093798BE3}"/>
              </a:ext>
            </a:extLst>
          </p:cNvPr>
          <p:cNvSpPr/>
          <p:nvPr/>
        </p:nvSpPr>
        <p:spPr>
          <a:xfrm>
            <a:off x="5536803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spc="-60" dirty="0">
                <a:solidFill>
                  <a:schemeClr val="bg1"/>
                </a:solidFill>
              </a:rPr>
              <a:t>커리큘럼 구성</a:t>
            </a:r>
            <a:r>
              <a:rPr lang="en-US" altLang="ko-KR" sz="800" spc="-60" dirty="0">
                <a:solidFill>
                  <a:schemeClr val="bg1"/>
                </a:solidFill>
              </a:rPr>
              <a:t>, </a:t>
            </a:r>
            <a:r>
              <a:rPr lang="ko-KR" altLang="en-US" sz="800" spc="-60" dirty="0">
                <a:solidFill>
                  <a:schemeClr val="bg1"/>
                </a:solidFill>
              </a:rPr>
              <a:t>강의 진행 방식 코칭 등 수강 만족도 극대화가 가능한 강의 구성</a:t>
            </a:r>
          </a:p>
        </p:txBody>
      </p:sp>
      <p:sp>
        <p:nvSpPr>
          <p:cNvPr id="52" name="사각형: 둥근 모서리 245">
            <a:extLst>
              <a:ext uri="{FF2B5EF4-FFF2-40B4-BE49-F238E27FC236}">
                <a16:creationId xmlns:a16="http://schemas.microsoft.com/office/drawing/2014/main" id="{85EBA09B-A404-243E-E15A-9038D74FEFA5}"/>
              </a:ext>
            </a:extLst>
          </p:cNvPr>
          <p:cNvSpPr/>
          <p:nvPr/>
        </p:nvSpPr>
        <p:spPr>
          <a:xfrm>
            <a:off x="6854084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spc="-60" dirty="0">
                <a:solidFill>
                  <a:schemeClr val="bg1"/>
                </a:solidFill>
              </a:rPr>
              <a:t>평균 약 </a:t>
            </a:r>
            <a:r>
              <a:rPr lang="en-US" altLang="ko-KR" sz="800" spc="-60" dirty="0">
                <a:solidFill>
                  <a:schemeClr val="bg1"/>
                </a:solidFill>
              </a:rPr>
              <a:t>250</a:t>
            </a:r>
            <a:r>
              <a:rPr lang="ko-KR" altLang="en-US" sz="800" spc="-60" dirty="0">
                <a:solidFill>
                  <a:schemeClr val="bg1"/>
                </a:solidFill>
              </a:rPr>
              <a:t>만원에 달하는 높은 커리큘럼당 단가</a:t>
            </a:r>
          </a:p>
        </p:txBody>
      </p:sp>
      <p:sp>
        <p:nvSpPr>
          <p:cNvPr id="53" name="사각형: 둥근 모서리 245">
            <a:extLst>
              <a:ext uri="{FF2B5EF4-FFF2-40B4-BE49-F238E27FC236}">
                <a16:creationId xmlns:a16="http://schemas.microsoft.com/office/drawing/2014/main" id="{6327EDAE-7CB3-06C9-EB0C-08B26546F4B6}"/>
              </a:ext>
            </a:extLst>
          </p:cNvPr>
          <p:cNvSpPr/>
          <p:nvPr/>
        </p:nvSpPr>
        <p:spPr>
          <a:xfrm>
            <a:off x="8180891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2EA37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POSITIVE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800" spc="-60" dirty="0">
                <a:solidFill>
                  <a:schemeClr val="bg1"/>
                </a:solidFill>
              </a:rPr>
              <a:t>’25</a:t>
            </a:r>
            <a:r>
              <a:rPr lang="ko-KR" altLang="en-US" sz="800" spc="-60" dirty="0">
                <a:solidFill>
                  <a:schemeClr val="bg1"/>
                </a:solidFill>
              </a:rPr>
              <a:t>년 예상 매출액 약 </a:t>
            </a:r>
            <a:r>
              <a:rPr lang="en-US" altLang="ko-KR" sz="800" spc="-60" dirty="0">
                <a:solidFill>
                  <a:schemeClr val="bg1"/>
                </a:solidFill>
              </a:rPr>
              <a:t>750</a:t>
            </a:r>
            <a:r>
              <a:rPr lang="ko-KR" altLang="en-US" sz="800" spc="-60" dirty="0">
                <a:solidFill>
                  <a:schemeClr val="bg1"/>
                </a:solidFill>
              </a:rPr>
              <a:t>억원 영업이익 </a:t>
            </a:r>
            <a:r>
              <a:rPr lang="en-US" altLang="ko-KR" sz="800" spc="-60" dirty="0">
                <a:solidFill>
                  <a:schemeClr val="bg1"/>
                </a:solidFill>
              </a:rPr>
              <a:t>220</a:t>
            </a:r>
            <a:r>
              <a:rPr lang="ko-KR" altLang="en-US" sz="800" spc="-60" dirty="0">
                <a:solidFill>
                  <a:schemeClr val="bg1"/>
                </a:solidFill>
              </a:rPr>
              <a:t>억원</a:t>
            </a:r>
          </a:p>
        </p:txBody>
      </p:sp>
      <p:sp>
        <p:nvSpPr>
          <p:cNvPr id="54" name="사각형: 둥근 모서리 245">
            <a:extLst>
              <a:ext uri="{FF2B5EF4-FFF2-40B4-BE49-F238E27FC236}">
                <a16:creationId xmlns:a16="http://schemas.microsoft.com/office/drawing/2014/main" id="{6CD529D3-F520-F676-AE05-5CBBFFAE563F}"/>
              </a:ext>
            </a:extLst>
          </p:cNvPr>
          <p:cNvSpPr/>
          <p:nvPr/>
        </p:nvSpPr>
        <p:spPr>
          <a:xfrm>
            <a:off x="1592843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b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</a:br>
            <a:r>
              <a:rPr lang="ko-KR" altLang="en-US" sz="800" spc="-60" dirty="0">
                <a:solidFill>
                  <a:schemeClr val="bg1"/>
                </a:solidFill>
              </a:rPr>
              <a:t>단일채널 약 </a:t>
            </a:r>
            <a:r>
              <a:rPr lang="en-US" altLang="ko-KR" sz="800" spc="-60" dirty="0">
                <a:solidFill>
                  <a:schemeClr val="bg1"/>
                </a:solidFill>
              </a:rPr>
              <a:t>230</a:t>
            </a:r>
            <a:r>
              <a:rPr lang="ko-KR" altLang="en-US" sz="800" spc="-60" dirty="0">
                <a:solidFill>
                  <a:schemeClr val="bg1"/>
                </a:solidFill>
              </a:rPr>
              <a:t>만명 구독자</a:t>
            </a:r>
            <a:r>
              <a:rPr lang="en-US" altLang="ko-KR" sz="800" spc="-60" dirty="0">
                <a:solidFill>
                  <a:schemeClr val="bg1"/>
                </a:solidFill>
              </a:rPr>
              <a:t>/</a:t>
            </a:r>
            <a:r>
              <a:rPr lang="ko-KR" altLang="en-US" sz="800" spc="-60" dirty="0" err="1">
                <a:solidFill>
                  <a:schemeClr val="bg1"/>
                </a:solidFill>
              </a:rPr>
              <a:t>팔로워</a:t>
            </a:r>
            <a:endParaRPr lang="en-US" altLang="ko-KR" sz="700" spc="-60" dirty="0">
              <a:solidFill>
                <a:schemeClr val="bg1"/>
              </a:solidFill>
            </a:endParaRPr>
          </a:p>
        </p:txBody>
      </p:sp>
      <p:sp>
        <p:nvSpPr>
          <p:cNvPr id="55" name="사각형: 둥근 모서리 245">
            <a:extLst>
              <a:ext uri="{FF2B5EF4-FFF2-40B4-BE49-F238E27FC236}">
                <a16:creationId xmlns:a16="http://schemas.microsoft.com/office/drawing/2014/main" id="{93580094-3197-6BE6-068E-54C16ABBA771}"/>
              </a:ext>
            </a:extLst>
          </p:cNvPr>
          <p:cNvSpPr/>
          <p:nvPr/>
        </p:nvSpPr>
        <p:spPr>
          <a:xfrm>
            <a:off x="2910124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평균 </a:t>
            </a:r>
            <a:r>
              <a:rPr lang="en-US" altLang="ko-KR" sz="800" spc="-60" dirty="0">
                <a:solidFill>
                  <a:schemeClr val="bg1"/>
                </a:solidFill>
              </a:rPr>
              <a:t>10%</a:t>
            </a:r>
            <a:r>
              <a:rPr lang="ko-KR" altLang="en-US" sz="800" spc="-60" dirty="0">
                <a:solidFill>
                  <a:schemeClr val="bg1"/>
                </a:solidFill>
              </a:rPr>
              <a:t>대 유료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전환율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56" name="사각형: 둥근 모서리 245">
            <a:extLst>
              <a:ext uri="{FF2B5EF4-FFF2-40B4-BE49-F238E27FC236}">
                <a16:creationId xmlns:a16="http://schemas.microsoft.com/office/drawing/2014/main" id="{861B9D95-DA07-D27A-AD19-0D1F9E4452E2}"/>
              </a:ext>
            </a:extLst>
          </p:cNvPr>
          <p:cNvSpPr/>
          <p:nvPr/>
        </p:nvSpPr>
        <p:spPr>
          <a:xfrm>
            <a:off x="4227405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경험 성과 기반의 일반적 크리에이터</a:t>
            </a:r>
            <a:r>
              <a:rPr lang="en-US" altLang="ko-KR" sz="800" spc="-60" dirty="0">
                <a:solidFill>
                  <a:schemeClr val="bg1"/>
                </a:solidFill>
              </a:rPr>
              <a:t>/</a:t>
            </a:r>
            <a:r>
              <a:rPr lang="ko-KR" altLang="en-US" sz="800" spc="-60" dirty="0" err="1">
                <a:solidFill>
                  <a:schemeClr val="bg1"/>
                </a:solidFill>
              </a:rPr>
              <a:t>인플루언서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57" name="사각형: 둥근 모서리 245">
            <a:extLst>
              <a:ext uri="{FF2B5EF4-FFF2-40B4-BE49-F238E27FC236}">
                <a16:creationId xmlns:a16="http://schemas.microsoft.com/office/drawing/2014/main" id="{CDF7C3D1-244F-5CC0-210B-76741CC592B9}"/>
              </a:ext>
            </a:extLst>
          </p:cNvPr>
          <p:cNvSpPr/>
          <p:nvPr/>
        </p:nvSpPr>
        <p:spPr>
          <a:xfrm>
            <a:off x="5536803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커리큘럼 자체 기획 및 제작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58" name="사각형: 둥근 모서리 245">
            <a:extLst>
              <a:ext uri="{FF2B5EF4-FFF2-40B4-BE49-F238E27FC236}">
                <a16:creationId xmlns:a16="http://schemas.microsoft.com/office/drawing/2014/main" id="{A3E13BC3-98AF-0D1A-01D4-851CE9EB597B}"/>
              </a:ext>
            </a:extLst>
          </p:cNvPr>
          <p:cNvSpPr/>
          <p:nvPr/>
        </p:nvSpPr>
        <p:spPr>
          <a:xfrm>
            <a:off x="6854084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평균 </a:t>
            </a:r>
            <a:r>
              <a:rPr lang="en-US" altLang="ko-KR" sz="800" spc="-60" dirty="0">
                <a:solidFill>
                  <a:schemeClr val="bg1"/>
                </a:solidFill>
              </a:rPr>
              <a:t>30</a:t>
            </a:r>
            <a:r>
              <a:rPr lang="ko-KR" altLang="en-US" sz="800" spc="-60" dirty="0" err="1">
                <a:solidFill>
                  <a:schemeClr val="bg1"/>
                </a:solidFill>
              </a:rPr>
              <a:t>만원대</a:t>
            </a:r>
            <a:r>
              <a:rPr lang="ko-KR" altLang="en-US" sz="800" spc="-60" dirty="0">
                <a:solidFill>
                  <a:schemeClr val="bg1"/>
                </a:solidFill>
              </a:rPr>
              <a:t> 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59" name="사각형: 둥근 모서리 245">
            <a:extLst>
              <a:ext uri="{FF2B5EF4-FFF2-40B4-BE49-F238E27FC236}">
                <a16:creationId xmlns:a16="http://schemas.microsoft.com/office/drawing/2014/main" id="{30A44660-B79D-45C7-90C4-CE7542A78704}"/>
              </a:ext>
            </a:extLst>
          </p:cNvPr>
          <p:cNvSpPr/>
          <p:nvPr/>
        </p:nvSpPr>
        <p:spPr>
          <a:xfrm>
            <a:off x="8180891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2EA37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POSITIVE</a:t>
            </a:r>
          </a:p>
          <a:p>
            <a:pPr algn="ctr">
              <a:spcAft>
                <a:spcPts val="100"/>
              </a:spcAft>
            </a:pPr>
            <a:r>
              <a:rPr lang="en-US" altLang="ko-KR" sz="800" spc="-60" dirty="0">
                <a:solidFill>
                  <a:schemeClr val="bg1"/>
                </a:solidFill>
              </a:rPr>
              <a:t>‘24</a:t>
            </a:r>
            <a:r>
              <a:rPr lang="ko-KR" altLang="en-US" sz="800" spc="-60" dirty="0">
                <a:solidFill>
                  <a:schemeClr val="bg1"/>
                </a:solidFill>
              </a:rPr>
              <a:t>년 매출액 약 </a:t>
            </a:r>
            <a:r>
              <a:rPr lang="en-US" altLang="ko-KR" sz="800" spc="-60" dirty="0">
                <a:solidFill>
                  <a:schemeClr val="bg1"/>
                </a:solidFill>
              </a:rPr>
              <a:t>500</a:t>
            </a:r>
            <a:r>
              <a:rPr lang="ko-KR" altLang="en-US" sz="800" spc="-60" dirty="0">
                <a:solidFill>
                  <a:schemeClr val="bg1"/>
                </a:solidFill>
              </a:rPr>
              <a:t>억원 영업이익 </a:t>
            </a:r>
            <a:r>
              <a:rPr lang="en-US" altLang="ko-KR" sz="800" spc="-60" dirty="0">
                <a:solidFill>
                  <a:schemeClr val="bg1"/>
                </a:solidFill>
              </a:rPr>
              <a:t>280</a:t>
            </a:r>
            <a:r>
              <a:rPr lang="ko-KR" altLang="en-US" sz="800" spc="-60" dirty="0">
                <a:solidFill>
                  <a:schemeClr val="bg1"/>
                </a:solidFill>
              </a:rPr>
              <a:t>억원 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60" name="사각형: 둥근 모서리 245">
            <a:extLst>
              <a:ext uri="{FF2B5EF4-FFF2-40B4-BE49-F238E27FC236}">
                <a16:creationId xmlns:a16="http://schemas.microsoft.com/office/drawing/2014/main" id="{44EFAA99-359F-E705-27E8-92FFA681086A}"/>
              </a:ext>
            </a:extLst>
          </p:cNvPr>
          <p:cNvSpPr/>
          <p:nvPr/>
        </p:nvSpPr>
        <p:spPr>
          <a:xfrm>
            <a:off x="1592843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약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9.3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만명 구독자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팔로워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사각형: 둥근 모서리 245">
            <a:extLst>
              <a:ext uri="{FF2B5EF4-FFF2-40B4-BE49-F238E27FC236}">
                <a16:creationId xmlns:a16="http://schemas.microsoft.com/office/drawing/2014/main" id="{42C40D78-0EA9-C926-1FD8-CAEC41FB9E21}"/>
              </a:ext>
            </a:extLst>
          </p:cNvPr>
          <p:cNvSpPr/>
          <p:nvPr/>
        </p:nvSpPr>
        <p:spPr>
          <a:xfrm>
            <a:off x="2910124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평균 </a:t>
            </a:r>
            <a:r>
              <a:rPr lang="en-US" altLang="ko-KR" sz="800" spc="-60" dirty="0">
                <a:solidFill>
                  <a:schemeClr val="bg1"/>
                </a:solidFill>
              </a:rPr>
              <a:t>8% </a:t>
            </a:r>
            <a:r>
              <a:rPr lang="ko-KR" altLang="en-US" sz="800" spc="-60" dirty="0">
                <a:solidFill>
                  <a:schemeClr val="bg1"/>
                </a:solidFill>
              </a:rPr>
              <a:t>유료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전환율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62" name="사각형: 둥근 모서리 245">
            <a:extLst>
              <a:ext uri="{FF2B5EF4-FFF2-40B4-BE49-F238E27FC236}">
                <a16:creationId xmlns:a16="http://schemas.microsoft.com/office/drawing/2014/main" id="{1AA88839-BC3A-7887-7E87-5EFFBC71CFFA}"/>
              </a:ext>
            </a:extLst>
          </p:cNvPr>
          <p:cNvSpPr/>
          <p:nvPr/>
        </p:nvSpPr>
        <p:spPr>
          <a:xfrm>
            <a:off x="4227405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일반적인 외부 강사 중심</a:t>
            </a:r>
          </a:p>
        </p:txBody>
      </p:sp>
      <p:sp>
        <p:nvSpPr>
          <p:cNvPr id="63" name="사각형: 둥근 모서리 245">
            <a:extLst>
              <a:ext uri="{FF2B5EF4-FFF2-40B4-BE49-F238E27FC236}">
                <a16:creationId xmlns:a16="http://schemas.microsoft.com/office/drawing/2014/main" id="{B4A8D2DF-5B02-334F-BB2A-E8A6C32CE1B9}"/>
              </a:ext>
            </a:extLst>
          </p:cNvPr>
          <p:cNvSpPr/>
          <p:nvPr/>
        </p:nvSpPr>
        <p:spPr>
          <a:xfrm>
            <a:off x="5536803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체계적인 커리큘럼 기획</a:t>
            </a:r>
            <a:r>
              <a:rPr lang="en-US" altLang="ko-KR" sz="800" spc="-60" dirty="0">
                <a:solidFill>
                  <a:schemeClr val="bg1"/>
                </a:solidFill>
              </a:rPr>
              <a:t>/</a:t>
            </a:r>
            <a:r>
              <a:rPr lang="ko-KR" altLang="en-US" sz="800" spc="-60" dirty="0">
                <a:solidFill>
                  <a:schemeClr val="bg1"/>
                </a:solidFill>
              </a:rPr>
              <a:t>제작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64" name="사각형: 둥근 모서리 245">
            <a:extLst>
              <a:ext uri="{FF2B5EF4-FFF2-40B4-BE49-F238E27FC236}">
                <a16:creationId xmlns:a16="http://schemas.microsoft.com/office/drawing/2014/main" id="{A40A93E3-A523-7C97-EAEE-43B049C3934C}"/>
              </a:ext>
            </a:extLst>
          </p:cNvPr>
          <p:cNvSpPr/>
          <p:nvPr/>
        </p:nvSpPr>
        <p:spPr>
          <a:xfrm>
            <a:off x="6854084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평균 </a:t>
            </a:r>
            <a:r>
              <a:rPr lang="en-US" altLang="ko-KR" sz="800" spc="-60" dirty="0">
                <a:solidFill>
                  <a:schemeClr val="bg1"/>
                </a:solidFill>
              </a:rPr>
              <a:t>20</a:t>
            </a:r>
            <a:r>
              <a:rPr lang="ko-KR" altLang="en-US" sz="800" spc="-60" dirty="0" err="1">
                <a:solidFill>
                  <a:schemeClr val="bg1"/>
                </a:solidFill>
              </a:rPr>
              <a:t>만원대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65" name="사각형: 둥근 모서리 245">
            <a:extLst>
              <a:ext uri="{FF2B5EF4-FFF2-40B4-BE49-F238E27FC236}">
                <a16:creationId xmlns:a16="http://schemas.microsoft.com/office/drawing/2014/main" id="{7545203E-07D1-932D-5133-89F3C80813E4}"/>
              </a:ext>
            </a:extLst>
          </p:cNvPr>
          <p:cNvSpPr/>
          <p:nvPr/>
        </p:nvSpPr>
        <p:spPr>
          <a:xfrm>
            <a:off x="8180891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KoPub돋움체 Bold" panose="02020603020101020101" pitchFamily="18" charset="-127"/>
              </a:rPr>
              <a:t>NEGATIVE</a:t>
            </a:r>
          </a:p>
          <a:p>
            <a:pPr algn="ctr">
              <a:spcAft>
                <a:spcPts val="100"/>
              </a:spcAft>
            </a:pP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’21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년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’22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110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억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,103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억 적자</a:t>
            </a:r>
            <a:b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’24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년 적자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(-3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억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재전환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6" name="사각형: 둥근 모서리 245">
            <a:extLst>
              <a:ext uri="{FF2B5EF4-FFF2-40B4-BE49-F238E27FC236}">
                <a16:creationId xmlns:a16="http://schemas.microsoft.com/office/drawing/2014/main" id="{D8A639D4-359C-1325-EF7D-3FADB436E0AF}"/>
              </a:ext>
            </a:extLst>
          </p:cNvPr>
          <p:cNvSpPr/>
          <p:nvPr/>
        </p:nvSpPr>
        <p:spPr>
          <a:xfrm>
            <a:off x="1592843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약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18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만명의 구독자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팔로워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7" name="사각형: 둥근 모서리 245">
            <a:extLst>
              <a:ext uri="{FF2B5EF4-FFF2-40B4-BE49-F238E27FC236}">
                <a16:creationId xmlns:a16="http://schemas.microsoft.com/office/drawing/2014/main" id="{909E23DC-2535-6773-3A1C-059ED8F97E51}"/>
              </a:ext>
            </a:extLst>
          </p:cNvPr>
          <p:cNvSpPr/>
          <p:nvPr/>
        </p:nvSpPr>
        <p:spPr>
          <a:xfrm>
            <a:off x="2910124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낮은 유료 전환으로 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구독제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전환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8" name="사각형: 둥근 모서리 245">
            <a:extLst>
              <a:ext uri="{FF2B5EF4-FFF2-40B4-BE49-F238E27FC236}">
                <a16:creationId xmlns:a16="http://schemas.microsoft.com/office/drawing/2014/main" id="{927401A0-46FE-9E5C-5DB7-9DEC55CD05BE}"/>
              </a:ext>
            </a:extLst>
          </p:cNvPr>
          <p:cNvSpPr/>
          <p:nvPr/>
        </p:nvSpPr>
        <p:spPr>
          <a:xfrm>
            <a:off x="4227405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spc="-6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경험 성과 기반의 일반적 크리에이터</a:t>
            </a:r>
            <a:r>
              <a:rPr lang="en-US" altLang="ko-KR" sz="800" spc="-60" dirty="0">
                <a:solidFill>
                  <a:schemeClr val="bg1"/>
                </a:solidFill>
              </a:rPr>
              <a:t>/</a:t>
            </a:r>
            <a:r>
              <a:rPr lang="ko-KR" altLang="en-US" sz="800" spc="-60" dirty="0" err="1">
                <a:solidFill>
                  <a:schemeClr val="bg1"/>
                </a:solidFill>
              </a:rPr>
              <a:t>인플루언서</a:t>
            </a:r>
            <a:endParaRPr lang="ko-KR" altLang="en-US" sz="800" spc="-60" dirty="0">
              <a:solidFill>
                <a:schemeClr val="bg1"/>
              </a:solidFill>
            </a:endParaRPr>
          </a:p>
        </p:txBody>
      </p:sp>
      <p:sp>
        <p:nvSpPr>
          <p:cNvPr id="69" name="사각형: 둥근 모서리 245">
            <a:extLst>
              <a:ext uri="{FF2B5EF4-FFF2-40B4-BE49-F238E27FC236}">
                <a16:creationId xmlns:a16="http://schemas.microsoft.com/office/drawing/2014/main" id="{D0385B9E-47F8-24B3-1DD5-A899DBBA0847}"/>
              </a:ext>
            </a:extLst>
          </p:cNvPr>
          <p:cNvSpPr/>
          <p:nvPr/>
        </p:nvSpPr>
        <p:spPr>
          <a:xfrm>
            <a:off x="5536803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강사 중심의 커리큘럼 제작 </a:t>
            </a:r>
          </a:p>
        </p:txBody>
      </p:sp>
      <p:sp>
        <p:nvSpPr>
          <p:cNvPr id="70" name="사각형: 둥근 모서리 245">
            <a:extLst>
              <a:ext uri="{FF2B5EF4-FFF2-40B4-BE49-F238E27FC236}">
                <a16:creationId xmlns:a16="http://schemas.microsoft.com/office/drawing/2014/main" id="{2E316FFC-BA43-33A2-DE0D-AD03CAE8C17C}"/>
              </a:ext>
            </a:extLst>
          </p:cNvPr>
          <p:cNvSpPr/>
          <p:nvPr/>
        </p:nvSpPr>
        <p:spPr>
          <a:xfrm>
            <a:off x="6854084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Outfit ExtraBold"/>
                <a:ea typeface="KoPub돋움체 Bold" panose="02020603020101020101" pitchFamily="18" charset="-127"/>
                <a:cs typeface="+mn-cs"/>
              </a:rPr>
              <a:t>Mid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평균 </a:t>
            </a: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20</a:t>
            </a:r>
            <a:r>
              <a:rPr kumimoji="0" lang="ko-KR" altLang="en-US" sz="800" b="0" i="0" u="none" strike="noStrike" kern="1200" cap="none" spc="-6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만원대</a:t>
            </a:r>
            <a:endParaRPr kumimoji="0" lang="en-US" altLang="ko-KR" sz="800" b="0" i="0" u="none" strike="noStrike" kern="1200" cap="none" spc="-6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1" name="사각형: 둥근 모서리 245">
            <a:extLst>
              <a:ext uri="{FF2B5EF4-FFF2-40B4-BE49-F238E27FC236}">
                <a16:creationId xmlns:a16="http://schemas.microsoft.com/office/drawing/2014/main" id="{401562AE-169F-4877-2470-358FA6972D32}"/>
              </a:ext>
            </a:extLst>
          </p:cNvPr>
          <p:cNvSpPr/>
          <p:nvPr/>
        </p:nvSpPr>
        <p:spPr>
          <a:xfrm>
            <a:off x="8180891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Outfit ExtraBold"/>
                <a:ea typeface="KoPub돋움체 Bold" panose="02020603020101020101" pitchFamily="18" charset="-127"/>
                <a:cs typeface="+mn-cs"/>
              </a:rPr>
              <a:t>NEGATIVE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’21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년 대비 매출액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60%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이상 감소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사각형: 둥근 모서리 245">
            <a:extLst>
              <a:ext uri="{FF2B5EF4-FFF2-40B4-BE49-F238E27FC236}">
                <a16:creationId xmlns:a16="http://schemas.microsoft.com/office/drawing/2014/main" id="{43C23FF2-7E69-6F63-8345-B0D1CCE6BA6B}"/>
              </a:ext>
            </a:extLst>
          </p:cNvPr>
          <p:cNvSpPr/>
          <p:nvPr/>
        </p:nvSpPr>
        <p:spPr>
          <a:xfrm>
            <a:off x="1592843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약 </a:t>
            </a:r>
            <a:r>
              <a:rPr lang="en-US" altLang="ko-KR" sz="800" spc="-6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</a:rPr>
              <a:t>2.3</a:t>
            </a: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만명의 구독자</a:t>
            </a: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800" b="0" i="0" u="none" strike="noStrike" kern="1200" cap="none" spc="-6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팔로워</a:t>
            </a:r>
            <a:endParaRPr kumimoji="0" lang="en-US" altLang="ko-KR" sz="800" b="0" i="0" u="none" strike="noStrike" kern="1200" cap="none" spc="-6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3" name="사각형: 둥근 모서리 245">
            <a:extLst>
              <a:ext uri="{FF2B5EF4-FFF2-40B4-BE49-F238E27FC236}">
                <a16:creationId xmlns:a16="http://schemas.microsoft.com/office/drawing/2014/main" id="{1420D90A-0DDA-BCD7-E126-9A3DE65E9385}"/>
              </a:ext>
            </a:extLst>
          </p:cNvPr>
          <p:cNvSpPr/>
          <p:nvPr/>
        </p:nvSpPr>
        <p:spPr>
          <a:xfrm>
            <a:off x="2910124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단방향 강의 세일즈 방식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4" name="사각형: 둥근 모서리 245">
            <a:extLst>
              <a:ext uri="{FF2B5EF4-FFF2-40B4-BE49-F238E27FC236}">
                <a16:creationId xmlns:a16="http://schemas.microsoft.com/office/drawing/2014/main" id="{2CDAB328-CE32-920D-48E0-DFC797BAB968}"/>
              </a:ext>
            </a:extLst>
          </p:cNvPr>
          <p:cNvSpPr/>
          <p:nvPr/>
        </p:nvSpPr>
        <p:spPr>
          <a:xfrm>
            <a:off x="4227405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 크리에이터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인플루언서</a:t>
            </a:r>
            <a:endParaRPr lang="ko-KR" altLang="en-US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5" name="사각형: 둥근 모서리 245">
            <a:extLst>
              <a:ext uri="{FF2B5EF4-FFF2-40B4-BE49-F238E27FC236}">
                <a16:creationId xmlns:a16="http://schemas.microsoft.com/office/drawing/2014/main" id="{93FD42EB-6664-13EC-81DB-5CE0E9546F35}"/>
              </a:ext>
            </a:extLst>
          </p:cNvPr>
          <p:cNvSpPr/>
          <p:nvPr/>
        </p:nvSpPr>
        <p:spPr>
          <a:xfrm>
            <a:off x="5536803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강사 중심의 커리큘럼 제작 </a:t>
            </a:r>
          </a:p>
        </p:txBody>
      </p:sp>
      <p:sp>
        <p:nvSpPr>
          <p:cNvPr id="76" name="사각형: 둥근 모서리 245">
            <a:extLst>
              <a:ext uri="{FF2B5EF4-FFF2-40B4-BE49-F238E27FC236}">
                <a16:creationId xmlns:a16="http://schemas.microsoft.com/office/drawing/2014/main" id="{29D9EB3E-7B2F-EEB6-0188-BA43164CC79D}"/>
              </a:ext>
            </a:extLst>
          </p:cNvPr>
          <p:cNvSpPr/>
          <p:nvPr/>
        </p:nvSpPr>
        <p:spPr>
          <a:xfrm>
            <a:off x="6854084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평균 </a:t>
            </a:r>
            <a:r>
              <a:rPr lang="en-US" altLang="ko-KR" sz="800" spc="-60" dirty="0">
                <a:solidFill>
                  <a:prstClr val="white"/>
                </a:solidFill>
                <a:latin typeface="Pretendard"/>
                <a:ea typeface="Pretendard"/>
              </a:rPr>
              <a:t>3</a:t>
            </a: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0</a:t>
            </a:r>
            <a:r>
              <a:rPr kumimoji="0" lang="ko-KR" altLang="en-US" sz="800" b="0" i="0" u="none" strike="noStrike" kern="1200" cap="none" spc="-6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만원대</a:t>
            </a:r>
            <a:endParaRPr kumimoji="0" lang="en-US" altLang="ko-KR" sz="800" b="0" i="0" u="none" strike="noStrike" kern="1200" cap="none" spc="-6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7" name="사각형: 둥근 모서리 245">
            <a:extLst>
              <a:ext uri="{FF2B5EF4-FFF2-40B4-BE49-F238E27FC236}">
                <a16:creationId xmlns:a16="http://schemas.microsoft.com/office/drawing/2014/main" id="{0037139D-EFCC-796D-FE1F-1F7428A63E5D}"/>
              </a:ext>
            </a:extLst>
          </p:cNvPr>
          <p:cNvSpPr/>
          <p:nvPr/>
        </p:nvSpPr>
        <p:spPr>
          <a:xfrm>
            <a:off x="8180891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Aft>
                <a:spcPts val="100"/>
              </a:spcAft>
              <a:defRPr/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Outfit ExtraBold"/>
                <a:ea typeface="KoPub돋움체 Bold" panose="02020603020101020101" pitchFamily="18" charset="-127"/>
              </a:rPr>
              <a:t>NEGATIVE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’23</a:t>
            </a: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년 대비 매출액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/>
                <a:ea typeface="Pretendard"/>
              </a:rPr>
              <a:t>25</a:t>
            </a: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%</a:t>
            </a: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이상 감소</a:t>
            </a:r>
            <a:endParaRPr kumimoji="0" lang="en-US" altLang="ko-KR" sz="800" b="0" i="0" u="none" strike="noStrike" kern="1200" cap="none" spc="-6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016056C4-7C42-249B-9683-1EA5517A1FED}"/>
              </a:ext>
            </a:extLst>
          </p:cNvPr>
          <p:cNvGrpSpPr/>
          <p:nvPr/>
        </p:nvGrpSpPr>
        <p:grpSpPr>
          <a:xfrm>
            <a:off x="406401" y="3941891"/>
            <a:ext cx="298450" cy="1827083"/>
            <a:chOff x="406401" y="3725750"/>
            <a:chExt cx="298450" cy="1599609"/>
          </a:xfrm>
        </p:grpSpPr>
        <p:sp>
          <p:nvSpPr>
            <p:cNvPr id="79" name="화살표: 위쪽/아래쪽 78">
              <a:extLst>
                <a:ext uri="{FF2B5EF4-FFF2-40B4-BE49-F238E27FC236}">
                  <a16:creationId xmlns:a16="http://schemas.microsoft.com/office/drawing/2014/main" id="{38B36545-DC88-2AC0-0D9E-6BAA6D76C49C}"/>
                </a:ext>
              </a:extLst>
            </p:cNvPr>
            <p:cNvSpPr/>
            <p:nvPr/>
          </p:nvSpPr>
          <p:spPr>
            <a:xfrm>
              <a:off x="406401" y="3725750"/>
              <a:ext cx="298450" cy="1599609"/>
            </a:xfrm>
            <a:prstGeom prst="upDownArrow">
              <a:avLst/>
            </a:prstGeom>
            <a:solidFill>
              <a:srgbClr val="E0E0E0"/>
            </a:solidFill>
            <a:ln>
              <a:solidFill>
                <a:srgbClr val="E0E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99F6FFB-D045-E221-5C41-7AF64BC7B945}"/>
                </a:ext>
              </a:extLst>
            </p:cNvPr>
            <p:cNvSpPr txBox="1"/>
            <p:nvPr/>
          </p:nvSpPr>
          <p:spPr>
            <a:xfrm rot="16200000">
              <a:off x="-75060" y="4479402"/>
              <a:ext cx="1261373" cy="92303"/>
            </a:xfrm>
            <a:prstGeom prst="rect">
              <a:avLst/>
            </a:prstGeom>
            <a:noFill/>
          </p:spPr>
          <p:txBody>
            <a:bodyPr vert="horz" wrap="square" lIns="0" tIns="36000" rIns="0" bIns="36000" rtlCol="0" anchor="ctr" anchorCtr="0">
              <a:noAutofit/>
            </a:bodyPr>
            <a:lstStyle/>
            <a:p>
              <a:pPr algn="ctr" defTabSz="914400">
                <a:lnSpc>
                  <a:spcPct val="110000"/>
                </a:lnSpc>
                <a:spcAft>
                  <a:spcPts val="300"/>
                </a:spcAft>
              </a:pPr>
              <a:r>
                <a:rPr lang="en-US" altLang="ko-KR" sz="900" dirty="0">
                  <a:ln>
                    <a:solidFill>
                      <a:srgbClr val="00338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General Category</a:t>
              </a:r>
            </a:p>
          </p:txBody>
        </p:sp>
      </p:grpSp>
      <p:sp>
        <p:nvSpPr>
          <p:cNvPr id="81" name="직사각형 84">
            <a:extLst>
              <a:ext uri="{FF2B5EF4-FFF2-40B4-BE49-F238E27FC236}">
                <a16:creationId xmlns:a16="http://schemas.microsoft.com/office/drawing/2014/main" id="{42626367-149A-63C1-55E3-B9328CBAB677}"/>
              </a:ext>
            </a:extLst>
          </p:cNvPr>
          <p:cNvSpPr/>
          <p:nvPr/>
        </p:nvSpPr>
        <p:spPr>
          <a:xfrm>
            <a:off x="689675" y="2601342"/>
            <a:ext cx="8772478" cy="681163"/>
          </a:xfrm>
          <a:prstGeom prst="rect">
            <a:avLst/>
          </a:prstGeom>
          <a:noFill/>
          <a:ln w="28575">
            <a:solidFill>
              <a:srgbClr val="5CCFA0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589C436-5564-B5F0-A946-02AA3AFA46C1}"/>
              </a:ext>
            </a:extLst>
          </p:cNvPr>
          <p:cNvGrpSpPr/>
          <p:nvPr/>
        </p:nvGrpSpPr>
        <p:grpSpPr>
          <a:xfrm>
            <a:off x="406401" y="2605087"/>
            <a:ext cx="298450" cy="1282465"/>
            <a:chOff x="406401" y="2605088"/>
            <a:chExt cx="298450" cy="1084262"/>
          </a:xfrm>
        </p:grpSpPr>
        <p:sp>
          <p:nvSpPr>
            <p:cNvPr id="83" name="화살표: 위쪽/아래쪽 82">
              <a:extLst>
                <a:ext uri="{FF2B5EF4-FFF2-40B4-BE49-F238E27FC236}">
                  <a16:creationId xmlns:a16="http://schemas.microsoft.com/office/drawing/2014/main" id="{8B054A0B-795A-D6C5-043B-424EA3B7B719}"/>
                </a:ext>
              </a:extLst>
            </p:cNvPr>
            <p:cNvSpPr/>
            <p:nvPr/>
          </p:nvSpPr>
          <p:spPr>
            <a:xfrm>
              <a:off x="406401" y="2605088"/>
              <a:ext cx="298450" cy="1084262"/>
            </a:xfrm>
            <a:prstGeom prst="upDownArrow">
              <a:avLst/>
            </a:prstGeom>
            <a:solidFill>
              <a:srgbClr val="11244A"/>
            </a:solidFill>
            <a:ln>
              <a:solidFill>
                <a:srgbClr val="1124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8AD6BC4-BD78-C2FE-38C5-A8E7463019EA}"/>
                </a:ext>
              </a:extLst>
            </p:cNvPr>
            <p:cNvSpPr txBox="1"/>
            <p:nvPr/>
          </p:nvSpPr>
          <p:spPr>
            <a:xfrm rot="16200000">
              <a:off x="36034" y="3101068"/>
              <a:ext cx="1039186" cy="92303"/>
            </a:xfrm>
            <a:prstGeom prst="rect">
              <a:avLst/>
            </a:prstGeom>
            <a:noFill/>
          </p:spPr>
          <p:txBody>
            <a:bodyPr vert="horz" wrap="square" lIns="0" tIns="36000" rIns="0" bIns="36000" rtlCol="0" anchor="ctr" anchorCtr="0">
              <a:noAutofit/>
            </a:bodyPr>
            <a:lstStyle/>
            <a:p>
              <a:pPr algn="ctr" defTabSz="914400">
                <a:lnSpc>
                  <a:spcPct val="110000"/>
                </a:lnSpc>
                <a:spcAft>
                  <a:spcPts val="300"/>
                </a:spcAft>
              </a:pPr>
              <a:r>
                <a:rPr lang="en-US" altLang="ko-KR" sz="900" dirty="0">
                  <a:ln>
                    <a:solidFill>
                      <a:srgbClr val="00338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Pure Skill-to-Earn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0039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E25E-4FF6-5B4C-EAA9-DEEC9AFE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E96786A-86D8-B4C4-DCDE-EC1A1EE8B9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b="1" dirty="0"/>
              <a:t>진화하는 성인교육 시장의 새로운 시장 선도업체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계속</a:t>
            </a:r>
            <a:r>
              <a:rPr lang="en-US" altLang="ko-KR" sz="1800" b="1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73842E-71BA-6C8B-F209-853F5935B1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1) Note: 1)</a:t>
            </a:r>
            <a:r>
              <a:rPr lang="ko-KR" altLang="en-US" dirty="0"/>
              <a:t>강의별 마케팅을 통해 유입된 </a:t>
            </a:r>
            <a:r>
              <a:rPr lang="ko-KR" altLang="en-US" dirty="0" err="1"/>
              <a:t>톡방</a:t>
            </a:r>
            <a:r>
              <a:rPr lang="ko-KR" altLang="en-US" dirty="0"/>
              <a:t> 모집 인원 </a:t>
            </a:r>
            <a:r>
              <a:rPr lang="ko-KR" altLang="en-US" dirty="0" err="1"/>
              <a:t>수며</a:t>
            </a:r>
            <a:r>
              <a:rPr lang="en-US" altLang="ko-KR" dirty="0"/>
              <a:t>, 2024</a:t>
            </a:r>
            <a:r>
              <a:rPr lang="ko-KR" altLang="en-US" dirty="0"/>
              <a:t>년의 경우 데이터 집계에 </a:t>
            </a:r>
            <a:r>
              <a:rPr lang="ko-KR" altLang="en-US" dirty="0" err="1"/>
              <a:t>제한점</a:t>
            </a:r>
            <a:r>
              <a:rPr lang="ko-KR" altLang="en-US" dirty="0"/>
              <a:t> 존재로 일부 강의에 대해서는 집계가 이뤄지지 않음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타이탄클래스</a:t>
            </a:r>
            <a:r>
              <a:rPr lang="en-US" altLang="ko-KR" dirty="0"/>
              <a:t>, </a:t>
            </a:r>
            <a:r>
              <a:rPr lang="ko-KR" altLang="en-US" dirty="0" err="1"/>
              <a:t>클래스어라운드</a:t>
            </a:r>
            <a:r>
              <a:rPr lang="en-US" altLang="ko-KR" dirty="0"/>
              <a:t>, </a:t>
            </a:r>
            <a:r>
              <a:rPr lang="ko-KR" altLang="en-US" dirty="0" err="1"/>
              <a:t>티티에이컴퍼니</a:t>
            </a:r>
            <a:r>
              <a:rPr lang="ko-KR" altLang="en-US" dirty="0"/>
              <a:t> 실적만 포함한 수치이며</a:t>
            </a:r>
            <a:r>
              <a:rPr lang="en-US" altLang="ko-KR" dirty="0"/>
              <a:t>, </a:t>
            </a:r>
            <a:r>
              <a:rPr lang="ko-KR" altLang="en-US" dirty="0" err="1"/>
              <a:t>시스템노바</a:t>
            </a:r>
            <a:r>
              <a:rPr lang="en-US" altLang="ko-KR" dirty="0"/>
              <a:t>/</a:t>
            </a:r>
            <a:r>
              <a:rPr lang="ko-KR" altLang="en-US" dirty="0" err="1"/>
              <a:t>우모건</a:t>
            </a:r>
            <a:r>
              <a:rPr lang="en-US" altLang="ko-KR" dirty="0"/>
              <a:t> </a:t>
            </a:r>
            <a:r>
              <a:rPr lang="ko-KR" altLang="en-US" dirty="0"/>
              <a:t>법인 실적은 미포함</a:t>
            </a:r>
            <a:r>
              <a:rPr lang="en-US" altLang="ko-KR" dirty="0"/>
              <a:t>. Source: TITAN, DART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B634AA-7517-9CF7-47D8-F2C1C0E2C6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F6373F-25E8-99DE-0E9B-BD0EE1F7CCCF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02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F059E-6422-9A50-2069-1D5BE57C711D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성인교육 시장의 변화 흐름을 가장 정확히 읽어내고</a:t>
            </a:r>
            <a:r>
              <a:rPr lang="en-US" altLang="ko-KR" sz="1400" b="1" dirty="0">
                <a:solidFill>
                  <a:srgbClr val="3D3D3D"/>
                </a:solidFill>
              </a:rPr>
              <a:t>, 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중심의 </a:t>
            </a:r>
            <a:r>
              <a:rPr lang="en-US" altLang="ko-KR" sz="1400" b="1" dirty="0">
                <a:solidFill>
                  <a:srgbClr val="3D3D3D"/>
                </a:solidFill>
              </a:rPr>
              <a:t>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트렌드에 최적화된 가치를 제공하며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전 </a:t>
            </a:r>
            <a:r>
              <a:rPr lang="en-US" altLang="ko-KR" sz="1400" b="1" dirty="0">
                <a:solidFill>
                  <a:srgbClr val="3D3D3D"/>
                </a:solidFill>
              </a:rPr>
              <a:t>KPI</a:t>
            </a:r>
            <a:r>
              <a:rPr lang="ko-KR" altLang="en-US" sz="1400" b="1" dirty="0">
                <a:solidFill>
                  <a:srgbClr val="3D3D3D"/>
                </a:solidFill>
              </a:rPr>
              <a:t>에서 압도적인 성장을 이어가고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CBE35EAD-3DAD-FC66-CFBE-14957094AA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858519"/>
              </p:ext>
            </p:extLst>
          </p:nvPr>
        </p:nvGraphicFramePr>
        <p:xfrm>
          <a:off x="452438" y="1984247"/>
          <a:ext cx="4391999" cy="3784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DA884436-E0E3-5F05-5062-59D57A0031CF}"/>
              </a:ext>
            </a:extLst>
          </p:cNvPr>
          <p:cNvGrpSpPr/>
          <p:nvPr/>
        </p:nvGrpSpPr>
        <p:grpSpPr>
          <a:xfrm>
            <a:off x="4071938" y="4854348"/>
            <a:ext cx="292894" cy="158326"/>
            <a:chOff x="5847493" y="2851939"/>
            <a:chExt cx="298724" cy="158326"/>
          </a:xfrm>
        </p:grpSpPr>
        <p:sp>
          <p:nvSpPr>
            <p:cNvPr id="33" name="물결 39">
              <a:extLst>
                <a:ext uri="{FF2B5EF4-FFF2-40B4-BE49-F238E27FC236}">
                  <a16:creationId xmlns:a16="http://schemas.microsoft.com/office/drawing/2014/main" id="{0B2C02D6-6845-E3A0-383F-D925EB707EA8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34" name="물결 40">
              <a:extLst>
                <a:ext uri="{FF2B5EF4-FFF2-40B4-BE49-F238E27FC236}">
                  <a16:creationId xmlns:a16="http://schemas.microsoft.com/office/drawing/2014/main" id="{9F763135-9080-305F-2264-7C84AEDB3A13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E33C38B-6D27-B13B-46DD-613D61BCC8D6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폭발적인 증가세를 이어 나가고 있는 유저 </a:t>
            </a:r>
            <a:r>
              <a:rPr lang="en-US" altLang="ko-KR" sz="1200" b="1" dirty="0">
                <a:solidFill>
                  <a:schemeClr val="bg1"/>
                </a:solidFill>
              </a:rPr>
              <a:t>Pool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1)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146A632-7FBB-944E-C8B1-55CEE17E4326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주요 </a:t>
            </a:r>
            <a:r>
              <a:rPr lang="en-US" altLang="ko-KR" sz="1200" b="1" dirty="0">
                <a:solidFill>
                  <a:schemeClr val="bg1"/>
                </a:solidFill>
              </a:rPr>
              <a:t>D2C</a:t>
            </a:r>
            <a:r>
              <a:rPr lang="ko-KR" altLang="en-US" sz="1200" b="1" dirty="0">
                <a:solidFill>
                  <a:schemeClr val="bg1"/>
                </a:solidFill>
              </a:rPr>
              <a:t> 지식 플랫폼 중 가장 가파른 성장세 기록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2)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49" name="차트 48">
            <a:extLst>
              <a:ext uri="{FF2B5EF4-FFF2-40B4-BE49-F238E27FC236}">
                <a16:creationId xmlns:a16="http://schemas.microsoft.com/office/drawing/2014/main" id="{8A818DF4-866F-4906-0369-691614F339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576612"/>
              </p:ext>
            </p:extLst>
          </p:nvPr>
        </p:nvGraphicFramePr>
        <p:xfrm>
          <a:off x="5060437" y="1984247"/>
          <a:ext cx="4391999" cy="3784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0" name="그룹 49">
            <a:extLst>
              <a:ext uri="{FF2B5EF4-FFF2-40B4-BE49-F238E27FC236}">
                <a16:creationId xmlns:a16="http://schemas.microsoft.com/office/drawing/2014/main" id="{DDEEAACF-3460-459C-7E98-F37D1B6E57E8}"/>
              </a:ext>
            </a:extLst>
          </p:cNvPr>
          <p:cNvGrpSpPr/>
          <p:nvPr/>
        </p:nvGrpSpPr>
        <p:grpSpPr>
          <a:xfrm>
            <a:off x="4364831" y="4854348"/>
            <a:ext cx="292894" cy="158326"/>
            <a:chOff x="5847493" y="2851939"/>
            <a:chExt cx="298724" cy="158326"/>
          </a:xfrm>
        </p:grpSpPr>
        <p:sp>
          <p:nvSpPr>
            <p:cNvPr id="51" name="물결 39">
              <a:extLst>
                <a:ext uri="{FF2B5EF4-FFF2-40B4-BE49-F238E27FC236}">
                  <a16:creationId xmlns:a16="http://schemas.microsoft.com/office/drawing/2014/main" id="{5759761D-A7A4-0810-FB3B-E6374B1EAD5D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52" name="물결 40">
              <a:extLst>
                <a:ext uri="{FF2B5EF4-FFF2-40B4-BE49-F238E27FC236}">
                  <a16:creationId xmlns:a16="http://schemas.microsoft.com/office/drawing/2014/main" id="{9863A8ED-E58A-4BA0-4100-DC0AD5BC998A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2A8DD49-E037-0E9F-D430-D345DFAF7913}"/>
              </a:ext>
            </a:extLst>
          </p:cNvPr>
          <p:cNvGrpSpPr/>
          <p:nvPr/>
        </p:nvGrpSpPr>
        <p:grpSpPr>
          <a:xfrm>
            <a:off x="3386136" y="4967598"/>
            <a:ext cx="292894" cy="158326"/>
            <a:chOff x="5847493" y="2851939"/>
            <a:chExt cx="298724" cy="158326"/>
          </a:xfrm>
        </p:grpSpPr>
        <p:sp>
          <p:nvSpPr>
            <p:cNvPr id="54" name="물결 39">
              <a:extLst>
                <a:ext uri="{FF2B5EF4-FFF2-40B4-BE49-F238E27FC236}">
                  <a16:creationId xmlns:a16="http://schemas.microsoft.com/office/drawing/2014/main" id="{9BC464CE-FAF7-8A9B-1EAA-559A18D03FBB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55" name="물결 40">
              <a:extLst>
                <a:ext uri="{FF2B5EF4-FFF2-40B4-BE49-F238E27FC236}">
                  <a16:creationId xmlns:a16="http://schemas.microsoft.com/office/drawing/2014/main" id="{53B32855-9DEB-EC70-95F3-26AECD514181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0DBC61E-A5B0-67FC-06AC-74DF1A535CAE}"/>
              </a:ext>
            </a:extLst>
          </p:cNvPr>
          <p:cNvGrpSpPr/>
          <p:nvPr/>
        </p:nvGrpSpPr>
        <p:grpSpPr>
          <a:xfrm>
            <a:off x="3679029" y="4967598"/>
            <a:ext cx="292894" cy="158326"/>
            <a:chOff x="5847493" y="2851939"/>
            <a:chExt cx="298724" cy="158326"/>
          </a:xfrm>
        </p:grpSpPr>
        <p:sp>
          <p:nvSpPr>
            <p:cNvPr id="57" name="물결 39">
              <a:extLst>
                <a:ext uri="{FF2B5EF4-FFF2-40B4-BE49-F238E27FC236}">
                  <a16:creationId xmlns:a16="http://schemas.microsoft.com/office/drawing/2014/main" id="{51713547-7EE4-2127-CBE7-69E61E058170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58" name="물결 40">
              <a:extLst>
                <a:ext uri="{FF2B5EF4-FFF2-40B4-BE49-F238E27FC236}">
                  <a16:creationId xmlns:a16="http://schemas.microsoft.com/office/drawing/2014/main" id="{BD164FA8-9906-D076-9BE4-065D695A8525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0BB0719-9747-9BF5-7A3C-A7C7B367393D}"/>
              </a:ext>
            </a:extLst>
          </p:cNvPr>
          <p:cNvGrpSpPr/>
          <p:nvPr/>
        </p:nvGrpSpPr>
        <p:grpSpPr>
          <a:xfrm>
            <a:off x="2693668" y="5157787"/>
            <a:ext cx="292894" cy="158326"/>
            <a:chOff x="5847493" y="2851939"/>
            <a:chExt cx="298724" cy="158326"/>
          </a:xfrm>
        </p:grpSpPr>
        <p:sp>
          <p:nvSpPr>
            <p:cNvPr id="60" name="물결 39">
              <a:extLst>
                <a:ext uri="{FF2B5EF4-FFF2-40B4-BE49-F238E27FC236}">
                  <a16:creationId xmlns:a16="http://schemas.microsoft.com/office/drawing/2014/main" id="{13968B03-A795-FF5A-AC25-DBB916275CE0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61" name="물결 40">
              <a:extLst>
                <a:ext uri="{FF2B5EF4-FFF2-40B4-BE49-F238E27FC236}">
                  <a16:creationId xmlns:a16="http://schemas.microsoft.com/office/drawing/2014/main" id="{42400CDC-8D5D-27D6-4658-41CD2DB3ED8E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DD2BA60-70D9-1F86-593D-30A4A18CB0FC}"/>
              </a:ext>
            </a:extLst>
          </p:cNvPr>
          <p:cNvGrpSpPr/>
          <p:nvPr/>
        </p:nvGrpSpPr>
        <p:grpSpPr>
          <a:xfrm>
            <a:off x="2986561" y="5157787"/>
            <a:ext cx="292894" cy="158326"/>
            <a:chOff x="5847493" y="2851939"/>
            <a:chExt cx="298724" cy="158326"/>
          </a:xfrm>
        </p:grpSpPr>
        <p:sp>
          <p:nvSpPr>
            <p:cNvPr id="63" name="물결 39">
              <a:extLst>
                <a:ext uri="{FF2B5EF4-FFF2-40B4-BE49-F238E27FC236}">
                  <a16:creationId xmlns:a16="http://schemas.microsoft.com/office/drawing/2014/main" id="{E282A341-8F04-0355-A56B-D4780073FD00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64" name="물결 40">
              <a:extLst>
                <a:ext uri="{FF2B5EF4-FFF2-40B4-BE49-F238E27FC236}">
                  <a16:creationId xmlns:a16="http://schemas.microsoft.com/office/drawing/2014/main" id="{1A72D19C-1C6A-DCFB-273B-390530F01A22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sp>
        <p:nvSpPr>
          <p:cNvPr id="76" name="직사각형 1121">
            <a:extLst>
              <a:ext uri="{FF2B5EF4-FFF2-40B4-BE49-F238E27FC236}">
                <a16:creationId xmlns:a16="http://schemas.microsoft.com/office/drawing/2014/main" id="{31379905-8C2D-F150-D408-AA920F1592B4}"/>
              </a:ext>
            </a:extLst>
          </p:cNvPr>
          <p:cNvSpPr/>
          <p:nvPr/>
        </p:nvSpPr>
        <p:spPr>
          <a:xfrm>
            <a:off x="452438" y="2407946"/>
            <a:ext cx="1595437" cy="906753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utfit ExtraBold"/>
                <a:ea typeface="Pretendard ExtraBold"/>
                <a:cs typeface="+mn-cs"/>
              </a:rPr>
              <a:t>40,947</a:t>
            </a:r>
            <a:r>
              <a:rPr lang="en-US" altLang="ko-KR" sz="1200" b="1" dirty="0">
                <a:solidFill>
                  <a:schemeClr val="bg1"/>
                </a:solidFill>
              </a:rPr>
              <a:t>%</a:t>
            </a:r>
          </a:p>
          <a:p>
            <a:pPr algn="ctr"/>
            <a:endParaRPr lang="en-US" altLang="ko-KR" sz="5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’24 1Q </a:t>
            </a:r>
            <a: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  <a:t> ’25 2Q</a:t>
            </a:r>
            <a:b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  <a:t>Addressable User </a:t>
            </a:r>
            <a:r>
              <a:rPr lang="ko-KR" altLang="en-US" sz="1000" b="1" dirty="0">
                <a:solidFill>
                  <a:schemeClr val="bg1"/>
                </a:solidFill>
                <a:sym typeface="Wingdings" panose="05000000000000000000" pitchFamily="2" charset="2"/>
              </a:rPr>
              <a:t>증가율</a:t>
            </a:r>
            <a:endParaRPr lang="en-US" altLang="ko-KR" sz="1000" b="1" baseline="30000" dirty="0">
              <a:solidFill>
                <a:schemeClr val="bg1"/>
              </a:solidFill>
            </a:endParaRPr>
          </a:p>
        </p:txBody>
      </p:sp>
      <p:sp>
        <p:nvSpPr>
          <p:cNvPr id="86" name="직사각형 1121">
            <a:extLst>
              <a:ext uri="{FF2B5EF4-FFF2-40B4-BE49-F238E27FC236}">
                <a16:creationId xmlns:a16="http://schemas.microsoft.com/office/drawing/2014/main" id="{9E98F252-AF61-A25A-558B-36714EDFA5FF}"/>
              </a:ext>
            </a:extLst>
          </p:cNvPr>
          <p:cNvSpPr/>
          <p:nvPr/>
        </p:nvSpPr>
        <p:spPr>
          <a:xfrm>
            <a:off x="5059873" y="2407946"/>
            <a:ext cx="1595437" cy="906753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white"/>
                </a:solidFill>
                <a:latin typeface="Outfit ExtraBold"/>
                <a:ea typeface="Pretendard ExtraBold"/>
              </a:rPr>
              <a:t>1,41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utfit ExtraBold"/>
                <a:ea typeface="Pretendard ExtraBold"/>
                <a:cs typeface="+mn-cs"/>
              </a:rPr>
              <a:t>4.1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’24 2Q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  <a:sym typeface="Wingdings" panose="05000000000000000000" pitchFamily="2" charset="2"/>
              </a:rPr>
              <a:t> ’25 2Q</a:t>
            </a:r>
            <a:b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  <a:sym typeface="Wingdings" panose="05000000000000000000" pitchFamily="2" charset="2"/>
              </a:rPr>
            </a:b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  <a:sym typeface="Wingdings" panose="05000000000000000000" pitchFamily="2" charset="2"/>
              </a:rPr>
              <a:t>매출액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  <a:sym typeface="Wingdings" panose="05000000000000000000" pitchFamily="2" charset="2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  <a:sym typeface="Wingdings" panose="05000000000000000000" pitchFamily="2" charset="2"/>
              </a:rPr>
              <a:t>증가율</a:t>
            </a:r>
            <a:endParaRPr kumimoji="0" lang="en-US" altLang="ko-KR" sz="1000" b="1" i="0" u="none" strike="noStrike" kern="1200" cap="none" spc="0" normalizeH="0" baseline="30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7" name="직사각형 1121">
            <a:extLst>
              <a:ext uri="{FF2B5EF4-FFF2-40B4-BE49-F238E27FC236}">
                <a16:creationId xmlns:a16="http://schemas.microsoft.com/office/drawing/2014/main" id="{28DA0676-1D5F-B129-20F5-2387A394ED07}"/>
              </a:ext>
            </a:extLst>
          </p:cNvPr>
          <p:cNvSpPr/>
          <p:nvPr/>
        </p:nvSpPr>
        <p:spPr>
          <a:xfrm>
            <a:off x="5059873" y="3410058"/>
            <a:ext cx="1595437" cy="899092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utfit ExtraBold"/>
                <a:ea typeface="Pretendard ExtraBold"/>
                <a:cs typeface="+mn-cs"/>
              </a:rPr>
              <a:t> 9.5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%    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utfit ExtraBold"/>
                <a:ea typeface="Pretendard ExtraBold"/>
                <a:cs typeface="+mn-cs"/>
              </a:rPr>
              <a:t>69.3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%  </a:t>
            </a:r>
            <a:b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</a:b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      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데이원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            월급쟁이부자들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</a:br>
            <a:endParaRPr kumimoji="0" lang="en-US" altLang="ko-KR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’23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  <a:sym typeface="Wingdings" panose="05000000000000000000" pitchFamily="2" charset="2"/>
              </a:rPr>
              <a:t> ’24</a:t>
            </a:r>
            <a:b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  <a:sym typeface="Wingdings" panose="05000000000000000000" pitchFamily="2" charset="2"/>
              </a:rPr>
            </a:b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  <a:sym typeface="Wingdings" panose="05000000000000000000" pitchFamily="2" charset="2"/>
              </a:rPr>
              <a:t>매출액 증가율</a:t>
            </a:r>
            <a:endParaRPr lang="en-US" altLang="ko-KR" sz="1000" b="1" baseline="30000" dirty="0">
              <a:solidFill>
                <a:schemeClr val="bg1"/>
              </a:solidFill>
            </a:endParaRPr>
          </a:p>
        </p:txBody>
      </p:sp>
      <p:cxnSp>
        <p:nvCxnSpPr>
          <p:cNvPr id="83" name="Straight Connector 98">
            <a:extLst>
              <a:ext uri="{FF2B5EF4-FFF2-40B4-BE49-F238E27FC236}">
                <a16:creationId xmlns:a16="http://schemas.microsoft.com/office/drawing/2014/main" id="{7766A640-AF92-6A94-0C06-8FC6D5755D5E}"/>
              </a:ext>
            </a:extLst>
          </p:cNvPr>
          <p:cNvCxnSpPr>
            <a:cxnSpLocks/>
          </p:cNvCxnSpPr>
          <p:nvPr/>
        </p:nvCxnSpPr>
        <p:spPr>
          <a:xfrm>
            <a:off x="5792775" y="3489326"/>
            <a:ext cx="0" cy="301625"/>
          </a:xfrm>
          <a:prstGeom prst="line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" name="직사각형 1121">
            <a:extLst>
              <a:ext uri="{FF2B5EF4-FFF2-40B4-BE49-F238E27FC236}">
                <a16:creationId xmlns:a16="http://schemas.microsoft.com/office/drawing/2014/main" id="{084D109B-AC45-08FE-BD0C-605BEED45B0D}"/>
              </a:ext>
            </a:extLst>
          </p:cNvPr>
          <p:cNvSpPr/>
          <p:nvPr/>
        </p:nvSpPr>
        <p:spPr>
          <a:xfrm>
            <a:off x="452438" y="3406227"/>
            <a:ext cx="1595437" cy="906753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lt"/>
                <a:ea typeface="+mj-ea"/>
              </a:rPr>
              <a:t>26.4</a:t>
            </a:r>
            <a:r>
              <a:rPr lang="en-US" altLang="ko-KR" sz="1200" b="1" dirty="0">
                <a:solidFill>
                  <a:schemeClr val="bg1"/>
                </a:solidFill>
              </a:rPr>
              <a:t>%</a:t>
            </a:r>
          </a:p>
          <a:p>
            <a:pPr algn="ctr"/>
            <a:endParaRPr lang="en-US" altLang="ko-KR" sz="5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’24 3Q </a:t>
            </a:r>
            <a: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  <a:t>~ ’25 2Q</a:t>
            </a:r>
            <a:b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ko-KR" altLang="en-US" sz="1000" b="1" spc="-70" dirty="0">
                <a:solidFill>
                  <a:schemeClr val="bg1"/>
                </a:solidFill>
                <a:sym typeface="Wingdings" panose="05000000000000000000" pitchFamily="2" charset="2"/>
              </a:rPr>
              <a:t>평균 </a:t>
            </a:r>
            <a:r>
              <a:rPr lang="en-US" altLang="ko-KR" sz="1000" b="1" spc="-70" dirty="0">
                <a:solidFill>
                  <a:schemeClr val="bg1"/>
                </a:solidFill>
                <a:sym typeface="Wingdings" panose="05000000000000000000" pitchFamily="2" charset="2"/>
              </a:rPr>
              <a:t>Serviceable User </a:t>
            </a:r>
            <a:r>
              <a:rPr lang="ko-KR" altLang="en-US" sz="1000" b="1" spc="-70" dirty="0" err="1">
                <a:solidFill>
                  <a:schemeClr val="bg1"/>
                </a:solidFill>
                <a:sym typeface="Wingdings" panose="05000000000000000000" pitchFamily="2" charset="2"/>
              </a:rPr>
              <a:t>전환율</a:t>
            </a:r>
            <a:endParaRPr lang="en-US" altLang="ko-KR" sz="1000" b="1" spc="-7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65A2C-AE04-8440-BC0E-7DE2A285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FCC4AE-D845-751F-046E-B296B18B79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b="1" dirty="0"/>
              <a:t>압도적 수익화 성과로 검증된 세일즈 </a:t>
            </a:r>
            <a:r>
              <a:rPr lang="ko-KR" altLang="en-US" b="1" dirty="0" err="1"/>
              <a:t>퍼널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68149F-03E6-0E16-5C70-25E14EE755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3BD19-C373-A8A5-FF3D-FCF1DA4C68B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87F6CE-85C9-B958-D1B5-0A58B84FAB3B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567A28-4D8E-AF14-33D1-CDEB536B0449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</a:t>
            </a:r>
            <a:r>
              <a:rPr lang="ko-KR" altLang="en-US" sz="1400" b="1" dirty="0" err="1">
                <a:solidFill>
                  <a:srgbClr val="3D3D3D"/>
                </a:solidFill>
              </a:rPr>
              <a:t>온드미디어와</a:t>
            </a:r>
            <a:r>
              <a:rPr lang="ko-KR" altLang="en-US" sz="1400" b="1" dirty="0">
                <a:solidFill>
                  <a:srgbClr val="3D3D3D"/>
                </a:solidFill>
              </a:rPr>
              <a:t> 밀착형 수강생 관리 시스템을 결합한 세일즈 </a:t>
            </a:r>
            <a:r>
              <a:rPr lang="ko-KR" altLang="en-US" sz="1400" b="1" dirty="0" err="1">
                <a:solidFill>
                  <a:srgbClr val="3D3D3D"/>
                </a:solidFill>
              </a:rPr>
              <a:t>퍼널을</a:t>
            </a:r>
            <a:r>
              <a:rPr lang="ko-KR" altLang="en-US" sz="1400" b="1" dirty="0">
                <a:solidFill>
                  <a:srgbClr val="3D3D3D"/>
                </a:solidFill>
              </a:rPr>
              <a:t> 통해 초기 유입을 고액 유료강의 전환으로 연결하고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이를 지속적인 재구매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수강으로 확장되는 독보적인 수익화 성과를 만들어 내고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3A7BAF-F667-B6D8-3429-CA97753E0E50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세일즈 </a:t>
            </a:r>
            <a:r>
              <a:rPr lang="ko-KR" altLang="en-US" sz="1200" b="1" dirty="0" err="1">
                <a:solidFill>
                  <a:schemeClr val="bg1"/>
                </a:solidFill>
              </a:rPr>
              <a:t>퍼널</a:t>
            </a:r>
            <a:r>
              <a:rPr lang="ko-KR" altLang="en-US" sz="1200" b="1" dirty="0">
                <a:solidFill>
                  <a:schemeClr val="bg1"/>
                </a:solidFill>
              </a:rPr>
              <a:t> 단계별 핵심 역량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2A77DF62-4B0A-98B8-F09F-17AB965FBAA3}"/>
              </a:ext>
            </a:extLst>
          </p:cNvPr>
          <p:cNvGrpSpPr/>
          <p:nvPr/>
        </p:nvGrpSpPr>
        <p:grpSpPr>
          <a:xfrm>
            <a:off x="453000" y="2096211"/>
            <a:ext cx="2880000" cy="3672762"/>
            <a:chOff x="453000" y="2096211"/>
            <a:chExt cx="2880000" cy="3672762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C5DAF2EC-5157-B2D3-B665-955DCEA64472}"/>
                </a:ext>
              </a:extLst>
            </p:cNvPr>
            <p:cNvGrpSpPr/>
            <p:nvPr/>
          </p:nvGrpSpPr>
          <p:grpSpPr>
            <a:xfrm>
              <a:off x="453000" y="2096973"/>
              <a:ext cx="2880000" cy="3672000"/>
              <a:chOff x="6978652" y="2096973"/>
              <a:chExt cx="2880000" cy="3672000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16B83C65-D0DB-F238-20DD-99BC034F42B7}"/>
                  </a:ext>
                </a:extLst>
              </p:cNvPr>
              <p:cNvSpPr/>
              <p:nvPr/>
            </p:nvSpPr>
            <p:spPr>
              <a:xfrm rot="10800000">
                <a:off x="6978652" y="2096973"/>
                <a:ext cx="2880000" cy="431999"/>
              </a:xfrm>
              <a:custGeom>
                <a:avLst/>
                <a:gdLst>
                  <a:gd name="connsiteX0" fmla="*/ 2880000 w 2880000"/>
                  <a:gd name="connsiteY0" fmla="*/ 431999 h 431999"/>
                  <a:gd name="connsiteX1" fmla="*/ 0 w 2880000"/>
                  <a:gd name="connsiteY1" fmla="*/ 431999 h 431999"/>
                  <a:gd name="connsiteX2" fmla="*/ 169411 w 2880000"/>
                  <a:gd name="connsiteY2" fmla="*/ 0 h 431999"/>
                  <a:gd name="connsiteX3" fmla="*/ 2710588 w 2880000"/>
                  <a:gd name="connsiteY3" fmla="*/ 0 h 43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80000" h="431999">
                    <a:moveTo>
                      <a:pt x="2880000" y="431999"/>
                    </a:moveTo>
                    <a:lnTo>
                      <a:pt x="0" y="431999"/>
                    </a:lnTo>
                    <a:lnTo>
                      <a:pt x="169411" y="0"/>
                    </a:lnTo>
                    <a:lnTo>
                      <a:pt x="2710588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82C523E7-D7A7-9418-815C-9411DA62C581}"/>
                  </a:ext>
                </a:extLst>
              </p:cNvPr>
              <p:cNvSpPr/>
              <p:nvPr/>
            </p:nvSpPr>
            <p:spPr>
              <a:xfrm rot="10800000">
                <a:off x="7190417" y="2096973"/>
                <a:ext cx="2668235" cy="972000"/>
              </a:xfrm>
              <a:custGeom>
                <a:avLst/>
                <a:gdLst>
                  <a:gd name="connsiteX0" fmla="*/ 2668235 w 2668235"/>
                  <a:gd name="connsiteY0" fmla="*/ 432000 h 972000"/>
                  <a:gd name="connsiteX1" fmla="*/ 211764 w 2668235"/>
                  <a:gd name="connsiteY1" fmla="*/ 432000 h 972000"/>
                  <a:gd name="connsiteX2" fmla="*/ 381176 w 2668235"/>
                  <a:gd name="connsiteY2" fmla="*/ 0 h 972000"/>
                  <a:gd name="connsiteX3" fmla="*/ 2498823 w 2668235"/>
                  <a:gd name="connsiteY3" fmla="*/ 0 h 972000"/>
                  <a:gd name="connsiteX4" fmla="*/ 1 w 2668235"/>
                  <a:gd name="connsiteY4" fmla="*/ 972000 h 972000"/>
                  <a:gd name="connsiteX5" fmla="*/ 0 w 2668235"/>
                  <a:gd name="connsiteY5" fmla="*/ 972000 h 972000"/>
                  <a:gd name="connsiteX6" fmla="*/ 1 w 2668235"/>
                  <a:gd name="connsiteY6" fmla="*/ 971998 h 9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8235" h="972000">
                    <a:moveTo>
                      <a:pt x="2668235" y="432000"/>
                    </a:moveTo>
                    <a:lnTo>
                      <a:pt x="211764" y="432000"/>
                    </a:lnTo>
                    <a:lnTo>
                      <a:pt x="381176" y="0"/>
                    </a:lnTo>
                    <a:lnTo>
                      <a:pt x="2498823" y="0"/>
                    </a:lnTo>
                    <a:close/>
                    <a:moveTo>
                      <a:pt x="1" y="972000"/>
                    </a:moveTo>
                    <a:lnTo>
                      <a:pt x="0" y="972000"/>
                    </a:lnTo>
                    <a:lnTo>
                      <a:pt x="1" y="971998"/>
                    </a:lnTo>
                    <a:close/>
                  </a:path>
                </a:pathLst>
              </a:custGeom>
              <a:solidFill>
                <a:srgbClr val="E6F3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D99C3601-9CF5-170C-5007-4C432E447A3F}"/>
                  </a:ext>
                </a:extLst>
              </p:cNvPr>
              <p:cNvSpPr/>
              <p:nvPr/>
            </p:nvSpPr>
            <p:spPr>
              <a:xfrm rot="10800000">
                <a:off x="7402182" y="2096973"/>
                <a:ext cx="2456470" cy="1512000"/>
              </a:xfrm>
              <a:custGeom>
                <a:avLst/>
                <a:gdLst>
                  <a:gd name="connsiteX0" fmla="*/ 2456470 w 2456470"/>
                  <a:gd name="connsiteY0" fmla="*/ 432000 h 1512000"/>
                  <a:gd name="connsiteX1" fmla="*/ 423529 w 2456470"/>
                  <a:gd name="connsiteY1" fmla="*/ 432000 h 1512000"/>
                  <a:gd name="connsiteX2" fmla="*/ 592941 w 2456470"/>
                  <a:gd name="connsiteY2" fmla="*/ 0 h 1512000"/>
                  <a:gd name="connsiteX3" fmla="*/ 2287059 w 2456470"/>
                  <a:gd name="connsiteY3" fmla="*/ 0 h 1512000"/>
                  <a:gd name="connsiteX4" fmla="*/ 1 w 2456470"/>
                  <a:gd name="connsiteY4" fmla="*/ 1512000 h 1512000"/>
                  <a:gd name="connsiteX5" fmla="*/ 0 w 2456470"/>
                  <a:gd name="connsiteY5" fmla="*/ 1512000 h 1512000"/>
                  <a:gd name="connsiteX6" fmla="*/ 1 w 2456470"/>
                  <a:gd name="connsiteY6" fmla="*/ 1511998 h 151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56470" h="1512000">
                    <a:moveTo>
                      <a:pt x="2456470" y="432000"/>
                    </a:moveTo>
                    <a:lnTo>
                      <a:pt x="423529" y="432000"/>
                    </a:lnTo>
                    <a:lnTo>
                      <a:pt x="592941" y="0"/>
                    </a:lnTo>
                    <a:lnTo>
                      <a:pt x="2287059" y="0"/>
                    </a:lnTo>
                    <a:close/>
                    <a:moveTo>
                      <a:pt x="1" y="1512000"/>
                    </a:moveTo>
                    <a:lnTo>
                      <a:pt x="0" y="1512000"/>
                    </a:lnTo>
                    <a:lnTo>
                      <a:pt x="1" y="1511998"/>
                    </a:lnTo>
                    <a:close/>
                  </a:path>
                </a:pathLst>
              </a:custGeom>
              <a:solidFill>
                <a:srgbClr val="B2DA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9FF38CD9-021E-6A04-5736-8762F2D1E31E}"/>
                  </a:ext>
                </a:extLst>
              </p:cNvPr>
              <p:cNvSpPr/>
              <p:nvPr/>
            </p:nvSpPr>
            <p:spPr>
              <a:xfrm rot="10800000">
                <a:off x="7613946" y="2096973"/>
                <a:ext cx="2244706" cy="3672000"/>
              </a:xfrm>
              <a:custGeom>
                <a:avLst/>
                <a:gdLst>
                  <a:gd name="connsiteX0" fmla="*/ 1440001 w 2244706"/>
                  <a:gd name="connsiteY0" fmla="*/ 2 h 3672000"/>
                  <a:gd name="connsiteX1" fmla="*/ 1439999 w 2244706"/>
                  <a:gd name="connsiteY1" fmla="*/ 2 h 3672000"/>
                  <a:gd name="connsiteX2" fmla="*/ 1440000 w 2244706"/>
                  <a:gd name="connsiteY2" fmla="*/ 0 h 3672000"/>
                  <a:gd name="connsiteX3" fmla="*/ 2244706 w 2244706"/>
                  <a:gd name="connsiteY3" fmla="*/ 2052000 h 3672000"/>
                  <a:gd name="connsiteX4" fmla="*/ 635294 w 2244706"/>
                  <a:gd name="connsiteY4" fmla="*/ 2052000 h 3672000"/>
                  <a:gd name="connsiteX5" fmla="*/ 804706 w 2244706"/>
                  <a:gd name="connsiteY5" fmla="*/ 1620001 h 3672000"/>
                  <a:gd name="connsiteX6" fmla="*/ 2075294 w 2244706"/>
                  <a:gd name="connsiteY6" fmla="*/ 1620001 h 3672000"/>
                  <a:gd name="connsiteX7" fmla="*/ 1 w 2244706"/>
                  <a:gd name="connsiteY7" fmla="*/ 3672000 h 3672000"/>
                  <a:gd name="connsiteX8" fmla="*/ 0 w 2244706"/>
                  <a:gd name="connsiteY8" fmla="*/ 3672000 h 3672000"/>
                  <a:gd name="connsiteX9" fmla="*/ 1 w 2244706"/>
                  <a:gd name="connsiteY9" fmla="*/ 3671998 h 36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44706" h="3672000">
                    <a:moveTo>
                      <a:pt x="1440001" y="2"/>
                    </a:moveTo>
                    <a:lnTo>
                      <a:pt x="1439999" y="2"/>
                    </a:lnTo>
                    <a:lnTo>
                      <a:pt x="1440000" y="0"/>
                    </a:lnTo>
                    <a:close/>
                    <a:moveTo>
                      <a:pt x="2244706" y="2052000"/>
                    </a:moveTo>
                    <a:lnTo>
                      <a:pt x="635294" y="2052000"/>
                    </a:lnTo>
                    <a:lnTo>
                      <a:pt x="804706" y="1620001"/>
                    </a:lnTo>
                    <a:lnTo>
                      <a:pt x="2075294" y="1620001"/>
                    </a:lnTo>
                    <a:close/>
                    <a:moveTo>
                      <a:pt x="1" y="3672000"/>
                    </a:moveTo>
                    <a:lnTo>
                      <a:pt x="0" y="3672000"/>
                    </a:lnTo>
                    <a:lnTo>
                      <a:pt x="1" y="3671998"/>
                    </a:lnTo>
                    <a:close/>
                  </a:path>
                </a:pathLst>
              </a:custGeom>
              <a:solidFill>
                <a:srgbClr val="539D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F705103B-DE6B-605B-2CF8-88DC45521EE8}"/>
                  </a:ext>
                </a:extLst>
              </p:cNvPr>
              <p:cNvSpPr/>
              <p:nvPr/>
            </p:nvSpPr>
            <p:spPr>
              <a:xfrm rot="10800000">
                <a:off x="8249240" y="2096973"/>
                <a:ext cx="1609412" cy="3672000"/>
              </a:xfrm>
              <a:custGeom>
                <a:avLst/>
                <a:gdLst>
                  <a:gd name="connsiteX0" fmla="*/ 1609412 w 1609412"/>
                  <a:gd name="connsiteY0" fmla="*/ 432000 h 3672000"/>
                  <a:gd name="connsiteX1" fmla="*/ 1270589 w 1609412"/>
                  <a:gd name="connsiteY1" fmla="*/ 432000 h 3672000"/>
                  <a:gd name="connsiteX2" fmla="*/ 1440000 w 1609412"/>
                  <a:gd name="connsiteY2" fmla="*/ 0 h 3672000"/>
                  <a:gd name="connsiteX3" fmla="*/ 1 w 1609412"/>
                  <a:gd name="connsiteY3" fmla="*/ 3672000 h 3672000"/>
                  <a:gd name="connsiteX4" fmla="*/ 0 w 1609412"/>
                  <a:gd name="connsiteY4" fmla="*/ 3672000 h 3672000"/>
                  <a:gd name="connsiteX5" fmla="*/ 1 w 1609412"/>
                  <a:gd name="connsiteY5" fmla="*/ 3671997 h 36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9412" h="3672000">
                    <a:moveTo>
                      <a:pt x="1609412" y="432000"/>
                    </a:moveTo>
                    <a:lnTo>
                      <a:pt x="1270589" y="432000"/>
                    </a:lnTo>
                    <a:lnTo>
                      <a:pt x="1440000" y="0"/>
                    </a:lnTo>
                    <a:close/>
                    <a:moveTo>
                      <a:pt x="1" y="3672000"/>
                    </a:moveTo>
                    <a:lnTo>
                      <a:pt x="0" y="3672000"/>
                    </a:lnTo>
                    <a:lnTo>
                      <a:pt x="1" y="3671997"/>
                    </a:lnTo>
                    <a:close/>
                  </a:path>
                </a:pathLst>
              </a:custGeom>
              <a:solidFill>
                <a:srgbClr val="0A1A3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AF2EFDEA-3A82-0EFD-6667-D342735D34B6}"/>
                  </a:ext>
                </a:extLst>
              </p:cNvPr>
              <p:cNvSpPr/>
              <p:nvPr/>
            </p:nvSpPr>
            <p:spPr>
              <a:xfrm rot="10800000">
                <a:off x="7825711" y="2096973"/>
                <a:ext cx="2032941" cy="2592000"/>
              </a:xfrm>
              <a:custGeom>
                <a:avLst/>
                <a:gdLst>
                  <a:gd name="connsiteX0" fmla="*/ 2032941 w 2032941"/>
                  <a:gd name="connsiteY0" fmla="*/ 432000 h 2592000"/>
                  <a:gd name="connsiteX1" fmla="*/ 847059 w 2032941"/>
                  <a:gd name="connsiteY1" fmla="*/ 432000 h 2592000"/>
                  <a:gd name="connsiteX2" fmla="*/ 1016471 w 2032941"/>
                  <a:gd name="connsiteY2" fmla="*/ 0 h 2592000"/>
                  <a:gd name="connsiteX3" fmla="*/ 1863530 w 2032941"/>
                  <a:gd name="connsiteY3" fmla="*/ 0 h 2592000"/>
                  <a:gd name="connsiteX4" fmla="*/ 1 w 2032941"/>
                  <a:gd name="connsiteY4" fmla="*/ 2592000 h 2592000"/>
                  <a:gd name="connsiteX5" fmla="*/ 0 w 2032941"/>
                  <a:gd name="connsiteY5" fmla="*/ 2592000 h 2592000"/>
                  <a:gd name="connsiteX6" fmla="*/ 1 w 2032941"/>
                  <a:gd name="connsiteY6" fmla="*/ 2591997 h 259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32941" h="2592000">
                    <a:moveTo>
                      <a:pt x="2032941" y="432000"/>
                    </a:moveTo>
                    <a:lnTo>
                      <a:pt x="847059" y="432000"/>
                    </a:lnTo>
                    <a:lnTo>
                      <a:pt x="1016471" y="0"/>
                    </a:lnTo>
                    <a:lnTo>
                      <a:pt x="1863530" y="0"/>
                    </a:lnTo>
                    <a:close/>
                    <a:moveTo>
                      <a:pt x="1" y="2592000"/>
                    </a:moveTo>
                    <a:lnTo>
                      <a:pt x="0" y="2592000"/>
                    </a:lnTo>
                    <a:lnTo>
                      <a:pt x="1" y="2591997"/>
                    </a:lnTo>
                    <a:close/>
                  </a:path>
                </a:pathLst>
              </a:custGeom>
              <a:solidFill>
                <a:srgbClr val="2A5FA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5A5A55E9-76CA-1FDB-2B08-9A9AC8CA76CE}"/>
                  </a:ext>
                </a:extLst>
              </p:cNvPr>
              <p:cNvSpPr/>
              <p:nvPr/>
            </p:nvSpPr>
            <p:spPr>
              <a:xfrm rot="10800000">
                <a:off x="8037476" y="2096973"/>
                <a:ext cx="1821176" cy="3132000"/>
              </a:xfrm>
              <a:custGeom>
                <a:avLst/>
                <a:gdLst>
                  <a:gd name="connsiteX0" fmla="*/ 1821176 w 1821176"/>
                  <a:gd name="connsiteY0" fmla="*/ 432000 h 3132000"/>
                  <a:gd name="connsiteX1" fmla="*/ 1058824 w 1821176"/>
                  <a:gd name="connsiteY1" fmla="*/ 432000 h 3132000"/>
                  <a:gd name="connsiteX2" fmla="*/ 1228236 w 1821176"/>
                  <a:gd name="connsiteY2" fmla="*/ 0 h 3132000"/>
                  <a:gd name="connsiteX3" fmla="*/ 1651765 w 1821176"/>
                  <a:gd name="connsiteY3" fmla="*/ 0 h 3132000"/>
                  <a:gd name="connsiteX4" fmla="*/ 1 w 1821176"/>
                  <a:gd name="connsiteY4" fmla="*/ 3132000 h 3132000"/>
                  <a:gd name="connsiteX5" fmla="*/ 0 w 1821176"/>
                  <a:gd name="connsiteY5" fmla="*/ 3132000 h 3132000"/>
                  <a:gd name="connsiteX6" fmla="*/ 1 w 1821176"/>
                  <a:gd name="connsiteY6" fmla="*/ 3131997 h 313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21176" h="3132000">
                    <a:moveTo>
                      <a:pt x="1821176" y="432000"/>
                    </a:moveTo>
                    <a:lnTo>
                      <a:pt x="1058824" y="432000"/>
                    </a:lnTo>
                    <a:lnTo>
                      <a:pt x="1228236" y="0"/>
                    </a:lnTo>
                    <a:lnTo>
                      <a:pt x="1651765" y="0"/>
                    </a:lnTo>
                    <a:close/>
                    <a:moveTo>
                      <a:pt x="1" y="3132000"/>
                    </a:moveTo>
                    <a:lnTo>
                      <a:pt x="0" y="3132000"/>
                    </a:lnTo>
                    <a:lnTo>
                      <a:pt x="1" y="3131997"/>
                    </a:lnTo>
                    <a:close/>
                  </a:path>
                </a:pathLst>
              </a:custGeom>
              <a:solidFill>
                <a:srgbClr val="11244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7BF65F3-892D-1899-C102-5BC8E8A3518C}"/>
                </a:ext>
              </a:extLst>
            </p:cNvPr>
            <p:cNvSpPr txBox="1"/>
            <p:nvPr/>
          </p:nvSpPr>
          <p:spPr>
            <a:xfrm>
              <a:off x="1600452" y="2096211"/>
              <a:ext cx="585097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rgbClr val="3D3D3D"/>
                  </a:solidFill>
                </a:rPr>
                <a:t>잠재적 고객</a:t>
              </a: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71594BE-9D66-2A48-61B4-0736A8E3A1A8}"/>
                </a:ext>
              </a:extLst>
            </p:cNvPr>
            <p:cNvSpPr/>
            <p:nvPr/>
          </p:nvSpPr>
          <p:spPr>
            <a:xfrm>
              <a:off x="761551" y="2411341"/>
              <a:ext cx="108000" cy="108000"/>
            </a:xfrm>
            <a:prstGeom prst="ellipse">
              <a:avLst/>
            </a:prstGeom>
            <a:solidFill>
              <a:srgbClr val="1E8A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9BB0C4F-C755-80A9-3C78-78430D2EA103}"/>
                </a:ext>
              </a:extLst>
            </p:cNvPr>
            <p:cNvSpPr/>
            <p:nvPr/>
          </p:nvSpPr>
          <p:spPr>
            <a:xfrm>
              <a:off x="608646" y="2240024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A80BED17-BB5C-4A52-E6E8-CFE985154043}"/>
                </a:ext>
              </a:extLst>
            </p:cNvPr>
            <p:cNvSpPr/>
            <p:nvPr/>
          </p:nvSpPr>
          <p:spPr>
            <a:xfrm>
              <a:off x="914456" y="2175239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15BB591-71E3-E189-FEE8-A0A805A032B9}"/>
                </a:ext>
              </a:extLst>
            </p:cNvPr>
            <p:cNvSpPr/>
            <p:nvPr/>
          </p:nvSpPr>
          <p:spPr>
            <a:xfrm>
              <a:off x="1067361" y="2367255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1A71A2E-6B40-3F7C-A167-C2480FD83C69}"/>
                </a:ext>
              </a:extLst>
            </p:cNvPr>
            <p:cNvSpPr/>
            <p:nvPr/>
          </p:nvSpPr>
          <p:spPr>
            <a:xfrm>
              <a:off x="1220266" y="2182777"/>
              <a:ext cx="108000" cy="108000"/>
            </a:xfrm>
            <a:prstGeom prst="ellipse">
              <a:avLst/>
            </a:prstGeom>
            <a:solidFill>
              <a:srgbClr val="B8F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3562D50-30EE-9920-DB40-773154085E99}"/>
                </a:ext>
              </a:extLst>
            </p:cNvPr>
            <p:cNvSpPr/>
            <p:nvPr/>
          </p:nvSpPr>
          <p:spPr>
            <a:xfrm>
              <a:off x="1373171" y="2381804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19F3819-58FC-5722-DA9D-EC9D35D9EAF4}"/>
                </a:ext>
              </a:extLst>
            </p:cNvPr>
            <p:cNvSpPr/>
            <p:nvPr/>
          </p:nvSpPr>
          <p:spPr>
            <a:xfrm>
              <a:off x="1526076" y="2312206"/>
              <a:ext cx="108000" cy="108000"/>
            </a:xfrm>
            <a:prstGeom prst="ellipse">
              <a:avLst/>
            </a:prstGeom>
            <a:solidFill>
              <a:srgbClr val="2EA3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A9988E1-F5C8-2F07-D3CB-F1D55BB77379}"/>
                </a:ext>
              </a:extLst>
            </p:cNvPr>
            <p:cNvSpPr/>
            <p:nvPr/>
          </p:nvSpPr>
          <p:spPr>
            <a:xfrm>
              <a:off x="1678981" y="2405166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5C36BC0-A86C-CEA5-3DF8-904FEE60D009}"/>
                </a:ext>
              </a:extLst>
            </p:cNvPr>
            <p:cNvSpPr/>
            <p:nvPr/>
          </p:nvSpPr>
          <p:spPr>
            <a:xfrm>
              <a:off x="1831886" y="2329695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B1AF432-6FE1-C1A3-E8F4-0A265EC4132D}"/>
                </a:ext>
              </a:extLst>
            </p:cNvPr>
            <p:cNvSpPr/>
            <p:nvPr/>
          </p:nvSpPr>
          <p:spPr>
            <a:xfrm>
              <a:off x="1984791" y="2371974"/>
              <a:ext cx="108000" cy="108000"/>
            </a:xfrm>
            <a:prstGeom prst="ellipse">
              <a:avLst/>
            </a:prstGeom>
            <a:solidFill>
              <a:srgbClr val="B8F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B46F07B3-3919-9376-8DA5-CC9E7210B7CC}"/>
                </a:ext>
              </a:extLst>
            </p:cNvPr>
            <p:cNvSpPr/>
            <p:nvPr/>
          </p:nvSpPr>
          <p:spPr>
            <a:xfrm>
              <a:off x="2137696" y="2285403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85B3154-BDF2-106F-1883-E3F5FC65D181}"/>
                </a:ext>
              </a:extLst>
            </p:cNvPr>
            <p:cNvSpPr/>
            <p:nvPr/>
          </p:nvSpPr>
          <p:spPr>
            <a:xfrm>
              <a:off x="2290601" y="2307013"/>
              <a:ext cx="108000" cy="108000"/>
            </a:xfrm>
            <a:prstGeom prst="ellipse">
              <a:avLst/>
            </a:prstGeom>
            <a:solidFill>
              <a:srgbClr val="2EA3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595FDA92-74EC-8E2E-68AD-46AF9B93E1E0}"/>
                </a:ext>
              </a:extLst>
            </p:cNvPr>
            <p:cNvSpPr/>
            <p:nvPr/>
          </p:nvSpPr>
          <p:spPr>
            <a:xfrm>
              <a:off x="2443506" y="2182777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8849648A-939C-4F66-569B-CEBC236E0DE1}"/>
                </a:ext>
              </a:extLst>
            </p:cNvPr>
            <p:cNvSpPr/>
            <p:nvPr/>
          </p:nvSpPr>
          <p:spPr>
            <a:xfrm>
              <a:off x="2596411" y="2366212"/>
              <a:ext cx="108000" cy="108000"/>
            </a:xfrm>
            <a:prstGeom prst="ellipse">
              <a:avLst/>
            </a:prstGeom>
            <a:solidFill>
              <a:srgbClr val="1E8A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528A947E-63DB-7F1A-E0A3-C6458B8DBE9C}"/>
                </a:ext>
              </a:extLst>
            </p:cNvPr>
            <p:cNvSpPr/>
            <p:nvPr/>
          </p:nvSpPr>
          <p:spPr>
            <a:xfrm>
              <a:off x="2749316" y="2307013"/>
              <a:ext cx="108000" cy="108000"/>
            </a:xfrm>
            <a:prstGeom prst="ellipse">
              <a:avLst/>
            </a:prstGeom>
            <a:solidFill>
              <a:srgbClr val="B8F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59B6B9FE-D9CD-3903-7DCC-65C16243481F}"/>
                </a:ext>
              </a:extLst>
            </p:cNvPr>
            <p:cNvSpPr/>
            <p:nvPr/>
          </p:nvSpPr>
          <p:spPr>
            <a:xfrm>
              <a:off x="2902221" y="2165425"/>
              <a:ext cx="108000" cy="108000"/>
            </a:xfrm>
            <a:prstGeom prst="ellipse">
              <a:avLst/>
            </a:prstGeom>
            <a:solidFill>
              <a:srgbClr val="5CC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902787AD-D6F1-0F47-1C2A-9D270AED5939}"/>
                </a:ext>
              </a:extLst>
            </p:cNvPr>
            <p:cNvSpPr/>
            <p:nvPr/>
          </p:nvSpPr>
          <p:spPr>
            <a:xfrm>
              <a:off x="3055120" y="2284008"/>
              <a:ext cx="108000" cy="108000"/>
            </a:xfrm>
            <a:prstGeom prst="ellipse">
              <a:avLst/>
            </a:prstGeom>
            <a:solidFill>
              <a:srgbClr val="2EA3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BB0CFAD0-BE64-25A2-70DB-F592E1F35281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815551" y="2519341"/>
              <a:ext cx="0" cy="108000"/>
            </a:xfrm>
            <a:prstGeom prst="straightConnector1">
              <a:avLst/>
            </a:prstGeom>
            <a:ln w="6350">
              <a:solidFill>
                <a:srgbClr val="1E8A6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0E269B5D-5CAE-7C85-BC26-2BEB4F5F8101}"/>
                </a:ext>
              </a:extLst>
            </p:cNvPr>
            <p:cNvCxnSpPr>
              <a:cxnSpLocks/>
              <a:stCxn id="41" idx="4"/>
            </p:cNvCxnSpPr>
            <p:nvPr/>
          </p:nvCxnSpPr>
          <p:spPr>
            <a:xfrm>
              <a:off x="662646" y="2348024"/>
              <a:ext cx="0" cy="143999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DC3B10E0-38B0-088A-5469-5A42BAC75146}"/>
                </a:ext>
              </a:extLst>
            </p:cNvPr>
            <p:cNvCxnSpPr>
              <a:cxnSpLocks/>
              <a:stCxn id="42" idx="4"/>
            </p:cNvCxnSpPr>
            <p:nvPr/>
          </p:nvCxnSpPr>
          <p:spPr>
            <a:xfrm>
              <a:off x="968456" y="2283239"/>
              <a:ext cx="0" cy="168499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5168DA0B-47CE-5CE5-F86A-68494B3B1EFA}"/>
                </a:ext>
              </a:extLst>
            </p:cNvPr>
            <p:cNvCxnSpPr>
              <a:cxnSpLocks/>
              <a:stCxn id="43" idx="4"/>
            </p:cNvCxnSpPr>
            <p:nvPr/>
          </p:nvCxnSpPr>
          <p:spPr>
            <a:xfrm>
              <a:off x="1121361" y="2475255"/>
              <a:ext cx="0" cy="125070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88EB233B-000A-F685-D8BE-1A969347D276}"/>
                </a:ext>
              </a:extLst>
            </p:cNvPr>
            <p:cNvCxnSpPr>
              <a:cxnSpLocks/>
              <a:stCxn id="44" idx="4"/>
            </p:cNvCxnSpPr>
            <p:nvPr/>
          </p:nvCxnSpPr>
          <p:spPr>
            <a:xfrm>
              <a:off x="1274266" y="2290777"/>
              <a:ext cx="0" cy="160961"/>
            </a:xfrm>
            <a:prstGeom prst="straightConnector1">
              <a:avLst/>
            </a:prstGeom>
            <a:ln w="6350">
              <a:solidFill>
                <a:srgbClr val="B8F3D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473C90E2-B873-8670-738E-A5D610A11CB3}"/>
                </a:ext>
              </a:extLst>
            </p:cNvPr>
            <p:cNvCxnSpPr>
              <a:cxnSpLocks/>
              <a:stCxn id="45" idx="4"/>
            </p:cNvCxnSpPr>
            <p:nvPr/>
          </p:nvCxnSpPr>
          <p:spPr>
            <a:xfrm>
              <a:off x="1427171" y="2489804"/>
              <a:ext cx="0" cy="93169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BC51B005-08EB-4C90-0D63-A3B2604A3AA2}"/>
                </a:ext>
              </a:extLst>
            </p:cNvPr>
            <p:cNvCxnSpPr>
              <a:cxnSpLocks/>
              <a:stCxn id="46" idx="4"/>
            </p:cNvCxnSpPr>
            <p:nvPr/>
          </p:nvCxnSpPr>
          <p:spPr>
            <a:xfrm>
              <a:off x="1580076" y="2420206"/>
              <a:ext cx="0" cy="116182"/>
            </a:xfrm>
            <a:prstGeom prst="straightConnector1">
              <a:avLst/>
            </a:prstGeom>
            <a:ln w="6350">
              <a:solidFill>
                <a:srgbClr val="2EA37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0E68059E-E909-2734-59FF-1B0EF7DC6D1C}"/>
                </a:ext>
              </a:extLst>
            </p:cNvPr>
            <p:cNvCxnSpPr>
              <a:cxnSpLocks/>
              <a:stCxn id="47" idx="4"/>
            </p:cNvCxnSpPr>
            <p:nvPr/>
          </p:nvCxnSpPr>
          <p:spPr>
            <a:xfrm>
              <a:off x="1732981" y="2513166"/>
              <a:ext cx="0" cy="87159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FB63591E-C7DA-7AEC-9149-F8D236F291AB}"/>
                </a:ext>
              </a:extLst>
            </p:cNvPr>
            <p:cNvCxnSpPr>
              <a:cxnSpLocks/>
              <a:stCxn id="49" idx="4"/>
            </p:cNvCxnSpPr>
            <p:nvPr/>
          </p:nvCxnSpPr>
          <p:spPr>
            <a:xfrm>
              <a:off x="1885886" y="2437695"/>
              <a:ext cx="0" cy="114899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D57CA747-9586-B837-8E5B-956F451AA490}"/>
                </a:ext>
              </a:extLst>
            </p:cNvPr>
            <p:cNvCxnSpPr>
              <a:cxnSpLocks/>
              <a:stCxn id="51" idx="4"/>
            </p:cNvCxnSpPr>
            <p:nvPr/>
          </p:nvCxnSpPr>
          <p:spPr>
            <a:xfrm>
              <a:off x="2038791" y="2479974"/>
              <a:ext cx="0" cy="102999"/>
            </a:xfrm>
            <a:prstGeom prst="straightConnector1">
              <a:avLst/>
            </a:prstGeom>
            <a:ln w="6350">
              <a:solidFill>
                <a:srgbClr val="B8F3D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9618976D-7873-D4C0-16F0-216FB25079DC}"/>
                </a:ext>
              </a:extLst>
            </p:cNvPr>
            <p:cNvCxnSpPr>
              <a:cxnSpLocks/>
              <a:stCxn id="52" idx="4"/>
            </p:cNvCxnSpPr>
            <p:nvPr/>
          </p:nvCxnSpPr>
          <p:spPr>
            <a:xfrm>
              <a:off x="2191696" y="2393403"/>
              <a:ext cx="0" cy="117830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B54D3CF5-6FB4-9778-3019-1D925B4FE26F}"/>
                </a:ext>
              </a:extLst>
            </p:cNvPr>
            <p:cNvCxnSpPr>
              <a:cxnSpLocks/>
              <a:stCxn id="53" idx="4"/>
            </p:cNvCxnSpPr>
            <p:nvPr/>
          </p:nvCxnSpPr>
          <p:spPr>
            <a:xfrm>
              <a:off x="2344601" y="2415013"/>
              <a:ext cx="0" cy="167960"/>
            </a:xfrm>
            <a:prstGeom prst="straightConnector1">
              <a:avLst/>
            </a:prstGeom>
            <a:ln w="6350">
              <a:solidFill>
                <a:srgbClr val="2EA37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F636AB37-26C2-6A32-5F0E-18BC75FBAEEE}"/>
                </a:ext>
              </a:extLst>
            </p:cNvPr>
            <p:cNvCxnSpPr>
              <a:cxnSpLocks/>
              <a:stCxn id="54" idx="4"/>
            </p:cNvCxnSpPr>
            <p:nvPr/>
          </p:nvCxnSpPr>
          <p:spPr>
            <a:xfrm>
              <a:off x="2497506" y="2290777"/>
              <a:ext cx="0" cy="184478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25AF31E1-846A-2498-FB27-6E0B8359D16C}"/>
                </a:ext>
              </a:extLst>
            </p:cNvPr>
            <p:cNvCxnSpPr>
              <a:cxnSpLocks/>
              <a:stCxn id="55" idx="4"/>
            </p:cNvCxnSpPr>
            <p:nvPr/>
          </p:nvCxnSpPr>
          <p:spPr>
            <a:xfrm>
              <a:off x="2650411" y="2474212"/>
              <a:ext cx="0" cy="92758"/>
            </a:xfrm>
            <a:prstGeom prst="straightConnector1">
              <a:avLst/>
            </a:prstGeom>
            <a:ln w="6350">
              <a:solidFill>
                <a:srgbClr val="1E8A6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43F86144-8B03-352B-7E31-DFAD18DDCD46}"/>
                </a:ext>
              </a:extLst>
            </p:cNvPr>
            <p:cNvCxnSpPr>
              <a:cxnSpLocks/>
              <a:stCxn id="56" idx="4"/>
            </p:cNvCxnSpPr>
            <p:nvPr/>
          </p:nvCxnSpPr>
          <p:spPr>
            <a:xfrm>
              <a:off x="2803316" y="2415013"/>
              <a:ext cx="0" cy="121375"/>
            </a:xfrm>
            <a:prstGeom prst="straightConnector1">
              <a:avLst/>
            </a:prstGeom>
            <a:ln w="6350">
              <a:solidFill>
                <a:srgbClr val="B8F3D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49C73BF7-EB5D-7BF5-28F6-B3BA063B4559}"/>
                </a:ext>
              </a:extLst>
            </p:cNvPr>
            <p:cNvCxnSpPr>
              <a:cxnSpLocks/>
            </p:cNvCxnSpPr>
            <p:nvPr/>
          </p:nvCxnSpPr>
          <p:spPr>
            <a:xfrm>
              <a:off x="2956221" y="2283239"/>
              <a:ext cx="0" cy="211731"/>
            </a:xfrm>
            <a:prstGeom prst="straightConnector1">
              <a:avLst/>
            </a:prstGeom>
            <a:ln w="6350">
              <a:solidFill>
                <a:srgbClr val="5CCF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DDDB8B49-2641-C033-169E-C8F60137382D}"/>
                </a:ext>
              </a:extLst>
            </p:cNvPr>
            <p:cNvCxnSpPr>
              <a:cxnSpLocks/>
              <a:stCxn id="58" idx="4"/>
            </p:cNvCxnSpPr>
            <p:nvPr/>
          </p:nvCxnSpPr>
          <p:spPr>
            <a:xfrm>
              <a:off x="3109120" y="2392008"/>
              <a:ext cx="0" cy="144380"/>
            </a:xfrm>
            <a:prstGeom prst="straightConnector1">
              <a:avLst/>
            </a:prstGeom>
            <a:ln w="6350">
              <a:solidFill>
                <a:srgbClr val="1E8A6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908E417-3284-4584-F8CD-2638D9AA8309}"/>
                </a:ext>
              </a:extLst>
            </p:cNvPr>
            <p:cNvSpPr txBox="1"/>
            <p:nvPr/>
          </p:nvSpPr>
          <p:spPr>
            <a:xfrm>
              <a:off x="1638925" y="2704478"/>
              <a:ext cx="508152" cy="295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rgbClr val="3D3D3D"/>
                  </a:solidFill>
                </a:rPr>
                <a:t>인지 단계</a:t>
              </a:r>
              <a:endParaRPr lang="en-US" altLang="ko-KR" sz="1000" b="1" dirty="0">
                <a:solidFill>
                  <a:srgbClr val="3D3D3D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800" dirty="0">
                  <a:solidFill>
                    <a:srgbClr val="3D3D3D"/>
                  </a:solidFill>
                </a:rPr>
                <a:t>Awareness</a:t>
              </a:r>
              <a:endParaRPr lang="ko-KR" altLang="en-US" sz="800" dirty="0">
                <a:solidFill>
                  <a:srgbClr val="3D3D3D"/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B506523-185A-6C38-BB4D-CB6AA97C8649}"/>
                </a:ext>
              </a:extLst>
            </p:cNvPr>
            <p:cNvSpPr txBox="1"/>
            <p:nvPr/>
          </p:nvSpPr>
          <p:spPr>
            <a:xfrm>
              <a:off x="1657358" y="3244605"/>
              <a:ext cx="471283" cy="295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rgbClr val="3D3D3D"/>
                  </a:solidFill>
                </a:rPr>
                <a:t>관심 단계</a:t>
              </a:r>
              <a:endParaRPr lang="en-US" altLang="ko-KR" sz="1000" b="1" dirty="0">
                <a:solidFill>
                  <a:srgbClr val="3D3D3D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800" dirty="0">
                  <a:solidFill>
                    <a:srgbClr val="3D3D3D"/>
                  </a:solidFill>
                </a:rPr>
                <a:t>Interest</a:t>
              </a:r>
              <a:endParaRPr lang="ko-KR" altLang="en-US" sz="800" dirty="0">
                <a:solidFill>
                  <a:srgbClr val="3D3D3D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95E6D7D-BE05-CE1B-F81E-F2C20AF2C844}"/>
                </a:ext>
              </a:extLst>
            </p:cNvPr>
            <p:cNvSpPr txBox="1"/>
            <p:nvPr/>
          </p:nvSpPr>
          <p:spPr>
            <a:xfrm>
              <a:off x="1656557" y="3784732"/>
              <a:ext cx="472885" cy="295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의도 단계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bg1"/>
                  </a:solidFill>
                </a:rPr>
                <a:t>Intent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D7F6FA3-2FC6-5025-8E29-E9658CC97FD9}"/>
                </a:ext>
              </a:extLst>
            </p:cNvPr>
            <p:cNvSpPr txBox="1"/>
            <p:nvPr/>
          </p:nvSpPr>
          <p:spPr>
            <a:xfrm>
              <a:off x="1656557" y="4324859"/>
              <a:ext cx="472885" cy="295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평가 단계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bg1"/>
                  </a:solidFill>
                </a:rPr>
                <a:t>Evaluation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58E63E7-970A-5B73-06CE-E7C5DD97AB74}"/>
                </a:ext>
              </a:extLst>
            </p:cNvPr>
            <p:cNvSpPr txBox="1"/>
            <p:nvPr/>
          </p:nvSpPr>
          <p:spPr>
            <a:xfrm>
              <a:off x="1657357" y="4864986"/>
              <a:ext cx="471283" cy="29572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구매 단계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bg1"/>
                  </a:solidFill>
                </a:rPr>
                <a:t>Purchase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7961A75-B0D9-8E32-8312-FAFDBD13116C}"/>
                </a:ext>
              </a:extLst>
            </p:cNvPr>
            <p:cNvSpPr txBox="1"/>
            <p:nvPr/>
          </p:nvSpPr>
          <p:spPr>
            <a:xfrm>
              <a:off x="1639184" y="5386937"/>
              <a:ext cx="507634" cy="332074"/>
            </a:xfrm>
            <a:prstGeom prst="rect">
              <a:avLst/>
            </a:prstGeom>
            <a:solidFill>
              <a:srgbClr val="0A1A39"/>
            </a:solidFill>
          </p:spPr>
          <p:txBody>
            <a:bodyPr wrap="none" lIns="18000" tIns="18000" rIns="18000" bIns="18000" rtlCol="0" anchor="ctr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충성 단계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bg1"/>
                  </a:solidFill>
                </a:rPr>
                <a:t>Loyalty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4654C2CB-CB84-E0B1-AB24-1ABA18D999DB}"/>
              </a:ext>
            </a:extLst>
          </p:cNvPr>
          <p:cNvCxnSpPr>
            <a:cxnSpLocks/>
          </p:cNvCxnSpPr>
          <p:nvPr/>
        </p:nvCxnSpPr>
        <p:spPr>
          <a:xfrm>
            <a:off x="3097043" y="2582973"/>
            <a:ext cx="6355957" cy="0"/>
          </a:xfrm>
          <a:prstGeom prst="line">
            <a:avLst/>
          </a:prstGeom>
          <a:ln w="6350">
            <a:solidFill>
              <a:srgbClr val="3D3D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44D45FE7-5139-4060-1E35-516DBB91A2C8}"/>
              </a:ext>
            </a:extLst>
          </p:cNvPr>
          <p:cNvCxnSpPr>
            <a:cxnSpLocks/>
          </p:cNvCxnSpPr>
          <p:nvPr/>
        </p:nvCxnSpPr>
        <p:spPr>
          <a:xfrm>
            <a:off x="2702018" y="3658389"/>
            <a:ext cx="6750982" cy="0"/>
          </a:xfrm>
          <a:prstGeom prst="line">
            <a:avLst/>
          </a:prstGeom>
          <a:ln w="6350">
            <a:solidFill>
              <a:srgbClr val="3D3D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7243400E-F15B-48A4-B1BD-A19002903B79}"/>
              </a:ext>
            </a:extLst>
          </p:cNvPr>
          <p:cNvCxnSpPr>
            <a:cxnSpLocks/>
          </p:cNvCxnSpPr>
          <p:nvPr/>
        </p:nvCxnSpPr>
        <p:spPr>
          <a:xfrm>
            <a:off x="2290602" y="4742783"/>
            <a:ext cx="7162398" cy="0"/>
          </a:xfrm>
          <a:prstGeom prst="line">
            <a:avLst/>
          </a:prstGeom>
          <a:ln w="6350">
            <a:solidFill>
              <a:srgbClr val="3D3D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6BFBD783-5423-5BEE-CF1F-954C8FAAB3D7}"/>
              </a:ext>
            </a:extLst>
          </p:cNvPr>
          <p:cNvCxnSpPr>
            <a:cxnSpLocks/>
          </p:cNvCxnSpPr>
          <p:nvPr/>
        </p:nvCxnSpPr>
        <p:spPr>
          <a:xfrm>
            <a:off x="3513000" y="2096211"/>
            <a:ext cx="0" cy="432000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9E695598-A458-D689-08C4-B70542F9C0B5}"/>
              </a:ext>
            </a:extLst>
          </p:cNvPr>
          <p:cNvCxnSpPr>
            <a:cxnSpLocks/>
          </p:cNvCxnSpPr>
          <p:nvPr/>
        </p:nvCxnSpPr>
        <p:spPr>
          <a:xfrm>
            <a:off x="3513000" y="2652681"/>
            <a:ext cx="0" cy="936000"/>
          </a:xfrm>
          <a:prstGeom prst="straightConnector1">
            <a:avLst/>
          </a:prstGeom>
          <a:ln w="6350">
            <a:solidFill>
              <a:srgbClr val="3D3D3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1D4B8ED8-5848-CC87-4F57-184C7EEC77B0}"/>
              </a:ext>
            </a:extLst>
          </p:cNvPr>
          <p:cNvCxnSpPr>
            <a:cxnSpLocks/>
          </p:cNvCxnSpPr>
          <p:nvPr/>
        </p:nvCxnSpPr>
        <p:spPr>
          <a:xfrm>
            <a:off x="3513000" y="3732586"/>
            <a:ext cx="0" cy="936000"/>
          </a:xfrm>
          <a:prstGeom prst="straightConnector1">
            <a:avLst/>
          </a:prstGeom>
          <a:ln w="6350">
            <a:solidFill>
              <a:srgbClr val="3D3D3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63D3B853-4A79-C1E9-DF20-1E0A9975AD67}"/>
              </a:ext>
            </a:extLst>
          </p:cNvPr>
          <p:cNvCxnSpPr>
            <a:cxnSpLocks/>
          </p:cNvCxnSpPr>
          <p:nvPr/>
        </p:nvCxnSpPr>
        <p:spPr>
          <a:xfrm>
            <a:off x="3513000" y="4787877"/>
            <a:ext cx="0" cy="936000"/>
          </a:xfrm>
          <a:prstGeom prst="straightConnector1">
            <a:avLst/>
          </a:prstGeom>
          <a:ln w="6350">
            <a:solidFill>
              <a:srgbClr val="3D3D3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40D8D593-F1FD-7A19-E28E-E8D560966903}"/>
              </a:ext>
            </a:extLst>
          </p:cNvPr>
          <p:cNvSpPr txBox="1"/>
          <p:nvPr/>
        </p:nvSpPr>
        <p:spPr>
          <a:xfrm>
            <a:off x="3512999" y="2129308"/>
            <a:ext cx="2879996" cy="365806"/>
          </a:xfrm>
          <a:prstGeom prst="rect">
            <a:avLst/>
          </a:prstGeom>
          <a:noFill/>
        </p:spPr>
        <p:txBody>
          <a:bodyPr wrap="square" lIns="10800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dirty="0">
                <a:solidFill>
                  <a:srgbClr val="11244A"/>
                </a:solidFill>
              </a:rPr>
              <a:t>탑 </a:t>
            </a:r>
            <a:r>
              <a:rPr lang="ko-KR" altLang="en-US" sz="1000" b="1" dirty="0" err="1">
                <a:solidFill>
                  <a:srgbClr val="11244A"/>
                </a:solidFill>
              </a:rPr>
              <a:t>퍼널</a:t>
            </a:r>
            <a:r>
              <a:rPr lang="ko-KR" altLang="en-US" sz="1000" b="1" dirty="0">
                <a:solidFill>
                  <a:srgbClr val="11244A"/>
                </a:solidFill>
              </a:rPr>
              <a:t> 이전 단계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잠재적 고객 정의 및 전략 설정 단계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135EA4B-51E1-A3A9-23A6-BDAA29E86CCB}"/>
              </a:ext>
            </a:extLst>
          </p:cNvPr>
          <p:cNvSpPr txBox="1"/>
          <p:nvPr/>
        </p:nvSpPr>
        <p:spPr>
          <a:xfrm>
            <a:off x="3513000" y="2833904"/>
            <a:ext cx="2879995" cy="573555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dirty="0">
                <a:solidFill>
                  <a:srgbClr val="11244A"/>
                </a:solidFill>
              </a:rPr>
              <a:t>탑 </a:t>
            </a:r>
            <a:r>
              <a:rPr lang="ko-KR" altLang="en-US" sz="1000" b="1" dirty="0" err="1">
                <a:solidFill>
                  <a:srgbClr val="11244A"/>
                </a:solidFill>
              </a:rPr>
              <a:t>퍼널</a:t>
            </a:r>
            <a:r>
              <a:rPr lang="ko-KR" altLang="en-US" sz="1000" b="1" dirty="0">
                <a:solidFill>
                  <a:srgbClr val="11244A"/>
                </a:solidFill>
              </a:rPr>
              <a:t> </a:t>
            </a:r>
            <a:r>
              <a:rPr lang="en-US" altLang="ko-KR" sz="800" dirty="0">
                <a:solidFill>
                  <a:srgbClr val="11244A"/>
                </a:solidFill>
              </a:rPr>
              <a:t>(Top Funnel)</a:t>
            </a:r>
            <a:endParaRPr lang="en-US" altLang="ko-KR" sz="1000" dirty="0">
              <a:solidFill>
                <a:srgbClr val="11244A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브랜드 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 콘텐츠 인지 단계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고객 관심 유도 통한 최초 접점 형성 구간</a:t>
            </a:r>
            <a:endParaRPr lang="ko-KR" altLang="en-US" sz="1000" dirty="0">
              <a:solidFill>
                <a:srgbClr val="3D3D3D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0DE4832-A96F-D16D-F08B-A60EC67E4D59}"/>
              </a:ext>
            </a:extLst>
          </p:cNvPr>
          <p:cNvSpPr txBox="1"/>
          <p:nvPr/>
        </p:nvSpPr>
        <p:spPr>
          <a:xfrm>
            <a:off x="3513000" y="3913809"/>
            <a:ext cx="2916000" cy="573555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dirty="0">
                <a:solidFill>
                  <a:srgbClr val="11244A"/>
                </a:solidFill>
              </a:rPr>
              <a:t>미들 </a:t>
            </a:r>
            <a:r>
              <a:rPr lang="ko-KR" altLang="en-US" sz="1000" b="1" dirty="0" err="1">
                <a:solidFill>
                  <a:srgbClr val="11244A"/>
                </a:solidFill>
              </a:rPr>
              <a:t>퍼널</a:t>
            </a:r>
            <a:r>
              <a:rPr lang="ko-KR" altLang="en-US" sz="1000" b="1" dirty="0">
                <a:solidFill>
                  <a:srgbClr val="11244A"/>
                </a:solidFill>
              </a:rPr>
              <a:t> </a:t>
            </a:r>
            <a:r>
              <a:rPr lang="en-US" altLang="ko-KR" sz="800" dirty="0">
                <a:solidFill>
                  <a:srgbClr val="11244A"/>
                </a:solidFill>
              </a:rPr>
              <a:t>(Middle Funnel)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학습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구매 의지 형성 및 검토 단계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브랜드 경험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정보 제공 통한 전환 가능성 강화 구간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C1A3FCA-D946-1DA7-A273-0A43CFE99092}"/>
              </a:ext>
            </a:extLst>
          </p:cNvPr>
          <p:cNvSpPr txBox="1"/>
          <p:nvPr/>
        </p:nvSpPr>
        <p:spPr>
          <a:xfrm>
            <a:off x="3513000" y="4969100"/>
            <a:ext cx="2879998" cy="573555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dirty="0" err="1">
                <a:solidFill>
                  <a:srgbClr val="11244A"/>
                </a:solidFill>
              </a:rPr>
              <a:t>바텀</a:t>
            </a:r>
            <a:r>
              <a:rPr lang="ko-KR" altLang="en-US" sz="1000" b="1" dirty="0">
                <a:solidFill>
                  <a:srgbClr val="11244A"/>
                </a:solidFill>
              </a:rPr>
              <a:t> </a:t>
            </a:r>
            <a:r>
              <a:rPr lang="ko-KR" altLang="en-US" sz="1000" b="1" dirty="0" err="1">
                <a:solidFill>
                  <a:srgbClr val="11244A"/>
                </a:solidFill>
              </a:rPr>
              <a:t>퍼널</a:t>
            </a:r>
            <a:r>
              <a:rPr lang="ko-KR" altLang="en-US" sz="1000" b="1" dirty="0">
                <a:solidFill>
                  <a:srgbClr val="11244A"/>
                </a:solidFill>
              </a:rPr>
              <a:t> </a:t>
            </a:r>
            <a:r>
              <a:rPr lang="en-US" altLang="ko-KR" sz="800" dirty="0">
                <a:solidFill>
                  <a:srgbClr val="11244A"/>
                </a:solidFill>
              </a:rPr>
              <a:t>(Bottom Funnel)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실제 구매 전환되는 핵심 단계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충성도 및 재구매로의 확장 구간</a:t>
            </a:r>
          </a:p>
        </p:txBody>
      </p:sp>
      <p:sp>
        <p:nvSpPr>
          <p:cNvPr id="143" name="이등변 삼각형 142">
            <a:extLst>
              <a:ext uri="{FF2B5EF4-FFF2-40B4-BE49-F238E27FC236}">
                <a16:creationId xmlns:a16="http://schemas.microsoft.com/office/drawing/2014/main" id="{9B9C6EC0-138F-F0D5-9F02-4449AE738167}"/>
              </a:ext>
            </a:extLst>
          </p:cNvPr>
          <p:cNvSpPr/>
          <p:nvPr/>
        </p:nvSpPr>
        <p:spPr>
          <a:xfrm rot="5400000">
            <a:off x="6339000" y="2240211"/>
            <a:ext cx="288000" cy="144000"/>
          </a:xfrm>
          <a:prstGeom prst="triangle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44" name="이등변 삼각형 143">
            <a:extLst>
              <a:ext uri="{FF2B5EF4-FFF2-40B4-BE49-F238E27FC236}">
                <a16:creationId xmlns:a16="http://schemas.microsoft.com/office/drawing/2014/main" id="{645E1D83-BDD1-31BD-C135-9A788483FBD9}"/>
              </a:ext>
            </a:extLst>
          </p:cNvPr>
          <p:cNvSpPr/>
          <p:nvPr/>
        </p:nvSpPr>
        <p:spPr>
          <a:xfrm rot="5400000">
            <a:off x="6339000" y="3048681"/>
            <a:ext cx="288000" cy="144000"/>
          </a:xfrm>
          <a:prstGeom prst="triangle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45" name="이등변 삼각형 144">
            <a:extLst>
              <a:ext uri="{FF2B5EF4-FFF2-40B4-BE49-F238E27FC236}">
                <a16:creationId xmlns:a16="http://schemas.microsoft.com/office/drawing/2014/main" id="{FFF5C168-D973-8969-A7BF-7F2B59874897}"/>
              </a:ext>
            </a:extLst>
          </p:cNvPr>
          <p:cNvSpPr/>
          <p:nvPr/>
        </p:nvSpPr>
        <p:spPr>
          <a:xfrm rot="5400000">
            <a:off x="6339000" y="4128586"/>
            <a:ext cx="288000" cy="144000"/>
          </a:xfrm>
          <a:prstGeom prst="triangle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46" name="이등변 삼각형 145">
            <a:extLst>
              <a:ext uri="{FF2B5EF4-FFF2-40B4-BE49-F238E27FC236}">
                <a16:creationId xmlns:a16="http://schemas.microsoft.com/office/drawing/2014/main" id="{F3EC600A-C76F-1949-69E3-4F9A336BE1E1}"/>
              </a:ext>
            </a:extLst>
          </p:cNvPr>
          <p:cNvSpPr/>
          <p:nvPr/>
        </p:nvSpPr>
        <p:spPr>
          <a:xfrm rot="5400000">
            <a:off x="6339000" y="5183877"/>
            <a:ext cx="288000" cy="144000"/>
          </a:xfrm>
          <a:prstGeom prst="triangle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C8795B3-F984-32A1-6AC5-0B9619BA06BB}"/>
              </a:ext>
            </a:extLst>
          </p:cNvPr>
          <p:cNvSpPr txBox="1"/>
          <p:nvPr/>
        </p:nvSpPr>
        <p:spPr>
          <a:xfrm>
            <a:off x="6573004" y="2129308"/>
            <a:ext cx="2879996" cy="365806"/>
          </a:xfrm>
          <a:prstGeom prst="rect">
            <a:avLst/>
          </a:prstGeom>
          <a:noFill/>
        </p:spPr>
        <p:txBody>
          <a:bodyPr wrap="square" lIns="10800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000" b="1" dirty="0">
                <a:solidFill>
                  <a:srgbClr val="539DFF"/>
                </a:solidFill>
              </a:rPr>
              <a:t>TITAN</a:t>
            </a:r>
            <a:r>
              <a:rPr lang="ko-KR" altLang="en-US" sz="1000" b="1" dirty="0">
                <a:solidFill>
                  <a:srgbClr val="539DFF"/>
                </a:solidFill>
              </a:rPr>
              <a:t> 핵심 역량</a:t>
            </a:r>
            <a:endParaRPr lang="en-US" altLang="ko-KR" sz="1000" b="1" dirty="0">
              <a:solidFill>
                <a:srgbClr val="539DFF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잠재적 고객 프로필 분석 통한 맞춤형 광고 전략 설계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AEEFDE1-3D3D-A662-8B66-14AC11459B41}"/>
              </a:ext>
            </a:extLst>
          </p:cNvPr>
          <p:cNvSpPr txBox="1"/>
          <p:nvPr/>
        </p:nvSpPr>
        <p:spPr>
          <a:xfrm>
            <a:off x="6573005" y="2730030"/>
            <a:ext cx="2879995" cy="781304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000" b="1" dirty="0">
                <a:solidFill>
                  <a:srgbClr val="539DFF"/>
                </a:solidFill>
              </a:rPr>
              <a:t>TITAN</a:t>
            </a:r>
            <a:r>
              <a:rPr lang="ko-KR" altLang="en-US" sz="1000" b="1" dirty="0">
                <a:solidFill>
                  <a:srgbClr val="539DFF"/>
                </a:solidFill>
              </a:rPr>
              <a:t> 핵심 역량</a:t>
            </a:r>
            <a:endParaRPr lang="en-US" altLang="ko-KR" sz="1000" b="1" dirty="0">
              <a:solidFill>
                <a:srgbClr val="539DFF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유튜브 등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온드미디어</a:t>
            </a:r>
            <a:r>
              <a:rPr lang="ko-KR" altLang="en-US" sz="1000" spc="-30" dirty="0">
                <a:solidFill>
                  <a:srgbClr val="3D3D3D"/>
                </a:solidFill>
              </a:rPr>
              <a:t> 통한 신뢰 형성 및 관심 확보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무료강의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전자책 등 체험형 콘텐츠 통한 초기 전환 유도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광고 소재 성과 분석 및 최적화 통한 유입 효율 강화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2A4A5B3-622C-4DAD-385E-4EE2F09DB380}"/>
              </a:ext>
            </a:extLst>
          </p:cNvPr>
          <p:cNvSpPr txBox="1"/>
          <p:nvPr/>
        </p:nvSpPr>
        <p:spPr>
          <a:xfrm>
            <a:off x="6573005" y="3809935"/>
            <a:ext cx="2879995" cy="781304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000" b="1" dirty="0">
                <a:solidFill>
                  <a:srgbClr val="539DFF"/>
                </a:solidFill>
              </a:rPr>
              <a:t>TITAN</a:t>
            </a:r>
            <a:r>
              <a:rPr lang="ko-KR" altLang="en-US" sz="1000" b="1" dirty="0">
                <a:solidFill>
                  <a:srgbClr val="539DFF"/>
                </a:solidFill>
              </a:rPr>
              <a:t> 핵심 역량</a:t>
            </a:r>
            <a:endParaRPr lang="en-US" altLang="ko-KR" sz="1000" b="1" dirty="0">
              <a:solidFill>
                <a:srgbClr val="539DFF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강사 브랜딩 및 커리큘럼 최적화 통한 학습 동기 강화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블로그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커뮤니티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오픈채팅방 통한 고객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라포</a:t>
            </a:r>
            <a:r>
              <a:rPr lang="ko-KR" altLang="en-US" sz="1000" spc="-30" dirty="0">
                <a:solidFill>
                  <a:srgbClr val="3D3D3D"/>
                </a:solidFill>
              </a:rPr>
              <a:t> 형성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라이브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웨비나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얼리버드</a:t>
            </a:r>
            <a:r>
              <a:rPr lang="ko-KR" altLang="en-US" sz="1000" spc="-30" dirty="0">
                <a:solidFill>
                  <a:srgbClr val="3D3D3D"/>
                </a:solidFill>
              </a:rPr>
              <a:t> 이벤트 등 통한 전환의사 촉진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4348FF4-3D08-4A4B-3ECB-0AABD0A3B976}"/>
              </a:ext>
            </a:extLst>
          </p:cNvPr>
          <p:cNvSpPr txBox="1"/>
          <p:nvPr/>
        </p:nvSpPr>
        <p:spPr>
          <a:xfrm>
            <a:off x="6573005" y="4865226"/>
            <a:ext cx="2879995" cy="781304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000" b="1" dirty="0">
                <a:solidFill>
                  <a:srgbClr val="539DFF"/>
                </a:solidFill>
              </a:rPr>
              <a:t>TITAN</a:t>
            </a:r>
            <a:r>
              <a:rPr lang="ko-KR" altLang="en-US" sz="1000" b="1" dirty="0">
                <a:solidFill>
                  <a:srgbClr val="539DFF"/>
                </a:solidFill>
              </a:rPr>
              <a:t> 핵심 역량</a:t>
            </a:r>
            <a:endParaRPr lang="en-US" altLang="ko-KR" sz="1000" b="1" dirty="0">
              <a:solidFill>
                <a:srgbClr val="539DFF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고액 유료강의 전환으로 차별적 수익화 실현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결제 경로 최적화 및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리타케팅으로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전환율</a:t>
            </a:r>
            <a:r>
              <a:rPr lang="ko-KR" altLang="en-US" sz="1000" spc="-30" dirty="0">
                <a:solidFill>
                  <a:srgbClr val="3D3D3D"/>
                </a:solidFill>
              </a:rPr>
              <a:t> 극대화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강사 </a:t>
            </a:r>
            <a:r>
              <a:rPr lang="en-US" altLang="ko-KR" sz="1000" spc="-30" dirty="0">
                <a:solidFill>
                  <a:srgbClr val="3D3D3D"/>
                </a:solidFill>
              </a:rPr>
              <a:t>A/S </a:t>
            </a:r>
            <a:r>
              <a:rPr lang="ko-KR" altLang="en-US" sz="1000" spc="-30" dirty="0">
                <a:solidFill>
                  <a:srgbClr val="3D3D3D"/>
                </a:solidFill>
              </a:rPr>
              <a:t>및 커뮤니티 운영 통한 만족도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충성도 강화</a:t>
            </a:r>
          </a:p>
        </p:txBody>
      </p:sp>
    </p:spTree>
    <p:extLst>
      <p:ext uri="{BB962C8B-B14F-4D97-AF65-F5344CB8AC3E}">
        <p14:creationId xmlns:p14="http://schemas.microsoft.com/office/powerpoint/2010/main" val="176703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C929-47DA-EAF1-88F6-DA52C575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86C8DE-F10E-F9C6-12EE-522BAA7BAD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b="1" dirty="0"/>
              <a:t>압도적 수익화 성과로 검증된 세일즈 </a:t>
            </a:r>
            <a:r>
              <a:rPr lang="ko-KR" altLang="en-US" b="1" dirty="0" err="1"/>
              <a:t>퍼널</a:t>
            </a:r>
            <a:r>
              <a:rPr lang="ko-KR" altLang="en-US" b="1" dirty="0"/>
              <a:t>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계속</a:t>
            </a:r>
            <a:r>
              <a:rPr lang="en-US" altLang="ko-KR" sz="1800" b="1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0274A3-58EE-54CC-52BF-03984734DF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C3C65-5020-DB74-B316-020B8AC7B1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1FCC97-D927-5F69-9B59-BD70B789E984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B97A6-17ED-6F77-CC32-478BEF1B8278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</a:t>
            </a:r>
            <a:r>
              <a:rPr lang="ko-KR" altLang="en-US" sz="1400" b="1" dirty="0" err="1">
                <a:solidFill>
                  <a:srgbClr val="3D3D3D"/>
                </a:solidFill>
              </a:rPr>
              <a:t>온드미디어와</a:t>
            </a:r>
            <a:r>
              <a:rPr lang="ko-KR" altLang="en-US" sz="1400" b="1" dirty="0">
                <a:solidFill>
                  <a:srgbClr val="3D3D3D"/>
                </a:solidFill>
              </a:rPr>
              <a:t> 무료 콘텐츠 미끼상품 전략을 통해 단기간 내 수십만 명의 잠재 고객을 확보하며 탑 </a:t>
            </a:r>
            <a:r>
              <a:rPr lang="ko-KR" altLang="en-US" sz="1400" b="1" dirty="0" err="1">
                <a:solidFill>
                  <a:srgbClr val="3D3D3D"/>
                </a:solidFill>
              </a:rPr>
              <a:t>퍼넬</a:t>
            </a:r>
            <a:r>
              <a:rPr lang="ko-KR" altLang="en-US" sz="1400" b="1" dirty="0">
                <a:solidFill>
                  <a:srgbClr val="3D3D3D"/>
                </a:solidFill>
              </a:rPr>
              <a:t> </a:t>
            </a:r>
            <a:r>
              <a:rPr lang="en-US" altLang="ko-KR" sz="1000" dirty="0">
                <a:solidFill>
                  <a:srgbClr val="3D3D3D"/>
                </a:solidFill>
              </a:rPr>
              <a:t>(Top Funnel)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단계부터 독보적 마케팅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세일즈 경쟁력을 입증하고 있습니다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57830F5-BC4A-720B-8890-E3CAFE2F29CD}"/>
              </a:ext>
            </a:extLst>
          </p:cNvPr>
          <p:cNvSpPr/>
          <p:nvPr/>
        </p:nvSpPr>
        <p:spPr>
          <a:xfrm>
            <a:off x="453000" y="1700213"/>
            <a:ext cx="8999438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탑 </a:t>
            </a:r>
            <a:r>
              <a:rPr lang="ko-KR" altLang="en-US" sz="1200" b="1" dirty="0" err="1">
                <a:solidFill>
                  <a:schemeClr val="bg1"/>
                </a:solidFill>
              </a:rPr>
              <a:t>퍼널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(Top Funnel)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핵심 역량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6DC0CF6-E13C-E207-FF44-1EB033FAB93A}"/>
              </a:ext>
            </a:extLst>
          </p:cNvPr>
          <p:cNvSpPr/>
          <p:nvPr/>
        </p:nvSpPr>
        <p:spPr>
          <a:xfrm>
            <a:off x="453000" y="2672973"/>
            <a:ext cx="2700000" cy="3096000"/>
          </a:xfrm>
          <a:prstGeom prst="rect">
            <a:avLst/>
          </a:prstGeom>
          <a:solidFill>
            <a:srgbClr val="E6F3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9E39464-C0FC-5AD9-0696-2E0CB8925B6F}"/>
              </a:ext>
            </a:extLst>
          </p:cNvPr>
          <p:cNvSpPr/>
          <p:nvPr/>
        </p:nvSpPr>
        <p:spPr>
          <a:xfrm>
            <a:off x="3602719" y="2672973"/>
            <a:ext cx="2700000" cy="3096000"/>
          </a:xfrm>
          <a:prstGeom prst="rect">
            <a:avLst/>
          </a:prstGeom>
          <a:solidFill>
            <a:srgbClr val="E6F3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5204AC9-BC18-0CBE-B04F-4978CE3EBB2F}"/>
              </a:ext>
            </a:extLst>
          </p:cNvPr>
          <p:cNvSpPr/>
          <p:nvPr/>
        </p:nvSpPr>
        <p:spPr>
          <a:xfrm>
            <a:off x="6752438" y="2672973"/>
            <a:ext cx="2700000" cy="3096000"/>
          </a:xfrm>
          <a:prstGeom prst="rect">
            <a:avLst/>
          </a:prstGeom>
          <a:solidFill>
            <a:srgbClr val="539DFF"/>
          </a:solidFill>
          <a:ln w="1270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FF8B549-431F-1886-35DC-03BABDA0644F}"/>
              </a:ext>
            </a:extLst>
          </p:cNvPr>
          <p:cNvSpPr/>
          <p:nvPr/>
        </p:nvSpPr>
        <p:spPr>
          <a:xfrm>
            <a:off x="1299000" y="2168974"/>
            <a:ext cx="1008000" cy="1008000"/>
          </a:xfrm>
          <a:prstGeom prst="ellipse">
            <a:avLst/>
          </a:prstGeom>
          <a:solidFill>
            <a:srgbClr val="E6F3F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48AA8-DDC0-0183-4118-6DA093A71A9D}"/>
              </a:ext>
            </a:extLst>
          </p:cNvPr>
          <p:cNvSpPr txBox="1"/>
          <p:nvPr/>
        </p:nvSpPr>
        <p:spPr>
          <a:xfrm>
            <a:off x="453000" y="3668232"/>
            <a:ext cx="2700000" cy="704360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유튜브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인스타그램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블로그 등 다양한 자체 콘텐츠 채널 운영을 통한 자유로운 콘텐츠 노출 가능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자사 </a:t>
            </a:r>
            <a:r>
              <a:rPr lang="en-US" altLang="ko-KR" sz="1000" spc="-30" dirty="0">
                <a:solidFill>
                  <a:srgbClr val="3D3D3D"/>
                </a:solidFill>
              </a:rPr>
              <a:t>DB </a:t>
            </a:r>
            <a:r>
              <a:rPr lang="ko-KR" altLang="en-US" sz="1000" spc="-30" dirty="0">
                <a:solidFill>
                  <a:srgbClr val="3D3D3D"/>
                </a:solidFill>
              </a:rPr>
              <a:t>기반 강사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특성에 맞는 최적 콘텐츠  제작하여 긍정적 인지도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신뢰도 확보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8C26BF0-A77B-FFEB-EB92-C26F02A07715}"/>
              </a:ext>
            </a:extLst>
          </p:cNvPr>
          <p:cNvSpPr/>
          <p:nvPr/>
        </p:nvSpPr>
        <p:spPr>
          <a:xfrm>
            <a:off x="4448719" y="2168974"/>
            <a:ext cx="1008000" cy="1008000"/>
          </a:xfrm>
          <a:prstGeom prst="ellipse">
            <a:avLst/>
          </a:prstGeom>
          <a:solidFill>
            <a:srgbClr val="E6F3F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5A3AE84-D6E0-C161-1D2F-50BE10FC62DF}"/>
              </a:ext>
            </a:extLst>
          </p:cNvPr>
          <p:cNvSpPr/>
          <p:nvPr/>
        </p:nvSpPr>
        <p:spPr>
          <a:xfrm>
            <a:off x="7599000" y="2168974"/>
            <a:ext cx="1008000" cy="1008000"/>
          </a:xfrm>
          <a:prstGeom prst="ellipse">
            <a:avLst/>
          </a:prstGeom>
          <a:solidFill>
            <a:srgbClr val="539DF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pic>
        <p:nvPicPr>
          <p:cNvPr id="34" name="그래픽 33">
            <a:extLst>
              <a:ext uri="{FF2B5EF4-FFF2-40B4-BE49-F238E27FC236}">
                <a16:creationId xmlns:a16="http://schemas.microsoft.com/office/drawing/2014/main" id="{22766CA1-0EB6-967C-3A7B-AA1F8C6A3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5000" y="2384974"/>
            <a:ext cx="576000" cy="576000"/>
          </a:xfrm>
          <a:prstGeom prst="rect">
            <a:avLst/>
          </a:prstGeom>
        </p:spPr>
      </p:pic>
      <p:pic>
        <p:nvPicPr>
          <p:cNvPr id="36" name="그래픽 35">
            <a:extLst>
              <a:ext uri="{FF2B5EF4-FFF2-40B4-BE49-F238E27FC236}">
                <a16:creationId xmlns:a16="http://schemas.microsoft.com/office/drawing/2014/main" id="{3ACB5D0C-D821-03C4-9AE5-6787BC1BD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4719" y="2384974"/>
            <a:ext cx="576000" cy="576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98645FF9-1425-872D-66FD-BAD28CE079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5000" y="2384974"/>
            <a:ext cx="576000" cy="576000"/>
          </a:xfrm>
          <a:prstGeom prst="rect">
            <a:avLst/>
          </a:prstGeom>
        </p:spPr>
      </p:pic>
      <p:sp>
        <p:nvSpPr>
          <p:cNvPr id="53" name="더하기 기호 52">
            <a:extLst>
              <a:ext uri="{FF2B5EF4-FFF2-40B4-BE49-F238E27FC236}">
                <a16:creationId xmlns:a16="http://schemas.microsoft.com/office/drawing/2014/main" id="{EA8079D6-F054-4BAA-4867-979DA7F19746}"/>
              </a:ext>
            </a:extLst>
          </p:cNvPr>
          <p:cNvSpPr/>
          <p:nvPr/>
        </p:nvSpPr>
        <p:spPr>
          <a:xfrm>
            <a:off x="3107859" y="3950973"/>
            <a:ext cx="540000" cy="540000"/>
          </a:xfrm>
          <a:prstGeom prst="mathPlus">
            <a:avLst>
              <a:gd name="adj1" fmla="val 30576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CA17D4B3-8CF5-948F-30C1-987E37BA0CEE}"/>
              </a:ext>
            </a:extLst>
          </p:cNvPr>
          <p:cNvSpPr/>
          <p:nvPr/>
        </p:nvSpPr>
        <p:spPr>
          <a:xfrm rot="5400000">
            <a:off x="6275579" y="4076973"/>
            <a:ext cx="504000" cy="288000"/>
          </a:xfrm>
          <a:prstGeom prst="triangle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48E452-1747-DBE7-10F3-08656F0011DC}"/>
              </a:ext>
            </a:extLst>
          </p:cNvPr>
          <p:cNvSpPr txBox="1"/>
          <p:nvPr/>
        </p:nvSpPr>
        <p:spPr>
          <a:xfrm>
            <a:off x="846007" y="3356973"/>
            <a:ext cx="1913987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 err="1">
                <a:solidFill>
                  <a:srgbClr val="11244A"/>
                </a:solidFill>
              </a:rPr>
              <a:t>온드미디어</a:t>
            </a:r>
            <a:r>
              <a:rPr lang="ko-KR" altLang="en-US" sz="1000" b="1" dirty="0">
                <a:solidFill>
                  <a:srgbClr val="11244A"/>
                </a:solidFill>
              </a:rPr>
              <a:t> 채널 노출 통한 인지도 확보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8D729F-818A-5587-7DCB-EB97129B3B77}"/>
              </a:ext>
            </a:extLst>
          </p:cNvPr>
          <p:cNvSpPr txBox="1"/>
          <p:nvPr/>
        </p:nvSpPr>
        <p:spPr>
          <a:xfrm>
            <a:off x="3911572" y="3356973"/>
            <a:ext cx="2082301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무료 콘텐츠 링크 노출 통한 잠재 고객 유인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F17217-5361-8498-474D-E9C070803863}"/>
              </a:ext>
            </a:extLst>
          </p:cNvPr>
          <p:cNvSpPr txBox="1"/>
          <p:nvPr/>
        </p:nvSpPr>
        <p:spPr>
          <a:xfrm>
            <a:off x="7131024" y="3356973"/>
            <a:ext cx="1942840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chemeClr val="bg1"/>
                </a:solidFill>
              </a:rPr>
              <a:t>유료 전환 가능성 높은 잠재 고객층 확보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5038B0-CFBE-463D-27B6-C2058DF2B6F9}"/>
              </a:ext>
            </a:extLst>
          </p:cNvPr>
          <p:cNvSpPr txBox="1"/>
          <p:nvPr/>
        </p:nvSpPr>
        <p:spPr>
          <a:xfrm>
            <a:off x="3602719" y="3668232"/>
            <a:ext cx="2700000" cy="742832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 err="1">
                <a:solidFill>
                  <a:srgbClr val="3D3D3D"/>
                </a:solidFill>
              </a:rPr>
              <a:t>온드미디어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 유료광고 콘텐츠 내 무료 링크 노출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358775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spc="-30" dirty="0">
                <a:solidFill>
                  <a:srgbClr val="3D3D3D"/>
                </a:solidFill>
              </a:rPr>
              <a:t>타 플랫폼의 경우 유료 강의 페이지로 연결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무료 강의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전자책 등 </a:t>
            </a:r>
            <a:r>
              <a:rPr lang="en-US" altLang="ko-KR" sz="1000" spc="-30" dirty="0">
                <a:solidFill>
                  <a:srgbClr val="3D3D3D"/>
                </a:solidFill>
              </a:rPr>
              <a:t>‘</a:t>
            </a:r>
            <a:r>
              <a:rPr lang="ko-KR" altLang="en-US" sz="1000" spc="-30" dirty="0">
                <a:solidFill>
                  <a:srgbClr val="3D3D3D"/>
                </a:solidFill>
              </a:rPr>
              <a:t>미끼</a:t>
            </a:r>
            <a:r>
              <a:rPr lang="en-US" altLang="ko-KR" sz="1000" spc="-30" dirty="0">
                <a:solidFill>
                  <a:srgbClr val="3D3D3D"/>
                </a:solidFill>
              </a:rPr>
              <a:t>‘ </a:t>
            </a:r>
            <a:r>
              <a:rPr lang="ko-KR" altLang="en-US" sz="1000" spc="-30" dirty="0">
                <a:solidFill>
                  <a:srgbClr val="3D3D3D"/>
                </a:solidFill>
              </a:rPr>
              <a:t>콘텐츠 제공 약속하여 관심도 높은 잠재 고객의 부담 없는 클릭 유인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84EFEB-BB2E-E613-4EA9-14AAED688BF2}"/>
              </a:ext>
            </a:extLst>
          </p:cNvPr>
          <p:cNvSpPr txBox="1"/>
          <p:nvPr/>
        </p:nvSpPr>
        <p:spPr>
          <a:xfrm>
            <a:off x="6752438" y="3668232"/>
            <a:ext cx="2700000" cy="742832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 err="1">
                <a:solidFill>
                  <a:schemeClr val="bg1"/>
                </a:solidFill>
              </a:rPr>
              <a:t>온드미디어</a:t>
            </a:r>
            <a:r>
              <a:rPr lang="ko-KR" altLang="en-US" sz="1000" spc="-30" dirty="0">
                <a:solidFill>
                  <a:schemeClr val="bg1"/>
                </a:solidFill>
              </a:rPr>
              <a:t> · 유료광고 콘텐츠 내 링크 통해 각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강의별</a:t>
            </a:r>
            <a:r>
              <a:rPr lang="ko-KR" altLang="en-US" sz="1000" spc="-30" dirty="0">
                <a:solidFill>
                  <a:schemeClr val="bg1"/>
                </a:solidFill>
              </a:rPr>
              <a:t> 무료강의 오픈채팅방으로 연결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358775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spc="-30" dirty="0">
                <a:solidFill>
                  <a:schemeClr val="bg1"/>
                </a:solidFill>
              </a:rPr>
              <a:t>해당 주제 관심도가 검증된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모객</a:t>
            </a:r>
            <a:r>
              <a:rPr lang="ko-KR" altLang="en-US" sz="1000" spc="-30" dirty="0">
                <a:solidFill>
                  <a:schemeClr val="bg1"/>
                </a:solidFill>
              </a:rPr>
              <a:t> </a:t>
            </a:r>
            <a:r>
              <a:rPr lang="en-US" altLang="ko-KR" sz="1000" spc="-30" dirty="0">
                <a:solidFill>
                  <a:schemeClr val="bg1"/>
                </a:solidFill>
              </a:rPr>
              <a:t>DB </a:t>
            </a:r>
            <a:r>
              <a:rPr lang="ko-KR" altLang="en-US" sz="1000" spc="-30" dirty="0">
                <a:solidFill>
                  <a:schemeClr val="bg1"/>
                </a:solidFill>
              </a:rPr>
              <a:t>확보 효과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40" dirty="0">
                <a:solidFill>
                  <a:schemeClr val="bg1"/>
                </a:solidFill>
              </a:rPr>
              <a:t>각종 특전 </a:t>
            </a:r>
            <a:r>
              <a:rPr lang="en-US" altLang="ko-KR" sz="1000" spc="-40" dirty="0">
                <a:solidFill>
                  <a:schemeClr val="bg1"/>
                </a:solidFill>
              </a:rPr>
              <a:t>· </a:t>
            </a:r>
            <a:r>
              <a:rPr lang="ko-KR" altLang="en-US" sz="1000" spc="-40" dirty="0">
                <a:solidFill>
                  <a:schemeClr val="bg1"/>
                </a:solidFill>
              </a:rPr>
              <a:t>이벤트 </a:t>
            </a:r>
            <a:r>
              <a:rPr lang="en-US" altLang="ko-KR" sz="1000" spc="-40" dirty="0">
                <a:solidFill>
                  <a:schemeClr val="bg1"/>
                </a:solidFill>
              </a:rPr>
              <a:t>· </a:t>
            </a:r>
            <a:r>
              <a:rPr lang="ko-KR" altLang="en-US" sz="1000" spc="-40" dirty="0">
                <a:solidFill>
                  <a:schemeClr val="bg1"/>
                </a:solidFill>
              </a:rPr>
              <a:t>콘텐츠 제공 통한 유료 전환 유도</a:t>
            </a:r>
          </a:p>
        </p:txBody>
      </p:sp>
      <p:pic>
        <p:nvPicPr>
          <p:cNvPr id="61" name="Picture 2" descr="고등학교 다니면서 사업자등록 하고 한 달에 1200만원 버는 19살">
            <a:extLst>
              <a:ext uri="{FF2B5EF4-FFF2-40B4-BE49-F238E27FC236}">
                <a16:creationId xmlns:a16="http://schemas.microsoft.com/office/drawing/2014/main" id="{DA4B0B00-715F-8A5E-1A0B-A0C2BCC0F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5000" y="4525795"/>
            <a:ext cx="1260000" cy="70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62163B2-B638-9611-0385-B8AA1DC427EE}"/>
              </a:ext>
            </a:extLst>
          </p:cNvPr>
          <p:cNvSpPr txBox="1"/>
          <p:nvPr/>
        </p:nvSpPr>
        <p:spPr>
          <a:xfrm>
            <a:off x="678908" y="5282651"/>
            <a:ext cx="952185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 err="1">
                <a:solidFill>
                  <a:srgbClr val="11244A"/>
                </a:solidFill>
              </a:rPr>
              <a:t>사장찍어주는남자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유튜브 구독자 </a:t>
            </a:r>
            <a:r>
              <a:rPr lang="en-US" altLang="ko-KR" sz="800" dirty="0">
                <a:solidFill>
                  <a:srgbClr val="3D3D3D"/>
                </a:solidFill>
              </a:rPr>
              <a:t>13.5</a:t>
            </a:r>
            <a:r>
              <a:rPr lang="ko-KR" altLang="en-US" sz="800" dirty="0">
                <a:solidFill>
                  <a:srgbClr val="3D3D3D"/>
                </a:solidFill>
              </a:rPr>
              <a:t>만명</a:t>
            </a:r>
            <a:endParaRPr lang="en-US" altLang="ko-KR" sz="8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평균 조회수 </a:t>
            </a:r>
            <a:r>
              <a:rPr lang="en-US" altLang="ko-KR" sz="800" dirty="0">
                <a:solidFill>
                  <a:srgbClr val="3D3D3D"/>
                </a:solidFill>
              </a:rPr>
              <a:t>23</a:t>
            </a:r>
            <a:r>
              <a:rPr lang="ko-KR" altLang="en-US" sz="800" dirty="0">
                <a:solidFill>
                  <a:srgbClr val="3D3D3D"/>
                </a:solidFill>
              </a:rPr>
              <a:t>만회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1108E8-D870-CBD4-F439-4542B99D2B03}"/>
              </a:ext>
            </a:extLst>
          </p:cNvPr>
          <p:cNvSpPr txBox="1"/>
          <p:nvPr/>
        </p:nvSpPr>
        <p:spPr>
          <a:xfrm>
            <a:off x="1915597" y="5282651"/>
            <a:ext cx="1070806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 err="1">
                <a:solidFill>
                  <a:srgbClr val="11244A"/>
                </a:solidFill>
              </a:rPr>
              <a:t>돈버는사람들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유튜브 구독자 </a:t>
            </a:r>
            <a:r>
              <a:rPr lang="en-US" altLang="ko-KR" sz="800" dirty="0">
                <a:solidFill>
                  <a:srgbClr val="3D3D3D"/>
                </a:solidFill>
              </a:rPr>
              <a:t>26.1</a:t>
            </a:r>
            <a:r>
              <a:rPr lang="ko-KR" altLang="en-US" sz="800" dirty="0">
                <a:solidFill>
                  <a:srgbClr val="3D3D3D"/>
                </a:solidFill>
              </a:rPr>
              <a:t>만명</a:t>
            </a:r>
            <a:endParaRPr lang="en-US" altLang="ko-KR" sz="8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인스타그램 </a:t>
            </a:r>
            <a:r>
              <a:rPr lang="ko-KR" altLang="en-US" sz="800" dirty="0" err="1">
                <a:solidFill>
                  <a:srgbClr val="3D3D3D"/>
                </a:solidFill>
              </a:rPr>
              <a:t>팔로워</a:t>
            </a:r>
            <a:r>
              <a:rPr lang="ko-KR" altLang="en-US" sz="800" dirty="0">
                <a:solidFill>
                  <a:srgbClr val="3D3D3D"/>
                </a:solidFill>
              </a:rPr>
              <a:t> </a:t>
            </a:r>
            <a:r>
              <a:rPr lang="en-US" altLang="ko-KR" sz="800" dirty="0">
                <a:solidFill>
                  <a:srgbClr val="3D3D3D"/>
                </a:solidFill>
              </a:rPr>
              <a:t>7.7</a:t>
            </a:r>
            <a:r>
              <a:rPr lang="ko-KR" altLang="en-US" sz="800" dirty="0">
                <a:solidFill>
                  <a:srgbClr val="3D3D3D"/>
                </a:solidFill>
              </a:rPr>
              <a:t>만명</a:t>
            </a:r>
          </a:p>
        </p:txBody>
      </p:sp>
      <p:pic>
        <p:nvPicPr>
          <p:cNvPr id="2048" name="Picture 10" descr="경매로도 안팔린 시골 모텔 사서 월 순수익 4천 버는 신혼부부">
            <a:extLst>
              <a:ext uri="{FF2B5EF4-FFF2-40B4-BE49-F238E27FC236}">
                <a16:creationId xmlns:a16="http://schemas.microsoft.com/office/drawing/2014/main" id="{F894223B-152F-C1CE-C82C-AD374DD0C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21000" y="4525795"/>
            <a:ext cx="1260000" cy="70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2" name="그룹 2061">
            <a:extLst>
              <a:ext uri="{FF2B5EF4-FFF2-40B4-BE49-F238E27FC236}">
                <a16:creationId xmlns:a16="http://schemas.microsoft.com/office/drawing/2014/main" id="{B2BCEEDB-B05F-3B10-8EB7-FB70F42BF9A5}"/>
              </a:ext>
            </a:extLst>
          </p:cNvPr>
          <p:cNvGrpSpPr/>
          <p:nvPr/>
        </p:nvGrpSpPr>
        <p:grpSpPr>
          <a:xfrm>
            <a:off x="4970719" y="4525795"/>
            <a:ext cx="1260000" cy="1188000"/>
            <a:chOff x="4970719" y="4525795"/>
            <a:chExt cx="1260000" cy="1188000"/>
          </a:xfrm>
        </p:grpSpPr>
        <p:pic>
          <p:nvPicPr>
            <p:cNvPr id="2051" name="그림 2050">
              <a:extLst>
                <a:ext uri="{FF2B5EF4-FFF2-40B4-BE49-F238E27FC236}">
                  <a16:creationId xmlns:a16="http://schemas.microsoft.com/office/drawing/2014/main" id="{CB7D7645-5AC9-97C7-D096-41B6AA6AD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970719" y="4525795"/>
              <a:ext cx="1260000" cy="708750"/>
            </a:xfrm>
            <a:prstGeom prst="rect">
              <a:avLst/>
            </a:prstGeom>
            <a:ln w="3175">
              <a:solidFill>
                <a:srgbClr val="3D3D3D"/>
              </a:solidFill>
            </a:ln>
          </p:spPr>
        </p:pic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D2124CC2-B024-3FC6-262A-FB23694E5194}"/>
                </a:ext>
              </a:extLst>
            </p:cNvPr>
            <p:cNvSpPr txBox="1"/>
            <p:nvPr/>
          </p:nvSpPr>
          <p:spPr>
            <a:xfrm>
              <a:off x="5059706" y="5282651"/>
              <a:ext cx="1082027" cy="4311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rgbClr val="11244A"/>
                  </a:solidFill>
                </a:rPr>
                <a:t>인스타그램 링크 노출</a:t>
              </a:r>
              <a:endParaRPr lang="en-US" altLang="ko-KR" sz="1000" b="1" dirty="0">
                <a:solidFill>
                  <a:srgbClr val="11244A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ko-KR" altLang="en-US" sz="800" dirty="0">
                  <a:solidFill>
                    <a:srgbClr val="3D3D3D"/>
                  </a:solidFill>
                </a:rPr>
                <a:t>포스팅 댓글 작성자에</a:t>
              </a:r>
              <a:endParaRPr lang="en-US" altLang="ko-KR" sz="800" dirty="0">
                <a:solidFill>
                  <a:srgbClr val="3D3D3D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ko-KR" sz="800" dirty="0">
                  <a:solidFill>
                    <a:srgbClr val="3D3D3D"/>
                  </a:solidFill>
                </a:rPr>
                <a:t>DM </a:t>
              </a:r>
              <a:r>
                <a:rPr lang="ko-KR" altLang="en-US" sz="800" dirty="0">
                  <a:solidFill>
                    <a:srgbClr val="3D3D3D"/>
                  </a:solidFill>
                </a:rPr>
                <a:t>통한 링크 전달</a:t>
              </a:r>
            </a:p>
          </p:txBody>
        </p:sp>
      </p:grpSp>
      <p:pic>
        <p:nvPicPr>
          <p:cNvPr id="2054" name="그림 2053">
            <a:extLst>
              <a:ext uri="{FF2B5EF4-FFF2-40B4-BE49-F238E27FC236}">
                <a16:creationId xmlns:a16="http://schemas.microsoft.com/office/drawing/2014/main" id="{DCE4E5CC-086F-BE8B-81BF-985B91ADFE6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74719" y="4525795"/>
            <a:ext cx="1260000" cy="708750"/>
          </a:xfrm>
          <a:prstGeom prst="rect">
            <a:avLst/>
          </a:prstGeom>
          <a:ln w="3175">
            <a:solidFill>
              <a:srgbClr val="3D3D3D"/>
            </a:solidFill>
          </a:ln>
        </p:spPr>
      </p:pic>
      <p:sp>
        <p:nvSpPr>
          <p:cNvPr id="2055" name="TextBox 2054">
            <a:extLst>
              <a:ext uri="{FF2B5EF4-FFF2-40B4-BE49-F238E27FC236}">
                <a16:creationId xmlns:a16="http://schemas.microsoft.com/office/drawing/2014/main" id="{56F84249-4E8A-A316-84FC-8D6C44584ABA}"/>
              </a:ext>
            </a:extLst>
          </p:cNvPr>
          <p:cNvSpPr txBox="1"/>
          <p:nvPr/>
        </p:nvSpPr>
        <p:spPr>
          <a:xfrm>
            <a:off x="3768515" y="5282651"/>
            <a:ext cx="1072408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유튜브 링크 노출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영상 콘텐츠 내 상세정보 및</a:t>
            </a:r>
            <a:endParaRPr lang="en-US" altLang="ko-KR" sz="8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 err="1">
                <a:solidFill>
                  <a:srgbClr val="3D3D3D"/>
                </a:solidFill>
              </a:rPr>
              <a:t>고정댓글</a:t>
            </a:r>
            <a:r>
              <a:rPr lang="ko-KR" altLang="en-US" sz="800" dirty="0">
                <a:solidFill>
                  <a:srgbClr val="3D3D3D"/>
                </a:solidFill>
              </a:rPr>
              <a:t> 통한 링크 노출</a:t>
            </a:r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22D7AA73-A360-74E3-D195-A6DD56DEDB05}"/>
              </a:ext>
            </a:extLst>
          </p:cNvPr>
          <p:cNvSpPr txBox="1"/>
          <p:nvPr/>
        </p:nvSpPr>
        <p:spPr>
          <a:xfrm>
            <a:off x="7068549" y="4555340"/>
            <a:ext cx="735779" cy="634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4000" b="1" dirty="0">
                <a:solidFill>
                  <a:schemeClr val="bg1"/>
                </a:solidFill>
                <a:latin typeface="+mj-lt"/>
                <a:ea typeface="+mj-ea"/>
              </a:rPr>
              <a:t>41</a:t>
            </a:r>
            <a:r>
              <a:rPr lang="ko-KR" altLang="en-US" sz="1000" dirty="0">
                <a:solidFill>
                  <a:schemeClr val="bg1"/>
                </a:solidFill>
              </a:rPr>
              <a:t>만명</a:t>
            </a: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AED79401-0B1A-C33B-D42A-6F04182249AC}"/>
              </a:ext>
            </a:extLst>
          </p:cNvPr>
          <p:cNvSpPr txBox="1"/>
          <p:nvPr/>
        </p:nvSpPr>
        <p:spPr>
          <a:xfrm>
            <a:off x="6971567" y="5210627"/>
            <a:ext cx="929743" cy="2618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2025</a:t>
            </a:r>
            <a:r>
              <a:rPr lang="ko-KR" altLang="en-US" sz="800" dirty="0">
                <a:solidFill>
                  <a:schemeClr val="bg1"/>
                </a:solidFill>
              </a:rPr>
              <a:t>년 상반기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Addressable User </a:t>
            </a:r>
            <a:r>
              <a:rPr lang="ko-KR" altLang="en-US" sz="800" dirty="0">
                <a:solidFill>
                  <a:schemeClr val="bg1"/>
                </a:solidFill>
              </a:rPr>
              <a:t>수</a:t>
            </a:r>
          </a:p>
        </p:txBody>
      </p:sp>
      <p:sp>
        <p:nvSpPr>
          <p:cNvPr id="2067" name="TextBox 2066">
            <a:extLst>
              <a:ext uri="{FF2B5EF4-FFF2-40B4-BE49-F238E27FC236}">
                <a16:creationId xmlns:a16="http://schemas.microsoft.com/office/drawing/2014/main" id="{1DCA7513-2352-52D2-24DF-3800B4CA49CA}"/>
              </a:ext>
            </a:extLst>
          </p:cNvPr>
          <p:cNvSpPr txBox="1"/>
          <p:nvPr/>
        </p:nvSpPr>
        <p:spPr>
          <a:xfrm>
            <a:off x="8103812" y="4555340"/>
            <a:ext cx="1202252" cy="634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4000" b="1" dirty="0">
                <a:solidFill>
                  <a:schemeClr val="bg1"/>
                </a:solidFill>
                <a:latin typeface="+mj-lt"/>
                <a:ea typeface="+mj-ea"/>
              </a:rPr>
              <a:t>29.0</a:t>
            </a:r>
            <a:r>
              <a:rPr lang="en-US" altLang="ko-KR" sz="1000" dirty="0">
                <a:solidFill>
                  <a:schemeClr val="bg1"/>
                </a:solidFill>
              </a:rPr>
              <a:t>%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8" name="TextBox 2067">
            <a:extLst>
              <a:ext uri="{FF2B5EF4-FFF2-40B4-BE49-F238E27FC236}">
                <a16:creationId xmlns:a16="http://schemas.microsoft.com/office/drawing/2014/main" id="{E957C38F-7978-A5D0-A8C6-A807228BD2A0}"/>
              </a:ext>
            </a:extLst>
          </p:cNvPr>
          <p:cNvSpPr txBox="1"/>
          <p:nvPr/>
        </p:nvSpPr>
        <p:spPr>
          <a:xfrm>
            <a:off x="8171941" y="5210627"/>
            <a:ext cx="1065997" cy="2618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2025</a:t>
            </a:r>
            <a:r>
              <a:rPr lang="ko-KR" altLang="en-US" sz="800" dirty="0">
                <a:solidFill>
                  <a:schemeClr val="bg1"/>
                </a:solidFill>
              </a:rPr>
              <a:t>년 상반기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Serviceable User </a:t>
            </a:r>
            <a:r>
              <a:rPr lang="ko-KR" altLang="en-US" sz="800" dirty="0" err="1">
                <a:solidFill>
                  <a:schemeClr val="bg1"/>
                </a:solidFill>
              </a:rPr>
              <a:t>전환율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255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09EF9-CB89-19CE-7BF0-265987B5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3791D0-0F44-F4A8-40B6-BB7AA881CD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b="1" dirty="0"/>
              <a:t>압도적 수익화 성과로 검증된 세일즈 </a:t>
            </a:r>
            <a:r>
              <a:rPr lang="ko-KR" altLang="en-US" b="1" dirty="0" err="1"/>
              <a:t>퍼널</a:t>
            </a:r>
            <a:r>
              <a:rPr lang="ko-KR" altLang="en-US" b="1" dirty="0"/>
              <a:t>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계속</a:t>
            </a:r>
            <a:r>
              <a:rPr lang="en-US" altLang="ko-KR" sz="1800" b="1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2467C0-492E-E365-CAD1-255AA14DB5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</a:t>
            </a:r>
            <a:r>
              <a:rPr lang="ko-KR" altLang="en-US" dirty="0"/>
              <a:t>강의 </a:t>
            </a:r>
            <a:r>
              <a:rPr lang="en-US" altLang="ko-KR" dirty="0"/>
              <a:t>· </a:t>
            </a:r>
            <a:r>
              <a:rPr lang="ko-KR" altLang="en-US" dirty="0" err="1"/>
              <a:t>기수별</a:t>
            </a:r>
            <a:r>
              <a:rPr lang="ko-KR" altLang="en-US" dirty="0"/>
              <a:t> 총 매출액</a:t>
            </a:r>
            <a:r>
              <a:rPr lang="en-US" altLang="ko-KR" dirty="0"/>
              <a:t>(</a:t>
            </a:r>
            <a:r>
              <a:rPr lang="ko-KR" altLang="en-US" dirty="0" err="1"/>
              <a:t>중도환불금</a:t>
            </a:r>
            <a:r>
              <a:rPr lang="ko-KR" altLang="en-US" dirty="0"/>
              <a:t> 및 </a:t>
            </a:r>
            <a:r>
              <a:rPr lang="en-US" altLang="ko-KR" dirty="0"/>
              <a:t>PG</a:t>
            </a:r>
            <a:r>
              <a:rPr lang="ko-KR" altLang="en-US" dirty="0"/>
              <a:t>결제 수수료 제외 전</a:t>
            </a:r>
            <a:r>
              <a:rPr lang="en-US" altLang="ko-KR" dirty="0"/>
              <a:t>) </a:t>
            </a:r>
            <a:r>
              <a:rPr lang="ko-KR" altLang="en-US" dirty="0"/>
              <a:t>기준임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7808A9-3871-6339-B87A-C2AD63C4C0C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0D1C1E-FB8B-E26F-0625-25C6CAA649B9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74F8A-226E-44FE-9433-09250620156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강사 브랜딩과 맞춤형 커리큘럼 기획을 통해 수익화 역량이 검증된 콘텐츠 경쟁력을 확보하고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이를 기반으로 높은 유료 전환율과 충성도 높은 고객층을 만들어내고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56212A-984C-6B7C-09D1-49DA8A50B509}"/>
              </a:ext>
            </a:extLst>
          </p:cNvPr>
          <p:cNvSpPr/>
          <p:nvPr/>
        </p:nvSpPr>
        <p:spPr>
          <a:xfrm>
            <a:off x="453000" y="1700213"/>
            <a:ext cx="8999438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미들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 err="1">
                <a:solidFill>
                  <a:schemeClr val="bg1"/>
                </a:solidFill>
              </a:rPr>
              <a:t>바텀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</a:rPr>
              <a:t>퍼널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(Middle · Bottom Funnel)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핵심 역량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16E58A-2A77-3297-C378-701D6625C938}"/>
              </a:ext>
            </a:extLst>
          </p:cNvPr>
          <p:cNvSpPr/>
          <p:nvPr/>
        </p:nvSpPr>
        <p:spPr>
          <a:xfrm>
            <a:off x="453000" y="2672973"/>
            <a:ext cx="2700000" cy="3096000"/>
          </a:xfrm>
          <a:prstGeom prst="rect">
            <a:avLst/>
          </a:prstGeom>
          <a:solidFill>
            <a:srgbClr val="E6F3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7EE532-479E-667B-ECF3-E6AEBEB8238D}"/>
              </a:ext>
            </a:extLst>
          </p:cNvPr>
          <p:cNvSpPr/>
          <p:nvPr/>
        </p:nvSpPr>
        <p:spPr>
          <a:xfrm>
            <a:off x="3602719" y="2672973"/>
            <a:ext cx="2700000" cy="3096000"/>
          </a:xfrm>
          <a:prstGeom prst="rect">
            <a:avLst/>
          </a:prstGeom>
          <a:solidFill>
            <a:srgbClr val="E6F3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9F24CC9-9B34-F208-DE4D-A3CDF2160E1A}"/>
              </a:ext>
            </a:extLst>
          </p:cNvPr>
          <p:cNvSpPr/>
          <p:nvPr/>
        </p:nvSpPr>
        <p:spPr>
          <a:xfrm>
            <a:off x="6752438" y="2672973"/>
            <a:ext cx="2700000" cy="3096000"/>
          </a:xfrm>
          <a:prstGeom prst="rect">
            <a:avLst/>
          </a:prstGeom>
          <a:solidFill>
            <a:srgbClr val="539DFF"/>
          </a:solidFill>
          <a:ln w="1270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3038F1E-3A4B-E7F9-859C-1F991B846C34}"/>
              </a:ext>
            </a:extLst>
          </p:cNvPr>
          <p:cNvSpPr/>
          <p:nvPr/>
        </p:nvSpPr>
        <p:spPr>
          <a:xfrm>
            <a:off x="1299000" y="2168974"/>
            <a:ext cx="1008000" cy="1008000"/>
          </a:xfrm>
          <a:prstGeom prst="ellipse">
            <a:avLst/>
          </a:prstGeom>
          <a:solidFill>
            <a:srgbClr val="E6F3F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24E024-2685-A221-3D6F-B7FA9A532059}"/>
              </a:ext>
            </a:extLst>
          </p:cNvPr>
          <p:cNvSpPr txBox="1"/>
          <p:nvPr/>
        </p:nvSpPr>
        <p:spPr>
          <a:xfrm>
            <a:off x="453000" y="3668232"/>
            <a:ext cx="2700000" cy="704360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강사 선정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및 강사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특성에 맞는 커리큘럼 기획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및 마케팅 전략 수립 통해 강사 브랜딩 강화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특히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유료 강의 결제 전환 유도 가능한 무료 강의 설계 및 리허설 지원 통해 콘텐츠 경쟁력 극대화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00E9553-6FDD-EC51-5A17-087EAA9FE3E9}"/>
              </a:ext>
            </a:extLst>
          </p:cNvPr>
          <p:cNvSpPr/>
          <p:nvPr/>
        </p:nvSpPr>
        <p:spPr>
          <a:xfrm>
            <a:off x="4448719" y="2168974"/>
            <a:ext cx="1008000" cy="1008000"/>
          </a:xfrm>
          <a:prstGeom prst="ellipse">
            <a:avLst/>
          </a:prstGeom>
          <a:solidFill>
            <a:srgbClr val="E6F3F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3578EC0-E014-9A87-C273-5A80B5A5676E}"/>
              </a:ext>
            </a:extLst>
          </p:cNvPr>
          <p:cNvSpPr/>
          <p:nvPr/>
        </p:nvSpPr>
        <p:spPr>
          <a:xfrm>
            <a:off x="7599000" y="2168974"/>
            <a:ext cx="1008000" cy="1008000"/>
          </a:xfrm>
          <a:prstGeom prst="ellipse">
            <a:avLst/>
          </a:prstGeom>
          <a:solidFill>
            <a:srgbClr val="539DF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pic>
        <p:nvPicPr>
          <p:cNvPr id="36" name="그래픽 35">
            <a:extLst>
              <a:ext uri="{FF2B5EF4-FFF2-40B4-BE49-F238E27FC236}">
                <a16:creationId xmlns:a16="http://schemas.microsoft.com/office/drawing/2014/main" id="{7D7BB393-D7A9-7EE9-62B8-EC7FFEB63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000" y="2384974"/>
            <a:ext cx="576000" cy="576000"/>
          </a:xfrm>
          <a:prstGeom prst="rect">
            <a:avLst/>
          </a:prstGeom>
        </p:spPr>
      </p:pic>
      <p:sp>
        <p:nvSpPr>
          <p:cNvPr id="37" name="더하기 기호 36">
            <a:extLst>
              <a:ext uri="{FF2B5EF4-FFF2-40B4-BE49-F238E27FC236}">
                <a16:creationId xmlns:a16="http://schemas.microsoft.com/office/drawing/2014/main" id="{4DB7502E-2D99-1043-63D5-C0B66AF32A62}"/>
              </a:ext>
            </a:extLst>
          </p:cNvPr>
          <p:cNvSpPr/>
          <p:nvPr/>
        </p:nvSpPr>
        <p:spPr>
          <a:xfrm>
            <a:off x="3107859" y="3950973"/>
            <a:ext cx="540000" cy="540000"/>
          </a:xfrm>
          <a:prstGeom prst="mathPlus">
            <a:avLst>
              <a:gd name="adj1" fmla="val 30576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6414E0DE-44CA-9550-F1EA-9BC9310A39AC}"/>
              </a:ext>
            </a:extLst>
          </p:cNvPr>
          <p:cNvSpPr/>
          <p:nvPr/>
        </p:nvSpPr>
        <p:spPr>
          <a:xfrm rot="5400000">
            <a:off x="6275579" y="4076973"/>
            <a:ext cx="504000" cy="288000"/>
          </a:xfrm>
          <a:prstGeom prst="triangle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9065A6-AC35-4367-A6D8-798D085414E3}"/>
              </a:ext>
            </a:extLst>
          </p:cNvPr>
          <p:cNvSpPr txBox="1"/>
          <p:nvPr/>
        </p:nvSpPr>
        <p:spPr>
          <a:xfrm>
            <a:off x="507779" y="3356973"/>
            <a:ext cx="2590453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강사 브랜딩 </a:t>
            </a:r>
            <a:r>
              <a:rPr lang="en-US" altLang="ko-KR" sz="1000" b="1" dirty="0">
                <a:solidFill>
                  <a:srgbClr val="11244A"/>
                </a:solidFill>
              </a:rPr>
              <a:t>· </a:t>
            </a:r>
            <a:r>
              <a:rPr lang="ko-KR" altLang="en-US" sz="1000" b="1" dirty="0">
                <a:solidFill>
                  <a:srgbClr val="11244A"/>
                </a:solidFill>
              </a:rPr>
              <a:t>커리큘럼 기획 통한 콘텐츠 경쟁력 강화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0F8C81-6168-43B0-1A07-985BEA76761E}"/>
              </a:ext>
            </a:extLst>
          </p:cNvPr>
          <p:cNvSpPr txBox="1"/>
          <p:nvPr/>
        </p:nvSpPr>
        <p:spPr>
          <a:xfrm>
            <a:off x="3885126" y="3356973"/>
            <a:ext cx="2135201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양방향 커뮤니케이션 통한 수강 만족도 제고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2CBF3C-DB18-D374-D150-8A1399BD5899}"/>
              </a:ext>
            </a:extLst>
          </p:cNvPr>
          <p:cNvSpPr txBox="1"/>
          <p:nvPr/>
        </p:nvSpPr>
        <p:spPr>
          <a:xfrm>
            <a:off x="7381092" y="3356973"/>
            <a:ext cx="1442703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chemeClr val="bg1"/>
                </a:solidFill>
              </a:rPr>
              <a:t>충성도 높은 유료 고객층 확보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EE0B69-0AF1-9B20-8AAD-E47CC5033FC7}"/>
              </a:ext>
            </a:extLst>
          </p:cNvPr>
          <p:cNvSpPr txBox="1"/>
          <p:nvPr/>
        </p:nvSpPr>
        <p:spPr>
          <a:xfrm>
            <a:off x="3602719" y="3668232"/>
            <a:ext cx="2700000" cy="781304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강사 </a:t>
            </a:r>
            <a:r>
              <a:rPr lang="en-US" altLang="ko-KR" sz="1000" spc="-30" dirty="0">
                <a:solidFill>
                  <a:srgbClr val="3D3D3D"/>
                </a:solidFill>
              </a:rPr>
              <a:t>- </a:t>
            </a:r>
            <a:r>
              <a:rPr lang="ko-KR" altLang="en-US" sz="1000" spc="-30" dirty="0">
                <a:solidFill>
                  <a:srgbClr val="3D3D3D"/>
                </a:solidFill>
              </a:rPr>
              <a:t>수강생 간 양방향 소통 가능한 강의 구성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358775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spc="-30" dirty="0">
                <a:solidFill>
                  <a:srgbClr val="3D3D3D"/>
                </a:solidFill>
              </a:rPr>
              <a:t>챌린지 성격의 과제 수행 및 피드백 제공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358775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spc="-30" dirty="0">
                <a:solidFill>
                  <a:srgbClr val="3D3D3D"/>
                </a:solidFill>
              </a:rPr>
              <a:t>실시간 </a:t>
            </a:r>
            <a:r>
              <a:rPr lang="en-US" altLang="ko-KR" sz="1000" spc="-30" dirty="0">
                <a:solidFill>
                  <a:srgbClr val="3D3D3D"/>
                </a:solidFill>
              </a:rPr>
              <a:t>Q&amp;A </a:t>
            </a:r>
            <a:r>
              <a:rPr lang="ko-KR" altLang="en-US" sz="1000" spc="-30" dirty="0">
                <a:solidFill>
                  <a:srgbClr val="3D3D3D"/>
                </a:solidFill>
              </a:rPr>
              <a:t>가능한 수강생 전용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채팅방</a:t>
            </a:r>
            <a:r>
              <a:rPr lang="ko-KR" altLang="en-US" sz="1000" spc="-30" dirty="0">
                <a:solidFill>
                  <a:srgbClr val="3D3D3D"/>
                </a:solidFill>
              </a:rPr>
              <a:t> 운영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강의 종료 후 커뮤니티 운영 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A/S </a:t>
            </a:r>
            <a:r>
              <a:rPr lang="ko-KR" altLang="en-US" sz="1000" spc="-30" dirty="0">
                <a:solidFill>
                  <a:srgbClr val="3D3D3D"/>
                </a:solidFill>
              </a:rPr>
              <a:t>통한 만족도 제고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0A46BC-6184-BE83-91F5-099ABD56CA1F}"/>
              </a:ext>
            </a:extLst>
          </p:cNvPr>
          <p:cNvSpPr txBox="1"/>
          <p:nvPr/>
        </p:nvSpPr>
        <p:spPr>
          <a:xfrm>
            <a:off x="6752438" y="3668232"/>
            <a:ext cx="2700000" cy="704360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강의 주제별 타겟</a:t>
            </a:r>
            <a:r>
              <a:rPr lang="en-US" altLang="ko-KR" sz="1000" spc="-30" dirty="0">
                <a:solidFill>
                  <a:schemeClr val="bg1"/>
                </a:solidFill>
              </a:rPr>
              <a:t> </a:t>
            </a:r>
            <a:r>
              <a:rPr lang="ko-KR" altLang="en-US" sz="1000" spc="-30" dirty="0">
                <a:solidFill>
                  <a:schemeClr val="bg1"/>
                </a:solidFill>
              </a:rPr>
              <a:t>고객층에 최적합한 콘텐츠 기획 </a:t>
            </a:r>
            <a:r>
              <a:rPr lang="en-US" altLang="ko-KR" sz="1000" spc="-30" dirty="0">
                <a:solidFill>
                  <a:schemeClr val="bg1"/>
                </a:solidFill>
              </a:rPr>
              <a:t>· </a:t>
            </a:r>
            <a:r>
              <a:rPr lang="ko-KR" altLang="en-US" sz="1000" spc="-30" dirty="0">
                <a:solidFill>
                  <a:schemeClr val="bg1"/>
                </a:solidFill>
              </a:rPr>
              <a:t>구성 통해 무료강의 수강 </a:t>
            </a:r>
            <a:r>
              <a:rPr lang="en-US" altLang="ko-KR" sz="1000" spc="-30" dirty="0">
                <a:solidFill>
                  <a:schemeClr val="bg1"/>
                </a:solidFill>
              </a:rPr>
              <a:t>- </a:t>
            </a:r>
            <a:r>
              <a:rPr lang="ko-KR" altLang="en-US" sz="1000" spc="-30" dirty="0">
                <a:solidFill>
                  <a:schemeClr val="bg1"/>
                </a:solidFill>
              </a:rPr>
              <a:t>유료강의 전환 연결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강사와 </a:t>
            </a:r>
            <a:r>
              <a:rPr lang="en-US" altLang="ko-KR" sz="1000" spc="-30" dirty="0">
                <a:solidFill>
                  <a:schemeClr val="bg1"/>
                </a:solidFill>
              </a:rPr>
              <a:t>1:1 </a:t>
            </a:r>
            <a:r>
              <a:rPr lang="ko-KR" altLang="en-US" sz="1000" spc="-30" dirty="0">
                <a:solidFill>
                  <a:schemeClr val="bg1"/>
                </a:solidFill>
              </a:rPr>
              <a:t>소통 채널 제공을 통해 수강 만족도 극대화하여 후속 기수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모객</a:t>
            </a:r>
            <a:r>
              <a:rPr lang="ko-KR" altLang="en-US" sz="1000" spc="-30" dirty="0">
                <a:solidFill>
                  <a:schemeClr val="bg1"/>
                </a:solidFill>
              </a:rPr>
              <a:t> 효과 제고</a:t>
            </a:r>
            <a:endParaRPr lang="ko-KR" altLang="en-US" sz="1000" spc="-40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4A7A57-548A-FCD5-510B-6D34304BB620}"/>
              </a:ext>
            </a:extLst>
          </p:cNvPr>
          <p:cNvSpPr txBox="1"/>
          <p:nvPr/>
        </p:nvSpPr>
        <p:spPr>
          <a:xfrm>
            <a:off x="605972" y="5282651"/>
            <a:ext cx="1098057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강사 선정 </a:t>
            </a:r>
            <a:r>
              <a:rPr lang="en-US" altLang="ko-KR" sz="1000" b="1" dirty="0">
                <a:solidFill>
                  <a:srgbClr val="11244A"/>
                </a:solidFill>
              </a:rPr>
              <a:t>· </a:t>
            </a:r>
            <a:r>
              <a:rPr lang="ko-KR" altLang="en-US" sz="1000" b="1" dirty="0">
                <a:solidFill>
                  <a:srgbClr val="11244A"/>
                </a:solidFill>
              </a:rPr>
              <a:t>브랜딩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강사의 성공 스토리 기반</a:t>
            </a:r>
            <a:endParaRPr lang="en-US" altLang="ko-KR" sz="8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매력도 발굴 </a:t>
            </a:r>
            <a:r>
              <a:rPr lang="en-US" altLang="ko-KR" sz="800" dirty="0">
                <a:solidFill>
                  <a:srgbClr val="3D3D3D"/>
                </a:solidFill>
              </a:rPr>
              <a:t>· </a:t>
            </a:r>
            <a:r>
              <a:rPr lang="ko-KR" altLang="en-US" sz="800" dirty="0">
                <a:solidFill>
                  <a:srgbClr val="3D3D3D"/>
                </a:solidFill>
              </a:rPr>
              <a:t>퍼스널 브랜딩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612728-0F6A-DFFB-4353-C5FB8AB5B8DD}"/>
              </a:ext>
            </a:extLst>
          </p:cNvPr>
          <p:cNvSpPr txBox="1"/>
          <p:nvPr/>
        </p:nvSpPr>
        <p:spPr>
          <a:xfrm>
            <a:off x="1883537" y="5282651"/>
            <a:ext cx="1134926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커리큘럼 기획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높은 유료전환율 확보 가능한</a:t>
            </a:r>
            <a:endParaRPr lang="en-US" altLang="ko-KR" sz="8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강의 콘텐츠 구성 </a:t>
            </a:r>
            <a:r>
              <a:rPr lang="en-US" altLang="ko-KR" sz="800" dirty="0">
                <a:solidFill>
                  <a:srgbClr val="3D3D3D"/>
                </a:solidFill>
              </a:rPr>
              <a:t>· </a:t>
            </a:r>
            <a:r>
              <a:rPr lang="ko-KR" altLang="en-US" sz="800" dirty="0">
                <a:solidFill>
                  <a:srgbClr val="3D3D3D"/>
                </a:solidFill>
              </a:rPr>
              <a:t>피드백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E3395A-29F5-9670-704E-3D393EF70F5F}"/>
              </a:ext>
            </a:extLst>
          </p:cNvPr>
          <p:cNvSpPr txBox="1"/>
          <p:nvPr/>
        </p:nvSpPr>
        <p:spPr>
          <a:xfrm>
            <a:off x="5074133" y="5282651"/>
            <a:ext cx="1053172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수강생 전용 커뮤니티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수강생 간 전용 커뮤니티</a:t>
            </a:r>
            <a:br>
              <a:rPr lang="en-US" altLang="ko-KR" sz="800" dirty="0">
                <a:solidFill>
                  <a:srgbClr val="3D3D3D"/>
                </a:solidFill>
              </a:rPr>
            </a:br>
            <a:r>
              <a:rPr lang="ko-KR" altLang="en-US" sz="800" dirty="0">
                <a:solidFill>
                  <a:srgbClr val="3D3D3D"/>
                </a:solidFill>
              </a:rPr>
              <a:t>통해 후속 관리 지속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F3A9BE-A30D-65FC-09B8-7FA6119CD0DC}"/>
              </a:ext>
            </a:extLst>
          </p:cNvPr>
          <p:cNvSpPr txBox="1"/>
          <p:nvPr/>
        </p:nvSpPr>
        <p:spPr>
          <a:xfrm>
            <a:off x="3722828" y="5282651"/>
            <a:ext cx="1163780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유료수강생 전용 </a:t>
            </a:r>
            <a:r>
              <a:rPr lang="ko-KR" altLang="en-US" sz="1000" b="1" dirty="0" err="1">
                <a:solidFill>
                  <a:srgbClr val="11244A"/>
                </a:solidFill>
              </a:rPr>
              <a:t>채팅방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강사</a:t>
            </a:r>
            <a:r>
              <a:rPr lang="en-US" altLang="ko-KR" sz="800" dirty="0">
                <a:solidFill>
                  <a:srgbClr val="3D3D3D"/>
                </a:solidFill>
              </a:rPr>
              <a:t>-</a:t>
            </a:r>
            <a:r>
              <a:rPr lang="ko-KR" altLang="en-US" sz="800" dirty="0">
                <a:solidFill>
                  <a:srgbClr val="3D3D3D"/>
                </a:solidFill>
              </a:rPr>
              <a:t>유료수강생 전용 </a:t>
            </a:r>
            <a:r>
              <a:rPr lang="ko-KR" altLang="en-US" sz="800" dirty="0" err="1">
                <a:solidFill>
                  <a:srgbClr val="3D3D3D"/>
                </a:solidFill>
              </a:rPr>
              <a:t>채팅방</a:t>
            </a:r>
            <a:br>
              <a:rPr lang="en-US" altLang="ko-KR" sz="800" dirty="0">
                <a:solidFill>
                  <a:srgbClr val="3D3D3D"/>
                </a:solidFill>
              </a:rPr>
            </a:br>
            <a:r>
              <a:rPr lang="ko-KR" altLang="en-US" sz="800" dirty="0">
                <a:solidFill>
                  <a:srgbClr val="3D3D3D"/>
                </a:solidFill>
              </a:rPr>
              <a:t>운영으로 수강생 밀착관리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8E0841-3762-E457-0DF1-45B083C0D8C5}"/>
              </a:ext>
            </a:extLst>
          </p:cNvPr>
          <p:cNvSpPr txBox="1"/>
          <p:nvPr/>
        </p:nvSpPr>
        <p:spPr>
          <a:xfrm>
            <a:off x="6885006" y="4555340"/>
            <a:ext cx="1102866" cy="634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4000" b="1" dirty="0">
                <a:solidFill>
                  <a:schemeClr val="bg1"/>
                </a:solidFill>
                <a:latin typeface="+mj-lt"/>
                <a:ea typeface="+mj-ea"/>
              </a:rPr>
              <a:t>10.8</a:t>
            </a:r>
            <a:r>
              <a:rPr lang="en-US" altLang="ko-KR" sz="1000" dirty="0">
                <a:solidFill>
                  <a:schemeClr val="bg1"/>
                </a:solidFill>
              </a:rPr>
              <a:t>%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C92DE7-209C-D2B3-068A-2F986D61332F}"/>
              </a:ext>
            </a:extLst>
          </p:cNvPr>
          <p:cNvSpPr txBox="1"/>
          <p:nvPr/>
        </p:nvSpPr>
        <p:spPr>
          <a:xfrm>
            <a:off x="6965957" y="5210627"/>
            <a:ext cx="940963" cy="3972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2025</a:t>
            </a:r>
            <a:r>
              <a:rPr lang="ko-KR" altLang="en-US" sz="800" dirty="0">
                <a:solidFill>
                  <a:schemeClr val="bg1"/>
                </a:solidFill>
              </a:rPr>
              <a:t>년 상반기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Serviceable Users</a:t>
            </a:r>
            <a:r>
              <a:rPr lang="ko-KR" altLang="en-US" sz="800" dirty="0">
                <a:solidFill>
                  <a:schemeClr val="bg1"/>
                </a:solidFill>
              </a:rPr>
              <a:t>의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유료강의 </a:t>
            </a:r>
            <a:r>
              <a:rPr lang="ko-KR" altLang="en-US" sz="800" dirty="0" err="1">
                <a:solidFill>
                  <a:schemeClr val="bg1"/>
                </a:solidFill>
              </a:rPr>
              <a:t>전환율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EBD63C-94D7-649F-8815-B458442C8B62}"/>
              </a:ext>
            </a:extLst>
          </p:cNvPr>
          <p:cNvSpPr txBox="1"/>
          <p:nvPr/>
        </p:nvSpPr>
        <p:spPr>
          <a:xfrm>
            <a:off x="8220831" y="4555340"/>
            <a:ext cx="968214" cy="634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4000" b="1" dirty="0">
                <a:solidFill>
                  <a:schemeClr val="bg1"/>
                </a:solidFill>
                <a:latin typeface="+mj-lt"/>
                <a:ea typeface="+mj-ea"/>
              </a:rPr>
              <a:t>2.9</a:t>
            </a:r>
            <a:r>
              <a:rPr lang="ko-KR" altLang="en-US" sz="1000" dirty="0">
                <a:solidFill>
                  <a:schemeClr val="bg1"/>
                </a:solidFill>
              </a:rPr>
              <a:t>억원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658FBD0B-990C-86A1-A378-7E47C8177510}"/>
              </a:ext>
            </a:extLst>
          </p:cNvPr>
          <p:cNvSpPr txBox="1"/>
          <p:nvPr/>
        </p:nvSpPr>
        <p:spPr>
          <a:xfrm>
            <a:off x="8388346" y="5210627"/>
            <a:ext cx="633186" cy="3972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2025</a:t>
            </a:r>
            <a:r>
              <a:rPr lang="ko-KR" altLang="en-US" sz="800" dirty="0">
                <a:solidFill>
                  <a:schemeClr val="bg1"/>
                </a:solidFill>
              </a:rPr>
              <a:t>년 상반기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강의 </a:t>
            </a:r>
            <a:r>
              <a:rPr lang="en-US" altLang="ko-KR" sz="800" dirty="0">
                <a:solidFill>
                  <a:schemeClr val="bg1"/>
                </a:solidFill>
              </a:rPr>
              <a:t>· </a:t>
            </a:r>
            <a:r>
              <a:rPr lang="ko-KR" altLang="en-US" sz="800" dirty="0" err="1">
                <a:solidFill>
                  <a:schemeClr val="bg1"/>
                </a:solidFill>
              </a:rPr>
              <a:t>기수별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평균 매출액</a:t>
            </a:r>
            <a:r>
              <a:rPr lang="en-US" altLang="ko-KR" sz="800" baseline="30000" dirty="0">
                <a:solidFill>
                  <a:schemeClr val="bg1"/>
                </a:solidFill>
              </a:rPr>
              <a:t>(1)</a:t>
            </a:r>
          </a:p>
        </p:txBody>
      </p:sp>
      <p:pic>
        <p:nvPicPr>
          <p:cNvPr id="2051" name="그래픽 2050">
            <a:extLst>
              <a:ext uri="{FF2B5EF4-FFF2-40B4-BE49-F238E27FC236}">
                <a16:creationId xmlns:a16="http://schemas.microsoft.com/office/drawing/2014/main" id="{83175C41-6FC4-3CB0-EC2E-32055A081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5000" y="2384974"/>
            <a:ext cx="576000" cy="576000"/>
          </a:xfrm>
          <a:prstGeom prst="rect">
            <a:avLst/>
          </a:prstGeom>
        </p:spPr>
      </p:pic>
      <p:pic>
        <p:nvPicPr>
          <p:cNvPr id="2054" name="그래픽 2053">
            <a:extLst>
              <a:ext uri="{FF2B5EF4-FFF2-40B4-BE49-F238E27FC236}">
                <a16:creationId xmlns:a16="http://schemas.microsoft.com/office/drawing/2014/main" id="{443617DE-87E2-822D-C4E5-CE3B77634F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4719" y="2384974"/>
            <a:ext cx="576000" cy="576000"/>
          </a:xfrm>
          <a:prstGeom prst="rect">
            <a:avLst/>
          </a:prstGeom>
        </p:spPr>
      </p:pic>
      <p:pic>
        <p:nvPicPr>
          <p:cNvPr id="2058" name="그림 2057">
            <a:extLst>
              <a:ext uri="{FF2B5EF4-FFF2-40B4-BE49-F238E27FC236}">
                <a16:creationId xmlns:a16="http://schemas.microsoft.com/office/drawing/2014/main" id="{B5D2A88F-F358-7DD2-BB2A-AE7ECD98A8F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21000" y="4525795"/>
            <a:ext cx="1260000" cy="708750"/>
          </a:xfrm>
          <a:prstGeom prst="rect">
            <a:avLst/>
          </a:prstGeom>
        </p:spPr>
      </p:pic>
      <p:pic>
        <p:nvPicPr>
          <p:cNvPr id="2062" name="그림 2061">
            <a:extLst>
              <a:ext uri="{FF2B5EF4-FFF2-40B4-BE49-F238E27FC236}">
                <a16:creationId xmlns:a16="http://schemas.microsoft.com/office/drawing/2014/main" id="{E56BA75D-5919-46E1-EDB8-A7D26764570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000" y="4525795"/>
            <a:ext cx="1260000" cy="7101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6EE805-3EDF-EFD3-B67E-1C6AAAE005C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47072" y="4523806"/>
            <a:ext cx="1080233" cy="72915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2181199-8749-BA46-FD13-D8FE2B62D64B}"/>
              </a:ext>
            </a:extLst>
          </p:cNvPr>
          <p:cNvGrpSpPr/>
          <p:nvPr/>
        </p:nvGrpSpPr>
        <p:grpSpPr>
          <a:xfrm>
            <a:off x="3866940" y="4532164"/>
            <a:ext cx="875558" cy="705236"/>
            <a:chOff x="3740608" y="4532163"/>
            <a:chExt cx="1246779" cy="1004243"/>
          </a:xfrm>
        </p:grpSpPr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EDE615C3-0117-676A-374B-BA81EA1E44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608" y="4532163"/>
              <a:ext cx="548889" cy="10042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96" name="Picture 4">
              <a:extLst>
                <a:ext uri="{FF2B5EF4-FFF2-40B4-BE49-F238E27FC236}">
                  <a16:creationId xmlns:a16="http://schemas.microsoft.com/office/drawing/2014/main" id="{122B8319-90F3-4C6B-8D77-4DD7DB961A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8498" y="4532163"/>
              <a:ext cx="548889" cy="10042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86214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DA90-32A9-9790-310E-7F9A9F0D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EC208F7-B77F-04A5-80E9-75A1AD0A10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540000"/>
          <a:lstStyle/>
          <a:p>
            <a:r>
              <a:rPr lang="ko-KR" altLang="en-US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</a:rPr>
              <a:t>효율적 사업모델 기반 우수한 현금흐름 창출능력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484950-08BE-72E8-217C-B06B72A3E2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9ACF4-B101-6EB4-C478-88A44A27FA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62687-DEF0-ECF7-5519-BA53B4E33804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04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4223E8-7779-2A81-73D6-717559E25D06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Capital-Light · Profit-Optimized </a:t>
            </a:r>
            <a:r>
              <a:rPr lang="ko-KR" altLang="en-US" sz="1200" b="1" dirty="0">
                <a:solidFill>
                  <a:schemeClr val="bg1"/>
                </a:solidFill>
              </a:rPr>
              <a:t>운영 구조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82B1E6-37C0-4A1F-DF07-6DB09F9BFC07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검증된 높은 현금흐름 창출 능력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3" name="화살표: 오른쪽 18">
            <a:extLst>
              <a:ext uri="{FF2B5EF4-FFF2-40B4-BE49-F238E27FC236}">
                <a16:creationId xmlns:a16="http://schemas.microsoft.com/office/drawing/2014/main" id="{7A8B6FBB-B158-06E9-7D9A-CAF7A4C21462}"/>
              </a:ext>
            </a:extLst>
          </p:cNvPr>
          <p:cNvSpPr/>
          <p:nvPr/>
        </p:nvSpPr>
        <p:spPr>
          <a:xfrm rot="5400000">
            <a:off x="-923588" y="3507398"/>
            <a:ext cx="3932457" cy="894088"/>
          </a:xfrm>
          <a:prstGeom prst="rightArrow">
            <a:avLst>
              <a:gd name="adj1" fmla="val 50000"/>
              <a:gd name="adj2" fmla="val 22514"/>
            </a:avLst>
          </a:prstGeom>
          <a:gradFill>
            <a:gsLst>
              <a:gs pos="22000">
                <a:srgbClr val="2A5FA3"/>
              </a:gs>
              <a:gs pos="0">
                <a:srgbClr val="FFFFFF"/>
              </a:gs>
              <a:gs pos="100000">
                <a:srgbClr val="11244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1A3390C-84D6-1E05-A32F-F0A73AAF5817}"/>
              </a:ext>
            </a:extLst>
          </p:cNvPr>
          <p:cNvGrpSpPr/>
          <p:nvPr/>
        </p:nvGrpSpPr>
        <p:grpSpPr>
          <a:xfrm>
            <a:off x="698701" y="2047652"/>
            <a:ext cx="4143765" cy="1157942"/>
            <a:chOff x="594511" y="2622588"/>
            <a:chExt cx="4143765" cy="1157942"/>
          </a:xfrm>
        </p:grpSpPr>
        <p:sp>
          <p:nvSpPr>
            <p:cNvPr id="10" name="직사각형 1121">
              <a:extLst>
                <a:ext uri="{FF2B5EF4-FFF2-40B4-BE49-F238E27FC236}">
                  <a16:creationId xmlns:a16="http://schemas.microsoft.com/office/drawing/2014/main" id="{50877C08-CF82-7060-369F-6961F42EE064}"/>
                </a:ext>
              </a:extLst>
            </p:cNvPr>
            <p:cNvSpPr/>
            <p:nvPr/>
          </p:nvSpPr>
          <p:spPr>
            <a:xfrm>
              <a:off x="651000" y="2772530"/>
              <a:ext cx="4087276" cy="1008000"/>
            </a:xfrm>
            <a:prstGeom prst="rect">
              <a:avLst/>
            </a:prstGeom>
            <a:solidFill>
              <a:srgbClr val="539DFF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000" b="1" baseline="30000" dirty="0">
                <a:solidFill>
                  <a:schemeClr val="bg1"/>
                </a:solidFill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A5BD8C69-20AA-A9D2-B23D-87BF2C67FB8E}"/>
                </a:ext>
              </a:extLst>
            </p:cNvPr>
            <p:cNvGrpSpPr/>
            <p:nvPr/>
          </p:nvGrpSpPr>
          <p:grpSpPr>
            <a:xfrm>
              <a:off x="594511" y="2622588"/>
              <a:ext cx="130885" cy="1157942"/>
              <a:chOff x="615667" y="2673018"/>
              <a:chExt cx="130885" cy="1157942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33422892-E208-BC1A-668B-F2599F74F079}"/>
                  </a:ext>
                </a:extLst>
              </p:cNvPr>
              <p:cNvSpPr/>
              <p:nvPr/>
            </p:nvSpPr>
            <p:spPr>
              <a:xfrm>
                <a:off x="615667" y="2705363"/>
                <a:ext cx="130885" cy="1125597"/>
              </a:xfrm>
              <a:prstGeom prst="roundRect">
                <a:avLst>
                  <a:gd name="adj" fmla="val 50000"/>
                </a:avLst>
              </a:prstGeom>
              <a:solidFill>
                <a:srgbClr val="539DFF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2800" dirty="0">
                  <a:solidFill>
                    <a:prstClr val="white"/>
                  </a:solidFill>
                  <a:latin typeface="Outfit ExtraBold"/>
                  <a:ea typeface="Pretendard ExtraBold"/>
                </a:endParaRPr>
              </a:p>
            </p:txBody>
          </p:sp>
          <p:sp>
            <p:nvSpPr>
              <p:cNvPr id="20" name="순서도: 수행의 시작/종료 19">
                <a:extLst>
                  <a:ext uri="{FF2B5EF4-FFF2-40B4-BE49-F238E27FC236}">
                    <a16:creationId xmlns:a16="http://schemas.microsoft.com/office/drawing/2014/main" id="{2114B797-AD3C-4F59-44EA-2527C407896C}"/>
                  </a:ext>
                </a:extLst>
              </p:cNvPr>
              <p:cNvSpPr/>
              <p:nvPr/>
            </p:nvSpPr>
            <p:spPr>
              <a:xfrm>
                <a:off x="615667" y="2673018"/>
                <a:ext cx="130885" cy="149942"/>
              </a:xfrm>
              <a:custGeom>
                <a:avLst/>
                <a:gdLst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9664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19956"/>
                  <a:gd name="connsiteY0" fmla="*/ 0 h 21600"/>
                  <a:gd name="connsiteX1" fmla="*/ 18125 w 19956"/>
                  <a:gd name="connsiteY1" fmla="*/ 0 h 21600"/>
                  <a:gd name="connsiteX2" fmla="*/ 18125 w 19956"/>
                  <a:gd name="connsiteY2" fmla="*/ 21600 h 21600"/>
                  <a:gd name="connsiteX3" fmla="*/ 3475 w 19956"/>
                  <a:gd name="connsiteY3" fmla="*/ 21600 h 21600"/>
                  <a:gd name="connsiteX4" fmla="*/ 0 w 19956"/>
                  <a:gd name="connsiteY4" fmla="*/ 10800 h 21600"/>
                  <a:gd name="connsiteX5" fmla="*/ 3475 w 19956"/>
                  <a:gd name="connsiteY5" fmla="*/ 0 h 21600"/>
                  <a:gd name="connsiteX0" fmla="*/ 3475 w 18125"/>
                  <a:gd name="connsiteY0" fmla="*/ 0 h 21600"/>
                  <a:gd name="connsiteX1" fmla="*/ 18125 w 18125"/>
                  <a:gd name="connsiteY1" fmla="*/ 0 h 21600"/>
                  <a:gd name="connsiteX2" fmla="*/ 18125 w 18125"/>
                  <a:gd name="connsiteY2" fmla="*/ 21600 h 21600"/>
                  <a:gd name="connsiteX3" fmla="*/ 3475 w 18125"/>
                  <a:gd name="connsiteY3" fmla="*/ 21600 h 21600"/>
                  <a:gd name="connsiteX4" fmla="*/ 0 w 18125"/>
                  <a:gd name="connsiteY4" fmla="*/ 10800 h 21600"/>
                  <a:gd name="connsiteX5" fmla="*/ 3475 w 18125"/>
                  <a:gd name="connsiteY5" fmla="*/ 0 h 21600"/>
                  <a:gd name="connsiteX0" fmla="*/ 3475 w 18125"/>
                  <a:gd name="connsiteY0" fmla="*/ 0 h 21600"/>
                  <a:gd name="connsiteX1" fmla="*/ 18125 w 18125"/>
                  <a:gd name="connsiteY1" fmla="*/ 21600 h 21600"/>
                  <a:gd name="connsiteX2" fmla="*/ 3475 w 18125"/>
                  <a:gd name="connsiteY2" fmla="*/ 21600 h 21600"/>
                  <a:gd name="connsiteX3" fmla="*/ 0 w 18125"/>
                  <a:gd name="connsiteY3" fmla="*/ 10800 h 21600"/>
                  <a:gd name="connsiteX4" fmla="*/ 3475 w 18125"/>
                  <a:gd name="connsiteY4" fmla="*/ 0 h 21600"/>
                  <a:gd name="connsiteX0" fmla="*/ 3475 w 3475"/>
                  <a:gd name="connsiteY0" fmla="*/ 0 h 21600"/>
                  <a:gd name="connsiteX1" fmla="*/ 3475 w 3475"/>
                  <a:gd name="connsiteY1" fmla="*/ 21600 h 21600"/>
                  <a:gd name="connsiteX2" fmla="*/ 0 w 3475"/>
                  <a:gd name="connsiteY2" fmla="*/ 10800 h 21600"/>
                  <a:gd name="connsiteX3" fmla="*/ 3475 w 3475"/>
                  <a:gd name="connsiteY3" fmla="*/ 0 h 2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75" h="21600">
                    <a:moveTo>
                      <a:pt x="3475" y="0"/>
                    </a:moveTo>
                    <a:lnTo>
                      <a:pt x="3475" y="21600"/>
                    </a:lnTo>
                    <a:cubicBezTo>
                      <a:pt x="1556" y="21600"/>
                      <a:pt x="0" y="16765"/>
                      <a:pt x="0" y="10800"/>
                    </a:cubicBezTo>
                    <a:cubicBezTo>
                      <a:pt x="0" y="4835"/>
                      <a:pt x="1556" y="0"/>
                      <a:pt x="3475" y="0"/>
                    </a:cubicBezTo>
                    <a:close/>
                  </a:path>
                </a:pathLst>
              </a:custGeom>
              <a:solidFill>
                <a:srgbClr val="11244A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2800" dirty="0">
                  <a:solidFill>
                    <a:prstClr val="white"/>
                  </a:solidFill>
                  <a:latin typeface="Outfit ExtraBold"/>
                  <a:ea typeface="Pretendard ExtraBold"/>
                </a:endParaRPr>
              </a:p>
            </p:txBody>
          </p: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CB7CADE-F902-D60B-AC50-59098C1CB4B6}"/>
              </a:ext>
            </a:extLst>
          </p:cNvPr>
          <p:cNvGrpSpPr/>
          <p:nvPr/>
        </p:nvGrpSpPr>
        <p:grpSpPr>
          <a:xfrm>
            <a:off x="749960" y="2139165"/>
            <a:ext cx="894086" cy="1107496"/>
            <a:chOff x="674241" y="2249330"/>
            <a:chExt cx="894086" cy="1017035"/>
          </a:xfrm>
        </p:grpSpPr>
        <p:sp>
          <p:nvSpPr>
            <p:cNvPr id="17" name="화살표: 오각형 16">
              <a:extLst>
                <a:ext uri="{FF2B5EF4-FFF2-40B4-BE49-F238E27FC236}">
                  <a16:creationId xmlns:a16="http://schemas.microsoft.com/office/drawing/2014/main" id="{1FD16F79-AC93-BE7F-3201-6459BD0335A1}"/>
                </a:ext>
              </a:extLst>
            </p:cNvPr>
            <p:cNvSpPr/>
            <p:nvPr/>
          </p:nvSpPr>
          <p:spPr>
            <a:xfrm rot="10800000">
              <a:off x="674241" y="2249330"/>
              <a:ext cx="894086" cy="1017035"/>
            </a:xfrm>
            <a:prstGeom prst="homePlate">
              <a:avLst>
                <a:gd name="adj" fmla="val 29086"/>
              </a:avLst>
            </a:prstGeom>
            <a:solidFill>
              <a:srgbClr val="539DFF"/>
            </a:solidFill>
            <a:ln w="127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2800" dirty="0">
                <a:solidFill>
                  <a:prstClr val="white"/>
                </a:solidFill>
                <a:latin typeface="Outfit ExtraBold"/>
                <a:ea typeface="Pretendard ExtraBold"/>
              </a:endParaRPr>
            </a:p>
          </p:txBody>
        </p:sp>
        <p:pic>
          <p:nvPicPr>
            <p:cNvPr id="47" name="그래픽 46">
              <a:extLst>
                <a:ext uri="{FF2B5EF4-FFF2-40B4-BE49-F238E27FC236}">
                  <a16:creationId xmlns:a16="http://schemas.microsoft.com/office/drawing/2014/main" id="{6F33D5C8-BA58-2DC9-579E-CA9E3BF1B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465" y="2435315"/>
              <a:ext cx="272949" cy="272949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8CBB9886-857B-0A62-D6C9-1783862E4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55177" y="2435315"/>
              <a:ext cx="253015" cy="253015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6704A47-E477-80F4-3563-06A514C3580D}"/>
                </a:ext>
              </a:extLst>
            </p:cNvPr>
            <p:cNvSpPr txBox="1"/>
            <p:nvPr/>
          </p:nvSpPr>
          <p:spPr>
            <a:xfrm>
              <a:off x="828193" y="2765409"/>
              <a:ext cx="687150" cy="3005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강사 </a:t>
              </a:r>
              <a:r>
                <a:rPr lang="ko-KR" altLang="en-US" sz="1000" b="1" dirty="0" err="1">
                  <a:solidFill>
                    <a:schemeClr val="bg1"/>
                  </a:solidFill>
                </a:rPr>
                <a:t>리쿠르팅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강의 제작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D232A5A2-4D82-0898-C79B-08F4345FF188}"/>
              </a:ext>
            </a:extLst>
          </p:cNvPr>
          <p:cNvSpPr txBox="1"/>
          <p:nvPr/>
        </p:nvSpPr>
        <p:spPr>
          <a:xfrm>
            <a:off x="1641330" y="2366440"/>
            <a:ext cx="3203719" cy="669414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chemeClr val="bg1"/>
                </a:solidFill>
              </a:rPr>
              <a:t>RS </a:t>
            </a:r>
            <a:r>
              <a:rPr lang="ko-KR" altLang="en-US" sz="1000" spc="-30" dirty="0">
                <a:solidFill>
                  <a:schemeClr val="bg1"/>
                </a:solidFill>
              </a:rPr>
              <a:t>정산 방식으로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리쿠르팅</a:t>
            </a:r>
            <a:r>
              <a:rPr lang="en-US" altLang="ko-KR" sz="1000" spc="-30" dirty="0">
                <a:solidFill>
                  <a:schemeClr val="bg1"/>
                </a:solidFill>
              </a:rPr>
              <a:t>·</a:t>
            </a:r>
            <a:r>
              <a:rPr lang="ko-KR" altLang="en-US" sz="1000" spc="-30" dirty="0">
                <a:solidFill>
                  <a:schemeClr val="bg1"/>
                </a:solidFill>
              </a:rPr>
              <a:t>계약금 등 초기 비용이 없음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358775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spc="-30" dirty="0">
                <a:solidFill>
                  <a:schemeClr val="bg1"/>
                </a:solidFill>
              </a:rPr>
              <a:t>정산 배율 개선</a:t>
            </a:r>
            <a:r>
              <a:rPr lang="en-US" altLang="ko-KR" sz="1000" spc="-30" dirty="0">
                <a:solidFill>
                  <a:schemeClr val="bg1"/>
                </a:solidFill>
              </a:rPr>
              <a:t>(5:5→6:4) </a:t>
            </a:r>
            <a:r>
              <a:rPr lang="ko-KR" altLang="en-US" sz="1000" spc="-30" dirty="0">
                <a:solidFill>
                  <a:schemeClr val="bg1"/>
                </a:solidFill>
              </a:rPr>
              <a:t>추진으로 추가 비용 절감 중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강의 기획</a:t>
            </a:r>
            <a:r>
              <a:rPr lang="en-US" altLang="ko-KR" sz="1000" spc="-30" dirty="0">
                <a:solidFill>
                  <a:schemeClr val="bg1"/>
                </a:solidFill>
              </a:rPr>
              <a:t>·</a:t>
            </a:r>
            <a:r>
              <a:rPr lang="ko-KR" altLang="en-US" sz="1000" spc="-30" dirty="0">
                <a:solidFill>
                  <a:schemeClr val="bg1"/>
                </a:solidFill>
              </a:rPr>
              <a:t>설계와 고도화는 지원하되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실제 커리큘럼은 강사가 제작하여 재고</a:t>
            </a:r>
            <a:r>
              <a:rPr lang="en-US" altLang="ko-KR" sz="1000" spc="-30" dirty="0">
                <a:solidFill>
                  <a:schemeClr val="bg1"/>
                </a:solidFill>
              </a:rPr>
              <a:t>·</a:t>
            </a:r>
            <a:r>
              <a:rPr lang="ko-KR" altLang="en-US" sz="1000" spc="-30" dirty="0">
                <a:solidFill>
                  <a:schemeClr val="bg1"/>
                </a:solidFill>
              </a:rPr>
              <a:t>투자 부담 없음</a:t>
            </a:r>
            <a:endParaRPr lang="en-US" altLang="ko-KR" sz="1000" spc="-30" dirty="0">
              <a:solidFill>
                <a:schemeClr val="bg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B5A489-4542-B3C4-D7F9-CBD41C527A85}"/>
              </a:ext>
            </a:extLst>
          </p:cNvPr>
          <p:cNvGrpSpPr/>
          <p:nvPr/>
        </p:nvGrpSpPr>
        <p:grpSpPr>
          <a:xfrm>
            <a:off x="698701" y="3263486"/>
            <a:ext cx="4143765" cy="1157942"/>
            <a:chOff x="594511" y="2622588"/>
            <a:chExt cx="4143765" cy="1157942"/>
          </a:xfrm>
        </p:grpSpPr>
        <p:sp>
          <p:nvSpPr>
            <p:cNvPr id="18" name="직사각형 1121">
              <a:extLst>
                <a:ext uri="{FF2B5EF4-FFF2-40B4-BE49-F238E27FC236}">
                  <a16:creationId xmlns:a16="http://schemas.microsoft.com/office/drawing/2014/main" id="{63C5DB07-BF5A-DE9B-7700-0D6916657F39}"/>
                </a:ext>
              </a:extLst>
            </p:cNvPr>
            <p:cNvSpPr/>
            <p:nvPr/>
          </p:nvSpPr>
          <p:spPr>
            <a:xfrm>
              <a:off x="651000" y="2772530"/>
              <a:ext cx="4087276" cy="1008000"/>
            </a:xfrm>
            <a:prstGeom prst="rect">
              <a:avLst/>
            </a:prstGeom>
            <a:solidFill>
              <a:srgbClr val="539DFF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000" b="1" baseline="30000" dirty="0">
                <a:solidFill>
                  <a:schemeClr val="bg1"/>
                </a:solidFill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42ED402-35A5-17B9-EDEB-28D5CFCE0FEF}"/>
                </a:ext>
              </a:extLst>
            </p:cNvPr>
            <p:cNvGrpSpPr/>
            <p:nvPr/>
          </p:nvGrpSpPr>
          <p:grpSpPr>
            <a:xfrm>
              <a:off x="594511" y="2622588"/>
              <a:ext cx="130885" cy="1157942"/>
              <a:chOff x="615667" y="2673018"/>
              <a:chExt cx="130885" cy="1157942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E6E4A524-7214-BD2A-7625-41E95AE51F5B}"/>
                  </a:ext>
                </a:extLst>
              </p:cNvPr>
              <p:cNvSpPr/>
              <p:nvPr/>
            </p:nvSpPr>
            <p:spPr>
              <a:xfrm>
                <a:off x="615667" y="2705363"/>
                <a:ext cx="130885" cy="1125597"/>
              </a:xfrm>
              <a:prstGeom prst="roundRect">
                <a:avLst>
                  <a:gd name="adj" fmla="val 50000"/>
                </a:avLst>
              </a:prstGeom>
              <a:solidFill>
                <a:srgbClr val="539DFF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2800" dirty="0">
                  <a:solidFill>
                    <a:prstClr val="white"/>
                  </a:solidFill>
                  <a:latin typeface="Outfit ExtraBold"/>
                  <a:ea typeface="Pretendard ExtraBold"/>
                </a:endParaRPr>
              </a:p>
            </p:txBody>
          </p:sp>
          <p:sp>
            <p:nvSpPr>
              <p:cNvPr id="24" name="순서도: 수행의 시작/종료 19">
                <a:extLst>
                  <a:ext uri="{FF2B5EF4-FFF2-40B4-BE49-F238E27FC236}">
                    <a16:creationId xmlns:a16="http://schemas.microsoft.com/office/drawing/2014/main" id="{D4A9E954-F5A4-A051-165F-BB15CF2B496D}"/>
                  </a:ext>
                </a:extLst>
              </p:cNvPr>
              <p:cNvSpPr/>
              <p:nvPr/>
            </p:nvSpPr>
            <p:spPr>
              <a:xfrm>
                <a:off x="615667" y="2673018"/>
                <a:ext cx="130885" cy="149942"/>
              </a:xfrm>
              <a:custGeom>
                <a:avLst/>
                <a:gdLst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9664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19956"/>
                  <a:gd name="connsiteY0" fmla="*/ 0 h 21600"/>
                  <a:gd name="connsiteX1" fmla="*/ 18125 w 19956"/>
                  <a:gd name="connsiteY1" fmla="*/ 0 h 21600"/>
                  <a:gd name="connsiteX2" fmla="*/ 18125 w 19956"/>
                  <a:gd name="connsiteY2" fmla="*/ 21600 h 21600"/>
                  <a:gd name="connsiteX3" fmla="*/ 3475 w 19956"/>
                  <a:gd name="connsiteY3" fmla="*/ 21600 h 21600"/>
                  <a:gd name="connsiteX4" fmla="*/ 0 w 19956"/>
                  <a:gd name="connsiteY4" fmla="*/ 10800 h 21600"/>
                  <a:gd name="connsiteX5" fmla="*/ 3475 w 19956"/>
                  <a:gd name="connsiteY5" fmla="*/ 0 h 21600"/>
                  <a:gd name="connsiteX0" fmla="*/ 3475 w 18125"/>
                  <a:gd name="connsiteY0" fmla="*/ 0 h 21600"/>
                  <a:gd name="connsiteX1" fmla="*/ 18125 w 18125"/>
                  <a:gd name="connsiteY1" fmla="*/ 0 h 21600"/>
                  <a:gd name="connsiteX2" fmla="*/ 18125 w 18125"/>
                  <a:gd name="connsiteY2" fmla="*/ 21600 h 21600"/>
                  <a:gd name="connsiteX3" fmla="*/ 3475 w 18125"/>
                  <a:gd name="connsiteY3" fmla="*/ 21600 h 21600"/>
                  <a:gd name="connsiteX4" fmla="*/ 0 w 18125"/>
                  <a:gd name="connsiteY4" fmla="*/ 10800 h 21600"/>
                  <a:gd name="connsiteX5" fmla="*/ 3475 w 18125"/>
                  <a:gd name="connsiteY5" fmla="*/ 0 h 21600"/>
                  <a:gd name="connsiteX0" fmla="*/ 3475 w 18125"/>
                  <a:gd name="connsiteY0" fmla="*/ 0 h 21600"/>
                  <a:gd name="connsiteX1" fmla="*/ 18125 w 18125"/>
                  <a:gd name="connsiteY1" fmla="*/ 21600 h 21600"/>
                  <a:gd name="connsiteX2" fmla="*/ 3475 w 18125"/>
                  <a:gd name="connsiteY2" fmla="*/ 21600 h 21600"/>
                  <a:gd name="connsiteX3" fmla="*/ 0 w 18125"/>
                  <a:gd name="connsiteY3" fmla="*/ 10800 h 21600"/>
                  <a:gd name="connsiteX4" fmla="*/ 3475 w 18125"/>
                  <a:gd name="connsiteY4" fmla="*/ 0 h 21600"/>
                  <a:gd name="connsiteX0" fmla="*/ 3475 w 3475"/>
                  <a:gd name="connsiteY0" fmla="*/ 0 h 21600"/>
                  <a:gd name="connsiteX1" fmla="*/ 3475 w 3475"/>
                  <a:gd name="connsiteY1" fmla="*/ 21600 h 21600"/>
                  <a:gd name="connsiteX2" fmla="*/ 0 w 3475"/>
                  <a:gd name="connsiteY2" fmla="*/ 10800 h 21600"/>
                  <a:gd name="connsiteX3" fmla="*/ 3475 w 3475"/>
                  <a:gd name="connsiteY3" fmla="*/ 0 h 2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75" h="21600">
                    <a:moveTo>
                      <a:pt x="3475" y="0"/>
                    </a:moveTo>
                    <a:lnTo>
                      <a:pt x="3475" y="21600"/>
                    </a:lnTo>
                    <a:cubicBezTo>
                      <a:pt x="1556" y="21600"/>
                      <a:pt x="0" y="16765"/>
                      <a:pt x="0" y="10800"/>
                    </a:cubicBezTo>
                    <a:cubicBezTo>
                      <a:pt x="0" y="4835"/>
                      <a:pt x="1556" y="0"/>
                      <a:pt x="3475" y="0"/>
                    </a:cubicBezTo>
                    <a:close/>
                  </a:path>
                </a:pathLst>
              </a:custGeom>
              <a:solidFill>
                <a:srgbClr val="11244A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2800" dirty="0">
                  <a:solidFill>
                    <a:prstClr val="white"/>
                  </a:solidFill>
                  <a:latin typeface="Outfit ExtraBold"/>
                  <a:ea typeface="Pretendard ExtraBold"/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E3B95A5-BCD3-8F91-91D1-11F49DAEFC4A}"/>
              </a:ext>
            </a:extLst>
          </p:cNvPr>
          <p:cNvGrpSpPr/>
          <p:nvPr/>
        </p:nvGrpSpPr>
        <p:grpSpPr>
          <a:xfrm>
            <a:off x="749960" y="3373157"/>
            <a:ext cx="894086" cy="1107496"/>
            <a:chOff x="674241" y="2249330"/>
            <a:chExt cx="894086" cy="1017035"/>
          </a:xfrm>
        </p:grpSpPr>
        <p:sp>
          <p:nvSpPr>
            <p:cNvPr id="26" name="화살표: 오각형 25">
              <a:extLst>
                <a:ext uri="{FF2B5EF4-FFF2-40B4-BE49-F238E27FC236}">
                  <a16:creationId xmlns:a16="http://schemas.microsoft.com/office/drawing/2014/main" id="{630D5A32-1554-DC63-4685-648933C07E87}"/>
                </a:ext>
              </a:extLst>
            </p:cNvPr>
            <p:cNvSpPr/>
            <p:nvPr/>
          </p:nvSpPr>
          <p:spPr>
            <a:xfrm rot="10800000">
              <a:off x="674241" y="2249330"/>
              <a:ext cx="894086" cy="1017035"/>
            </a:xfrm>
            <a:prstGeom prst="homePlate">
              <a:avLst>
                <a:gd name="adj" fmla="val 29086"/>
              </a:avLst>
            </a:prstGeom>
            <a:solidFill>
              <a:srgbClr val="539DFF"/>
            </a:solidFill>
            <a:ln w="127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2800" dirty="0">
                <a:solidFill>
                  <a:prstClr val="white"/>
                </a:solidFill>
                <a:latin typeface="Outfit ExtraBold"/>
                <a:ea typeface="Pretendard ExtraBold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2D94C3-C97C-CE71-EF49-6AF7BCA1882A}"/>
                </a:ext>
              </a:extLst>
            </p:cNvPr>
            <p:cNvSpPr txBox="1"/>
            <p:nvPr/>
          </p:nvSpPr>
          <p:spPr>
            <a:xfrm>
              <a:off x="828193" y="2844042"/>
              <a:ext cx="687150" cy="3005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마케팅 </a:t>
              </a:r>
            </a:p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세일즈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A48C4CE-E42D-D6E4-0BFC-A6E457505999}"/>
              </a:ext>
            </a:extLst>
          </p:cNvPr>
          <p:cNvGrpSpPr/>
          <p:nvPr/>
        </p:nvGrpSpPr>
        <p:grpSpPr>
          <a:xfrm>
            <a:off x="698701" y="4479320"/>
            <a:ext cx="4143765" cy="1157942"/>
            <a:chOff x="594511" y="2622588"/>
            <a:chExt cx="4143765" cy="1157942"/>
          </a:xfrm>
        </p:grpSpPr>
        <p:sp>
          <p:nvSpPr>
            <p:cNvPr id="31" name="직사각형 1121">
              <a:extLst>
                <a:ext uri="{FF2B5EF4-FFF2-40B4-BE49-F238E27FC236}">
                  <a16:creationId xmlns:a16="http://schemas.microsoft.com/office/drawing/2014/main" id="{F83151E3-8094-3C5C-FCCE-D692BBAA2AC4}"/>
                </a:ext>
              </a:extLst>
            </p:cNvPr>
            <p:cNvSpPr/>
            <p:nvPr/>
          </p:nvSpPr>
          <p:spPr>
            <a:xfrm>
              <a:off x="651000" y="2772530"/>
              <a:ext cx="4087276" cy="1008000"/>
            </a:xfrm>
            <a:prstGeom prst="rect">
              <a:avLst/>
            </a:prstGeom>
            <a:solidFill>
              <a:srgbClr val="539DFF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1000" b="1" baseline="30000" dirty="0">
                <a:solidFill>
                  <a:schemeClr val="bg1"/>
                </a:solidFill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AF6E35C0-B967-D629-9326-0DD98EA8B43E}"/>
                </a:ext>
              </a:extLst>
            </p:cNvPr>
            <p:cNvGrpSpPr/>
            <p:nvPr/>
          </p:nvGrpSpPr>
          <p:grpSpPr>
            <a:xfrm>
              <a:off x="594511" y="2622588"/>
              <a:ext cx="130885" cy="1157942"/>
              <a:chOff x="615667" y="2673018"/>
              <a:chExt cx="130885" cy="1157942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E86D82E0-EBE4-5BC1-B302-5246A08321B3}"/>
                  </a:ext>
                </a:extLst>
              </p:cNvPr>
              <p:cNvSpPr/>
              <p:nvPr/>
            </p:nvSpPr>
            <p:spPr>
              <a:xfrm>
                <a:off x="615667" y="2705363"/>
                <a:ext cx="130885" cy="1125597"/>
              </a:xfrm>
              <a:prstGeom prst="roundRect">
                <a:avLst>
                  <a:gd name="adj" fmla="val 50000"/>
                </a:avLst>
              </a:prstGeom>
              <a:solidFill>
                <a:srgbClr val="539DFF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2800" dirty="0">
                  <a:solidFill>
                    <a:prstClr val="white"/>
                  </a:solidFill>
                  <a:latin typeface="Outfit ExtraBold"/>
                  <a:ea typeface="Pretendard ExtraBold"/>
                </a:endParaRPr>
              </a:p>
            </p:txBody>
          </p:sp>
          <p:sp>
            <p:nvSpPr>
              <p:cNvPr id="34" name="순서도: 수행의 시작/종료 19">
                <a:extLst>
                  <a:ext uri="{FF2B5EF4-FFF2-40B4-BE49-F238E27FC236}">
                    <a16:creationId xmlns:a16="http://schemas.microsoft.com/office/drawing/2014/main" id="{207D16D8-A53F-AC3D-67FF-17D488FA37E5}"/>
                  </a:ext>
                </a:extLst>
              </p:cNvPr>
              <p:cNvSpPr/>
              <p:nvPr/>
            </p:nvSpPr>
            <p:spPr>
              <a:xfrm>
                <a:off x="615667" y="2673018"/>
                <a:ext cx="130885" cy="149942"/>
              </a:xfrm>
              <a:custGeom>
                <a:avLst/>
                <a:gdLst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9664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19956"/>
                  <a:gd name="connsiteY0" fmla="*/ 0 h 21600"/>
                  <a:gd name="connsiteX1" fmla="*/ 18125 w 19956"/>
                  <a:gd name="connsiteY1" fmla="*/ 0 h 21600"/>
                  <a:gd name="connsiteX2" fmla="*/ 18125 w 19956"/>
                  <a:gd name="connsiteY2" fmla="*/ 21600 h 21600"/>
                  <a:gd name="connsiteX3" fmla="*/ 3475 w 19956"/>
                  <a:gd name="connsiteY3" fmla="*/ 21600 h 21600"/>
                  <a:gd name="connsiteX4" fmla="*/ 0 w 19956"/>
                  <a:gd name="connsiteY4" fmla="*/ 10800 h 21600"/>
                  <a:gd name="connsiteX5" fmla="*/ 3475 w 19956"/>
                  <a:gd name="connsiteY5" fmla="*/ 0 h 21600"/>
                  <a:gd name="connsiteX0" fmla="*/ 3475 w 18125"/>
                  <a:gd name="connsiteY0" fmla="*/ 0 h 21600"/>
                  <a:gd name="connsiteX1" fmla="*/ 18125 w 18125"/>
                  <a:gd name="connsiteY1" fmla="*/ 0 h 21600"/>
                  <a:gd name="connsiteX2" fmla="*/ 18125 w 18125"/>
                  <a:gd name="connsiteY2" fmla="*/ 21600 h 21600"/>
                  <a:gd name="connsiteX3" fmla="*/ 3475 w 18125"/>
                  <a:gd name="connsiteY3" fmla="*/ 21600 h 21600"/>
                  <a:gd name="connsiteX4" fmla="*/ 0 w 18125"/>
                  <a:gd name="connsiteY4" fmla="*/ 10800 h 21600"/>
                  <a:gd name="connsiteX5" fmla="*/ 3475 w 18125"/>
                  <a:gd name="connsiteY5" fmla="*/ 0 h 21600"/>
                  <a:gd name="connsiteX0" fmla="*/ 3475 w 18125"/>
                  <a:gd name="connsiteY0" fmla="*/ 0 h 21600"/>
                  <a:gd name="connsiteX1" fmla="*/ 18125 w 18125"/>
                  <a:gd name="connsiteY1" fmla="*/ 21600 h 21600"/>
                  <a:gd name="connsiteX2" fmla="*/ 3475 w 18125"/>
                  <a:gd name="connsiteY2" fmla="*/ 21600 h 21600"/>
                  <a:gd name="connsiteX3" fmla="*/ 0 w 18125"/>
                  <a:gd name="connsiteY3" fmla="*/ 10800 h 21600"/>
                  <a:gd name="connsiteX4" fmla="*/ 3475 w 18125"/>
                  <a:gd name="connsiteY4" fmla="*/ 0 h 21600"/>
                  <a:gd name="connsiteX0" fmla="*/ 3475 w 3475"/>
                  <a:gd name="connsiteY0" fmla="*/ 0 h 21600"/>
                  <a:gd name="connsiteX1" fmla="*/ 3475 w 3475"/>
                  <a:gd name="connsiteY1" fmla="*/ 21600 h 21600"/>
                  <a:gd name="connsiteX2" fmla="*/ 0 w 3475"/>
                  <a:gd name="connsiteY2" fmla="*/ 10800 h 21600"/>
                  <a:gd name="connsiteX3" fmla="*/ 3475 w 3475"/>
                  <a:gd name="connsiteY3" fmla="*/ 0 h 2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75" h="21600">
                    <a:moveTo>
                      <a:pt x="3475" y="0"/>
                    </a:moveTo>
                    <a:lnTo>
                      <a:pt x="3475" y="21600"/>
                    </a:lnTo>
                    <a:cubicBezTo>
                      <a:pt x="1556" y="21600"/>
                      <a:pt x="0" y="16765"/>
                      <a:pt x="0" y="10800"/>
                    </a:cubicBezTo>
                    <a:cubicBezTo>
                      <a:pt x="0" y="4835"/>
                      <a:pt x="1556" y="0"/>
                      <a:pt x="3475" y="0"/>
                    </a:cubicBezTo>
                    <a:close/>
                  </a:path>
                </a:pathLst>
              </a:custGeom>
              <a:solidFill>
                <a:srgbClr val="11244A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2800" dirty="0">
                  <a:solidFill>
                    <a:prstClr val="white"/>
                  </a:solidFill>
                  <a:latin typeface="Outfit ExtraBold"/>
                  <a:ea typeface="Pretendard ExtraBold"/>
                </a:endParaRPr>
              </a:p>
            </p:txBody>
          </p: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9C1F7A4-BE17-6B65-6861-73B9C7B024DF}"/>
              </a:ext>
            </a:extLst>
          </p:cNvPr>
          <p:cNvGrpSpPr/>
          <p:nvPr/>
        </p:nvGrpSpPr>
        <p:grpSpPr>
          <a:xfrm>
            <a:off x="749960" y="4570833"/>
            <a:ext cx="894086" cy="1107496"/>
            <a:chOff x="674241" y="2249330"/>
            <a:chExt cx="894086" cy="1017035"/>
          </a:xfrm>
        </p:grpSpPr>
        <p:sp>
          <p:nvSpPr>
            <p:cNvPr id="58" name="화살표: 오각형 57">
              <a:extLst>
                <a:ext uri="{FF2B5EF4-FFF2-40B4-BE49-F238E27FC236}">
                  <a16:creationId xmlns:a16="http://schemas.microsoft.com/office/drawing/2014/main" id="{21A593C4-E69A-117A-155B-348F57543E77}"/>
                </a:ext>
              </a:extLst>
            </p:cNvPr>
            <p:cNvSpPr/>
            <p:nvPr/>
          </p:nvSpPr>
          <p:spPr>
            <a:xfrm rot="10800000">
              <a:off x="674241" y="2249330"/>
              <a:ext cx="894086" cy="1017035"/>
            </a:xfrm>
            <a:prstGeom prst="homePlate">
              <a:avLst>
                <a:gd name="adj" fmla="val 29086"/>
              </a:avLst>
            </a:prstGeom>
            <a:solidFill>
              <a:srgbClr val="539DFF"/>
            </a:solidFill>
            <a:ln w="127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2800" dirty="0">
                <a:solidFill>
                  <a:prstClr val="white"/>
                </a:solidFill>
                <a:latin typeface="Outfit ExtraBold"/>
                <a:ea typeface="Pretendard ExtraBold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7D6A32E-044B-15F1-DDB1-83B1639B5686}"/>
                </a:ext>
              </a:extLst>
            </p:cNvPr>
            <p:cNvSpPr txBox="1"/>
            <p:nvPr/>
          </p:nvSpPr>
          <p:spPr>
            <a:xfrm>
              <a:off x="866293" y="2822398"/>
              <a:ext cx="687150" cy="3005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매출 발생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10000"/>
                </a:lnSpc>
              </a:pPr>
              <a:r>
                <a:rPr lang="ko-KR" altLang="en-US" sz="1000" b="1" dirty="0">
                  <a:solidFill>
                    <a:schemeClr val="bg1"/>
                  </a:solidFill>
                </a:rPr>
                <a:t>비용 정산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62" name="그래픽 61">
            <a:extLst>
              <a:ext uri="{FF2B5EF4-FFF2-40B4-BE49-F238E27FC236}">
                <a16:creationId xmlns:a16="http://schemas.microsoft.com/office/drawing/2014/main" id="{814BBF7F-AEAE-A121-4F31-A2F10F98BC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9546" y="3584146"/>
            <a:ext cx="273597" cy="273597"/>
          </a:xfrm>
          <a:prstGeom prst="rect">
            <a:avLst/>
          </a:prstGeom>
        </p:spPr>
      </p:pic>
      <p:pic>
        <p:nvPicPr>
          <p:cNvPr id="63" name="그래픽 62">
            <a:extLst>
              <a:ext uri="{FF2B5EF4-FFF2-40B4-BE49-F238E27FC236}">
                <a16:creationId xmlns:a16="http://schemas.microsoft.com/office/drawing/2014/main" id="{FE268A17-6E8C-BC28-0FC6-E91EB92052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4781" y="3584147"/>
            <a:ext cx="279778" cy="279778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1923C13B-0A39-E046-52A3-ED51A5FF4D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9426" y="4801998"/>
            <a:ext cx="316536" cy="316536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12233D0B-994C-13A8-B7F3-2B3F1EB5727F}"/>
              </a:ext>
            </a:extLst>
          </p:cNvPr>
          <p:cNvSpPr txBox="1"/>
          <p:nvPr/>
        </p:nvSpPr>
        <p:spPr>
          <a:xfrm>
            <a:off x="1641330" y="3593046"/>
            <a:ext cx="3203719" cy="654025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자체</a:t>
            </a:r>
            <a:r>
              <a:rPr lang="en-US" altLang="ko-KR" sz="1000" spc="-30" dirty="0">
                <a:solidFill>
                  <a:schemeClr val="bg1"/>
                </a:solidFill>
              </a:rPr>
              <a:t>/</a:t>
            </a:r>
            <a:r>
              <a:rPr lang="ko-KR" altLang="en-US" sz="1000" spc="-30" dirty="0">
                <a:solidFill>
                  <a:schemeClr val="bg1"/>
                </a:solidFill>
              </a:rPr>
              <a:t>관계사 유튜브 채널이 광고 콘텐츠를 직접 제작</a:t>
            </a:r>
            <a:r>
              <a:rPr lang="en-US" altLang="ko-KR" sz="1000" spc="-30" dirty="0">
                <a:solidFill>
                  <a:schemeClr val="bg1"/>
                </a:solidFill>
              </a:rPr>
              <a:t>(</a:t>
            </a:r>
            <a:r>
              <a:rPr lang="ko-KR" altLang="en-US" sz="1000" spc="-30" dirty="0">
                <a:solidFill>
                  <a:schemeClr val="bg1"/>
                </a:solidFill>
              </a:rPr>
              <a:t>최소한의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영상외주비</a:t>
            </a:r>
            <a:r>
              <a:rPr lang="ko-KR" altLang="en-US" sz="1000" spc="-30" dirty="0">
                <a:solidFill>
                  <a:schemeClr val="bg1"/>
                </a:solidFill>
              </a:rPr>
              <a:t> </a:t>
            </a:r>
            <a:r>
              <a:rPr lang="en-US" altLang="ko-KR" sz="1000" spc="-30" dirty="0">
                <a:solidFill>
                  <a:schemeClr val="bg1"/>
                </a:solidFill>
              </a:rPr>
              <a:t>+ RS </a:t>
            </a:r>
            <a:r>
              <a:rPr lang="ko-KR" altLang="en-US" sz="1000" spc="-30" dirty="0">
                <a:solidFill>
                  <a:schemeClr val="bg1"/>
                </a:solidFill>
              </a:rPr>
              <a:t>분배</a:t>
            </a:r>
            <a:r>
              <a:rPr lang="en-US" altLang="ko-KR" sz="1000" spc="-30" dirty="0">
                <a:solidFill>
                  <a:schemeClr val="bg1"/>
                </a:solidFill>
              </a:rPr>
              <a:t>),</a:t>
            </a:r>
            <a:r>
              <a:rPr lang="ko-KR" altLang="en-US" sz="1000" spc="-30" dirty="0">
                <a:solidFill>
                  <a:schemeClr val="bg1"/>
                </a:solidFill>
              </a:rPr>
              <a:t> 최소 비용으로 높은 마케팅 효과 확보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구글</a:t>
            </a:r>
            <a:r>
              <a:rPr lang="en-US" altLang="ko-KR" sz="1000" spc="-30" dirty="0">
                <a:solidFill>
                  <a:schemeClr val="bg1"/>
                </a:solidFill>
              </a:rPr>
              <a:t>·</a:t>
            </a:r>
            <a:r>
              <a:rPr lang="ko-KR" altLang="en-US" sz="1000" spc="-30" dirty="0">
                <a:solidFill>
                  <a:schemeClr val="bg1"/>
                </a:solidFill>
              </a:rPr>
              <a:t>메타 중심의 </a:t>
            </a:r>
            <a:r>
              <a:rPr lang="en-US" altLang="ko-KR" sz="1000" spc="-30" dirty="0">
                <a:solidFill>
                  <a:schemeClr val="bg1"/>
                </a:solidFill>
              </a:rPr>
              <a:t>Paid Traffic </a:t>
            </a:r>
            <a:r>
              <a:rPr lang="ko-KR" altLang="en-US" sz="1000" spc="-30" dirty="0">
                <a:solidFill>
                  <a:schemeClr val="bg1"/>
                </a:solidFill>
              </a:rPr>
              <a:t>비중을 축소하고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유튜브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오가닉</a:t>
            </a:r>
            <a:r>
              <a:rPr lang="ko-KR" altLang="en-US" sz="1000" spc="-30" dirty="0">
                <a:solidFill>
                  <a:schemeClr val="bg1"/>
                </a:solidFill>
              </a:rPr>
              <a:t> 유입을 확대해 광고 효율 개선 및 </a:t>
            </a:r>
            <a:r>
              <a:rPr lang="en-US" altLang="ko-KR" sz="1000" spc="-30" dirty="0">
                <a:solidFill>
                  <a:schemeClr val="bg1"/>
                </a:solidFill>
              </a:rPr>
              <a:t>CAC </a:t>
            </a:r>
            <a:r>
              <a:rPr lang="ko-KR" altLang="en-US" sz="1000" spc="-30" dirty="0">
                <a:solidFill>
                  <a:schemeClr val="bg1"/>
                </a:solidFill>
              </a:rPr>
              <a:t>지속 감소 가능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96EA46-4438-1640-E02B-7728A0986426}"/>
              </a:ext>
            </a:extLst>
          </p:cNvPr>
          <p:cNvSpPr txBox="1"/>
          <p:nvPr/>
        </p:nvSpPr>
        <p:spPr>
          <a:xfrm>
            <a:off x="1641330" y="4801998"/>
            <a:ext cx="3203719" cy="654025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유입</a:t>
            </a:r>
            <a:r>
              <a:rPr lang="en-US" altLang="ko-KR" sz="1000" spc="-30" dirty="0">
                <a:solidFill>
                  <a:schemeClr val="bg1"/>
                </a:solidFill>
              </a:rPr>
              <a:t>·</a:t>
            </a:r>
            <a:r>
              <a:rPr lang="ko-KR" altLang="en-US" sz="1000" spc="-30" dirty="0">
                <a:solidFill>
                  <a:schemeClr val="bg1"/>
                </a:solidFill>
              </a:rPr>
              <a:t>전환 등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퍼널</a:t>
            </a:r>
            <a:r>
              <a:rPr lang="ko-KR" altLang="en-US" sz="1000" spc="-30" dirty="0">
                <a:solidFill>
                  <a:schemeClr val="bg1"/>
                </a:solidFill>
              </a:rPr>
              <a:t> 성과 개선 효과가 실적에 바로 반영되며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결제 후 익월 카드사 정산으로 빠른 현금 회수 가능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고정비가 낮고 변동비 중심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(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강사료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·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광고비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)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의 구조로 운전자본 부담이 작으며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비용 구조가 명확해 현금흐름 예측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·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통제가 용이</a:t>
            </a:r>
            <a:endParaRPr lang="en-US" altLang="ko-KR" sz="1000" spc="-30" dirty="0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52DCAC-8A5B-E0BE-9BD6-5AD7A620F88A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자본 부담을 최소화한 효율적 운영 구조를 통해 우수한 </a:t>
            </a:r>
            <a:r>
              <a:rPr lang="ko-KR" altLang="en-US" sz="1400" b="1" dirty="0" err="1">
                <a:solidFill>
                  <a:srgbClr val="3D3D3D"/>
                </a:solidFill>
              </a:rPr>
              <a:t>현금창출력을</a:t>
            </a:r>
            <a:r>
              <a:rPr lang="ko-KR" altLang="en-US" sz="1400" b="1" dirty="0">
                <a:solidFill>
                  <a:srgbClr val="3D3D3D"/>
                </a:solidFill>
              </a:rPr>
              <a:t> 갖추고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2025</a:t>
            </a:r>
            <a:r>
              <a:rPr lang="ko-KR" altLang="en-US" sz="1400" b="1" dirty="0">
                <a:solidFill>
                  <a:srgbClr val="3D3D3D"/>
                </a:solidFill>
              </a:rPr>
              <a:t>년 상반기 기준 </a:t>
            </a:r>
            <a:r>
              <a:rPr lang="en-US" altLang="ko-KR" sz="1400" b="1" dirty="0">
                <a:solidFill>
                  <a:srgbClr val="3D3D3D"/>
                </a:solidFill>
              </a:rPr>
              <a:t>71.5%</a:t>
            </a:r>
            <a:r>
              <a:rPr lang="ko-KR" altLang="en-US" sz="1400" b="1" dirty="0">
                <a:solidFill>
                  <a:srgbClr val="3D3D3D"/>
                </a:solidFill>
              </a:rPr>
              <a:t>에 달하는 높은 </a:t>
            </a:r>
            <a:r>
              <a:rPr lang="en-US" altLang="ko-KR" sz="1400" b="1" dirty="0">
                <a:solidFill>
                  <a:srgbClr val="3D3D3D"/>
                </a:solidFill>
              </a:rPr>
              <a:t>FCF Conversion</a:t>
            </a:r>
            <a:r>
              <a:rPr lang="ko-KR" altLang="en-US" sz="1400" b="1" dirty="0">
                <a:solidFill>
                  <a:srgbClr val="3D3D3D"/>
                </a:solidFill>
              </a:rPr>
              <a:t>을 바탕으로 지속 가능한 성장 기반을 강화하고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453400-F029-FB6B-8AD1-ECE8A95DEABA}"/>
              </a:ext>
            </a:extLst>
          </p:cNvPr>
          <p:cNvSpPr txBox="1"/>
          <p:nvPr/>
        </p:nvSpPr>
        <p:spPr>
          <a:xfrm rot="16200000">
            <a:off x="73583" y="3794462"/>
            <a:ext cx="920125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3D3D3D"/>
                </a:solidFill>
              </a:rPr>
              <a:t>Operation Flow</a:t>
            </a:r>
            <a:endParaRPr lang="ko-KR" altLang="en-US" sz="1000" b="1" dirty="0">
              <a:solidFill>
                <a:srgbClr val="3D3D3D"/>
              </a:solidFill>
            </a:endParaRPr>
          </a:p>
        </p:txBody>
      </p:sp>
      <p:grpSp>
        <p:nvGrpSpPr>
          <p:cNvPr id="69" name="그룹 51">
            <a:extLst>
              <a:ext uri="{FF2B5EF4-FFF2-40B4-BE49-F238E27FC236}">
                <a16:creationId xmlns:a16="http://schemas.microsoft.com/office/drawing/2014/main" id="{3B3A6259-DB7B-7364-A24A-8CE53E47DD30}"/>
              </a:ext>
            </a:extLst>
          </p:cNvPr>
          <p:cNvGrpSpPr/>
          <p:nvPr/>
        </p:nvGrpSpPr>
        <p:grpSpPr>
          <a:xfrm rot="16200000">
            <a:off x="-1163927" y="3778228"/>
            <a:ext cx="3571964" cy="108002"/>
            <a:chOff x="-433285" y="3961693"/>
            <a:chExt cx="2059380" cy="108002"/>
          </a:xfrm>
        </p:grpSpPr>
        <p:sp>
          <p:nvSpPr>
            <p:cNvPr id="70" name="직사각형 52">
              <a:extLst>
                <a:ext uri="{FF2B5EF4-FFF2-40B4-BE49-F238E27FC236}">
                  <a16:creationId xmlns:a16="http://schemas.microsoft.com/office/drawing/2014/main" id="{638C883F-537C-F850-91AC-F196D9CB4221}"/>
                </a:ext>
              </a:extLst>
            </p:cNvPr>
            <p:cNvSpPr/>
            <p:nvPr/>
          </p:nvSpPr>
          <p:spPr>
            <a:xfrm>
              <a:off x="-433285" y="3961695"/>
              <a:ext cx="20755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53">
              <a:extLst>
                <a:ext uri="{FF2B5EF4-FFF2-40B4-BE49-F238E27FC236}">
                  <a16:creationId xmlns:a16="http://schemas.microsoft.com/office/drawing/2014/main" id="{23554B62-7D58-00CC-8EE5-9154C9A62484}"/>
                </a:ext>
              </a:extLst>
            </p:cNvPr>
            <p:cNvSpPr/>
            <p:nvPr/>
          </p:nvSpPr>
          <p:spPr>
            <a:xfrm>
              <a:off x="1605340" y="3961693"/>
              <a:ext cx="20755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직선 연결선 54">
              <a:extLst>
                <a:ext uri="{FF2B5EF4-FFF2-40B4-BE49-F238E27FC236}">
                  <a16:creationId xmlns:a16="http://schemas.microsoft.com/office/drawing/2014/main" id="{7AB0F127-D3F7-4E54-BBC0-143FA91A7214}"/>
                </a:ext>
              </a:extLst>
            </p:cNvPr>
            <p:cNvCxnSpPr>
              <a:cxnSpLocks/>
              <a:stCxn id="70" idx="3"/>
              <a:endCxn id="71" idx="1"/>
            </p:cNvCxnSpPr>
            <p:nvPr/>
          </p:nvCxnSpPr>
          <p:spPr>
            <a:xfrm rot="5400000" flipH="1" flipV="1">
              <a:off x="596404" y="3006759"/>
              <a:ext cx="2" cy="201787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차트 7">
                <a:extLst>
                  <a:ext uri="{FF2B5EF4-FFF2-40B4-BE49-F238E27FC236}">
                    <a16:creationId xmlns:a16="http://schemas.microsoft.com/office/drawing/2014/main" id="{08A485F8-7AE9-6B64-1BB3-ADB3EA84864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63143962"/>
                  </p:ext>
                </p:extLst>
              </p:nvPr>
            </p:nvGraphicFramePr>
            <p:xfrm>
              <a:off x="5061000" y="1985971"/>
              <a:ext cx="4392000" cy="378300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2"/>
              </a:graphicData>
            </a:graphic>
          </p:graphicFrame>
        </mc:Choice>
        <mc:Fallback xmlns="">
          <p:pic>
            <p:nvPicPr>
              <p:cNvPr id="8" name="차트 7">
                <a:extLst>
                  <a:ext uri="{FF2B5EF4-FFF2-40B4-BE49-F238E27FC236}">
                    <a16:creationId xmlns:a16="http://schemas.microsoft.com/office/drawing/2014/main" id="{08A485F8-7AE9-6B64-1BB3-ADB3EA8486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61000" y="1985971"/>
                <a:ext cx="4392000" cy="3783003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DDCF853-760D-872D-E844-5529F02FD0C9}"/>
              </a:ext>
            </a:extLst>
          </p:cNvPr>
          <p:cNvSpPr txBox="1"/>
          <p:nvPr/>
        </p:nvSpPr>
        <p:spPr>
          <a:xfrm>
            <a:off x="7685920" y="1780991"/>
            <a:ext cx="1767078" cy="126445"/>
          </a:xfrm>
          <a:prstGeom prst="rect">
            <a:avLst/>
          </a:prstGeom>
          <a:noFill/>
        </p:spPr>
        <p:txBody>
          <a:bodyPr wrap="non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억원</a:t>
            </a:r>
            <a:r>
              <a:rPr lang="en-US" altLang="ko-KR" sz="800" dirty="0">
                <a:solidFill>
                  <a:schemeClr val="bg1"/>
                </a:solidFill>
              </a:rPr>
              <a:t>, %, 2025</a:t>
            </a:r>
            <a:r>
              <a:rPr lang="ko-KR" altLang="en-US" sz="800" dirty="0">
                <a:solidFill>
                  <a:schemeClr val="bg1"/>
                </a:solidFill>
              </a:rPr>
              <a:t>년 상반기 연결 기준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8DCFC9-A3F0-00F1-A8C3-131C46C61A0E}"/>
              </a:ext>
            </a:extLst>
          </p:cNvPr>
          <p:cNvSpPr txBox="1"/>
          <p:nvPr/>
        </p:nvSpPr>
        <p:spPr>
          <a:xfrm>
            <a:off x="6972429" y="3652863"/>
            <a:ext cx="673312" cy="436388"/>
          </a:xfrm>
          <a:prstGeom prst="rect">
            <a:avLst/>
          </a:prstGeom>
          <a:solidFill>
            <a:srgbClr val="5CCFA0"/>
          </a:solidFill>
          <a:ln>
            <a:noFill/>
            <a:prstDash val="dash"/>
          </a:ln>
        </p:spPr>
        <p:txBody>
          <a:bodyPr wrap="none" lIns="54000" tIns="54000" rIns="54000" bIns="5400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</a:rPr>
              <a:t>EBITDA</a:t>
            </a:r>
            <a:r>
              <a:rPr lang="ko-KR" altLang="en-US" sz="1000" b="1" dirty="0">
                <a:solidFill>
                  <a:schemeClr val="bg1"/>
                </a:solidFill>
              </a:rPr>
              <a:t>율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</a:rPr>
              <a:t>27.4%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F1C0107-B584-5988-395E-FFE24F308FF1}"/>
              </a:ext>
            </a:extLst>
          </p:cNvPr>
          <p:cNvCxnSpPr>
            <a:stCxn id="27" idx="2"/>
          </p:cNvCxnSpPr>
          <p:nvPr/>
        </p:nvCxnSpPr>
        <p:spPr>
          <a:xfrm>
            <a:off x="7309085" y="4089251"/>
            <a:ext cx="0" cy="248083"/>
          </a:xfrm>
          <a:prstGeom prst="line">
            <a:avLst/>
          </a:prstGeom>
          <a:ln w="19050">
            <a:solidFill>
              <a:srgbClr val="5CCFA0"/>
            </a:solidFill>
            <a:prstDash val="solid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6E16086-EB0D-40ED-3E91-9A6505DE1705}"/>
              </a:ext>
            </a:extLst>
          </p:cNvPr>
          <p:cNvSpPr txBox="1"/>
          <p:nvPr/>
        </p:nvSpPr>
        <p:spPr>
          <a:xfrm>
            <a:off x="8312910" y="3652863"/>
            <a:ext cx="1070857" cy="436388"/>
          </a:xfrm>
          <a:prstGeom prst="rect">
            <a:avLst/>
          </a:prstGeom>
          <a:solidFill>
            <a:srgbClr val="5CCFA0"/>
          </a:solidFill>
          <a:ln>
            <a:noFill/>
            <a:prstDash val="dash"/>
          </a:ln>
        </p:spPr>
        <p:txBody>
          <a:bodyPr wrap="none" lIns="54000" tIns="54000" rIns="54000" bIns="5400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</a:rPr>
              <a:t>FCF Conversion</a:t>
            </a:r>
          </a:p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</a:rPr>
              <a:t>71.5%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9FA854A-F607-95BD-400A-482177433532}"/>
              </a:ext>
            </a:extLst>
          </p:cNvPr>
          <p:cNvCxnSpPr>
            <a:cxnSpLocks/>
          </p:cNvCxnSpPr>
          <p:nvPr/>
        </p:nvCxnSpPr>
        <p:spPr>
          <a:xfrm flipH="1">
            <a:off x="9076939" y="4089251"/>
            <a:ext cx="1" cy="441689"/>
          </a:xfrm>
          <a:prstGeom prst="line">
            <a:avLst/>
          </a:prstGeom>
          <a:ln w="19050">
            <a:solidFill>
              <a:srgbClr val="5CCFA0"/>
            </a:solidFill>
            <a:prstDash val="solid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688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D3D5-D94C-CB9C-781B-4B5E4460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948F5B7-154F-E317-01C2-AB344F9F2C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en-US" altLang="ko-KR" b="1" dirty="0"/>
              <a:t>SI </a:t>
            </a:r>
            <a:r>
              <a:rPr lang="ko-KR" altLang="en-US" b="1" dirty="0"/>
              <a:t>사업 확장으로</a:t>
            </a:r>
            <a:r>
              <a:rPr lang="en-US" altLang="ko-KR" b="1" dirty="0"/>
              <a:t> </a:t>
            </a:r>
            <a:r>
              <a:rPr lang="ko-KR" altLang="en-US" b="1" dirty="0"/>
              <a:t>생태계를 재편하는 </a:t>
            </a:r>
            <a:r>
              <a:rPr lang="en-US" altLang="ko-KR" b="1" dirty="0"/>
              <a:t>Game Changer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DDD641-5ECF-E45E-7A8A-8C675D4BEC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FC1FE-D3D0-0A85-41BA-74EE701CDE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9FB19C-1971-B20C-E5E0-30149685896A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05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A3E4B5-2714-D485-8950-7898BDFA2D77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 자사 플랫폼만을 통한 성장 이상의 압도적 시장 지배력 확보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생태계 구축을 목표로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개별 </a:t>
            </a:r>
            <a:r>
              <a:rPr lang="ko-KR" altLang="en-US" sz="1400" b="1" dirty="0" err="1">
                <a:solidFill>
                  <a:srgbClr val="3D3D3D"/>
                </a:solidFill>
              </a:rPr>
              <a:t>크리에이터들이</a:t>
            </a:r>
            <a:r>
              <a:rPr lang="ko-KR" altLang="en-US" sz="1400" b="1" dirty="0">
                <a:solidFill>
                  <a:srgbClr val="3D3D3D"/>
                </a:solidFill>
              </a:rPr>
              <a:t> </a:t>
            </a: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의 성공 공식을 따라 독립적 지식 비즈니스 플랫폼을 구축 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 성장시키도록 종합 서비스를 제공하는 </a:t>
            </a:r>
            <a:r>
              <a:rPr lang="en-US" altLang="ko-KR" sz="1400" b="1" dirty="0">
                <a:solidFill>
                  <a:srgbClr val="3D3D3D"/>
                </a:solidFill>
              </a:rPr>
              <a:t>SI </a:t>
            </a:r>
            <a:r>
              <a:rPr lang="ko-KR" altLang="en-US" sz="1400" b="1" dirty="0">
                <a:solidFill>
                  <a:srgbClr val="3D3D3D"/>
                </a:solidFill>
              </a:rPr>
              <a:t>사업을 전개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확장 중에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6A6795-F279-1E05-8CCE-CFC58A6E2C62}"/>
              </a:ext>
            </a:extLst>
          </p:cNvPr>
          <p:cNvSpPr/>
          <p:nvPr/>
        </p:nvSpPr>
        <p:spPr>
          <a:xfrm>
            <a:off x="453000" y="1700213"/>
            <a:ext cx="8999438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지식 비즈니스 플랫폼 </a:t>
            </a:r>
            <a:r>
              <a:rPr lang="en-US" altLang="ko-KR" sz="1200" b="1" dirty="0">
                <a:solidFill>
                  <a:schemeClr val="bg1"/>
                </a:solidFill>
              </a:rPr>
              <a:t>SI </a:t>
            </a:r>
            <a:r>
              <a:rPr lang="ko-KR" altLang="en-US" sz="1200" b="1" dirty="0">
                <a:solidFill>
                  <a:schemeClr val="bg1"/>
                </a:solidFill>
              </a:rPr>
              <a:t>사업을 통한 국내 성인교육 시장 지배 전략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83CC6D4-6B5A-BC95-8B90-DBD7646A10CE}"/>
              </a:ext>
            </a:extLst>
          </p:cNvPr>
          <p:cNvSpPr/>
          <p:nvPr/>
        </p:nvSpPr>
        <p:spPr>
          <a:xfrm>
            <a:off x="452438" y="2283272"/>
            <a:ext cx="2016000" cy="2952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9F6E978-F4A9-7459-561B-434C830A06D1}"/>
              </a:ext>
            </a:extLst>
          </p:cNvPr>
          <p:cNvSpPr/>
          <p:nvPr/>
        </p:nvSpPr>
        <p:spPr>
          <a:xfrm>
            <a:off x="2684720" y="2283272"/>
            <a:ext cx="4536000" cy="2952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9732002-5EFD-2719-5EE6-4CC100C50EEF}"/>
              </a:ext>
            </a:extLst>
          </p:cNvPr>
          <p:cNvSpPr/>
          <p:nvPr/>
        </p:nvSpPr>
        <p:spPr>
          <a:xfrm>
            <a:off x="7437000" y="2283272"/>
            <a:ext cx="2016000" cy="2952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253A3E74-04E1-1D68-6C6A-DF0600FA201F}"/>
              </a:ext>
            </a:extLst>
          </p:cNvPr>
          <p:cNvSpPr/>
          <p:nvPr/>
        </p:nvSpPr>
        <p:spPr>
          <a:xfrm>
            <a:off x="2360579" y="3507272"/>
            <a:ext cx="432000" cy="4320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F08612-3738-DCE0-6401-0D60421D6758}"/>
              </a:ext>
            </a:extLst>
          </p:cNvPr>
          <p:cNvSpPr txBox="1"/>
          <p:nvPr/>
        </p:nvSpPr>
        <p:spPr>
          <a:xfrm>
            <a:off x="3914775" y="2411744"/>
            <a:ext cx="2075889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</a:rPr>
              <a:t>TITAN</a:t>
            </a:r>
            <a:r>
              <a:rPr lang="ko-KR" altLang="en-US" sz="1000" b="1" dirty="0">
                <a:solidFill>
                  <a:schemeClr val="bg1"/>
                </a:solidFill>
              </a:rPr>
              <a:t>만의 지식 비즈니스 플랫폼 </a:t>
            </a:r>
            <a:r>
              <a:rPr lang="en-US" altLang="ko-KR" sz="1000" b="1" dirty="0">
                <a:solidFill>
                  <a:schemeClr val="bg1"/>
                </a:solidFill>
              </a:rPr>
              <a:t>SI </a:t>
            </a:r>
            <a:r>
              <a:rPr lang="ko-KR" altLang="en-US" sz="1000" b="1" dirty="0">
                <a:solidFill>
                  <a:schemeClr val="bg1"/>
                </a:solidFill>
              </a:rPr>
              <a:t>사업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7180E355-8BBE-82F0-6D17-6F96C16E3947}"/>
              </a:ext>
            </a:extLst>
          </p:cNvPr>
          <p:cNvSpPr/>
          <p:nvPr/>
        </p:nvSpPr>
        <p:spPr>
          <a:xfrm>
            <a:off x="7112861" y="3507272"/>
            <a:ext cx="432000" cy="4320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62" name="같음 기호 61">
            <a:extLst>
              <a:ext uri="{FF2B5EF4-FFF2-40B4-BE49-F238E27FC236}">
                <a16:creationId xmlns:a16="http://schemas.microsoft.com/office/drawing/2014/main" id="{A3EECFDE-BF31-0EEE-DE64-80D521E7AC58}"/>
              </a:ext>
            </a:extLst>
          </p:cNvPr>
          <p:cNvSpPr/>
          <p:nvPr/>
        </p:nvSpPr>
        <p:spPr>
          <a:xfrm>
            <a:off x="7148861" y="3543272"/>
            <a:ext cx="360000" cy="360000"/>
          </a:xfrm>
          <a:prstGeom prst="mathEqual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pic>
        <p:nvPicPr>
          <p:cNvPr id="64" name="그래픽 63">
            <a:extLst>
              <a:ext uri="{FF2B5EF4-FFF2-40B4-BE49-F238E27FC236}">
                <a16:creationId xmlns:a16="http://schemas.microsoft.com/office/drawing/2014/main" id="{911EFB30-0B57-FAAB-8C2E-9A519F20E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4438" y="2484445"/>
            <a:ext cx="432000" cy="432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DEC3BFE-2179-67DE-77CA-0092AEEA00F9}"/>
              </a:ext>
            </a:extLst>
          </p:cNvPr>
          <p:cNvSpPr txBox="1"/>
          <p:nvPr/>
        </p:nvSpPr>
        <p:spPr>
          <a:xfrm>
            <a:off x="453000" y="3121968"/>
            <a:ext cx="2015438" cy="781304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spc="-30" dirty="0">
                <a:solidFill>
                  <a:srgbClr val="11244A"/>
                </a:solidFill>
              </a:rPr>
              <a:t>크리에이터 독립 플랫폼 수요</a:t>
            </a:r>
            <a:endParaRPr lang="en-US" altLang="ko-KR" sz="1000" b="1" spc="-30" dirty="0">
              <a:solidFill>
                <a:srgbClr val="11244A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독립 운영 통한 퍼스널 브랜딩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자율적 강의 콘텐츠 기획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구성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기존 콘텐츠 연계 수익 극대화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77552590-E6B3-D4F6-2F35-DEB2232E094D}"/>
              </a:ext>
            </a:extLst>
          </p:cNvPr>
          <p:cNvSpPr/>
          <p:nvPr/>
        </p:nvSpPr>
        <p:spPr>
          <a:xfrm>
            <a:off x="2432579" y="3579272"/>
            <a:ext cx="288000" cy="28800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BD97F0-FBFB-EB99-4220-FE21DF821AAE}"/>
              </a:ext>
            </a:extLst>
          </p:cNvPr>
          <p:cNvSpPr txBox="1"/>
          <p:nvPr/>
        </p:nvSpPr>
        <p:spPr>
          <a:xfrm>
            <a:off x="453000" y="4219720"/>
            <a:ext cx="2015438" cy="781304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spc="-30" dirty="0">
                <a:solidFill>
                  <a:srgbClr val="11244A"/>
                </a:solidFill>
              </a:rPr>
              <a:t>크리에이터 독립 플랫폼 한계</a:t>
            </a:r>
            <a:endParaRPr lang="en-US" altLang="ko-KR" sz="1000" b="1" spc="-30" dirty="0">
              <a:solidFill>
                <a:srgbClr val="11244A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개인 단위의 브랜딩 확장성 제한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전문적 강의 기획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구성 역량 필요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IT </a:t>
            </a:r>
            <a:r>
              <a:rPr lang="ko-KR" altLang="en-US" sz="1000" spc="-30" dirty="0">
                <a:solidFill>
                  <a:srgbClr val="3D3D3D"/>
                </a:solidFill>
              </a:rPr>
              <a:t>플랫폼 운영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관리 능력 부족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E650D2-B33E-7C6C-D062-3CA9527D11DA}"/>
              </a:ext>
            </a:extLst>
          </p:cNvPr>
          <p:cNvSpPr txBox="1"/>
          <p:nvPr/>
        </p:nvSpPr>
        <p:spPr>
          <a:xfrm>
            <a:off x="1374958" y="3982468"/>
            <a:ext cx="171522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000" b="1" i="1">
                <a:solidFill>
                  <a:srgbClr val="3D3D3D"/>
                </a:solidFill>
              </a:rPr>
              <a:t>VS</a:t>
            </a:r>
            <a:endParaRPr lang="ko-KR" altLang="en-US" sz="1000" b="1" i="1" dirty="0">
              <a:solidFill>
                <a:srgbClr val="3D3D3D"/>
              </a:solidFill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75D05EF8-D4BC-FC52-B062-1E3159DEE53A}"/>
              </a:ext>
            </a:extLst>
          </p:cNvPr>
          <p:cNvSpPr/>
          <p:nvPr/>
        </p:nvSpPr>
        <p:spPr>
          <a:xfrm>
            <a:off x="2972720" y="2751275"/>
            <a:ext cx="2160000" cy="21600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1C28AD3-0B11-0D69-1DA4-26C2C0694EB2}"/>
              </a:ext>
            </a:extLst>
          </p:cNvPr>
          <p:cNvSpPr/>
          <p:nvPr/>
        </p:nvSpPr>
        <p:spPr>
          <a:xfrm>
            <a:off x="4772720" y="2751275"/>
            <a:ext cx="2160000" cy="21600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5015F6-B582-A0CF-8100-E120D4090D85}"/>
              </a:ext>
            </a:extLst>
          </p:cNvPr>
          <p:cNvSpPr txBox="1"/>
          <p:nvPr/>
        </p:nvSpPr>
        <p:spPr>
          <a:xfrm>
            <a:off x="3152720" y="3450677"/>
            <a:ext cx="1656001" cy="1065997"/>
          </a:xfrm>
          <a:prstGeom prst="rect">
            <a:avLst/>
          </a:prstGeom>
          <a:noFill/>
        </p:spPr>
        <p:txBody>
          <a:bodyPr wrap="square" lIns="0" tIns="0" rIns="36000" bIns="0" rtlCol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ko-KR" altLang="en-US" sz="1000" b="1" spc="-30" dirty="0">
                <a:solidFill>
                  <a:schemeClr val="bg1"/>
                </a:solidFill>
              </a:rPr>
              <a:t>플랫폼 구축 </a:t>
            </a:r>
            <a:r>
              <a:rPr lang="en-US" altLang="ko-KR" sz="1000" b="1" spc="-30" dirty="0">
                <a:solidFill>
                  <a:schemeClr val="bg1"/>
                </a:solidFill>
              </a:rPr>
              <a:t>· </a:t>
            </a:r>
            <a:r>
              <a:rPr lang="ko-KR" altLang="en-US" sz="1000" b="1" spc="-30" dirty="0">
                <a:solidFill>
                  <a:schemeClr val="bg1"/>
                </a:solidFill>
              </a:rPr>
              <a:t>관리 서비스</a:t>
            </a:r>
            <a:endParaRPr lang="en-US" altLang="ko-KR" sz="1000" b="1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플랫폼</a:t>
            </a:r>
            <a:r>
              <a:rPr lang="en-US" altLang="ko-KR" sz="1000" spc="-30" dirty="0">
                <a:solidFill>
                  <a:schemeClr val="bg1"/>
                </a:solidFill>
              </a:rPr>
              <a:t> </a:t>
            </a:r>
            <a:r>
              <a:rPr lang="ko-KR" altLang="en-US" sz="1000" spc="-30" dirty="0">
                <a:solidFill>
                  <a:schemeClr val="bg1"/>
                </a:solidFill>
              </a:rPr>
              <a:t>제작 및 유지보수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맞춤형 </a:t>
            </a:r>
            <a:r>
              <a:rPr lang="en-US" altLang="ko-KR" sz="1000" spc="-30" dirty="0">
                <a:solidFill>
                  <a:schemeClr val="bg1"/>
                </a:solidFill>
              </a:rPr>
              <a:t>LMS </a:t>
            </a:r>
            <a:r>
              <a:rPr lang="ko-KR" altLang="en-US" sz="1000" spc="-30" dirty="0">
                <a:solidFill>
                  <a:schemeClr val="bg1"/>
                </a:solidFill>
              </a:rPr>
              <a:t>시스템 구축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chemeClr val="bg1"/>
                </a:solidFill>
              </a:rPr>
              <a:t>PG</a:t>
            </a:r>
            <a:r>
              <a:rPr lang="ko-KR" altLang="en-US" sz="1000" spc="-30" dirty="0">
                <a:solidFill>
                  <a:schemeClr val="bg1"/>
                </a:solidFill>
              </a:rPr>
              <a:t>사 결제 </a:t>
            </a:r>
            <a:r>
              <a:rPr lang="en-US" altLang="ko-KR" sz="1000" spc="-30" dirty="0">
                <a:solidFill>
                  <a:schemeClr val="bg1"/>
                </a:solidFill>
              </a:rPr>
              <a:t>· </a:t>
            </a:r>
            <a:r>
              <a:rPr lang="ko-KR" altLang="en-US" sz="1000" spc="-30" dirty="0">
                <a:solidFill>
                  <a:schemeClr val="bg1"/>
                </a:solidFill>
              </a:rPr>
              <a:t>정산 연계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클라우드 인프라 </a:t>
            </a:r>
            <a:r>
              <a:rPr lang="en-US" altLang="ko-KR" sz="1000" spc="-30" dirty="0">
                <a:solidFill>
                  <a:schemeClr val="bg1"/>
                </a:solidFill>
              </a:rPr>
              <a:t>· </a:t>
            </a:r>
            <a:r>
              <a:rPr lang="ko-KR" altLang="en-US" sz="1000" spc="-30" dirty="0">
                <a:solidFill>
                  <a:schemeClr val="bg1"/>
                </a:solidFill>
              </a:rPr>
              <a:t>보안  관리</a:t>
            </a:r>
            <a:endParaRPr lang="en-US" altLang="ko-KR" sz="1000" spc="-30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C7F803-7FAB-250B-2D18-713A243A59C4}"/>
              </a:ext>
            </a:extLst>
          </p:cNvPr>
          <p:cNvSpPr txBox="1"/>
          <p:nvPr/>
        </p:nvSpPr>
        <p:spPr>
          <a:xfrm>
            <a:off x="5223902" y="3450677"/>
            <a:ext cx="1621033" cy="1065997"/>
          </a:xfrm>
          <a:prstGeom prst="rect">
            <a:avLst/>
          </a:prstGeom>
          <a:noFill/>
        </p:spPr>
        <p:txBody>
          <a:bodyPr wrap="square" lIns="0" tIns="0" rIns="36000" bIns="0" rtlCol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ko-KR" altLang="en-US" sz="1000" b="1" spc="-30" dirty="0">
                <a:solidFill>
                  <a:schemeClr val="bg1"/>
                </a:solidFill>
              </a:rPr>
              <a:t>마케팅 </a:t>
            </a:r>
            <a:r>
              <a:rPr lang="en-US" altLang="ko-KR" sz="1000" b="1" spc="-30" dirty="0">
                <a:solidFill>
                  <a:schemeClr val="bg1"/>
                </a:solidFill>
              </a:rPr>
              <a:t>· </a:t>
            </a:r>
            <a:r>
              <a:rPr lang="ko-KR" altLang="en-US" sz="1000" b="1" spc="-30" dirty="0">
                <a:solidFill>
                  <a:schemeClr val="bg1"/>
                </a:solidFill>
              </a:rPr>
              <a:t>브랜딩 지원 서비스</a:t>
            </a:r>
            <a:endParaRPr lang="en-US" altLang="ko-KR" sz="1000" b="1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강사 퍼스널 브랜딩 지원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세일즈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퍼널</a:t>
            </a:r>
            <a:r>
              <a:rPr lang="ko-KR" altLang="en-US" sz="1000" spc="-30" dirty="0">
                <a:solidFill>
                  <a:schemeClr val="bg1"/>
                </a:solidFill>
              </a:rPr>
              <a:t> 기획 </a:t>
            </a:r>
            <a:r>
              <a:rPr lang="en-US" altLang="ko-KR" sz="1000" spc="-30" dirty="0">
                <a:solidFill>
                  <a:schemeClr val="bg1"/>
                </a:solidFill>
              </a:rPr>
              <a:t>· </a:t>
            </a:r>
            <a:r>
              <a:rPr lang="ko-KR" altLang="en-US" sz="1000" spc="-30" dirty="0">
                <a:solidFill>
                  <a:schemeClr val="bg1"/>
                </a:solidFill>
              </a:rPr>
              <a:t>최적화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온라인 </a:t>
            </a:r>
            <a:r>
              <a:rPr lang="en-US" altLang="ko-KR" sz="1000" spc="-30" dirty="0">
                <a:solidFill>
                  <a:schemeClr val="bg1"/>
                </a:solidFill>
              </a:rPr>
              <a:t>· </a:t>
            </a:r>
            <a:r>
              <a:rPr lang="ko-KR" altLang="en-US" sz="1000" spc="-30" dirty="0">
                <a:solidFill>
                  <a:schemeClr val="bg1"/>
                </a:solidFill>
              </a:rPr>
              <a:t>모바일 광고 대행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체계적 강의 기획 및 운영</a:t>
            </a:r>
            <a:endParaRPr lang="en-US" altLang="ko-KR" sz="1000" spc="-30" dirty="0">
              <a:solidFill>
                <a:schemeClr val="bg1"/>
              </a:solidFill>
            </a:endParaRPr>
          </a:p>
        </p:txBody>
      </p:sp>
      <p:pic>
        <p:nvPicPr>
          <p:cNvPr id="78" name="그래픽 77">
            <a:extLst>
              <a:ext uri="{FF2B5EF4-FFF2-40B4-BE49-F238E27FC236}">
                <a16:creationId xmlns:a16="http://schemas.microsoft.com/office/drawing/2014/main" id="{21CC6B4D-43F5-FEE4-2F58-B836CE026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000" y="2484445"/>
            <a:ext cx="432000" cy="432000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FC9784BD-6FA8-90AD-3D2A-69A2637D9F48}"/>
              </a:ext>
            </a:extLst>
          </p:cNvPr>
          <p:cNvSpPr txBox="1"/>
          <p:nvPr/>
        </p:nvSpPr>
        <p:spPr>
          <a:xfrm>
            <a:off x="7437000" y="3121968"/>
            <a:ext cx="2015438" cy="1573829"/>
          </a:xfrm>
          <a:prstGeom prst="rect">
            <a:avLst/>
          </a:prstGeom>
          <a:noFill/>
        </p:spPr>
        <p:txBody>
          <a:bodyPr wrap="square" lIns="72000" tIns="0" rIns="36000" bIns="0" rtlCol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en-US" altLang="ko-KR" sz="1000" b="1" spc="-30" dirty="0">
                <a:solidFill>
                  <a:schemeClr val="bg1"/>
                </a:solidFill>
              </a:rPr>
              <a:t>“Titan-Made”</a:t>
            </a: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ko-KR" altLang="en-US" sz="1000" b="1" spc="-30" dirty="0">
                <a:solidFill>
                  <a:schemeClr val="bg1"/>
                </a:solidFill>
              </a:rPr>
              <a:t>지식 비즈니스 플랫폼 생태계 구축</a:t>
            </a:r>
            <a:endParaRPr lang="en-US" altLang="ko-KR" sz="1000" b="1" spc="-30" dirty="0">
              <a:solidFill>
                <a:schemeClr val="bg1"/>
              </a:solidFill>
            </a:endParaRPr>
          </a:p>
          <a:p>
            <a:pPr marL="26670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000" spc="-30" dirty="0">
                <a:solidFill>
                  <a:schemeClr val="bg1"/>
                </a:solidFill>
              </a:rPr>
              <a:t>TITAN</a:t>
            </a:r>
            <a:r>
              <a:rPr lang="ko-KR" altLang="en-US" sz="1000" spc="-30" dirty="0">
                <a:solidFill>
                  <a:schemeClr val="bg1"/>
                </a:solidFill>
              </a:rPr>
              <a:t>의 성공 </a:t>
            </a:r>
            <a:r>
              <a:rPr lang="en-US" altLang="ko-KR" sz="1000" spc="-30" dirty="0">
                <a:solidFill>
                  <a:schemeClr val="bg1"/>
                </a:solidFill>
              </a:rPr>
              <a:t>DNA</a:t>
            </a:r>
            <a:r>
              <a:rPr lang="ko-KR" altLang="en-US" sz="1000" spc="-30" dirty="0">
                <a:solidFill>
                  <a:schemeClr val="bg1"/>
                </a:solidFill>
              </a:rPr>
              <a:t>를 이식한 다수의 플랫폼 런칭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26670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000" spc="-30" dirty="0">
                <a:solidFill>
                  <a:schemeClr val="bg1"/>
                </a:solidFill>
              </a:rPr>
              <a:t>N</a:t>
            </a:r>
            <a:r>
              <a:rPr lang="ko-KR" altLang="en-US" sz="1000" spc="-30" dirty="0" err="1">
                <a:solidFill>
                  <a:schemeClr val="bg1"/>
                </a:solidFill>
              </a:rPr>
              <a:t>잡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부업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투자 등 국내 수익화 지식 비즈니스 생태계 장악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26670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chemeClr val="bg1"/>
                </a:solidFill>
              </a:rPr>
              <a:t>압도적 시장 지위 활용한 플랫폼간 마케팅 </a:t>
            </a:r>
            <a:r>
              <a:rPr lang="en-US" altLang="ko-KR" sz="1000" spc="-30" dirty="0">
                <a:solidFill>
                  <a:schemeClr val="bg1"/>
                </a:solidFill>
              </a:rPr>
              <a:t>- </a:t>
            </a:r>
            <a:r>
              <a:rPr lang="ko-KR" altLang="en-US" sz="1000" spc="-30" dirty="0">
                <a:solidFill>
                  <a:schemeClr val="bg1"/>
                </a:solidFill>
              </a:rPr>
              <a:t>콘텐츠 시너지 극대화</a:t>
            </a:r>
            <a:endParaRPr lang="en-US" altLang="ko-KR" sz="1000" spc="-30" dirty="0">
              <a:solidFill>
                <a:schemeClr val="bg1"/>
              </a:solidFill>
            </a:endParaRPr>
          </a:p>
        </p:txBody>
      </p:sp>
      <p:pic>
        <p:nvPicPr>
          <p:cNvPr id="80" name="그래픽 79">
            <a:extLst>
              <a:ext uri="{FF2B5EF4-FFF2-40B4-BE49-F238E27FC236}">
                <a16:creationId xmlns:a16="http://schemas.microsoft.com/office/drawing/2014/main" id="{90088356-527C-8A5A-6B68-F391B02A72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3902" y="3072230"/>
            <a:ext cx="1296000" cy="224118"/>
          </a:xfrm>
          <a:prstGeom prst="rect">
            <a:avLst/>
          </a:prstGeom>
        </p:spPr>
      </p:pic>
      <p:grpSp>
        <p:nvGrpSpPr>
          <p:cNvPr id="81" name="그룹 80">
            <a:extLst>
              <a:ext uri="{FF2B5EF4-FFF2-40B4-BE49-F238E27FC236}">
                <a16:creationId xmlns:a16="http://schemas.microsoft.com/office/drawing/2014/main" id="{8A9B4083-B97D-7670-E76D-32DB80BB9405}"/>
              </a:ext>
            </a:extLst>
          </p:cNvPr>
          <p:cNvGrpSpPr>
            <a:grpSpLocks noChangeAspect="1"/>
          </p:cNvGrpSpPr>
          <p:nvPr/>
        </p:nvGrpSpPr>
        <p:grpSpPr>
          <a:xfrm>
            <a:off x="3486210" y="3008440"/>
            <a:ext cx="953020" cy="288000"/>
            <a:chOff x="2579869" y="3037522"/>
            <a:chExt cx="5279449" cy="1595438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91FA5F71-CFC1-3798-2C8A-536FE55F2158}"/>
                </a:ext>
              </a:extLst>
            </p:cNvPr>
            <p:cNvSpPr/>
            <p:nvPr/>
          </p:nvSpPr>
          <p:spPr>
            <a:xfrm rot="19916371">
              <a:off x="3030445" y="3594627"/>
              <a:ext cx="1023329" cy="628863"/>
            </a:xfrm>
            <a:prstGeom prst="rect">
              <a:avLst/>
            </a:prstGeom>
            <a:solidFill>
              <a:srgbClr val="E0F9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11DEF7E8-99AF-F77A-FA4A-F3439392F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79869" y="3037522"/>
              <a:ext cx="5279449" cy="15954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9773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0487-1802-5D22-6CF7-82EA23AEA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2DBBF7A-6418-4B17-B277-E65851B48B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en-US" altLang="ko-KR" b="1" dirty="0"/>
              <a:t>SI </a:t>
            </a:r>
            <a:r>
              <a:rPr lang="ko-KR" altLang="en-US" b="1" dirty="0"/>
              <a:t>사업 확장으로</a:t>
            </a:r>
            <a:r>
              <a:rPr lang="en-US" altLang="ko-KR" b="1" dirty="0"/>
              <a:t> </a:t>
            </a:r>
            <a:r>
              <a:rPr lang="ko-KR" altLang="en-US" b="1" dirty="0"/>
              <a:t>생태계를 재편하는 </a:t>
            </a:r>
            <a:r>
              <a:rPr lang="en-US" altLang="ko-KR" b="1" dirty="0"/>
              <a:t>Game Changer</a:t>
            </a:r>
            <a:r>
              <a:rPr lang="ko-KR" altLang="en-US" b="1" dirty="0"/>
              <a:t>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계속</a:t>
            </a:r>
            <a:r>
              <a:rPr lang="en-US" altLang="ko-KR" sz="1800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4B5C86-2857-9961-FB59-6D693C6418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</a:t>
            </a:r>
            <a:r>
              <a:rPr lang="ko-KR" altLang="en-US" dirty="0"/>
              <a:t> </a:t>
            </a:r>
            <a:r>
              <a:rPr lang="en-US" altLang="ko-KR" dirty="0"/>
              <a:t>1)</a:t>
            </a:r>
            <a:r>
              <a:rPr lang="ko-KR" altLang="en-US" dirty="0"/>
              <a:t> 유저 수</a:t>
            </a:r>
            <a:r>
              <a:rPr lang="en-US" altLang="ko-KR" dirty="0"/>
              <a:t>, </a:t>
            </a:r>
            <a:r>
              <a:rPr lang="ko-KR" altLang="en-US" dirty="0"/>
              <a:t>유료 전환율은 </a:t>
            </a: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 기준</a:t>
            </a:r>
            <a:r>
              <a:rPr lang="en-US" altLang="ko-KR" dirty="0"/>
              <a:t>, </a:t>
            </a:r>
            <a:r>
              <a:rPr lang="ko-KR" altLang="en-US" dirty="0"/>
              <a:t>누적 거래액은 </a:t>
            </a: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 기준임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98840-B268-A256-7B39-9AC68795AF1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7484D8-0749-DFB9-4D52-83158D442963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05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854C2-11C9-CDB7-1840-2B88345142AA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의 </a:t>
            </a:r>
            <a:r>
              <a:rPr lang="en-US" altLang="ko-KR" sz="1400" b="1" dirty="0">
                <a:solidFill>
                  <a:srgbClr val="3D3D3D"/>
                </a:solidFill>
              </a:rPr>
              <a:t>SI </a:t>
            </a:r>
            <a:r>
              <a:rPr lang="ko-KR" altLang="en-US" sz="1400" b="1" dirty="0">
                <a:solidFill>
                  <a:srgbClr val="3D3D3D"/>
                </a:solidFill>
              </a:rPr>
              <a:t>서비스는 단순 </a:t>
            </a:r>
            <a:r>
              <a:rPr lang="en-US" altLang="ko-KR" sz="1400" b="1" dirty="0">
                <a:solidFill>
                  <a:srgbClr val="3D3D3D"/>
                </a:solidFill>
              </a:rPr>
              <a:t>IT </a:t>
            </a:r>
            <a:r>
              <a:rPr lang="ko-KR" altLang="en-US" sz="1400" b="1" dirty="0">
                <a:solidFill>
                  <a:srgbClr val="3D3D3D"/>
                </a:solidFill>
              </a:rPr>
              <a:t>시스템 구축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운영관리를 제공하는 경쟁 서비스와 달리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플랫폼 성장에 핵심적인 강의 기획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구성</a:t>
            </a:r>
            <a:r>
              <a:rPr lang="en-US" altLang="ko-KR" sz="1400" b="1" dirty="0">
                <a:solidFill>
                  <a:srgbClr val="3D3D3D"/>
                </a:solidFill>
              </a:rPr>
              <a:t>,</a:t>
            </a:r>
            <a:r>
              <a:rPr lang="ko-KR" altLang="en-US" sz="1400" b="1" dirty="0">
                <a:solidFill>
                  <a:srgbClr val="3D3D3D"/>
                </a:solidFill>
              </a:rPr>
              <a:t> 브랜딩 및 마케팅을 포함하는 종합 서비스를 제공하여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런칭 후 단기간 내 </a:t>
            </a:r>
            <a:r>
              <a:rPr lang="en-US" altLang="ko-KR" sz="1400" b="1" dirty="0">
                <a:solidFill>
                  <a:srgbClr val="3D3D3D"/>
                </a:solidFill>
              </a:rPr>
              <a:t>11</a:t>
            </a:r>
            <a:r>
              <a:rPr lang="ko-KR" altLang="en-US" sz="1400" b="1" dirty="0">
                <a:solidFill>
                  <a:srgbClr val="3D3D3D"/>
                </a:solidFill>
              </a:rPr>
              <a:t>개 이상의 우수 </a:t>
            </a:r>
            <a:r>
              <a:rPr lang="en-US" altLang="ko-KR" sz="1400" b="1" dirty="0">
                <a:solidFill>
                  <a:srgbClr val="3D3D3D"/>
                </a:solidFill>
              </a:rPr>
              <a:t>Track Record</a:t>
            </a:r>
            <a:r>
              <a:rPr lang="ko-KR" altLang="en-US" sz="1400" b="1" dirty="0">
                <a:solidFill>
                  <a:srgbClr val="3D3D3D"/>
                </a:solidFill>
              </a:rPr>
              <a:t>를 확보하고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F9563E-ACE8-ACDD-592D-80CBC0435F01}"/>
              </a:ext>
            </a:extLst>
          </p:cNvPr>
          <p:cNvSpPr/>
          <p:nvPr/>
        </p:nvSpPr>
        <p:spPr>
          <a:xfrm>
            <a:off x="453000" y="1700213"/>
            <a:ext cx="504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주요 경쟁사 대비 </a:t>
            </a:r>
            <a:r>
              <a:rPr lang="en-US" altLang="ko-KR" sz="1200" b="1" dirty="0">
                <a:solidFill>
                  <a:schemeClr val="bg1"/>
                </a:solidFill>
              </a:rPr>
              <a:t>TITAN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SI </a:t>
            </a:r>
            <a:r>
              <a:rPr lang="ko-KR" altLang="en-US" sz="1200" b="1" dirty="0">
                <a:solidFill>
                  <a:schemeClr val="bg1"/>
                </a:solidFill>
              </a:rPr>
              <a:t>서비스 </a:t>
            </a:r>
            <a:r>
              <a:rPr lang="ko-KR" altLang="en-US" sz="1200" b="1" dirty="0" err="1">
                <a:solidFill>
                  <a:schemeClr val="bg1"/>
                </a:solidFill>
              </a:rPr>
              <a:t>차별점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7E51CC-9D21-D69A-D5A7-8F099380607A}"/>
              </a:ext>
            </a:extLst>
          </p:cNvPr>
          <p:cNvSpPr/>
          <p:nvPr/>
        </p:nvSpPr>
        <p:spPr>
          <a:xfrm>
            <a:off x="5672999" y="1700213"/>
            <a:ext cx="37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TITAN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SI </a:t>
            </a:r>
            <a:r>
              <a:rPr lang="ko-KR" altLang="en-US" sz="1200" b="1" dirty="0">
                <a:solidFill>
                  <a:schemeClr val="bg1"/>
                </a:solidFill>
              </a:rPr>
              <a:t>서비스 기반 런칭 플랫폼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1)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6B88B3F-ABCB-65A1-BEDB-2C351D784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48835"/>
              </p:ext>
            </p:extLst>
          </p:nvPr>
        </p:nvGraphicFramePr>
        <p:xfrm>
          <a:off x="453000" y="2096211"/>
          <a:ext cx="5040000" cy="36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371799624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2751792661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3669486446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1735473912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4292288574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804121128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3672091955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플랫폼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구축 </a:t>
                      </a:r>
                      <a:r>
                        <a:rPr lang="en-US" altLang="ko-KR" sz="1000" b="1" spc="-30" baseline="0" dirty="0">
                          <a:solidFill>
                            <a:srgbClr val="11244A"/>
                          </a:solidFill>
                        </a:rPr>
                        <a:t>· </a:t>
                      </a:r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운영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30" baseline="0" dirty="0">
                          <a:solidFill>
                            <a:srgbClr val="11244A"/>
                          </a:solidFill>
                        </a:rPr>
                        <a:t>PG </a:t>
                      </a:r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연동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결제 </a:t>
                      </a:r>
                      <a:r>
                        <a:rPr lang="en-US" altLang="ko-KR" sz="1000" b="1" spc="-30" baseline="0" dirty="0">
                          <a:solidFill>
                            <a:srgbClr val="11244A"/>
                          </a:solidFill>
                        </a:rPr>
                        <a:t>· </a:t>
                      </a:r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정산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강의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기획 </a:t>
                      </a:r>
                      <a:r>
                        <a:rPr lang="en-US" altLang="ko-KR" sz="1000" b="1" spc="-30" baseline="0" dirty="0">
                          <a:solidFill>
                            <a:srgbClr val="11244A"/>
                          </a:solidFill>
                        </a:rPr>
                        <a:t>· </a:t>
                      </a:r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구성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퍼스널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브랜딩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세일즈 </a:t>
                      </a:r>
                      <a:r>
                        <a:rPr lang="ko-KR" altLang="en-US" sz="1000" b="1" spc="-30" baseline="0" dirty="0" err="1">
                          <a:solidFill>
                            <a:srgbClr val="11244A"/>
                          </a:solidFill>
                        </a:rPr>
                        <a:t>퍼널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마케팅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사업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네트워킹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48776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대상회사 </a:t>
                      </a:r>
                      <a:r>
                        <a:rPr lang="en-US" altLang="ko-KR" sz="1000" b="1" spc="-30" baseline="0" dirty="0">
                          <a:solidFill>
                            <a:srgbClr val="3D3D3D"/>
                          </a:solidFill>
                        </a:rPr>
                        <a:t>SI </a:t>
                      </a:r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서비스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96746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 err="1">
                          <a:solidFill>
                            <a:srgbClr val="3D3D3D"/>
                          </a:solidFill>
                        </a:rPr>
                        <a:t>노코드</a:t>
                      </a:r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 </a:t>
                      </a:r>
                      <a:r>
                        <a:rPr lang="ko-KR" altLang="en-US" sz="1000" b="1" spc="-30" baseline="0" dirty="0" err="1">
                          <a:solidFill>
                            <a:srgbClr val="3D3D3D"/>
                          </a:solidFill>
                        </a:rPr>
                        <a:t>웹빌더</a:t>
                      </a:r>
                      <a:endParaRPr lang="en-US" altLang="ko-KR" sz="1000" b="1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카페</a:t>
                      </a:r>
                      <a:r>
                        <a:rPr lang="en-US" altLang="ko-KR" sz="800" b="0" spc="-30" baseline="0" dirty="0">
                          <a:solidFill>
                            <a:srgbClr val="3D3D3D"/>
                          </a:solidFill>
                        </a:rPr>
                        <a:t>24, </a:t>
                      </a:r>
                      <a:r>
                        <a:rPr lang="ko-KR" altLang="en-US" sz="800" b="0" spc="-30" baseline="0" dirty="0" err="1">
                          <a:solidFill>
                            <a:srgbClr val="3D3D3D"/>
                          </a:solidFill>
                        </a:rPr>
                        <a:t>아임웹</a:t>
                      </a:r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 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244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6378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강의 </a:t>
                      </a:r>
                      <a:r>
                        <a:rPr lang="ko-KR" altLang="en-US" sz="1000" b="1" spc="-30" baseline="0" dirty="0" err="1">
                          <a:solidFill>
                            <a:srgbClr val="3D3D3D"/>
                          </a:solidFill>
                        </a:rPr>
                        <a:t>웹빌더</a:t>
                      </a:r>
                      <a:endParaRPr lang="en-US" altLang="ko-KR" sz="1000" b="1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라이브클래스</a:t>
                      </a:r>
                      <a:r>
                        <a:rPr lang="en-US" altLang="ko-KR" sz="800" b="0" spc="-30" baseline="0" dirty="0">
                          <a:solidFill>
                            <a:srgbClr val="3D3D3D"/>
                          </a:solidFill>
                        </a:rPr>
                        <a:t>, </a:t>
                      </a:r>
                      <a:r>
                        <a:rPr lang="ko-KR" altLang="en-US" sz="800" b="0" spc="-30" baseline="0" dirty="0" err="1">
                          <a:solidFill>
                            <a:srgbClr val="3D3D3D"/>
                          </a:solidFill>
                        </a:rPr>
                        <a:t>퍼블</a:t>
                      </a:r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 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15998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강의 플랫폼</a:t>
                      </a:r>
                      <a:endParaRPr lang="en-US" altLang="ko-KR" sz="1000" b="1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클래스</a:t>
                      </a:r>
                      <a:r>
                        <a:rPr lang="en-US" altLang="ko-KR" sz="800" b="0" spc="-30" baseline="0" dirty="0">
                          <a:solidFill>
                            <a:srgbClr val="3D3D3D"/>
                          </a:solidFill>
                        </a:rPr>
                        <a:t>101, </a:t>
                      </a:r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월급쟁이부자들 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30568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해외 솔루션</a:t>
                      </a:r>
                      <a:endParaRPr lang="en-US" altLang="ko-KR" sz="1000" b="1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800" b="0" spc="-30" baseline="0" dirty="0" err="1">
                          <a:solidFill>
                            <a:srgbClr val="3D3D3D"/>
                          </a:solidFill>
                        </a:rPr>
                        <a:t>구글폼</a:t>
                      </a:r>
                      <a:r>
                        <a:rPr lang="en-US" altLang="ko-KR" sz="800" b="0" spc="-30" baseline="0" dirty="0">
                          <a:solidFill>
                            <a:srgbClr val="3D3D3D"/>
                          </a:solidFill>
                        </a:rPr>
                        <a:t>, </a:t>
                      </a:r>
                      <a:r>
                        <a:rPr lang="ko-KR" altLang="en-US" sz="800" b="0" spc="-30" baseline="0" dirty="0" err="1">
                          <a:solidFill>
                            <a:srgbClr val="3D3D3D"/>
                          </a:solidFill>
                        </a:rPr>
                        <a:t>카자비</a:t>
                      </a:r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 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525567"/>
                  </a:ext>
                </a:extLst>
              </a:tr>
            </a:tbl>
          </a:graphicData>
        </a:graphic>
      </p:graphicFrame>
      <p:sp>
        <p:nvSpPr>
          <p:cNvPr id="15" name="타원 14">
            <a:extLst>
              <a:ext uri="{FF2B5EF4-FFF2-40B4-BE49-F238E27FC236}">
                <a16:creationId xmlns:a16="http://schemas.microsoft.com/office/drawing/2014/main" id="{841DD2B0-6327-D1B2-ED92-33358812277D}"/>
              </a:ext>
            </a:extLst>
          </p:cNvPr>
          <p:cNvSpPr/>
          <p:nvPr/>
        </p:nvSpPr>
        <p:spPr>
          <a:xfrm>
            <a:off x="188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B07775A-3F95-45A8-22A2-225F3FFFA5B5}"/>
              </a:ext>
            </a:extLst>
          </p:cNvPr>
          <p:cNvGrpSpPr/>
          <p:nvPr/>
        </p:nvGrpSpPr>
        <p:grpSpPr>
          <a:xfrm>
            <a:off x="4404000" y="5318211"/>
            <a:ext cx="288000" cy="288000"/>
            <a:chOff x="4736340" y="2606040"/>
            <a:chExt cx="1080000" cy="1080000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274BDAA-4F29-99F7-2314-53F6B20C6573}"/>
                </a:ext>
              </a:extLst>
            </p:cNvPr>
            <p:cNvSpPr/>
            <p:nvPr/>
          </p:nvSpPr>
          <p:spPr>
            <a:xfrm>
              <a:off x="4736340" y="2606040"/>
              <a:ext cx="108000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539D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497CA831-FA58-1AA1-6D7A-74E85514EFAC}"/>
                </a:ext>
              </a:extLst>
            </p:cNvPr>
            <p:cNvSpPr/>
            <p:nvPr/>
          </p:nvSpPr>
          <p:spPr>
            <a:xfrm>
              <a:off x="4736340" y="2606040"/>
              <a:ext cx="540000" cy="1080000"/>
            </a:xfrm>
            <a:custGeom>
              <a:avLst/>
              <a:gdLst>
                <a:gd name="connsiteX0" fmla="*/ 540000 w 540000"/>
                <a:gd name="connsiteY0" fmla="*/ 0 h 1080000"/>
                <a:gd name="connsiteX1" fmla="*/ 540000 w 540000"/>
                <a:gd name="connsiteY1" fmla="*/ 1080000 h 1080000"/>
                <a:gd name="connsiteX2" fmla="*/ 0 w 540000"/>
                <a:gd name="connsiteY2" fmla="*/ 540000 h 1080000"/>
                <a:gd name="connsiteX3" fmla="*/ 540000 w 540000"/>
                <a:gd name="connsiteY3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0000" h="1080000">
                  <a:moveTo>
                    <a:pt x="540000" y="0"/>
                  </a:moveTo>
                  <a:lnTo>
                    <a:pt x="540000" y="1080000"/>
                  </a:ln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</p:grpSp>
      <p:sp>
        <p:nvSpPr>
          <p:cNvPr id="19" name="타원 18">
            <a:extLst>
              <a:ext uri="{FF2B5EF4-FFF2-40B4-BE49-F238E27FC236}">
                <a16:creationId xmlns:a16="http://schemas.microsoft.com/office/drawing/2014/main" id="{3405573B-91AC-CE77-FD66-C0E6ADC71D8D}"/>
              </a:ext>
            </a:extLst>
          </p:cNvPr>
          <p:cNvSpPr/>
          <p:nvPr/>
        </p:nvSpPr>
        <p:spPr>
          <a:xfrm>
            <a:off x="3144000" y="3482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0EBC7225-AA9E-5E2A-4B2E-7194534AA777}"/>
              </a:ext>
            </a:extLst>
          </p:cNvPr>
          <p:cNvSpPr/>
          <p:nvPr/>
        </p:nvSpPr>
        <p:spPr>
          <a:xfrm>
            <a:off x="251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54E5E1D-DCBF-9543-6AAA-44BD5D8D5E8A}"/>
              </a:ext>
            </a:extLst>
          </p:cNvPr>
          <p:cNvSpPr/>
          <p:nvPr/>
        </p:nvSpPr>
        <p:spPr>
          <a:xfrm>
            <a:off x="314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D6C1B56-D695-46CC-9C0E-B104D13B1EC0}"/>
              </a:ext>
            </a:extLst>
          </p:cNvPr>
          <p:cNvSpPr/>
          <p:nvPr/>
        </p:nvSpPr>
        <p:spPr>
          <a:xfrm>
            <a:off x="377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B05821C-3D70-5CA6-D6C9-86096907AAFC}"/>
              </a:ext>
            </a:extLst>
          </p:cNvPr>
          <p:cNvSpPr/>
          <p:nvPr/>
        </p:nvSpPr>
        <p:spPr>
          <a:xfrm>
            <a:off x="440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00028C3-D67E-2782-DA3A-1CCD9FCF70B4}"/>
              </a:ext>
            </a:extLst>
          </p:cNvPr>
          <p:cNvSpPr/>
          <p:nvPr/>
        </p:nvSpPr>
        <p:spPr>
          <a:xfrm>
            <a:off x="503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2367CE6-C5A0-4797-A9E6-43C7BC509C46}"/>
              </a:ext>
            </a:extLst>
          </p:cNvPr>
          <p:cNvSpPr/>
          <p:nvPr/>
        </p:nvSpPr>
        <p:spPr>
          <a:xfrm>
            <a:off x="1884000" y="3482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D55847B-9E0F-25B7-F213-907B8E2DDBEB}"/>
              </a:ext>
            </a:extLst>
          </p:cNvPr>
          <p:cNvSpPr/>
          <p:nvPr/>
        </p:nvSpPr>
        <p:spPr>
          <a:xfrm>
            <a:off x="2514000" y="3482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0651D103-3ABF-6058-BFC9-9DD4862FEDC9}"/>
              </a:ext>
            </a:extLst>
          </p:cNvPr>
          <p:cNvSpPr/>
          <p:nvPr/>
        </p:nvSpPr>
        <p:spPr>
          <a:xfrm>
            <a:off x="4404000" y="3482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D6C3594F-8619-668F-CDB3-A0C44A61E014}"/>
              </a:ext>
            </a:extLst>
          </p:cNvPr>
          <p:cNvSpPr/>
          <p:nvPr/>
        </p:nvSpPr>
        <p:spPr>
          <a:xfrm>
            <a:off x="1884000" y="4094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B1A515AE-512F-6D29-540D-34D778EC63D4}"/>
              </a:ext>
            </a:extLst>
          </p:cNvPr>
          <p:cNvSpPr/>
          <p:nvPr/>
        </p:nvSpPr>
        <p:spPr>
          <a:xfrm>
            <a:off x="2514000" y="4094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637B09F-F3F7-5F71-19D0-D57A4FAEBF52}"/>
              </a:ext>
            </a:extLst>
          </p:cNvPr>
          <p:cNvSpPr/>
          <p:nvPr/>
        </p:nvSpPr>
        <p:spPr>
          <a:xfrm>
            <a:off x="2514000" y="4706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59D85B5-973D-4999-7DA9-970C5D64A4F6}"/>
              </a:ext>
            </a:extLst>
          </p:cNvPr>
          <p:cNvSpPr/>
          <p:nvPr/>
        </p:nvSpPr>
        <p:spPr>
          <a:xfrm>
            <a:off x="3144000" y="4706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1DB9B80A-FAE7-6AB3-15A1-F95568C4D315}"/>
              </a:ext>
            </a:extLst>
          </p:cNvPr>
          <p:cNvSpPr/>
          <p:nvPr/>
        </p:nvSpPr>
        <p:spPr>
          <a:xfrm>
            <a:off x="4404000" y="4706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A08AC658-94F4-933C-E17F-66D5951863A7}"/>
              </a:ext>
            </a:extLst>
          </p:cNvPr>
          <p:cNvSpPr/>
          <p:nvPr/>
        </p:nvSpPr>
        <p:spPr>
          <a:xfrm>
            <a:off x="1884000" y="5318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21C66908-CE40-2EFF-D9EA-A5C44EC70506}"/>
              </a:ext>
            </a:extLst>
          </p:cNvPr>
          <p:cNvSpPr/>
          <p:nvPr/>
        </p:nvSpPr>
        <p:spPr>
          <a:xfrm>
            <a:off x="3144000" y="4094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0156F70B-429B-C088-8665-577D1189999D}"/>
              </a:ext>
            </a:extLst>
          </p:cNvPr>
          <p:cNvSpPr/>
          <p:nvPr/>
        </p:nvSpPr>
        <p:spPr>
          <a:xfrm>
            <a:off x="3144000" y="5318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134A12AD-AF4B-6FBA-3698-6C7AC6536CCF}"/>
              </a:ext>
            </a:extLst>
          </p:cNvPr>
          <p:cNvSpPr/>
          <p:nvPr/>
        </p:nvSpPr>
        <p:spPr>
          <a:xfrm>
            <a:off x="5034000" y="3482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62BFF79F-AE20-3AFD-CC60-25A020CB33C1}"/>
              </a:ext>
            </a:extLst>
          </p:cNvPr>
          <p:cNvSpPr/>
          <p:nvPr/>
        </p:nvSpPr>
        <p:spPr>
          <a:xfrm>
            <a:off x="5034000" y="4094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EE0B1197-4589-0B74-53A7-607E03880286}"/>
              </a:ext>
            </a:extLst>
          </p:cNvPr>
          <p:cNvSpPr/>
          <p:nvPr/>
        </p:nvSpPr>
        <p:spPr>
          <a:xfrm>
            <a:off x="5034000" y="5318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C42F94F3-37E6-1917-43BC-3FA78FF00DE7}"/>
              </a:ext>
            </a:extLst>
          </p:cNvPr>
          <p:cNvSpPr/>
          <p:nvPr/>
        </p:nvSpPr>
        <p:spPr>
          <a:xfrm>
            <a:off x="5034000" y="4706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C6968C50-D482-58D1-4FDD-E1174D791BF0}"/>
              </a:ext>
            </a:extLst>
          </p:cNvPr>
          <p:cNvSpPr/>
          <p:nvPr/>
        </p:nvSpPr>
        <p:spPr>
          <a:xfrm>
            <a:off x="4404000" y="4094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AB13A54E-68F6-594D-1DA4-44AE7CE50A55}"/>
              </a:ext>
            </a:extLst>
          </p:cNvPr>
          <p:cNvSpPr/>
          <p:nvPr/>
        </p:nvSpPr>
        <p:spPr>
          <a:xfrm>
            <a:off x="3774000" y="3482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90DACEC1-4E83-A2B6-8BD2-10B049C9BBA5}"/>
              </a:ext>
            </a:extLst>
          </p:cNvPr>
          <p:cNvSpPr/>
          <p:nvPr/>
        </p:nvSpPr>
        <p:spPr>
          <a:xfrm>
            <a:off x="3774000" y="4094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EFA2E6B-D902-7ED1-AA5C-75481BC7E875}"/>
              </a:ext>
            </a:extLst>
          </p:cNvPr>
          <p:cNvSpPr/>
          <p:nvPr/>
        </p:nvSpPr>
        <p:spPr>
          <a:xfrm>
            <a:off x="3774000" y="5318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F59A1725-694D-D13F-8FD4-B1E635B6DFE2}"/>
              </a:ext>
            </a:extLst>
          </p:cNvPr>
          <p:cNvSpPr/>
          <p:nvPr/>
        </p:nvSpPr>
        <p:spPr>
          <a:xfrm>
            <a:off x="3774000" y="4706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5BEB43E8-CA0C-458C-F809-3616118EDBCC}"/>
              </a:ext>
            </a:extLst>
          </p:cNvPr>
          <p:cNvGrpSpPr/>
          <p:nvPr/>
        </p:nvGrpSpPr>
        <p:grpSpPr>
          <a:xfrm>
            <a:off x="2514000" y="5318211"/>
            <a:ext cx="288000" cy="288000"/>
            <a:chOff x="4736340" y="2606040"/>
            <a:chExt cx="1080000" cy="1080000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86F191F9-C635-0E6F-D6F4-07EC5E1348F0}"/>
                </a:ext>
              </a:extLst>
            </p:cNvPr>
            <p:cNvSpPr/>
            <p:nvPr/>
          </p:nvSpPr>
          <p:spPr>
            <a:xfrm>
              <a:off x="4736340" y="2606040"/>
              <a:ext cx="108000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539D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51C0B1FF-64A0-8300-AE7B-FF498894E847}"/>
                </a:ext>
              </a:extLst>
            </p:cNvPr>
            <p:cNvSpPr/>
            <p:nvPr/>
          </p:nvSpPr>
          <p:spPr>
            <a:xfrm>
              <a:off x="4736340" y="2606040"/>
              <a:ext cx="540000" cy="1080000"/>
            </a:xfrm>
            <a:custGeom>
              <a:avLst/>
              <a:gdLst>
                <a:gd name="connsiteX0" fmla="*/ 540000 w 540000"/>
                <a:gd name="connsiteY0" fmla="*/ 0 h 1080000"/>
                <a:gd name="connsiteX1" fmla="*/ 540000 w 540000"/>
                <a:gd name="connsiteY1" fmla="*/ 1080000 h 1080000"/>
                <a:gd name="connsiteX2" fmla="*/ 0 w 540000"/>
                <a:gd name="connsiteY2" fmla="*/ 540000 h 1080000"/>
                <a:gd name="connsiteX3" fmla="*/ 540000 w 540000"/>
                <a:gd name="connsiteY3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0000" h="1080000">
                  <a:moveTo>
                    <a:pt x="540000" y="0"/>
                  </a:moveTo>
                  <a:lnTo>
                    <a:pt x="540000" y="1080000"/>
                  </a:ln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</p:grpSp>
      <p:sp>
        <p:nvSpPr>
          <p:cNvPr id="83" name="타원 82">
            <a:extLst>
              <a:ext uri="{FF2B5EF4-FFF2-40B4-BE49-F238E27FC236}">
                <a16:creationId xmlns:a16="http://schemas.microsoft.com/office/drawing/2014/main" id="{A506BB3A-89F5-9406-89AC-CD232742D883}"/>
              </a:ext>
            </a:extLst>
          </p:cNvPr>
          <p:cNvSpPr/>
          <p:nvPr/>
        </p:nvSpPr>
        <p:spPr>
          <a:xfrm>
            <a:off x="1884000" y="4706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581F24-5A03-1B8D-63F4-E299C9FD8D80}"/>
              </a:ext>
            </a:extLst>
          </p:cNvPr>
          <p:cNvSpPr/>
          <p:nvPr/>
        </p:nvSpPr>
        <p:spPr>
          <a:xfrm>
            <a:off x="5673563" y="4272923"/>
            <a:ext cx="3780000" cy="1008000"/>
          </a:xfrm>
          <a:prstGeom prst="rect">
            <a:avLst/>
          </a:prstGeom>
          <a:solidFill>
            <a:srgbClr val="F3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00" tIns="0" rIns="0" bIns="0" rtlCol="0" anchor="ctr"/>
          <a:lstStyle/>
          <a:p>
            <a:pPr>
              <a:spcAft>
                <a:spcPts val="600"/>
              </a:spcAft>
            </a:pPr>
            <a:r>
              <a:rPr lang="ko-KR" altLang="en-US" sz="1000" b="1" dirty="0" err="1">
                <a:solidFill>
                  <a:srgbClr val="3D3D3D"/>
                </a:solidFill>
              </a:rPr>
              <a:t>부투스쿨</a:t>
            </a:r>
            <a:endParaRPr lang="en-US" altLang="ko-KR" sz="1000" b="1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3D3D3D"/>
                </a:solidFill>
              </a:rPr>
              <a:t>2025</a:t>
            </a:r>
            <a:r>
              <a:rPr lang="ko-KR" altLang="en-US" sz="1000" dirty="0">
                <a:solidFill>
                  <a:srgbClr val="3D3D3D"/>
                </a:solidFill>
              </a:rPr>
              <a:t>년 </a:t>
            </a:r>
            <a:r>
              <a:rPr lang="en-US" altLang="ko-KR" sz="1000" dirty="0">
                <a:solidFill>
                  <a:srgbClr val="3D3D3D"/>
                </a:solidFill>
              </a:rPr>
              <a:t>7</a:t>
            </a:r>
            <a:r>
              <a:rPr lang="ko-KR" altLang="en-US" sz="1000" dirty="0">
                <a:solidFill>
                  <a:srgbClr val="3D3D3D"/>
                </a:solidFill>
              </a:rPr>
              <a:t>월 론칭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3D3D3D"/>
                </a:solidFill>
              </a:rPr>
              <a:t>론칭 후 유입 유저 수 약 </a:t>
            </a:r>
            <a:r>
              <a:rPr lang="en-US" altLang="ko-KR" sz="1000" dirty="0">
                <a:solidFill>
                  <a:srgbClr val="3D3D3D"/>
                </a:solidFill>
              </a:rPr>
              <a:t>9,525</a:t>
            </a:r>
            <a:r>
              <a:rPr lang="ko-KR" altLang="en-US" sz="1000" dirty="0">
                <a:solidFill>
                  <a:srgbClr val="3D3D3D"/>
                </a:solidFill>
              </a:rPr>
              <a:t>명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3D3D3D"/>
                </a:solidFill>
              </a:rPr>
              <a:t>유료전환율 약 </a:t>
            </a:r>
            <a:r>
              <a:rPr lang="en-US" altLang="ko-KR" sz="1000" dirty="0">
                <a:solidFill>
                  <a:srgbClr val="3D3D3D"/>
                </a:solidFill>
              </a:rPr>
              <a:t>4.2%, </a:t>
            </a:r>
            <a:r>
              <a:rPr lang="ko-KR" altLang="en-US" sz="1000" dirty="0">
                <a:solidFill>
                  <a:srgbClr val="3D3D3D"/>
                </a:solidFill>
              </a:rPr>
              <a:t>누적 거래액 약 </a:t>
            </a:r>
            <a:r>
              <a:rPr lang="en-US" altLang="ko-KR" sz="1000" dirty="0">
                <a:solidFill>
                  <a:srgbClr val="3D3D3D"/>
                </a:solidFill>
              </a:rPr>
              <a:t>13</a:t>
            </a:r>
            <a:r>
              <a:rPr lang="ko-KR" altLang="en-US" sz="1000" dirty="0">
                <a:solidFill>
                  <a:srgbClr val="3D3D3D"/>
                </a:solidFill>
              </a:rPr>
              <a:t>억원</a:t>
            </a:r>
            <a:endParaRPr lang="en-US" altLang="ko-KR" sz="1000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4092E2-18FD-D1B0-1FD1-3BA3C13B661F}"/>
              </a:ext>
            </a:extLst>
          </p:cNvPr>
          <p:cNvSpPr/>
          <p:nvPr/>
        </p:nvSpPr>
        <p:spPr>
          <a:xfrm>
            <a:off x="5677328" y="2095168"/>
            <a:ext cx="3780000" cy="1008000"/>
          </a:xfrm>
          <a:prstGeom prst="rect">
            <a:avLst/>
          </a:prstGeom>
          <a:solidFill>
            <a:srgbClr val="F3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00" tIns="0" rIns="0" bIns="0" rtlCol="0" anchor="ctr"/>
          <a:lstStyle/>
          <a:p>
            <a:pPr>
              <a:spcAft>
                <a:spcPts val="600"/>
              </a:spcAft>
            </a:pPr>
            <a:r>
              <a:rPr lang="ko-KR" altLang="en-US" sz="1000" b="1" dirty="0" err="1">
                <a:solidFill>
                  <a:srgbClr val="3D3D3D"/>
                </a:solidFill>
              </a:rPr>
              <a:t>인베이더스쿨</a:t>
            </a:r>
            <a:endParaRPr lang="en-US" altLang="ko-KR" sz="1000" b="1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3D3D3D"/>
                </a:solidFill>
              </a:rPr>
              <a:t>2025</a:t>
            </a:r>
            <a:r>
              <a:rPr lang="ko-KR" altLang="en-US" sz="1000" dirty="0">
                <a:solidFill>
                  <a:srgbClr val="3D3D3D"/>
                </a:solidFill>
              </a:rPr>
              <a:t>년 </a:t>
            </a:r>
            <a:r>
              <a:rPr lang="en-US" altLang="ko-KR" sz="1000" dirty="0">
                <a:solidFill>
                  <a:srgbClr val="3D3D3D"/>
                </a:solidFill>
              </a:rPr>
              <a:t>5</a:t>
            </a:r>
            <a:r>
              <a:rPr lang="ko-KR" altLang="en-US" sz="1000" dirty="0">
                <a:solidFill>
                  <a:srgbClr val="3D3D3D"/>
                </a:solidFill>
              </a:rPr>
              <a:t>월 론칭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3D3D3D"/>
                </a:solidFill>
              </a:rPr>
              <a:t>론칭 후 유입 유저 수 약 </a:t>
            </a:r>
            <a:r>
              <a:rPr lang="en-US" altLang="ko-KR" sz="1000" dirty="0">
                <a:solidFill>
                  <a:srgbClr val="3D3D3D"/>
                </a:solidFill>
              </a:rPr>
              <a:t>12</a:t>
            </a:r>
            <a:r>
              <a:rPr lang="ko-KR" altLang="en-US" sz="1000" dirty="0">
                <a:solidFill>
                  <a:srgbClr val="3D3D3D"/>
                </a:solidFill>
              </a:rPr>
              <a:t>만명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3D3D3D"/>
                </a:solidFill>
              </a:rPr>
              <a:t>유료전환율 약 </a:t>
            </a:r>
            <a:r>
              <a:rPr lang="en-US" altLang="ko-KR" sz="1000" dirty="0">
                <a:solidFill>
                  <a:srgbClr val="3D3D3D"/>
                </a:solidFill>
              </a:rPr>
              <a:t>2.1%, </a:t>
            </a:r>
            <a:r>
              <a:rPr lang="ko-KR" altLang="en-US" sz="1000" dirty="0">
                <a:solidFill>
                  <a:srgbClr val="3D3D3D"/>
                </a:solidFill>
              </a:rPr>
              <a:t>누적 거래액 약 </a:t>
            </a:r>
            <a:r>
              <a:rPr lang="en-US" altLang="ko-KR" sz="1000" dirty="0">
                <a:solidFill>
                  <a:srgbClr val="3D3D3D"/>
                </a:solidFill>
              </a:rPr>
              <a:t>106</a:t>
            </a:r>
            <a:r>
              <a:rPr lang="ko-KR" altLang="en-US" sz="1000" dirty="0">
                <a:solidFill>
                  <a:srgbClr val="3D3D3D"/>
                </a:solidFill>
              </a:rPr>
              <a:t>억원</a:t>
            </a:r>
            <a:endParaRPr lang="en-US" altLang="ko-KR" sz="1000" dirty="0">
              <a:solidFill>
                <a:srgbClr val="3D3D3D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4EF3B6-B79F-6E86-9D50-EFC9E281B30F}"/>
              </a:ext>
            </a:extLst>
          </p:cNvPr>
          <p:cNvSpPr/>
          <p:nvPr/>
        </p:nvSpPr>
        <p:spPr>
          <a:xfrm>
            <a:off x="5685077" y="3184045"/>
            <a:ext cx="3780000" cy="1008000"/>
          </a:xfrm>
          <a:prstGeom prst="rect">
            <a:avLst/>
          </a:prstGeom>
          <a:solidFill>
            <a:srgbClr val="F3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000" tIns="0" rIns="0" bIns="0" rtlCol="0" anchor="ctr"/>
          <a:lstStyle/>
          <a:p>
            <a:pPr>
              <a:spcAft>
                <a:spcPts val="600"/>
              </a:spcAft>
            </a:pPr>
            <a:r>
              <a:rPr lang="ko-KR" altLang="en-US" sz="1000" b="1" dirty="0">
                <a:solidFill>
                  <a:srgbClr val="3D3D3D"/>
                </a:solidFill>
              </a:rPr>
              <a:t>부업의 정석</a:t>
            </a:r>
            <a:endParaRPr lang="en-US" altLang="ko-KR" sz="1000" b="1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rgbClr val="3D3D3D"/>
                </a:solidFill>
              </a:rPr>
              <a:t>2025</a:t>
            </a:r>
            <a:r>
              <a:rPr lang="ko-KR" altLang="en-US" sz="1000" dirty="0">
                <a:solidFill>
                  <a:srgbClr val="3D3D3D"/>
                </a:solidFill>
              </a:rPr>
              <a:t>년 </a:t>
            </a:r>
            <a:r>
              <a:rPr lang="en-US" altLang="ko-KR" sz="1000" dirty="0">
                <a:solidFill>
                  <a:srgbClr val="3D3D3D"/>
                </a:solidFill>
              </a:rPr>
              <a:t>7</a:t>
            </a:r>
            <a:r>
              <a:rPr lang="ko-KR" altLang="en-US" sz="1000" dirty="0">
                <a:solidFill>
                  <a:srgbClr val="3D3D3D"/>
                </a:solidFill>
              </a:rPr>
              <a:t>월 론칭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3D3D3D"/>
                </a:solidFill>
              </a:rPr>
              <a:t>론칭 후 유입 유저 수 약 </a:t>
            </a:r>
            <a:r>
              <a:rPr lang="en-US" altLang="ko-KR" sz="1000" dirty="0">
                <a:solidFill>
                  <a:srgbClr val="3D3D3D"/>
                </a:solidFill>
              </a:rPr>
              <a:t>2</a:t>
            </a:r>
            <a:r>
              <a:rPr lang="ko-KR" altLang="en-US" sz="1000" dirty="0">
                <a:solidFill>
                  <a:srgbClr val="3D3D3D"/>
                </a:solidFill>
              </a:rPr>
              <a:t>만명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rgbClr val="3D3D3D"/>
                </a:solidFill>
              </a:rPr>
              <a:t>유료전환율 약 </a:t>
            </a:r>
            <a:r>
              <a:rPr lang="en-US" altLang="ko-KR" sz="1000" dirty="0">
                <a:solidFill>
                  <a:srgbClr val="3D3D3D"/>
                </a:solidFill>
              </a:rPr>
              <a:t>2.0%, </a:t>
            </a:r>
            <a:r>
              <a:rPr lang="ko-KR" altLang="en-US" sz="1000" dirty="0">
                <a:solidFill>
                  <a:srgbClr val="3D3D3D"/>
                </a:solidFill>
              </a:rPr>
              <a:t>누적 거래액 약 </a:t>
            </a:r>
            <a:r>
              <a:rPr lang="en-US" altLang="ko-KR" sz="1000" dirty="0">
                <a:solidFill>
                  <a:srgbClr val="3D3D3D"/>
                </a:solidFill>
              </a:rPr>
              <a:t>19</a:t>
            </a:r>
            <a:r>
              <a:rPr lang="ko-KR" altLang="en-US" sz="1000" dirty="0">
                <a:solidFill>
                  <a:srgbClr val="3D3D3D"/>
                </a:solidFill>
              </a:rPr>
              <a:t>억원</a:t>
            </a:r>
            <a:endParaRPr lang="en-US" altLang="ko-KR" sz="1000" dirty="0">
              <a:solidFill>
                <a:srgbClr val="3D3D3D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4D39BA-203F-9D71-89C7-8D5F323DD633}"/>
              </a:ext>
            </a:extLst>
          </p:cNvPr>
          <p:cNvSpPr txBox="1"/>
          <p:nvPr/>
        </p:nvSpPr>
        <p:spPr>
          <a:xfrm>
            <a:off x="5843778" y="5342259"/>
            <a:ext cx="3467296" cy="3273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000" b="1" i="1" dirty="0">
                <a:solidFill>
                  <a:srgbClr val="3D3D3D"/>
                </a:solidFill>
              </a:rPr>
              <a:t>2025</a:t>
            </a:r>
            <a:r>
              <a:rPr lang="ko-KR" altLang="en-US" sz="1000" b="1" i="1" dirty="0">
                <a:solidFill>
                  <a:srgbClr val="3D3D3D"/>
                </a:solidFill>
              </a:rPr>
              <a:t>년 </a:t>
            </a:r>
            <a:r>
              <a:rPr lang="en-US" altLang="ko-KR" sz="1000" b="1" i="1" dirty="0">
                <a:solidFill>
                  <a:srgbClr val="3D3D3D"/>
                </a:solidFill>
              </a:rPr>
              <a:t>5</a:t>
            </a:r>
            <a:r>
              <a:rPr lang="ko-KR" altLang="en-US" sz="1000" b="1" i="1" dirty="0">
                <a:solidFill>
                  <a:srgbClr val="3D3D3D"/>
                </a:solidFill>
              </a:rPr>
              <a:t>월 서비스 런칭 후 현재까지 </a:t>
            </a:r>
            <a:r>
              <a:rPr lang="en-US" altLang="ko-KR" sz="1000" b="1" i="1" u="sng" dirty="0">
                <a:solidFill>
                  <a:srgbClr val="539DFF"/>
                </a:solidFill>
              </a:rPr>
              <a:t>11</a:t>
            </a:r>
            <a:r>
              <a:rPr lang="ko-KR" altLang="en-US" sz="1000" b="1" i="1" u="sng" dirty="0">
                <a:solidFill>
                  <a:srgbClr val="539DFF"/>
                </a:solidFill>
              </a:rPr>
              <a:t>개 이상</a:t>
            </a:r>
            <a:r>
              <a:rPr lang="ko-KR" altLang="en-US" sz="1000" b="1" i="1" dirty="0">
                <a:solidFill>
                  <a:srgbClr val="3D3D3D"/>
                </a:solidFill>
              </a:rPr>
              <a:t>의 플랫폼 성공적 구축</a:t>
            </a:r>
            <a:endParaRPr lang="en-US" altLang="ko-KR" sz="1000" b="1" i="1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1000" b="1" i="1" dirty="0">
                <a:solidFill>
                  <a:srgbClr val="3D3D3D"/>
                </a:solidFill>
              </a:rPr>
              <a:t>2025</a:t>
            </a:r>
            <a:r>
              <a:rPr lang="ko-KR" altLang="en-US" sz="1000" b="1" i="1" dirty="0">
                <a:solidFill>
                  <a:srgbClr val="3D3D3D"/>
                </a:solidFill>
              </a:rPr>
              <a:t>년 </a:t>
            </a:r>
            <a:r>
              <a:rPr lang="en-US" altLang="ko-KR" sz="1000" b="1" i="1" dirty="0">
                <a:solidFill>
                  <a:srgbClr val="3D3D3D"/>
                </a:solidFill>
              </a:rPr>
              <a:t>9</a:t>
            </a:r>
            <a:r>
              <a:rPr lang="ko-KR" altLang="en-US" sz="1000" b="1" i="1" dirty="0">
                <a:solidFill>
                  <a:srgbClr val="3D3D3D"/>
                </a:solidFill>
              </a:rPr>
              <a:t>월 기준 누적 거래액 </a:t>
            </a:r>
            <a:r>
              <a:rPr lang="ko-KR" altLang="en-US" sz="1000" b="1" i="1" u="sng" dirty="0">
                <a:solidFill>
                  <a:srgbClr val="539DFF"/>
                </a:solidFill>
              </a:rPr>
              <a:t>약 </a:t>
            </a:r>
            <a:r>
              <a:rPr lang="en-US" altLang="ko-KR" sz="1000" b="1" i="1" u="sng" dirty="0">
                <a:solidFill>
                  <a:srgbClr val="539DFF"/>
                </a:solidFill>
              </a:rPr>
              <a:t>161</a:t>
            </a:r>
            <a:r>
              <a:rPr lang="ko-KR" altLang="en-US" sz="1000" b="1" i="1" u="sng" dirty="0">
                <a:solidFill>
                  <a:srgbClr val="539DFF"/>
                </a:solidFill>
              </a:rPr>
              <a:t>억원 </a:t>
            </a:r>
            <a:r>
              <a:rPr lang="ko-KR" altLang="en-US" sz="1000" b="1" i="1" dirty="0">
                <a:solidFill>
                  <a:srgbClr val="3D3D3D"/>
                </a:solidFill>
              </a:rPr>
              <a:t>달성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FD2ECE06-8713-E62D-58B6-2D5B01DCA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9006" y="2448402"/>
            <a:ext cx="792000" cy="227914"/>
          </a:xfrm>
          <a:prstGeom prst="rect">
            <a:avLst/>
          </a:prstGeom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06029711-5830-E6FA-0F2E-581F22463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939" y="3565437"/>
            <a:ext cx="878291" cy="21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>
            <a:extLst>
              <a:ext uri="{FF2B5EF4-FFF2-40B4-BE49-F238E27FC236}">
                <a16:creationId xmlns:a16="http://schemas.microsoft.com/office/drawing/2014/main" id="{77AB4E5B-A562-9AA2-B587-C27C7F046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006" y="4677271"/>
            <a:ext cx="804001" cy="23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D85F-B188-F8A6-2464-BE196B48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1CCF5B7A-EB4F-E8B0-E0CA-7DA8C392177B}"/>
              </a:ext>
            </a:extLst>
          </p:cNvPr>
          <p:cNvSpPr/>
          <p:nvPr/>
        </p:nvSpPr>
        <p:spPr>
          <a:xfrm>
            <a:off x="5205000" y="3896212"/>
            <a:ext cx="4140000" cy="1476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rIns="252000" bIns="0" rtlCol="0" anchor="ctr"/>
          <a:lstStyle/>
          <a:p>
            <a:pPr algn="ctr">
              <a:spcAft>
                <a:spcPts val="900"/>
              </a:spcAft>
            </a:pPr>
            <a:r>
              <a:rPr lang="ko-KR" altLang="en-US" sz="1000" b="1">
                <a:solidFill>
                  <a:srgbClr val="11244A"/>
                </a:solidFill>
              </a:rPr>
              <a:t>저가형 콘텐츠 구독 </a:t>
            </a:r>
            <a:r>
              <a:rPr lang="ko-KR" altLang="en-US" sz="1000" b="1" dirty="0">
                <a:solidFill>
                  <a:srgbClr val="11244A"/>
                </a:solidFill>
              </a:rPr>
              <a:t>서비스 런칭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rgbClr val="3D3D3D"/>
                </a:solidFill>
              </a:rPr>
              <a:t>고가의 유료강의에 대한 가격 저항이 높은 잠재 고객 타겟 서비스 런칭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rgbClr val="3D3D3D"/>
                </a:solidFill>
              </a:rPr>
              <a:t>월 </a:t>
            </a:r>
            <a:r>
              <a:rPr lang="en-US" altLang="ko-KR" sz="1000" dirty="0">
                <a:solidFill>
                  <a:srgbClr val="3D3D3D"/>
                </a:solidFill>
              </a:rPr>
              <a:t>1-2</a:t>
            </a:r>
            <a:r>
              <a:rPr lang="ko-KR" altLang="en-US" sz="1000" dirty="0">
                <a:solidFill>
                  <a:srgbClr val="3D3D3D"/>
                </a:solidFill>
              </a:rPr>
              <a:t>만원 수준의 저렴한 콘텐츠 서비스 제공 통한 추가 매출 확보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rgbClr val="3D3D3D"/>
                </a:solidFill>
              </a:rPr>
              <a:t>AI </a:t>
            </a:r>
            <a:r>
              <a:rPr lang="ko-KR" altLang="en-US" sz="1000" dirty="0">
                <a:solidFill>
                  <a:srgbClr val="3D3D3D"/>
                </a:solidFill>
              </a:rPr>
              <a:t>활용 기존 유료강의 발췌 </a:t>
            </a:r>
            <a:r>
              <a:rPr lang="en-US" altLang="ko-KR" sz="1000" dirty="0">
                <a:solidFill>
                  <a:srgbClr val="3D3D3D"/>
                </a:solidFill>
              </a:rPr>
              <a:t>· </a:t>
            </a:r>
            <a:r>
              <a:rPr lang="ko-KR" altLang="en-US" sz="1000" dirty="0">
                <a:solidFill>
                  <a:srgbClr val="3D3D3D"/>
                </a:solidFill>
              </a:rPr>
              <a:t>요약 콘텐츠</a:t>
            </a:r>
            <a:r>
              <a:rPr lang="en-US" altLang="ko-KR" sz="1000" dirty="0">
                <a:solidFill>
                  <a:srgbClr val="3D3D3D"/>
                </a:solidFill>
              </a:rPr>
              <a:t>, </a:t>
            </a:r>
            <a:r>
              <a:rPr lang="ko-KR" altLang="en-US" sz="1000" dirty="0">
                <a:solidFill>
                  <a:srgbClr val="3D3D3D"/>
                </a:solidFill>
              </a:rPr>
              <a:t>기타 블로그 콘텐츠 등 제공</a:t>
            </a:r>
            <a:endParaRPr lang="en-US" altLang="ko-KR" sz="1000" dirty="0">
              <a:solidFill>
                <a:srgbClr val="3D3D3D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DF6D94-BAAA-0565-E169-C986D48F05AA}"/>
              </a:ext>
            </a:extLst>
          </p:cNvPr>
          <p:cNvSpPr/>
          <p:nvPr/>
        </p:nvSpPr>
        <p:spPr>
          <a:xfrm>
            <a:off x="849000" y="3896212"/>
            <a:ext cx="4140000" cy="1476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rIns="252000" bIns="0" rtlCol="0" anchor="ctr"/>
          <a:lstStyle/>
          <a:p>
            <a:pPr algn="ctr">
              <a:spcAft>
                <a:spcPts val="900"/>
              </a:spcAft>
            </a:pPr>
            <a:r>
              <a:rPr lang="ko-KR" altLang="en-US" sz="1000" b="1" dirty="0">
                <a:solidFill>
                  <a:schemeClr val="bg1"/>
                </a:solidFill>
              </a:rPr>
              <a:t>자사 플랫폼 규모 확대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bg1"/>
                </a:solidFill>
              </a:rPr>
              <a:t>타이탄클래스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코주부클래스 등 기존 자사 플랫폼의 강의 매출 확대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bg1"/>
                </a:solidFill>
              </a:rPr>
              <a:t>신규 강사 발굴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브랜딩 및 커리큘럼 기획 통한 강의 콘텐츠 다각화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bg1"/>
                </a:solidFill>
              </a:rPr>
              <a:t>AI </a:t>
            </a:r>
            <a:r>
              <a:rPr lang="ko-KR" altLang="en-US" sz="1000" dirty="0">
                <a:solidFill>
                  <a:schemeClr val="bg1"/>
                </a:solidFill>
              </a:rPr>
              <a:t>기술 활용 세일즈 </a:t>
            </a:r>
            <a:r>
              <a:rPr lang="ko-KR" altLang="en-US" sz="1000" dirty="0" err="1">
                <a:solidFill>
                  <a:schemeClr val="bg1"/>
                </a:solidFill>
              </a:rPr>
              <a:t>퍼널</a:t>
            </a:r>
            <a:r>
              <a:rPr lang="ko-KR" altLang="en-US" sz="1000" dirty="0">
                <a:solidFill>
                  <a:schemeClr val="bg1"/>
                </a:solidFill>
              </a:rPr>
              <a:t> 고도화를 통한 신규 고객 유입 </a:t>
            </a:r>
            <a:r>
              <a:rPr lang="en-US" altLang="ko-KR" sz="1000" dirty="0">
                <a:solidFill>
                  <a:schemeClr val="bg1"/>
                </a:solidFill>
              </a:rPr>
              <a:t>· </a:t>
            </a:r>
            <a:r>
              <a:rPr lang="ko-KR" altLang="en-US" sz="1000" dirty="0" err="1">
                <a:solidFill>
                  <a:schemeClr val="bg1"/>
                </a:solidFill>
              </a:rPr>
              <a:t>전환율</a:t>
            </a:r>
            <a:r>
              <a:rPr lang="ko-KR" altLang="en-US" sz="1000" dirty="0">
                <a:solidFill>
                  <a:schemeClr val="bg1"/>
                </a:solidFill>
              </a:rPr>
              <a:t> 증대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2600B9-9413-973D-FE46-36BA2C947EBA}"/>
              </a:ext>
            </a:extLst>
          </p:cNvPr>
          <p:cNvSpPr/>
          <p:nvPr/>
        </p:nvSpPr>
        <p:spPr>
          <a:xfrm>
            <a:off x="849000" y="2204212"/>
            <a:ext cx="4140000" cy="1476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rIns="252000" bIns="0" rtlCol="0" anchor="ctr"/>
          <a:lstStyle/>
          <a:p>
            <a:pPr algn="ctr">
              <a:spcAft>
                <a:spcPts val="900"/>
              </a:spcAft>
            </a:pPr>
            <a:r>
              <a:rPr lang="ko-KR" altLang="en-US" sz="1000" b="1" dirty="0">
                <a:solidFill>
                  <a:srgbClr val="11244A"/>
                </a:solidFill>
              </a:rPr>
              <a:t>플랫폼 </a:t>
            </a:r>
            <a:r>
              <a:rPr lang="en-US" altLang="ko-KR" sz="1000" b="1" dirty="0">
                <a:solidFill>
                  <a:srgbClr val="11244A"/>
                </a:solidFill>
              </a:rPr>
              <a:t>SI </a:t>
            </a:r>
            <a:r>
              <a:rPr lang="ko-KR" altLang="en-US" sz="1000" b="1" dirty="0">
                <a:solidFill>
                  <a:srgbClr val="11244A"/>
                </a:solidFill>
              </a:rPr>
              <a:t>사업 확대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rgbClr val="3D3D3D"/>
                </a:solidFill>
              </a:rPr>
              <a:t>독립 플랫폼 구축 </a:t>
            </a:r>
            <a:r>
              <a:rPr lang="en-US" altLang="ko-KR" sz="1000" dirty="0">
                <a:solidFill>
                  <a:srgbClr val="3D3D3D"/>
                </a:solidFill>
              </a:rPr>
              <a:t>· </a:t>
            </a:r>
            <a:r>
              <a:rPr lang="ko-KR" altLang="en-US" sz="1000" dirty="0">
                <a:solidFill>
                  <a:srgbClr val="3D3D3D"/>
                </a:solidFill>
              </a:rPr>
              <a:t>운영 수요가 높은 크리에이터 대상 </a:t>
            </a:r>
            <a:r>
              <a:rPr lang="en-US" altLang="ko-KR" sz="1000" dirty="0">
                <a:solidFill>
                  <a:srgbClr val="3D3D3D"/>
                </a:solidFill>
              </a:rPr>
              <a:t>SI </a:t>
            </a:r>
            <a:r>
              <a:rPr lang="ko-KR" altLang="en-US" sz="1000" dirty="0">
                <a:solidFill>
                  <a:srgbClr val="3D3D3D"/>
                </a:solidFill>
              </a:rPr>
              <a:t>사업 확대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>
                <a:solidFill>
                  <a:srgbClr val="3D3D3D"/>
                </a:solidFill>
              </a:rPr>
              <a:t>단순 </a:t>
            </a:r>
            <a:r>
              <a:rPr lang="en-US" altLang="ko-KR" sz="1000" spc="-30" dirty="0">
                <a:solidFill>
                  <a:srgbClr val="3D3D3D"/>
                </a:solidFill>
              </a:rPr>
              <a:t>IT </a:t>
            </a:r>
            <a:r>
              <a:rPr lang="ko-KR" altLang="en-US" sz="1000" spc="-30" dirty="0">
                <a:solidFill>
                  <a:srgbClr val="3D3D3D"/>
                </a:solidFill>
              </a:rPr>
              <a:t>용역 이상의 마케팅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브랜딩 서비스 제공 통한 로열티 수익 극대화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rgbClr val="3D3D3D"/>
                </a:solidFill>
              </a:rPr>
              <a:t>“Titan-Made” </a:t>
            </a:r>
            <a:r>
              <a:rPr lang="ko-KR" altLang="en-US" sz="1000" dirty="0">
                <a:solidFill>
                  <a:srgbClr val="3D3D3D"/>
                </a:solidFill>
              </a:rPr>
              <a:t>플랫폼 간 전략적 시너지 창출 통한 부가가치 창출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91571A9-1561-F859-A06F-DB520A27A3EF}"/>
              </a:ext>
            </a:extLst>
          </p:cNvPr>
          <p:cNvSpPr/>
          <p:nvPr/>
        </p:nvSpPr>
        <p:spPr>
          <a:xfrm>
            <a:off x="5205000" y="2204212"/>
            <a:ext cx="4140000" cy="1476000"/>
          </a:xfrm>
          <a:prstGeom prst="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rIns="252000" bIns="0" rtlCol="0" anchor="ctr"/>
          <a:lstStyle/>
          <a:p>
            <a:pPr algn="ctr">
              <a:spcAft>
                <a:spcPts val="900"/>
              </a:spcAft>
            </a:pPr>
            <a:r>
              <a:rPr lang="ko-KR" altLang="en-US" sz="1000" b="1" dirty="0">
                <a:solidFill>
                  <a:srgbClr val="11244A"/>
                </a:solidFill>
              </a:rPr>
              <a:t>글로벌 시장 진출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rgbClr val="3D3D3D"/>
                </a:solidFill>
              </a:rPr>
              <a:t>중국</a:t>
            </a:r>
            <a:r>
              <a:rPr lang="en-US" altLang="ko-KR" sz="1000" dirty="0">
                <a:solidFill>
                  <a:srgbClr val="3D3D3D"/>
                </a:solidFill>
              </a:rPr>
              <a:t>, </a:t>
            </a:r>
            <a:r>
              <a:rPr lang="ko-KR" altLang="en-US" sz="1000" dirty="0">
                <a:solidFill>
                  <a:srgbClr val="3D3D3D"/>
                </a:solidFill>
              </a:rPr>
              <a:t>동남아시아 등 아시아권 국가 중심의 글로벌 시장 진출 계획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rgbClr val="3D3D3D"/>
                </a:solidFill>
              </a:rPr>
              <a:t>AI </a:t>
            </a:r>
            <a:r>
              <a:rPr lang="ko-KR" altLang="en-US" sz="1000" dirty="0">
                <a:solidFill>
                  <a:srgbClr val="3D3D3D"/>
                </a:solidFill>
              </a:rPr>
              <a:t>활용 기존 강의 콘텐츠 번역 및 더빙 통해 단기간 내 런칭 가능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rgbClr val="3D3D3D"/>
                </a:solidFill>
              </a:rPr>
              <a:t>이후 현지 시장에 적합한 현지 강사 발굴 및 현지화 강의 콘텐츠 출시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78AE75A-6157-E58A-87A8-56122E11D7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b="1" dirty="0"/>
              <a:t>글로벌 지식 비즈니스 플랫폼으로의 성장 로드맵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07D81-83C7-6C1A-7AAB-110A0B7A5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A02-ABDE-A47E-BC1E-B1C2310A96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F4473D-C132-8636-8B56-16FD762A0099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06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E3EE9-031A-60FE-30FF-79911E2B2D94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자사 플랫폼 외형 확대</a:t>
            </a:r>
            <a:r>
              <a:rPr lang="en-US" altLang="ko-KR" sz="1400" b="1" dirty="0">
                <a:solidFill>
                  <a:srgbClr val="3D3D3D"/>
                </a:solidFill>
              </a:rPr>
              <a:t>, SI </a:t>
            </a:r>
            <a:r>
              <a:rPr lang="ko-KR" altLang="en-US" sz="1400" b="1" dirty="0">
                <a:solidFill>
                  <a:srgbClr val="3D3D3D"/>
                </a:solidFill>
              </a:rPr>
              <a:t>사업 확대 및 저가형 구독 서비스 런칭을 통한 국내 성인교육 시장 장악과 동시에 중국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동남아시아 등 아시아권 국가 중심의 해외 시장 진출을 통해 글로벌 지식 비즈니스 플랫폼으로의 성장을 추진 중입니다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9D1E4A-4D96-3611-CBB2-71D9FA5E1ACB}"/>
              </a:ext>
            </a:extLst>
          </p:cNvPr>
          <p:cNvSpPr/>
          <p:nvPr/>
        </p:nvSpPr>
        <p:spPr>
          <a:xfrm>
            <a:off x="452999" y="1700213"/>
            <a:ext cx="8999997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수직적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수평적 확장을 통한 중장기 성장 로드맵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59CB34E-B572-19E7-73D8-354BFB60DAB2}"/>
              </a:ext>
            </a:extLst>
          </p:cNvPr>
          <p:cNvCxnSpPr>
            <a:cxnSpLocks/>
          </p:cNvCxnSpPr>
          <p:nvPr/>
        </p:nvCxnSpPr>
        <p:spPr>
          <a:xfrm>
            <a:off x="741000" y="5480974"/>
            <a:ext cx="8712000" cy="0"/>
          </a:xfrm>
          <a:prstGeom prst="straightConnector1">
            <a:avLst/>
          </a:prstGeom>
          <a:ln w="190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9AF82CA-D2FE-99ED-4272-0E70770C4516}"/>
              </a:ext>
            </a:extLst>
          </p:cNvPr>
          <p:cNvCxnSpPr>
            <a:cxnSpLocks/>
          </p:cNvCxnSpPr>
          <p:nvPr/>
        </p:nvCxnSpPr>
        <p:spPr>
          <a:xfrm flipH="1" flipV="1">
            <a:off x="741000" y="2096211"/>
            <a:ext cx="0" cy="3384000"/>
          </a:xfrm>
          <a:prstGeom prst="straightConnector1">
            <a:avLst/>
          </a:prstGeom>
          <a:ln w="190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3631DE-2352-BD1E-57F3-793349DF8542}"/>
              </a:ext>
            </a:extLst>
          </p:cNvPr>
          <p:cNvSpPr txBox="1"/>
          <p:nvPr/>
        </p:nvSpPr>
        <p:spPr>
          <a:xfrm>
            <a:off x="4459806" y="5545946"/>
            <a:ext cx="1274388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3D3D3D"/>
                </a:solidFill>
              </a:rPr>
              <a:t>서비스 포트폴리오의 확장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8D8F8-0019-9C17-5C98-72D9FE1E3488}"/>
              </a:ext>
            </a:extLst>
          </p:cNvPr>
          <p:cNvSpPr txBox="1"/>
          <p:nvPr/>
        </p:nvSpPr>
        <p:spPr>
          <a:xfrm rot="16200000">
            <a:off x="-128359" y="3709183"/>
            <a:ext cx="1450718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3D3D3D"/>
                </a:solidFill>
              </a:rPr>
              <a:t>서비스 </a:t>
            </a:r>
            <a:r>
              <a:rPr lang="en-US" altLang="ko-KR" sz="1000" b="1" dirty="0">
                <a:solidFill>
                  <a:srgbClr val="3D3D3D"/>
                </a:solidFill>
              </a:rPr>
              <a:t>Value Chain</a:t>
            </a:r>
            <a:r>
              <a:rPr lang="ko-KR" altLang="en-US" sz="1000" b="1" dirty="0">
                <a:solidFill>
                  <a:srgbClr val="3D3D3D"/>
                </a:solidFill>
              </a:rPr>
              <a:t>의 확장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A763061-C4EC-1887-37F5-ED0BED80D32E}"/>
              </a:ext>
            </a:extLst>
          </p:cNvPr>
          <p:cNvGrpSpPr/>
          <p:nvPr/>
        </p:nvGrpSpPr>
        <p:grpSpPr>
          <a:xfrm>
            <a:off x="4845000" y="4382212"/>
            <a:ext cx="504000" cy="504000"/>
            <a:chOff x="4877902" y="4470839"/>
            <a:chExt cx="432000" cy="432000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F2F8BC3-A9BB-76FF-1DE5-04D6517BDC7E}"/>
                </a:ext>
              </a:extLst>
            </p:cNvPr>
            <p:cNvSpPr/>
            <p:nvPr/>
          </p:nvSpPr>
          <p:spPr>
            <a:xfrm>
              <a:off x="4877902" y="4470839"/>
              <a:ext cx="432000" cy="43200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0B0480BA-EF6C-D3AC-58DA-09D6C3207EE9}"/>
                </a:ext>
              </a:extLst>
            </p:cNvPr>
            <p:cNvSpPr/>
            <p:nvPr/>
          </p:nvSpPr>
          <p:spPr>
            <a:xfrm>
              <a:off x="4949902" y="4542839"/>
              <a:ext cx="288000" cy="288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147D986-CAF6-AC86-FEE9-2321B2CBA5A5}"/>
              </a:ext>
            </a:extLst>
          </p:cNvPr>
          <p:cNvGrpSpPr/>
          <p:nvPr/>
        </p:nvGrpSpPr>
        <p:grpSpPr>
          <a:xfrm rot="16200000">
            <a:off x="2703000" y="3536212"/>
            <a:ext cx="504000" cy="504000"/>
            <a:chOff x="4877902" y="4470839"/>
            <a:chExt cx="432000" cy="432000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029E7BF-C806-FD5C-48EA-7A6BFBE5D901}"/>
                </a:ext>
              </a:extLst>
            </p:cNvPr>
            <p:cNvSpPr/>
            <p:nvPr/>
          </p:nvSpPr>
          <p:spPr>
            <a:xfrm>
              <a:off x="4877902" y="4470839"/>
              <a:ext cx="432000" cy="43200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38" name="화살표: 오른쪽 37">
              <a:extLst>
                <a:ext uri="{FF2B5EF4-FFF2-40B4-BE49-F238E27FC236}">
                  <a16:creationId xmlns:a16="http://schemas.microsoft.com/office/drawing/2014/main" id="{F6B76016-F9DB-BD2C-F695-FA0B430A3223}"/>
                </a:ext>
              </a:extLst>
            </p:cNvPr>
            <p:cNvSpPr/>
            <p:nvPr/>
          </p:nvSpPr>
          <p:spPr>
            <a:xfrm>
              <a:off x="4949902" y="4542839"/>
              <a:ext cx="288000" cy="288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375F798-6344-2842-D61F-B24C2190C59C}"/>
              </a:ext>
            </a:extLst>
          </p:cNvPr>
          <p:cNvGrpSpPr/>
          <p:nvPr/>
        </p:nvGrpSpPr>
        <p:grpSpPr>
          <a:xfrm rot="18900000">
            <a:off x="4845000" y="3536212"/>
            <a:ext cx="504000" cy="504000"/>
            <a:chOff x="4877902" y="4470839"/>
            <a:chExt cx="432000" cy="432000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B503CE8-79F4-8CEF-97C5-BFA078CFE8A1}"/>
                </a:ext>
              </a:extLst>
            </p:cNvPr>
            <p:cNvSpPr/>
            <p:nvPr/>
          </p:nvSpPr>
          <p:spPr>
            <a:xfrm>
              <a:off x="4877902" y="4470839"/>
              <a:ext cx="432000" cy="432000"/>
            </a:xfrm>
            <a:prstGeom prst="ellipse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1FA99C20-024D-5C4D-249E-2A7728FD807C}"/>
                </a:ext>
              </a:extLst>
            </p:cNvPr>
            <p:cNvSpPr/>
            <p:nvPr/>
          </p:nvSpPr>
          <p:spPr>
            <a:xfrm>
              <a:off x="4949902" y="4542839"/>
              <a:ext cx="288000" cy="28800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1785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C11BD-DB03-4004-184B-7B1F8634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8BB824-5107-216E-1BF7-8A37E1BD39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 lIns="540000"/>
          <a:lstStyle/>
          <a:p>
            <a:r>
              <a:rPr lang="ko-KR" altLang="en-US" b="1" dirty="0"/>
              <a:t>글로벌 지식 비즈니스 플랫폼으로의 성장 로드맵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계속</a:t>
            </a:r>
            <a:r>
              <a:rPr lang="en-US" altLang="ko-KR" sz="1800" b="1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C66ADB-23F0-AB7C-FCB4-C64DEF160C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</a:t>
            </a:r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사업계획은 </a:t>
            </a:r>
            <a:r>
              <a:rPr lang="en-US" altLang="ko-KR" dirty="0"/>
              <a:t>TITAN</a:t>
            </a:r>
            <a:r>
              <a:rPr lang="ko-KR" altLang="en-US" dirty="0"/>
              <a:t>이 현재 기획 </a:t>
            </a:r>
            <a:r>
              <a:rPr lang="en-US" altLang="ko-KR" dirty="0"/>
              <a:t>· </a:t>
            </a:r>
            <a:r>
              <a:rPr lang="ko-KR" altLang="en-US" dirty="0"/>
              <a:t>개발 및 시범 추진 중인 </a:t>
            </a:r>
            <a:r>
              <a:rPr lang="en-US" altLang="ko-KR" dirty="0"/>
              <a:t>AI </a:t>
            </a:r>
            <a:r>
              <a:rPr lang="ko-KR" altLang="en-US" dirty="0"/>
              <a:t>기술</a:t>
            </a:r>
            <a:r>
              <a:rPr lang="en-US" altLang="ko-KR" dirty="0"/>
              <a:t> </a:t>
            </a:r>
            <a:r>
              <a:rPr lang="ko-KR" altLang="en-US" dirty="0"/>
              <a:t>기반 해외 사업 및 저가형 구독 콘텐츠 사업의 예상 실적은 반영하지 않은 사업계획입니다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578321-C75F-B16A-62C6-35C96D7ECA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E05EB1-A3DF-D3CC-2A47-2982C7490E1C}"/>
              </a:ext>
            </a:extLst>
          </p:cNvPr>
          <p:cNvSpPr>
            <a:spLocks noChangeAspect="1"/>
          </p:cNvSpPr>
          <p:nvPr/>
        </p:nvSpPr>
        <p:spPr>
          <a:xfrm>
            <a:off x="453000" y="549275"/>
            <a:ext cx="396000" cy="396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06</a:t>
            </a:r>
            <a:endParaRPr lang="ko-KR" altLang="en-US" sz="20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AF43D-A024-290A-A9EE-6795276881CF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지속적인 강사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강의 포트폴리오 강화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및 지식 비즈니스 플랫폼 </a:t>
            </a:r>
            <a:r>
              <a:rPr lang="en-US" altLang="ko-KR" sz="1400" b="1" dirty="0">
                <a:solidFill>
                  <a:srgbClr val="3D3D3D"/>
                </a:solidFill>
              </a:rPr>
              <a:t>SI </a:t>
            </a:r>
            <a:r>
              <a:rPr lang="ko-KR" altLang="en-US" sz="1400" b="1" dirty="0">
                <a:solidFill>
                  <a:srgbClr val="3D3D3D"/>
                </a:solidFill>
              </a:rPr>
              <a:t>사업 확대를 통해 </a:t>
            </a:r>
            <a:r>
              <a:rPr lang="en-US" altLang="ko-KR" sz="1400" b="1" dirty="0">
                <a:solidFill>
                  <a:srgbClr val="3D3D3D"/>
                </a:solidFill>
              </a:rPr>
              <a:t>2030</a:t>
            </a:r>
            <a:r>
              <a:rPr lang="ko-KR" altLang="en-US" sz="1400" b="1" dirty="0">
                <a:solidFill>
                  <a:srgbClr val="3D3D3D"/>
                </a:solidFill>
              </a:rPr>
              <a:t>년까지 연 매출액 </a:t>
            </a:r>
            <a:r>
              <a:rPr lang="en-US" altLang="ko-KR" sz="1400" b="1" dirty="0">
                <a:solidFill>
                  <a:srgbClr val="3D3D3D"/>
                </a:solidFill>
              </a:rPr>
              <a:t>1,381</a:t>
            </a:r>
            <a:r>
              <a:rPr lang="ko-KR" altLang="en-US" sz="1400" b="1" dirty="0">
                <a:solidFill>
                  <a:srgbClr val="3D3D3D"/>
                </a:solidFill>
              </a:rPr>
              <a:t>억원</a:t>
            </a:r>
            <a:r>
              <a:rPr lang="en-US" altLang="ko-KR" sz="1400" b="1" dirty="0">
                <a:solidFill>
                  <a:srgbClr val="3D3D3D"/>
                </a:solidFill>
              </a:rPr>
              <a:t>, EBITDA 617</a:t>
            </a:r>
            <a:r>
              <a:rPr lang="ko-KR" altLang="en-US" sz="1400" b="1" dirty="0">
                <a:solidFill>
                  <a:srgbClr val="3D3D3D"/>
                </a:solidFill>
              </a:rPr>
              <a:t>억원의 압도적인 성장 및 수익성 증대를 계획하고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D62E96-D125-761A-C91E-2575BB9C4F84}"/>
              </a:ext>
            </a:extLst>
          </p:cNvPr>
          <p:cNvSpPr/>
          <p:nvPr/>
        </p:nvSpPr>
        <p:spPr>
          <a:xfrm>
            <a:off x="453000" y="1700213"/>
            <a:ext cx="8999998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TITAN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5</a:t>
            </a:r>
            <a:r>
              <a:rPr lang="ko-KR" altLang="en-US" sz="1200" b="1" dirty="0">
                <a:solidFill>
                  <a:schemeClr val="bg1"/>
                </a:solidFill>
              </a:rPr>
              <a:t>개년 사업계획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AC316D-9B53-016A-BC83-2C4CD49FBDFC}"/>
              </a:ext>
            </a:extLst>
          </p:cNvPr>
          <p:cNvSpPr txBox="1"/>
          <p:nvPr/>
        </p:nvSpPr>
        <p:spPr>
          <a:xfrm>
            <a:off x="8764741" y="1780991"/>
            <a:ext cx="688257" cy="126445"/>
          </a:xfrm>
          <a:prstGeom prst="rect">
            <a:avLst/>
          </a:prstGeom>
          <a:noFill/>
        </p:spPr>
        <p:txBody>
          <a:bodyPr wrap="non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억원</a:t>
            </a:r>
            <a:r>
              <a:rPr lang="en-US" altLang="ko-KR" sz="800" dirty="0">
                <a:solidFill>
                  <a:schemeClr val="bg1"/>
                </a:solidFill>
              </a:rPr>
              <a:t>, %)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81D363DE-D590-0123-049F-AFE2EEBCE2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702102"/>
              </p:ext>
            </p:extLst>
          </p:nvPr>
        </p:nvGraphicFramePr>
        <p:xfrm>
          <a:off x="345000" y="2096211"/>
          <a:ext cx="9216000" cy="37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8788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EAE1-5127-9C81-2448-C2FE5789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AAEE1C-DDEF-BF15-7AFE-BA6DF4054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5C183-8AE9-081B-059B-C906D5B6B9B6}"/>
              </a:ext>
            </a:extLst>
          </p:cNvPr>
          <p:cNvSpPr txBox="1"/>
          <p:nvPr/>
        </p:nvSpPr>
        <p:spPr>
          <a:xfrm>
            <a:off x="452438" y="1386550"/>
            <a:ext cx="3064942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E4E8FCE-0A9B-EC7D-5EA7-67DFE31D6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870711"/>
              </p:ext>
            </p:extLst>
          </p:nvPr>
        </p:nvGraphicFramePr>
        <p:xfrm>
          <a:off x="344438" y="2080716"/>
          <a:ext cx="36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Investment Highlights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812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Market Opportunities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Business Overview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05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Financial Summary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36481"/>
                  </a:ext>
                </a:extLst>
              </a:tr>
            </a:tbl>
          </a:graphicData>
        </a:graphic>
      </p:graphicFrame>
      <p:pic>
        <p:nvPicPr>
          <p:cNvPr id="2" name="그래픽 1">
            <a:extLst>
              <a:ext uri="{FF2B5EF4-FFF2-40B4-BE49-F238E27FC236}">
                <a16:creationId xmlns:a16="http://schemas.microsoft.com/office/drawing/2014/main" id="{9361A6C9-B3A2-33EC-FBA7-D38189FFB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0908" y="549275"/>
            <a:ext cx="1642500" cy="252000"/>
          </a:xfrm>
          <a:prstGeom prst="rect">
            <a:avLst/>
          </a:prstGeom>
        </p:spPr>
      </p:pic>
      <p:grpSp>
        <p:nvGrpSpPr>
          <p:cNvPr id="7" name="그래픽 12">
            <a:extLst>
              <a:ext uri="{FF2B5EF4-FFF2-40B4-BE49-F238E27FC236}">
                <a16:creationId xmlns:a16="http://schemas.microsoft.com/office/drawing/2014/main" id="{5DAB5BF0-942D-50F5-482A-43F6F3463C48}"/>
              </a:ext>
            </a:extLst>
          </p:cNvPr>
          <p:cNvGrpSpPr>
            <a:grpSpLocks noChangeAspect="1"/>
          </p:cNvGrpSpPr>
          <p:nvPr/>
        </p:nvGrpSpPr>
        <p:grpSpPr>
          <a:xfrm>
            <a:off x="452999" y="461630"/>
            <a:ext cx="1363661" cy="427290"/>
            <a:chOff x="1748076" y="1492704"/>
            <a:chExt cx="2780254" cy="871165"/>
          </a:xfrm>
          <a:solidFill>
            <a:schemeClr val="bg1"/>
          </a:solidFill>
        </p:grpSpPr>
        <p:sp>
          <p:nvSpPr>
            <p:cNvPr id="8" name="자유형: 도형 21">
              <a:extLst>
                <a:ext uri="{FF2B5EF4-FFF2-40B4-BE49-F238E27FC236}">
                  <a16:creationId xmlns:a16="http://schemas.microsoft.com/office/drawing/2014/main" id="{FD7DC7DD-7B87-8980-C241-7931555A7446}"/>
                </a:ext>
              </a:extLst>
            </p:cNvPr>
            <p:cNvSpPr/>
            <p:nvPr/>
          </p:nvSpPr>
          <p:spPr>
            <a:xfrm flipV="1">
              <a:off x="2956473" y="1542367"/>
              <a:ext cx="1551422" cy="303005"/>
            </a:xfrm>
            <a:custGeom>
              <a:avLst/>
              <a:gdLst>
                <a:gd name="connsiteX0" fmla="*/ 1551596 w 1551422"/>
                <a:gd name="connsiteY0" fmla="*/ 303014 h 303005"/>
                <a:gd name="connsiteX1" fmla="*/ 173 w 1551422"/>
                <a:gd name="connsiteY1" fmla="*/ 303014 h 303005"/>
                <a:gd name="connsiteX2" fmla="*/ 173 w 1551422"/>
                <a:gd name="connsiteY2" fmla="*/ 8 h 303005"/>
                <a:gd name="connsiteX3" fmla="*/ 1551596 w 1551422"/>
                <a:gd name="connsiteY3" fmla="*/ 8 h 3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22" h="303005">
                  <a:moveTo>
                    <a:pt x="1551596" y="303014"/>
                  </a:moveTo>
                  <a:lnTo>
                    <a:pt x="173" y="303014"/>
                  </a:lnTo>
                  <a:lnTo>
                    <a:pt x="173" y="8"/>
                  </a:lnTo>
                  <a:lnTo>
                    <a:pt x="1551596" y="8"/>
                  </a:lnTo>
                  <a:close/>
                </a:path>
              </a:pathLst>
            </a:custGeom>
            <a:grpFill/>
            <a:ln w="60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" name="그래픽 12">
              <a:extLst>
                <a:ext uri="{FF2B5EF4-FFF2-40B4-BE49-F238E27FC236}">
                  <a16:creationId xmlns:a16="http://schemas.microsoft.com/office/drawing/2014/main" id="{AD79BF99-8860-35DD-F5BD-538637280492}"/>
                </a:ext>
              </a:extLst>
            </p:cNvPr>
            <p:cNvGrpSpPr/>
            <p:nvPr/>
          </p:nvGrpSpPr>
          <p:grpSpPr>
            <a:xfrm>
              <a:off x="1748076" y="1492704"/>
              <a:ext cx="2780254" cy="871165"/>
              <a:chOff x="1748076" y="1492704"/>
              <a:chExt cx="2780254" cy="871165"/>
            </a:xfrm>
            <a:grpFill/>
          </p:grpSpPr>
          <p:sp>
            <p:nvSpPr>
              <p:cNvPr id="10" name="자유형: 도형 26">
                <a:extLst>
                  <a:ext uri="{FF2B5EF4-FFF2-40B4-BE49-F238E27FC236}">
                    <a16:creationId xmlns:a16="http://schemas.microsoft.com/office/drawing/2014/main" id="{36FAE6DD-6F94-25A3-E6B6-DBABA919564F}"/>
                  </a:ext>
                </a:extLst>
              </p:cNvPr>
              <p:cNvSpPr/>
              <p:nvPr/>
            </p:nvSpPr>
            <p:spPr>
              <a:xfrm flipV="1">
                <a:off x="1751153" y="1513324"/>
                <a:ext cx="258404" cy="360962"/>
              </a:xfrm>
              <a:custGeom>
                <a:avLst/>
                <a:gdLst>
                  <a:gd name="connsiteX0" fmla="*/ 113589 w 258404"/>
                  <a:gd name="connsiteY0" fmla="*/ 179798 h 360962"/>
                  <a:gd name="connsiteX1" fmla="*/ 82826 w 258404"/>
                  <a:gd name="connsiteY1" fmla="*/ 179798 h 360962"/>
                  <a:gd name="connsiteX2" fmla="*/ 82826 w 258404"/>
                  <a:gd name="connsiteY2" fmla="*/ 7014 h 360962"/>
                  <a:gd name="connsiteX3" fmla="*/ 105382 w 258404"/>
                  <a:gd name="connsiteY3" fmla="*/ 7014 h 360962"/>
                  <a:gd name="connsiteX4" fmla="*/ 201265 w 258404"/>
                  <a:gd name="connsiteY4" fmla="*/ 94177 h 360962"/>
                  <a:gd name="connsiteX5" fmla="*/ 113589 w 258404"/>
                  <a:gd name="connsiteY5" fmla="*/ 179798 h 360962"/>
                  <a:gd name="connsiteX6" fmla="*/ 82826 w 258404"/>
                  <a:gd name="connsiteY6" fmla="*/ 354638 h 360962"/>
                  <a:gd name="connsiteX7" fmla="*/ 82826 w 258404"/>
                  <a:gd name="connsiteY7" fmla="*/ 186461 h 360962"/>
                  <a:gd name="connsiteX8" fmla="*/ 113589 w 258404"/>
                  <a:gd name="connsiteY8" fmla="*/ 186461 h 360962"/>
                  <a:gd name="connsiteX9" fmla="*/ 179215 w 258404"/>
                  <a:gd name="connsiteY9" fmla="*/ 274137 h 360962"/>
                  <a:gd name="connsiteX10" fmla="*/ 105382 w 258404"/>
                  <a:gd name="connsiteY10" fmla="*/ 354638 h 360962"/>
                  <a:gd name="connsiteX11" fmla="*/ 102820 w 258404"/>
                  <a:gd name="connsiteY11" fmla="*/ 345 h 360962"/>
                  <a:gd name="connsiteX12" fmla="*/ 280 w 258404"/>
                  <a:gd name="connsiteY12" fmla="*/ 345 h 360962"/>
                  <a:gd name="connsiteX13" fmla="*/ 280 w 258404"/>
                  <a:gd name="connsiteY13" fmla="*/ 4957 h 360962"/>
                  <a:gd name="connsiteX14" fmla="*/ 30018 w 258404"/>
                  <a:gd name="connsiteY14" fmla="*/ 61871 h 360962"/>
                  <a:gd name="connsiteX15" fmla="*/ 30018 w 258404"/>
                  <a:gd name="connsiteY15" fmla="*/ 300800 h 360962"/>
                  <a:gd name="connsiteX16" fmla="*/ 280 w 258404"/>
                  <a:gd name="connsiteY16" fmla="*/ 356688 h 360962"/>
                  <a:gd name="connsiteX17" fmla="*/ 280 w 258404"/>
                  <a:gd name="connsiteY17" fmla="*/ 361307 h 360962"/>
                  <a:gd name="connsiteX18" fmla="*/ 102820 w 258404"/>
                  <a:gd name="connsiteY18" fmla="*/ 361307 h 360962"/>
                  <a:gd name="connsiteX19" fmla="*/ 234585 w 258404"/>
                  <a:gd name="connsiteY19" fmla="*/ 273631 h 360962"/>
                  <a:gd name="connsiteX20" fmla="*/ 148964 w 258404"/>
                  <a:gd name="connsiteY20" fmla="*/ 185442 h 360962"/>
                  <a:gd name="connsiteX21" fmla="*/ 258685 w 258404"/>
                  <a:gd name="connsiteY21" fmla="*/ 92121 h 360962"/>
                  <a:gd name="connsiteX22" fmla="*/ 102820 w 258404"/>
                  <a:gd name="connsiteY22" fmla="*/ 345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8404" h="360962">
                    <a:moveTo>
                      <a:pt x="113589" y="179798"/>
                    </a:moveTo>
                    <a:lnTo>
                      <a:pt x="82826" y="179798"/>
                    </a:lnTo>
                    <a:lnTo>
                      <a:pt x="82826" y="7014"/>
                    </a:lnTo>
                    <a:lnTo>
                      <a:pt x="105382" y="7014"/>
                    </a:lnTo>
                    <a:cubicBezTo>
                      <a:pt x="154608" y="7014"/>
                      <a:pt x="201265" y="5989"/>
                      <a:pt x="201265" y="94177"/>
                    </a:cubicBezTo>
                    <a:cubicBezTo>
                      <a:pt x="201265" y="177235"/>
                      <a:pt x="151527" y="179798"/>
                      <a:pt x="113589" y="179798"/>
                    </a:cubicBezTo>
                    <a:moveTo>
                      <a:pt x="82826" y="354638"/>
                    </a:moveTo>
                    <a:lnTo>
                      <a:pt x="82826" y="186461"/>
                    </a:lnTo>
                    <a:lnTo>
                      <a:pt x="113589" y="186461"/>
                    </a:lnTo>
                    <a:cubicBezTo>
                      <a:pt x="145377" y="186461"/>
                      <a:pt x="179215" y="196204"/>
                      <a:pt x="179215" y="274137"/>
                    </a:cubicBezTo>
                    <a:cubicBezTo>
                      <a:pt x="179215" y="349507"/>
                      <a:pt x="136664" y="354638"/>
                      <a:pt x="105382" y="354638"/>
                    </a:cubicBezTo>
                    <a:close/>
                    <a:moveTo>
                      <a:pt x="102820" y="345"/>
                    </a:moveTo>
                    <a:lnTo>
                      <a:pt x="280" y="345"/>
                    </a:lnTo>
                    <a:lnTo>
                      <a:pt x="280" y="4957"/>
                    </a:lnTo>
                    <a:cubicBezTo>
                      <a:pt x="22325" y="4957"/>
                      <a:pt x="30018" y="27008"/>
                      <a:pt x="30018" y="61871"/>
                    </a:cubicBezTo>
                    <a:lnTo>
                      <a:pt x="30018" y="300800"/>
                    </a:lnTo>
                    <a:cubicBezTo>
                      <a:pt x="30018" y="332588"/>
                      <a:pt x="22837" y="356688"/>
                      <a:pt x="280" y="356688"/>
                    </a:cubicBezTo>
                    <a:lnTo>
                      <a:pt x="280" y="361307"/>
                    </a:lnTo>
                    <a:lnTo>
                      <a:pt x="102820" y="361307"/>
                    </a:lnTo>
                    <a:cubicBezTo>
                      <a:pt x="174090" y="361307"/>
                      <a:pt x="234585" y="357201"/>
                      <a:pt x="234585" y="273631"/>
                    </a:cubicBezTo>
                    <a:cubicBezTo>
                      <a:pt x="234585" y="193642"/>
                      <a:pt x="159221" y="185442"/>
                      <a:pt x="148964" y="185442"/>
                    </a:cubicBezTo>
                    <a:cubicBezTo>
                      <a:pt x="182290" y="185442"/>
                      <a:pt x="258685" y="178779"/>
                      <a:pt x="258685" y="92121"/>
                    </a:cubicBezTo>
                    <a:cubicBezTo>
                      <a:pt x="258685" y="2913"/>
                      <a:pt x="191527" y="345"/>
                      <a:pt x="102820" y="345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27">
                <a:extLst>
                  <a:ext uri="{FF2B5EF4-FFF2-40B4-BE49-F238E27FC236}">
                    <a16:creationId xmlns:a16="http://schemas.microsoft.com/office/drawing/2014/main" id="{CE585F11-9465-FFF7-1698-24B858E2CB6C}"/>
                  </a:ext>
                </a:extLst>
              </p:cNvPr>
              <p:cNvSpPr/>
              <p:nvPr/>
            </p:nvSpPr>
            <p:spPr>
              <a:xfrm flipV="1">
                <a:off x="2091574" y="1492704"/>
                <a:ext cx="324112" cy="386382"/>
              </a:xfrm>
              <a:custGeom>
                <a:avLst/>
                <a:gdLst>
                  <a:gd name="connsiteX0" fmla="*/ 99962 w 324112"/>
                  <a:gd name="connsiteY0" fmla="*/ 281518 h 386382"/>
                  <a:gd name="connsiteX1" fmla="*/ 134548 w 324112"/>
                  <a:gd name="connsiteY1" fmla="*/ 228704 h 386382"/>
                  <a:gd name="connsiteX2" fmla="*/ 168151 w 324112"/>
                  <a:gd name="connsiteY2" fmla="*/ 359450 h 386382"/>
                  <a:gd name="connsiteX3" fmla="*/ 112142 w 324112"/>
                  <a:gd name="connsiteY3" fmla="*/ 374319 h 386382"/>
                  <a:gd name="connsiteX4" fmla="*/ 99962 w 324112"/>
                  <a:gd name="connsiteY4" fmla="*/ 281518 h 386382"/>
                  <a:gd name="connsiteX5" fmla="*/ 180807 w 324112"/>
                  <a:gd name="connsiteY5" fmla="*/ 76945 h 386382"/>
                  <a:gd name="connsiteX6" fmla="*/ 99962 w 324112"/>
                  <a:gd name="connsiteY6" fmla="*/ 199997 h 386382"/>
                  <a:gd name="connsiteX7" fmla="*/ 72696 w 324112"/>
                  <a:gd name="connsiteY7" fmla="*/ 182047 h 386382"/>
                  <a:gd name="connsiteX8" fmla="*/ 58575 w 324112"/>
                  <a:gd name="connsiteY8" fmla="*/ 53870 h 386382"/>
                  <a:gd name="connsiteX9" fmla="*/ 180807 w 324112"/>
                  <a:gd name="connsiteY9" fmla="*/ 76945 h 386382"/>
                  <a:gd name="connsiteX10" fmla="*/ 324468 w 324112"/>
                  <a:gd name="connsiteY10" fmla="*/ 56945 h 386382"/>
                  <a:gd name="connsiteX11" fmla="*/ 274802 w 324112"/>
                  <a:gd name="connsiteY11" fmla="*/ 550 h 386382"/>
                  <a:gd name="connsiteX12" fmla="*/ 213927 w 324112"/>
                  <a:gd name="connsiteY12" fmla="*/ 26182 h 386382"/>
                  <a:gd name="connsiteX13" fmla="*/ 185679 w 324112"/>
                  <a:gd name="connsiteY13" fmla="*/ 70789 h 386382"/>
                  <a:gd name="connsiteX14" fmla="*/ 19617 w 324112"/>
                  <a:gd name="connsiteY14" fmla="*/ 34901 h 386382"/>
                  <a:gd name="connsiteX15" fmla="*/ 68795 w 324112"/>
                  <a:gd name="connsiteY15" fmla="*/ 188203 h 386382"/>
                  <a:gd name="connsiteX16" fmla="*/ 96073 w 324112"/>
                  <a:gd name="connsiteY16" fmla="*/ 205635 h 386382"/>
                  <a:gd name="connsiteX17" fmla="*/ 71725 w 324112"/>
                  <a:gd name="connsiteY17" fmla="*/ 243573 h 386382"/>
                  <a:gd name="connsiteX18" fmla="*/ 103857 w 324112"/>
                  <a:gd name="connsiteY18" fmla="*/ 385088 h 386382"/>
                  <a:gd name="connsiteX19" fmla="*/ 173993 w 324112"/>
                  <a:gd name="connsiteY19" fmla="*/ 364069 h 386382"/>
                  <a:gd name="connsiteX20" fmla="*/ 138437 w 324112"/>
                  <a:gd name="connsiteY20" fmla="*/ 222554 h 386382"/>
                  <a:gd name="connsiteX21" fmla="*/ 203701 w 324112"/>
                  <a:gd name="connsiteY21" fmla="*/ 121040 h 386382"/>
                  <a:gd name="connsiteX22" fmla="*/ 261646 w 324112"/>
                  <a:gd name="connsiteY22" fmla="*/ 181535 h 386382"/>
                  <a:gd name="connsiteX23" fmla="*/ 291842 w 324112"/>
                  <a:gd name="connsiteY23" fmla="*/ 175897 h 386382"/>
                  <a:gd name="connsiteX24" fmla="*/ 294278 w 324112"/>
                  <a:gd name="connsiteY24" fmla="*/ 139490 h 386382"/>
                  <a:gd name="connsiteX25" fmla="*/ 259216 w 324112"/>
                  <a:gd name="connsiteY25" fmla="*/ 136421 h 386382"/>
                  <a:gd name="connsiteX26" fmla="*/ 250931 w 324112"/>
                  <a:gd name="connsiteY26" fmla="*/ 153853 h 386382"/>
                  <a:gd name="connsiteX27" fmla="*/ 207590 w 324112"/>
                  <a:gd name="connsiteY27" fmla="*/ 115396 h 386382"/>
                  <a:gd name="connsiteX28" fmla="*/ 246059 w 324112"/>
                  <a:gd name="connsiteY28" fmla="*/ 56945 h 386382"/>
                  <a:gd name="connsiteX29" fmla="*/ 285028 w 324112"/>
                  <a:gd name="connsiteY29" fmla="*/ 32845 h 386382"/>
                  <a:gd name="connsiteX30" fmla="*/ 318137 w 324112"/>
                  <a:gd name="connsiteY30" fmla="*/ 56945 h 38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24112" h="386382">
                    <a:moveTo>
                      <a:pt x="99962" y="281518"/>
                    </a:moveTo>
                    <a:lnTo>
                      <a:pt x="134548" y="228704"/>
                    </a:lnTo>
                    <a:cubicBezTo>
                      <a:pt x="199318" y="271774"/>
                      <a:pt x="192010" y="328175"/>
                      <a:pt x="168151" y="359450"/>
                    </a:cubicBezTo>
                    <a:cubicBezTo>
                      <a:pt x="154023" y="374832"/>
                      <a:pt x="131623" y="382013"/>
                      <a:pt x="112142" y="374319"/>
                    </a:cubicBezTo>
                    <a:cubicBezTo>
                      <a:pt x="82446" y="362525"/>
                      <a:pt x="76591" y="317924"/>
                      <a:pt x="99962" y="281518"/>
                    </a:cubicBezTo>
                    <a:moveTo>
                      <a:pt x="180807" y="76945"/>
                    </a:moveTo>
                    <a:lnTo>
                      <a:pt x="99962" y="199997"/>
                    </a:lnTo>
                    <a:lnTo>
                      <a:pt x="72696" y="182047"/>
                    </a:lnTo>
                    <a:cubicBezTo>
                      <a:pt x="44459" y="161540"/>
                      <a:pt x="16699" y="106165"/>
                      <a:pt x="58575" y="53870"/>
                    </a:cubicBezTo>
                    <a:cubicBezTo>
                      <a:pt x="88771" y="15932"/>
                      <a:pt x="155971" y="16957"/>
                      <a:pt x="180807" y="76945"/>
                    </a:cubicBezTo>
                    <a:moveTo>
                      <a:pt x="324468" y="56945"/>
                    </a:moveTo>
                    <a:cubicBezTo>
                      <a:pt x="323980" y="19519"/>
                      <a:pt x="297202" y="2594"/>
                      <a:pt x="274802" y="550"/>
                    </a:cubicBezTo>
                    <a:cubicBezTo>
                      <a:pt x="274802" y="550"/>
                      <a:pt x="232921" y="-3556"/>
                      <a:pt x="213927" y="26182"/>
                    </a:cubicBezTo>
                    <a:lnTo>
                      <a:pt x="185679" y="70789"/>
                    </a:lnTo>
                    <a:cubicBezTo>
                      <a:pt x="168639" y="12338"/>
                      <a:pt x="70742" y="-33807"/>
                      <a:pt x="19617" y="34901"/>
                    </a:cubicBezTo>
                    <a:cubicBezTo>
                      <a:pt x="-31031" y="103096"/>
                      <a:pt x="29844" y="164616"/>
                      <a:pt x="68795" y="188203"/>
                    </a:cubicBezTo>
                    <a:lnTo>
                      <a:pt x="96073" y="205635"/>
                    </a:lnTo>
                    <a:lnTo>
                      <a:pt x="71725" y="243573"/>
                    </a:lnTo>
                    <a:cubicBezTo>
                      <a:pt x="23513" y="312281"/>
                      <a:pt x="49325" y="374832"/>
                      <a:pt x="103857" y="385088"/>
                    </a:cubicBezTo>
                    <a:cubicBezTo>
                      <a:pt x="135518" y="390726"/>
                      <a:pt x="159378" y="381500"/>
                      <a:pt x="173993" y="364069"/>
                    </a:cubicBezTo>
                    <a:cubicBezTo>
                      <a:pt x="194934" y="338937"/>
                      <a:pt x="213433" y="275874"/>
                      <a:pt x="138437" y="222554"/>
                    </a:cubicBezTo>
                    <a:lnTo>
                      <a:pt x="203701" y="121040"/>
                    </a:lnTo>
                    <a:cubicBezTo>
                      <a:pt x="222200" y="169228"/>
                      <a:pt x="248983" y="178460"/>
                      <a:pt x="261646" y="181535"/>
                    </a:cubicBezTo>
                    <a:cubicBezTo>
                      <a:pt x="271383" y="183591"/>
                      <a:pt x="283557" y="183072"/>
                      <a:pt x="291842" y="175897"/>
                    </a:cubicBezTo>
                    <a:cubicBezTo>
                      <a:pt x="301091" y="168203"/>
                      <a:pt x="304498" y="151284"/>
                      <a:pt x="294278" y="139490"/>
                    </a:cubicBezTo>
                    <a:cubicBezTo>
                      <a:pt x="285505" y="128727"/>
                      <a:pt x="269918" y="127184"/>
                      <a:pt x="259216" y="136421"/>
                    </a:cubicBezTo>
                    <a:cubicBezTo>
                      <a:pt x="253367" y="141546"/>
                      <a:pt x="251419" y="146671"/>
                      <a:pt x="250931" y="153853"/>
                    </a:cubicBezTo>
                    <a:cubicBezTo>
                      <a:pt x="250931" y="165128"/>
                      <a:pt x="220741" y="156928"/>
                      <a:pt x="207590" y="115396"/>
                    </a:cubicBezTo>
                    <a:lnTo>
                      <a:pt x="246059" y="56945"/>
                    </a:lnTo>
                    <a:cubicBezTo>
                      <a:pt x="261646" y="33363"/>
                      <a:pt x="285028" y="32845"/>
                      <a:pt x="285028" y="32845"/>
                    </a:cubicBezTo>
                    <a:cubicBezTo>
                      <a:pt x="300120" y="32845"/>
                      <a:pt x="315701" y="39001"/>
                      <a:pt x="318137" y="56945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29">
                <a:extLst>
                  <a:ext uri="{FF2B5EF4-FFF2-40B4-BE49-F238E27FC236}">
                    <a16:creationId xmlns:a16="http://schemas.microsoft.com/office/drawing/2014/main" id="{275F02DA-158F-1580-2EFF-C06F1C79389B}"/>
                  </a:ext>
                </a:extLst>
              </p:cNvPr>
              <p:cNvSpPr/>
              <p:nvPr/>
            </p:nvSpPr>
            <p:spPr>
              <a:xfrm flipV="1">
                <a:off x="2427647" y="1513327"/>
                <a:ext cx="343018" cy="360956"/>
              </a:xfrm>
              <a:custGeom>
                <a:avLst/>
                <a:gdLst>
                  <a:gd name="connsiteX0" fmla="*/ 343489 w 343018"/>
                  <a:gd name="connsiteY0" fmla="*/ 361331 h 360956"/>
                  <a:gd name="connsiteX1" fmla="*/ 343489 w 343018"/>
                  <a:gd name="connsiteY1" fmla="*/ 354662 h 360956"/>
                  <a:gd name="connsiteX2" fmla="*/ 237862 w 343018"/>
                  <a:gd name="connsiteY2" fmla="*/ 241867 h 360956"/>
                  <a:gd name="connsiteX3" fmla="*/ 198899 w 343018"/>
                  <a:gd name="connsiteY3" fmla="*/ 161371 h 360956"/>
                  <a:gd name="connsiteX4" fmla="*/ 198899 w 343018"/>
                  <a:gd name="connsiteY4" fmla="*/ 57801 h 360956"/>
                  <a:gd name="connsiteX5" fmla="*/ 237349 w 343018"/>
                  <a:gd name="connsiteY5" fmla="*/ 7044 h 360956"/>
                  <a:gd name="connsiteX6" fmla="*/ 237349 w 343018"/>
                  <a:gd name="connsiteY6" fmla="*/ 375 h 360956"/>
                  <a:gd name="connsiteX7" fmla="*/ 112241 w 343018"/>
                  <a:gd name="connsiteY7" fmla="*/ 375 h 360956"/>
                  <a:gd name="connsiteX8" fmla="*/ 112241 w 343018"/>
                  <a:gd name="connsiteY8" fmla="*/ 7044 h 360956"/>
                  <a:gd name="connsiteX9" fmla="*/ 150698 w 343018"/>
                  <a:gd name="connsiteY9" fmla="*/ 57801 h 360956"/>
                  <a:gd name="connsiteX10" fmla="*/ 150698 w 343018"/>
                  <a:gd name="connsiteY10" fmla="*/ 148034 h 360956"/>
                  <a:gd name="connsiteX11" fmla="*/ 54309 w 343018"/>
                  <a:gd name="connsiteY11" fmla="*/ 315186 h 360956"/>
                  <a:gd name="connsiteX12" fmla="*/ 471 w 343018"/>
                  <a:gd name="connsiteY12" fmla="*/ 355175 h 360956"/>
                  <a:gd name="connsiteX13" fmla="*/ 471 w 343018"/>
                  <a:gd name="connsiteY13" fmla="*/ 361331 h 360956"/>
                  <a:gd name="connsiteX14" fmla="*/ 132247 w 343018"/>
                  <a:gd name="connsiteY14" fmla="*/ 361331 h 360956"/>
                  <a:gd name="connsiteX15" fmla="*/ 132247 w 343018"/>
                  <a:gd name="connsiteY15" fmla="*/ 355175 h 360956"/>
                  <a:gd name="connsiteX16" fmla="*/ 120448 w 343018"/>
                  <a:gd name="connsiteY16" fmla="*/ 297242 h 360956"/>
                  <a:gd name="connsiteX17" fmla="*/ 195824 w 343018"/>
                  <a:gd name="connsiteY17" fmla="*/ 169572 h 360956"/>
                  <a:gd name="connsiteX18" fmla="*/ 234787 w 343018"/>
                  <a:gd name="connsiteY18" fmla="*/ 249554 h 360956"/>
                  <a:gd name="connsiteX19" fmla="*/ 211718 w 343018"/>
                  <a:gd name="connsiteY19" fmla="*/ 354662 h 360956"/>
                  <a:gd name="connsiteX20" fmla="*/ 211718 w 343018"/>
                  <a:gd name="connsiteY20" fmla="*/ 361331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3018" h="360956">
                    <a:moveTo>
                      <a:pt x="343489" y="361331"/>
                    </a:moveTo>
                    <a:lnTo>
                      <a:pt x="343489" y="354662"/>
                    </a:lnTo>
                    <a:cubicBezTo>
                      <a:pt x="321444" y="354662"/>
                      <a:pt x="294775" y="354662"/>
                      <a:pt x="237862" y="241867"/>
                    </a:cubicBezTo>
                    <a:lnTo>
                      <a:pt x="198899" y="161371"/>
                    </a:lnTo>
                    <a:lnTo>
                      <a:pt x="198899" y="57801"/>
                    </a:lnTo>
                    <a:cubicBezTo>
                      <a:pt x="198899" y="16269"/>
                      <a:pt x="215818" y="7044"/>
                      <a:pt x="237349" y="7044"/>
                    </a:cubicBezTo>
                    <a:lnTo>
                      <a:pt x="237349" y="375"/>
                    </a:lnTo>
                    <a:lnTo>
                      <a:pt x="112241" y="375"/>
                    </a:lnTo>
                    <a:lnTo>
                      <a:pt x="112241" y="7044"/>
                    </a:lnTo>
                    <a:cubicBezTo>
                      <a:pt x="133785" y="7044"/>
                      <a:pt x="150698" y="16269"/>
                      <a:pt x="150698" y="57801"/>
                    </a:cubicBezTo>
                    <a:lnTo>
                      <a:pt x="150698" y="148034"/>
                    </a:lnTo>
                    <a:cubicBezTo>
                      <a:pt x="75334" y="281342"/>
                      <a:pt x="54309" y="315186"/>
                      <a:pt x="54309" y="315186"/>
                    </a:cubicBezTo>
                    <a:cubicBezTo>
                      <a:pt x="31246" y="354156"/>
                      <a:pt x="17402" y="354156"/>
                      <a:pt x="471" y="355175"/>
                    </a:cubicBezTo>
                    <a:lnTo>
                      <a:pt x="471" y="361331"/>
                    </a:lnTo>
                    <a:lnTo>
                      <a:pt x="132247" y="361331"/>
                    </a:lnTo>
                    <a:lnTo>
                      <a:pt x="132247" y="355175"/>
                    </a:lnTo>
                    <a:cubicBezTo>
                      <a:pt x="117885" y="355175"/>
                      <a:pt x="85596" y="356200"/>
                      <a:pt x="120448" y="297242"/>
                    </a:cubicBezTo>
                    <a:lnTo>
                      <a:pt x="195824" y="169572"/>
                    </a:lnTo>
                    <a:lnTo>
                      <a:pt x="234787" y="249554"/>
                    </a:lnTo>
                    <a:cubicBezTo>
                      <a:pt x="252224" y="284936"/>
                      <a:pt x="280931" y="354662"/>
                      <a:pt x="211718" y="354662"/>
                    </a:cubicBezTo>
                    <a:lnTo>
                      <a:pt x="211718" y="361331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30">
                <a:extLst>
                  <a:ext uri="{FF2B5EF4-FFF2-40B4-BE49-F238E27FC236}">
                    <a16:creationId xmlns:a16="http://schemas.microsoft.com/office/drawing/2014/main" id="{BA538FE7-8D57-2018-641F-17E754E728D7}"/>
                  </a:ext>
                </a:extLst>
              </p:cNvPr>
              <p:cNvSpPr/>
              <p:nvPr/>
            </p:nvSpPr>
            <p:spPr>
              <a:xfrm flipV="1">
                <a:off x="1748076" y="1998302"/>
                <a:ext cx="263535" cy="360956"/>
              </a:xfrm>
              <a:custGeom>
                <a:avLst/>
                <a:gdLst>
                  <a:gd name="connsiteX0" fmla="*/ 94103 w 263535"/>
                  <a:gd name="connsiteY0" fmla="*/ 161445 h 360956"/>
                  <a:gd name="connsiteX1" fmla="*/ 207930 w 263535"/>
                  <a:gd name="connsiteY1" fmla="*/ 257835 h 360956"/>
                  <a:gd name="connsiteX2" fmla="*/ 94103 w 263535"/>
                  <a:gd name="connsiteY2" fmla="*/ 354742 h 360956"/>
                  <a:gd name="connsiteX3" fmla="*/ 84878 w 263535"/>
                  <a:gd name="connsiteY3" fmla="*/ 354742 h 360956"/>
                  <a:gd name="connsiteX4" fmla="*/ 84878 w 263535"/>
                  <a:gd name="connsiteY4" fmla="*/ 161445 h 360956"/>
                  <a:gd name="connsiteX5" fmla="*/ 84878 w 263535"/>
                  <a:gd name="connsiteY5" fmla="*/ 70688 h 360956"/>
                  <a:gd name="connsiteX6" fmla="*/ 135629 w 263535"/>
                  <a:gd name="connsiteY6" fmla="*/ 7118 h 360956"/>
                  <a:gd name="connsiteX7" fmla="*/ 135629 w 263535"/>
                  <a:gd name="connsiteY7" fmla="*/ 449 h 360956"/>
                  <a:gd name="connsiteX8" fmla="*/ 277 w 263535"/>
                  <a:gd name="connsiteY8" fmla="*/ 449 h 360956"/>
                  <a:gd name="connsiteX9" fmla="*/ 277 w 263535"/>
                  <a:gd name="connsiteY9" fmla="*/ 7118 h 360956"/>
                  <a:gd name="connsiteX10" fmla="*/ 34115 w 263535"/>
                  <a:gd name="connsiteY10" fmla="*/ 69150 h 360956"/>
                  <a:gd name="connsiteX11" fmla="*/ 34115 w 263535"/>
                  <a:gd name="connsiteY11" fmla="*/ 306542 h 360956"/>
                  <a:gd name="connsiteX12" fmla="*/ 1302 w 263535"/>
                  <a:gd name="connsiteY12" fmla="*/ 354742 h 360956"/>
                  <a:gd name="connsiteX13" fmla="*/ 1302 w 263535"/>
                  <a:gd name="connsiteY13" fmla="*/ 361405 h 360956"/>
                  <a:gd name="connsiteX14" fmla="*/ 94103 w 263535"/>
                  <a:gd name="connsiteY14" fmla="*/ 361405 h 360956"/>
                  <a:gd name="connsiteX15" fmla="*/ 263813 w 263535"/>
                  <a:gd name="connsiteY15" fmla="*/ 257835 h 360956"/>
                  <a:gd name="connsiteX16" fmla="*/ 94103 w 263535"/>
                  <a:gd name="connsiteY16" fmla="*/ 154783 h 360956"/>
                  <a:gd name="connsiteX17" fmla="*/ 84878 w 263535"/>
                  <a:gd name="connsiteY17" fmla="*/ 154783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3535" h="360956">
                    <a:moveTo>
                      <a:pt x="94103" y="161445"/>
                    </a:moveTo>
                    <a:cubicBezTo>
                      <a:pt x="156660" y="161445"/>
                      <a:pt x="207930" y="162983"/>
                      <a:pt x="207930" y="257835"/>
                    </a:cubicBezTo>
                    <a:cubicBezTo>
                      <a:pt x="207930" y="355261"/>
                      <a:pt x="154092" y="354742"/>
                      <a:pt x="94103" y="354742"/>
                    </a:cubicBezTo>
                    <a:lnTo>
                      <a:pt x="84878" y="354742"/>
                    </a:lnTo>
                    <a:lnTo>
                      <a:pt x="84878" y="161445"/>
                    </a:lnTo>
                    <a:close/>
                    <a:moveTo>
                      <a:pt x="84878" y="70688"/>
                    </a:moveTo>
                    <a:cubicBezTo>
                      <a:pt x="84878" y="9162"/>
                      <a:pt x="103329" y="7118"/>
                      <a:pt x="135629" y="7118"/>
                    </a:cubicBezTo>
                    <a:lnTo>
                      <a:pt x="135629" y="449"/>
                    </a:lnTo>
                    <a:lnTo>
                      <a:pt x="277" y="449"/>
                    </a:lnTo>
                    <a:lnTo>
                      <a:pt x="277" y="7118"/>
                    </a:lnTo>
                    <a:cubicBezTo>
                      <a:pt x="25396" y="7118"/>
                      <a:pt x="34115" y="20449"/>
                      <a:pt x="34115" y="69150"/>
                    </a:cubicBezTo>
                    <a:lnTo>
                      <a:pt x="34115" y="306542"/>
                    </a:lnTo>
                    <a:cubicBezTo>
                      <a:pt x="34115" y="341923"/>
                      <a:pt x="26934" y="354742"/>
                      <a:pt x="1302" y="354742"/>
                    </a:cubicBezTo>
                    <a:lnTo>
                      <a:pt x="1302" y="361405"/>
                    </a:lnTo>
                    <a:lnTo>
                      <a:pt x="94103" y="361405"/>
                    </a:lnTo>
                    <a:cubicBezTo>
                      <a:pt x="196130" y="361405"/>
                      <a:pt x="263813" y="349099"/>
                      <a:pt x="263813" y="257835"/>
                    </a:cubicBezTo>
                    <a:cubicBezTo>
                      <a:pt x="263813" y="167089"/>
                      <a:pt x="196130" y="154783"/>
                      <a:pt x="94103" y="154783"/>
                    </a:cubicBezTo>
                    <a:lnTo>
                      <a:pt x="84878" y="154783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31">
                <a:extLst>
                  <a:ext uri="{FF2B5EF4-FFF2-40B4-BE49-F238E27FC236}">
                    <a16:creationId xmlns:a16="http://schemas.microsoft.com/office/drawing/2014/main" id="{51EB2D92-B8E9-F35E-C46A-828782A585A3}"/>
                  </a:ext>
                </a:extLst>
              </p:cNvPr>
              <p:cNvSpPr/>
              <p:nvPr/>
            </p:nvSpPr>
            <p:spPr>
              <a:xfrm flipV="1">
                <a:off x="2031586" y="1998298"/>
                <a:ext cx="336343" cy="360962"/>
              </a:xfrm>
              <a:custGeom>
                <a:avLst/>
                <a:gdLst>
                  <a:gd name="connsiteX0" fmla="*/ 210577 w 336343"/>
                  <a:gd name="connsiteY0" fmla="*/ 116324 h 360962"/>
                  <a:gd name="connsiteX1" fmla="*/ 143401 w 336343"/>
                  <a:gd name="connsiteY1" fmla="*/ 286540 h 360962"/>
                  <a:gd name="connsiteX2" fmla="*/ 81368 w 336343"/>
                  <a:gd name="connsiteY2" fmla="*/ 116324 h 360962"/>
                  <a:gd name="connsiteX3" fmla="*/ 336704 w 336343"/>
                  <a:gd name="connsiteY3" fmla="*/ 442 h 360962"/>
                  <a:gd name="connsiteX4" fmla="*/ 219796 w 336343"/>
                  <a:gd name="connsiteY4" fmla="*/ 442 h 360962"/>
                  <a:gd name="connsiteX5" fmla="*/ 219796 w 336343"/>
                  <a:gd name="connsiteY5" fmla="*/ 7116 h 360962"/>
                  <a:gd name="connsiteX6" fmla="*/ 230565 w 336343"/>
                  <a:gd name="connsiteY6" fmla="*/ 65049 h 360962"/>
                  <a:gd name="connsiteX7" fmla="*/ 212627 w 336343"/>
                  <a:gd name="connsiteY7" fmla="*/ 109656 h 360962"/>
                  <a:gd name="connsiteX8" fmla="*/ 79825 w 336343"/>
                  <a:gd name="connsiteY8" fmla="*/ 109656 h 360962"/>
                  <a:gd name="connsiteX9" fmla="*/ 114700 w 336343"/>
                  <a:gd name="connsiteY9" fmla="*/ 7116 h 360962"/>
                  <a:gd name="connsiteX10" fmla="*/ 114700 w 336343"/>
                  <a:gd name="connsiteY10" fmla="*/ 442 h 360962"/>
                  <a:gd name="connsiteX11" fmla="*/ 361 w 336343"/>
                  <a:gd name="connsiteY11" fmla="*/ 442 h 360962"/>
                  <a:gd name="connsiteX12" fmla="*/ 361 w 336343"/>
                  <a:gd name="connsiteY12" fmla="*/ 7116 h 360962"/>
                  <a:gd name="connsiteX13" fmla="*/ 77268 w 336343"/>
                  <a:gd name="connsiteY13" fmla="*/ 128112 h 360962"/>
                  <a:gd name="connsiteX14" fmla="*/ 162889 w 336343"/>
                  <a:gd name="connsiteY14" fmla="*/ 361404 h 360962"/>
                  <a:gd name="connsiteX15" fmla="*/ 168520 w 336343"/>
                  <a:gd name="connsiteY15" fmla="*/ 361404 h 360962"/>
                  <a:gd name="connsiteX16" fmla="*/ 294660 w 336343"/>
                  <a:gd name="connsiteY16" fmla="*/ 48636 h 360962"/>
                  <a:gd name="connsiteX17" fmla="*/ 336704 w 336343"/>
                  <a:gd name="connsiteY17" fmla="*/ 7116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6343" h="360962">
                    <a:moveTo>
                      <a:pt x="210577" y="116324"/>
                    </a:moveTo>
                    <a:lnTo>
                      <a:pt x="143401" y="286540"/>
                    </a:lnTo>
                    <a:lnTo>
                      <a:pt x="81368" y="116324"/>
                    </a:lnTo>
                    <a:close/>
                    <a:moveTo>
                      <a:pt x="336704" y="442"/>
                    </a:moveTo>
                    <a:lnTo>
                      <a:pt x="219796" y="442"/>
                    </a:lnTo>
                    <a:lnTo>
                      <a:pt x="219796" y="7116"/>
                    </a:lnTo>
                    <a:cubicBezTo>
                      <a:pt x="247484" y="7116"/>
                      <a:pt x="242359" y="36330"/>
                      <a:pt x="230565" y="65049"/>
                    </a:cubicBezTo>
                    <a:lnTo>
                      <a:pt x="212627" y="109656"/>
                    </a:lnTo>
                    <a:lnTo>
                      <a:pt x="79825" y="109656"/>
                    </a:lnTo>
                    <a:cubicBezTo>
                      <a:pt x="65987" y="68636"/>
                      <a:pt x="43430" y="5060"/>
                      <a:pt x="114700" y="7116"/>
                    </a:cubicBezTo>
                    <a:lnTo>
                      <a:pt x="114700" y="442"/>
                    </a:lnTo>
                    <a:lnTo>
                      <a:pt x="361" y="442"/>
                    </a:lnTo>
                    <a:lnTo>
                      <a:pt x="361" y="7116"/>
                    </a:lnTo>
                    <a:cubicBezTo>
                      <a:pt x="19842" y="7623"/>
                      <a:pt x="32661" y="9679"/>
                      <a:pt x="77268" y="128112"/>
                    </a:cubicBezTo>
                    <a:lnTo>
                      <a:pt x="162889" y="361404"/>
                    </a:lnTo>
                    <a:lnTo>
                      <a:pt x="168520" y="361404"/>
                    </a:lnTo>
                    <a:cubicBezTo>
                      <a:pt x="231077" y="210664"/>
                      <a:pt x="294660" y="48636"/>
                      <a:pt x="294660" y="48636"/>
                    </a:cubicBezTo>
                    <a:cubicBezTo>
                      <a:pt x="311585" y="7623"/>
                      <a:pt x="322347" y="8141"/>
                      <a:pt x="336704" y="711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32">
                <a:extLst>
                  <a:ext uri="{FF2B5EF4-FFF2-40B4-BE49-F238E27FC236}">
                    <a16:creationId xmlns:a16="http://schemas.microsoft.com/office/drawing/2014/main" id="{AEC7D3F9-E355-D05D-67AE-22430CAC3A3B}"/>
                  </a:ext>
                </a:extLst>
              </p:cNvPr>
              <p:cNvSpPr/>
              <p:nvPr/>
            </p:nvSpPr>
            <p:spPr>
              <a:xfrm flipV="1">
                <a:off x="2424299" y="1998303"/>
                <a:ext cx="311736" cy="360956"/>
              </a:xfrm>
              <a:custGeom>
                <a:avLst/>
                <a:gdLst>
                  <a:gd name="connsiteX0" fmla="*/ 98361 w 311736"/>
                  <a:gd name="connsiteY0" fmla="*/ 354774 h 360956"/>
                  <a:gd name="connsiteX1" fmla="*/ 82461 w 311736"/>
                  <a:gd name="connsiteY1" fmla="*/ 354774 h 360956"/>
                  <a:gd name="connsiteX2" fmla="*/ 82461 w 311736"/>
                  <a:gd name="connsiteY2" fmla="*/ 172759 h 360956"/>
                  <a:gd name="connsiteX3" fmla="*/ 98361 w 311736"/>
                  <a:gd name="connsiteY3" fmla="*/ 172759 h 360956"/>
                  <a:gd name="connsiteX4" fmla="*/ 200388 w 311736"/>
                  <a:gd name="connsiteY4" fmla="*/ 263504 h 360956"/>
                  <a:gd name="connsiteX5" fmla="*/ 98361 w 311736"/>
                  <a:gd name="connsiteY5" fmla="*/ 354774 h 360956"/>
                  <a:gd name="connsiteX6" fmla="*/ 312165 w 311736"/>
                  <a:gd name="connsiteY6" fmla="*/ 481 h 360956"/>
                  <a:gd name="connsiteX7" fmla="*/ 273189 w 311736"/>
                  <a:gd name="connsiteY7" fmla="*/ 481 h 360956"/>
                  <a:gd name="connsiteX8" fmla="*/ 186037 w 311736"/>
                  <a:gd name="connsiteY8" fmla="*/ 112258 h 360956"/>
                  <a:gd name="connsiteX9" fmla="*/ 106561 w 311736"/>
                  <a:gd name="connsiteY9" fmla="*/ 166090 h 360956"/>
                  <a:gd name="connsiteX10" fmla="*/ 82461 w 311736"/>
                  <a:gd name="connsiteY10" fmla="*/ 166090 h 360956"/>
                  <a:gd name="connsiteX11" fmla="*/ 82461 w 311736"/>
                  <a:gd name="connsiteY11" fmla="*/ 53807 h 360956"/>
                  <a:gd name="connsiteX12" fmla="*/ 115280 w 311736"/>
                  <a:gd name="connsiteY12" fmla="*/ 7156 h 360956"/>
                  <a:gd name="connsiteX13" fmla="*/ 115280 w 311736"/>
                  <a:gd name="connsiteY13" fmla="*/ 481 h 360956"/>
                  <a:gd name="connsiteX14" fmla="*/ 428 w 311736"/>
                  <a:gd name="connsiteY14" fmla="*/ 481 h 360956"/>
                  <a:gd name="connsiteX15" fmla="*/ 428 w 311736"/>
                  <a:gd name="connsiteY15" fmla="*/ 7156 h 360956"/>
                  <a:gd name="connsiteX16" fmla="*/ 32210 w 311736"/>
                  <a:gd name="connsiteY16" fmla="*/ 60470 h 360956"/>
                  <a:gd name="connsiteX17" fmla="*/ 32210 w 311736"/>
                  <a:gd name="connsiteY17" fmla="*/ 315811 h 360956"/>
                  <a:gd name="connsiteX18" fmla="*/ 428 w 311736"/>
                  <a:gd name="connsiteY18" fmla="*/ 354774 h 360956"/>
                  <a:gd name="connsiteX19" fmla="*/ 428 w 311736"/>
                  <a:gd name="connsiteY19" fmla="*/ 361437 h 360956"/>
                  <a:gd name="connsiteX20" fmla="*/ 98361 w 311736"/>
                  <a:gd name="connsiteY20" fmla="*/ 361437 h 360956"/>
                  <a:gd name="connsiteX21" fmla="*/ 256777 w 311736"/>
                  <a:gd name="connsiteY21" fmla="*/ 263504 h 360956"/>
                  <a:gd name="connsiteX22" fmla="*/ 161425 w 311736"/>
                  <a:gd name="connsiteY22" fmla="*/ 169684 h 360956"/>
                  <a:gd name="connsiteX23" fmla="*/ 257301 w 311736"/>
                  <a:gd name="connsiteY23" fmla="*/ 52269 h 360956"/>
                  <a:gd name="connsiteX24" fmla="*/ 312165 w 311736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6" h="360956">
                    <a:moveTo>
                      <a:pt x="98361" y="354774"/>
                    </a:moveTo>
                    <a:lnTo>
                      <a:pt x="82461" y="354774"/>
                    </a:lnTo>
                    <a:lnTo>
                      <a:pt x="82461" y="172759"/>
                    </a:lnTo>
                    <a:lnTo>
                      <a:pt x="98361" y="172759"/>
                    </a:lnTo>
                    <a:cubicBezTo>
                      <a:pt x="156293" y="172759"/>
                      <a:pt x="200388" y="172252"/>
                      <a:pt x="200388" y="263504"/>
                    </a:cubicBezTo>
                    <a:cubicBezTo>
                      <a:pt x="200388" y="356831"/>
                      <a:pt x="153224" y="354774"/>
                      <a:pt x="98361" y="354774"/>
                    </a:cubicBezTo>
                    <a:moveTo>
                      <a:pt x="312165" y="481"/>
                    </a:moveTo>
                    <a:lnTo>
                      <a:pt x="273189" y="481"/>
                    </a:lnTo>
                    <a:cubicBezTo>
                      <a:pt x="207557" y="481"/>
                      <a:pt x="215257" y="994"/>
                      <a:pt x="186037" y="112258"/>
                    </a:cubicBezTo>
                    <a:cubicBezTo>
                      <a:pt x="171669" y="166090"/>
                      <a:pt x="119887" y="166090"/>
                      <a:pt x="106561" y="166090"/>
                    </a:cubicBezTo>
                    <a:lnTo>
                      <a:pt x="82461" y="166090"/>
                    </a:lnTo>
                    <a:lnTo>
                      <a:pt x="82461" y="53807"/>
                    </a:lnTo>
                    <a:cubicBezTo>
                      <a:pt x="82461" y="18431"/>
                      <a:pt x="93742" y="7156"/>
                      <a:pt x="115280" y="7156"/>
                    </a:cubicBezTo>
                    <a:lnTo>
                      <a:pt x="115280" y="481"/>
                    </a:lnTo>
                    <a:lnTo>
                      <a:pt x="428" y="481"/>
                    </a:lnTo>
                    <a:lnTo>
                      <a:pt x="428" y="7156"/>
                    </a:lnTo>
                    <a:cubicBezTo>
                      <a:pt x="22479" y="7156"/>
                      <a:pt x="32210" y="17406"/>
                      <a:pt x="32210" y="60470"/>
                    </a:cubicBezTo>
                    <a:lnTo>
                      <a:pt x="32210" y="315811"/>
                    </a:lnTo>
                    <a:cubicBezTo>
                      <a:pt x="32210" y="347599"/>
                      <a:pt x="22985" y="354774"/>
                      <a:pt x="428" y="354774"/>
                    </a:cubicBezTo>
                    <a:lnTo>
                      <a:pt x="428" y="361437"/>
                    </a:lnTo>
                    <a:lnTo>
                      <a:pt x="98361" y="361437"/>
                    </a:lnTo>
                    <a:cubicBezTo>
                      <a:pt x="200388" y="361437"/>
                      <a:pt x="256777" y="349131"/>
                      <a:pt x="256777" y="263504"/>
                    </a:cubicBezTo>
                    <a:cubicBezTo>
                      <a:pt x="256777" y="193778"/>
                      <a:pt x="216801" y="173265"/>
                      <a:pt x="161425" y="169684"/>
                    </a:cubicBezTo>
                    <a:cubicBezTo>
                      <a:pt x="195257" y="168146"/>
                      <a:pt x="230638" y="164553"/>
                      <a:pt x="257301" y="52269"/>
                    </a:cubicBezTo>
                    <a:cubicBezTo>
                      <a:pt x="266533" y="13300"/>
                      <a:pt x="298833" y="8181"/>
                      <a:pt x="312165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33">
                <a:extLst>
                  <a:ext uri="{FF2B5EF4-FFF2-40B4-BE49-F238E27FC236}">
                    <a16:creationId xmlns:a16="http://schemas.microsoft.com/office/drawing/2014/main" id="{C305AD8A-CF56-76CA-F0B2-0527BD315F4B}"/>
                  </a:ext>
                </a:extLst>
              </p:cNvPr>
              <p:cNvSpPr/>
              <p:nvPr/>
            </p:nvSpPr>
            <p:spPr>
              <a:xfrm flipV="1">
                <a:off x="2770871" y="1998301"/>
                <a:ext cx="313786" cy="360956"/>
              </a:xfrm>
              <a:custGeom>
                <a:avLst/>
                <a:gdLst>
                  <a:gd name="connsiteX0" fmla="*/ 314327 w 313786"/>
                  <a:gd name="connsiteY0" fmla="*/ 361438 h 360956"/>
                  <a:gd name="connsiteX1" fmla="*/ 314327 w 313786"/>
                  <a:gd name="connsiteY1" fmla="*/ 271199 h 360956"/>
                  <a:gd name="connsiteX2" fmla="*/ 307671 w 313786"/>
                  <a:gd name="connsiteY2" fmla="*/ 271199 h 360956"/>
                  <a:gd name="connsiteX3" fmla="*/ 212813 w 313786"/>
                  <a:gd name="connsiteY3" fmla="*/ 354776 h 360956"/>
                  <a:gd name="connsiteX4" fmla="*/ 182556 w 313786"/>
                  <a:gd name="connsiteY4" fmla="*/ 354776 h 360956"/>
                  <a:gd name="connsiteX5" fmla="*/ 182556 w 313786"/>
                  <a:gd name="connsiteY5" fmla="*/ 50214 h 360956"/>
                  <a:gd name="connsiteX6" fmla="*/ 219988 w 313786"/>
                  <a:gd name="connsiteY6" fmla="*/ 7151 h 360956"/>
                  <a:gd name="connsiteX7" fmla="*/ 219988 w 313786"/>
                  <a:gd name="connsiteY7" fmla="*/ 482 h 360956"/>
                  <a:gd name="connsiteX8" fmla="*/ 94886 w 313786"/>
                  <a:gd name="connsiteY8" fmla="*/ 482 h 360956"/>
                  <a:gd name="connsiteX9" fmla="*/ 94886 w 313786"/>
                  <a:gd name="connsiteY9" fmla="*/ 7151 h 360956"/>
                  <a:gd name="connsiteX10" fmla="*/ 131799 w 313786"/>
                  <a:gd name="connsiteY10" fmla="*/ 50214 h 360956"/>
                  <a:gd name="connsiteX11" fmla="*/ 131799 w 313786"/>
                  <a:gd name="connsiteY11" fmla="*/ 354776 h 360956"/>
                  <a:gd name="connsiteX12" fmla="*/ 101549 w 313786"/>
                  <a:gd name="connsiteY12" fmla="*/ 354776 h 360956"/>
                  <a:gd name="connsiteX13" fmla="*/ 7209 w 313786"/>
                  <a:gd name="connsiteY13" fmla="*/ 271199 h 360956"/>
                  <a:gd name="connsiteX14" fmla="*/ 541 w 313786"/>
                  <a:gd name="connsiteY14" fmla="*/ 271199 h 360956"/>
                  <a:gd name="connsiteX15" fmla="*/ 541 w 313786"/>
                  <a:gd name="connsiteY15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3786" h="360956">
                    <a:moveTo>
                      <a:pt x="314327" y="361438"/>
                    </a:moveTo>
                    <a:lnTo>
                      <a:pt x="314327" y="271199"/>
                    </a:lnTo>
                    <a:lnTo>
                      <a:pt x="307671" y="271199"/>
                    </a:lnTo>
                    <a:cubicBezTo>
                      <a:pt x="305614" y="353751"/>
                      <a:pt x="219988" y="354776"/>
                      <a:pt x="212813" y="354776"/>
                    </a:cubicBezTo>
                    <a:lnTo>
                      <a:pt x="182556" y="354776"/>
                    </a:lnTo>
                    <a:lnTo>
                      <a:pt x="182556" y="50214"/>
                    </a:lnTo>
                    <a:cubicBezTo>
                      <a:pt x="182556" y="16376"/>
                      <a:pt x="198456" y="7151"/>
                      <a:pt x="219988" y="7151"/>
                    </a:cubicBezTo>
                    <a:lnTo>
                      <a:pt x="219988" y="482"/>
                    </a:lnTo>
                    <a:lnTo>
                      <a:pt x="94886" y="482"/>
                    </a:lnTo>
                    <a:lnTo>
                      <a:pt x="94886" y="7151"/>
                    </a:lnTo>
                    <a:cubicBezTo>
                      <a:pt x="116424" y="7151"/>
                      <a:pt x="131799" y="16376"/>
                      <a:pt x="131799" y="50214"/>
                    </a:cubicBezTo>
                    <a:lnTo>
                      <a:pt x="131799" y="354776"/>
                    </a:lnTo>
                    <a:lnTo>
                      <a:pt x="101549" y="354776"/>
                    </a:lnTo>
                    <a:cubicBezTo>
                      <a:pt x="85649" y="354776"/>
                      <a:pt x="9266" y="353751"/>
                      <a:pt x="7209" y="271199"/>
                    </a:cubicBezTo>
                    <a:lnTo>
                      <a:pt x="541" y="271199"/>
                    </a:lnTo>
                    <a:lnTo>
                      <a:pt x="541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34">
                <a:extLst>
                  <a:ext uri="{FF2B5EF4-FFF2-40B4-BE49-F238E27FC236}">
                    <a16:creationId xmlns:a16="http://schemas.microsoft.com/office/drawing/2014/main" id="{B4ECF8BB-279B-1129-37E5-A022AB7BA1E4}"/>
                  </a:ext>
                </a:extLst>
              </p:cNvPr>
              <p:cNvSpPr/>
              <p:nvPr/>
            </p:nvSpPr>
            <p:spPr>
              <a:xfrm flipV="1">
                <a:off x="3131802" y="1998301"/>
                <a:ext cx="395813" cy="360956"/>
              </a:xfrm>
              <a:custGeom>
                <a:avLst/>
                <a:gdLst>
                  <a:gd name="connsiteX0" fmla="*/ 396450 w 395813"/>
                  <a:gd name="connsiteY0" fmla="*/ 361438 h 360956"/>
                  <a:gd name="connsiteX1" fmla="*/ 396450 w 395813"/>
                  <a:gd name="connsiteY1" fmla="*/ 355288 h 360956"/>
                  <a:gd name="connsiteX2" fmla="*/ 323654 w 395813"/>
                  <a:gd name="connsiteY2" fmla="*/ 233773 h 360956"/>
                  <a:gd name="connsiteX3" fmla="*/ 323654 w 395813"/>
                  <a:gd name="connsiteY3" fmla="*/ 482 h 360956"/>
                  <a:gd name="connsiteX4" fmla="*/ 307248 w 395813"/>
                  <a:gd name="connsiteY4" fmla="*/ 482 h 360956"/>
                  <a:gd name="connsiteX5" fmla="*/ 89332 w 395813"/>
                  <a:gd name="connsiteY5" fmla="*/ 281456 h 360956"/>
                  <a:gd name="connsiteX6" fmla="*/ 89332 w 395813"/>
                  <a:gd name="connsiteY6" fmla="*/ 128665 h 360956"/>
                  <a:gd name="connsiteX7" fmla="*/ 156508 w 395813"/>
                  <a:gd name="connsiteY7" fmla="*/ 7151 h 360956"/>
                  <a:gd name="connsiteX8" fmla="*/ 156508 w 395813"/>
                  <a:gd name="connsiteY8" fmla="*/ 482 h 360956"/>
                  <a:gd name="connsiteX9" fmla="*/ 8324 w 395813"/>
                  <a:gd name="connsiteY9" fmla="*/ 482 h 360956"/>
                  <a:gd name="connsiteX10" fmla="*/ 8324 w 395813"/>
                  <a:gd name="connsiteY10" fmla="*/ 7151 h 360956"/>
                  <a:gd name="connsiteX11" fmla="*/ 82675 w 395813"/>
                  <a:gd name="connsiteY11" fmla="*/ 128665 h 360956"/>
                  <a:gd name="connsiteX12" fmla="*/ 82675 w 395813"/>
                  <a:gd name="connsiteY12" fmla="*/ 289143 h 360956"/>
                  <a:gd name="connsiteX13" fmla="*/ 61650 w 395813"/>
                  <a:gd name="connsiteY13" fmla="*/ 316319 h 360956"/>
                  <a:gd name="connsiteX14" fmla="*/ 636 w 395813"/>
                  <a:gd name="connsiteY14" fmla="*/ 355288 h 360956"/>
                  <a:gd name="connsiteX15" fmla="*/ 636 w 395813"/>
                  <a:gd name="connsiteY15" fmla="*/ 361438 h 360956"/>
                  <a:gd name="connsiteX16" fmla="*/ 95488 w 395813"/>
                  <a:gd name="connsiteY16" fmla="*/ 361438 h 360956"/>
                  <a:gd name="connsiteX17" fmla="*/ 316979 w 395813"/>
                  <a:gd name="connsiteY17" fmla="*/ 75346 h 360956"/>
                  <a:gd name="connsiteX18" fmla="*/ 316979 w 395813"/>
                  <a:gd name="connsiteY18" fmla="*/ 233773 h 360956"/>
                  <a:gd name="connsiteX19" fmla="*/ 249822 w 395813"/>
                  <a:gd name="connsiteY19" fmla="*/ 355288 h 360956"/>
                  <a:gd name="connsiteX20" fmla="*/ 249822 w 395813"/>
                  <a:gd name="connsiteY20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5813" h="360956">
                    <a:moveTo>
                      <a:pt x="396450" y="361438"/>
                    </a:moveTo>
                    <a:lnTo>
                      <a:pt x="396450" y="355288"/>
                    </a:lnTo>
                    <a:cubicBezTo>
                      <a:pt x="322111" y="355288"/>
                      <a:pt x="323654" y="281456"/>
                      <a:pt x="323654" y="233773"/>
                    </a:cubicBezTo>
                    <a:lnTo>
                      <a:pt x="323654" y="482"/>
                    </a:lnTo>
                    <a:lnTo>
                      <a:pt x="307248" y="482"/>
                    </a:lnTo>
                    <a:lnTo>
                      <a:pt x="89332" y="281456"/>
                    </a:lnTo>
                    <a:lnTo>
                      <a:pt x="89332" y="128665"/>
                    </a:lnTo>
                    <a:cubicBezTo>
                      <a:pt x="89332" y="83546"/>
                      <a:pt x="89332" y="7151"/>
                      <a:pt x="156508" y="7151"/>
                    </a:cubicBezTo>
                    <a:lnTo>
                      <a:pt x="156508" y="482"/>
                    </a:lnTo>
                    <a:lnTo>
                      <a:pt x="8324" y="482"/>
                    </a:lnTo>
                    <a:lnTo>
                      <a:pt x="8324" y="7151"/>
                    </a:lnTo>
                    <a:cubicBezTo>
                      <a:pt x="82675" y="7151"/>
                      <a:pt x="82675" y="82515"/>
                      <a:pt x="82675" y="128665"/>
                    </a:cubicBezTo>
                    <a:lnTo>
                      <a:pt x="82675" y="289143"/>
                    </a:lnTo>
                    <a:lnTo>
                      <a:pt x="61650" y="316319"/>
                    </a:lnTo>
                    <a:cubicBezTo>
                      <a:pt x="28837" y="357332"/>
                      <a:pt x="13968" y="354263"/>
                      <a:pt x="636" y="355288"/>
                    </a:cubicBezTo>
                    <a:lnTo>
                      <a:pt x="636" y="361438"/>
                    </a:lnTo>
                    <a:lnTo>
                      <a:pt x="95488" y="361438"/>
                    </a:lnTo>
                    <a:lnTo>
                      <a:pt x="316979" y="75346"/>
                    </a:lnTo>
                    <a:lnTo>
                      <a:pt x="316979" y="233773"/>
                    </a:lnTo>
                    <a:cubicBezTo>
                      <a:pt x="316979" y="281456"/>
                      <a:pt x="317498" y="355288"/>
                      <a:pt x="249822" y="355288"/>
                    </a:cubicBezTo>
                    <a:lnTo>
                      <a:pt x="249822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35">
                <a:extLst>
                  <a:ext uri="{FF2B5EF4-FFF2-40B4-BE49-F238E27FC236}">
                    <a16:creationId xmlns:a16="http://schemas.microsoft.com/office/drawing/2014/main" id="{A15EC74F-3C4F-2D0A-631F-16642F8EC379}"/>
                  </a:ext>
                </a:extLst>
              </p:cNvPr>
              <p:cNvSpPr/>
              <p:nvPr/>
            </p:nvSpPr>
            <p:spPr>
              <a:xfrm flipV="1">
                <a:off x="3587578" y="1998299"/>
                <a:ext cx="257892" cy="360956"/>
              </a:xfrm>
              <a:custGeom>
                <a:avLst/>
                <a:gdLst>
                  <a:gd name="connsiteX0" fmla="*/ 258603 w 257892"/>
                  <a:gd name="connsiteY0" fmla="*/ 107086 h 360956"/>
                  <a:gd name="connsiteX1" fmla="*/ 258603 w 257892"/>
                  <a:gd name="connsiteY1" fmla="*/ 440 h 360956"/>
                  <a:gd name="connsiteX2" fmla="*/ 711 w 257892"/>
                  <a:gd name="connsiteY2" fmla="*/ 440 h 360956"/>
                  <a:gd name="connsiteX3" fmla="*/ 711 w 257892"/>
                  <a:gd name="connsiteY3" fmla="*/ 7109 h 360956"/>
                  <a:gd name="connsiteX4" fmla="*/ 28392 w 257892"/>
                  <a:gd name="connsiteY4" fmla="*/ 60429 h 360956"/>
                  <a:gd name="connsiteX5" fmla="*/ 28392 w 257892"/>
                  <a:gd name="connsiteY5" fmla="*/ 306533 h 360956"/>
                  <a:gd name="connsiteX6" fmla="*/ 711 w 257892"/>
                  <a:gd name="connsiteY6" fmla="*/ 354727 h 360956"/>
                  <a:gd name="connsiteX7" fmla="*/ 711 w 257892"/>
                  <a:gd name="connsiteY7" fmla="*/ 361396 h 360956"/>
                  <a:gd name="connsiteX8" fmla="*/ 251946 w 257892"/>
                  <a:gd name="connsiteY8" fmla="*/ 361396 h 360956"/>
                  <a:gd name="connsiteX9" fmla="*/ 251946 w 257892"/>
                  <a:gd name="connsiteY9" fmla="*/ 269101 h 360956"/>
                  <a:gd name="connsiteX10" fmla="*/ 245283 w 257892"/>
                  <a:gd name="connsiteY10" fmla="*/ 269101 h 360956"/>
                  <a:gd name="connsiteX11" fmla="*/ 108900 w 257892"/>
                  <a:gd name="connsiteY11" fmla="*/ 354727 h 360956"/>
                  <a:gd name="connsiteX12" fmla="*/ 81212 w 257892"/>
                  <a:gd name="connsiteY12" fmla="*/ 354727 h 360956"/>
                  <a:gd name="connsiteX13" fmla="*/ 81212 w 257892"/>
                  <a:gd name="connsiteY13" fmla="*/ 186049 h 360956"/>
                  <a:gd name="connsiteX14" fmla="*/ 114531 w 257892"/>
                  <a:gd name="connsiteY14" fmla="*/ 186049 h 360956"/>
                  <a:gd name="connsiteX15" fmla="*/ 185295 w 257892"/>
                  <a:gd name="connsiteY15" fmla="*/ 237831 h 360956"/>
                  <a:gd name="connsiteX16" fmla="*/ 191951 w 257892"/>
                  <a:gd name="connsiteY16" fmla="*/ 237831 h 360956"/>
                  <a:gd name="connsiteX17" fmla="*/ 191951 w 257892"/>
                  <a:gd name="connsiteY17" fmla="*/ 127592 h 360956"/>
                  <a:gd name="connsiteX18" fmla="*/ 185295 w 257892"/>
                  <a:gd name="connsiteY18" fmla="*/ 127592 h 360956"/>
                  <a:gd name="connsiteX19" fmla="*/ 114531 w 257892"/>
                  <a:gd name="connsiteY19" fmla="*/ 179380 h 360956"/>
                  <a:gd name="connsiteX20" fmla="*/ 81212 w 257892"/>
                  <a:gd name="connsiteY20" fmla="*/ 179380 h 360956"/>
                  <a:gd name="connsiteX21" fmla="*/ 81212 w 257892"/>
                  <a:gd name="connsiteY21" fmla="*/ 7109 h 360956"/>
                  <a:gd name="connsiteX22" fmla="*/ 104787 w 257892"/>
                  <a:gd name="connsiteY22" fmla="*/ 7109 h 360956"/>
                  <a:gd name="connsiteX23" fmla="*/ 251946 w 257892"/>
                  <a:gd name="connsiteY23" fmla="*/ 10708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7892" h="360956">
                    <a:moveTo>
                      <a:pt x="258603" y="107086"/>
                    </a:moveTo>
                    <a:lnTo>
                      <a:pt x="258603" y="440"/>
                    </a:lnTo>
                    <a:lnTo>
                      <a:pt x="711" y="440"/>
                    </a:lnTo>
                    <a:lnTo>
                      <a:pt x="711" y="7109"/>
                    </a:lnTo>
                    <a:cubicBezTo>
                      <a:pt x="22242" y="7109"/>
                      <a:pt x="28392" y="25559"/>
                      <a:pt x="28392" y="60429"/>
                    </a:cubicBezTo>
                    <a:lnTo>
                      <a:pt x="28392" y="306533"/>
                    </a:lnTo>
                    <a:cubicBezTo>
                      <a:pt x="28392" y="338327"/>
                      <a:pt x="23267" y="354727"/>
                      <a:pt x="711" y="354727"/>
                    </a:cubicBezTo>
                    <a:lnTo>
                      <a:pt x="711" y="361396"/>
                    </a:lnTo>
                    <a:lnTo>
                      <a:pt x="251946" y="361396"/>
                    </a:lnTo>
                    <a:lnTo>
                      <a:pt x="251946" y="269101"/>
                    </a:lnTo>
                    <a:lnTo>
                      <a:pt x="245283" y="269101"/>
                    </a:lnTo>
                    <a:cubicBezTo>
                      <a:pt x="239121" y="353702"/>
                      <a:pt x="150426" y="354727"/>
                      <a:pt x="108900" y="354727"/>
                    </a:cubicBezTo>
                    <a:lnTo>
                      <a:pt x="81212" y="354727"/>
                    </a:lnTo>
                    <a:lnTo>
                      <a:pt x="81212" y="186049"/>
                    </a:lnTo>
                    <a:lnTo>
                      <a:pt x="114531" y="186049"/>
                    </a:lnTo>
                    <a:cubicBezTo>
                      <a:pt x="128375" y="186049"/>
                      <a:pt x="182726" y="186049"/>
                      <a:pt x="185295" y="237831"/>
                    </a:cubicBezTo>
                    <a:lnTo>
                      <a:pt x="191951" y="237831"/>
                    </a:lnTo>
                    <a:lnTo>
                      <a:pt x="191951" y="127592"/>
                    </a:lnTo>
                    <a:lnTo>
                      <a:pt x="185295" y="127592"/>
                    </a:lnTo>
                    <a:cubicBezTo>
                      <a:pt x="182726" y="178862"/>
                      <a:pt x="127344" y="179380"/>
                      <a:pt x="114531" y="179380"/>
                    </a:cubicBezTo>
                    <a:lnTo>
                      <a:pt x="81212" y="179380"/>
                    </a:lnTo>
                    <a:lnTo>
                      <a:pt x="81212" y="7109"/>
                    </a:lnTo>
                    <a:lnTo>
                      <a:pt x="104787" y="7109"/>
                    </a:lnTo>
                    <a:cubicBezTo>
                      <a:pt x="150426" y="7109"/>
                      <a:pt x="241171" y="4540"/>
                      <a:pt x="251946" y="10708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36">
                <a:extLst>
                  <a:ext uri="{FF2B5EF4-FFF2-40B4-BE49-F238E27FC236}">
                    <a16:creationId xmlns:a16="http://schemas.microsoft.com/office/drawing/2014/main" id="{5E103CDC-23BF-51F6-CF28-FE0A53C76102}"/>
                  </a:ext>
                </a:extLst>
              </p:cNvPr>
              <p:cNvSpPr/>
              <p:nvPr/>
            </p:nvSpPr>
            <p:spPr>
              <a:xfrm flipV="1">
                <a:off x="3923379" y="1998303"/>
                <a:ext cx="311730" cy="360956"/>
              </a:xfrm>
              <a:custGeom>
                <a:avLst/>
                <a:gdLst>
                  <a:gd name="connsiteX0" fmla="*/ 98693 w 311730"/>
                  <a:gd name="connsiteY0" fmla="*/ 354774 h 360956"/>
                  <a:gd name="connsiteX1" fmla="*/ 82792 w 311730"/>
                  <a:gd name="connsiteY1" fmla="*/ 354774 h 360956"/>
                  <a:gd name="connsiteX2" fmla="*/ 82792 w 311730"/>
                  <a:gd name="connsiteY2" fmla="*/ 172759 h 360956"/>
                  <a:gd name="connsiteX3" fmla="*/ 98693 w 311730"/>
                  <a:gd name="connsiteY3" fmla="*/ 172759 h 360956"/>
                  <a:gd name="connsiteX4" fmla="*/ 200719 w 311730"/>
                  <a:gd name="connsiteY4" fmla="*/ 263504 h 360956"/>
                  <a:gd name="connsiteX5" fmla="*/ 98693 w 311730"/>
                  <a:gd name="connsiteY5" fmla="*/ 354774 h 360956"/>
                  <a:gd name="connsiteX6" fmla="*/ 312490 w 311730"/>
                  <a:gd name="connsiteY6" fmla="*/ 481 h 360956"/>
                  <a:gd name="connsiteX7" fmla="*/ 273527 w 311730"/>
                  <a:gd name="connsiteY7" fmla="*/ 481 h 360956"/>
                  <a:gd name="connsiteX8" fmla="*/ 186363 w 311730"/>
                  <a:gd name="connsiteY8" fmla="*/ 112258 h 360956"/>
                  <a:gd name="connsiteX9" fmla="*/ 106893 w 311730"/>
                  <a:gd name="connsiteY9" fmla="*/ 166090 h 360956"/>
                  <a:gd name="connsiteX10" fmla="*/ 82792 w 311730"/>
                  <a:gd name="connsiteY10" fmla="*/ 166090 h 360956"/>
                  <a:gd name="connsiteX11" fmla="*/ 82792 w 311730"/>
                  <a:gd name="connsiteY11" fmla="*/ 53807 h 360956"/>
                  <a:gd name="connsiteX12" fmla="*/ 115612 w 311730"/>
                  <a:gd name="connsiteY12" fmla="*/ 7156 h 360956"/>
                  <a:gd name="connsiteX13" fmla="*/ 115612 w 311730"/>
                  <a:gd name="connsiteY13" fmla="*/ 481 h 360956"/>
                  <a:gd name="connsiteX14" fmla="*/ 760 w 311730"/>
                  <a:gd name="connsiteY14" fmla="*/ 481 h 360956"/>
                  <a:gd name="connsiteX15" fmla="*/ 760 w 311730"/>
                  <a:gd name="connsiteY15" fmla="*/ 7156 h 360956"/>
                  <a:gd name="connsiteX16" fmla="*/ 32548 w 311730"/>
                  <a:gd name="connsiteY16" fmla="*/ 60470 h 360956"/>
                  <a:gd name="connsiteX17" fmla="*/ 32548 w 311730"/>
                  <a:gd name="connsiteY17" fmla="*/ 315811 h 360956"/>
                  <a:gd name="connsiteX18" fmla="*/ 760 w 311730"/>
                  <a:gd name="connsiteY18" fmla="*/ 354774 h 360956"/>
                  <a:gd name="connsiteX19" fmla="*/ 760 w 311730"/>
                  <a:gd name="connsiteY19" fmla="*/ 361437 h 360956"/>
                  <a:gd name="connsiteX20" fmla="*/ 98693 w 311730"/>
                  <a:gd name="connsiteY20" fmla="*/ 361437 h 360956"/>
                  <a:gd name="connsiteX21" fmla="*/ 257120 w 311730"/>
                  <a:gd name="connsiteY21" fmla="*/ 263504 h 360956"/>
                  <a:gd name="connsiteX22" fmla="*/ 161756 w 311730"/>
                  <a:gd name="connsiteY22" fmla="*/ 169684 h 360956"/>
                  <a:gd name="connsiteX23" fmla="*/ 257627 w 311730"/>
                  <a:gd name="connsiteY23" fmla="*/ 52269 h 360956"/>
                  <a:gd name="connsiteX24" fmla="*/ 312490 w 311730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0" h="360956">
                    <a:moveTo>
                      <a:pt x="98693" y="354774"/>
                    </a:moveTo>
                    <a:lnTo>
                      <a:pt x="82792" y="354774"/>
                    </a:lnTo>
                    <a:lnTo>
                      <a:pt x="82792" y="172759"/>
                    </a:lnTo>
                    <a:lnTo>
                      <a:pt x="98693" y="172759"/>
                    </a:lnTo>
                    <a:cubicBezTo>
                      <a:pt x="156625" y="172759"/>
                      <a:pt x="200719" y="172252"/>
                      <a:pt x="200719" y="263504"/>
                    </a:cubicBezTo>
                    <a:cubicBezTo>
                      <a:pt x="200719" y="356831"/>
                      <a:pt x="153550" y="354774"/>
                      <a:pt x="98693" y="354774"/>
                    </a:cubicBezTo>
                    <a:moveTo>
                      <a:pt x="312490" y="481"/>
                    </a:moveTo>
                    <a:lnTo>
                      <a:pt x="273527" y="481"/>
                    </a:lnTo>
                    <a:cubicBezTo>
                      <a:pt x="207901" y="481"/>
                      <a:pt x="215594" y="994"/>
                      <a:pt x="186363" y="112258"/>
                    </a:cubicBezTo>
                    <a:cubicBezTo>
                      <a:pt x="172012" y="166090"/>
                      <a:pt x="120224" y="166090"/>
                      <a:pt x="106893" y="166090"/>
                    </a:cubicBezTo>
                    <a:lnTo>
                      <a:pt x="82792" y="166090"/>
                    </a:lnTo>
                    <a:lnTo>
                      <a:pt x="82792" y="53807"/>
                    </a:lnTo>
                    <a:cubicBezTo>
                      <a:pt x="82792" y="18431"/>
                      <a:pt x="94068" y="7156"/>
                      <a:pt x="115612" y="7156"/>
                    </a:cubicBezTo>
                    <a:lnTo>
                      <a:pt x="115612" y="481"/>
                    </a:lnTo>
                    <a:lnTo>
                      <a:pt x="760" y="481"/>
                    </a:lnTo>
                    <a:lnTo>
                      <a:pt x="760" y="7156"/>
                    </a:lnTo>
                    <a:cubicBezTo>
                      <a:pt x="22804" y="7156"/>
                      <a:pt x="32548" y="17406"/>
                      <a:pt x="32548" y="60470"/>
                    </a:cubicBezTo>
                    <a:lnTo>
                      <a:pt x="32548" y="315811"/>
                    </a:lnTo>
                    <a:cubicBezTo>
                      <a:pt x="32548" y="347599"/>
                      <a:pt x="23316" y="354774"/>
                      <a:pt x="760" y="354774"/>
                    </a:cubicBezTo>
                    <a:lnTo>
                      <a:pt x="760" y="361437"/>
                    </a:lnTo>
                    <a:lnTo>
                      <a:pt x="98693" y="361437"/>
                    </a:lnTo>
                    <a:cubicBezTo>
                      <a:pt x="200719" y="361437"/>
                      <a:pt x="257120" y="349131"/>
                      <a:pt x="257120" y="263504"/>
                    </a:cubicBezTo>
                    <a:cubicBezTo>
                      <a:pt x="257120" y="193778"/>
                      <a:pt x="217126" y="173265"/>
                      <a:pt x="161756" y="169684"/>
                    </a:cubicBezTo>
                    <a:cubicBezTo>
                      <a:pt x="195588" y="168146"/>
                      <a:pt x="230964" y="164553"/>
                      <a:pt x="257627" y="52269"/>
                    </a:cubicBezTo>
                    <a:cubicBezTo>
                      <a:pt x="266870" y="13300"/>
                      <a:pt x="299159" y="8181"/>
                      <a:pt x="312490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37">
                <a:extLst>
                  <a:ext uri="{FF2B5EF4-FFF2-40B4-BE49-F238E27FC236}">
                    <a16:creationId xmlns:a16="http://schemas.microsoft.com/office/drawing/2014/main" id="{DCD7D69B-7440-C4DF-D783-880AA2628503}"/>
                  </a:ext>
                </a:extLst>
              </p:cNvPr>
              <p:cNvSpPr/>
              <p:nvPr/>
            </p:nvSpPr>
            <p:spPr>
              <a:xfrm flipV="1">
                <a:off x="4285907" y="1993688"/>
                <a:ext cx="242423" cy="370181"/>
              </a:xfrm>
              <a:custGeom>
                <a:avLst/>
                <a:gdLst>
                  <a:gd name="connsiteX0" fmla="*/ 128442 w 242423"/>
                  <a:gd name="connsiteY0" fmla="*/ 422 h 370181"/>
                  <a:gd name="connsiteX1" fmla="*/ 6421 w 242423"/>
                  <a:gd name="connsiteY1" fmla="*/ 29135 h 370181"/>
                  <a:gd name="connsiteX2" fmla="*/ 6421 w 242423"/>
                  <a:gd name="connsiteY2" fmla="*/ 127580 h 370181"/>
                  <a:gd name="connsiteX3" fmla="*/ 12566 w 242423"/>
                  <a:gd name="connsiteY3" fmla="*/ 127580 h 370181"/>
                  <a:gd name="connsiteX4" fmla="*/ 128442 w 242423"/>
                  <a:gd name="connsiteY4" fmla="*/ 7084 h 370181"/>
                  <a:gd name="connsiteX5" fmla="*/ 156649 w 242423"/>
                  <a:gd name="connsiteY5" fmla="*/ 136293 h 370181"/>
                  <a:gd name="connsiteX6" fmla="*/ 71535 w 242423"/>
                  <a:gd name="connsiteY6" fmla="*/ 191150 h 370181"/>
                  <a:gd name="connsiteX7" fmla="*/ 15647 w 242423"/>
                  <a:gd name="connsiteY7" fmla="*/ 330615 h 370181"/>
                  <a:gd name="connsiteX8" fmla="*/ 112030 w 242423"/>
                  <a:gd name="connsiteY8" fmla="*/ 370603 h 370181"/>
                  <a:gd name="connsiteX9" fmla="*/ 229444 w 242423"/>
                  <a:gd name="connsiteY9" fmla="*/ 346503 h 370181"/>
                  <a:gd name="connsiteX10" fmla="*/ 229444 w 242423"/>
                  <a:gd name="connsiteY10" fmla="*/ 260370 h 370181"/>
                  <a:gd name="connsiteX11" fmla="*/ 222275 w 242423"/>
                  <a:gd name="connsiteY11" fmla="*/ 260370 h 370181"/>
                  <a:gd name="connsiteX12" fmla="*/ 112030 w 242423"/>
                  <a:gd name="connsiteY12" fmla="*/ 363934 h 370181"/>
                  <a:gd name="connsiteX13" fmla="*/ 92042 w 242423"/>
                  <a:gd name="connsiteY13" fmla="*/ 242426 h 370181"/>
                  <a:gd name="connsiteX14" fmla="*/ 176637 w 242423"/>
                  <a:gd name="connsiteY14" fmla="*/ 186537 h 370181"/>
                  <a:gd name="connsiteX15" fmla="*/ 229969 w 242423"/>
                  <a:gd name="connsiteY15" fmla="*/ 42466 h 370181"/>
                  <a:gd name="connsiteX16" fmla="*/ 128442 w 242423"/>
                  <a:gd name="connsiteY16" fmla="*/ 422 h 37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2423" h="370181">
                    <a:moveTo>
                      <a:pt x="128442" y="422"/>
                    </a:moveTo>
                    <a:cubicBezTo>
                      <a:pt x="44872" y="422"/>
                      <a:pt x="6421" y="29135"/>
                      <a:pt x="6421" y="29135"/>
                    </a:cubicBezTo>
                    <a:lnTo>
                      <a:pt x="6421" y="127580"/>
                    </a:lnTo>
                    <a:lnTo>
                      <a:pt x="12566" y="127580"/>
                    </a:lnTo>
                    <a:cubicBezTo>
                      <a:pt x="18209" y="65023"/>
                      <a:pt x="41285" y="7084"/>
                      <a:pt x="128442" y="7084"/>
                    </a:cubicBezTo>
                    <a:cubicBezTo>
                      <a:pt x="206381" y="7084"/>
                      <a:pt x="216637" y="93736"/>
                      <a:pt x="156649" y="136293"/>
                    </a:cubicBezTo>
                    <a:lnTo>
                      <a:pt x="71535" y="191150"/>
                    </a:lnTo>
                    <a:cubicBezTo>
                      <a:pt x="22822" y="223450"/>
                      <a:pt x="-23829" y="270114"/>
                      <a:pt x="15647" y="330615"/>
                    </a:cubicBezTo>
                    <a:cubicBezTo>
                      <a:pt x="15647" y="330615"/>
                      <a:pt x="40766" y="370603"/>
                      <a:pt x="112030" y="370603"/>
                    </a:cubicBezTo>
                    <a:cubicBezTo>
                      <a:pt x="186381" y="370603"/>
                      <a:pt x="229444" y="346503"/>
                      <a:pt x="229444" y="346503"/>
                    </a:cubicBezTo>
                    <a:lnTo>
                      <a:pt x="229444" y="260370"/>
                    </a:lnTo>
                    <a:lnTo>
                      <a:pt x="222275" y="260370"/>
                    </a:lnTo>
                    <a:cubicBezTo>
                      <a:pt x="217656" y="310614"/>
                      <a:pt x="197662" y="363934"/>
                      <a:pt x="112030" y="363934"/>
                    </a:cubicBezTo>
                    <a:cubicBezTo>
                      <a:pt x="56666" y="363934"/>
                      <a:pt x="14622" y="292670"/>
                      <a:pt x="92042" y="242426"/>
                    </a:cubicBezTo>
                    <a:lnTo>
                      <a:pt x="176637" y="186537"/>
                    </a:lnTo>
                    <a:cubicBezTo>
                      <a:pt x="245344" y="141424"/>
                      <a:pt x="256620" y="84504"/>
                      <a:pt x="229969" y="42466"/>
                    </a:cubicBezTo>
                    <a:cubicBezTo>
                      <a:pt x="229969" y="42466"/>
                      <a:pt x="207925" y="422"/>
                      <a:pt x="128442" y="422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556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05C55B5-126B-4B71-2784-514EB485938A}"/>
              </a:ext>
            </a:extLst>
          </p:cNvPr>
          <p:cNvCxnSpPr/>
          <p:nvPr/>
        </p:nvCxnSpPr>
        <p:spPr>
          <a:xfrm flipV="1">
            <a:off x="2207173" y="2404241"/>
            <a:ext cx="0" cy="289297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53ECB40-3F5E-26CA-7807-C4E900D58A26}"/>
              </a:ext>
            </a:extLst>
          </p:cNvPr>
          <p:cNvCxnSpPr/>
          <p:nvPr/>
        </p:nvCxnSpPr>
        <p:spPr>
          <a:xfrm flipV="1">
            <a:off x="3831020" y="2404241"/>
            <a:ext cx="0" cy="289297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B6A4C89-F327-3FAE-9672-F46CD012707E}"/>
              </a:ext>
            </a:extLst>
          </p:cNvPr>
          <p:cNvCxnSpPr/>
          <p:nvPr/>
        </p:nvCxnSpPr>
        <p:spPr>
          <a:xfrm flipV="1">
            <a:off x="5446985" y="2404241"/>
            <a:ext cx="0" cy="289297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FD10482-0488-EBDD-871C-E6F13E4820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치솟는 물가에 감소하는 국내 가구당 실질소득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31CE02-1271-EDCD-08AB-F008125CB3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</a:t>
            </a:r>
            <a:r>
              <a:rPr lang="ko-KR" altLang="en-US" dirty="0"/>
              <a:t> </a:t>
            </a:r>
            <a:r>
              <a:rPr lang="en-US" altLang="ko-KR" dirty="0"/>
              <a:t>1) </a:t>
            </a:r>
            <a:r>
              <a:rPr lang="ko-KR" altLang="en-US" dirty="0"/>
              <a:t>전년동기 대비 명목</a:t>
            </a:r>
            <a:r>
              <a:rPr lang="en-US" altLang="ko-KR" dirty="0"/>
              <a:t>/</a:t>
            </a:r>
            <a:r>
              <a:rPr lang="ko-KR" altLang="en-US" dirty="0"/>
              <a:t>실직소득 증감률 추이이며</a:t>
            </a:r>
            <a:r>
              <a:rPr lang="en-US" altLang="ko-KR" dirty="0"/>
              <a:t>, </a:t>
            </a:r>
            <a:r>
              <a:rPr lang="ko-KR" altLang="en-US" dirty="0"/>
              <a:t>소비자물가지수는 </a:t>
            </a:r>
            <a:r>
              <a:rPr lang="en-US" altLang="ko-KR" dirty="0"/>
              <a:t>2020</a:t>
            </a:r>
            <a:r>
              <a:rPr lang="ko-KR" altLang="en-US" dirty="0"/>
              <a:t>년 물가를 기준</a:t>
            </a:r>
            <a:r>
              <a:rPr lang="en-US" altLang="ko-KR" dirty="0"/>
              <a:t>(=100)</a:t>
            </a:r>
            <a:r>
              <a:rPr lang="ko-KR" altLang="en-US" dirty="0"/>
              <a:t>으로 산출한 수치임</a:t>
            </a:r>
            <a:r>
              <a:rPr lang="en-US" altLang="ko-KR" dirty="0"/>
              <a:t>. Source:</a:t>
            </a:r>
            <a:r>
              <a:rPr lang="ko-KR" altLang="en-US" dirty="0"/>
              <a:t> 통계청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03BE4B-0296-E142-D4F8-71DD512433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20</a:t>
            </a:fld>
            <a:endParaRPr 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19118C11-77B9-2581-1502-65992D371C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3397354"/>
              </p:ext>
            </p:extLst>
          </p:nvPr>
        </p:nvGraphicFramePr>
        <p:xfrm>
          <a:off x="453000" y="2096975"/>
          <a:ext cx="5940000" cy="36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77FD74-D045-3C3B-BBEC-51CA7F46C258}"/>
              </a:ext>
            </a:extLst>
          </p:cNvPr>
          <p:cNvSpPr/>
          <p:nvPr/>
        </p:nvSpPr>
        <p:spPr>
          <a:xfrm>
            <a:off x="453000" y="1700213"/>
            <a:ext cx="594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증가하는 소비자물가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감소하는 가구당 월평균 소득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1)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969952-DD53-4272-5B2C-EB387FFCD432}"/>
              </a:ext>
            </a:extLst>
          </p:cNvPr>
          <p:cNvSpPr/>
          <p:nvPr/>
        </p:nvSpPr>
        <p:spPr>
          <a:xfrm>
            <a:off x="6573000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4</a:t>
            </a:r>
            <a:r>
              <a:rPr lang="ko-KR" altLang="en-US" sz="1200" b="1" dirty="0">
                <a:solidFill>
                  <a:schemeClr val="bg1"/>
                </a:solidFill>
              </a:rPr>
              <a:t>가구 중 </a:t>
            </a:r>
            <a:r>
              <a:rPr lang="en-US" altLang="ko-KR" sz="1200" b="1" dirty="0">
                <a:solidFill>
                  <a:schemeClr val="bg1"/>
                </a:solidFill>
              </a:rPr>
              <a:t>1</a:t>
            </a:r>
            <a:r>
              <a:rPr lang="ko-KR" altLang="en-US" sz="1200" b="1" dirty="0">
                <a:solidFill>
                  <a:schemeClr val="bg1"/>
                </a:solidFill>
              </a:rPr>
              <a:t>가구는 가계부 </a:t>
            </a:r>
            <a:r>
              <a:rPr lang="en-US" altLang="ko-KR" sz="1200" b="1" dirty="0">
                <a:solidFill>
                  <a:schemeClr val="bg1"/>
                </a:solidFill>
              </a:rPr>
              <a:t>‘</a:t>
            </a:r>
            <a:r>
              <a:rPr lang="ko-KR" altLang="en-US" sz="1200" b="1" dirty="0">
                <a:solidFill>
                  <a:schemeClr val="bg1"/>
                </a:solidFill>
              </a:rPr>
              <a:t>적자</a:t>
            </a:r>
            <a:r>
              <a:rPr lang="en-US" altLang="ko-KR" sz="1200" b="1" dirty="0">
                <a:solidFill>
                  <a:schemeClr val="bg1"/>
                </a:solidFill>
              </a:rPr>
              <a:t>’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5751F713-764A-1511-F611-FC0BF6B36718}"/>
              </a:ext>
            </a:extLst>
          </p:cNvPr>
          <p:cNvGraphicFramePr/>
          <p:nvPr/>
        </p:nvGraphicFramePr>
        <p:xfrm>
          <a:off x="6284020" y="2159393"/>
          <a:ext cx="2160000" cy="158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420DE440-3E40-FF0B-6C9C-093DE176FDD6}"/>
              </a:ext>
            </a:extLst>
          </p:cNvPr>
          <p:cNvGraphicFramePr/>
          <p:nvPr/>
        </p:nvGraphicFramePr>
        <p:xfrm>
          <a:off x="6063986" y="3855752"/>
          <a:ext cx="2600068" cy="1906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6423E06-815E-56C9-172A-68AC61AA04D4}"/>
              </a:ext>
            </a:extLst>
          </p:cNvPr>
          <p:cNvSpPr txBox="1"/>
          <p:nvPr/>
        </p:nvSpPr>
        <p:spPr>
          <a:xfrm>
            <a:off x="7008397" y="2687282"/>
            <a:ext cx="695703" cy="51244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>
                <a:solidFill>
                  <a:srgbClr val="11244A"/>
                </a:solidFill>
              </a:rPr>
              <a:t>2022</a:t>
            </a:r>
            <a:r>
              <a:rPr lang="ko-KR" altLang="en-US" sz="1000" dirty="0">
                <a:solidFill>
                  <a:srgbClr val="11244A"/>
                </a:solidFill>
              </a:rPr>
              <a:t>년 </a:t>
            </a:r>
            <a:r>
              <a:rPr lang="en-US" altLang="ko-KR" sz="1000" dirty="0">
                <a:solidFill>
                  <a:srgbClr val="11244A"/>
                </a:solidFill>
              </a:rPr>
              <a:t>1Q</a:t>
            </a:r>
            <a:br>
              <a:rPr lang="en-US" altLang="ko-KR" sz="1000" dirty="0">
                <a:solidFill>
                  <a:srgbClr val="11244A"/>
                </a:solidFill>
              </a:rPr>
            </a:br>
            <a:r>
              <a:rPr lang="ko-KR" altLang="en-US" sz="1000" dirty="0">
                <a:solidFill>
                  <a:srgbClr val="11244A"/>
                </a:solidFill>
              </a:rPr>
              <a:t>적자가구 비중</a:t>
            </a:r>
            <a:endParaRPr lang="en-US" altLang="ko-KR" sz="1000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1100" b="1" dirty="0">
                <a:solidFill>
                  <a:srgbClr val="11244A"/>
                </a:solidFill>
              </a:rPr>
              <a:t>23.5%</a:t>
            </a:r>
            <a:endParaRPr lang="ko-KR" altLang="en-US" sz="1100" b="1" dirty="0">
              <a:solidFill>
                <a:srgbClr val="11244A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73C5E2-6471-62BE-B26E-CBF59854BBF7}"/>
              </a:ext>
            </a:extLst>
          </p:cNvPr>
          <p:cNvSpPr txBox="1"/>
          <p:nvPr/>
        </p:nvSpPr>
        <p:spPr>
          <a:xfrm>
            <a:off x="7008397" y="4544999"/>
            <a:ext cx="695703" cy="5915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>
                <a:solidFill>
                  <a:srgbClr val="11244A"/>
                </a:solidFill>
              </a:rPr>
              <a:t>2024</a:t>
            </a:r>
            <a:r>
              <a:rPr lang="ko-KR" altLang="en-US" sz="1000" dirty="0">
                <a:solidFill>
                  <a:srgbClr val="11244A"/>
                </a:solidFill>
              </a:rPr>
              <a:t>년 </a:t>
            </a:r>
            <a:r>
              <a:rPr lang="en-US" altLang="ko-KR" sz="1000" dirty="0">
                <a:solidFill>
                  <a:srgbClr val="11244A"/>
                </a:solidFill>
              </a:rPr>
              <a:t>1Q</a:t>
            </a:r>
            <a:br>
              <a:rPr lang="en-US" altLang="ko-KR" sz="1000" dirty="0">
                <a:solidFill>
                  <a:srgbClr val="11244A"/>
                </a:solidFill>
              </a:rPr>
            </a:br>
            <a:r>
              <a:rPr lang="ko-KR" altLang="en-US" sz="1000" dirty="0">
                <a:solidFill>
                  <a:srgbClr val="11244A"/>
                </a:solidFill>
              </a:rPr>
              <a:t>적자가구 비중</a:t>
            </a:r>
            <a:endParaRPr lang="en-US" altLang="ko-KR" sz="1000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1600" b="1" dirty="0">
                <a:solidFill>
                  <a:srgbClr val="11244A"/>
                </a:solidFill>
              </a:rPr>
              <a:t>26.8%</a:t>
            </a:r>
            <a:endParaRPr lang="ko-KR" altLang="en-US" sz="1600" b="1" dirty="0">
              <a:solidFill>
                <a:srgbClr val="11244A"/>
              </a:solidFill>
            </a:endParaRP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951FFF9F-5F41-5268-1CAE-ECBC46E059B9}"/>
              </a:ext>
            </a:extLst>
          </p:cNvPr>
          <p:cNvSpPr/>
          <p:nvPr/>
        </p:nvSpPr>
        <p:spPr>
          <a:xfrm rot="10800000">
            <a:off x="7015249" y="3718638"/>
            <a:ext cx="687248" cy="183266"/>
          </a:xfrm>
          <a:prstGeom prst="triangle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77DDC7-0D2E-1A60-83A2-50408AF32FE7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증가하는 소비자물가와 확대되는 경기 불확실성으로 인해 </a:t>
            </a:r>
            <a:r>
              <a:rPr lang="en-US" altLang="ko-KR" sz="1400" b="1" dirty="0">
                <a:solidFill>
                  <a:srgbClr val="3D3D3D"/>
                </a:solidFill>
              </a:rPr>
              <a:t>2025</a:t>
            </a:r>
            <a:r>
              <a:rPr lang="ko-KR" altLang="en-US" sz="1400" b="1" dirty="0">
                <a:solidFill>
                  <a:srgbClr val="3D3D3D"/>
                </a:solidFill>
              </a:rPr>
              <a:t>년 </a:t>
            </a:r>
            <a:r>
              <a:rPr lang="en-US" altLang="ko-KR" sz="1400" b="1" dirty="0">
                <a:solidFill>
                  <a:srgbClr val="3D3D3D"/>
                </a:solidFill>
              </a:rPr>
              <a:t>2</a:t>
            </a:r>
            <a:r>
              <a:rPr lang="ko-KR" altLang="en-US" sz="1400" b="1" dirty="0">
                <a:solidFill>
                  <a:srgbClr val="3D3D3D"/>
                </a:solidFill>
              </a:rPr>
              <a:t>분기 가구당 월평균 실질소득은 </a:t>
            </a:r>
            <a:r>
              <a:rPr lang="en-US" altLang="ko-KR" sz="1400" b="1" dirty="0">
                <a:solidFill>
                  <a:srgbClr val="3D3D3D"/>
                </a:solidFill>
              </a:rPr>
              <a:t>5</a:t>
            </a:r>
            <a:r>
              <a:rPr lang="ko-KR" altLang="en-US" sz="1400" b="1" dirty="0">
                <a:solidFill>
                  <a:srgbClr val="3D3D3D"/>
                </a:solidFill>
              </a:rPr>
              <a:t>개 분기 만에 처음으로 제자리에 머물렀으며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지속되는 경기 불황 속에서 소득보다 지출이 많은 적자가구의 비중 또한 빠르게 확대되고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6E1F0C-B257-1B76-043E-1A80E1A22EE1}"/>
              </a:ext>
            </a:extLst>
          </p:cNvPr>
          <p:cNvSpPr/>
          <p:nvPr/>
        </p:nvSpPr>
        <p:spPr>
          <a:xfrm>
            <a:off x="8320074" y="2327981"/>
            <a:ext cx="509147" cy="216000"/>
          </a:xfrm>
          <a:prstGeom prst="rect">
            <a:avLst/>
          </a:prstGeom>
          <a:solidFill>
            <a:srgbClr val="539DFF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r>
              <a:rPr lang="ko-KR" altLang="en-US" sz="1000" b="1" dirty="0">
                <a:solidFill>
                  <a:schemeClr val="bg1"/>
                </a:solidFill>
              </a:rPr>
              <a:t>분위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1B26E05-3DA5-8A9B-5E15-EDF30F0892C1}"/>
              </a:ext>
            </a:extLst>
          </p:cNvPr>
          <p:cNvSpPr/>
          <p:nvPr/>
        </p:nvSpPr>
        <p:spPr>
          <a:xfrm>
            <a:off x="8320074" y="2589425"/>
            <a:ext cx="509147" cy="216000"/>
          </a:xfrm>
          <a:prstGeom prst="rect">
            <a:avLst/>
          </a:prstGeom>
          <a:solidFill>
            <a:srgbClr val="539DFF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r>
              <a:rPr lang="ko-KR" altLang="en-US" sz="1000" b="1" dirty="0">
                <a:solidFill>
                  <a:schemeClr val="bg1"/>
                </a:solidFill>
              </a:rPr>
              <a:t>분위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A7F1E97-2116-BDA4-CEFD-18F8AFBB468D}"/>
              </a:ext>
            </a:extLst>
          </p:cNvPr>
          <p:cNvSpPr/>
          <p:nvPr/>
        </p:nvSpPr>
        <p:spPr>
          <a:xfrm>
            <a:off x="8320074" y="2850869"/>
            <a:ext cx="509147" cy="216000"/>
          </a:xfrm>
          <a:prstGeom prst="rect">
            <a:avLst/>
          </a:prstGeom>
          <a:solidFill>
            <a:srgbClr val="539DFF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r>
              <a:rPr lang="ko-KR" altLang="en-US" sz="1000" b="1" dirty="0">
                <a:solidFill>
                  <a:schemeClr val="bg1"/>
                </a:solidFill>
              </a:rPr>
              <a:t>분위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F352C2-2AEC-8093-435B-D0D7302EF064}"/>
              </a:ext>
            </a:extLst>
          </p:cNvPr>
          <p:cNvSpPr/>
          <p:nvPr/>
        </p:nvSpPr>
        <p:spPr>
          <a:xfrm>
            <a:off x="8320074" y="3112313"/>
            <a:ext cx="509147" cy="216000"/>
          </a:xfrm>
          <a:prstGeom prst="rect">
            <a:avLst/>
          </a:prstGeom>
          <a:solidFill>
            <a:srgbClr val="539DFF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r>
              <a:rPr lang="ko-KR" altLang="en-US" sz="1000" b="1" dirty="0">
                <a:solidFill>
                  <a:schemeClr val="bg1"/>
                </a:solidFill>
              </a:rPr>
              <a:t>분위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41D0B9E-1F8A-3D86-1769-47B397185E77}"/>
              </a:ext>
            </a:extLst>
          </p:cNvPr>
          <p:cNvSpPr/>
          <p:nvPr/>
        </p:nvSpPr>
        <p:spPr>
          <a:xfrm>
            <a:off x="8320074" y="3373759"/>
            <a:ext cx="509147" cy="216000"/>
          </a:xfrm>
          <a:prstGeom prst="rect">
            <a:avLst/>
          </a:prstGeom>
          <a:solidFill>
            <a:srgbClr val="539DFF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r>
              <a:rPr lang="ko-KR" altLang="en-US" sz="1000" b="1" dirty="0">
                <a:solidFill>
                  <a:schemeClr val="bg1"/>
                </a:solidFill>
              </a:rPr>
              <a:t>분위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77E790A-1A7B-2558-D6D1-B2146BBB538B}"/>
              </a:ext>
            </a:extLst>
          </p:cNvPr>
          <p:cNvSpPr/>
          <p:nvPr/>
        </p:nvSpPr>
        <p:spPr>
          <a:xfrm>
            <a:off x="8898507" y="2327981"/>
            <a:ext cx="509147" cy="216000"/>
          </a:xfrm>
          <a:prstGeom prst="rect">
            <a:avLst/>
          </a:prstGeom>
          <a:solidFill>
            <a:schemeClr val="bg1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rgbClr val="539DFF"/>
                </a:solidFill>
              </a:rPr>
              <a:t>57.2%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B5AFA3D-5E15-D9BF-1A81-806FF472413A}"/>
              </a:ext>
            </a:extLst>
          </p:cNvPr>
          <p:cNvSpPr/>
          <p:nvPr/>
        </p:nvSpPr>
        <p:spPr>
          <a:xfrm>
            <a:off x="8898507" y="2589425"/>
            <a:ext cx="509147" cy="216000"/>
          </a:xfrm>
          <a:prstGeom prst="rect">
            <a:avLst/>
          </a:prstGeom>
          <a:solidFill>
            <a:schemeClr val="bg1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rgbClr val="539DFF"/>
                </a:solidFill>
              </a:rPr>
              <a:t>25.0%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7622CEC-0320-24C4-F2F0-44EEBF6ED83F}"/>
              </a:ext>
            </a:extLst>
          </p:cNvPr>
          <p:cNvSpPr/>
          <p:nvPr/>
        </p:nvSpPr>
        <p:spPr>
          <a:xfrm>
            <a:off x="8898507" y="2850869"/>
            <a:ext cx="509147" cy="216000"/>
          </a:xfrm>
          <a:prstGeom prst="rect">
            <a:avLst/>
          </a:prstGeom>
          <a:solidFill>
            <a:schemeClr val="bg1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rgbClr val="539DFF"/>
                </a:solidFill>
              </a:rPr>
              <a:t>16.7%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D031E8C-A365-CA22-F94E-C2ACB65775EC}"/>
              </a:ext>
            </a:extLst>
          </p:cNvPr>
          <p:cNvSpPr/>
          <p:nvPr/>
        </p:nvSpPr>
        <p:spPr>
          <a:xfrm>
            <a:off x="8898507" y="3112313"/>
            <a:ext cx="509147" cy="216000"/>
          </a:xfrm>
          <a:prstGeom prst="rect">
            <a:avLst/>
          </a:prstGeom>
          <a:solidFill>
            <a:schemeClr val="bg1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rgbClr val="539DFF"/>
                </a:solidFill>
              </a:rPr>
              <a:t>12.2%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F6503EA-F33E-F3D1-B896-D908B4EB2268}"/>
              </a:ext>
            </a:extLst>
          </p:cNvPr>
          <p:cNvSpPr/>
          <p:nvPr/>
        </p:nvSpPr>
        <p:spPr>
          <a:xfrm>
            <a:off x="8898507" y="3373759"/>
            <a:ext cx="509147" cy="216000"/>
          </a:xfrm>
          <a:prstGeom prst="rect">
            <a:avLst/>
          </a:prstGeom>
          <a:solidFill>
            <a:schemeClr val="bg1"/>
          </a:solidFill>
          <a:ln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rgbClr val="539DFF"/>
                </a:solidFill>
              </a:rPr>
              <a:t>6.5%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CB3C964-AAFD-6FB6-5311-5CD495A1DFF5}"/>
              </a:ext>
            </a:extLst>
          </p:cNvPr>
          <p:cNvGrpSpPr/>
          <p:nvPr/>
        </p:nvGrpSpPr>
        <p:grpSpPr>
          <a:xfrm>
            <a:off x="8320074" y="4060869"/>
            <a:ext cx="1087580" cy="1540412"/>
            <a:chOff x="8353415" y="4162781"/>
            <a:chExt cx="1087580" cy="1261778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CB7CFAE-1543-2310-FB4C-5AA1A8E7E112}"/>
                </a:ext>
              </a:extLst>
            </p:cNvPr>
            <p:cNvSpPr/>
            <p:nvPr/>
          </p:nvSpPr>
          <p:spPr>
            <a:xfrm>
              <a:off x="8353415" y="4162781"/>
              <a:ext cx="509147" cy="216000"/>
            </a:xfrm>
            <a:prstGeom prst="rect">
              <a:avLst/>
            </a:prstGeom>
            <a:solidFill>
              <a:srgbClr val="539DFF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1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분위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4B38D3B-D4D5-FA29-21C9-BE245DE6C603}"/>
                </a:ext>
              </a:extLst>
            </p:cNvPr>
            <p:cNvSpPr/>
            <p:nvPr/>
          </p:nvSpPr>
          <p:spPr>
            <a:xfrm>
              <a:off x="8353415" y="4424225"/>
              <a:ext cx="509147" cy="216000"/>
            </a:xfrm>
            <a:prstGeom prst="rect">
              <a:avLst/>
            </a:prstGeom>
            <a:solidFill>
              <a:srgbClr val="539DFF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2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분위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98B610A1-ED75-FC52-96CB-C37DD61F1F56}"/>
                </a:ext>
              </a:extLst>
            </p:cNvPr>
            <p:cNvSpPr/>
            <p:nvPr/>
          </p:nvSpPr>
          <p:spPr>
            <a:xfrm>
              <a:off x="8353415" y="4685669"/>
              <a:ext cx="509147" cy="216000"/>
            </a:xfrm>
            <a:prstGeom prst="rect">
              <a:avLst/>
            </a:prstGeom>
            <a:solidFill>
              <a:srgbClr val="539DFF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3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분위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1B5E7FA-418F-A711-2FC2-F83F891203FA}"/>
                </a:ext>
              </a:extLst>
            </p:cNvPr>
            <p:cNvSpPr/>
            <p:nvPr/>
          </p:nvSpPr>
          <p:spPr>
            <a:xfrm>
              <a:off x="8353415" y="4947113"/>
              <a:ext cx="509147" cy="216000"/>
            </a:xfrm>
            <a:prstGeom prst="rect">
              <a:avLst/>
            </a:prstGeom>
            <a:solidFill>
              <a:srgbClr val="539DFF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4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분위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FDA2A1C-4A0E-1D26-ED09-6B1B6F183906}"/>
                </a:ext>
              </a:extLst>
            </p:cNvPr>
            <p:cNvSpPr/>
            <p:nvPr/>
          </p:nvSpPr>
          <p:spPr>
            <a:xfrm>
              <a:off x="8353415" y="5208559"/>
              <a:ext cx="509147" cy="216000"/>
            </a:xfrm>
            <a:prstGeom prst="rect">
              <a:avLst/>
            </a:prstGeom>
            <a:solidFill>
              <a:srgbClr val="539DFF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5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분위</a:t>
              </a:r>
              <a:endParaRPr lang="en-US" altLang="ko-KR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BD2A468-AEA8-1BFA-D875-E8AB711F011B}"/>
                </a:ext>
              </a:extLst>
            </p:cNvPr>
            <p:cNvSpPr/>
            <p:nvPr/>
          </p:nvSpPr>
          <p:spPr>
            <a:xfrm>
              <a:off x="8931848" y="4162781"/>
              <a:ext cx="509147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39DFF"/>
                  </a:solidFill>
                </a:rPr>
                <a:t>60.3%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06FB3F4-2998-607E-33AC-E17764D3C695}"/>
                </a:ext>
              </a:extLst>
            </p:cNvPr>
            <p:cNvSpPr/>
            <p:nvPr/>
          </p:nvSpPr>
          <p:spPr>
            <a:xfrm>
              <a:off x="8931848" y="4424225"/>
              <a:ext cx="509147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39DFF"/>
                  </a:solidFill>
                </a:rPr>
                <a:t>28.9%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B717204F-16CA-E125-9BCC-855DF2098B78}"/>
                </a:ext>
              </a:extLst>
            </p:cNvPr>
            <p:cNvSpPr/>
            <p:nvPr/>
          </p:nvSpPr>
          <p:spPr>
            <a:xfrm>
              <a:off x="8931848" y="4685669"/>
              <a:ext cx="509147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39DFF"/>
                  </a:solidFill>
                </a:rPr>
                <a:t>17.1%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0390C86-3FF7-42F8-4245-6C8E1FD8FA15}"/>
                </a:ext>
              </a:extLst>
            </p:cNvPr>
            <p:cNvSpPr/>
            <p:nvPr/>
          </p:nvSpPr>
          <p:spPr>
            <a:xfrm>
              <a:off x="8931848" y="4947113"/>
              <a:ext cx="509147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39DFF"/>
                  </a:solidFill>
                </a:rPr>
                <a:t>18.2%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1E8D92D-D2D9-3ADF-D29E-5F57442AE0C3}"/>
                </a:ext>
              </a:extLst>
            </p:cNvPr>
            <p:cNvSpPr/>
            <p:nvPr/>
          </p:nvSpPr>
          <p:spPr>
            <a:xfrm>
              <a:off x="8931848" y="5208559"/>
              <a:ext cx="509147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39DFF"/>
                  </a:solidFill>
                </a:rPr>
                <a:t>9.4%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EBEDF26F-F66B-1AA4-EAE6-155357227E65}"/>
              </a:ext>
            </a:extLst>
          </p:cNvPr>
          <p:cNvSpPr txBox="1"/>
          <p:nvPr/>
        </p:nvSpPr>
        <p:spPr>
          <a:xfrm>
            <a:off x="8258175" y="2083268"/>
            <a:ext cx="1206902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9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소득계층별 적자가구</a:t>
            </a:r>
            <a:r>
              <a:rPr lang="en-US" altLang="ko-KR" sz="9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%</a:t>
            </a:r>
            <a:r>
              <a:rPr lang="ko-KR" altLang="en-US" sz="9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9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9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98320F-2250-011D-A3D2-11D772821407}"/>
              </a:ext>
            </a:extLst>
          </p:cNvPr>
          <p:cNvCxnSpPr/>
          <p:nvPr/>
        </p:nvCxnSpPr>
        <p:spPr>
          <a:xfrm>
            <a:off x="586740" y="5297214"/>
            <a:ext cx="5697280" cy="0"/>
          </a:xfrm>
          <a:prstGeom prst="line">
            <a:avLst/>
          </a:prstGeom>
          <a:ln w="9525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86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BDBF00C-8051-D724-1DD6-9D39BFAD9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주 수입원으로는 생계유지에 어려운 시대 도래</a:t>
            </a:r>
            <a:r>
              <a:rPr lang="en-US" altLang="ko-KR" dirty="0">
                <a:sym typeface="Wingdings" panose="05000000000000000000" pitchFamily="2" charset="2"/>
              </a:rPr>
              <a:t>,  N</a:t>
            </a:r>
            <a:r>
              <a:rPr lang="ko-KR" altLang="en-US" dirty="0" err="1">
                <a:sym typeface="Wingdings" panose="05000000000000000000" pitchFamily="2" charset="2"/>
              </a:rPr>
              <a:t>잡</a:t>
            </a:r>
            <a:r>
              <a:rPr lang="ko-KR" altLang="en-US" dirty="0">
                <a:sym typeface="Wingdings" panose="05000000000000000000" pitchFamily="2" charset="2"/>
              </a:rPr>
              <a:t> 트렌드 부상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5D07E5-2780-8E9B-A690-910BEF79B7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Note:1),2)</a:t>
            </a:r>
            <a:r>
              <a:rPr lang="ko-KR" altLang="en-US" dirty="0"/>
              <a:t> </a:t>
            </a: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ko-KR" altLang="en-US" dirty="0" err="1"/>
              <a:t>어퍼니</a:t>
            </a:r>
            <a:r>
              <a:rPr lang="ko-KR" altLang="en-US" dirty="0"/>
              <a:t> </a:t>
            </a:r>
            <a:r>
              <a:rPr lang="ko-KR" altLang="en-US" dirty="0" err="1"/>
              <a:t>머니레터</a:t>
            </a:r>
            <a:r>
              <a:rPr lang="ko-KR" altLang="en-US" dirty="0"/>
              <a:t> 구독자 </a:t>
            </a:r>
            <a:r>
              <a:rPr lang="en-US" altLang="ko-KR" dirty="0"/>
              <a:t>350</a:t>
            </a:r>
            <a:r>
              <a:rPr lang="ko-KR" altLang="en-US" dirty="0"/>
              <a:t>명을 대상으로 한 온라인 설문조사 결과</a:t>
            </a:r>
            <a:r>
              <a:rPr lang="en-US" altLang="ko-KR" dirty="0"/>
              <a:t>; 3) </a:t>
            </a:r>
            <a:r>
              <a:rPr lang="ko-KR" altLang="en-US" dirty="0" err="1"/>
              <a:t>잡코리아와</a:t>
            </a:r>
            <a:r>
              <a:rPr lang="ko-KR" altLang="en-US" dirty="0"/>
              <a:t> </a:t>
            </a:r>
            <a:r>
              <a:rPr lang="ko-KR" altLang="en-US" dirty="0" err="1"/>
              <a:t>알바몬이</a:t>
            </a:r>
            <a:r>
              <a:rPr lang="ko-KR" altLang="en-US" dirty="0"/>
              <a:t> 공동으로 조사한 설문조사 결과</a:t>
            </a:r>
            <a:r>
              <a:rPr lang="en-US" altLang="ko-KR" dirty="0"/>
              <a:t>, </a:t>
            </a:r>
            <a:r>
              <a:rPr lang="ko-KR" altLang="en-US" dirty="0"/>
              <a:t>복수응답</a:t>
            </a:r>
            <a:r>
              <a:rPr lang="en-US" altLang="ko-KR" dirty="0"/>
              <a:t>. Source: </a:t>
            </a:r>
            <a:r>
              <a:rPr lang="ko-KR" altLang="en-US" dirty="0" err="1"/>
              <a:t>어퍼니</a:t>
            </a:r>
            <a:r>
              <a:rPr lang="en-US" altLang="ko-KR" dirty="0"/>
              <a:t>, </a:t>
            </a:r>
            <a:r>
              <a:rPr lang="ko-KR" altLang="en-US" dirty="0" err="1"/>
              <a:t>잡코리아</a:t>
            </a:r>
            <a:r>
              <a:rPr lang="en-US" altLang="ko-KR" dirty="0"/>
              <a:t>, </a:t>
            </a:r>
            <a:r>
              <a:rPr lang="ko-KR" altLang="en-US" dirty="0" err="1"/>
              <a:t>알바몬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2EB153-5E0F-17B0-0689-E93F5823B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DE91CD-A81A-81AB-8CF2-C5488AE6F922}"/>
              </a:ext>
            </a:extLst>
          </p:cNvPr>
          <p:cNvSpPr/>
          <p:nvPr/>
        </p:nvSpPr>
        <p:spPr>
          <a:xfrm>
            <a:off x="453000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10</a:t>
            </a:r>
            <a:r>
              <a:rPr lang="ko-KR" altLang="en-US" sz="1200" b="1" dirty="0">
                <a:solidFill>
                  <a:schemeClr val="bg1"/>
                </a:solidFill>
              </a:rPr>
              <a:t>명 중 </a:t>
            </a:r>
            <a:r>
              <a:rPr lang="en-US" altLang="ko-KR" sz="1200" b="1" dirty="0">
                <a:solidFill>
                  <a:schemeClr val="bg1"/>
                </a:solidFill>
              </a:rPr>
              <a:t>6</a:t>
            </a:r>
            <a:r>
              <a:rPr lang="ko-KR" altLang="en-US" sz="1200" b="1" dirty="0">
                <a:solidFill>
                  <a:schemeClr val="bg1"/>
                </a:solidFill>
              </a:rPr>
              <a:t>명은 부업 뛰는 </a:t>
            </a:r>
            <a:r>
              <a:rPr lang="en-US" altLang="ko-KR" sz="1200" b="1" dirty="0">
                <a:solidFill>
                  <a:schemeClr val="bg1"/>
                </a:solidFill>
              </a:rPr>
              <a:t>‘N</a:t>
            </a:r>
            <a:r>
              <a:rPr lang="ko-KR" altLang="en-US" sz="1200" b="1" dirty="0" err="1">
                <a:solidFill>
                  <a:schemeClr val="bg1"/>
                </a:solidFill>
              </a:rPr>
              <a:t>잡러</a:t>
            </a:r>
            <a:r>
              <a:rPr lang="en-US" altLang="ko-KR" sz="1200" b="1" dirty="0">
                <a:solidFill>
                  <a:schemeClr val="bg1"/>
                </a:solidFill>
              </a:rPr>
              <a:t>’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11A774-F149-56C1-7257-5C836CF2A8AB}"/>
              </a:ext>
            </a:extLst>
          </p:cNvPr>
          <p:cNvSpPr/>
          <p:nvPr/>
        </p:nvSpPr>
        <p:spPr>
          <a:xfrm>
            <a:off x="3512999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N</a:t>
            </a:r>
            <a:r>
              <a:rPr lang="ko-KR" altLang="en-US" sz="1200" b="1" dirty="0">
                <a:solidFill>
                  <a:schemeClr val="bg1"/>
                </a:solidFill>
              </a:rPr>
              <a:t>잡은 단순한 유행이 아닌 사회적 변화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2DBA230F-F96E-5B1F-0203-4FB832FD586E}"/>
              </a:ext>
            </a:extLst>
          </p:cNvPr>
          <p:cNvGraphicFramePr/>
          <p:nvPr/>
        </p:nvGraphicFramePr>
        <p:xfrm>
          <a:off x="452439" y="2553936"/>
          <a:ext cx="2880000" cy="2495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34DD09D9-05F8-EE58-197A-601BF3E5740E}"/>
              </a:ext>
            </a:extLst>
          </p:cNvPr>
          <p:cNvGraphicFramePr/>
          <p:nvPr/>
        </p:nvGraphicFramePr>
        <p:xfrm>
          <a:off x="3511927" y="2553936"/>
          <a:ext cx="2880000" cy="2495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681987D1-8880-9AE0-C8D5-7845B19CA6A1}"/>
              </a:ext>
            </a:extLst>
          </p:cNvPr>
          <p:cNvGraphicFramePr/>
          <p:nvPr/>
        </p:nvGraphicFramePr>
        <p:xfrm>
          <a:off x="6572998" y="2553936"/>
          <a:ext cx="2880000" cy="2495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F71F7D-8CD6-E353-960C-19D34C8F445F}"/>
              </a:ext>
            </a:extLst>
          </p:cNvPr>
          <p:cNvSpPr/>
          <p:nvPr/>
        </p:nvSpPr>
        <p:spPr>
          <a:xfrm>
            <a:off x="2189050" y="3387671"/>
            <a:ext cx="607490" cy="317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하고 있음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30.3%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4A0B58-35C3-B976-9F00-498A4CB7A50F}"/>
              </a:ext>
            </a:extLst>
          </p:cNvPr>
          <p:cNvSpPr/>
          <p:nvPr/>
        </p:nvSpPr>
        <p:spPr>
          <a:xfrm>
            <a:off x="1663166" y="4218217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앞으로 시작할 계획이 있다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31.1%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0FED15-95E7-ACFD-DC1E-C07D6F4CFF3A}"/>
              </a:ext>
            </a:extLst>
          </p:cNvPr>
          <p:cNvSpPr/>
          <p:nvPr/>
        </p:nvSpPr>
        <p:spPr>
          <a:xfrm>
            <a:off x="750273" y="3546658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아니요</a:t>
            </a:r>
            <a:br>
              <a:rPr lang="en-US" altLang="ko-KR" sz="1100" dirty="0">
                <a:solidFill>
                  <a:schemeClr val="bg1"/>
                </a:solidFill>
              </a:rPr>
            </a:br>
            <a:r>
              <a:rPr lang="en-US" altLang="ko-KR" sz="1100" dirty="0">
                <a:solidFill>
                  <a:schemeClr val="bg1"/>
                </a:solidFill>
              </a:rPr>
              <a:t>33.1%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D181C6-575A-3477-B8A5-76B23F675FFC}"/>
              </a:ext>
            </a:extLst>
          </p:cNvPr>
          <p:cNvSpPr/>
          <p:nvPr/>
        </p:nvSpPr>
        <p:spPr>
          <a:xfrm>
            <a:off x="1873039" y="2294195"/>
            <a:ext cx="999280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과거에는 했지만 현재는 하지 않음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5.5%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E32B57D-DAF1-4153-EA0F-8D91EC977F0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27937" y="2464576"/>
            <a:ext cx="250630" cy="20087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99CE8A-61DC-2D20-CB93-DBD48DFBEA6A}"/>
              </a:ext>
            </a:extLst>
          </p:cNvPr>
          <p:cNvSpPr/>
          <p:nvPr/>
        </p:nvSpPr>
        <p:spPr>
          <a:xfrm>
            <a:off x="5067977" y="3407016"/>
            <a:ext cx="791808" cy="317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매우 큰 영향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30.3%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593A669-0B38-7567-EA2B-7EB0FA184B3E}"/>
              </a:ext>
            </a:extLst>
          </p:cNvPr>
          <p:cNvSpPr/>
          <p:nvPr/>
        </p:nvSpPr>
        <p:spPr>
          <a:xfrm>
            <a:off x="4672819" y="4277622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어느 정도 영향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29.2%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133BCD4-3E9D-83AB-9372-B6E99B42AAFF}"/>
              </a:ext>
            </a:extLst>
          </p:cNvPr>
          <p:cNvSpPr/>
          <p:nvPr/>
        </p:nvSpPr>
        <p:spPr>
          <a:xfrm>
            <a:off x="3843190" y="3702982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보통이다</a:t>
            </a:r>
            <a:br>
              <a:rPr lang="en-US" altLang="ko-KR" sz="1100" dirty="0">
                <a:solidFill>
                  <a:schemeClr val="bg1"/>
                </a:solidFill>
              </a:rPr>
            </a:br>
            <a:r>
              <a:rPr lang="en-US" altLang="ko-KR" sz="1100" dirty="0">
                <a:solidFill>
                  <a:schemeClr val="bg1"/>
                </a:solidFill>
              </a:rPr>
              <a:t>22.6%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8CEC5E-EECC-F15B-B4BC-45872239C400}"/>
              </a:ext>
            </a:extLst>
          </p:cNvPr>
          <p:cNvSpPr/>
          <p:nvPr/>
        </p:nvSpPr>
        <p:spPr>
          <a:xfrm>
            <a:off x="3521560" y="2622456"/>
            <a:ext cx="770286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거의 영향을 미치지 않음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9.4%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4963564-0C68-D5CA-B328-9F0E757BBDB0}"/>
              </a:ext>
            </a:extLst>
          </p:cNvPr>
          <p:cNvSpPr/>
          <p:nvPr/>
        </p:nvSpPr>
        <p:spPr>
          <a:xfrm>
            <a:off x="4907389" y="2276762"/>
            <a:ext cx="770286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거의 영향을 미치지 않음</a:t>
            </a:r>
            <a:endParaRPr lang="en-US" altLang="ko-KR" sz="9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6.6%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36BDDC85-78B8-5D64-B5A8-5F91987883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7673" y="2480759"/>
            <a:ext cx="250630" cy="20087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D2B435B-BF51-2B58-EA3C-9F6FF1B43A78}"/>
              </a:ext>
            </a:extLst>
          </p:cNvPr>
          <p:cNvSpPr/>
          <p:nvPr/>
        </p:nvSpPr>
        <p:spPr>
          <a:xfrm>
            <a:off x="8121056" y="3720896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수입을 늘리려고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81.4%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E9AA65-D401-4342-6E0C-29EC8B9B4B71}"/>
              </a:ext>
            </a:extLst>
          </p:cNvPr>
          <p:cNvSpPr/>
          <p:nvPr/>
        </p:nvSpPr>
        <p:spPr>
          <a:xfrm>
            <a:off x="6966191" y="3881736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관심분야 경험</a:t>
            </a:r>
            <a:br>
              <a:rPr lang="en-US" altLang="ko-KR" sz="1100" dirty="0">
                <a:solidFill>
                  <a:schemeClr val="bg1"/>
                </a:solidFill>
              </a:rPr>
            </a:br>
            <a:r>
              <a:rPr lang="en-US" altLang="ko-KR" sz="1100" dirty="0">
                <a:solidFill>
                  <a:schemeClr val="bg1"/>
                </a:solidFill>
              </a:rPr>
              <a:t>20.2%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9A71F2-2910-8D21-E899-AAA04EA22A18}"/>
              </a:ext>
            </a:extLst>
          </p:cNvPr>
          <p:cNvSpPr/>
          <p:nvPr/>
        </p:nvSpPr>
        <p:spPr>
          <a:xfrm>
            <a:off x="6936519" y="3357197"/>
            <a:ext cx="829629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고용 불안감</a:t>
            </a:r>
            <a:br>
              <a:rPr lang="en-US" altLang="ko-KR" sz="1100" dirty="0">
                <a:solidFill>
                  <a:schemeClr val="bg1"/>
                </a:solidFill>
              </a:rPr>
            </a:br>
            <a:r>
              <a:rPr lang="en-US" altLang="ko-KR" sz="1100" dirty="0">
                <a:solidFill>
                  <a:schemeClr val="bg1"/>
                </a:solidFill>
              </a:rPr>
              <a:t>15.9%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E06BA3-8F9B-F957-C596-2EFF1B645CE1}"/>
              </a:ext>
            </a:extLst>
          </p:cNvPr>
          <p:cNvSpPr/>
          <p:nvPr/>
        </p:nvSpPr>
        <p:spPr>
          <a:xfrm>
            <a:off x="6581048" y="2675703"/>
            <a:ext cx="770286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rgbClr val="539DFF"/>
                </a:solidFill>
              </a:rPr>
              <a:t>부업으로 전향</a:t>
            </a:r>
            <a:br>
              <a:rPr lang="en-US" altLang="ko-KR" sz="900" dirty="0">
                <a:solidFill>
                  <a:srgbClr val="539DFF"/>
                </a:solidFill>
              </a:rPr>
            </a:br>
            <a:r>
              <a:rPr lang="en-US" altLang="ko-KR" sz="900" dirty="0">
                <a:solidFill>
                  <a:srgbClr val="539DFF"/>
                </a:solidFill>
              </a:rPr>
              <a:t>6.2%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AD1A578-974E-C795-9081-8C7D4D6D189A}"/>
              </a:ext>
            </a:extLst>
          </p:cNvPr>
          <p:cNvSpPr/>
          <p:nvPr/>
        </p:nvSpPr>
        <p:spPr>
          <a:xfrm>
            <a:off x="7061949" y="2360170"/>
            <a:ext cx="770286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퇴직 후 직업</a:t>
            </a:r>
            <a:b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5.9%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5E72FE7-20E7-3C99-E396-9D9FC3CA32F3}"/>
              </a:ext>
            </a:extLst>
          </p:cNvPr>
          <p:cNvSpPr/>
          <p:nvPr/>
        </p:nvSpPr>
        <p:spPr>
          <a:xfrm>
            <a:off x="7989824" y="2168717"/>
            <a:ext cx="770286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기타</a:t>
            </a:r>
            <a:b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5.7%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E6D15-C713-FDF4-FCF0-8FE1A4B8015B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지속되는 경기 불확실성으로 인해 노동인구 중 대다수가 부업을 시작했거나 부업을 준비중인 것으로 나타나고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이러한 </a:t>
            </a:r>
            <a:r>
              <a:rPr lang="en-US" altLang="ko-KR" sz="1400" b="1" dirty="0">
                <a:solidFill>
                  <a:srgbClr val="3D3D3D"/>
                </a:solidFill>
              </a:rPr>
              <a:t>‘N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en-US" altLang="ko-KR" sz="1400" b="1" dirty="0">
                <a:solidFill>
                  <a:srgbClr val="3D3D3D"/>
                </a:solidFill>
              </a:rPr>
              <a:t>’ </a:t>
            </a:r>
            <a:r>
              <a:rPr lang="ko-KR" altLang="en-US" sz="1400" b="1" dirty="0">
                <a:solidFill>
                  <a:srgbClr val="3D3D3D"/>
                </a:solidFill>
              </a:rPr>
              <a:t>트렌드는 단순한 유행이 아닌 점차 새로운 패러다임으로 자리잡고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E3B6D0-FB60-ECD3-FA8F-C4B73778D8A9}"/>
              </a:ext>
            </a:extLst>
          </p:cNvPr>
          <p:cNvSpPr txBox="1"/>
          <p:nvPr/>
        </p:nvSpPr>
        <p:spPr>
          <a:xfrm>
            <a:off x="452997" y="5065044"/>
            <a:ext cx="2878879" cy="327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응답자의 </a:t>
            </a:r>
            <a:r>
              <a:rPr lang="en-US" altLang="ko-KR" sz="1000" spc="-30" dirty="0">
                <a:solidFill>
                  <a:srgbClr val="3D3D3D"/>
                </a:solidFill>
              </a:rPr>
              <a:t>60% </a:t>
            </a:r>
            <a:r>
              <a:rPr lang="ko-KR" altLang="en-US" sz="1000" spc="-30" dirty="0">
                <a:solidFill>
                  <a:srgbClr val="3D3D3D"/>
                </a:solidFill>
              </a:rPr>
              <a:t>이상이 이미 부업을 시작했거나 준비 중이라고 답변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현재 세대에게 부업은 일상으로 자리 잡음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126A59-6F10-5A40-2294-F0AE3034AEEE}"/>
              </a:ext>
            </a:extLst>
          </p:cNvPr>
          <p:cNvSpPr txBox="1"/>
          <p:nvPr/>
        </p:nvSpPr>
        <p:spPr>
          <a:xfrm>
            <a:off x="3521560" y="5084389"/>
            <a:ext cx="2862884" cy="496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현재의 경제상황이 부업을 하기로 결정하는데 결정적인 영향을 미치고 있으며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부업 트렌드 확산은 단순한 유행이 아닌 사회적 변화로 받아들여지고 있음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86F02369-A553-925E-F0AB-068A19EE4C0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95733" y="2473464"/>
            <a:ext cx="250630" cy="20087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643D131-D7E4-1B3F-77C2-1D8F5BC67EF2}"/>
              </a:ext>
            </a:extLst>
          </p:cNvPr>
          <p:cNvSpPr txBox="1"/>
          <p:nvPr/>
        </p:nvSpPr>
        <p:spPr>
          <a:xfrm>
            <a:off x="452437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현재 부업을 하고 </a:t>
            </a:r>
            <a:r>
              <a:rPr lang="ko-KR" altLang="en-US" sz="1100" dirty="0" err="1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계신가요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?</a:t>
            </a:r>
            <a:r>
              <a:rPr lang="en-US" altLang="ko-KR" sz="1100" baseline="300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1)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46150C-EBD9-14E9-BF90-E70FC3DFF219}"/>
              </a:ext>
            </a:extLst>
          </p:cNvPr>
          <p:cNvSpPr txBox="1"/>
          <p:nvPr/>
        </p:nvSpPr>
        <p:spPr>
          <a:xfrm>
            <a:off x="3523703" y="2003374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경기불황이 부업 선택에 끼친 </a:t>
            </a:r>
            <a:r>
              <a:rPr lang="ko-KR" altLang="en-US" sz="1100" dirty="0" err="1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영항</a:t>
            </a:r>
            <a:r>
              <a:rPr lang="en-US" altLang="ko-KR" sz="1100" baseline="300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2)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942BD6-34CA-8712-6FDB-97BF5FA085DB}"/>
              </a:ext>
            </a:extLst>
          </p:cNvPr>
          <p:cNvSpPr txBox="1"/>
          <p:nvPr/>
        </p:nvSpPr>
        <p:spPr>
          <a:xfrm>
            <a:off x="6572998" y="2003374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부업을 하는 주요 이유는 무엇인지요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?</a:t>
            </a:r>
            <a:r>
              <a:rPr lang="en-US" altLang="ko-KR" sz="1100" baseline="300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3)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529BB2-8D95-F146-6929-F9E93CF70487}"/>
              </a:ext>
            </a:extLst>
          </p:cNvPr>
          <p:cNvSpPr/>
          <p:nvPr/>
        </p:nvSpPr>
        <p:spPr>
          <a:xfrm>
            <a:off x="6572998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오늘날 </a:t>
            </a:r>
            <a:r>
              <a:rPr lang="en-US" altLang="ko-KR" sz="1200" b="1" dirty="0">
                <a:solidFill>
                  <a:schemeClr val="bg1"/>
                </a:solidFill>
              </a:rPr>
              <a:t>‘N</a:t>
            </a:r>
            <a:r>
              <a:rPr lang="ko-KR" altLang="en-US" sz="1200" b="1" dirty="0" err="1">
                <a:solidFill>
                  <a:schemeClr val="bg1"/>
                </a:solidFill>
              </a:rPr>
              <a:t>잡</a:t>
            </a:r>
            <a:r>
              <a:rPr lang="en-US" altLang="ko-KR" sz="1200" b="1" dirty="0">
                <a:solidFill>
                  <a:schemeClr val="bg1"/>
                </a:solidFill>
              </a:rPr>
              <a:t>’</a:t>
            </a:r>
            <a:r>
              <a:rPr lang="ko-KR" altLang="en-US" sz="1200" b="1" dirty="0">
                <a:solidFill>
                  <a:schemeClr val="bg1"/>
                </a:solidFill>
              </a:rPr>
              <a:t>은 생존을 위한 선택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E7AC23-B814-20C7-883C-107C55879444}"/>
              </a:ext>
            </a:extLst>
          </p:cNvPr>
          <p:cNvSpPr txBox="1"/>
          <p:nvPr/>
        </p:nvSpPr>
        <p:spPr>
          <a:xfrm>
            <a:off x="6579361" y="5034570"/>
            <a:ext cx="2881126" cy="704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실제로 </a:t>
            </a:r>
            <a:r>
              <a:rPr lang="en-US" altLang="ko-KR" sz="1000" spc="-30" dirty="0">
                <a:solidFill>
                  <a:srgbClr val="3D3D3D"/>
                </a:solidFill>
              </a:rPr>
              <a:t>81.4%</a:t>
            </a:r>
            <a:r>
              <a:rPr lang="ko-KR" altLang="en-US" sz="1000" spc="-30" dirty="0">
                <a:solidFill>
                  <a:srgbClr val="3D3D3D"/>
                </a:solidFill>
              </a:rPr>
              <a:t>에 달하는 응답자는 수입을 늘리려는 목적으로 부업을 선택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흥미로운 점은 </a:t>
            </a:r>
            <a:r>
              <a:rPr lang="en-US" altLang="ko-KR" sz="1000" spc="-30" dirty="0">
                <a:solidFill>
                  <a:srgbClr val="3D3D3D"/>
                </a:solidFill>
              </a:rPr>
              <a:t>‘</a:t>
            </a:r>
            <a:r>
              <a:rPr lang="ko-KR" altLang="en-US" sz="1000" spc="-30" dirty="0">
                <a:solidFill>
                  <a:srgbClr val="3D3D3D"/>
                </a:solidFill>
              </a:rPr>
              <a:t>관심분야 경험</a:t>
            </a:r>
            <a:r>
              <a:rPr lang="en-US" altLang="ko-KR" sz="1000" spc="-30" dirty="0">
                <a:solidFill>
                  <a:srgbClr val="3D3D3D"/>
                </a:solidFill>
              </a:rPr>
              <a:t>’</a:t>
            </a:r>
            <a:r>
              <a:rPr lang="ko-KR" altLang="en-US" sz="1000" spc="-30" dirty="0">
                <a:solidFill>
                  <a:srgbClr val="3D3D3D"/>
                </a:solidFill>
              </a:rPr>
              <a:t>과 </a:t>
            </a:r>
            <a:r>
              <a:rPr lang="en-US" altLang="ko-KR" sz="1000" spc="-30" dirty="0">
                <a:solidFill>
                  <a:srgbClr val="3D3D3D"/>
                </a:solidFill>
              </a:rPr>
              <a:t>‘</a:t>
            </a:r>
            <a:r>
              <a:rPr lang="ko-KR" altLang="en-US" sz="1000" spc="-30" dirty="0">
                <a:solidFill>
                  <a:srgbClr val="3D3D3D"/>
                </a:solidFill>
              </a:rPr>
              <a:t>부업으로 전향</a:t>
            </a:r>
            <a:r>
              <a:rPr lang="en-US" altLang="ko-KR" sz="1000" spc="-30" dirty="0">
                <a:solidFill>
                  <a:srgbClr val="3D3D3D"/>
                </a:solidFill>
              </a:rPr>
              <a:t>’, </a:t>
            </a:r>
            <a:r>
              <a:rPr lang="ko-KR" altLang="en-US" sz="1000" spc="-30" dirty="0">
                <a:solidFill>
                  <a:srgbClr val="3D3D3D"/>
                </a:solidFill>
              </a:rPr>
              <a:t>퇴직 후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할일을</a:t>
            </a:r>
            <a:r>
              <a:rPr lang="ko-KR" altLang="en-US" sz="1000" spc="-30" dirty="0">
                <a:solidFill>
                  <a:srgbClr val="3D3D3D"/>
                </a:solidFill>
              </a:rPr>
              <a:t> 찾아</a:t>
            </a:r>
            <a:r>
              <a:rPr lang="en-US" altLang="ko-KR" sz="1000" spc="-30" dirty="0">
                <a:solidFill>
                  <a:srgbClr val="3D3D3D"/>
                </a:solidFill>
              </a:rPr>
              <a:t>’ </a:t>
            </a:r>
            <a:r>
              <a:rPr lang="ko-KR" altLang="en-US" sz="1000" spc="-30" dirty="0">
                <a:solidFill>
                  <a:srgbClr val="3D3D3D"/>
                </a:solidFill>
              </a:rPr>
              <a:t>부업을 시작하는 사례도 높은 비중을 차지</a:t>
            </a:r>
          </a:p>
        </p:txBody>
      </p:sp>
    </p:spTree>
    <p:extLst>
      <p:ext uri="{BB962C8B-B14F-4D97-AF65-F5344CB8AC3E}">
        <p14:creationId xmlns:p14="http://schemas.microsoft.com/office/powerpoint/2010/main" val="2129336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row: Down 23">
            <a:extLst>
              <a:ext uri="{FF2B5EF4-FFF2-40B4-BE49-F238E27FC236}">
                <a16:creationId xmlns:a16="http://schemas.microsoft.com/office/drawing/2014/main" id="{6CD6BBA9-9196-E974-E8A3-2F3B5572FA19}"/>
              </a:ext>
            </a:extLst>
          </p:cNvPr>
          <p:cNvSpPr/>
          <p:nvPr/>
        </p:nvSpPr>
        <p:spPr>
          <a:xfrm>
            <a:off x="4671078" y="3238913"/>
            <a:ext cx="539568" cy="1918873"/>
          </a:xfrm>
          <a:prstGeom prst="downArrow">
            <a:avLst>
              <a:gd name="adj1" fmla="val 50000"/>
              <a:gd name="adj2" fmla="val 28428"/>
            </a:avLst>
          </a:prstGeom>
          <a:solidFill>
            <a:srgbClr val="BFBFB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ko-KR" altLang="en-US" sz="1000" err="1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0D021F2-F4CC-DF98-D819-83CA332101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기술 </a:t>
            </a:r>
            <a:r>
              <a:rPr lang="en-US" altLang="ko-KR" dirty="0"/>
              <a:t>· </a:t>
            </a:r>
            <a:r>
              <a:rPr lang="ko-KR" altLang="en-US" dirty="0"/>
              <a:t>환경 </a:t>
            </a:r>
            <a:r>
              <a:rPr lang="en-US" altLang="ko-KR" dirty="0"/>
              <a:t>· </a:t>
            </a:r>
            <a:r>
              <a:rPr lang="ko-KR" altLang="en-US" dirty="0"/>
              <a:t>인식 변화로 인한 </a:t>
            </a:r>
            <a:r>
              <a:rPr lang="en-US" altLang="ko-KR" dirty="0"/>
              <a:t>N</a:t>
            </a:r>
            <a:r>
              <a:rPr lang="ko-KR" altLang="en-US" dirty="0" err="1"/>
              <a:t>잡</a:t>
            </a:r>
            <a:r>
              <a:rPr lang="ko-KR" altLang="en-US" dirty="0"/>
              <a:t> 트렌드 가속화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81F7AE-CB08-581C-A157-BA151F03C6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1) 2022</a:t>
            </a:r>
            <a:r>
              <a:rPr lang="ko-KR" altLang="en-US" dirty="0"/>
              <a:t>년 </a:t>
            </a:r>
            <a:r>
              <a:rPr lang="ko-KR" altLang="en-US" dirty="0" err="1"/>
              <a:t>오픈서베이</a:t>
            </a:r>
            <a:r>
              <a:rPr lang="ko-KR" altLang="en-US" dirty="0"/>
              <a:t> 수도권 거주 직장인 </a:t>
            </a:r>
            <a:r>
              <a:rPr lang="en-US" altLang="ko-KR" dirty="0"/>
              <a:t>500</a:t>
            </a:r>
            <a:r>
              <a:rPr lang="ko-KR" altLang="en-US" dirty="0"/>
              <a:t>명 설문 조사 결과</a:t>
            </a:r>
            <a:r>
              <a:rPr lang="en-US" altLang="ko-KR" dirty="0"/>
              <a:t>. Source: </a:t>
            </a:r>
            <a:r>
              <a:rPr lang="ko-KR" altLang="en-US" dirty="0"/>
              <a:t>통계청</a:t>
            </a:r>
            <a:r>
              <a:rPr lang="en-US" altLang="ko-KR" dirty="0"/>
              <a:t>, </a:t>
            </a:r>
            <a:r>
              <a:rPr lang="ko-KR" altLang="en-US" dirty="0" err="1"/>
              <a:t>오픈서베이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02C659-23E5-D3DE-8317-7559A7F4220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9FF78-8924-1401-A576-58A9921E060B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일과 소득에 대한 인식 변화와 디지털 플랫폼</a:t>
            </a:r>
            <a:r>
              <a:rPr lang="en-US" altLang="ko-KR" sz="1400" b="1" dirty="0">
                <a:solidFill>
                  <a:srgbClr val="3D3D3D"/>
                </a:solidFill>
              </a:rPr>
              <a:t>·AI </a:t>
            </a:r>
            <a:r>
              <a:rPr lang="ko-KR" altLang="en-US" sz="1400" b="1" dirty="0">
                <a:solidFill>
                  <a:srgbClr val="3D3D3D"/>
                </a:solidFill>
              </a:rPr>
              <a:t>기술의 발전으로 누구나 손쉽게 부업을 시작할 수 있는 환경이 빠르게 조성되면서</a:t>
            </a:r>
            <a:r>
              <a:rPr lang="en-US" altLang="ko-KR" sz="1400" b="1" dirty="0">
                <a:solidFill>
                  <a:srgbClr val="3D3D3D"/>
                </a:solidFill>
              </a:rPr>
              <a:t>, 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ko-KR" altLang="en-US" sz="1400" b="1" dirty="0">
                <a:solidFill>
                  <a:srgbClr val="3D3D3D"/>
                </a:solidFill>
              </a:rPr>
              <a:t> 트렌드는 가속화되고 참여 인구도 꾸준히 증가해 앞으로도 성장세가 지속될 것으로 예상됩니다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9322730-4B32-B9A9-FAB3-731BC6B61400}"/>
              </a:ext>
            </a:extLst>
          </p:cNvPr>
          <p:cNvGraphicFramePr/>
          <p:nvPr/>
        </p:nvGraphicFramePr>
        <p:xfrm>
          <a:off x="6572998" y="1984247"/>
          <a:ext cx="2892079" cy="378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119DB246-B15C-1145-15A5-820877A6DABA}"/>
              </a:ext>
            </a:extLst>
          </p:cNvPr>
          <p:cNvSpPr/>
          <p:nvPr/>
        </p:nvSpPr>
        <p:spPr>
          <a:xfrm>
            <a:off x="6572998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N</a:t>
            </a:r>
            <a:r>
              <a:rPr lang="ko-KR" altLang="en-US" sz="1200" b="1" dirty="0" err="1">
                <a:solidFill>
                  <a:schemeClr val="bg1"/>
                </a:solidFill>
              </a:rPr>
              <a:t>잡</a:t>
            </a:r>
            <a:r>
              <a:rPr lang="ko-KR" altLang="en-US" sz="1200" b="1" dirty="0">
                <a:solidFill>
                  <a:schemeClr val="bg1"/>
                </a:solidFill>
              </a:rPr>
              <a:t> 인구는 지속 상승할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전망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E56233-4B0C-03A3-8B35-232BC1C078FD}"/>
              </a:ext>
            </a:extLst>
          </p:cNvPr>
          <p:cNvSpPr/>
          <p:nvPr/>
        </p:nvSpPr>
        <p:spPr>
          <a:xfrm>
            <a:off x="452999" y="1700213"/>
            <a:ext cx="5939999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‘</a:t>
            </a:r>
            <a:r>
              <a:rPr lang="ko-KR" altLang="en-US" sz="1200" b="1" dirty="0">
                <a:solidFill>
                  <a:schemeClr val="bg1"/>
                </a:solidFill>
              </a:rPr>
              <a:t>일</a:t>
            </a:r>
            <a:r>
              <a:rPr lang="en-US" altLang="ko-KR" sz="1200" b="1" dirty="0">
                <a:solidFill>
                  <a:schemeClr val="bg1"/>
                </a:solidFill>
              </a:rPr>
              <a:t>’</a:t>
            </a:r>
            <a:r>
              <a:rPr lang="ko-KR" altLang="en-US" sz="1200" b="1" dirty="0">
                <a:solidFill>
                  <a:schemeClr val="bg1"/>
                </a:solidFill>
              </a:rPr>
              <a:t>에 대한 인식 변화와 온라인 플랫폼 활성화가 맞물리며 </a:t>
            </a:r>
            <a:r>
              <a:rPr lang="en-US" altLang="ko-KR" sz="1200" b="1" dirty="0">
                <a:solidFill>
                  <a:schemeClr val="bg1"/>
                </a:solidFill>
              </a:rPr>
              <a:t>N</a:t>
            </a:r>
            <a:r>
              <a:rPr lang="ko-KR" altLang="en-US" sz="1200" b="1" dirty="0" err="1">
                <a:solidFill>
                  <a:schemeClr val="bg1"/>
                </a:solidFill>
              </a:rPr>
              <a:t>잡</a:t>
            </a:r>
            <a:r>
              <a:rPr lang="ko-KR" altLang="en-US" sz="1200" b="1" dirty="0">
                <a:solidFill>
                  <a:schemeClr val="bg1"/>
                </a:solidFill>
              </a:rPr>
              <a:t> 트렌드 가속화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3" name="직사각형 74">
            <a:extLst>
              <a:ext uri="{FF2B5EF4-FFF2-40B4-BE49-F238E27FC236}">
                <a16:creationId xmlns:a16="http://schemas.microsoft.com/office/drawing/2014/main" id="{680BCAEF-78C7-7025-422A-F2B61EB3FBC0}"/>
              </a:ext>
            </a:extLst>
          </p:cNvPr>
          <p:cNvSpPr/>
          <p:nvPr/>
        </p:nvSpPr>
        <p:spPr>
          <a:xfrm>
            <a:off x="3489638" y="2351554"/>
            <a:ext cx="2880000" cy="1116000"/>
          </a:xfrm>
          <a:prstGeom prst="rect">
            <a:avLst/>
          </a:prstGeom>
          <a:solidFill>
            <a:schemeClr val="bg1"/>
          </a:solidFill>
          <a:ln w="12700">
            <a:solidFill>
              <a:srgbClr val="11244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>
                <a:srgbClr val="3D3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단순 생계를 위한 배달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·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아르바이트 차원에서  자기실현과 수입 다변화를 동시에 추구하는 영역으로 진화</a:t>
            </a:r>
          </a:p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>
                <a:srgbClr val="3D3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평생직장의 개념이 사라지면서 본업 외에도 개인의 재능을 발휘해 추가 소득을 창출하려는 움직임이 확산</a:t>
            </a:r>
          </a:p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>
                <a:srgbClr val="3D3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업무의 유연성과 자율성을 중시하며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원하는 시간에 자유롭게 부업을 운영할 수 있는 형태를 선호</a:t>
            </a:r>
          </a:p>
        </p:txBody>
      </p:sp>
      <p:sp>
        <p:nvSpPr>
          <p:cNvPr id="14" name="직사각형 39">
            <a:extLst>
              <a:ext uri="{FF2B5EF4-FFF2-40B4-BE49-F238E27FC236}">
                <a16:creationId xmlns:a16="http://schemas.microsoft.com/office/drawing/2014/main" id="{F101DAB1-38E5-1425-F29E-76C09180A583}"/>
              </a:ext>
            </a:extLst>
          </p:cNvPr>
          <p:cNvSpPr/>
          <p:nvPr/>
        </p:nvSpPr>
        <p:spPr>
          <a:xfrm flipH="1">
            <a:off x="3489637" y="2063555"/>
            <a:ext cx="2880000" cy="288000"/>
          </a:xfrm>
          <a:prstGeom prst="rect">
            <a:avLst/>
          </a:prstGeom>
          <a:solidFill>
            <a:srgbClr val="11244A"/>
          </a:solidFill>
          <a:ln w="12700">
            <a:solidFill>
              <a:srgbClr val="1124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spc="-70" dirty="0">
                <a:solidFill>
                  <a:schemeClr val="bg1"/>
                </a:solidFill>
              </a:rPr>
              <a:t>‘N</a:t>
            </a:r>
            <a:r>
              <a:rPr lang="ko-KR" altLang="en-US" sz="1200" b="1" spc="-70" dirty="0" err="1">
                <a:solidFill>
                  <a:schemeClr val="bg1"/>
                </a:solidFill>
              </a:rPr>
              <a:t>잡러</a:t>
            </a:r>
            <a:r>
              <a:rPr lang="en-US" altLang="ko-KR" sz="1200" b="1" spc="-70" dirty="0">
                <a:solidFill>
                  <a:schemeClr val="bg1"/>
                </a:solidFill>
              </a:rPr>
              <a:t>’</a:t>
            </a:r>
            <a:r>
              <a:rPr lang="ko-KR" altLang="en-US" sz="1200" b="1" spc="-70" dirty="0">
                <a:solidFill>
                  <a:schemeClr val="bg1"/>
                </a:solidFill>
              </a:rPr>
              <a:t>의 목적과 인식 변화</a:t>
            </a:r>
            <a:endParaRPr lang="en-US" altLang="ko-KR" sz="1200" b="1" spc="-70" dirty="0">
              <a:solidFill>
                <a:schemeClr val="bg1"/>
              </a:solidFill>
            </a:endParaRPr>
          </a:p>
        </p:txBody>
      </p:sp>
      <p:sp>
        <p:nvSpPr>
          <p:cNvPr id="16" name="직사각형 74">
            <a:extLst>
              <a:ext uri="{FF2B5EF4-FFF2-40B4-BE49-F238E27FC236}">
                <a16:creationId xmlns:a16="http://schemas.microsoft.com/office/drawing/2014/main" id="{05193543-0A4F-3E03-E882-F1E8FD17C9AE}"/>
              </a:ext>
            </a:extLst>
          </p:cNvPr>
          <p:cNvSpPr/>
          <p:nvPr/>
        </p:nvSpPr>
        <p:spPr>
          <a:xfrm>
            <a:off x="3489637" y="3829906"/>
            <a:ext cx="2880000" cy="1116000"/>
          </a:xfrm>
          <a:prstGeom prst="rect">
            <a:avLst/>
          </a:prstGeom>
          <a:solidFill>
            <a:schemeClr val="bg1"/>
          </a:solidFill>
          <a:ln w="12700">
            <a:solidFill>
              <a:srgbClr val="11244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>
                <a:srgbClr val="3D3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유튜브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인스타그램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틱톡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등 온라인 콘텐츠 </a:t>
            </a:r>
            <a:r>
              <a:rPr kumimoji="0" lang="ko-KR" altLang="en-US" sz="1000" b="0" i="0" u="none" strike="noStrike" kern="1200" cap="none" spc="-3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플랫폼뿐만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아니라 스마트스토어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쿠팡파트너스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지식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재능 플랫폼 등을 통해 일반인도 손쉽게 수익 창출 가능</a:t>
            </a:r>
          </a:p>
          <a:p>
            <a:pPr marL="171450" marR="0" lvl="0" indent="-171450" algn="l" defTabSz="457200" rtl="0" eaLnBrk="1" fontAlgn="auto" latinLnBrk="0" hangingPunct="1">
              <a:spcBef>
                <a:spcPts val="0"/>
              </a:spcBef>
              <a:spcAft>
                <a:spcPts val="300"/>
              </a:spcAft>
              <a:buClr>
                <a:srgbClr val="3D3D3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AI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도구와 자동화 기술의 발전으로 업무 시간 단축과 생산성 향상이 가능해지며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개인이 남는 시간을 부업에 활용할 수 있는 기회 확대</a:t>
            </a:r>
          </a:p>
        </p:txBody>
      </p:sp>
      <p:sp>
        <p:nvSpPr>
          <p:cNvPr id="17" name="직사각형 39">
            <a:extLst>
              <a:ext uri="{FF2B5EF4-FFF2-40B4-BE49-F238E27FC236}">
                <a16:creationId xmlns:a16="http://schemas.microsoft.com/office/drawing/2014/main" id="{7E642BD1-7FBB-CDE7-0A0D-93D8582449ED}"/>
              </a:ext>
            </a:extLst>
          </p:cNvPr>
          <p:cNvSpPr/>
          <p:nvPr/>
        </p:nvSpPr>
        <p:spPr>
          <a:xfrm flipH="1">
            <a:off x="3489637" y="3541906"/>
            <a:ext cx="2880000" cy="288000"/>
          </a:xfrm>
          <a:prstGeom prst="rect">
            <a:avLst/>
          </a:prstGeom>
          <a:solidFill>
            <a:srgbClr val="11244A"/>
          </a:solidFill>
          <a:ln w="12700">
            <a:solidFill>
              <a:srgbClr val="1124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70" dirty="0">
                <a:solidFill>
                  <a:schemeClr val="bg1"/>
                </a:solidFill>
              </a:rPr>
              <a:t>기술과 환경의 변화</a:t>
            </a:r>
            <a:endParaRPr lang="en-US" altLang="ko-KR" sz="1200" b="1" spc="-70" dirty="0">
              <a:solidFill>
                <a:schemeClr val="bg1"/>
              </a:solidFill>
            </a:endParaRPr>
          </a:p>
        </p:txBody>
      </p:sp>
      <p:sp>
        <p:nvSpPr>
          <p:cNvPr id="19" name="직사각형 19">
            <a:extLst>
              <a:ext uri="{FF2B5EF4-FFF2-40B4-BE49-F238E27FC236}">
                <a16:creationId xmlns:a16="http://schemas.microsoft.com/office/drawing/2014/main" id="{94DC560D-C595-EE8D-F867-B669C8404D60}"/>
              </a:ext>
            </a:extLst>
          </p:cNvPr>
          <p:cNvSpPr/>
          <p:nvPr/>
        </p:nvSpPr>
        <p:spPr>
          <a:xfrm>
            <a:off x="3493679" y="5108512"/>
            <a:ext cx="2894367" cy="626043"/>
          </a:xfrm>
          <a:prstGeom prst="rect">
            <a:avLst/>
          </a:prstGeom>
          <a:solidFill>
            <a:srgbClr val="0A1A39"/>
          </a:solidFill>
          <a:ln w="19050" cap="flat" cmpd="sng" algn="ctr">
            <a:solidFill>
              <a:srgbClr val="0A1A39"/>
            </a:solidFill>
            <a:prstDash val="solid"/>
          </a:ln>
          <a:effectLst>
            <a:outerShdw blurRad="63500" sx="102000" sy="102000" algn="ctr" rotWithShape="0">
              <a:schemeClr val="bg1">
                <a:lumMod val="85000"/>
                <a:alpha val="40000"/>
              </a:schemeClr>
            </a:outerShdw>
          </a:effectLst>
        </p:spPr>
        <p:txBody>
          <a:bodyPr lIns="144000" tIns="0" rIns="144000" bIns="0" rtlCol="0" anchor="ctr"/>
          <a:lstStyle/>
          <a:p>
            <a:pPr marL="0" marR="0" lvl="0" indent="0" algn="ctr" defTabSz="4298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일에 대한 인식 변화와 온라인 플랫폼 환경 변화가 맞물리며 현대의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N</a:t>
            </a:r>
            <a:r>
              <a:rPr lang="ko-KR" altLang="en-US" sz="1100" dirty="0" err="1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잡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 트렌드 가속화</a:t>
            </a:r>
            <a:endParaRPr lang="ko-KR" altLang="en-US" sz="105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001EC1D2-418A-83FE-FFEA-28D5947C3A18}"/>
              </a:ext>
            </a:extLst>
          </p:cNvPr>
          <p:cNvGraphicFramePr/>
          <p:nvPr/>
        </p:nvGraphicFramePr>
        <p:xfrm>
          <a:off x="440922" y="2063556"/>
          <a:ext cx="3036075" cy="3705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39363E3-3AAC-16F6-269B-3505C140BCCF}"/>
              </a:ext>
            </a:extLst>
          </p:cNvPr>
          <p:cNvSpPr txBox="1"/>
          <p:nvPr/>
        </p:nvSpPr>
        <p:spPr>
          <a:xfrm>
            <a:off x="452437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선호하는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N</a:t>
            </a:r>
            <a:r>
              <a:rPr lang="ko-KR" altLang="en-US" sz="1100" dirty="0" err="1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잡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아이템 설문 결과</a:t>
            </a:r>
            <a:r>
              <a:rPr lang="en-US" altLang="ko-KR" sz="1100" baseline="300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1)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A2054ED-D133-AE09-30C2-3843542CDF99}"/>
              </a:ext>
            </a:extLst>
          </p:cNvPr>
          <p:cNvSpPr/>
          <p:nvPr/>
        </p:nvSpPr>
        <p:spPr>
          <a:xfrm>
            <a:off x="2320066" y="2054981"/>
            <a:ext cx="1169570" cy="3713995"/>
          </a:xfrm>
          <a:prstGeom prst="rect">
            <a:avLst/>
          </a:prstGeom>
          <a:gradFill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ABEC26F-8870-ACCA-43C3-7C79EF76A6F7}"/>
              </a:ext>
            </a:extLst>
          </p:cNvPr>
          <p:cNvSpPr txBox="1">
            <a:spLocks/>
          </p:cNvSpPr>
          <p:nvPr/>
        </p:nvSpPr>
        <p:spPr>
          <a:xfrm>
            <a:off x="2982500" y="5520256"/>
            <a:ext cx="270172" cy="13916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44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3888" indent="-279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938" indent="-273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980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716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—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45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·</a:t>
            </a:r>
            <a:r>
              <a:rPr lang="de-DE" altLang="ko-KR" sz="12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+mj-ea"/>
              </a:rPr>
              <a:t>··</a:t>
            </a:r>
            <a:endParaRPr lang="de-DE" sz="12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7" name="그룹 51">
            <a:extLst>
              <a:ext uri="{FF2B5EF4-FFF2-40B4-BE49-F238E27FC236}">
                <a16:creationId xmlns:a16="http://schemas.microsoft.com/office/drawing/2014/main" id="{484F0CCF-345B-2263-AFCC-6DEC9203C50E}"/>
              </a:ext>
            </a:extLst>
          </p:cNvPr>
          <p:cNvGrpSpPr/>
          <p:nvPr/>
        </p:nvGrpSpPr>
        <p:grpSpPr>
          <a:xfrm>
            <a:off x="562121" y="2751886"/>
            <a:ext cx="1602121" cy="108000"/>
            <a:chOff x="346278" y="3961693"/>
            <a:chExt cx="2049646" cy="108000"/>
          </a:xfrm>
        </p:grpSpPr>
        <p:sp>
          <p:nvSpPr>
            <p:cNvPr id="28" name="직사각형 52">
              <a:extLst>
                <a:ext uri="{FF2B5EF4-FFF2-40B4-BE49-F238E27FC236}">
                  <a16:creationId xmlns:a16="http://schemas.microsoft.com/office/drawing/2014/main" id="{8A8A5649-B982-1E04-C270-C0B8FDD835D0}"/>
                </a:ext>
              </a:extLst>
            </p:cNvPr>
            <p:cNvSpPr/>
            <p:nvPr/>
          </p:nvSpPr>
          <p:spPr>
            <a:xfrm>
              <a:off x="346278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29" name="직사각형 53">
              <a:extLst>
                <a:ext uri="{FF2B5EF4-FFF2-40B4-BE49-F238E27FC236}">
                  <a16:creationId xmlns:a16="http://schemas.microsoft.com/office/drawing/2014/main" id="{2CA5BDC2-2DB9-102D-29B9-AC72055608F6}"/>
                </a:ext>
              </a:extLst>
            </p:cNvPr>
            <p:cNvSpPr/>
            <p:nvPr/>
          </p:nvSpPr>
          <p:spPr>
            <a:xfrm>
              <a:off x="2364995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cxnSp>
          <p:nvCxnSpPr>
            <p:cNvPr id="30" name="직선 연결선 54">
              <a:extLst>
                <a:ext uri="{FF2B5EF4-FFF2-40B4-BE49-F238E27FC236}">
                  <a16:creationId xmlns:a16="http://schemas.microsoft.com/office/drawing/2014/main" id="{8C623E76-A02A-A28A-B711-4CBEE73AD0A7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377207" y="4015693"/>
              <a:ext cx="1987788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3" name="Picture 9">
            <a:extLst>
              <a:ext uri="{FF2B5EF4-FFF2-40B4-BE49-F238E27FC236}">
                <a16:creationId xmlns:a16="http://schemas.microsoft.com/office/drawing/2014/main" id="{A600912B-55EF-D490-CA51-CA655DEDC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151" y="2580013"/>
            <a:ext cx="431647" cy="181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3BF5E32A-D30E-E73A-EE3B-D0D707706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311" y="2577131"/>
            <a:ext cx="179184" cy="17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02DE5323-6165-5FA2-3224-8AE850952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98438" y="2625073"/>
            <a:ext cx="481085" cy="10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한국민예사">
            <a:extLst>
              <a:ext uri="{FF2B5EF4-FFF2-40B4-BE49-F238E27FC236}">
                <a16:creationId xmlns:a16="http://schemas.microsoft.com/office/drawing/2014/main" id="{D529C16C-0695-2B3F-7BA9-39B9F5D7A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2403"/>
          <a:stretch>
            <a:fillRect/>
          </a:stretch>
        </p:blipFill>
        <p:spPr bwMode="auto">
          <a:xfrm>
            <a:off x="1295529" y="2430813"/>
            <a:ext cx="258986" cy="46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E1AFFAF2-C397-2691-20B7-B136177B0B5D}"/>
              </a:ext>
            </a:extLst>
          </p:cNvPr>
          <p:cNvSpPr txBox="1">
            <a:spLocks/>
          </p:cNvSpPr>
          <p:nvPr/>
        </p:nvSpPr>
        <p:spPr>
          <a:xfrm>
            <a:off x="8999951" y="5520256"/>
            <a:ext cx="270172" cy="13916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44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3888" indent="-279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938" indent="-273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980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716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—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45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0A1A39"/>
                </a:solidFill>
                <a:latin typeface="+mj-ea"/>
                <a:ea typeface="+mj-ea"/>
              </a:rPr>
              <a:t>·</a:t>
            </a:r>
            <a:r>
              <a:rPr lang="de-DE" altLang="ko-KR" sz="12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0A1A39"/>
                </a:solidFill>
                <a:latin typeface="+mj-ea"/>
              </a:rPr>
              <a:t>··</a:t>
            </a:r>
            <a:endParaRPr lang="de-DE" sz="12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0A1A39"/>
              </a:solidFill>
              <a:latin typeface="+mj-ea"/>
              <a:ea typeface="+mj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46E7390-4FDB-D61A-8AE7-72B02BEDD345}"/>
              </a:ext>
            </a:extLst>
          </p:cNvPr>
          <p:cNvSpPr/>
          <p:nvPr/>
        </p:nvSpPr>
        <p:spPr>
          <a:xfrm>
            <a:off x="8489950" y="2054981"/>
            <a:ext cx="963048" cy="3713995"/>
          </a:xfrm>
          <a:prstGeom prst="rect">
            <a:avLst/>
          </a:prstGeom>
          <a:gradFill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8CAF631-D032-E302-DA20-BE37F49F000C}"/>
              </a:ext>
            </a:extLst>
          </p:cNvPr>
          <p:cNvSpPr txBox="1">
            <a:spLocks/>
          </p:cNvSpPr>
          <p:nvPr/>
        </p:nvSpPr>
        <p:spPr>
          <a:xfrm>
            <a:off x="574209" y="5503589"/>
            <a:ext cx="439153" cy="230966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44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3888" indent="-279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938" indent="-273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980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716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—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45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800" b="0" dirty="0">
                <a:solidFill>
                  <a:srgbClr val="3D3D3D"/>
                </a:solidFill>
              </a:rPr>
              <a:t>소셜</a:t>
            </a:r>
            <a:br>
              <a:rPr lang="en-US" altLang="ko-KR" sz="800" b="0" dirty="0">
                <a:solidFill>
                  <a:srgbClr val="3D3D3D"/>
                </a:solidFill>
              </a:rPr>
            </a:br>
            <a:r>
              <a:rPr lang="ko-KR" altLang="en-US" sz="800" b="0" dirty="0">
                <a:solidFill>
                  <a:srgbClr val="3D3D3D"/>
                </a:solidFill>
              </a:rPr>
              <a:t>크리에이터</a:t>
            </a:r>
            <a:endParaRPr lang="de-DE" sz="800" b="0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727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03A82D4-A27D-034D-286C-AAA4A23EEA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N</a:t>
            </a:r>
            <a:r>
              <a:rPr lang="ko-KR" altLang="en-US" dirty="0" err="1"/>
              <a:t>잡</a:t>
            </a:r>
            <a:r>
              <a:rPr lang="ko-KR" altLang="en-US" dirty="0"/>
              <a:t> 트렌드 확대에 따른 국내 성인교육 시장의 변화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B53EB-6A84-D542-D7D4-BC5915C65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10A17-A6B9-8FB2-85ED-51CEF463554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CD08C9-A577-BD09-5154-86C9F878DF05}"/>
              </a:ext>
            </a:extLst>
          </p:cNvPr>
          <p:cNvSpPr/>
          <p:nvPr/>
        </p:nvSpPr>
        <p:spPr>
          <a:xfrm>
            <a:off x="453000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N</a:t>
            </a:r>
            <a:r>
              <a:rPr lang="ko-KR" altLang="en-US" sz="1200" b="1" dirty="0" err="1">
                <a:solidFill>
                  <a:schemeClr val="bg1"/>
                </a:solidFill>
              </a:rPr>
              <a:t>잡</a:t>
            </a:r>
            <a:r>
              <a:rPr lang="ko-KR" altLang="en-US" sz="1200" b="1" dirty="0">
                <a:solidFill>
                  <a:schemeClr val="bg1"/>
                </a:solidFill>
              </a:rPr>
              <a:t> 트렌드로 인한 성인교육시장 패러다임 전환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C6903-3163-D01C-4D33-816A4BBCE5CA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가속화되는 </a:t>
            </a:r>
            <a:r>
              <a:rPr lang="en-US" altLang="ko-KR" sz="1400" b="1" dirty="0">
                <a:solidFill>
                  <a:srgbClr val="3D3D3D"/>
                </a:solidFill>
              </a:rPr>
              <a:t>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ko-KR" altLang="en-US" sz="1400" b="1" dirty="0">
                <a:solidFill>
                  <a:srgbClr val="3D3D3D"/>
                </a:solidFill>
              </a:rPr>
              <a:t> 트렌드로 성인교육 시장은 학력 보완 중심에서 실질적 수익과 자기실현을 중시하는 </a:t>
            </a:r>
            <a:r>
              <a:rPr lang="en-US" altLang="ko-KR" sz="1400" b="1" dirty="0">
                <a:solidFill>
                  <a:srgbClr val="3D3D3D"/>
                </a:solidFill>
              </a:rPr>
              <a:t>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영역으로 이동하며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온라인</a:t>
            </a:r>
            <a:r>
              <a:rPr lang="en-US" altLang="ko-KR" sz="1400" b="1" dirty="0">
                <a:solidFill>
                  <a:srgbClr val="3D3D3D"/>
                </a:solidFill>
              </a:rPr>
              <a:t>·D2C </a:t>
            </a:r>
            <a:r>
              <a:rPr lang="ko-KR" altLang="en-US" sz="1400" b="1" dirty="0">
                <a:solidFill>
                  <a:srgbClr val="3D3D3D"/>
                </a:solidFill>
              </a:rPr>
              <a:t>기반의 새로운 교육 생태계가 빠르게 형성되고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pSp>
        <p:nvGrpSpPr>
          <p:cNvPr id="9" name="그룹 35">
            <a:extLst>
              <a:ext uri="{FF2B5EF4-FFF2-40B4-BE49-F238E27FC236}">
                <a16:creationId xmlns:a16="http://schemas.microsoft.com/office/drawing/2014/main" id="{9251F4D0-07DC-1CD2-7E0A-6EFFC2A63567}"/>
              </a:ext>
            </a:extLst>
          </p:cNvPr>
          <p:cNvGrpSpPr/>
          <p:nvPr/>
        </p:nvGrpSpPr>
        <p:grpSpPr>
          <a:xfrm>
            <a:off x="4800180" y="2018210"/>
            <a:ext cx="4625174" cy="496472"/>
            <a:chOff x="5847078" y="2537609"/>
            <a:chExt cx="6993683" cy="592873"/>
          </a:xfrm>
        </p:grpSpPr>
        <p:sp>
          <p:nvSpPr>
            <p:cNvPr id="10" name="직각 삼각형 36">
              <a:extLst>
                <a:ext uri="{FF2B5EF4-FFF2-40B4-BE49-F238E27FC236}">
                  <a16:creationId xmlns:a16="http://schemas.microsoft.com/office/drawing/2014/main" id="{E4C76CF5-6577-5DCA-A7E0-8731F3F1898E}"/>
                </a:ext>
              </a:extLst>
            </p:cNvPr>
            <p:cNvSpPr/>
            <p:nvPr/>
          </p:nvSpPr>
          <p:spPr>
            <a:xfrm>
              <a:off x="12401775" y="2537609"/>
              <a:ext cx="438986" cy="476200"/>
            </a:xfrm>
            <a:prstGeom prst="rtTriangle">
              <a:avLst/>
            </a:prstGeom>
            <a:solidFill>
              <a:srgbClr val="539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endParaRPr>
            </a:p>
          </p:txBody>
        </p:sp>
        <p:sp>
          <p:nvSpPr>
            <p:cNvPr id="11" name="직사각형 37">
              <a:extLst>
                <a:ext uri="{FF2B5EF4-FFF2-40B4-BE49-F238E27FC236}">
                  <a16:creationId xmlns:a16="http://schemas.microsoft.com/office/drawing/2014/main" id="{87C44E5A-D6CB-5AEC-845E-20A359C946BF}"/>
                </a:ext>
              </a:extLst>
            </p:cNvPr>
            <p:cNvSpPr/>
            <p:nvPr/>
          </p:nvSpPr>
          <p:spPr>
            <a:xfrm flipH="1">
              <a:off x="5924548" y="2669887"/>
              <a:ext cx="6477225" cy="343922"/>
            </a:xfrm>
            <a:prstGeom prst="rect">
              <a:avLst/>
            </a:prstGeom>
            <a:solidFill>
              <a:srgbClr val="539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468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schemeClr val="bg1"/>
                  </a:solidFill>
                </a:rPr>
                <a:t>현대적 성인 교육 시장 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: 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온라인 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D2C 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기반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 Skill-to-Earn</a:t>
              </a:r>
            </a:p>
          </p:txBody>
        </p:sp>
        <p:sp>
          <p:nvSpPr>
            <p:cNvPr id="12" name="직각 삼각형 38">
              <a:extLst>
                <a:ext uri="{FF2B5EF4-FFF2-40B4-BE49-F238E27FC236}">
                  <a16:creationId xmlns:a16="http://schemas.microsoft.com/office/drawing/2014/main" id="{22276EB1-A0D4-14AB-DFB9-487E44256DCF}"/>
                </a:ext>
              </a:extLst>
            </p:cNvPr>
            <p:cNvSpPr/>
            <p:nvPr/>
          </p:nvSpPr>
          <p:spPr>
            <a:xfrm>
              <a:off x="5847078" y="2537609"/>
              <a:ext cx="438986" cy="59287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endParaRPr>
            </a:p>
          </p:txBody>
        </p:sp>
      </p:grpSp>
      <p:grpSp>
        <p:nvGrpSpPr>
          <p:cNvPr id="13" name="그룹 42">
            <a:extLst>
              <a:ext uri="{FF2B5EF4-FFF2-40B4-BE49-F238E27FC236}">
                <a16:creationId xmlns:a16="http://schemas.microsoft.com/office/drawing/2014/main" id="{B5170E50-B6CE-691A-8CB4-2F9F5B462F3F}"/>
              </a:ext>
            </a:extLst>
          </p:cNvPr>
          <p:cNvGrpSpPr/>
          <p:nvPr/>
        </p:nvGrpSpPr>
        <p:grpSpPr>
          <a:xfrm>
            <a:off x="1781503" y="2033351"/>
            <a:ext cx="3145768" cy="398772"/>
            <a:chOff x="1164542" y="4671716"/>
            <a:chExt cx="4082812" cy="476202"/>
          </a:xfrm>
        </p:grpSpPr>
        <p:sp>
          <p:nvSpPr>
            <p:cNvPr id="14" name="직사각형 39">
              <a:extLst>
                <a:ext uri="{FF2B5EF4-FFF2-40B4-BE49-F238E27FC236}">
                  <a16:creationId xmlns:a16="http://schemas.microsoft.com/office/drawing/2014/main" id="{81A8507A-102A-08D9-EB7F-B46EA63E91A2}"/>
                </a:ext>
              </a:extLst>
            </p:cNvPr>
            <p:cNvSpPr/>
            <p:nvPr/>
          </p:nvSpPr>
          <p:spPr>
            <a:xfrm flipH="1">
              <a:off x="1164542" y="4803997"/>
              <a:ext cx="3752913" cy="34392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spc="-70" dirty="0">
                  <a:solidFill>
                    <a:schemeClr val="bg1"/>
                  </a:solidFill>
                </a:rPr>
                <a:t>  전통적 성인교육 </a:t>
              </a:r>
              <a:r>
                <a:rPr lang="en-US" altLang="ko-KR" sz="1200" b="1" spc="-70" dirty="0">
                  <a:solidFill>
                    <a:schemeClr val="bg1"/>
                  </a:solidFill>
                </a:rPr>
                <a:t>: </a:t>
              </a:r>
              <a:r>
                <a:rPr lang="ko-KR" altLang="en-US" sz="1200" b="1" spc="-70" dirty="0">
                  <a:solidFill>
                    <a:schemeClr val="bg1"/>
                  </a:solidFill>
                </a:rPr>
                <a:t>오프라인 중심 </a:t>
              </a:r>
              <a:r>
                <a:rPr lang="en-US" altLang="ko-KR" sz="1200" b="1" spc="-70" dirty="0">
                  <a:solidFill>
                    <a:schemeClr val="bg1"/>
                  </a:solidFill>
                </a:rPr>
                <a:t>Learn-to-Qualify</a:t>
              </a:r>
            </a:p>
          </p:txBody>
        </p:sp>
        <p:sp>
          <p:nvSpPr>
            <p:cNvPr id="15" name="직각 삼각형 40">
              <a:extLst>
                <a:ext uri="{FF2B5EF4-FFF2-40B4-BE49-F238E27FC236}">
                  <a16:creationId xmlns:a16="http://schemas.microsoft.com/office/drawing/2014/main" id="{B88F0503-F410-D491-4FE7-CCA48D80B823}"/>
                </a:ext>
              </a:extLst>
            </p:cNvPr>
            <p:cNvSpPr/>
            <p:nvPr/>
          </p:nvSpPr>
          <p:spPr>
            <a:xfrm>
              <a:off x="4917459" y="4671716"/>
              <a:ext cx="329895" cy="476202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endParaRPr>
            </a:p>
          </p:txBody>
        </p:sp>
      </p:grpSp>
      <p:sp>
        <p:nvSpPr>
          <p:cNvPr id="16" name="직사각형 74">
            <a:extLst>
              <a:ext uri="{FF2B5EF4-FFF2-40B4-BE49-F238E27FC236}">
                <a16:creationId xmlns:a16="http://schemas.microsoft.com/office/drawing/2014/main" id="{341B7816-AC10-A3E5-4A8C-EB66C7D65FCF}"/>
              </a:ext>
            </a:extLst>
          </p:cNvPr>
          <p:cNvSpPr/>
          <p:nvPr/>
        </p:nvSpPr>
        <p:spPr>
          <a:xfrm>
            <a:off x="462091" y="2535681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주요 교육 목적</a:t>
            </a:r>
          </a:p>
        </p:txBody>
      </p:sp>
      <p:sp>
        <p:nvSpPr>
          <p:cNvPr id="17" name="직사각형 74">
            <a:extLst>
              <a:ext uri="{FF2B5EF4-FFF2-40B4-BE49-F238E27FC236}">
                <a16:creationId xmlns:a16="http://schemas.microsoft.com/office/drawing/2014/main" id="{1E10077B-4D9B-D27A-E5A1-4CCB4F6A0B2D}"/>
              </a:ext>
            </a:extLst>
          </p:cNvPr>
          <p:cNvSpPr/>
          <p:nvPr/>
        </p:nvSpPr>
        <p:spPr>
          <a:xfrm>
            <a:off x="462091" y="3638118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주요 수강 연령층</a:t>
            </a:r>
          </a:p>
        </p:txBody>
      </p:sp>
      <p:sp>
        <p:nvSpPr>
          <p:cNvPr id="18" name="직사각형 74">
            <a:extLst>
              <a:ext uri="{FF2B5EF4-FFF2-40B4-BE49-F238E27FC236}">
                <a16:creationId xmlns:a16="http://schemas.microsoft.com/office/drawing/2014/main" id="{DE3E153A-0B37-AA0F-2294-60348C87BA0E}"/>
              </a:ext>
            </a:extLst>
          </p:cNvPr>
          <p:cNvSpPr/>
          <p:nvPr/>
        </p:nvSpPr>
        <p:spPr>
          <a:xfrm>
            <a:off x="462091" y="4198255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공급</a:t>
            </a:r>
            <a:r>
              <a:rPr lang="en-US" altLang="ko-KR" sz="1100" b="1" dirty="0">
                <a:solidFill>
                  <a:schemeClr val="bg1"/>
                </a:solidFill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</a:rPr>
              <a:t>수강 채널</a:t>
            </a:r>
          </a:p>
        </p:txBody>
      </p:sp>
      <p:sp>
        <p:nvSpPr>
          <p:cNvPr id="19" name="직사각형 74">
            <a:extLst>
              <a:ext uri="{FF2B5EF4-FFF2-40B4-BE49-F238E27FC236}">
                <a16:creationId xmlns:a16="http://schemas.microsoft.com/office/drawing/2014/main" id="{D79B9693-9F67-047F-18EB-1762292B80B4}"/>
              </a:ext>
            </a:extLst>
          </p:cNvPr>
          <p:cNvSpPr/>
          <p:nvPr/>
        </p:nvSpPr>
        <p:spPr>
          <a:xfrm>
            <a:off x="1781502" y="2535681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취업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자격증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어학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 등 직무역량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및 학력 보완</a:t>
            </a:r>
          </a:p>
        </p:txBody>
      </p:sp>
      <p:sp>
        <p:nvSpPr>
          <p:cNvPr id="26" name="직사각형 74">
            <a:extLst>
              <a:ext uri="{FF2B5EF4-FFF2-40B4-BE49-F238E27FC236}">
                <a16:creationId xmlns:a16="http://schemas.microsoft.com/office/drawing/2014/main" id="{2E44DD54-D394-27AB-829D-FCD3E89B95BC}"/>
              </a:ext>
            </a:extLst>
          </p:cNvPr>
          <p:cNvSpPr/>
          <p:nvPr/>
        </p:nvSpPr>
        <p:spPr>
          <a:xfrm>
            <a:off x="462091" y="5315773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수강 콘텐츠 공급자</a:t>
            </a:r>
          </a:p>
        </p:txBody>
      </p:sp>
      <p:sp>
        <p:nvSpPr>
          <p:cNvPr id="29" name="직사각형 74">
            <a:extLst>
              <a:ext uri="{FF2B5EF4-FFF2-40B4-BE49-F238E27FC236}">
                <a16:creationId xmlns:a16="http://schemas.microsoft.com/office/drawing/2014/main" id="{8E0E912E-D516-6346-2698-1539133B1A1E}"/>
              </a:ext>
            </a:extLst>
          </p:cNvPr>
          <p:cNvSpPr/>
          <p:nvPr/>
        </p:nvSpPr>
        <p:spPr>
          <a:xfrm>
            <a:off x="462091" y="4758740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공급 방식</a:t>
            </a:r>
          </a:p>
        </p:txBody>
      </p:sp>
      <p:sp>
        <p:nvSpPr>
          <p:cNvPr id="30" name="직사각형 74">
            <a:extLst>
              <a:ext uri="{FF2B5EF4-FFF2-40B4-BE49-F238E27FC236}">
                <a16:creationId xmlns:a16="http://schemas.microsoft.com/office/drawing/2014/main" id="{99AAFDB8-A122-9C14-DCBE-AE47901D6142}"/>
              </a:ext>
            </a:extLst>
          </p:cNvPr>
          <p:cNvSpPr/>
          <p:nvPr/>
        </p:nvSpPr>
        <p:spPr>
          <a:xfrm>
            <a:off x="462091" y="3088810"/>
            <a:ext cx="1250908" cy="432000"/>
          </a:xfrm>
          <a:prstGeom prst="rect">
            <a:avLst/>
          </a:prstGeom>
          <a:solidFill>
            <a:srgbClr val="11244A"/>
          </a:solidFill>
          <a:ln w="12700">
            <a:solidFill>
              <a:schemeClr val="bg1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콘텐츠</a:t>
            </a:r>
          </a:p>
        </p:txBody>
      </p:sp>
      <p:sp>
        <p:nvSpPr>
          <p:cNvPr id="31" name="직사각형 74">
            <a:extLst>
              <a:ext uri="{FF2B5EF4-FFF2-40B4-BE49-F238E27FC236}">
                <a16:creationId xmlns:a16="http://schemas.microsoft.com/office/drawing/2014/main" id="{A24EA0CA-F4DE-0890-B49E-585C3B73D40D}"/>
              </a:ext>
            </a:extLst>
          </p:cNvPr>
          <p:cNvSpPr/>
          <p:nvPr/>
        </p:nvSpPr>
        <p:spPr>
          <a:xfrm>
            <a:off x="1781502" y="3088810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교과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학문 지식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직무 자격 스킬 </a:t>
            </a:r>
            <a:r>
              <a:rPr lang="en-US" altLang="ko-KR" sz="1000" spc="-30" dirty="0">
                <a:solidFill>
                  <a:srgbClr val="3D3D3D"/>
                </a:solidFill>
              </a:rPr>
              <a:t>(</a:t>
            </a:r>
            <a:r>
              <a:rPr lang="ko-KR" altLang="en-US" sz="1000" spc="-30" dirty="0">
                <a:solidFill>
                  <a:srgbClr val="3D3D3D"/>
                </a:solidFill>
              </a:rPr>
              <a:t>예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회계</a:t>
            </a:r>
            <a:r>
              <a:rPr lang="en-US" altLang="ko-KR" sz="1000" spc="-30" dirty="0">
                <a:solidFill>
                  <a:srgbClr val="3D3D3D"/>
                </a:solidFill>
              </a:rPr>
              <a:t>, IT </a:t>
            </a:r>
            <a:r>
              <a:rPr lang="ko-KR" altLang="en-US" sz="1000" spc="-30" dirty="0">
                <a:solidFill>
                  <a:srgbClr val="3D3D3D"/>
                </a:solidFill>
              </a:rPr>
              <a:t>자격증</a:t>
            </a:r>
            <a:r>
              <a:rPr lang="en-US" altLang="ko-KR" sz="1000" spc="-30" dirty="0">
                <a:solidFill>
                  <a:srgbClr val="3D3D3D"/>
                </a:solidFill>
              </a:rPr>
              <a:t>)</a:t>
            </a:r>
            <a:endParaRPr lang="ko-KR" altLang="en-US" sz="1000" spc="-30" dirty="0">
              <a:solidFill>
                <a:srgbClr val="3D3D3D"/>
              </a:solidFill>
            </a:endParaRPr>
          </a:p>
        </p:txBody>
      </p:sp>
      <p:sp>
        <p:nvSpPr>
          <p:cNvPr id="32" name="직사각형 74">
            <a:extLst>
              <a:ext uri="{FF2B5EF4-FFF2-40B4-BE49-F238E27FC236}">
                <a16:creationId xmlns:a16="http://schemas.microsoft.com/office/drawing/2014/main" id="{FF31B5CC-0E31-1A13-4BA7-2BE9EB67E20F}"/>
              </a:ext>
            </a:extLst>
          </p:cNvPr>
          <p:cNvSpPr/>
          <p:nvPr/>
        </p:nvSpPr>
        <p:spPr>
          <a:xfrm>
            <a:off x="1781502" y="3638118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000" spc="-30" dirty="0">
                <a:solidFill>
                  <a:srgbClr val="3D3D3D"/>
                </a:solidFill>
              </a:rPr>
              <a:t>20</a:t>
            </a:r>
            <a:r>
              <a:rPr lang="ko-KR" altLang="en-US" sz="1000" spc="-30" dirty="0">
                <a:solidFill>
                  <a:srgbClr val="3D3D3D"/>
                </a:solidFill>
              </a:rPr>
              <a:t>대 초반 대학생 부터 </a:t>
            </a:r>
            <a:r>
              <a:rPr lang="en-US" altLang="ko-KR" sz="1000" spc="-30" dirty="0">
                <a:solidFill>
                  <a:srgbClr val="3D3D3D"/>
                </a:solidFill>
              </a:rPr>
              <a:t>30</a:t>
            </a:r>
            <a:r>
              <a:rPr lang="ko-KR" altLang="en-US" sz="1000" spc="-30" dirty="0">
                <a:solidFill>
                  <a:srgbClr val="3D3D3D"/>
                </a:solidFill>
              </a:rPr>
              <a:t>대 직장인</a:t>
            </a:r>
          </a:p>
        </p:txBody>
      </p:sp>
      <p:sp>
        <p:nvSpPr>
          <p:cNvPr id="33" name="직사각형 74">
            <a:extLst>
              <a:ext uri="{FF2B5EF4-FFF2-40B4-BE49-F238E27FC236}">
                <a16:creationId xmlns:a16="http://schemas.microsoft.com/office/drawing/2014/main" id="{69E73EBD-8DA8-79AA-CE17-CC93DADD7B70}"/>
              </a:ext>
            </a:extLst>
          </p:cNvPr>
          <p:cNvSpPr/>
          <p:nvPr/>
        </p:nvSpPr>
        <p:spPr>
          <a:xfrm>
            <a:off x="1781502" y="4198255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 err="1">
                <a:solidFill>
                  <a:srgbClr val="3D3D3D"/>
                </a:solidFill>
              </a:rPr>
              <a:t>해커스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에듀윌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주경야독</a:t>
            </a:r>
            <a:r>
              <a:rPr lang="en-US" altLang="ko-KR" sz="1000" spc="-30" dirty="0">
                <a:solidFill>
                  <a:srgbClr val="3D3D3D"/>
                </a:solidFill>
              </a:rPr>
              <a:t>, YBM, </a:t>
            </a:r>
            <a:r>
              <a:rPr lang="ko-KR" altLang="en-US" sz="1000" spc="-30" dirty="0">
                <a:solidFill>
                  <a:srgbClr val="3D3D3D"/>
                </a:solidFill>
              </a:rPr>
              <a:t>파고다어학원 등 대형 오프라인 학원</a:t>
            </a:r>
          </a:p>
        </p:txBody>
      </p:sp>
      <p:sp>
        <p:nvSpPr>
          <p:cNvPr id="34" name="직사각형 74">
            <a:extLst>
              <a:ext uri="{FF2B5EF4-FFF2-40B4-BE49-F238E27FC236}">
                <a16:creationId xmlns:a16="http://schemas.microsoft.com/office/drawing/2014/main" id="{61F1ECD3-6B63-67CE-EFA3-229EB8448085}"/>
              </a:ext>
            </a:extLst>
          </p:cNvPr>
          <p:cNvSpPr/>
          <p:nvPr/>
        </p:nvSpPr>
        <p:spPr>
          <a:xfrm>
            <a:off x="1781502" y="4758740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교재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강사 중심의 강의식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장기간 커리큘럼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일방향</a:t>
            </a:r>
            <a:r>
              <a:rPr lang="ko-KR" altLang="en-US" sz="1000" spc="-30" dirty="0">
                <a:solidFill>
                  <a:srgbClr val="3D3D3D"/>
                </a:solidFill>
              </a:rPr>
              <a:t> 교육 방식</a:t>
            </a:r>
          </a:p>
        </p:txBody>
      </p:sp>
      <p:sp>
        <p:nvSpPr>
          <p:cNvPr id="35" name="직사각형 74">
            <a:extLst>
              <a:ext uri="{FF2B5EF4-FFF2-40B4-BE49-F238E27FC236}">
                <a16:creationId xmlns:a16="http://schemas.microsoft.com/office/drawing/2014/main" id="{AFFF89BF-28FE-893D-18D9-6435D12A3A6F}"/>
              </a:ext>
            </a:extLst>
          </p:cNvPr>
          <p:cNvSpPr/>
          <p:nvPr/>
        </p:nvSpPr>
        <p:spPr>
          <a:xfrm>
            <a:off x="1781502" y="5315773"/>
            <a:ext cx="3069911" cy="43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자격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학력 기반 전문 교사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학원 강사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대학 교수</a:t>
            </a:r>
          </a:p>
        </p:txBody>
      </p:sp>
      <p:sp>
        <p:nvSpPr>
          <p:cNvPr id="36" name="직사각형 74">
            <a:extLst>
              <a:ext uri="{FF2B5EF4-FFF2-40B4-BE49-F238E27FC236}">
                <a16:creationId xmlns:a16="http://schemas.microsoft.com/office/drawing/2014/main" id="{D4EB67AB-260E-2FD8-D6D1-79CDBBBA9AA7}"/>
              </a:ext>
            </a:extLst>
          </p:cNvPr>
          <p:cNvSpPr/>
          <p:nvPr/>
        </p:nvSpPr>
        <p:spPr>
          <a:xfrm>
            <a:off x="5232630" y="2512608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주식</a:t>
            </a:r>
            <a:r>
              <a:rPr lang="en-US" altLang="ko-KR" sz="1100" b="1" dirty="0">
                <a:solidFill>
                  <a:srgbClr val="539DFF"/>
                </a:solidFill>
              </a:rPr>
              <a:t>/</a:t>
            </a:r>
            <a:r>
              <a:rPr lang="ko-KR" altLang="en-US" sz="1100" b="1" dirty="0" err="1">
                <a:solidFill>
                  <a:srgbClr val="539DFF"/>
                </a:solidFill>
              </a:rPr>
              <a:t>제테크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창업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부업 등 즉시 수익화 및 </a:t>
            </a:r>
            <a:r>
              <a:rPr lang="ko-KR" altLang="en-US" sz="1100" b="1" dirty="0" err="1">
                <a:solidFill>
                  <a:srgbClr val="539DFF"/>
                </a:solidFill>
              </a:rPr>
              <a:t>패시브인컴</a:t>
            </a:r>
            <a:r>
              <a:rPr lang="ko-KR" altLang="en-US" sz="1100" b="1" dirty="0">
                <a:solidFill>
                  <a:srgbClr val="539DFF"/>
                </a:solidFill>
              </a:rPr>
              <a:t> 창출을 통해 추가소득 창출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경제적 자유 확보 중심의 </a:t>
            </a:r>
            <a:r>
              <a:rPr lang="en-US" altLang="ko-KR" sz="1100" b="1" dirty="0">
                <a:solidFill>
                  <a:srgbClr val="539DFF"/>
                </a:solidFill>
              </a:rPr>
              <a:t>‘Skill-to-Earn’</a:t>
            </a:r>
            <a:r>
              <a:rPr lang="ko-KR" altLang="en-US" sz="1100" b="1" dirty="0">
                <a:solidFill>
                  <a:srgbClr val="539DFF"/>
                </a:solidFill>
              </a:rPr>
              <a:t> 역량 학습 목적</a:t>
            </a:r>
          </a:p>
        </p:txBody>
      </p:sp>
      <p:sp>
        <p:nvSpPr>
          <p:cNvPr id="37" name="직사각형 74">
            <a:extLst>
              <a:ext uri="{FF2B5EF4-FFF2-40B4-BE49-F238E27FC236}">
                <a16:creationId xmlns:a16="http://schemas.microsoft.com/office/drawing/2014/main" id="{AC2F9AE5-83CB-F349-B8E8-73DF08D46D04}"/>
              </a:ext>
            </a:extLst>
          </p:cNvPr>
          <p:cNvSpPr/>
          <p:nvPr/>
        </p:nvSpPr>
        <p:spPr>
          <a:xfrm>
            <a:off x="5232630" y="3069641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실전 수익화 노하우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창업 방법 등</a:t>
            </a:r>
            <a:br>
              <a:rPr lang="en-US" altLang="ko-KR" sz="1100" b="1" dirty="0">
                <a:solidFill>
                  <a:srgbClr val="539DFF"/>
                </a:solidFill>
              </a:rPr>
            </a:br>
            <a:r>
              <a:rPr lang="en-US" altLang="ko-KR" sz="1100" b="1" dirty="0">
                <a:solidFill>
                  <a:srgbClr val="539DFF"/>
                </a:solidFill>
              </a:rPr>
              <a:t>(</a:t>
            </a:r>
            <a:r>
              <a:rPr lang="ko-KR" altLang="en-US" sz="1100" b="1" dirty="0">
                <a:solidFill>
                  <a:srgbClr val="539DFF"/>
                </a:solidFill>
              </a:rPr>
              <a:t>예</a:t>
            </a:r>
            <a:r>
              <a:rPr lang="en-US" altLang="ko-KR" sz="1100" b="1" dirty="0">
                <a:solidFill>
                  <a:srgbClr val="539DFF"/>
                </a:solidFill>
              </a:rPr>
              <a:t>: </a:t>
            </a:r>
            <a:r>
              <a:rPr lang="ko-KR" altLang="en-US" sz="1100" b="1" dirty="0">
                <a:solidFill>
                  <a:srgbClr val="539DFF"/>
                </a:solidFill>
              </a:rPr>
              <a:t>온라인 판매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콘텐츠 </a:t>
            </a:r>
            <a:r>
              <a:rPr lang="ko-KR" altLang="en-US" sz="1100" b="1" dirty="0" err="1">
                <a:solidFill>
                  <a:srgbClr val="539DFF"/>
                </a:solidFill>
              </a:rPr>
              <a:t>크리에이션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투자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블로그</a:t>
            </a:r>
            <a:r>
              <a:rPr lang="en-US" altLang="ko-KR" sz="1100" b="1" dirty="0">
                <a:solidFill>
                  <a:srgbClr val="539DFF"/>
                </a:solidFill>
              </a:rPr>
              <a:t>·SNS </a:t>
            </a:r>
            <a:r>
              <a:rPr lang="ko-KR" altLang="en-US" sz="1100" b="1" dirty="0">
                <a:solidFill>
                  <a:srgbClr val="539DFF"/>
                </a:solidFill>
              </a:rPr>
              <a:t>수익</a:t>
            </a:r>
            <a:r>
              <a:rPr lang="en-US" altLang="ko-KR" sz="1100" b="1" dirty="0">
                <a:solidFill>
                  <a:srgbClr val="539DFF"/>
                </a:solidFill>
              </a:rPr>
              <a:t>)</a:t>
            </a:r>
            <a:endParaRPr lang="ko-KR" altLang="en-US" sz="1100" b="1" dirty="0">
              <a:solidFill>
                <a:srgbClr val="539DFF"/>
              </a:solidFill>
            </a:endParaRPr>
          </a:p>
        </p:txBody>
      </p:sp>
      <p:sp>
        <p:nvSpPr>
          <p:cNvPr id="38" name="직사각형 74">
            <a:extLst>
              <a:ext uri="{FF2B5EF4-FFF2-40B4-BE49-F238E27FC236}">
                <a16:creationId xmlns:a16="http://schemas.microsoft.com/office/drawing/2014/main" id="{A4CA309B-CCB3-04DD-2D34-3F893D8F377A}"/>
              </a:ext>
            </a:extLst>
          </p:cNvPr>
          <p:cNvSpPr/>
          <p:nvPr/>
        </p:nvSpPr>
        <p:spPr>
          <a:xfrm>
            <a:off x="5232630" y="3626674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직장인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주부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은퇴자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프리랜서 등 성인 전반</a:t>
            </a:r>
          </a:p>
        </p:txBody>
      </p:sp>
      <p:sp>
        <p:nvSpPr>
          <p:cNvPr id="39" name="직사각형 74">
            <a:extLst>
              <a:ext uri="{FF2B5EF4-FFF2-40B4-BE49-F238E27FC236}">
                <a16:creationId xmlns:a16="http://schemas.microsoft.com/office/drawing/2014/main" id="{BE5889BE-A104-86D6-7A50-8ECE0A876A3B}"/>
              </a:ext>
            </a:extLst>
          </p:cNvPr>
          <p:cNvSpPr/>
          <p:nvPr/>
        </p:nvSpPr>
        <p:spPr>
          <a:xfrm>
            <a:off x="5232630" y="4183707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신생 온라인 </a:t>
            </a:r>
            <a:r>
              <a:rPr lang="en-US" altLang="ko-KR" sz="1100" b="1" dirty="0">
                <a:solidFill>
                  <a:srgbClr val="539DFF"/>
                </a:solidFill>
              </a:rPr>
              <a:t>D2C </a:t>
            </a:r>
            <a:r>
              <a:rPr lang="ko-KR" altLang="en-US" sz="1100" b="1" dirty="0">
                <a:solidFill>
                  <a:srgbClr val="539DFF"/>
                </a:solidFill>
              </a:rPr>
              <a:t>지식 플랫폼</a:t>
            </a:r>
            <a:br>
              <a:rPr lang="en-US" altLang="ko-KR" sz="1100" b="1" dirty="0">
                <a:solidFill>
                  <a:srgbClr val="539DFF"/>
                </a:solidFill>
              </a:rPr>
            </a:br>
            <a:r>
              <a:rPr lang="en-US" altLang="ko-KR" sz="1100" b="1" dirty="0">
                <a:solidFill>
                  <a:srgbClr val="539DFF"/>
                </a:solidFill>
              </a:rPr>
              <a:t>(</a:t>
            </a:r>
            <a:r>
              <a:rPr lang="ko-KR" altLang="en-US" sz="1100" b="1" dirty="0">
                <a:solidFill>
                  <a:srgbClr val="539DFF"/>
                </a:solidFill>
              </a:rPr>
              <a:t>클래스</a:t>
            </a:r>
            <a:r>
              <a:rPr lang="en-US" altLang="ko-KR" sz="1100" b="1" dirty="0">
                <a:solidFill>
                  <a:srgbClr val="539DFF"/>
                </a:solidFill>
              </a:rPr>
              <a:t>101, </a:t>
            </a:r>
            <a:r>
              <a:rPr lang="ko-KR" altLang="en-US" sz="1100" b="1" dirty="0" err="1">
                <a:solidFill>
                  <a:srgbClr val="539DFF"/>
                </a:solidFill>
              </a:rPr>
              <a:t>패스트캠퍼스</a:t>
            </a:r>
            <a:r>
              <a:rPr lang="en-US" altLang="ko-KR" sz="1100" b="1" dirty="0">
                <a:solidFill>
                  <a:srgbClr val="539DFF"/>
                </a:solidFill>
              </a:rPr>
              <a:t>,</a:t>
            </a:r>
            <a:r>
              <a:rPr lang="ko-KR" altLang="en-US" sz="1100" b="1" dirty="0">
                <a:solidFill>
                  <a:srgbClr val="539DFF"/>
                </a:solidFill>
              </a:rPr>
              <a:t>라이브클래스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월급쟁이부자들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타이탄클래스 등</a:t>
            </a:r>
            <a:r>
              <a:rPr lang="en-US" altLang="ko-KR" sz="1100" b="1" dirty="0">
                <a:solidFill>
                  <a:srgbClr val="539DFF"/>
                </a:solidFill>
              </a:rPr>
              <a:t>)</a:t>
            </a:r>
            <a:endParaRPr lang="ko-KR" altLang="en-US" sz="1100" b="1" dirty="0">
              <a:solidFill>
                <a:srgbClr val="539DFF"/>
              </a:solidFill>
            </a:endParaRPr>
          </a:p>
        </p:txBody>
      </p:sp>
      <p:sp>
        <p:nvSpPr>
          <p:cNvPr id="40" name="직사각형 74">
            <a:extLst>
              <a:ext uri="{FF2B5EF4-FFF2-40B4-BE49-F238E27FC236}">
                <a16:creationId xmlns:a16="http://schemas.microsoft.com/office/drawing/2014/main" id="{32914CD5-D816-A537-EE3E-FABEAF3B80E5}"/>
              </a:ext>
            </a:extLst>
          </p:cNvPr>
          <p:cNvSpPr/>
          <p:nvPr/>
        </p:nvSpPr>
        <p:spPr>
          <a:xfrm>
            <a:off x="5232630" y="4740740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rgbClr val="539DFF"/>
                </a:solidFill>
              </a:rPr>
              <a:t>온라인</a:t>
            </a:r>
            <a:r>
              <a:rPr lang="en-US" altLang="ko-KR" sz="1100" b="1" dirty="0">
                <a:solidFill>
                  <a:srgbClr val="539DFF"/>
                </a:solidFill>
              </a:rPr>
              <a:t>·</a:t>
            </a:r>
            <a:r>
              <a:rPr lang="ko-KR" altLang="en-US" sz="1100" b="1" dirty="0">
                <a:solidFill>
                  <a:srgbClr val="539DFF"/>
                </a:solidFill>
              </a:rPr>
              <a:t>모바일 중심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단기 실습</a:t>
            </a:r>
            <a:r>
              <a:rPr lang="en-US" altLang="ko-KR" sz="1100" b="1" dirty="0">
                <a:solidFill>
                  <a:srgbClr val="539DFF"/>
                </a:solidFill>
              </a:rPr>
              <a:t>·</a:t>
            </a:r>
            <a:r>
              <a:rPr lang="ko-KR" altLang="en-US" sz="1100" b="1" dirty="0">
                <a:solidFill>
                  <a:srgbClr val="539DFF"/>
                </a:solidFill>
              </a:rPr>
              <a:t>워크숍</a:t>
            </a:r>
            <a:r>
              <a:rPr lang="en-US" altLang="ko-KR" sz="1100" b="1" dirty="0">
                <a:solidFill>
                  <a:srgbClr val="539DFF"/>
                </a:solidFill>
              </a:rPr>
              <a:t>, </a:t>
            </a:r>
            <a:r>
              <a:rPr lang="ko-KR" altLang="en-US" sz="1100" b="1" dirty="0">
                <a:solidFill>
                  <a:srgbClr val="539DFF"/>
                </a:solidFill>
              </a:rPr>
              <a:t>멘토링</a:t>
            </a:r>
            <a:r>
              <a:rPr lang="en-US" altLang="ko-KR" sz="1100" b="1" dirty="0">
                <a:solidFill>
                  <a:srgbClr val="539DFF"/>
                </a:solidFill>
              </a:rPr>
              <a:t>·</a:t>
            </a:r>
            <a:r>
              <a:rPr lang="ko-KR" altLang="en-US" sz="1100" b="1" dirty="0">
                <a:solidFill>
                  <a:srgbClr val="539DFF"/>
                </a:solidFill>
              </a:rPr>
              <a:t>커뮤니티</a:t>
            </a:r>
          </a:p>
        </p:txBody>
      </p:sp>
      <p:sp>
        <p:nvSpPr>
          <p:cNvPr id="41" name="직사각형 74">
            <a:extLst>
              <a:ext uri="{FF2B5EF4-FFF2-40B4-BE49-F238E27FC236}">
                <a16:creationId xmlns:a16="http://schemas.microsoft.com/office/drawing/2014/main" id="{F63D6CF1-6E11-FDB5-555A-41545965AEBE}"/>
              </a:ext>
            </a:extLst>
          </p:cNvPr>
          <p:cNvSpPr/>
          <p:nvPr/>
        </p:nvSpPr>
        <p:spPr>
          <a:xfrm>
            <a:off x="5232630" y="5297773"/>
            <a:ext cx="4220933" cy="468000"/>
          </a:xfrm>
          <a:prstGeom prst="rect">
            <a:avLst/>
          </a:prstGeom>
          <a:solidFill>
            <a:schemeClr val="bg1"/>
          </a:solidFill>
          <a:ln w="12700">
            <a:solidFill>
              <a:srgbClr val="539DFF"/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 err="1">
                <a:solidFill>
                  <a:srgbClr val="539DFF"/>
                </a:solidFill>
              </a:rPr>
              <a:t>팬덤과</a:t>
            </a:r>
            <a:r>
              <a:rPr lang="ko-KR" altLang="en-US" sz="1100" b="1" dirty="0">
                <a:solidFill>
                  <a:srgbClr val="539DFF"/>
                </a:solidFill>
              </a:rPr>
              <a:t> 충성 구독층을 보유한 경험</a:t>
            </a:r>
            <a:r>
              <a:rPr lang="en-US" altLang="ko-KR" sz="1100" b="1" dirty="0">
                <a:solidFill>
                  <a:srgbClr val="539DFF"/>
                </a:solidFill>
              </a:rPr>
              <a:t>·</a:t>
            </a:r>
            <a:r>
              <a:rPr lang="ko-KR" altLang="en-US" sz="1100" b="1" dirty="0">
                <a:solidFill>
                  <a:srgbClr val="539DFF"/>
                </a:solidFill>
              </a:rPr>
              <a:t>성과 기반의 특정 분야 전문가</a:t>
            </a:r>
            <a:r>
              <a:rPr lang="en-US" altLang="ko-KR" sz="1100" b="1" dirty="0">
                <a:solidFill>
                  <a:srgbClr val="539DFF"/>
                </a:solidFill>
              </a:rPr>
              <a:t>,</a:t>
            </a:r>
            <a:br>
              <a:rPr lang="en-US" altLang="ko-KR" sz="1100" b="1" dirty="0">
                <a:solidFill>
                  <a:srgbClr val="539DFF"/>
                </a:solidFill>
              </a:rPr>
            </a:br>
            <a:r>
              <a:rPr lang="en-US" altLang="ko-KR" sz="1100" b="1" dirty="0">
                <a:solidFill>
                  <a:srgbClr val="539DFF"/>
                </a:solidFill>
              </a:rPr>
              <a:t>1</a:t>
            </a:r>
            <a:r>
              <a:rPr lang="ko-KR" altLang="en-US" sz="1100" b="1" dirty="0">
                <a:solidFill>
                  <a:srgbClr val="539DFF"/>
                </a:solidFill>
              </a:rPr>
              <a:t>인 창업자 출신 등의 크리에이터 및 </a:t>
            </a:r>
            <a:r>
              <a:rPr lang="ko-KR" altLang="en-US" sz="1100" b="1" dirty="0" err="1">
                <a:solidFill>
                  <a:srgbClr val="539DFF"/>
                </a:solidFill>
              </a:rPr>
              <a:t>인플루언서</a:t>
            </a:r>
            <a:endParaRPr lang="ko-KR" altLang="en-US" sz="1100" b="1" dirty="0">
              <a:solidFill>
                <a:srgbClr val="539DFF"/>
              </a:solidFill>
            </a:endParaRPr>
          </a:p>
        </p:txBody>
      </p:sp>
      <p:grpSp>
        <p:nvGrpSpPr>
          <p:cNvPr id="43" name="그룹 65">
            <a:extLst>
              <a:ext uri="{FF2B5EF4-FFF2-40B4-BE49-F238E27FC236}">
                <a16:creationId xmlns:a16="http://schemas.microsoft.com/office/drawing/2014/main" id="{2D2B101C-A09A-06D1-4806-2613B8AF0F2E}"/>
              </a:ext>
            </a:extLst>
          </p:cNvPr>
          <p:cNvGrpSpPr/>
          <p:nvPr/>
        </p:nvGrpSpPr>
        <p:grpSpPr>
          <a:xfrm>
            <a:off x="4959913" y="2623076"/>
            <a:ext cx="189352" cy="189412"/>
            <a:chOff x="3795386" y="7152361"/>
            <a:chExt cx="496702" cy="450937"/>
          </a:xfrm>
        </p:grpSpPr>
        <p:sp>
          <p:nvSpPr>
            <p:cNvPr id="44" name="화살표: 갈매기형 수장 66">
              <a:extLst>
                <a:ext uri="{FF2B5EF4-FFF2-40B4-BE49-F238E27FC236}">
                  <a16:creationId xmlns:a16="http://schemas.microsoft.com/office/drawing/2014/main" id="{0C17558A-3C7B-66DA-C8BE-9BDFB91D5038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5" name="화살표: 갈매기형 수장 67">
              <a:extLst>
                <a:ext uri="{FF2B5EF4-FFF2-40B4-BE49-F238E27FC236}">
                  <a16:creationId xmlns:a16="http://schemas.microsoft.com/office/drawing/2014/main" id="{FB17D034-92A3-03E4-CB3F-FD4A54BEB955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6" name="화살표: 갈매기형 수장 68">
              <a:extLst>
                <a:ext uri="{FF2B5EF4-FFF2-40B4-BE49-F238E27FC236}">
                  <a16:creationId xmlns:a16="http://schemas.microsoft.com/office/drawing/2014/main" id="{5B294902-41CF-28F2-B4C9-67797B49A062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7" name="그룹 65">
            <a:extLst>
              <a:ext uri="{FF2B5EF4-FFF2-40B4-BE49-F238E27FC236}">
                <a16:creationId xmlns:a16="http://schemas.microsoft.com/office/drawing/2014/main" id="{DCCCFC1A-9FEB-95C2-E742-C749D5AE50D8}"/>
              </a:ext>
            </a:extLst>
          </p:cNvPr>
          <p:cNvGrpSpPr/>
          <p:nvPr/>
        </p:nvGrpSpPr>
        <p:grpSpPr>
          <a:xfrm>
            <a:off x="4959913" y="3200537"/>
            <a:ext cx="189352" cy="189412"/>
            <a:chOff x="3795386" y="7152361"/>
            <a:chExt cx="496702" cy="450937"/>
          </a:xfrm>
        </p:grpSpPr>
        <p:sp>
          <p:nvSpPr>
            <p:cNvPr id="48" name="화살표: 갈매기형 수장 66">
              <a:extLst>
                <a:ext uri="{FF2B5EF4-FFF2-40B4-BE49-F238E27FC236}">
                  <a16:creationId xmlns:a16="http://schemas.microsoft.com/office/drawing/2014/main" id="{03A1408D-74C8-BAA1-51E7-09796D275617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9" name="화살표: 갈매기형 수장 67">
              <a:extLst>
                <a:ext uri="{FF2B5EF4-FFF2-40B4-BE49-F238E27FC236}">
                  <a16:creationId xmlns:a16="http://schemas.microsoft.com/office/drawing/2014/main" id="{BF7E1DDF-34EB-BB8E-9665-4540D5E44BA1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0" name="화살표: 갈매기형 수장 68">
              <a:extLst>
                <a:ext uri="{FF2B5EF4-FFF2-40B4-BE49-F238E27FC236}">
                  <a16:creationId xmlns:a16="http://schemas.microsoft.com/office/drawing/2014/main" id="{05D06C49-7457-DFBE-1ED8-8CE52C659B3D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51" name="그룹 65">
            <a:extLst>
              <a:ext uri="{FF2B5EF4-FFF2-40B4-BE49-F238E27FC236}">
                <a16:creationId xmlns:a16="http://schemas.microsoft.com/office/drawing/2014/main" id="{C2F79410-D977-1606-BB27-DEEA09E34173}"/>
              </a:ext>
            </a:extLst>
          </p:cNvPr>
          <p:cNvGrpSpPr/>
          <p:nvPr/>
        </p:nvGrpSpPr>
        <p:grpSpPr>
          <a:xfrm>
            <a:off x="4959913" y="3758343"/>
            <a:ext cx="189352" cy="189412"/>
            <a:chOff x="3795386" y="7152361"/>
            <a:chExt cx="496702" cy="450937"/>
          </a:xfrm>
        </p:grpSpPr>
        <p:sp>
          <p:nvSpPr>
            <p:cNvPr id="52" name="화살표: 갈매기형 수장 66">
              <a:extLst>
                <a:ext uri="{FF2B5EF4-FFF2-40B4-BE49-F238E27FC236}">
                  <a16:creationId xmlns:a16="http://schemas.microsoft.com/office/drawing/2014/main" id="{71896263-FF73-C02B-2286-5C2791A9F397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3" name="화살표: 갈매기형 수장 67">
              <a:extLst>
                <a:ext uri="{FF2B5EF4-FFF2-40B4-BE49-F238E27FC236}">
                  <a16:creationId xmlns:a16="http://schemas.microsoft.com/office/drawing/2014/main" id="{CAFB813B-0662-F1C3-431E-D4C430DC6003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4" name="화살표: 갈매기형 수장 68">
              <a:extLst>
                <a:ext uri="{FF2B5EF4-FFF2-40B4-BE49-F238E27FC236}">
                  <a16:creationId xmlns:a16="http://schemas.microsoft.com/office/drawing/2014/main" id="{2F992428-D69B-E4E2-81B0-3175F89412B1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55" name="그룹 65">
            <a:extLst>
              <a:ext uri="{FF2B5EF4-FFF2-40B4-BE49-F238E27FC236}">
                <a16:creationId xmlns:a16="http://schemas.microsoft.com/office/drawing/2014/main" id="{CF6B1577-CC7E-F182-6B56-8B11A517B6B4}"/>
              </a:ext>
            </a:extLst>
          </p:cNvPr>
          <p:cNvGrpSpPr/>
          <p:nvPr/>
        </p:nvGrpSpPr>
        <p:grpSpPr>
          <a:xfrm>
            <a:off x="4959913" y="4327938"/>
            <a:ext cx="189352" cy="189412"/>
            <a:chOff x="3795386" y="7152361"/>
            <a:chExt cx="496702" cy="450937"/>
          </a:xfrm>
        </p:grpSpPr>
        <p:sp>
          <p:nvSpPr>
            <p:cNvPr id="56" name="화살표: 갈매기형 수장 66">
              <a:extLst>
                <a:ext uri="{FF2B5EF4-FFF2-40B4-BE49-F238E27FC236}">
                  <a16:creationId xmlns:a16="http://schemas.microsoft.com/office/drawing/2014/main" id="{5DC5E3D1-53C5-30B3-B49F-A0540CC04C8F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7" name="화살표: 갈매기형 수장 67">
              <a:extLst>
                <a:ext uri="{FF2B5EF4-FFF2-40B4-BE49-F238E27FC236}">
                  <a16:creationId xmlns:a16="http://schemas.microsoft.com/office/drawing/2014/main" id="{6047F57F-82B2-2237-D290-948608FF4968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58" name="화살표: 갈매기형 수장 68">
              <a:extLst>
                <a:ext uri="{FF2B5EF4-FFF2-40B4-BE49-F238E27FC236}">
                  <a16:creationId xmlns:a16="http://schemas.microsoft.com/office/drawing/2014/main" id="{9D9772F4-0221-693F-6C43-8A5D187AE876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59" name="그룹 65">
            <a:extLst>
              <a:ext uri="{FF2B5EF4-FFF2-40B4-BE49-F238E27FC236}">
                <a16:creationId xmlns:a16="http://schemas.microsoft.com/office/drawing/2014/main" id="{4650A502-6D15-B379-1089-756D07FA76BF}"/>
              </a:ext>
            </a:extLst>
          </p:cNvPr>
          <p:cNvGrpSpPr/>
          <p:nvPr/>
        </p:nvGrpSpPr>
        <p:grpSpPr>
          <a:xfrm>
            <a:off x="4959913" y="4891039"/>
            <a:ext cx="189352" cy="189412"/>
            <a:chOff x="3795386" y="7152361"/>
            <a:chExt cx="496702" cy="450937"/>
          </a:xfrm>
        </p:grpSpPr>
        <p:sp>
          <p:nvSpPr>
            <p:cNvPr id="60" name="화살표: 갈매기형 수장 66">
              <a:extLst>
                <a:ext uri="{FF2B5EF4-FFF2-40B4-BE49-F238E27FC236}">
                  <a16:creationId xmlns:a16="http://schemas.microsoft.com/office/drawing/2014/main" id="{680CF82B-F2B6-2DE7-0A04-2C5E858B9396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1" name="화살표: 갈매기형 수장 67">
              <a:extLst>
                <a:ext uri="{FF2B5EF4-FFF2-40B4-BE49-F238E27FC236}">
                  <a16:creationId xmlns:a16="http://schemas.microsoft.com/office/drawing/2014/main" id="{53DD4B49-03C0-EFE3-956F-F89AAB9E344B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2" name="화살표: 갈매기형 수장 68">
              <a:extLst>
                <a:ext uri="{FF2B5EF4-FFF2-40B4-BE49-F238E27FC236}">
                  <a16:creationId xmlns:a16="http://schemas.microsoft.com/office/drawing/2014/main" id="{BB1CD96E-8A6F-57CC-4E4D-34B699DB97D2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63" name="그룹 65">
            <a:extLst>
              <a:ext uri="{FF2B5EF4-FFF2-40B4-BE49-F238E27FC236}">
                <a16:creationId xmlns:a16="http://schemas.microsoft.com/office/drawing/2014/main" id="{AB827C40-D07F-ACB1-5D34-14411155B1CF}"/>
              </a:ext>
            </a:extLst>
          </p:cNvPr>
          <p:cNvGrpSpPr/>
          <p:nvPr/>
        </p:nvGrpSpPr>
        <p:grpSpPr>
          <a:xfrm>
            <a:off x="4959913" y="5471854"/>
            <a:ext cx="189352" cy="189412"/>
            <a:chOff x="3795386" y="7152361"/>
            <a:chExt cx="496702" cy="450937"/>
          </a:xfrm>
        </p:grpSpPr>
        <p:sp>
          <p:nvSpPr>
            <p:cNvPr id="64" name="화살표: 갈매기형 수장 66">
              <a:extLst>
                <a:ext uri="{FF2B5EF4-FFF2-40B4-BE49-F238E27FC236}">
                  <a16:creationId xmlns:a16="http://schemas.microsoft.com/office/drawing/2014/main" id="{5B5E7145-2120-A58E-3279-B5524672BFDC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5" name="화살표: 갈매기형 수장 67">
              <a:extLst>
                <a:ext uri="{FF2B5EF4-FFF2-40B4-BE49-F238E27FC236}">
                  <a16:creationId xmlns:a16="http://schemas.microsoft.com/office/drawing/2014/main" id="{0D7687FE-E845-3981-CCCB-E476D32A9950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6" name="화살표: 갈매기형 수장 68">
              <a:extLst>
                <a:ext uri="{FF2B5EF4-FFF2-40B4-BE49-F238E27FC236}">
                  <a16:creationId xmlns:a16="http://schemas.microsoft.com/office/drawing/2014/main" id="{108BA16A-29D0-808B-62DA-620E6E682F91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9675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00DA67-CCD9-08C1-B694-A7FB75529F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Skill-to-earn</a:t>
            </a:r>
            <a:r>
              <a:rPr lang="ko-KR" altLang="en-US" dirty="0"/>
              <a:t> 플랫폼으로의 성인교육 시장 무게중심 변화</a:t>
            </a:r>
            <a:r>
              <a:rPr lang="en-US" altLang="ko-KR" dirty="0"/>
              <a:t>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1E44E7-C605-24B3-D412-1785D11818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1) </a:t>
            </a:r>
            <a:r>
              <a:rPr lang="ko-KR" altLang="en-US" dirty="0"/>
              <a:t>타이탄클래스의 경우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 설립으로 </a:t>
            </a:r>
            <a:r>
              <a:rPr lang="en-US" altLang="ko-KR" dirty="0"/>
              <a:t>2023</a:t>
            </a:r>
            <a:r>
              <a:rPr lang="ko-KR" altLang="en-US" dirty="0"/>
              <a:t>년</a:t>
            </a:r>
            <a:r>
              <a:rPr lang="en-US" altLang="ko-KR" dirty="0"/>
              <a:t>, 2024</a:t>
            </a:r>
            <a:r>
              <a:rPr lang="ko-KR" altLang="en-US" dirty="0"/>
              <a:t>년</a:t>
            </a:r>
            <a:r>
              <a:rPr lang="en-US" altLang="ko-KR" dirty="0"/>
              <a:t>, 2025</a:t>
            </a:r>
            <a:r>
              <a:rPr lang="ko-KR" altLang="en-US" dirty="0"/>
              <a:t>년</a:t>
            </a:r>
            <a:r>
              <a:rPr lang="en-US" altLang="ko-KR" dirty="0"/>
              <a:t>(</a:t>
            </a:r>
            <a:r>
              <a:rPr lang="ko-KR" altLang="en-US" dirty="0"/>
              <a:t>예상</a:t>
            </a:r>
            <a:r>
              <a:rPr lang="en-US" altLang="ko-KR" dirty="0"/>
              <a:t>) </a:t>
            </a:r>
            <a:r>
              <a:rPr lang="ko-KR" altLang="en-US" dirty="0"/>
              <a:t>매출액을 비교군으로 선정</a:t>
            </a:r>
            <a:r>
              <a:rPr lang="en-US" altLang="ko-KR" dirty="0"/>
              <a:t>.  Source: DART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E5726-CF89-3BF0-D0B8-E27529912F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24</a:t>
            </a:fld>
            <a:endParaRPr 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21AE9C77-6313-C6B4-746E-E5E018D72B22}"/>
              </a:ext>
            </a:extLst>
          </p:cNvPr>
          <p:cNvGraphicFramePr/>
          <p:nvPr/>
        </p:nvGraphicFramePr>
        <p:xfrm>
          <a:off x="453000" y="2275828"/>
          <a:ext cx="4392000" cy="3493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1900AC4-6118-11A2-B54D-03098D7F0208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전통 성인교육 기업들의 실적은 지속 감소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766B6B5-481B-095C-C31F-BD34C84D6E9A}"/>
              </a:ext>
            </a:extLst>
          </p:cNvPr>
          <p:cNvGrpSpPr/>
          <p:nvPr/>
        </p:nvGrpSpPr>
        <p:grpSpPr>
          <a:xfrm>
            <a:off x="671512" y="4155910"/>
            <a:ext cx="285751" cy="158326"/>
            <a:chOff x="5847493" y="2851939"/>
            <a:chExt cx="298724" cy="158326"/>
          </a:xfrm>
        </p:grpSpPr>
        <p:sp>
          <p:nvSpPr>
            <p:cNvPr id="11" name="물결 39">
              <a:extLst>
                <a:ext uri="{FF2B5EF4-FFF2-40B4-BE49-F238E27FC236}">
                  <a16:creationId xmlns:a16="http://schemas.microsoft.com/office/drawing/2014/main" id="{DD94CF3E-99CE-192F-C095-D1D66A53198E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12" name="물결 40">
              <a:extLst>
                <a:ext uri="{FF2B5EF4-FFF2-40B4-BE49-F238E27FC236}">
                  <a16:creationId xmlns:a16="http://schemas.microsoft.com/office/drawing/2014/main" id="{0FBA26A5-B985-906A-EAEA-28B583B858DD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0A199AEF-C51F-8C1D-F34A-58857859D0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0403690"/>
              </p:ext>
            </p:extLst>
          </p:nvPr>
        </p:nvGraphicFramePr>
        <p:xfrm>
          <a:off x="5061000" y="2275828"/>
          <a:ext cx="4392000" cy="3493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50B1E27D-8CA4-DE68-F7DD-789CAAFC09B9}"/>
              </a:ext>
            </a:extLst>
          </p:cNvPr>
          <p:cNvGrpSpPr/>
          <p:nvPr/>
        </p:nvGrpSpPr>
        <p:grpSpPr>
          <a:xfrm>
            <a:off x="957263" y="4360948"/>
            <a:ext cx="285751" cy="158326"/>
            <a:chOff x="5847493" y="2851939"/>
            <a:chExt cx="298724" cy="158326"/>
          </a:xfrm>
        </p:grpSpPr>
        <p:sp>
          <p:nvSpPr>
            <p:cNvPr id="15" name="물결 39">
              <a:extLst>
                <a:ext uri="{FF2B5EF4-FFF2-40B4-BE49-F238E27FC236}">
                  <a16:creationId xmlns:a16="http://schemas.microsoft.com/office/drawing/2014/main" id="{0FE7FA96-CFD9-C23E-F8BC-2037060A0B9D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16" name="물결 40">
              <a:extLst>
                <a:ext uri="{FF2B5EF4-FFF2-40B4-BE49-F238E27FC236}">
                  <a16:creationId xmlns:a16="http://schemas.microsoft.com/office/drawing/2014/main" id="{57AE2199-F472-270A-03A5-CD9FF337F076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389E484-D310-A8CF-5E0A-F65DAB47374A}"/>
              </a:ext>
            </a:extLst>
          </p:cNvPr>
          <p:cNvGrpSpPr/>
          <p:nvPr/>
        </p:nvGrpSpPr>
        <p:grpSpPr>
          <a:xfrm>
            <a:off x="1257303" y="4565986"/>
            <a:ext cx="285751" cy="158326"/>
            <a:chOff x="5847493" y="2851939"/>
            <a:chExt cx="298724" cy="158326"/>
          </a:xfrm>
        </p:grpSpPr>
        <p:sp>
          <p:nvSpPr>
            <p:cNvPr id="18" name="물결 39">
              <a:extLst>
                <a:ext uri="{FF2B5EF4-FFF2-40B4-BE49-F238E27FC236}">
                  <a16:creationId xmlns:a16="http://schemas.microsoft.com/office/drawing/2014/main" id="{1AD9B7CE-B91A-13FC-78AA-B7DA44F5C79F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19" name="물결 40">
              <a:extLst>
                <a:ext uri="{FF2B5EF4-FFF2-40B4-BE49-F238E27FC236}">
                  <a16:creationId xmlns:a16="http://schemas.microsoft.com/office/drawing/2014/main" id="{C50BDFCC-95E8-D112-9FCD-2B3C747A5ADD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6D552A8-0D0F-B8B5-215C-FF892E4EF254}"/>
              </a:ext>
            </a:extLst>
          </p:cNvPr>
          <p:cNvSpPr txBox="1"/>
          <p:nvPr/>
        </p:nvSpPr>
        <p:spPr>
          <a:xfrm>
            <a:off x="452437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주요 자격증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·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어학 교육 업체 매출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707396-500E-45EE-E3AB-7A0CAF569A56}"/>
              </a:ext>
            </a:extLst>
          </p:cNvPr>
          <p:cNvSpPr txBox="1"/>
          <p:nvPr/>
        </p:nvSpPr>
        <p:spPr>
          <a:xfrm>
            <a:off x="5061000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대표적인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D2C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지식 비즈니스 플랫폼 매출</a:t>
            </a:r>
            <a:r>
              <a:rPr lang="en-US" altLang="ko-KR" sz="1100" baseline="300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1)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2D56D1-D374-76F8-D29A-B01212EA4BEF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성인교육 시장의 무게중심은 </a:t>
            </a:r>
            <a:r>
              <a:rPr lang="en-US" altLang="ko-KR" sz="1200" b="1" dirty="0">
                <a:solidFill>
                  <a:schemeClr val="bg1"/>
                </a:solidFill>
              </a:rPr>
              <a:t>D2C </a:t>
            </a:r>
            <a:r>
              <a:rPr lang="ko-KR" altLang="en-US" sz="1200" b="1" dirty="0">
                <a:solidFill>
                  <a:schemeClr val="bg1"/>
                </a:solidFill>
              </a:rPr>
              <a:t>지식 비즈니스 플랫폼으로 전환 중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CB5192B-7FA9-8E1B-F2BF-562F8BABFE2B}"/>
              </a:ext>
            </a:extLst>
          </p:cNvPr>
          <p:cNvGrpSpPr/>
          <p:nvPr/>
        </p:nvGrpSpPr>
        <p:grpSpPr>
          <a:xfrm>
            <a:off x="721745" y="2657494"/>
            <a:ext cx="785689" cy="171565"/>
            <a:chOff x="721745" y="2657494"/>
            <a:chExt cx="785689" cy="171565"/>
          </a:xfrm>
        </p:grpSpPr>
        <p:sp>
          <p:nvSpPr>
            <p:cNvPr id="23" name="화살표: 오른쪽 18">
              <a:extLst>
                <a:ext uri="{FF2B5EF4-FFF2-40B4-BE49-F238E27FC236}">
                  <a16:creationId xmlns:a16="http://schemas.microsoft.com/office/drawing/2014/main" id="{30A5E38D-3658-822B-9A40-6A350289506F}"/>
                </a:ext>
              </a:extLst>
            </p:cNvPr>
            <p:cNvSpPr/>
            <p:nvPr/>
          </p:nvSpPr>
          <p:spPr>
            <a:xfrm rot="5400000">
              <a:off x="713451" y="2665788"/>
              <a:ext cx="171565" cy="154978"/>
            </a:xfrm>
            <a:prstGeom prst="rightArrow">
              <a:avLst/>
            </a:prstGeom>
            <a:gradFill>
              <a:gsLst>
                <a:gs pos="0">
                  <a:srgbClr val="FFFFFF"/>
                </a:gs>
                <a:gs pos="64000">
                  <a:srgbClr val="F2535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accent5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750FD4-D941-0C80-3E25-ECEE707FC425}"/>
                </a:ext>
              </a:extLst>
            </p:cNvPr>
            <p:cNvSpPr txBox="1"/>
            <p:nvPr/>
          </p:nvSpPr>
          <p:spPr>
            <a:xfrm>
              <a:off x="917528" y="2672136"/>
              <a:ext cx="589906" cy="1422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900" b="1" dirty="0">
                  <a:solidFill>
                    <a:srgbClr val="F25353"/>
                  </a:solidFill>
                </a:rPr>
                <a:t>43.5% </a:t>
              </a:r>
              <a:r>
                <a:rPr lang="ko-KR" altLang="en-US" sz="900" b="1" dirty="0">
                  <a:solidFill>
                    <a:srgbClr val="F25353"/>
                  </a:solidFill>
                </a:rPr>
                <a:t>감소</a:t>
              </a:r>
            </a:p>
          </p:txBody>
        </p:sp>
      </p:grpSp>
      <p:grpSp>
        <p:nvGrpSpPr>
          <p:cNvPr id="30" name="그룹 51">
            <a:extLst>
              <a:ext uri="{FF2B5EF4-FFF2-40B4-BE49-F238E27FC236}">
                <a16:creationId xmlns:a16="http://schemas.microsoft.com/office/drawing/2014/main" id="{BA3D173B-6044-E3B0-A254-20A9B6373BAB}"/>
              </a:ext>
            </a:extLst>
          </p:cNvPr>
          <p:cNvGrpSpPr/>
          <p:nvPr/>
        </p:nvGrpSpPr>
        <p:grpSpPr>
          <a:xfrm>
            <a:off x="645102" y="2820254"/>
            <a:ext cx="925350" cy="108000"/>
            <a:chOff x="452438" y="3961693"/>
            <a:chExt cx="1183831" cy="108000"/>
          </a:xfrm>
        </p:grpSpPr>
        <p:sp>
          <p:nvSpPr>
            <p:cNvPr id="31" name="직사각형 52">
              <a:extLst>
                <a:ext uri="{FF2B5EF4-FFF2-40B4-BE49-F238E27FC236}">
                  <a16:creationId xmlns:a16="http://schemas.microsoft.com/office/drawing/2014/main" id="{0D048EB5-8AE3-CC74-B82D-22D2A8337C3E}"/>
                </a:ext>
              </a:extLst>
            </p:cNvPr>
            <p:cNvSpPr/>
            <p:nvPr/>
          </p:nvSpPr>
          <p:spPr>
            <a:xfrm>
              <a:off x="452438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32" name="직사각형 53">
              <a:extLst>
                <a:ext uri="{FF2B5EF4-FFF2-40B4-BE49-F238E27FC236}">
                  <a16:creationId xmlns:a16="http://schemas.microsoft.com/office/drawing/2014/main" id="{B830AE66-6A97-2AB9-2BE7-25292C5D9E9D}"/>
                </a:ext>
              </a:extLst>
            </p:cNvPr>
            <p:cNvSpPr/>
            <p:nvPr/>
          </p:nvSpPr>
          <p:spPr>
            <a:xfrm>
              <a:off x="1605340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cxnSp>
          <p:nvCxnSpPr>
            <p:cNvPr id="33" name="직선 연결선 54">
              <a:extLst>
                <a:ext uri="{FF2B5EF4-FFF2-40B4-BE49-F238E27FC236}">
                  <a16:creationId xmlns:a16="http://schemas.microsoft.com/office/drawing/2014/main" id="{4ADA157F-F0E4-8236-A731-FDF8733EAE54}"/>
                </a:ext>
              </a:extLst>
            </p:cNvPr>
            <p:cNvCxnSpPr>
              <a:cxnSpLocks/>
              <a:stCxn id="31" idx="3"/>
              <a:endCxn id="32" idx="1"/>
            </p:cNvCxnSpPr>
            <p:nvPr/>
          </p:nvCxnSpPr>
          <p:spPr>
            <a:xfrm>
              <a:off x="483367" y="4015693"/>
              <a:ext cx="1121973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51">
            <a:extLst>
              <a:ext uri="{FF2B5EF4-FFF2-40B4-BE49-F238E27FC236}">
                <a16:creationId xmlns:a16="http://schemas.microsoft.com/office/drawing/2014/main" id="{362BF838-7F32-BF31-DDA8-2FB61333F34E}"/>
              </a:ext>
            </a:extLst>
          </p:cNvPr>
          <p:cNvGrpSpPr/>
          <p:nvPr/>
        </p:nvGrpSpPr>
        <p:grpSpPr>
          <a:xfrm>
            <a:off x="1660961" y="4206236"/>
            <a:ext cx="925350" cy="108000"/>
            <a:chOff x="452438" y="3961693"/>
            <a:chExt cx="1183831" cy="108000"/>
          </a:xfrm>
        </p:grpSpPr>
        <p:sp>
          <p:nvSpPr>
            <p:cNvPr id="36" name="직사각형 52">
              <a:extLst>
                <a:ext uri="{FF2B5EF4-FFF2-40B4-BE49-F238E27FC236}">
                  <a16:creationId xmlns:a16="http://schemas.microsoft.com/office/drawing/2014/main" id="{7A6B460F-15D0-C670-9154-F8F4EA5BC31E}"/>
                </a:ext>
              </a:extLst>
            </p:cNvPr>
            <p:cNvSpPr/>
            <p:nvPr/>
          </p:nvSpPr>
          <p:spPr>
            <a:xfrm>
              <a:off x="452438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37" name="직사각형 53">
              <a:extLst>
                <a:ext uri="{FF2B5EF4-FFF2-40B4-BE49-F238E27FC236}">
                  <a16:creationId xmlns:a16="http://schemas.microsoft.com/office/drawing/2014/main" id="{EAD34BE2-73C0-1669-6139-E0A548C1F719}"/>
                </a:ext>
              </a:extLst>
            </p:cNvPr>
            <p:cNvSpPr/>
            <p:nvPr/>
          </p:nvSpPr>
          <p:spPr>
            <a:xfrm>
              <a:off x="1605340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cxnSp>
          <p:nvCxnSpPr>
            <p:cNvPr id="38" name="직선 연결선 54">
              <a:extLst>
                <a:ext uri="{FF2B5EF4-FFF2-40B4-BE49-F238E27FC236}">
                  <a16:creationId xmlns:a16="http://schemas.microsoft.com/office/drawing/2014/main" id="{827FA32D-BD78-AC49-FBA8-6E7677BE0CEC}"/>
                </a:ext>
              </a:extLst>
            </p:cNvPr>
            <p:cNvCxnSpPr>
              <a:cxnSpLocks/>
              <a:stCxn id="36" idx="3"/>
              <a:endCxn id="37" idx="1"/>
            </p:cNvCxnSpPr>
            <p:nvPr/>
          </p:nvCxnSpPr>
          <p:spPr>
            <a:xfrm>
              <a:off x="483367" y="4015693"/>
              <a:ext cx="1121973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그룹 51">
            <a:extLst>
              <a:ext uri="{FF2B5EF4-FFF2-40B4-BE49-F238E27FC236}">
                <a16:creationId xmlns:a16="http://schemas.microsoft.com/office/drawing/2014/main" id="{295BB6F7-CD65-B17B-09F6-01AF52A2F927}"/>
              </a:ext>
            </a:extLst>
          </p:cNvPr>
          <p:cNvGrpSpPr/>
          <p:nvPr/>
        </p:nvGrpSpPr>
        <p:grpSpPr>
          <a:xfrm>
            <a:off x="2740172" y="3395946"/>
            <a:ext cx="925350" cy="108000"/>
            <a:chOff x="452438" y="3961693"/>
            <a:chExt cx="1183831" cy="108000"/>
          </a:xfrm>
        </p:grpSpPr>
        <p:sp>
          <p:nvSpPr>
            <p:cNvPr id="40" name="직사각형 52">
              <a:extLst>
                <a:ext uri="{FF2B5EF4-FFF2-40B4-BE49-F238E27FC236}">
                  <a16:creationId xmlns:a16="http://schemas.microsoft.com/office/drawing/2014/main" id="{57C245AE-F7E4-824F-8789-24AC991790F4}"/>
                </a:ext>
              </a:extLst>
            </p:cNvPr>
            <p:cNvSpPr/>
            <p:nvPr/>
          </p:nvSpPr>
          <p:spPr>
            <a:xfrm>
              <a:off x="452438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41" name="직사각형 53">
              <a:extLst>
                <a:ext uri="{FF2B5EF4-FFF2-40B4-BE49-F238E27FC236}">
                  <a16:creationId xmlns:a16="http://schemas.microsoft.com/office/drawing/2014/main" id="{06A29D1B-3545-E5DF-536F-CB0D5D4C7694}"/>
                </a:ext>
              </a:extLst>
            </p:cNvPr>
            <p:cNvSpPr/>
            <p:nvPr/>
          </p:nvSpPr>
          <p:spPr>
            <a:xfrm>
              <a:off x="1605340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cxnSp>
          <p:nvCxnSpPr>
            <p:cNvPr id="42" name="직선 연결선 54">
              <a:extLst>
                <a:ext uri="{FF2B5EF4-FFF2-40B4-BE49-F238E27FC236}">
                  <a16:creationId xmlns:a16="http://schemas.microsoft.com/office/drawing/2014/main" id="{B443ECC0-5636-6223-85D0-F55F0BE9C100}"/>
                </a:ext>
              </a:extLst>
            </p:cNvPr>
            <p:cNvCxnSpPr>
              <a:cxnSpLocks/>
              <a:stCxn id="40" idx="3"/>
              <a:endCxn id="41" idx="1"/>
            </p:cNvCxnSpPr>
            <p:nvPr/>
          </p:nvCxnSpPr>
          <p:spPr>
            <a:xfrm>
              <a:off x="483367" y="4015693"/>
              <a:ext cx="1121973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51">
            <a:extLst>
              <a:ext uri="{FF2B5EF4-FFF2-40B4-BE49-F238E27FC236}">
                <a16:creationId xmlns:a16="http://schemas.microsoft.com/office/drawing/2014/main" id="{B6A980A7-967A-8BAE-D940-37DAC3ABB4B4}"/>
              </a:ext>
            </a:extLst>
          </p:cNvPr>
          <p:cNvGrpSpPr/>
          <p:nvPr/>
        </p:nvGrpSpPr>
        <p:grpSpPr>
          <a:xfrm>
            <a:off x="3770565" y="4326598"/>
            <a:ext cx="925350" cy="108000"/>
            <a:chOff x="452438" y="3961693"/>
            <a:chExt cx="1183831" cy="108000"/>
          </a:xfrm>
        </p:grpSpPr>
        <p:sp>
          <p:nvSpPr>
            <p:cNvPr id="44" name="직사각형 52">
              <a:extLst>
                <a:ext uri="{FF2B5EF4-FFF2-40B4-BE49-F238E27FC236}">
                  <a16:creationId xmlns:a16="http://schemas.microsoft.com/office/drawing/2014/main" id="{EEC84AED-DBD2-6B1F-DF55-1B3442DFE6C4}"/>
                </a:ext>
              </a:extLst>
            </p:cNvPr>
            <p:cNvSpPr/>
            <p:nvPr/>
          </p:nvSpPr>
          <p:spPr>
            <a:xfrm>
              <a:off x="452438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45" name="직사각형 53">
              <a:extLst>
                <a:ext uri="{FF2B5EF4-FFF2-40B4-BE49-F238E27FC236}">
                  <a16:creationId xmlns:a16="http://schemas.microsoft.com/office/drawing/2014/main" id="{BD191895-7595-DC2B-A74C-460E11145B63}"/>
                </a:ext>
              </a:extLst>
            </p:cNvPr>
            <p:cNvSpPr/>
            <p:nvPr/>
          </p:nvSpPr>
          <p:spPr>
            <a:xfrm>
              <a:off x="1605340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직선 연결선 54">
              <a:extLst>
                <a:ext uri="{FF2B5EF4-FFF2-40B4-BE49-F238E27FC236}">
                  <a16:creationId xmlns:a16="http://schemas.microsoft.com/office/drawing/2014/main" id="{E86F82A0-58B8-40A6-51CB-48C5F9AFFF4A}"/>
                </a:ext>
              </a:extLst>
            </p:cNvPr>
            <p:cNvCxnSpPr>
              <a:cxnSpLocks/>
              <a:stCxn id="44" idx="3"/>
              <a:endCxn id="45" idx="1"/>
            </p:cNvCxnSpPr>
            <p:nvPr/>
          </p:nvCxnSpPr>
          <p:spPr>
            <a:xfrm>
              <a:off x="483367" y="4015693"/>
              <a:ext cx="1121973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26D9BB9-0CDC-1D49-6AEF-BB2474345FEC}"/>
              </a:ext>
            </a:extLst>
          </p:cNvPr>
          <p:cNvGrpSpPr/>
          <p:nvPr/>
        </p:nvGrpSpPr>
        <p:grpSpPr>
          <a:xfrm>
            <a:off x="1729587" y="4022401"/>
            <a:ext cx="777674" cy="171565"/>
            <a:chOff x="721745" y="2657494"/>
            <a:chExt cx="777674" cy="171565"/>
          </a:xfrm>
        </p:grpSpPr>
        <p:sp>
          <p:nvSpPr>
            <p:cNvPr id="49" name="화살표: 오른쪽 18">
              <a:extLst>
                <a:ext uri="{FF2B5EF4-FFF2-40B4-BE49-F238E27FC236}">
                  <a16:creationId xmlns:a16="http://schemas.microsoft.com/office/drawing/2014/main" id="{948B157C-1CF2-602A-660B-7E40776D8840}"/>
                </a:ext>
              </a:extLst>
            </p:cNvPr>
            <p:cNvSpPr/>
            <p:nvPr/>
          </p:nvSpPr>
          <p:spPr>
            <a:xfrm rot="5400000">
              <a:off x="713451" y="2665788"/>
              <a:ext cx="171565" cy="154978"/>
            </a:xfrm>
            <a:prstGeom prst="rightArrow">
              <a:avLst/>
            </a:prstGeom>
            <a:gradFill>
              <a:gsLst>
                <a:gs pos="0">
                  <a:srgbClr val="FFFFFF"/>
                </a:gs>
                <a:gs pos="64000">
                  <a:srgbClr val="F2535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accent5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FE87923-4779-304A-7A43-A051A5F87072}"/>
                </a:ext>
              </a:extLst>
            </p:cNvPr>
            <p:cNvSpPr txBox="1"/>
            <p:nvPr/>
          </p:nvSpPr>
          <p:spPr>
            <a:xfrm>
              <a:off x="925543" y="2672136"/>
              <a:ext cx="573876" cy="1422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900" b="1" dirty="0">
                  <a:solidFill>
                    <a:srgbClr val="F25353"/>
                  </a:solidFill>
                </a:rPr>
                <a:t>10.3% </a:t>
              </a:r>
              <a:r>
                <a:rPr lang="ko-KR" altLang="en-US" sz="900" b="1" dirty="0">
                  <a:solidFill>
                    <a:srgbClr val="F25353"/>
                  </a:solidFill>
                </a:rPr>
                <a:t>감소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05FD723-7C21-EF11-75B7-9A5FAE67DA33}"/>
              </a:ext>
            </a:extLst>
          </p:cNvPr>
          <p:cNvGrpSpPr/>
          <p:nvPr/>
        </p:nvGrpSpPr>
        <p:grpSpPr>
          <a:xfrm>
            <a:off x="2816815" y="3254658"/>
            <a:ext cx="783284" cy="171565"/>
            <a:chOff x="721745" y="2657494"/>
            <a:chExt cx="783284" cy="171565"/>
          </a:xfrm>
        </p:grpSpPr>
        <p:sp>
          <p:nvSpPr>
            <p:cNvPr id="52" name="화살표: 오른쪽 18">
              <a:extLst>
                <a:ext uri="{FF2B5EF4-FFF2-40B4-BE49-F238E27FC236}">
                  <a16:creationId xmlns:a16="http://schemas.microsoft.com/office/drawing/2014/main" id="{82CC1AAA-65F8-5399-7502-F485E0643BE8}"/>
                </a:ext>
              </a:extLst>
            </p:cNvPr>
            <p:cNvSpPr/>
            <p:nvPr/>
          </p:nvSpPr>
          <p:spPr>
            <a:xfrm rot="5400000">
              <a:off x="713451" y="2665788"/>
              <a:ext cx="171565" cy="154978"/>
            </a:xfrm>
            <a:prstGeom prst="rightArrow">
              <a:avLst/>
            </a:prstGeom>
            <a:gradFill>
              <a:gsLst>
                <a:gs pos="0">
                  <a:srgbClr val="FFFFFF"/>
                </a:gs>
                <a:gs pos="64000">
                  <a:srgbClr val="F2535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accent5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62E9C4A-8E21-ECCA-B4EA-50E291BE38DC}"/>
                </a:ext>
              </a:extLst>
            </p:cNvPr>
            <p:cNvSpPr txBox="1"/>
            <p:nvPr/>
          </p:nvSpPr>
          <p:spPr>
            <a:xfrm>
              <a:off x="919932" y="2672136"/>
              <a:ext cx="585097" cy="1422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900" b="1" dirty="0">
                  <a:solidFill>
                    <a:srgbClr val="F25353"/>
                  </a:solidFill>
                </a:rPr>
                <a:t>26.5% </a:t>
              </a:r>
              <a:r>
                <a:rPr lang="ko-KR" altLang="en-US" sz="900" b="1" dirty="0">
                  <a:solidFill>
                    <a:srgbClr val="F25353"/>
                  </a:solidFill>
                </a:rPr>
                <a:t>감소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4E9890B-B9B4-C6C3-F421-640BF3CFD94B}"/>
              </a:ext>
            </a:extLst>
          </p:cNvPr>
          <p:cNvGrpSpPr/>
          <p:nvPr/>
        </p:nvGrpSpPr>
        <p:grpSpPr>
          <a:xfrm>
            <a:off x="3838721" y="4150251"/>
            <a:ext cx="748819" cy="171565"/>
            <a:chOff x="721745" y="2657494"/>
            <a:chExt cx="748819" cy="171565"/>
          </a:xfrm>
        </p:grpSpPr>
        <p:sp>
          <p:nvSpPr>
            <p:cNvPr id="55" name="화살표: 오른쪽 18">
              <a:extLst>
                <a:ext uri="{FF2B5EF4-FFF2-40B4-BE49-F238E27FC236}">
                  <a16:creationId xmlns:a16="http://schemas.microsoft.com/office/drawing/2014/main" id="{01A9DCC6-7486-A9C5-E8B4-04C722E89502}"/>
                </a:ext>
              </a:extLst>
            </p:cNvPr>
            <p:cNvSpPr/>
            <p:nvPr/>
          </p:nvSpPr>
          <p:spPr>
            <a:xfrm rot="5400000">
              <a:off x="713451" y="2665788"/>
              <a:ext cx="171565" cy="154978"/>
            </a:xfrm>
            <a:prstGeom prst="rightArrow">
              <a:avLst/>
            </a:prstGeom>
            <a:gradFill>
              <a:gsLst>
                <a:gs pos="0">
                  <a:srgbClr val="FFFFFF"/>
                </a:gs>
                <a:gs pos="64000">
                  <a:srgbClr val="F2535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ln>
                  <a:solidFill>
                    <a:schemeClr val="accent5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6995C8B-C427-B381-81C7-C975DC5D8988}"/>
                </a:ext>
              </a:extLst>
            </p:cNvPr>
            <p:cNvSpPr txBox="1"/>
            <p:nvPr/>
          </p:nvSpPr>
          <p:spPr>
            <a:xfrm>
              <a:off x="954396" y="2672136"/>
              <a:ext cx="516168" cy="1422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900" b="1" dirty="0">
                  <a:solidFill>
                    <a:srgbClr val="F25353"/>
                  </a:solidFill>
                </a:rPr>
                <a:t>9.9% </a:t>
              </a:r>
              <a:r>
                <a:rPr lang="ko-KR" altLang="en-US" sz="900" b="1" dirty="0">
                  <a:solidFill>
                    <a:srgbClr val="F25353"/>
                  </a:solidFill>
                </a:rPr>
                <a:t>감소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E83850F-3B06-2697-AEB8-9F15FD6439A5}"/>
              </a:ext>
            </a:extLst>
          </p:cNvPr>
          <p:cNvGrpSpPr/>
          <p:nvPr/>
        </p:nvGrpSpPr>
        <p:grpSpPr>
          <a:xfrm>
            <a:off x="5259323" y="2651659"/>
            <a:ext cx="925350" cy="270760"/>
            <a:chOff x="5259323" y="2651659"/>
            <a:chExt cx="925350" cy="270760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D28A487C-CAFA-5089-5D7E-D63C9F825A84}"/>
                </a:ext>
              </a:extLst>
            </p:cNvPr>
            <p:cNvGrpSpPr/>
            <p:nvPr/>
          </p:nvGrpSpPr>
          <p:grpSpPr>
            <a:xfrm>
              <a:off x="5335966" y="2651659"/>
              <a:ext cx="778476" cy="171565"/>
              <a:chOff x="721745" y="2657494"/>
              <a:chExt cx="778476" cy="171565"/>
            </a:xfrm>
          </p:grpSpPr>
          <p:sp>
            <p:nvSpPr>
              <p:cNvPr id="58" name="화살표: 오른쪽 18">
                <a:extLst>
                  <a:ext uri="{FF2B5EF4-FFF2-40B4-BE49-F238E27FC236}">
                    <a16:creationId xmlns:a16="http://schemas.microsoft.com/office/drawing/2014/main" id="{0F69CAA3-1551-7324-FB55-11978E69EC6A}"/>
                  </a:ext>
                </a:extLst>
              </p:cNvPr>
              <p:cNvSpPr/>
              <p:nvPr/>
            </p:nvSpPr>
            <p:spPr>
              <a:xfrm rot="16200000">
                <a:off x="713451" y="2665788"/>
                <a:ext cx="171565" cy="154978"/>
              </a:xfrm>
              <a:prstGeom prst="rightArrow">
                <a:avLst/>
              </a:prstGeom>
              <a:gradFill>
                <a:gsLst>
                  <a:gs pos="0">
                    <a:srgbClr val="FFFFFF"/>
                  </a:gs>
                  <a:gs pos="64000">
                    <a:srgbClr val="1E8A6C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ln>
                    <a:solidFill>
                      <a:schemeClr val="accent5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2D4AFE0-8493-0706-AB30-29605B4DCB76}"/>
                  </a:ext>
                </a:extLst>
              </p:cNvPr>
              <p:cNvSpPr txBox="1"/>
              <p:nvPr/>
            </p:nvSpPr>
            <p:spPr>
              <a:xfrm>
                <a:off x="924742" y="2672136"/>
                <a:ext cx="575479" cy="142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ko-KR" sz="900" b="1" dirty="0">
                    <a:solidFill>
                      <a:srgbClr val="1E8A6C"/>
                    </a:solidFill>
                  </a:rPr>
                  <a:t>22.7% </a:t>
                </a:r>
                <a:r>
                  <a:rPr lang="ko-KR" altLang="en-US" sz="900" b="1" dirty="0">
                    <a:solidFill>
                      <a:srgbClr val="1E8A6C"/>
                    </a:solidFill>
                  </a:rPr>
                  <a:t>상승</a:t>
                </a:r>
              </a:p>
            </p:txBody>
          </p:sp>
        </p:grpSp>
        <p:grpSp>
          <p:nvGrpSpPr>
            <p:cNvPr id="60" name="그룹 51">
              <a:extLst>
                <a:ext uri="{FF2B5EF4-FFF2-40B4-BE49-F238E27FC236}">
                  <a16:creationId xmlns:a16="http://schemas.microsoft.com/office/drawing/2014/main" id="{4D04F1B6-202E-35EE-C455-4FC248F1B871}"/>
                </a:ext>
              </a:extLst>
            </p:cNvPr>
            <p:cNvGrpSpPr/>
            <p:nvPr/>
          </p:nvGrpSpPr>
          <p:grpSpPr>
            <a:xfrm>
              <a:off x="5259323" y="2814419"/>
              <a:ext cx="925350" cy="108000"/>
              <a:chOff x="452438" y="3961693"/>
              <a:chExt cx="1183831" cy="108000"/>
            </a:xfrm>
          </p:grpSpPr>
          <p:sp>
            <p:nvSpPr>
              <p:cNvPr id="61" name="직사각형 52">
                <a:extLst>
                  <a:ext uri="{FF2B5EF4-FFF2-40B4-BE49-F238E27FC236}">
                    <a16:creationId xmlns:a16="http://schemas.microsoft.com/office/drawing/2014/main" id="{EABB5A05-5465-21E0-C591-AA6446431182}"/>
                  </a:ext>
                </a:extLst>
              </p:cNvPr>
              <p:cNvSpPr/>
              <p:nvPr/>
            </p:nvSpPr>
            <p:spPr>
              <a:xfrm>
                <a:off x="452438" y="3961693"/>
                <a:ext cx="30929" cy="108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300"/>
                  </a:spcAft>
                </a:pPr>
                <a:endParaRPr lang="ko-KR" altLang="en-US" sz="10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직사각형 53">
                <a:extLst>
                  <a:ext uri="{FF2B5EF4-FFF2-40B4-BE49-F238E27FC236}">
                    <a16:creationId xmlns:a16="http://schemas.microsoft.com/office/drawing/2014/main" id="{E2FCDE11-2CBD-19B2-FF5E-73201A6384E6}"/>
                  </a:ext>
                </a:extLst>
              </p:cNvPr>
              <p:cNvSpPr/>
              <p:nvPr/>
            </p:nvSpPr>
            <p:spPr>
              <a:xfrm>
                <a:off x="1605340" y="3961693"/>
                <a:ext cx="30929" cy="108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300"/>
                  </a:spcAft>
                </a:pPr>
                <a:endParaRPr lang="ko-KR" altLang="en-US" sz="100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3" name="직선 연결선 54">
                <a:extLst>
                  <a:ext uri="{FF2B5EF4-FFF2-40B4-BE49-F238E27FC236}">
                    <a16:creationId xmlns:a16="http://schemas.microsoft.com/office/drawing/2014/main" id="{F32F1345-33E0-873A-6C99-E8C5BEBE4A70}"/>
                  </a:ext>
                </a:extLst>
              </p:cNvPr>
              <p:cNvCxnSpPr>
                <a:cxnSpLocks/>
                <a:stCxn id="61" idx="3"/>
                <a:endCxn id="62" idx="1"/>
              </p:cNvCxnSpPr>
              <p:nvPr/>
            </p:nvCxnSpPr>
            <p:spPr>
              <a:xfrm>
                <a:off x="483367" y="4015693"/>
                <a:ext cx="1121973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0CC84354-21DD-A405-A11A-1AF2D10C40EF}"/>
              </a:ext>
            </a:extLst>
          </p:cNvPr>
          <p:cNvGrpSpPr/>
          <p:nvPr/>
        </p:nvGrpSpPr>
        <p:grpSpPr>
          <a:xfrm>
            <a:off x="6283464" y="3093887"/>
            <a:ext cx="925350" cy="270760"/>
            <a:chOff x="5259323" y="2651659"/>
            <a:chExt cx="925350" cy="270760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CCD1E664-673D-676C-FB8D-0038812C8DDF}"/>
                </a:ext>
              </a:extLst>
            </p:cNvPr>
            <p:cNvGrpSpPr/>
            <p:nvPr/>
          </p:nvGrpSpPr>
          <p:grpSpPr>
            <a:xfrm>
              <a:off x="5335966" y="2651659"/>
              <a:ext cx="823362" cy="171565"/>
              <a:chOff x="721745" y="2657494"/>
              <a:chExt cx="823362" cy="171565"/>
            </a:xfrm>
          </p:grpSpPr>
          <p:sp>
            <p:nvSpPr>
              <p:cNvPr id="71" name="화살표: 오른쪽 18">
                <a:extLst>
                  <a:ext uri="{FF2B5EF4-FFF2-40B4-BE49-F238E27FC236}">
                    <a16:creationId xmlns:a16="http://schemas.microsoft.com/office/drawing/2014/main" id="{E6DA90F1-D0C4-643E-DFAB-39E68977545A}"/>
                  </a:ext>
                </a:extLst>
              </p:cNvPr>
              <p:cNvSpPr/>
              <p:nvPr/>
            </p:nvSpPr>
            <p:spPr>
              <a:xfrm rot="16200000">
                <a:off x="713451" y="2665788"/>
                <a:ext cx="171565" cy="154978"/>
              </a:xfrm>
              <a:prstGeom prst="rightArrow">
                <a:avLst/>
              </a:prstGeom>
              <a:gradFill>
                <a:gsLst>
                  <a:gs pos="0">
                    <a:srgbClr val="FFFFFF"/>
                  </a:gs>
                  <a:gs pos="64000">
                    <a:srgbClr val="1E8A6C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ln>
                    <a:solidFill>
                      <a:schemeClr val="accent5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CCC1A94-BDDE-C5D5-CDB5-842FFA21BA1B}"/>
                  </a:ext>
                </a:extLst>
              </p:cNvPr>
              <p:cNvSpPr txBox="1"/>
              <p:nvPr/>
            </p:nvSpPr>
            <p:spPr>
              <a:xfrm>
                <a:off x="879860" y="2672136"/>
                <a:ext cx="665247" cy="142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ko-KR" sz="900" b="1" dirty="0">
                    <a:solidFill>
                      <a:srgbClr val="1E8A6C"/>
                    </a:solidFill>
                  </a:rPr>
                  <a:t>5,846% </a:t>
                </a:r>
                <a:r>
                  <a:rPr lang="ko-KR" altLang="en-US" sz="900" b="1" dirty="0">
                    <a:solidFill>
                      <a:srgbClr val="1E8A6C"/>
                    </a:solidFill>
                  </a:rPr>
                  <a:t>상승</a:t>
                </a:r>
              </a:p>
            </p:txBody>
          </p:sp>
        </p:grpSp>
        <p:grpSp>
          <p:nvGrpSpPr>
            <p:cNvPr id="67" name="그룹 51">
              <a:extLst>
                <a:ext uri="{FF2B5EF4-FFF2-40B4-BE49-F238E27FC236}">
                  <a16:creationId xmlns:a16="http://schemas.microsoft.com/office/drawing/2014/main" id="{631497D9-B564-804E-E1DF-954FAF200A98}"/>
                </a:ext>
              </a:extLst>
            </p:cNvPr>
            <p:cNvGrpSpPr/>
            <p:nvPr/>
          </p:nvGrpSpPr>
          <p:grpSpPr>
            <a:xfrm>
              <a:off x="5259323" y="2814419"/>
              <a:ext cx="925350" cy="108000"/>
              <a:chOff x="452438" y="3961693"/>
              <a:chExt cx="1183831" cy="108000"/>
            </a:xfrm>
          </p:grpSpPr>
          <p:sp>
            <p:nvSpPr>
              <p:cNvPr id="68" name="직사각형 52">
                <a:extLst>
                  <a:ext uri="{FF2B5EF4-FFF2-40B4-BE49-F238E27FC236}">
                    <a16:creationId xmlns:a16="http://schemas.microsoft.com/office/drawing/2014/main" id="{F53F6462-4F52-90E5-02E6-531B0C9DF6C6}"/>
                  </a:ext>
                </a:extLst>
              </p:cNvPr>
              <p:cNvSpPr/>
              <p:nvPr/>
            </p:nvSpPr>
            <p:spPr>
              <a:xfrm>
                <a:off x="452438" y="3961693"/>
                <a:ext cx="30929" cy="108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300"/>
                  </a:spcAft>
                </a:pPr>
                <a:endParaRPr lang="ko-KR" altLang="en-US" sz="10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직사각형 53">
                <a:extLst>
                  <a:ext uri="{FF2B5EF4-FFF2-40B4-BE49-F238E27FC236}">
                    <a16:creationId xmlns:a16="http://schemas.microsoft.com/office/drawing/2014/main" id="{D45BBDE4-0CB1-28DC-AD4B-72164162BD10}"/>
                  </a:ext>
                </a:extLst>
              </p:cNvPr>
              <p:cNvSpPr/>
              <p:nvPr/>
            </p:nvSpPr>
            <p:spPr>
              <a:xfrm>
                <a:off x="1605340" y="3961693"/>
                <a:ext cx="30929" cy="108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300"/>
                  </a:spcAft>
                </a:pPr>
                <a:endParaRPr lang="ko-KR" altLang="en-US" sz="100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0" name="직선 연결선 54">
                <a:extLst>
                  <a:ext uri="{FF2B5EF4-FFF2-40B4-BE49-F238E27FC236}">
                    <a16:creationId xmlns:a16="http://schemas.microsoft.com/office/drawing/2014/main" id="{BA0DB427-453B-2A56-E012-CFC46628DF60}"/>
                  </a:ext>
                </a:extLst>
              </p:cNvPr>
              <p:cNvCxnSpPr>
                <a:cxnSpLocks/>
                <a:stCxn id="68" idx="3"/>
                <a:endCxn id="69" idx="1"/>
              </p:cNvCxnSpPr>
              <p:nvPr/>
            </p:nvCxnSpPr>
            <p:spPr>
              <a:xfrm>
                <a:off x="483367" y="4015693"/>
                <a:ext cx="1121973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D251C929-1709-DE06-126B-64CD976CBD44}"/>
              </a:ext>
            </a:extLst>
          </p:cNvPr>
          <p:cNvGrpSpPr/>
          <p:nvPr/>
        </p:nvGrpSpPr>
        <p:grpSpPr>
          <a:xfrm>
            <a:off x="7306731" y="3368566"/>
            <a:ext cx="925350" cy="270760"/>
            <a:chOff x="5259323" y="2651659"/>
            <a:chExt cx="925350" cy="270760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6A9F87D3-7C7C-3F58-9AF2-9399E8A36581}"/>
                </a:ext>
              </a:extLst>
            </p:cNvPr>
            <p:cNvGrpSpPr/>
            <p:nvPr/>
          </p:nvGrpSpPr>
          <p:grpSpPr>
            <a:xfrm>
              <a:off x="5335966" y="2651659"/>
              <a:ext cx="814545" cy="171565"/>
              <a:chOff x="721745" y="2657494"/>
              <a:chExt cx="814545" cy="171565"/>
            </a:xfrm>
          </p:grpSpPr>
          <p:sp>
            <p:nvSpPr>
              <p:cNvPr id="79" name="화살표: 오른쪽 18">
                <a:extLst>
                  <a:ext uri="{FF2B5EF4-FFF2-40B4-BE49-F238E27FC236}">
                    <a16:creationId xmlns:a16="http://schemas.microsoft.com/office/drawing/2014/main" id="{09ABF88A-D29E-A80C-4A68-160E8D856578}"/>
                  </a:ext>
                </a:extLst>
              </p:cNvPr>
              <p:cNvSpPr/>
              <p:nvPr/>
            </p:nvSpPr>
            <p:spPr>
              <a:xfrm rot="16200000">
                <a:off x="713451" y="2665788"/>
                <a:ext cx="171565" cy="154978"/>
              </a:xfrm>
              <a:prstGeom prst="rightArrow">
                <a:avLst/>
              </a:prstGeom>
              <a:gradFill>
                <a:gsLst>
                  <a:gs pos="0">
                    <a:srgbClr val="FFFFFF"/>
                  </a:gs>
                  <a:gs pos="64000">
                    <a:srgbClr val="1E8A6C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ln>
                    <a:solidFill>
                      <a:schemeClr val="accent5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0EB95FD-5D12-312D-0A07-DED7719CA8CA}"/>
                  </a:ext>
                </a:extLst>
              </p:cNvPr>
              <p:cNvSpPr txBox="1"/>
              <p:nvPr/>
            </p:nvSpPr>
            <p:spPr>
              <a:xfrm>
                <a:off x="888676" y="2672136"/>
                <a:ext cx="647614" cy="142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ko-KR" sz="900" b="1" dirty="0">
                    <a:solidFill>
                      <a:srgbClr val="1E8A6C"/>
                    </a:solidFill>
                  </a:rPr>
                  <a:t>130.9% </a:t>
                </a:r>
                <a:r>
                  <a:rPr lang="ko-KR" altLang="en-US" sz="900" b="1" dirty="0">
                    <a:solidFill>
                      <a:srgbClr val="1E8A6C"/>
                    </a:solidFill>
                  </a:rPr>
                  <a:t>상승</a:t>
                </a:r>
              </a:p>
            </p:txBody>
          </p:sp>
        </p:grpSp>
        <p:grpSp>
          <p:nvGrpSpPr>
            <p:cNvPr id="75" name="그룹 51">
              <a:extLst>
                <a:ext uri="{FF2B5EF4-FFF2-40B4-BE49-F238E27FC236}">
                  <a16:creationId xmlns:a16="http://schemas.microsoft.com/office/drawing/2014/main" id="{16571170-23C4-000D-1A20-E0AB58603412}"/>
                </a:ext>
              </a:extLst>
            </p:cNvPr>
            <p:cNvGrpSpPr/>
            <p:nvPr/>
          </p:nvGrpSpPr>
          <p:grpSpPr>
            <a:xfrm>
              <a:off x="5259323" y="2814419"/>
              <a:ext cx="925350" cy="108000"/>
              <a:chOff x="452438" y="3961693"/>
              <a:chExt cx="1183831" cy="108000"/>
            </a:xfrm>
          </p:grpSpPr>
          <p:sp>
            <p:nvSpPr>
              <p:cNvPr id="76" name="직사각형 52">
                <a:extLst>
                  <a:ext uri="{FF2B5EF4-FFF2-40B4-BE49-F238E27FC236}">
                    <a16:creationId xmlns:a16="http://schemas.microsoft.com/office/drawing/2014/main" id="{E0B5A89A-A328-35DB-F54F-C2D807EDD1B3}"/>
                  </a:ext>
                </a:extLst>
              </p:cNvPr>
              <p:cNvSpPr/>
              <p:nvPr/>
            </p:nvSpPr>
            <p:spPr>
              <a:xfrm>
                <a:off x="452438" y="3961693"/>
                <a:ext cx="30929" cy="108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300"/>
                  </a:spcAft>
                </a:pPr>
                <a:endParaRPr lang="ko-KR" altLang="en-US" sz="10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직사각형 53">
                <a:extLst>
                  <a:ext uri="{FF2B5EF4-FFF2-40B4-BE49-F238E27FC236}">
                    <a16:creationId xmlns:a16="http://schemas.microsoft.com/office/drawing/2014/main" id="{00ABEA85-8AEC-5A93-D28F-F0E95FDD27CB}"/>
                  </a:ext>
                </a:extLst>
              </p:cNvPr>
              <p:cNvSpPr/>
              <p:nvPr/>
            </p:nvSpPr>
            <p:spPr>
              <a:xfrm>
                <a:off x="1605340" y="3961693"/>
                <a:ext cx="30929" cy="108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300"/>
                  </a:spcAft>
                </a:pPr>
                <a:endParaRPr lang="ko-KR" altLang="en-US" sz="100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직선 연결선 54">
                <a:extLst>
                  <a:ext uri="{FF2B5EF4-FFF2-40B4-BE49-F238E27FC236}">
                    <a16:creationId xmlns:a16="http://schemas.microsoft.com/office/drawing/2014/main" id="{3C980305-528B-170F-6ED7-2910336F1686}"/>
                  </a:ext>
                </a:extLst>
              </p:cNvPr>
              <p:cNvCxnSpPr>
                <a:cxnSpLocks/>
                <a:stCxn id="76" idx="3"/>
                <a:endCxn id="77" idx="1"/>
              </p:cNvCxnSpPr>
              <p:nvPr/>
            </p:nvCxnSpPr>
            <p:spPr>
              <a:xfrm>
                <a:off x="483367" y="4015693"/>
                <a:ext cx="1121973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6D855A1-31C6-C77E-9DDB-587DA5793A01}"/>
              </a:ext>
            </a:extLst>
          </p:cNvPr>
          <p:cNvGrpSpPr/>
          <p:nvPr/>
        </p:nvGrpSpPr>
        <p:grpSpPr>
          <a:xfrm>
            <a:off x="8342324" y="4467431"/>
            <a:ext cx="925350" cy="270760"/>
            <a:chOff x="5259323" y="2651659"/>
            <a:chExt cx="925350" cy="270760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F06B2A21-2419-6CA0-5798-4E9D53D902D1}"/>
                </a:ext>
              </a:extLst>
            </p:cNvPr>
            <p:cNvGrpSpPr/>
            <p:nvPr/>
          </p:nvGrpSpPr>
          <p:grpSpPr>
            <a:xfrm>
              <a:off x="5335966" y="2651659"/>
              <a:ext cx="813744" cy="171565"/>
              <a:chOff x="721745" y="2657494"/>
              <a:chExt cx="813744" cy="171565"/>
            </a:xfrm>
          </p:grpSpPr>
          <p:sp>
            <p:nvSpPr>
              <p:cNvPr id="87" name="화살표: 오른쪽 18">
                <a:extLst>
                  <a:ext uri="{FF2B5EF4-FFF2-40B4-BE49-F238E27FC236}">
                    <a16:creationId xmlns:a16="http://schemas.microsoft.com/office/drawing/2014/main" id="{952F8375-5F53-05F1-8565-84776FE1F9BF}"/>
                  </a:ext>
                </a:extLst>
              </p:cNvPr>
              <p:cNvSpPr/>
              <p:nvPr/>
            </p:nvSpPr>
            <p:spPr>
              <a:xfrm rot="16200000">
                <a:off x="713451" y="2665788"/>
                <a:ext cx="171565" cy="154978"/>
              </a:xfrm>
              <a:prstGeom prst="rightArrow">
                <a:avLst/>
              </a:prstGeom>
              <a:gradFill>
                <a:gsLst>
                  <a:gs pos="0">
                    <a:srgbClr val="FFFFFF"/>
                  </a:gs>
                  <a:gs pos="64000">
                    <a:srgbClr val="1E8A6C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ln>
                    <a:solidFill>
                      <a:schemeClr val="accent5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959F3AA-0450-EDAD-A774-40FB27A2571C}"/>
                  </a:ext>
                </a:extLst>
              </p:cNvPr>
              <p:cNvSpPr txBox="1"/>
              <p:nvPr/>
            </p:nvSpPr>
            <p:spPr>
              <a:xfrm>
                <a:off x="889478" y="2672136"/>
                <a:ext cx="646011" cy="142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altLang="ko-KR" sz="900" b="1" dirty="0">
                    <a:solidFill>
                      <a:srgbClr val="1E8A6C"/>
                    </a:solidFill>
                  </a:rPr>
                  <a:t>222.7% </a:t>
                </a:r>
                <a:r>
                  <a:rPr lang="ko-KR" altLang="en-US" sz="900" b="1" dirty="0">
                    <a:solidFill>
                      <a:srgbClr val="1E8A6C"/>
                    </a:solidFill>
                  </a:rPr>
                  <a:t>상승</a:t>
                </a:r>
              </a:p>
            </p:txBody>
          </p:sp>
        </p:grpSp>
        <p:grpSp>
          <p:nvGrpSpPr>
            <p:cNvPr id="83" name="그룹 51">
              <a:extLst>
                <a:ext uri="{FF2B5EF4-FFF2-40B4-BE49-F238E27FC236}">
                  <a16:creationId xmlns:a16="http://schemas.microsoft.com/office/drawing/2014/main" id="{7A407A40-CC30-F207-FC95-E4B79F076C3E}"/>
                </a:ext>
              </a:extLst>
            </p:cNvPr>
            <p:cNvGrpSpPr/>
            <p:nvPr/>
          </p:nvGrpSpPr>
          <p:grpSpPr>
            <a:xfrm>
              <a:off x="5259323" y="2814419"/>
              <a:ext cx="925350" cy="108000"/>
              <a:chOff x="452438" y="3961693"/>
              <a:chExt cx="1183831" cy="108000"/>
            </a:xfrm>
          </p:grpSpPr>
          <p:sp>
            <p:nvSpPr>
              <p:cNvPr id="84" name="직사각형 52">
                <a:extLst>
                  <a:ext uri="{FF2B5EF4-FFF2-40B4-BE49-F238E27FC236}">
                    <a16:creationId xmlns:a16="http://schemas.microsoft.com/office/drawing/2014/main" id="{5ABCE7B5-8BEF-904D-1519-BBE48AAFAA3E}"/>
                  </a:ext>
                </a:extLst>
              </p:cNvPr>
              <p:cNvSpPr/>
              <p:nvPr/>
            </p:nvSpPr>
            <p:spPr>
              <a:xfrm>
                <a:off x="452438" y="3961693"/>
                <a:ext cx="30929" cy="108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300"/>
                  </a:spcAft>
                </a:pPr>
                <a:endParaRPr lang="ko-KR" altLang="en-US" sz="10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직사각형 53">
                <a:extLst>
                  <a:ext uri="{FF2B5EF4-FFF2-40B4-BE49-F238E27FC236}">
                    <a16:creationId xmlns:a16="http://schemas.microsoft.com/office/drawing/2014/main" id="{ED67F446-1146-D48D-4291-735AD4205EF9}"/>
                  </a:ext>
                </a:extLst>
              </p:cNvPr>
              <p:cNvSpPr/>
              <p:nvPr/>
            </p:nvSpPr>
            <p:spPr>
              <a:xfrm>
                <a:off x="1605340" y="3961693"/>
                <a:ext cx="30929" cy="108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0000"/>
                  </a:lnSpc>
                  <a:spcAft>
                    <a:spcPts val="300"/>
                  </a:spcAft>
                </a:pPr>
                <a:endParaRPr lang="ko-KR" altLang="en-US" sz="100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6" name="직선 연결선 54">
                <a:extLst>
                  <a:ext uri="{FF2B5EF4-FFF2-40B4-BE49-F238E27FC236}">
                    <a16:creationId xmlns:a16="http://schemas.microsoft.com/office/drawing/2014/main" id="{990347AA-5278-27F7-F39D-FFA62C353120}"/>
                  </a:ext>
                </a:extLst>
              </p:cNvPr>
              <p:cNvCxnSpPr>
                <a:cxnSpLocks/>
                <a:stCxn id="84" idx="3"/>
                <a:endCxn id="85" idx="1"/>
              </p:cNvCxnSpPr>
              <p:nvPr/>
            </p:nvCxnSpPr>
            <p:spPr>
              <a:xfrm>
                <a:off x="483367" y="4015693"/>
                <a:ext cx="1121973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3CDB0B97-A3CD-29D4-CC7F-B4B5FEFDC4FC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전통적 성인교육 기업들의 실적은 지속적으로 감소하고 있는 반면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성인교육 시장의 무게중심은 빠르게 </a:t>
            </a:r>
            <a:r>
              <a:rPr lang="en-US" altLang="ko-KR" sz="1400" b="1" dirty="0">
                <a:solidFill>
                  <a:srgbClr val="3D3D3D"/>
                </a:solidFill>
              </a:rPr>
              <a:t>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성인교육 플랫폼으로 이동하며 가파른 성장세를 보이고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9CA6677-4846-108B-53E0-957AFAC13175}"/>
              </a:ext>
            </a:extLst>
          </p:cNvPr>
          <p:cNvGrpSpPr/>
          <p:nvPr/>
        </p:nvGrpSpPr>
        <p:grpSpPr>
          <a:xfrm>
            <a:off x="5270578" y="4659028"/>
            <a:ext cx="285751" cy="158326"/>
            <a:chOff x="5847493" y="2851939"/>
            <a:chExt cx="298724" cy="158326"/>
          </a:xfrm>
        </p:grpSpPr>
        <p:sp>
          <p:nvSpPr>
            <p:cNvPr id="8" name="물결 39">
              <a:extLst>
                <a:ext uri="{FF2B5EF4-FFF2-40B4-BE49-F238E27FC236}">
                  <a16:creationId xmlns:a16="http://schemas.microsoft.com/office/drawing/2014/main" id="{2973FF35-D22C-3D06-E68D-2DE157EA6912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9" name="물결 40">
              <a:extLst>
                <a:ext uri="{FF2B5EF4-FFF2-40B4-BE49-F238E27FC236}">
                  <a16:creationId xmlns:a16="http://schemas.microsoft.com/office/drawing/2014/main" id="{729E52A4-0048-CC56-E7A0-B47EB5CD5717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A60A2B2-FDE3-9813-8803-DF8BF261D348}"/>
              </a:ext>
            </a:extLst>
          </p:cNvPr>
          <p:cNvGrpSpPr/>
          <p:nvPr/>
        </p:nvGrpSpPr>
        <p:grpSpPr>
          <a:xfrm>
            <a:off x="5579122" y="4492336"/>
            <a:ext cx="285751" cy="158326"/>
            <a:chOff x="5847493" y="2851939"/>
            <a:chExt cx="298724" cy="158326"/>
          </a:xfrm>
        </p:grpSpPr>
        <p:sp>
          <p:nvSpPr>
            <p:cNvPr id="25" name="물결 39">
              <a:extLst>
                <a:ext uri="{FF2B5EF4-FFF2-40B4-BE49-F238E27FC236}">
                  <a16:creationId xmlns:a16="http://schemas.microsoft.com/office/drawing/2014/main" id="{C15667F7-B459-3647-9247-244A882A3014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26" name="물결 40">
              <a:extLst>
                <a:ext uri="{FF2B5EF4-FFF2-40B4-BE49-F238E27FC236}">
                  <a16:creationId xmlns:a16="http://schemas.microsoft.com/office/drawing/2014/main" id="{B067C0D6-BDAE-167D-312C-26D2523D2760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AD800B1-06ED-83C5-C1D4-96AD863635A9}"/>
              </a:ext>
            </a:extLst>
          </p:cNvPr>
          <p:cNvGrpSpPr/>
          <p:nvPr/>
        </p:nvGrpSpPr>
        <p:grpSpPr>
          <a:xfrm>
            <a:off x="5883682" y="4355435"/>
            <a:ext cx="285751" cy="158326"/>
            <a:chOff x="5847493" y="2851939"/>
            <a:chExt cx="298724" cy="158326"/>
          </a:xfrm>
        </p:grpSpPr>
        <p:sp>
          <p:nvSpPr>
            <p:cNvPr id="29" name="물결 39">
              <a:extLst>
                <a:ext uri="{FF2B5EF4-FFF2-40B4-BE49-F238E27FC236}">
                  <a16:creationId xmlns:a16="http://schemas.microsoft.com/office/drawing/2014/main" id="{8B28F235-6065-A0D3-2181-14EEA3DE83A8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34" name="물결 40">
              <a:extLst>
                <a:ext uri="{FF2B5EF4-FFF2-40B4-BE49-F238E27FC236}">
                  <a16:creationId xmlns:a16="http://schemas.microsoft.com/office/drawing/2014/main" id="{1ED9B079-81BF-9F84-A251-18F54872FB34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C721081D-03B9-023D-99A0-9EB280B8BD62}"/>
              </a:ext>
            </a:extLst>
          </p:cNvPr>
          <p:cNvGrpSpPr/>
          <p:nvPr/>
        </p:nvGrpSpPr>
        <p:grpSpPr>
          <a:xfrm>
            <a:off x="6903555" y="4507835"/>
            <a:ext cx="285751" cy="158326"/>
            <a:chOff x="5847493" y="2851939"/>
            <a:chExt cx="298724" cy="158326"/>
          </a:xfrm>
        </p:grpSpPr>
        <p:sp>
          <p:nvSpPr>
            <p:cNvPr id="91" name="물결 39">
              <a:extLst>
                <a:ext uri="{FF2B5EF4-FFF2-40B4-BE49-F238E27FC236}">
                  <a16:creationId xmlns:a16="http://schemas.microsoft.com/office/drawing/2014/main" id="{256453BD-3AB4-79AE-9C23-3FBEEFC9718A}"/>
                </a:ext>
              </a:extLst>
            </p:cNvPr>
            <p:cNvSpPr/>
            <p:nvPr/>
          </p:nvSpPr>
          <p:spPr>
            <a:xfrm>
              <a:off x="5847493" y="2851939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92" name="물결 40">
              <a:extLst>
                <a:ext uri="{FF2B5EF4-FFF2-40B4-BE49-F238E27FC236}">
                  <a16:creationId xmlns:a16="http://schemas.microsoft.com/office/drawing/2014/main" id="{6B7BF22B-A150-9EFC-47E8-67DD31F90EB1}"/>
                </a:ext>
              </a:extLst>
            </p:cNvPr>
            <p:cNvSpPr/>
            <p:nvPr/>
          </p:nvSpPr>
          <p:spPr>
            <a:xfrm>
              <a:off x="5847493" y="2936615"/>
              <a:ext cx="298724" cy="73650"/>
            </a:xfrm>
            <a:prstGeom prst="wave">
              <a:avLst>
                <a:gd name="adj1" fmla="val 20000"/>
                <a:gd name="adj2" fmla="val 2482"/>
              </a:avLst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EE16445C-B52C-935A-2AD1-DA87DD97EF0E}"/>
              </a:ext>
            </a:extLst>
          </p:cNvPr>
          <p:cNvSpPr txBox="1"/>
          <p:nvPr/>
        </p:nvSpPr>
        <p:spPr>
          <a:xfrm>
            <a:off x="4068578" y="2075809"/>
            <a:ext cx="776422" cy="158057"/>
          </a:xfrm>
          <a:prstGeom prst="rect">
            <a:avLst/>
          </a:prstGeom>
          <a:noFill/>
        </p:spPr>
        <p:txBody>
          <a:bodyPr wrap="non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단위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십억원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1F7A654-6419-9FEE-8522-E1AF19A2673E}"/>
              </a:ext>
            </a:extLst>
          </p:cNvPr>
          <p:cNvSpPr txBox="1"/>
          <p:nvPr/>
        </p:nvSpPr>
        <p:spPr>
          <a:xfrm>
            <a:off x="8688655" y="2075809"/>
            <a:ext cx="776422" cy="158057"/>
          </a:xfrm>
          <a:prstGeom prst="rect">
            <a:avLst/>
          </a:prstGeom>
          <a:noFill/>
        </p:spPr>
        <p:txBody>
          <a:bodyPr wrap="non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단위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십억원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458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BE319C0-EB99-BFFC-BE20-93554D053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국내 </a:t>
            </a:r>
            <a:r>
              <a:rPr lang="en-US" altLang="ko-KR" dirty="0"/>
              <a:t>Skill-to-earn </a:t>
            </a:r>
            <a:r>
              <a:rPr lang="ko-KR" altLang="en-US" dirty="0"/>
              <a:t>지식 플랫폼 경쟁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AA6935-C957-887A-C1A7-174B313F4D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</a:t>
            </a:r>
            <a:r>
              <a:rPr lang="ko-KR" altLang="en-US" dirty="0"/>
              <a:t>각 사 홈페이지</a:t>
            </a:r>
            <a:r>
              <a:rPr lang="en-US" altLang="ko-KR" dirty="0"/>
              <a:t>/</a:t>
            </a:r>
            <a:r>
              <a:rPr lang="ko-KR" altLang="en-US" dirty="0"/>
              <a:t>유튜브</a:t>
            </a:r>
            <a:r>
              <a:rPr lang="en-US" altLang="ko-KR" dirty="0"/>
              <a:t>/</a:t>
            </a:r>
            <a:r>
              <a:rPr lang="ko-KR" altLang="en-US" dirty="0"/>
              <a:t>인스타그램 페이지</a:t>
            </a:r>
            <a:r>
              <a:rPr lang="en-US" altLang="ko-KR" dirty="0"/>
              <a:t>, </a:t>
            </a:r>
            <a:r>
              <a:rPr lang="ko-KR" altLang="en-US" dirty="0"/>
              <a:t>각종 언론보도</a:t>
            </a:r>
            <a:r>
              <a:rPr lang="en-US" altLang="ko-KR" dirty="0"/>
              <a:t>, DART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1130F9-FAC7-A104-42DA-51F9E96FA0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25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351764-F094-0DFD-CE65-229921FAF1FB}"/>
              </a:ext>
            </a:extLst>
          </p:cNvPr>
          <p:cNvSpPr/>
          <p:nvPr/>
        </p:nvSpPr>
        <p:spPr>
          <a:xfrm>
            <a:off x="453000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</a:t>
            </a:r>
            <a:r>
              <a:rPr lang="en-US" altLang="ko-KR" sz="1200" b="1" dirty="0">
                <a:solidFill>
                  <a:schemeClr val="bg1"/>
                </a:solidFill>
              </a:rPr>
              <a:t>Skill-to-Earn </a:t>
            </a:r>
            <a:r>
              <a:rPr lang="ko-KR" altLang="en-US" sz="1200" b="1" dirty="0">
                <a:solidFill>
                  <a:schemeClr val="bg1"/>
                </a:solidFill>
              </a:rPr>
              <a:t>지식 플랫폼 </a:t>
            </a:r>
            <a:r>
              <a:rPr lang="en-US" altLang="ko-KR" sz="1200" b="1" dirty="0">
                <a:solidFill>
                  <a:schemeClr val="bg1"/>
                </a:solidFill>
              </a:rPr>
              <a:t>Player </a:t>
            </a:r>
            <a:r>
              <a:rPr lang="ko-KR" altLang="en-US" sz="1200" b="1" dirty="0">
                <a:solidFill>
                  <a:schemeClr val="bg1"/>
                </a:solidFill>
              </a:rPr>
              <a:t>비교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86" name="표 28">
            <a:extLst>
              <a:ext uri="{FF2B5EF4-FFF2-40B4-BE49-F238E27FC236}">
                <a16:creationId xmlns:a16="http://schemas.microsoft.com/office/drawing/2014/main" id="{CB8EF12C-3EAC-FB2F-88BC-BBBE01FC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601946"/>
              </p:ext>
            </p:extLst>
          </p:nvPr>
        </p:nvGraphicFramePr>
        <p:xfrm>
          <a:off x="685800" y="2095322"/>
          <a:ext cx="8757302" cy="3711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106">
                  <a:extLst>
                    <a:ext uri="{9D8B030D-6E8A-4147-A177-3AD203B41FA5}">
                      <a16:colId xmlns:a16="http://schemas.microsoft.com/office/drawing/2014/main" val="775626028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714373574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1267368470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4240548715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1452096826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2759268855"/>
                    </a:ext>
                  </a:extLst>
                </a:gridCol>
                <a:gridCol w="1315366">
                  <a:extLst>
                    <a:ext uri="{9D8B030D-6E8A-4147-A177-3AD203B41FA5}">
                      <a16:colId xmlns:a16="http://schemas.microsoft.com/office/drawing/2014/main" val="3776723997"/>
                    </a:ext>
                  </a:extLst>
                </a:gridCol>
              </a:tblGrid>
              <a:tr h="249441">
                <a:tc>
                  <a:txBody>
                    <a:bodyPr/>
                    <a:lstStyle/>
                    <a:p>
                      <a:pPr latinLnBrk="1"/>
                      <a:endParaRPr lang="ko-KR" altLang="en-US" sz="1000" b="1" i="0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1244A"/>
                        </a:solidFill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유저 확보</a:t>
                      </a:r>
                      <a:r>
                        <a:rPr lang="en-US" altLang="ko-KR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마케팅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1E1E3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크리에이터</a:t>
                      </a:r>
                      <a:r>
                        <a:rPr lang="en-US" altLang="ko-KR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콘텐츠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1E1E3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평균 커리큘럼 단가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영업성과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285427"/>
                  </a:ext>
                </a:extLst>
              </a:tr>
              <a:tr h="2494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회사명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마케팅 역량</a:t>
                      </a:r>
                    </a:p>
                  </a:txBody>
                  <a:tcPr marL="0" marR="0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세일즈 역량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크리에이터 역량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강의 콘텐츠 역량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10771"/>
                  </a:ext>
                </a:extLst>
              </a:tr>
              <a:tr h="6929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11244A"/>
                          </a:solidFill>
                          <a:latin typeface="+mj-ea"/>
                          <a:ea typeface="+mj-ea"/>
                          <a:cs typeface="+mn-cs"/>
                        </a:rPr>
                        <a:t>TITAN</a:t>
                      </a:r>
                      <a:endParaRPr lang="ko-KR" altLang="en-US" sz="800" kern="1200" spc="-6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90626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539DFF"/>
                          </a:solidFill>
                          <a:latin typeface="+mj-ea"/>
                          <a:ea typeface="+mj-ea"/>
                          <a:cs typeface="+mn-cs"/>
                        </a:rPr>
                        <a:t>월급쟁이부자들</a:t>
                      </a: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42984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데이원</a:t>
                      </a:r>
                      <a:endParaRPr lang="ko-KR" altLang="en-US" sz="900" kern="1200" spc="-6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84314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클래스</a:t>
                      </a:r>
                      <a:r>
                        <a:rPr lang="en-US" altLang="ko-KR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101</a:t>
                      </a:r>
                      <a:endParaRPr lang="ko-KR" altLang="en-US" sz="900" kern="1200" spc="-6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78688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클래스유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856165"/>
                  </a:ext>
                </a:extLst>
              </a:tr>
            </a:tbl>
          </a:graphicData>
        </a:graphic>
      </p:graphicFrame>
      <p:sp>
        <p:nvSpPr>
          <p:cNvPr id="7" name="사각형: 둥근 모서리 245">
            <a:extLst>
              <a:ext uri="{FF2B5EF4-FFF2-40B4-BE49-F238E27FC236}">
                <a16:creationId xmlns:a16="http://schemas.microsoft.com/office/drawing/2014/main" id="{0885D964-5CD7-551C-A516-F9028D49525A}"/>
              </a:ext>
            </a:extLst>
          </p:cNvPr>
          <p:cNvSpPr/>
          <p:nvPr/>
        </p:nvSpPr>
        <p:spPr>
          <a:xfrm>
            <a:off x="1592843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b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</a:br>
            <a:r>
              <a:rPr lang="ko-KR" altLang="en-US" sz="800" spc="-60" dirty="0">
                <a:solidFill>
                  <a:schemeClr val="bg1"/>
                </a:solidFill>
              </a:rPr>
              <a:t>단일채널 약 </a:t>
            </a:r>
            <a:r>
              <a:rPr lang="en-US" altLang="ko-KR" sz="800" spc="-60" dirty="0">
                <a:solidFill>
                  <a:schemeClr val="bg1"/>
                </a:solidFill>
              </a:rPr>
              <a:t>230</a:t>
            </a:r>
            <a:r>
              <a:rPr lang="ko-KR" altLang="en-US" sz="800" spc="-60" dirty="0">
                <a:solidFill>
                  <a:schemeClr val="bg1"/>
                </a:solidFill>
              </a:rPr>
              <a:t>만명 구독자</a:t>
            </a:r>
            <a:r>
              <a:rPr lang="en-US" altLang="ko-KR" sz="800" spc="-60" dirty="0">
                <a:solidFill>
                  <a:schemeClr val="bg1"/>
                </a:solidFill>
              </a:rPr>
              <a:t>/</a:t>
            </a:r>
            <a:r>
              <a:rPr lang="ko-KR" altLang="en-US" sz="800" spc="-60" dirty="0" err="1">
                <a:solidFill>
                  <a:schemeClr val="bg1"/>
                </a:solidFill>
              </a:rPr>
              <a:t>팔로워</a:t>
            </a:r>
            <a:endParaRPr lang="en-US" altLang="ko-KR" sz="700" spc="-60" dirty="0">
              <a:solidFill>
                <a:schemeClr val="bg1"/>
              </a:solidFill>
            </a:endParaRPr>
          </a:p>
        </p:txBody>
      </p:sp>
      <p:sp>
        <p:nvSpPr>
          <p:cNvPr id="209" name="사각형: 둥근 모서리 245">
            <a:extLst>
              <a:ext uri="{FF2B5EF4-FFF2-40B4-BE49-F238E27FC236}">
                <a16:creationId xmlns:a16="http://schemas.microsoft.com/office/drawing/2014/main" id="{6CAF026E-50C5-9ABD-9DF6-F72105D241E6}"/>
              </a:ext>
            </a:extLst>
          </p:cNvPr>
          <p:cNvSpPr/>
          <p:nvPr/>
        </p:nvSpPr>
        <p:spPr>
          <a:xfrm>
            <a:off x="2910124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평균 </a:t>
            </a:r>
            <a:r>
              <a:rPr lang="en-US" altLang="ko-KR" sz="800" spc="-60" dirty="0">
                <a:solidFill>
                  <a:schemeClr val="bg1"/>
                </a:solidFill>
              </a:rPr>
              <a:t>10%</a:t>
            </a:r>
            <a:r>
              <a:rPr lang="ko-KR" altLang="en-US" sz="800" spc="-60" dirty="0">
                <a:solidFill>
                  <a:schemeClr val="bg1"/>
                </a:solidFill>
              </a:rPr>
              <a:t>대 유료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전환율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210" name="사각형: 둥근 모서리 245">
            <a:extLst>
              <a:ext uri="{FF2B5EF4-FFF2-40B4-BE49-F238E27FC236}">
                <a16:creationId xmlns:a16="http://schemas.microsoft.com/office/drawing/2014/main" id="{6F617AAF-7AEA-5A42-D55B-543FD383A5D0}"/>
              </a:ext>
            </a:extLst>
          </p:cNvPr>
          <p:cNvSpPr/>
          <p:nvPr/>
        </p:nvSpPr>
        <p:spPr>
          <a:xfrm>
            <a:off x="4227405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경험 성과 기반의 일반적 크리에이터</a:t>
            </a:r>
            <a:r>
              <a:rPr lang="en-US" altLang="ko-KR" sz="800" spc="-60" dirty="0">
                <a:solidFill>
                  <a:schemeClr val="bg1"/>
                </a:solidFill>
              </a:rPr>
              <a:t>/</a:t>
            </a:r>
            <a:r>
              <a:rPr lang="ko-KR" altLang="en-US" sz="800" spc="-60" dirty="0" err="1">
                <a:solidFill>
                  <a:schemeClr val="bg1"/>
                </a:solidFill>
              </a:rPr>
              <a:t>인플루언서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211" name="사각형: 둥근 모서리 245">
            <a:extLst>
              <a:ext uri="{FF2B5EF4-FFF2-40B4-BE49-F238E27FC236}">
                <a16:creationId xmlns:a16="http://schemas.microsoft.com/office/drawing/2014/main" id="{91554789-EF5B-AC56-EA1D-30386D4796FE}"/>
              </a:ext>
            </a:extLst>
          </p:cNvPr>
          <p:cNvSpPr/>
          <p:nvPr/>
        </p:nvSpPr>
        <p:spPr>
          <a:xfrm>
            <a:off x="5536803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커리큘럼 자체 기획 및 제작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212" name="사각형: 둥근 모서리 245">
            <a:extLst>
              <a:ext uri="{FF2B5EF4-FFF2-40B4-BE49-F238E27FC236}">
                <a16:creationId xmlns:a16="http://schemas.microsoft.com/office/drawing/2014/main" id="{3139E866-8A07-4003-8078-23F3480DD2F3}"/>
              </a:ext>
            </a:extLst>
          </p:cNvPr>
          <p:cNvSpPr/>
          <p:nvPr/>
        </p:nvSpPr>
        <p:spPr>
          <a:xfrm>
            <a:off x="6854084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평균 </a:t>
            </a:r>
            <a:r>
              <a:rPr lang="en-US" altLang="ko-KR" sz="800" spc="-60" dirty="0">
                <a:solidFill>
                  <a:schemeClr val="bg1"/>
                </a:solidFill>
              </a:rPr>
              <a:t>30</a:t>
            </a:r>
            <a:r>
              <a:rPr lang="ko-KR" altLang="en-US" sz="800" spc="-60" dirty="0" err="1">
                <a:solidFill>
                  <a:schemeClr val="bg1"/>
                </a:solidFill>
              </a:rPr>
              <a:t>만원대</a:t>
            </a:r>
            <a:r>
              <a:rPr lang="ko-KR" altLang="en-US" sz="800" spc="-60" dirty="0">
                <a:solidFill>
                  <a:schemeClr val="bg1"/>
                </a:solidFill>
              </a:rPr>
              <a:t> 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213" name="사각형: 둥근 모서리 245">
            <a:extLst>
              <a:ext uri="{FF2B5EF4-FFF2-40B4-BE49-F238E27FC236}">
                <a16:creationId xmlns:a16="http://schemas.microsoft.com/office/drawing/2014/main" id="{DC3B8014-4E4C-67E7-7532-D7B964990B02}"/>
              </a:ext>
            </a:extLst>
          </p:cNvPr>
          <p:cNvSpPr/>
          <p:nvPr/>
        </p:nvSpPr>
        <p:spPr>
          <a:xfrm>
            <a:off x="8180891" y="3312892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2EA37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POSITIVE</a:t>
            </a:r>
          </a:p>
          <a:p>
            <a:pPr algn="ctr">
              <a:spcAft>
                <a:spcPts val="100"/>
              </a:spcAft>
            </a:pPr>
            <a:r>
              <a:rPr lang="en-US" altLang="ko-KR" sz="800" spc="-60" dirty="0">
                <a:solidFill>
                  <a:schemeClr val="bg1"/>
                </a:solidFill>
              </a:rPr>
              <a:t>‘24</a:t>
            </a:r>
            <a:r>
              <a:rPr lang="ko-KR" altLang="en-US" sz="800" spc="-60" dirty="0">
                <a:solidFill>
                  <a:schemeClr val="bg1"/>
                </a:solidFill>
              </a:rPr>
              <a:t>년 매출액 약 </a:t>
            </a:r>
            <a:r>
              <a:rPr lang="en-US" altLang="ko-KR" sz="800" spc="-60" dirty="0">
                <a:solidFill>
                  <a:schemeClr val="bg1"/>
                </a:solidFill>
              </a:rPr>
              <a:t>500</a:t>
            </a:r>
            <a:r>
              <a:rPr lang="ko-KR" altLang="en-US" sz="800" spc="-60" dirty="0">
                <a:solidFill>
                  <a:schemeClr val="bg1"/>
                </a:solidFill>
              </a:rPr>
              <a:t>억원 영업이익 </a:t>
            </a:r>
            <a:r>
              <a:rPr lang="en-US" altLang="ko-KR" sz="800" spc="-60" dirty="0">
                <a:solidFill>
                  <a:schemeClr val="bg1"/>
                </a:solidFill>
              </a:rPr>
              <a:t>280</a:t>
            </a:r>
            <a:r>
              <a:rPr lang="ko-KR" altLang="en-US" sz="800" spc="-60" dirty="0">
                <a:solidFill>
                  <a:schemeClr val="bg1"/>
                </a:solidFill>
              </a:rPr>
              <a:t>억원 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214" name="사각형: 둥근 모서리 245">
            <a:extLst>
              <a:ext uri="{FF2B5EF4-FFF2-40B4-BE49-F238E27FC236}">
                <a16:creationId xmlns:a16="http://schemas.microsoft.com/office/drawing/2014/main" id="{956787BB-371D-2767-74F6-7E3DD1B7782B}"/>
              </a:ext>
            </a:extLst>
          </p:cNvPr>
          <p:cNvSpPr/>
          <p:nvPr/>
        </p:nvSpPr>
        <p:spPr>
          <a:xfrm>
            <a:off x="1592843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약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9.3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만명 구독자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팔로워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5" name="사각형: 둥근 모서리 245">
            <a:extLst>
              <a:ext uri="{FF2B5EF4-FFF2-40B4-BE49-F238E27FC236}">
                <a16:creationId xmlns:a16="http://schemas.microsoft.com/office/drawing/2014/main" id="{1DC34E92-7ADD-CCD0-E242-8676F9248F91}"/>
              </a:ext>
            </a:extLst>
          </p:cNvPr>
          <p:cNvSpPr/>
          <p:nvPr/>
        </p:nvSpPr>
        <p:spPr>
          <a:xfrm>
            <a:off x="2910124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평균 </a:t>
            </a:r>
            <a:r>
              <a:rPr lang="en-US" altLang="ko-KR" sz="800" spc="-60" dirty="0">
                <a:solidFill>
                  <a:schemeClr val="bg1"/>
                </a:solidFill>
              </a:rPr>
              <a:t>8% </a:t>
            </a:r>
            <a:r>
              <a:rPr lang="ko-KR" altLang="en-US" sz="800" spc="-60" dirty="0">
                <a:solidFill>
                  <a:schemeClr val="bg1"/>
                </a:solidFill>
              </a:rPr>
              <a:t>유료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전환율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216" name="사각형: 둥근 모서리 245">
            <a:extLst>
              <a:ext uri="{FF2B5EF4-FFF2-40B4-BE49-F238E27FC236}">
                <a16:creationId xmlns:a16="http://schemas.microsoft.com/office/drawing/2014/main" id="{58CE1F9F-BCF3-C91A-E090-770CDD638EE4}"/>
              </a:ext>
            </a:extLst>
          </p:cNvPr>
          <p:cNvSpPr/>
          <p:nvPr/>
        </p:nvSpPr>
        <p:spPr>
          <a:xfrm>
            <a:off x="4227405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일반적인 외부 강사 중심</a:t>
            </a:r>
          </a:p>
        </p:txBody>
      </p:sp>
      <p:sp>
        <p:nvSpPr>
          <p:cNvPr id="217" name="사각형: 둥근 모서리 245">
            <a:extLst>
              <a:ext uri="{FF2B5EF4-FFF2-40B4-BE49-F238E27FC236}">
                <a16:creationId xmlns:a16="http://schemas.microsoft.com/office/drawing/2014/main" id="{8CE0AB4A-CF9E-F71F-7306-F3C0865BE3A8}"/>
              </a:ext>
            </a:extLst>
          </p:cNvPr>
          <p:cNvSpPr/>
          <p:nvPr/>
        </p:nvSpPr>
        <p:spPr>
          <a:xfrm>
            <a:off x="5536803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체계적인 커리큘럼 기획</a:t>
            </a:r>
            <a:r>
              <a:rPr lang="en-US" altLang="ko-KR" sz="800" spc="-60" dirty="0">
                <a:solidFill>
                  <a:schemeClr val="bg1"/>
                </a:solidFill>
              </a:rPr>
              <a:t>/</a:t>
            </a:r>
            <a:r>
              <a:rPr lang="ko-KR" altLang="en-US" sz="800" spc="-60" dirty="0">
                <a:solidFill>
                  <a:schemeClr val="bg1"/>
                </a:solidFill>
              </a:rPr>
              <a:t>제작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218" name="사각형: 둥근 모서리 245">
            <a:extLst>
              <a:ext uri="{FF2B5EF4-FFF2-40B4-BE49-F238E27FC236}">
                <a16:creationId xmlns:a16="http://schemas.microsoft.com/office/drawing/2014/main" id="{0F1A4BB1-4B47-A617-37BD-CD6D9C0C450E}"/>
              </a:ext>
            </a:extLst>
          </p:cNvPr>
          <p:cNvSpPr/>
          <p:nvPr/>
        </p:nvSpPr>
        <p:spPr>
          <a:xfrm>
            <a:off x="6854084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평균 </a:t>
            </a:r>
            <a:r>
              <a:rPr lang="en-US" altLang="ko-KR" sz="800" spc="-60" dirty="0">
                <a:solidFill>
                  <a:schemeClr val="bg1"/>
                </a:solidFill>
              </a:rPr>
              <a:t>20</a:t>
            </a:r>
            <a:r>
              <a:rPr lang="ko-KR" altLang="en-US" sz="800" spc="-60" dirty="0" err="1">
                <a:solidFill>
                  <a:schemeClr val="bg1"/>
                </a:solidFill>
              </a:rPr>
              <a:t>만원대</a:t>
            </a:r>
            <a:endParaRPr lang="en-US" altLang="ko-KR" sz="800" spc="-60" dirty="0">
              <a:solidFill>
                <a:schemeClr val="bg1"/>
              </a:solidFill>
            </a:endParaRPr>
          </a:p>
        </p:txBody>
      </p:sp>
      <p:sp>
        <p:nvSpPr>
          <p:cNvPr id="219" name="사각형: 둥근 모서리 245">
            <a:extLst>
              <a:ext uri="{FF2B5EF4-FFF2-40B4-BE49-F238E27FC236}">
                <a16:creationId xmlns:a16="http://schemas.microsoft.com/office/drawing/2014/main" id="{A20F8D68-BAEF-8B02-274F-353A3A095792}"/>
              </a:ext>
            </a:extLst>
          </p:cNvPr>
          <p:cNvSpPr/>
          <p:nvPr/>
        </p:nvSpPr>
        <p:spPr>
          <a:xfrm>
            <a:off x="8180891" y="3949848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KoPub돋움체 Bold" panose="02020603020101020101" pitchFamily="18" charset="-127"/>
              </a:rPr>
              <a:t>NEGATIVE</a:t>
            </a:r>
          </a:p>
          <a:p>
            <a:pPr algn="ctr">
              <a:spcAft>
                <a:spcPts val="100"/>
              </a:spcAft>
            </a:pP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’21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년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’22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년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110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억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,103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억 적자</a:t>
            </a:r>
            <a:b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’24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년 적자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(-3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억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재전환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0" name="사각형: 둥근 모서리 245">
            <a:extLst>
              <a:ext uri="{FF2B5EF4-FFF2-40B4-BE49-F238E27FC236}">
                <a16:creationId xmlns:a16="http://schemas.microsoft.com/office/drawing/2014/main" id="{C491AC97-201E-E4CA-7148-A0DDBE9807DC}"/>
              </a:ext>
            </a:extLst>
          </p:cNvPr>
          <p:cNvSpPr/>
          <p:nvPr/>
        </p:nvSpPr>
        <p:spPr>
          <a:xfrm>
            <a:off x="1592843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약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18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만명의 구독자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팔로워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1" name="사각형: 둥근 모서리 245">
            <a:extLst>
              <a:ext uri="{FF2B5EF4-FFF2-40B4-BE49-F238E27FC236}">
                <a16:creationId xmlns:a16="http://schemas.microsoft.com/office/drawing/2014/main" id="{60F0DF45-8281-EED6-C66D-4CBBD70ACD37}"/>
              </a:ext>
            </a:extLst>
          </p:cNvPr>
          <p:cNvSpPr/>
          <p:nvPr/>
        </p:nvSpPr>
        <p:spPr>
          <a:xfrm>
            <a:off x="2910124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낮은 유료 전환으로 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구독제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전환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2" name="사각형: 둥근 모서리 245">
            <a:extLst>
              <a:ext uri="{FF2B5EF4-FFF2-40B4-BE49-F238E27FC236}">
                <a16:creationId xmlns:a16="http://schemas.microsoft.com/office/drawing/2014/main" id="{12651643-E5B1-3F31-1204-F25E6F7D59EF}"/>
              </a:ext>
            </a:extLst>
          </p:cNvPr>
          <p:cNvSpPr/>
          <p:nvPr/>
        </p:nvSpPr>
        <p:spPr>
          <a:xfrm>
            <a:off x="4227405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spc="-6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경험 성과 기반의 일반적 크리에이터</a:t>
            </a:r>
            <a:r>
              <a:rPr lang="en-US" altLang="ko-KR" sz="800" spc="-60" dirty="0">
                <a:solidFill>
                  <a:schemeClr val="bg1"/>
                </a:solidFill>
              </a:rPr>
              <a:t>/</a:t>
            </a:r>
            <a:r>
              <a:rPr lang="ko-KR" altLang="en-US" sz="800" spc="-60" dirty="0" err="1">
                <a:solidFill>
                  <a:schemeClr val="bg1"/>
                </a:solidFill>
              </a:rPr>
              <a:t>인플루언서</a:t>
            </a:r>
            <a:endParaRPr lang="ko-KR" altLang="en-US" sz="800" spc="-60" dirty="0">
              <a:solidFill>
                <a:schemeClr val="bg1"/>
              </a:solidFill>
            </a:endParaRPr>
          </a:p>
        </p:txBody>
      </p:sp>
      <p:sp>
        <p:nvSpPr>
          <p:cNvPr id="223" name="사각형: 둥근 모서리 245">
            <a:extLst>
              <a:ext uri="{FF2B5EF4-FFF2-40B4-BE49-F238E27FC236}">
                <a16:creationId xmlns:a16="http://schemas.microsoft.com/office/drawing/2014/main" id="{78CF28FD-CC8B-237D-0942-F68D74318D79}"/>
              </a:ext>
            </a:extLst>
          </p:cNvPr>
          <p:cNvSpPr/>
          <p:nvPr/>
        </p:nvSpPr>
        <p:spPr>
          <a:xfrm>
            <a:off x="5536803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bg1"/>
                </a:solidFill>
              </a:rPr>
              <a:t>강사 중심의 커리큘럼 제작 </a:t>
            </a:r>
          </a:p>
        </p:txBody>
      </p:sp>
      <p:sp>
        <p:nvSpPr>
          <p:cNvPr id="224" name="사각형: 둥근 모서리 245">
            <a:extLst>
              <a:ext uri="{FF2B5EF4-FFF2-40B4-BE49-F238E27FC236}">
                <a16:creationId xmlns:a16="http://schemas.microsoft.com/office/drawing/2014/main" id="{E743C503-FBD0-FD89-33EB-F178B3F5C06D}"/>
              </a:ext>
            </a:extLst>
          </p:cNvPr>
          <p:cNvSpPr/>
          <p:nvPr/>
        </p:nvSpPr>
        <p:spPr>
          <a:xfrm>
            <a:off x="6854084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Outfit ExtraBold"/>
                <a:ea typeface="KoPub돋움체 Bold" panose="02020603020101020101" pitchFamily="18" charset="-127"/>
                <a:cs typeface="+mn-cs"/>
              </a:rPr>
              <a:t>Mid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평균 </a:t>
            </a: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20</a:t>
            </a:r>
            <a:r>
              <a:rPr kumimoji="0" lang="ko-KR" altLang="en-US" sz="800" b="0" i="0" u="none" strike="noStrike" kern="1200" cap="none" spc="-6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만원대</a:t>
            </a:r>
            <a:endParaRPr kumimoji="0" lang="en-US" altLang="ko-KR" sz="800" b="0" i="0" u="none" strike="noStrike" kern="1200" cap="none" spc="-6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25" name="사각형: 둥근 모서리 245">
            <a:extLst>
              <a:ext uri="{FF2B5EF4-FFF2-40B4-BE49-F238E27FC236}">
                <a16:creationId xmlns:a16="http://schemas.microsoft.com/office/drawing/2014/main" id="{2DB464F0-1D2B-D3C0-E4C6-9C27ADA56F15}"/>
              </a:ext>
            </a:extLst>
          </p:cNvPr>
          <p:cNvSpPr/>
          <p:nvPr/>
        </p:nvSpPr>
        <p:spPr>
          <a:xfrm>
            <a:off x="8180891" y="4571584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Outfit ExtraBold"/>
                <a:ea typeface="KoPub돋움체 Bold" panose="02020603020101020101" pitchFamily="18" charset="-127"/>
                <a:cs typeface="+mn-cs"/>
              </a:rPr>
              <a:t>NEGATIVE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’21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년 대비 매출액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60%</a:t>
            </a: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이상 감소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6" name="사각형: 둥근 모서리 245">
            <a:extLst>
              <a:ext uri="{FF2B5EF4-FFF2-40B4-BE49-F238E27FC236}">
                <a16:creationId xmlns:a16="http://schemas.microsoft.com/office/drawing/2014/main" id="{0E76320C-0632-4010-EE14-794982BD0786}"/>
              </a:ext>
            </a:extLst>
          </p:cNvPr>
          <p:cNvSpPr/>
          <p:nvPr/>
        </p:nvSpPr>
        <p:spPr>
          <a:xfrm>
            <a:off x="1592843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약 </a:t>
            </a:r>
            <a:r>
              <a:rPr lang="en-US" altLang="ko-KR" sz="800" spc="-6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/>
                <a:ea typeface="Pretendard"/>
              </a:rPr>
              <a:t>2.3</a:t>
            </a: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만명의 구독자</a:t>
            </a: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800" b="0" i="0" u="none" strike="noStrike" kern="1200" cap="none" spc="-6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팔로워</a:t>
            </a:r>
            <a:endParaRPr kumimoji="0" lang="en-US" altLang="ko-KR" sz="800" b="0" i="0" u="none" strike="noStrike" kern="1200" cap="none" spc="-6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27" name="사각형: 둥근 모서리 245">
            <a:extLst>
              <a:ext uri="{FF2B5EF4-FFF2-40B4-BE49-F238E27FC236}">
                <a16:creationId xmlns:a16="http://schemas.microsoft.com/office/drawing/2014/main" id="{0AE8CB27-EE52-C8AC-080B-EE49A32A7255}"/>
              </a:ext>
            </a:extLst>
          </p:cNvPr>
          <p:cNvSpPr/>
          <p:nvPr/>
        </p:nvSpPr>
        <p:spPr>
          <a:xfrm>
            <a:off x="2910124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algn="ctr">
              <a:spcAft>
                <a:spcPts val="100"/>
              </a:spcAft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단방향 강의 세일즈 방식</a:t>
            </a:r>
            <a:endParaRPr lang="en-US" altLang="ko-KR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8" name="사각형: 둥근 모서리 245">
            <a:extLst>
              <a:ext uri="{FF2B5EF4-FFF2-40B4-BE49-F238E27FC236}">
                <a16:creationId xmlns:a16="http://schemas.microsoft.com/office/drawing/2014/main" id="{BE923123-362B-C9E2-0331-16BF8E315D23}"/>
              </a:ext>
            </a:extLst>
          </p:cNvPr>
          <p:cNvSpPr/>
          <p:nvPr/>
        </p:nvSpPr>
        <p:spPr>
          <a:xfrm>
            <a:off x="4227405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KoPub돋움체 Bold" panose="02020603020101020101" pitchFamily="18" charset="-127"/>
              </a:rPr>
              <a:t>Low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 크리에이터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ko-KR" altLang="en-US" sz="800" spc="-6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인플루언서</a:t>
            </a:r>
            <a:endParaRPr lang="ko-KR" altLang="en-US" sz="800" spc="-6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0" name="사각형: 둥근 모서리 245">
            <a:extLst>
              <a:ext uri="{FF2B5EF4-FFF2-40B4-BE49-F238E27FC236}">
                <a16:creationId xmlns:a16="http://schemas.microsoft.com/office/drawing/2014/main" id="{52025D89-9868-80A0-9E78-40A315FC1018}"/>
              </a:ext>
            </a:extLst>
          </p:cNvPr>
          <p:cNvSpPr/>
          <p:nvPr/>
        </p:nvSpPr>
        <p:spPr>
          <a:xfrm>
            <a:off x="5536803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강사 중심의 커리큘럼 제작 </a:t>
            </a:r>
          </a:p>
        </p:txBody>
      </p:sp>
      <p:sp>
        <p:nvSpPr>
          <p:cNvPr id="231" name="사각형: 둥근 모서리 245">
            <a:extLst>
              <a:ext uri="{FF2B5EF4-FFF2-40B4-BE49-F238E27FC236}">
                <a16:creationId xmlns:a16="http://schemas.microsoft.com/office/drawing/2014/main" id="{8905D4A1-663A-F6A9-0D6B-23DAAE79374E}"/>
              </a:ext>
            </a:extLst>
          </p:cNvPr>
          <p:cNvSpPr/>
          <p:nvPr/>
        </p:nvSpPr>
        <p:spPr>
          <a:xfrm>
            <a:off x="6854084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B2DA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Mid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평균 </a:t>
            </a:r>
            <a:r>
              <a:rPr lang="en-US" altLang="ko-KR" sz="800" spc="-60" dirty="0">
                <a:solidFill>
                  <a:prstClr val="white"/>
                </a:solidFill>
                <a:latin typeface="Pretendard"/>
                <a:ea typeface="Pretendard"/>
              </a:rPr>
              <a:t>3</a:t>
            </a: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0</a:t>
            </a:r>
            <a:r>
              <a:rPr kumimoji="0" lang="ko-KR" altLang="en-US" sz="800" b="0" i="0" u="none" strike="noStrike" kern="1200" cap="none" spc="-6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만원대</a:t>
            </a:r>
            <a:endParaRPr kumimoji="0" lang="en-US" altLang="ko-KR" sz="800" b="0" i="0" u="none" strike="noStrike" kern="1200" cap="none" spc="-6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33" name="사각형: 둥근 모서리 245">
            <a:extLst>
              <a:ext uri="{FF2B5EF4-FFF2-40B4-BE49-F238E27FC236}">
                <a16:creationId xmlns:a16="http://schemas.microsoft.com/office/drawing/2014/main" id="{C099A5EF-B033-6095-7F3C-8981F34034A3}"/>
              </a:ext>
            </a:extLst>
          </p:cNvPr>
          <p:cNvSpPr/>
          <p:nvPr/>
        </p:nvSpPr>
        <p:spPr>
          <a:xfrm>
            <a:off x="8180891" y="5194891"/>
            <a:ext cx="1230853" cy="574661"/>
          </a:xfrm>
          <a:prstGeom prst="roundRect">
            <a:avLst>
              <a:gd name="adj" fmla="val 16864"/>
            </a:avLst>
          </a:prstGeom>
          <a:solidFill>
            <a:srgbClr val="E0E0E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Aft>
                <a:spcPts val="100"/>
              </a:spcAft>
              <a:defRPr/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Outfit ExtraBold"/>
                <a:ea typeface="KoPub돋움체 Bold" panose="02020603020101020101" pitchFamily="18" charset="-127"/>
              </a:rPr>
              <a:t>NEGATIVE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’23</a:t>
            </a: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년 대비 매출액 </a:t>
            </a:r>
            <a:r>
              <a:rPr lang="en-US" altLang="ko-KR" sz="8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/>
                <a:ea typeface="Pretendard"/>
              </a:rPr>
              <a:t>25</a:t>
            </a:r>
            <a:r>
              <a:rPr kumimoji="0" lang="en-US" altLang="ko-KR" sz="800" b="0" i="0" u="none" strike="noStrike" kern="1200" cap="none" spc="-6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%</a:t>
            </a:r>
            <a:r>
              <a:rPr kumimoji="0" lang="ko-KR" altLang="en-US" sz="800" b="0" i="0" u="none" strike="noStrike" kern="1200" cap="none" spc="-6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이상 감소</a:t>
            </a:r>
            <a:endParaRPr kumimoji="0" lang="en-US" altLang="ko-KR" sz="800" b="0" i="0" u="none" strike="noStrike" kern="1200" cap="none" spc="-6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74893FDD-C17E-DE04-589A-A1360431CEB9}"/>
              </a:ext>
            </a:extLst>
          </p:cNvPr>
          <p:cNvGrpSpPr/>
          <p:nvPr/>
        </p:nvGrpSpPr>
        <p:grpSpPr>
          <a:xfrm>
            <a:off x="406401" y="3941891"/>
            <a:ext cx="298450" cy="1827083"/>
            <a:chOff x="406401" y="3725750"/>
            <a:chExt cx="298450" cy="1599609"/>
          </a:xfrm>
        </p:grpSpPr>
        <p:sp>
          <p:nvSpPr>
            <p:cNvPr id="244" name="화살표: 위쪽/아래쪽 243">
              <a:extLst>
                <a:ext uri="{FF2B5EF4-FFF2-40B4-BE49-F238E27FC236}">
                  <a16:creationId xmlns:a16="http://schemas.microsoft.com/office/drawing/2014/main" id="{B6F2B3C0-4291-E934-EB5D-DDDFCD26496F}"/>
                </a:ext>
              </a:extLst>
            </p:cNvPr>
            <p:cNvSpPr/>
            <p:nvPr/>
          </p:nvSpPr>
          <p:spPr>
            <a:xfrm>
              <a:off x="406401" y="3725750"/>
              <a:ext cx="298450" cy="1599609"/>
            </a:xfrm>
            <a:prstGeom prst="upDownArrow">
              <a:avLst/>
            </a:prstGeom>
            <a:solidFill>
              <a:srgbClr val="E0E0E0"/>
            </a:solidFill>
            <a:ln>
              <a:solidFill>
                <a:srgbClr val="E0E0E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6E02011F-3087-DE08-20AA-CD1A7D87DB65}"/>
                </a:ext>
              </a:extLst>
            </p:cNvPr>
            <p:cNvSpPr txBox="1"/>
            <p:nvPr/>
          </p:nvSpPr>
          <p:spPr>
            <a:xfrm rot="16200000">
              <a:off x="-75060" y="4479402"/>
              <a:ext cx="1261373" cy="92303"/>
            </a:xfrm>
            <a:prstGeom prst="rect">
              <a:avLst/>
            </a:prstGeom>
            <a:noFill/>
          </p:spPr>
          <p:txBody>
            <a:bodyPr vert="horz" wrap="square" lIns="0" tIns="36000" rIns="0" bIns="36000" rtlCol="0" anchor="ctr" anchorCtr="0">
              <a:noAutofit/>
            </a:bodyPr>
            <a:lstStyle/>
            <a:p>
              <a:pPr algn="ctr" defTabSz="914400">
                <a:lnSpc>
                  <a:spcPct val="110000"/>
                </a:lnSpc>
                <a:spcAft>
                  <a:spcPts val="300"/>
                </a:spcAft>
              </a:pPr>
              <a:r>
                <a:rPr lang="en-US" altLang="ko-KR" sz="900" dirty="0">
                  <a:ln>
                    <a:solidFill>
                      <a:srgbClr val="00338D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General Category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7FC372C-FC30-F6FD-95E7-F9C9300D8E68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기존 </a:t>
            </a:r>
            <a:r>
              <a:rPr lang="en-US" altLang="ko-KR" sz="1400" b="1" dirty="0">
                <a:solidFill>
                  <a:srgbClr val="3D3D3D"/>
                </a:solidFill>
              </a:rPr>
              <a:t>Skill-to-Earn</a:t>
            </a:r>
            <a:r>
              <a:rPr lang="ko-KR" altLang="en-US" sz="1400" b="1" dirty="0">
                <a:solidFill>
                  <a:srgbClr val="3D3D3D"/>
                </a:solidFill>
              </a:rPr>
              <a:t>에서 일반 교육으로 확장한 성인교육 플랫폼들은 수익화와 성장의 한계에 직면하고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  <a:r>
              <a:rPr lang="ko-KR" altLang="en-US" sz="1400" b="1" dirty="0">
                <a:solidFill>
                  <a:srgbClr val="3D3D3D"/>
                </a:solidFill>
              </a:rPr>
              <a:t>반면 ‘타이탄컴퍼니’</a:t>
            </a:r>
            <a:r>
              <a:rPr lang="en-US" altLang="ko-KR" sz="1400" b="1" dirty="0">
                <a:solidFill>
                  <a:srgbClr val="3D3D3D"/>
                </a:solidFill>
              </a:rPr>
              <a:t>,</a:t>
            </a:r>
            <a:r>
              <a:rPr lang="ko-KR" altLang="en-US" sz="1400" b="1" dirty="0">
                <a:solidFill>
                  <a:srgbClr val="3D3D3D"/>
                </a:solidFill>
              </a:rPr>
              <a:t> ‘월급쟁이부자들’ 등 </a:t>
            </a:r>
            <a:r>
              <a:rPr lang="en-US" altLang="ko-KR" sz="1400" b="1" dirty="0">
                <a:solidFill>
                  <a:srgbClr val="3D3D3D"/>
                </a:solidFill>
              </a:rPr>
              <a:t>Pure 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플랫폼들은 폭발적 성과로 시장 지배력을 빠르게 확대해 나가고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D26FF56B-2BE8-708A-4890-E08511B8DB14}"/>
              </a:ext>
            </a:extLst>
          </p:cNvPr>
          <p:cNvGrpSpPr/>
          <p:nvPr/>
        </p:nvGrpSpPr>
        <p:grpSpPr>
          <a:xfrm>
            <a:off x="406401" y="2605087"/>
            <a:ext cx="298450" cy="1282465"/>
            <a:chOff x="406401" y="2605088"/>
            <a:chExt cx="298450" cy="1084262"/>
          </a:xfrm>
        </p:grpSpPr>
        <p:sp>
          <p:nvSpPr>
            <p:cNvPr id="243" name="화살표: 위쪽/아래쪽 242">
              <a:extLst>
                <a:ext uri="{FF2B5EF4-FFF2-40B4-BE49-F238E27FC236}">
                  <a16:creationId xmlns:a16="http://schemas.microsoft.com/office/drawing/2014/main" id="{981AEB0B-B550-ACDF-4EA5-043D02CF7D2A}"/>
                </a:ext>
              </a:extLst>
            </p:cNvPr>
            <p:cNvSpPr/>
            <p:nvPr/>
          </p:nvSpPr>
          <p:spPr>
            <a:xfrm>
              <a:off x="406401" y="2605088"/>
              <a:ext cx="298450" cy="1084262"/>
            </a:xfrm>
            <a:prstGeom prst="upDownArrow">
              <a:avLst/>
            </a:prstGeom>
            <a:solidFill>
              <a:srgbClr val="11244A"/>
            </a:solidFill>
            <a:ln>
              <a:solidFill>
                <a:srgbClr val="1124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D6C27DC1-C40B-1B0D-D3DD-13EF48DB9262}"/>
                </a:ext>
              </a:extLst>
            </p:cNvPr>
            <p:cNvSpPr txBox="1"/>
            <p:nvPr/>
          </p:nvSpPr>
          <p:spPr>
            <a:xfrm rot="16200000">
              <a:off x="36034" y="3101068"/>
              <a:ext cx="1039186" cy="92303"/>
            </a:xfrm>
            <a:prstGeom prst="rect">
              <a:avLst/>
            </a:prstGeom>
            <a:noFill/>
          </p:spPr>
          <p:txBody>
            <a:bodyPr vert="horz" wrap="square" lIns="0" tIns="36000" rIns="0" bIns="36000" rtlCol="0" anchor="ctr" anchorCtr="0">
              <a:noAutofit/>
            </a:bodyPr>
            <a:lstStyle/>
            <a:p>
              <a:pPr algn="ctr" defTabSz="914400">
                <a:lnSpc>
                  <a:spcPct val="110000"/>
                </a:lnSpc>
                <a:spcAft>
                  <a:spcPts val="300"/>
                </a:spcAft>
              </a:pPr>
              <a:r>
                <a:rPr lang="en-US" altLang="ko-KR" sz="900" dirty="0">
                  <a:ln>
                    <a:solidFill>
                      <a:srgbClr val="00338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Pure Skill-to-Earn</a:t>
              </a:r>
            </a:p>
          </p:txBody>
        </p:sp>
      </p:grpSp>
      <p:sp>
        <p:nvSpPr>
          <p:cNvPr id="9" name="사각형: 둥근 모서리 245">
            <a:extLst>
              <a:ext uri="{FF2B5EF4-FFF2-40B4-BE49-F238E27FC236}">
                <a16:creationId xmlns:a16="http://schemas.microsoft.com/office/drawing/2014/main" id="{8D2DB4E4-2077-49F8-B98F-98C4DFB03208}"/>
              </a:ext>
            </a:extLst>
          </p:cNvPr>
          <p:cNvSpPr/>
          <p:nvPr/>
        </p:nvSpPr>
        <p:spPr>
          <a:xfrm>
            <a:off x="1592843" y="2628135"/>
            <a:ext cx="1230853" cy="626132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29250" rIns="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800" spc="-60" dirty="0">
                <a:solidFill>
                  <a:schemeClr val="bg1"/>
                </a:solidFill>
              </a:rPr>
              <a:t>18</a:t>
            </a:r>
            <a:r>
              <a:rPr lang="ko-KR" altLang="en-US" sz="800" spc="-60" dirty="0">
                <a:solidFill>
                  <a:schemeClr val="bg1"/>
                </a:solidFill>
              </a:rPr>
              <a:t>개 채널 </a:t>
            </a:r>
            <a:r>
              <a:rPr lang="en-US" altLang="ko-KR" sz="800" spc="-60" dirty="0">
                <a:solidFill>
                  <a:schemeClr val="bg1"/>
                </a:solidFill>
              </a:rPr>
              <a:t>/ </a:t>
            </a:r>
            <a:r>
              <a:rPr lang="ko-KR" altLang="en-US" sz="800" spc="-60" dirty="0">
                <a:solidFill>
                  <a:schemeClr val="bg1"/>
                </a:solidFill>
              </a:rPr>
              <a:t>약 </a:t>
            </a:r>
            <a:r>
              <a:rPr lang="en-US" altLang="ko-KR" sz="800" spc="-60" dirty="0">
                <a:solidFill>
                  <a:schemeClr val="bg1"/>
                </a:solidFill>
              </a:rPr>
              <a:t>270</a:t>
            </a:r>
            <a:r>
              <a:rPr lang="ko-KR" altLang="en-US" sz="800" spc="-60" dirty="0">
                <a:solidFill>
                  <a:schemeClr val="bg1"/>
                </a:solidFill>
              </a:rPr>
              <a:t>만명 구독자의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온드미디어</a:t>
            </a:r>
            <a:r>
              <a:rPr lang="en-US" altLang="ko-KR" sz="700" spc="-60" dirty="0">
                <a:solidFill>
                  <a:schemeClr val="bg1"/>
                </a:solidFill>
              </a:rPr>
              <a:t>(</a:t>
            </a:r>
            <a:r>
              <a:rPr lang="ko-KR" altLang="en-US" sz="700" spc="-60" dirty="0">
                <a:solidFill>
                  <a:schemeClr val="bg1"/>
                </a:solidFill>
              </a:rPr>
              <a:t>유튜브</a:t>
            </a:r>
            <a:r>
              <a:rPr lang="en-US" altLang="ko-KR" sz="700" spc="-60" dirty="0">
                <a:solidFill>
                  <a:schemeClr val="bg1"/>
                </a:solidFill>
              </a:rPr>
              <a:t>, </a:t>
            </a:r>
            <a:r>
              <a:rPr lang="ko-KR" altLang="en-US" sz="700" spc="-60" dirty="0">
                <a:solidFill>
                  <a:schemeClr val="bg1"/>
                </a:solidFill>
              </a:rPr>
              <a:t>인스타 등</a:t>
            </a:r>
            <a:r>
              <a:rPr lang="en-US" altLang="ko-KR" sz="700" spc="-60" dirty="0">
                <a:solidFill>
                  <a:schemeClr val="bg1"/>
                </a:solidFill>
              </a:rPr>
              <a:t>) </a:t>
            </a:r>
            <a:r>
              <a:rPr lang="ko-KR" altLang="en-US" sz="800" spc="-60" dirty="0">
                <a:solidFill>
                  <a:schemeClr val="bg1"/>
                </a:solidFill>
              </a:rPr>
              <a:t>기반 콘텐츠 마케팅</a:t>
            </a:r>
          </a:p>
        </p:txBody>
      </p:sp>
      <p:sp>
        <p:nvSpPr>
          <p:cNvPr id="10" name="사각형: 둥근 모서리 245">
            <a:extLst>
              <a:ext uri="{FF2B5EF4-FFF2-40B4-BE49-F238E27FC236}">
                <a16:creationId xmlns:a16="http://schemas.microsoft.com/office/drawing/2014/main" id="{C6EBE331-462B-00D7-95C8-6A4543100012}"/>
              </a:ext>
            </a:extLst>
          </p:cNvPr>
          <p:cNvSpPr/>
          <p:nvPr/>
        </p:nvSpPr>
        <p:spPr>
          <a:xfrm>
            <a:off x="2910124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spc="-60" dirty="0">
                <a:solidFill>
                  <a:schemeClr val="bg1"/>
                </a:solidFill>
              </a:rPr>
              <a:t>최적화된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세일즈퍼널</a:t>
            </a:r>
            <a:r>
              <a:rPr lang="ko-KR" altLang="en-US" sz="800" spc="-60" dirty="0">
                <a:solidFill>
                  <a:schemeClr val="bg1"/>
                </a:solidFill>
              </a:rPr>
              <a:t> 기반 평균 </a:t>
            </a:r>
            <a:r>
              <a:rPr lang="en-US" altLang="ko-KR" sz="800" spc="-60" dirty="0">
                <a:solidFill>
                  <a:schemeClr val="bg1"/>
                </a:solidFill>
              </a:rPr>
              <a:t>12%</a:t>
            </a:r>
            <a:r>
              <a:rPr lang="ko-KR" altLang="en-US" sz="800" spc="-60" dirty="0">
                <a:solidFill>
                  <a:schemeClr val="bg1"/>
                </a:solidFill>
              </a:rPr>
              <a:t>에 달하는  유료강의 </a:t>
            </a:r>
            <a:r>
              <a:rPr lang="ko-KR" altLang="en-US" sz="800" spc="-60" dirty="0" err="1">
                <a:solidFill>
                  <a:schemeClr val="bg1"/>
                </a:solidFill>
              </a:rPr>
              <a:t>전환율</a:t>
            </a:r>
            <a:endParaRPr lang="ko-KR" altLang="en-US" sz="800" spc="-60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245">
            <a:extLst>
              <a:ext uri="{FF2B5EF4-FFF2-40B4-BE49-F238E27FC236}">
                <a16:creationId xmlns:a16="http://schemas.microsoft.com/office/drawing/2014/main" id="{32D27991-87FC-8F68-5F8C-2266735B2B27}"/>
              </a:ext>
            </a:extLst>
          </p:cNvPr>
          <p:cNvSpPr/>
          <p:nvPr/>
        </p:nvSpPr>
        <p:spPr>
          <a:xfrm>
            <a:off x="4227405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spc="-60" dirty="0">
                <a:solidFill>
                  <a:schemeClr val="bg1"/>
                </a:solidFill>
              </a:rPr>
              <a:t>강사 퍼스널 브랜딩 및 자체 육성을 기반한 차별화된 크리에이터 </a:t>
            </a:r>
            <a:r>
              <a:rPr lang="en-US" altLang="ko-KR" sz="800" spc="-60" dirty="0">
                <a:solidFill>
                  <a:schemeClr val="bg1"/>
                </a:solidFill>
              </a:rPr>
              <a:t>Pool</a:t>
            </a:r>
            <a:endParaRPr lang="ko-KR" altLang="en-US" sz="800" spc="-60" dirty="0">
              <a:solidFill>
                <a:schemeClr val="bg1"/>
              </a:solidFill>
            </a:endParaRPr>
          </a:p>
        </p:txBody>
      </p:sp>
      <p:sp>
        <p:nvSpPr>
          <p:cNvPr id="12" name="사각형: 둥근 모서리 245">
            <a:extLst>
              <a:ext uri="{FF2B5EF4-FFF2-40B4-BE49-F238E27FC236}">
                <a16:creationId xmlns:a16="http://schemas.microsoft.com/office/drawing/2014/main" id="{78FEFD75-CC61-276F-D898-35006F562E79}"/>
              </a:ext>
            </a:extLst>
          </p:cNvPr>
          <p:cNvSpPr/>
          <p:nvPr/>
        </p:nvSpPr>
        <p:spPr>
          <a:xfrm>
            <a:off x="5536803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spc="-60" dirty="0">
                <a:solidFill>
                  <a:schemeClr val="bg1"/>
                </a:solidFill>
              </a:rPr>
              <a:t>커리큘럼 구성</a:t>
            </a:r>
            <a:r>
              <a:rPr lang="en-US" altLang="ko-KR" sz="800" spc="-60" dirty="0">
                <a:solidFill>
                  <a:schemeClr val="bg1"/>
                </a:solidFill>
              </a:rPr>
              <a:t>, </a:t>
            </a:r>
            <a:r>
              <a:rPr lang="ko-KR" altLang="en-US" sz="800" spc="-60" dirty="0">
                <a:solidFill>
                  <a:schemeClr val="bg1"/>
                </a:solidFill>
              </a:rPr>
              <a:t>강의 진행 방식 코칭 등 수강 만족도 극대화가 가능한 강의 구성</a:t>
            </a:r>
          </a:p>
        </p:txBody>
      </p:sp>
      <p:sp>
        <p:nvSpPr>
          <p:cNvPr id="13" name="사각형: 둥근 모서리 245">
            <a:extLst>
              <a:ext uri="{FF2B5EF4-FFF2-40B4-BE49-F238E27FC236}">
                <a16:creationId xmlns:a16="http://schemas.microsoft.com/office/drawing/2014/main" id="{0174DCBB-6F3D-9C73-55BF-524393B7841D}"/>
              </a:ext>
            </a:extLst>
          </p:cNvPr>
          <p:cNvSpPr/>
          <p:nvPr/>
        </p:nvSpPr>
        <p:spPr>
          <a:xfrm>
            <a:off x="6854084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High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800" spc="-60" dirty="0">
                <a:solidFill>
                  <a:schemeClr val="bg1"/>
                </a:solidFill>
              </a:rPr>
              <a:t>평균 약 </a:t>
            </a:r>
            <a:r>
              <a:rPr lang="en-US" altLang="ko-KR" sz="800" spc="-60" dirty="0">
                <a:solidFill>
                  <a:schemeClr val="bg1"/>
                </a:solidFill>
              </a:rPr>
              <a:t>250</a:t>
            </a:r>
            <a:r>
              <a:rPr lang="ko-KR" altLang="en-US" sz="800" spc="-60" dirty="0">
                <a:solidFill>
                  <a:schemeClr val="bg1"/>
                </a:solidFill>
              </a:rPr>
              <a:t>만원에 달하는 높은 커리큘럼당 단가</a:t>
            </a:r>
          </a:p>
        </p:txBody>
      </p:sp>
      <p:sp>
        <p:nvSpPr>
          <p:cNvPr id="14" name="사각형: 둥근 모서리 245">
            <a:extLst>
              <a:ext uri="{FF2B5EF4-FFF2-40B4-BE49-F238E27FC236}">
                <a16:creationId xmlns:a16="http://schemas.microsoft.com/office/drawing/2014/main" id="{6E4AB839-B0BF-FE0F-462F-F958E99349B2}"/>
              </a:ext>
            </a:extLst>
          </p:cNvPr>
          <p:cNvSpPr/>
          <p:nvPr/>
        </p:nvSpPr>
        <p:spPr>
          <a:xfrm>
            <a:off x="8180891" y="2628134"/>
            <a:ext cx="1230853" cy="626131"/>
          </a:xfrm>
          <a:prstGeom prst="roundRect">
            <a:avLst>
              <a:gd name="adj" fmla="val 8797"/>
            </a:avLst>
          </a:prstGeom>
          <a:solidFill>
            <a:srgbClr val="2EA37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9250" tIns="29250" rIns="2925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</a:pPr>
            <a:r>
              <a:rPr lang="en-US" altLang="ko-KR" sz="10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KoPub돋움체 Bold" panose="02020603020101020101" pitchFamily="18" charset="-127"/>
              </a:rPr>
              <a:t>POSITIVE</a:t>
            </a:r>
            <a:endParaRPr lang="en-US" altLang="ko-KR" sz="105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lt"/>
              <a:ea typeface="KoPub돋움체 Bold" panose="02020603020101020101" pitchFamily="18" charset="-127"/>
            </a:endParaRPr>
          </a:p>
          <a:p>
            <a:pPr algn="ctr"/>
            <a:r>
              <a:rPr lang="en-US" altLang="ko-KR" sz="800" spc="-60" dirty="0">
                <a:solidFill>
                  <a:schemeClr val="bg1"/>
                </a:solidFill>
              </a:rPr>
              <a:t>’25</a:t>
            </a:r>
            <a:r>
              <a:rPr lang="ko-KR" altLang="en-US" sz="800" spc="-60" dirty="0">
                <a:solidFill>
                  <a:schemeClr val="bg1"/>
                </a:solidFill>
              </a:rPr>
              <a:t>년 예상 매출액 약 </a:t>
            </a:r>
            <a:r>
              <a:rPr lang="en-US" altLang="ko-KR" sz="800" spc="-60" dirty="0">
                <a:solidFill>
                  <a:schemeClr val="bg1"/>
                </a:solidFill>
              </a:rPr>
              <a:t>750</a:t>
            </a:r>
            <a:r>
              <a:rPr lang="ko-KR" altLang="en-US" sz="800" spc="-60" dirty="0">
                <a:solidFill>
                  <a:schemeClr val="bg1"/>
                </a:solidFill>
              </a:rPr>
              <a:t>억원 영업이익 </a:t>
            </a:r>
            <a:r>
              <a:rPr lang="en-US" altLang="ko-KR" sz="800" spc="-60" dirty="0">
                <a:solidFill>
                  <a:schemeClr val="bg1"/>
                </a:solidFill>
              </a:rPr>
              <a:t>220</a:t>
            </a:r>
            <a:r>
              <a:rPr lang="ko-KR" altLang="en-US" sz="800" spc="-60" dirty="0">
                <a:solidFill>
                  <a:schemeClr val="bg1"/>
                </a:solidFill>
              </a:rPr>
              <a:t>억원</a:t>
            </a:r>
          </a:p>
        </p:txBody>
      </p:sp>
      <p:sp>
        <p:nvSpPr>
          <p:cNvPr id="15" name="직사각형 84">
            <a:extLst>
              <a:ext uri="{FF2B5EF4-FFF2-40B4-BE49-F238E27FC236}">
                <a16:creationId xmlns:a16="http://schemas.microsoft.com/office/drawing/2014/main" id="{ADC30677-8E10-187D-BF9E-2F30D57E00AC}"/>
              </a:ext>
            </a:extLst>
          </p:cNvPr>
          <p:cNvSpPr/>
          <p:nvPr/>
        </p:nvSpPr>
        <p:spPr>
          <a:xfrm>
            <a:off x="689675" y="2601342"/>
            <a:ext cx="8772478" cy="681163"/>
          </a:xfrm>
          <a:prstGeom prst="rect">
            <a:avLst/>
          </a:prstGeom>
          <a:noFill/>
          <a:ln w="28575">
            <a:solidFill>
              <a:srgbClr val="5CCFA0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698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E69B-3E2E-862C-FB65-5AC83A7F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1D7DD0-4608-35AC-59A4-378D4D5BAA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4E016D-723F-A189-F2B8-9420A3CA798C}"/>
              </a:ext>
            </a:extLst>
          </p:cNvPr>
          <p:cNvSpPr txBox="1"/>
          <p:nvPr/>
        </p:nvSpPr>
        <p:spPr>
          <a:xfrm>
            <a:off x="452438" y="1386550"/>
            <a:ext cx="3064942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EC66BE1-324F-28F7-D368-81E53062A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109369"/>
              </p:ext>
            </p:extLst>
          </p:nvPr>
        </p:nvGraphicFramePr>
        <p:xfrm>
          <a:off x="344438" y="2080716"/>
          <a:ext cx="360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Investment Highlights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812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Market Opportunities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spc="-50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Business Overview</a:t>
                      </a:r>
                      <a:endParaRPr lang="ko-KR" altLang="en-US" sz="1600" b="0" cap="all" spc="-50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spc="0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A. Company Overview</a:t>
                      </a:r>
                      <a:endParaRPr lang="ko-KR" altLang="en-US" sz="1600" b="0" cap="all" spc="0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563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B. Skill-to-Earn Platform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680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C. SI · ERP Solution</a:t>
                      </a:r>
                      <a:endParaRPr lang="ko-KR" altLang="en-US" sz="16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874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05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Outfit ExtraBold"/>
                          <a:ea typeface="Pretendard ExtraBold"/>
                          <a:cs typeface="+mn-cs"/>
                        </a:rPr>
                        <a:t>Financial Summary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36481"/>
                  </a:ext>
                </a:extLst>
              </a:tr>
            </a:tbl>
          </a:graphicData>
        </a:graphic>
      </p:graphicFrame>
      <p:pic>
        <p:nvPicPr>
          <p:cNvPr id="2" name="그래픽 1">
            <a:extLst>
              <a:ext uri="{FF2B5EF4-FFF2-40B4-BE49-F238E27FC236}">
                <a16:creationId xmlns:a16="http://schemas.microsoft.com/office/drawing/2014/main" id="{2145D4AB-4F99-9092-B9D8-3176F1232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0908" y="549275"/>
            <a:ext cx="1642500" cy="252000"/>
          </a:xfrm>
          <a:prstGeom prst="rect">
            <a:avLst/>
          </a:prstGeom>
        </p:spPr>
      </p:pic>
      <p:grpSp>
        <p:nvGrpSpPr>
          <p:cNvPr id="7" name="그래픽 12">
            <a:extLst>
              <a:ext uri="{FF2B5EF4-FFF2-40B4-BE49-F238E27FC236}">
                <a16:creationId xmlns:a16="http://schemas.microsoft.com/office/drawing/2014/main" id="{AAB97B26-248D-27B3-DC7F-33DA7FBA27FD}"/>
              </a:ext>
            </a:extLst>
          </p:cNvPr>
          <p:cNvGrpSpPr>
            <a:grpSpLocks noChangeAspect="1"/>
          </p:cNvGrpSpPr>
          <p:nvPr/>
        </p:nvGrpSpPr>
        <p:grpSpPr>
          <a:xfrm>
            <a:off x="452999" y="461630"/>
            <a:ext cx="1363661" cy="427290"/>
            <a:chOff x="1748076" y="1492704"/>
            <a:chExt cx="2780254" cy="871165"/>
          </a:xfrm>
          <a:solidFill>
            <a:schemeClr val="bg1"/>
          </a:solidFill>
        </p:grpSpPr>
        <p:sp>
          <p:nvSpPr>
            <p:cNvPr id="8" name="자유형: 도형 21">
              <a:extLst>
                <a:ext uri="{FF2B5EF4-FFF2-40B4-BE49-F238E27FC236}">
                  <a16:creationId xmlns:a16="http://schemas.microsoft.com/office/drawing/2014/main" id="{5E1FE68D-AAA4-0459-EF5A-D5559F308038}"/>
                </a:ext>
              </a:extLst>
            </p:cNvPr>
            <p:cNvSpPr/>
            <p:nvPr/>
          </p:nvSpPr>
          <p:spPr>
            <a:xfrm flipV="1">
              <a:off x="2956473" y="1542367"/>
              <a:ext cx="1551422" cy="303005"/>
            </a:xfrm>
            <a:custGeom>
              <a:avLst/>
              <a:gdLst>
                <a:gd name="connsiteX0" fmla="*/ 1551596 w 1551422"/>
                <a:gd name="connsiteY0" fmla="*/ 303014 h 303005"/>
                <a:gd name="connsiteX1" fmla="*/ 173 w 1551422"/>
                <a:gd name="connsiteY1" fmla="*/ 303014 h 303005"/>
                <a:gd name="connsiteX2" fmla="*/ 173 w 1551422"/>
                <a:gd name="connsiteY2" fmla="*/ 8 h 303005"/>
                <a:gd name="connsiteX3" fmla="*/ 1551596 w 1551422"/>
                <a:gd name="connsiteY3" fmla="*/ 8 h 3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22" h="303005">
                  <a:moveTo>
                    <a:pt x="1551596" y="303014"/>
                  </a:moveTo>
                  <a:lnTo>
                    <a:pt x="173" y="303014"/>
                  </a:lnTo>
                  <a:lnTo>
                    <a:pt x="173" y="8"/>
                  </a:lnTo>
                  <a:lnTo>
                    <a:pt x="1551596" y="8"/>
                  </a:lnTo>
                  <a:close/>
                </a:path>
              </a:pathLst>
            </a:custGeom>
            <a:grpFill/>
            <a:ln w="60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" name="그래픽 12">
              <a:extLst>
                <a:ext uri="{FF2B5EF4-FFF2-40B4-BE49-F238E27FC236}">
                  <a16:creationId xmlns:a16="http://schemas.microsoft.com/office/drawing/2014/main" id="{6EA80AC3-FC2B-69FD-76A6-1250C973739C}"/>
                </a:ext>
              </a:extLst>
            </p:cNvPr>
            <p:cNvGrpSpPr/>
            <p:nvPr/>
          </p:nvGrpSpPr>
          <p:grpSpPr>
            <a:xfrm>
              <a:off x="1748076" y="1492704"/>
              <a:ext cx="2780254" cy="871165"/>
              <a:chOff x="1748076" y="1492704"/>
              <a:chExt cx="2780254" cy="871165"/>
            </a:xfrm>
            <a:grpFill/>
          </p:grpSpPr>
          <p:sp>
            <p:nvSpPr>
              <p:cNvPr id="10" name="자유형: 도형 26">
                <a:extLst>
                  <a:ext uri="{FF2B5EF4-FFF2-40B4-BE49-F238E27FC236}">
                    <a16:creationId xmlns:a16="http://schemas.microsoft.com/office/drawing/2014/main" id="{A9D24BE6-731A-6255-EA0F-B7F54B33ADE8}"/>
                  </a:ext>
                </a:extLst>
              </p:cNvPr>
              <p:cNvSpPr/>
              <p:nvPr/>
            </p:nvSpPr>
            <p:spPr>
              <a:xfrm flipV="1">
                <a:off x="1751153" y="1513324"/>
                <a:ext cx="258404" cy="360962"/>
              </a:xfrm>
              <a:custGeom>
                <a:avLst/>
                <a:gdLst>
                  <a:gd name="connsiteX0" fmla="*/ 113589 w 258404"/>
                  <a:gd name="connsiteY0" fmla="*/ 179798 h 360962"/>
                  <a:gd name="connsiteX1" fmla="*/ 82826 w 258404"/>
                  <a:gd name="connsiteY1" fmla="*/ 179798 h 360962"/>
                  <a:gd name="connsiteX2" fmla="*/ 82826 w 258404"/>
                  <a:gd name="connsiteY2" fmla="*/ 7014 h 360962"/>
                  <a:gd name="connsiteX3" fmla="*/ 105382 w 258404"/>
                  <a:gd name="connsiteY3" fmla="*/ 7014 h 360962"/>
                  <a:gd name="connsiteX4" fmla="*/ 201265 w 258404"/>
                  <a:gd name="connsiteY4" fmla="*/ 94177 h 360962"/>
                  <a:gd name="connsiteX5" fmla="*/ 113589 w 258404"/>
                  <a:gd name="connsiteY5" fmla="*/ 179798 h 360962"/>
                  <a:gd name="connsiteX6" fmla="*/ 82826 w 258404"/>
                  <a:gd name="connsiteY6" fmla="*/ 354638 h 360962"/>
                  <a:gd name="connsiteX7" fmla="*/ 82826 w 258404"/>
                  <a:gd name="connsiteY7" fmla="*/ 186461 h 360962"/>
                  <a:gd name="connsiteX8" fmla="*/ 113589 w 258404"/>
                  <a:gd name="connsiteY8" fmla="*/ 186461 h 360962"/>
                  <a:gd name="connsiteX9" fmla="*/ 179215 w 258404"/>
                  <a:gd name="connsiteY9" fmla="*/ 274137 h 360962"/>
                  <a:gd name="connsiteX10" fmla="*/ 105382 w 258404"/>
                  <a:gd name="connsiteY10" fmla="*/ 354638 h 360962"/>
                  <a:gd name="connsiteX11" fmla="*/ 102820 w 258404"/>
                  <a:gd name="connsiteY11" fmla="*/ 345 h 360962"/>
                  <a:gd name="connsiteX12" fmla="*/ 280 w 258404"/>
                  <a:gd name="connsiteY12" fmla="*/ 345 h 360962"/>
                  <a:gd name="connsiteX13" fmla="*/ 280 w 258404"/>
                  <a:gd name="connsiteY13" fmla="*/ 4957 h 360962"/>
                  <a:gd name="connsiteX14" fmla="*/ 30018 w 258404"/>
                  <a:gd name="connsiteY14" fmla="*/ 61871 h 360962"/>
                  <a:gd name="connsiteX15" fmla="*/ 30018 w 258404"/>
                  <a:gd name="connsiteY15" fmla="*/ 300800 h 360962"/>
                  <a:gd name="connsiteX16" fmla="*/ 280 w 258404"/>
                  <a:gd name="connsiteY16" fmla="*/ 356688 h 360962"/>
                  <a:gd name="connsiteX17" fmla="*/ 280 w 258404"/>
                  <a:gd name="connsiteY17" fmla="*/ 361307 h 360962"/>
                  <a:gd name="connsiteX18" fmla="*/ 102820 w 258404"/>
                  <a:gd name="connsiteY18" fmla="*/ 361307 h 360962"/>
                  <a:gd name="connsiteX19" fmla="*/ 234585 w 258404"/>
                  <a:gd name="connsiteY19" fmla="*/ 273631 h 360962"/>
                  <a:gd name="connsiteX20" fmla="*/ 148964 w 258404"/>
                  <a:gd name="connsiteY20" fmla="*/ 185442 h 360962"/>
                  <a:gd name="connsiteX21" fmla="*/ 258685 w 258404"/>
                  <a:gd name="connsiteY21" fmla="*/ 92121 h 360962"/>
                  <a:gd name="connsiteX22" fmla="*/ 102820 w 258404"/>
                  <a:gd name="connsiteY22" fmla="*/ 345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8404" h="360962">
                    <a:moveTo>
                      <a:pt x="113589" y="179798"/>
                    </a:moveTo>
                    <a:lnTo>
                      <a:pt x="82826" y="179798"/>
                    </a:lnTo>
                    <a:lnTo>
                      <a:pt x="82826" y="7014"/>
                    </a:lnTo>
                    <a:lnTo>
                      <a:pt x="105382" y="7014"/>
                    </a:lnTo>
                    <a:cubicBezTo>
                      <a:pt x="154608" y="7014"/>
                      <a:pt x="201265" y="5989"/>
                      <a:pt x="201265" y="94177"/>
                    </a:cubicBezTo>
                    <a:cubicBezTo>
                      <a:pt x="201265" y="177235"/>
                      <a:pt x="151527" y="179798"/>
                      <a:pt x="113589" y="179798"/>
                    </a:cubicBezTo>
                    <a:moveTo>
                      <a:pt x="82826" y="354638"/>
                    </a:moveTo>
                    <a:lnTo>
                      <a:pt x="82826" y="186461"/>
                    </a:lnTo>
                    <a:lnTo>
                      <a:pt x="113589" y="186461"/>
                    </a:lnTo>
                    <a:cubicBezTo>
                      <a:pt x="145377" y="186461"/>
                      <a:pt x="179215" y="196204"/>
                      <a:pt x="179215" y="274137"/>
                    </a:cubicBezTo>
                    <a:cubicBezTo>
                      <a:pt x="179215" y="349507"/>
                      <a:pt x="136664" y="354638"/>
                      <a:pt x="105382" y="354638"/>
                    </a:cubicBezTo>
                    <a:close/>
                    <a:moveTo>
                      <a:pt x="102820" y="345"/>
                    </a:moveTo>
                    <a:lnTo>
                      <a:pt x="280" y="345"/>
                    </a:lnTo>
                    <a:lnTo>
                      <a:pt x="280" y="4957"/>
                    </a:lnTo>
                    <a:cubicBezTo>
                      <a:pt x="22325" y="4957"/>
                      <a:pt x="30018" y="27008"/>
                      <a:pt x="30018" y="61871"/>
                    </a:cubicBezTo>
                    <a:lnTo>
                      <a:pt x="30018" y="300800"/>
                    </a:lnTo>
                    <a:cubicBezTo>
                      <a:pt x="30018" y="332588"/>
                      <a:pt x="22837" y="356688"/>
                      <a:pt x="280" y="356688"/>
                    </a:cubicBezTo>
                    <a:lnTo>
                      <a:pt x="280" y="361307"/>
                    </a:lnTo>
                    <a:lnTo>
                      <a:pt x="102820" y="361307"/>
                    </a:lnTo>
                    <a:cubicBezTo>
                      <a:pt x="174090" y="361307"/>
                      <a:pt x="234585" y="357201"/>
                      <a:pt x="234585" y="273631"/>
                    </a:cubicBezTo>
                    <a:cubicBezTo>
                      <a:pt x="234585" y="193642"/>
                      <a:pt x="159221" y="185442"/>
                      <a:pt x="148964" y="185442"/>
                    </a:cubicBezTo>
                    <a:cubicBezTo>
                      <a:pt x="182290" y="185442"/>
                      <a:pt x="258685" y="178779"/>
                      <a:pt x="258685" y="92121"/>
                    </a:cubicBezTo>
                    <a:cubicBezTo>
                      <a:pt x="258685" y="2913"/>
                      <a:pt x="191527" y="345"/>
                      <a:pt x="102820" y="345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27">
                <a:extLst>
                  <a:ext uri="{FF2B5EF4-FFF2-40B4-BE49-F238E27FC236}">
                    <a16:creationId xmlns:a16="http://schemas.microsoft.com/office/drawing/2014/main" id="{16A9ED28-0935-421B-E8BC-199C10FE220B}"/>
                  </a:ext>
                </a:extLst>
              </p:cNvPr>
              <p:cNvSpPr/>
              <p:nvPr/>
            </p:nvSpPr>
            <p:spPr>
              <a:xfrm flipV="1">
                <a:off x="2091574" y="1492704"/>
                <a:ext cx="324112" cy="386382"/>
              </a:xfrm>
              <a:custGeom>
                <a:avLst/>
                <a:gdLst>
                  <a:gd name="connsiteX0" fmla="*/ 99962 w 324112"/>
                  <a:gd name="connsiteY0" fmla="*/ 281518 h 386382"/>
                  <a:gd name="connsiteX1" fmla="*/ 134548 w 324112"/>
                  <a:gd name="connsiteY1" fmla="*/ 228704 h 386382"/>
                  <a:gd name="connsiteX2" fmla="*/ 168151 w 324112"/>
                  <a:gd name="connsiteY2" fmla="*/ 359450 h 386382"/>
                  <a:gd name="connsiteX3" fmla="*/ 112142 w 324112"/>
                  <a:gd name="connsiteY3" fmla="*/ 374319 h 386382"/>
                  <a:gd name="connsiteX4" fmla="*/ 99962 w 324112"/>
                  <a:gd name="connsiteY4" fmla="*/ 281518 h 386382"/>
                  <a:gd name="connsiteX5" fmla="*/ 180807 w 324112"/>
                  <a:gd name="connsiteY5" fmla="*/ 76945 h 386382"/>
                  <a:gd name="connsiteX6" fmla="*/ 99962 w 324112"/>
                  <a:gd name="connsiteY6" fmla="*/ 199997 h 386382"/>
                  <a:gd name="connsiteX7" fmla="*/ 72696 w 324112"/>
                  <a:gd name="connsiteY7" fmla="*/ 182047 h 386382"/>
                  <a:gd name="connsiteX8" fmla="*/ 58575 w 324112"/>
                  <a:gd name="connsiteY8" fmla="*/ 53870 h 386382"/>
                  <a:gd name="connsiteX9" fmla="*/ 180807 w 324112"/>
                  <a:gd name="connsiteY9" fmla="*/ 76945 h 386382"/>
                  <a:gd name="connsiteX10" fmla="*/ 324468 w 324112"/>
                  <a:gd name="connsiteY10" fmla="*/ 56945 h 386382"/>
                  <a:gd name="connsiteX11" fmla="*/ 274802 w 324112"/>
                  <a:gd name="connsiteY11" fmla="*/ 550 h 386382"/>
                  <a:gd name="connsiteX12" fmla="*/ 213927 w 324112"/>
                  <a:gd name="connsiteY12" fmla="*/ 26182 h 386382"/>
                  <a:gd name="connsiteX13" fmla="*/ 185679 w 324112"/>
                  <a:gd name="connsiteY13" fmla="*/ 70789 h 386382"/>
                  <a:gd name="connsiteX14" fmla="*/ 19617 w 324112"/>
                  <a:gd name="connsiteY14" fmla="*/ 34901 h 386382"/>
                  <a:gd name="connsiteX15" fmla="*/ 68795 w 324112"/>
                  <a:gd name="connsiteY15" fmla="*/ 188203 h 386382"/>
                  <a:gd name="connsiteX16" fmla="*/ 96073 w 324112"/>
                  <a:gd name="connsiteY16" fmla="*/ 205635 h 386382"/>
                  <a:gd name="connsiteX17" fmla="*/ 71725 w 324112"/>
                  <a:gd name="connsiteY17" fmla="*/ 243573 h 386382"/>
                  <a:gd name="connsiteX18" fmla="*/ 103857 w 324112"/>
                  <a:gd name="connsiteY18" fmla="*/ 385088 h 386382"/>
                  <a:gd name="connsiteX19" fmla="*/ 173993 w 324112"/>
                  <a:gd name="connsiteY19" fmla="*/ 364069 h 386382"/>
                  <a:gd name="connsiteX20" fmla="*/ 138437 w 324112"/>
                  <a:gd name="connsiteY20" fmla="*/ 222554 h 386382"/>
                  <a:gd name="connsiteX21" fmla="*/ 203701 w 324112"/>
                  <a:gd name="connsiteY21" fmla="*/ 121040 h 386382"/>
                  <a:gd name="connsiteX22" fmla="*/ 261646 w 324112"/>
                  <a:gd name="connsiteY22" fmla="*/ 181535 h 386382"/>
                  <a:gd name="connsiteX23" fmla="*/ 291842 w 324112"/>
                  <a:gd name="connsiteY23" fmla="*/ 175897 h 386382"/>
                  <a:gd name="connsiteX24" fmla="*/ 294278 w 324112"/>
                  <a:gd name="connsiteY24" fmla="*/ 139490 h 386382"/>
                  <a:gd name="connsiteX25" fmla="*/ 259216 w 324112"/>
                  <a:gd name="connsiteY25" fmla="*/ 136421 h 386382"/>
                  <a:gd name="connsiteX26" fmla="*/ 250931 w 324112"/>
                  <a:gd name="connsiteY26" fmla="*/ 153853 h 386382"/>
                  <a:gd name="connsiteX27" fmla="*/ 207590 w 324112"/>
                  <a:gd name="connsiteY27" fmla="*/ 115396 h 386382"/>
                  <a:gd name="connsiteX28" fmla="*/ 246059 w 324112"/>
                  <a:gd name="connsiteY28" fmla="*/ 56945 h 386382"/>
                  <a:gd name="connsiteX29" fmla="*/ 285028 w 324112"/>
                  <a:gd name="connsiteY29" fmla="*/ 32845 h 386382"/>
                  <a:gd name="connsiteX30" fmla="*/ 318137 w 324112"/>
                  <a:gd name="connsiteY30" fmla="*/ 56945 h 38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24112" h="386382">
                    <a:moveTo>
                      <a:pt x="99962" y="281518"/>
                    </a:moveTo>
                    <a:lnTo>
                      <a:pt x="134548" y="228704"/>
                    </a:lnTo>
                    <a:cubicBezTo>
                      <a:pt x="199318" y="271774"/>
                      <a:pt x="192010" y="328175"/>
                      <a:pt x="168151" y="359450"/>
                    </a:cubicBezTo>
                    <a:cubicBezTo>
                      <a:pt x="154023" y="374832"/>
                      <a:pt x="131623" y="382013"/>
                      <a:pt x="112142" y="374319"/>
                    </a:cubicBezTo>
                    <a:cubicBezTo>
                      <a:pt x="82446" y="362525"/>
                      <a:pt x="76591" y="317924"/>
                      <a:pt x="99962" y="281518"/>
                    </a:cubicBezTo>
                    <a:moveTo>
                      <a:pt x="180807" y="76945"/>
                    </a:moveTo>
                    <a:lnTo>
                      <a:pt x="99962" y="199997"/>
                    </a:lnTo>
                    <a:lnTo>
                      <a:pt x="72696" y="182047"/>
                    </a:lnTo>
                    <a:cubicBezTo>
                      <a:pt x="44459" y="161540"/>
                      <a:pt x="16699" y="106165"/>
                      <a:pt x="58575" y="53870"/>
                    </a:cubicBezTo>
                    <a:cubicBezTo>
                      <a:pt x="88771" y="15932"/>
                      <a:pt x="155971" y="16957"/>
                      <a:pt x="180807" y="76945"/>
                    </a:cubicBezTo>
                    <a:moveTo>
                      <a:pt x="324468" y="56945"/>
                    </a:moveTo>
                    <a:cubicBezTo>
                      <a:pt x="323980" y="19519"/>
                      <a:pt x="297202" y="2594"/>
                      <a:pt x="274802" y="550"/>
                    </a:cubicBezTo>
                    <a:cubicBezTo>
                      <a:pt x="274802" y="550"/>
                      <a:pt x="232921" y="-3556"/>
                      <a:pt x="213927" y="26182"/>
                    </a:cubicBezTo>
                    <a:lnTo>
                      <a:pt x="185679" y="70789"/>
                    </a:lnTo>
                    <a:cubicBezTo>
                      <a:pt x="168639" y="12338"/>
                      <a:pt x="70742" y="-33807"/>
                      <a:pt x="19617" y="34901"/>
                    </a:cubicBezTo>
                    <a:cubicBezTo>
                      <a:pt x="-31031" y="103096"/>
                      <a:pt x="29844" y="164616"/>
                      <a:pt x="68795" y="188203"/>
                    </a:cubicBezTo>
                    <a:lnTo>
                      <a:pt x="96073" y="205635"/>
                    </a:lnTo>
                    <a:lnTo>
                      <a:pt x="71725" y="243573"/>
                    </a:lnTo>
                    <a:cubicBezTo>
                      <a:pt x="23513" y="312281"/>
                      <a:pt x="49325" y="374832"/>
                      <a:pt x="103857" y="385088"/>
                    </a:cubicBezTo>
                    <a:cubicBezTo>
                      <a:pt x="135518" y="390726"/>
                      <a:pt x="159378" y="381500"/>
                      <a:pt x="173993" y="364069"/>
                    </a:cubicBezTo>
                    <a:cubicBezTo>
                      <a:pt x="194934" y="338937"/>
                      <a:pt x="213433" y="275874"/>
                      <a:pt x="138437" y="222554"/>
                    </a:cubicBezTo>
                    <a:lnTo>
                      <a:pt x="203701" y="121040"/>
                    </a:lnTo>
                    <a:cubicBezTo>
                      <a:pt x="222200" y="169228"/>
                      <a:pt x="248983" y="178460"/>
                      <a:pt x="261646" y="181535"/>
                    </a:cubicBezTo>
                    <a:cubicBezTo>
                      <a:pt x="271383" y="183591"/>
                      <a:pt x="283557" y="183072"/>
                      <a:pt x="291842" y="175897"/>
                    </a:cubicBezTo>
                    <a:cubicBezTo>
                      <a:pt x="301091" y="168203"/>
                      <a:pt x="304498" y="151284"/>
                      <a:pt x="294278" y="139490"/>
                    </a:cubicBezTo>
                    <a:cubicBezTo>
                      <a:pt x="285505" y="128727"/>
                      <a:pt x="269918" y="127184"/>
                      <a:pt x="259216" y="136421"/>
                    </a:cubicBezTo>
                    <a:cubicBezTo>
                      <a:pt x="253367" y="141546"/>
                      <a:pt x="251419" y="146671"/>
                      <a:pt x="250931" y="153853"/>
                    </a:cubicBezTo>
                    <a:cubicBezTo>
                      <a:pt x="250931" y="165128"/>
                      <a:pt x="220741" y="156928"/>
                      <a:pt x="207590" y="115396"/>
                    </a:cubicBezTo>
                    <a:lnTo>
                      <a:pt x="246059" y="56945"/>
                    </a:lnTo>
                    <a:cubicBezTo>
                      <a:pt x="261646" y="33363"/>
                      <a:pt x="285028" y="32845"/>
                      <a:pt x="285028" y="32845"/>
                    </a:cubicBezTo>
                    <a:cubicBezTo>
                      <a:pt x="300120" y="32845"/>
                      <a:pt x="315701" y="39001"/>
                      <a:pt x="318137" y="56945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29">
                <a:extLst>
                  <a:ext uri="{FF2B5EF4-FFF2-40B4-BE49-F238E27FC236}">
                    <a16:creationId xmlns:a16="http://schemas.microsoft.com/office/drawing/2014/main" id="{A34252A0-3E4C-1F85-4A99-2891F7274AB7}"/>
                  </a:ext>
                </a:extLst>
              </p:cNvPr>
              <p:cNvSpPr/>
              <p:nvPr/>
            </p:nvSpPr>
            <p:spPr>
              <a:xfrm flipV="1">
                <a:off x="2427647" y="1513327"/>
                <a:ext cx="343018" cy="360956"/>
              </a:xfrm>
              <a:custGeom>
                <a:avLst/>
                <a:gdLst>
                  <a:gd name="connsiteX0" fmla="*/ 343489 w 343018"/>
                  <a:gd name="connsiteY0" fmla="*/ 361331 h 360956"/>
                  <a:gd name="connsiteX1" fmla="*/ 343489 w 343018"/>
                  <a:gd name="connsiteY1" fmla="*/ 354662 h 360956"/>
                  <a:gd name="connsiteX2" fmla="*/ 237862 w 343018"/>
                  <a:gd name="connsiteY2" fmla="*/ 241867 h 360956"/>
                  <a:gd name="connsiteX3" fmla="*/ 198899 w 343018"/>
                  <a:gd name="connsiteY3" fmla="*/ 161371 h 360956"/>
                  <a:gd name="connsiteX4" fmla="*/ 198899 w 343018"/>
                  <a:gd name="connsiteY4" fmla="*/ 57801 h 360956"/>
                  <a:gd name="connsiteX5" fmla="*/ 237349 w 343018"/>
                  <a:gd name="connsiteY5" fmla="*/ 7044 h 360956"/>
                  <a:gd name="connsiteX6" fmla="*/ 237349 w 343018"/>
                  <a:gd name="connsiteY6" fmla="*/ 375 h 360956"/>
                  <a:gd name="connsiteX7" fmla="*/ 112241 w 343018"/>
                  <a:gd name="connsiteY7" fmla="*/ 375 h 360956"/>
                  <a:gd name="connsiteX8" fmla="*/ 112241 w 343018"/>
                  <a:gd name="connsiteY8" fmla="*/ 7044 h 360956"/>
                  <a:gd name="connsiteX9" fmla="*/ 150698 w 343018"/>
                  <a:gd name="connsiteY9" fmla="*/ 57801 h 360956"/>
                  <a:gd name="connsiteX10" fmla="*/ 150698 w 343018"/>
                  <a:gd name="connsiteY10" fmla="*/ 148034 h 360956"/>
                  <a:gd name="connsiteX11" fmla="*/ 54309 w 343018"/>
                  <a:gd name="connsiteY11" fmla="*/ 315186 h 360956"/>
                  <a:gd name="connsiteX12" fmla="*/ 471 w 343018"/>
                  <a:gd name="connsiteY12" fmla="*/ 355175 h 360956"/>
                  <a:gd name="connsiteX13" fmla="*/ 471 w 343018"/>
                  <a:gd name="connsiteY13" fmla="*/ 361331 h 360956"/>
                  <a:gd name="connsiteX14" fmla="*/ 132247 w 343018"/>
                  <a:gd name="connsiteY14" fmla="*/ 361331 h 360956"/>
                  <a:gd name="connsiteX15" fmla="*/ 132247 w 343018"/>
                  <a:gd name="connsiteY15" fmla="*/ 355175 h 360956"/>
                  <a:gd name="connsiteX16" fmla="*/ 120448 w 343018"/>
                  <a:gd name="connsiteY16" fmla="*/ 297242 h 360956"/>
                  <a:gd name="connsiteX17" fmla="*/ 195824 w 343018"/>
                  <a:gd name="connsiteY17" fmla="*/ 169572 h 360956"/>
                  <a:gd name="connsiteX18" fmla="*/ 234787 w 343018"/>
                  <a:gd name="connsiteY18" fmla="*/ 249554 h 360956"/>
                  <a:gd name="connsiteX19" fmla="*/ 211718 w 343018"/>
                  <a:gd name="connsiteY19" fmla="*/ 354662 h 360956"/>
                  <a:gd name="connsiteX20" fmla="*/ 211718 w 343018"/>
                  <a:gd name="connsiteY20" fmla="*/ 361331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3018" h="360956">
                    <a:moveTo>
                      <a:pt x="343489" y="361331"/>
                    </a:moveTo>
                    <a:lnTo>
                      <a:pt x="343489" y="354662"/>
                    </a:lnTo>
                    <a:cubicBezTo>
                      <a:pt x="321444" y="354662"/>
                      <a:pt x="294775" y="354662"/>
                      <a:pt x="237862" y="241867"/>
                    </a:cubicBezTo>
                    <a:lnTo>
                      <a:pt x="198899" y="161371"/>
                    </a:lnTo>
                    <a:lnTo>
                      <a:pt x="198899" y="57801"/>
                    </a:lnTo>
                    <a:cubicBezTo>
                      <a:pt x="198899" y="16269"/>
                      <a:pt x="215818" y="7044"/>
                      <a:pt x="237349" y="7044"/>
                    </a:cubicBezTo>
                    <a:lnTo>
                      <a:pt x="237349" y="375"/>
                    </a:lnTo>
                    <a:lnTo>
                      <a:pt x="112241" y="375"/>
                    </a:lnTo>
                    <a:lnTo>
                      <a:pt x="112241" y="7044"/>
                    </a:lnTo>
                    <a:cubicBezTo>
                      <a:pt x="133785" y="7044"/>
                      <a:pt x="150698" y="16269"/>
                      <a:pt x="150698" y="57801"/>
                    </a:cubicBezTo>
                    <a:lnTo>
                      <a:pt x="150698" y="148034"/>
                    </a:lnTo>
                    <a:cubicBezTo>
                      <a:pt x="75334" y="281342"/>
                      <a:pt x="54309" y="315186"/>
                      <a:pt x="54309" y="315186"/>
                    </a:cubicBezTo>
                    <a:cubicBezTo>
                      <a:pt x="31246" y="354156"/>
                      <a:pt x="17402" y="354156"/>
                      <a:pt x="471" y="355175"/>
                    </a:cubicBezTo>
                    <a:lnTo>
                      <a:pt x="471" y="361331"/>
                    </a:lnTo>
                    <a:lnTo>
                      <a:pt x="132247" y="361331"/>
                    </a:lnTo>
                    <a:lnTo>
                      <a:pt x="132247" y="355175"/>
                    </a:lnTo>
                    <a:cubicBezTo>
                      <a:pt x="117885" y="355175"/>
                      <a:pt x="85596" y="356200"/>
                      <a:pt x="120448" y="297242"/>
                    </a:cubicBezTo>
                    <a:lnTo>
                      <a:pt x="195824" y="169572"/>
                    </a:lnTo>
                    <a:lnTo>
                      <a:pt x="234787" y="249554"/>
                    </a:lnTo>
                    <a:cubicBezTo>
                      <a:pt x="252224" y="284936"/>
                      <a:pt x="280931" y="354662"/>
                      <a:pt x="211718" y="354662"/>
                    </a:cubicBezTo>
                    <a:lnTo>
                      <a:pt x="211718" y="361331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30">
                <a:extLst>
                  <a:ext uri="{FF2B5EF4-FFF2-40B4-BE49-F238E27FC236}">
                    <a16:creationId xmlns:a16="http://schemas.microsoft.com/office/drawing/2014/main" id="{09D4E618-DA81-CD0E-1069-99A66DBB7A7F}"/>
                  </a:ext>
                </a:extLst>
              </p:cNvPr>
              <p:cNvSpPr/>
              <p:nvPr/>
            </p:nvSpPr>
            <p:spPr>
              <a:xfrm flipV="1">
                <a:off x="1748076" y="1998302"/>
                <a:ext cx="263535" cy="360956"/>
              </a:xfrm>
              <a:custGeom>
                <a:avLst/>
                <a:gdLst>
                  <a:gd name="connsiteX0" fmla="*/ 94103 w 263535"/>
                  <a:gd name="connsiteY0" fmla="*/ 161445 h 360956"/>
                  <a:gd name="connsiteX1" fmla="*/ 207930 w 263535"/>
                  <a:gd name="connsiteY1" fmla="*/ 257835 h 360956"/>
                  <a:gd name="connsiteX2" fmla="*/ 94103 w 263535"/>
                  <a:gd name="connsiteY2" fmla="*/ 354742 h 360956"/>
                  <a:gd name="connsiteX3" fmla="*/ 84878 w 263535"/>
                  <a:gd name="connsiteY3" fmla="*/ 354742 h 360956"/>
                  <a:gd name="connsiteX4" fmla="*/ 84878 w 263535"/>
                  <a:gd name="connsiteY4" fmla="*/ 161445 h 360956"/>
                  <a:gd name="connsiteX5" fmla="*/ 84878 w 263535"/>
                  <a:gd name="connsiteY5" fmla="*/ 70688 h 360956"/>
                  <a:gd name="connsiteX6" fmla="*/ 135629 w 263535"/>
                  <a:gd name="connsiteY6" fmla="*/ 7118 h 360956"/>
                  <a:gd name="connsiteX7" fmla="*/ 135629 w 263535"/>
                  <a:gd name="connsiteY7" fmla="*/ 449 h 360956"/>
                  <a:gd name="connsiteX8" fmla="*/ 277 w 263535"/>
                  <a:gd name="connsiteY8" fmla="*/ 449 h 360956"/>
                  <a:gd name="connsiteX9" fmla="*/ 277 w 263535"/>
                  <a:gd name="connsiteY9" fmla="*/ 7118 h 360956"/>
                  <a:gd name="connsiteX10" fmla="*/ 34115 w 263535"/>
                  <a:gd name="connsiteY10" fmla="*/ 69150 h 360956"/>
                  <a:gd name="connsiteX11" fmla="*/ 34115 w 263535"/>
                  <a:gd name="connsiteY11" fmla="*/ 306542 h 360956"/>
                  <a:gd name="connsiteX12" fmla="*/ 1302 w 263535"/>
                  <a:gd name="connsiteY12" fmla="*/ 354742 h 360956"/>
                  <a:gd name="connsiteX13" fmla="*/ 1302 w 263535"/>
                  <a:gd name="connsiteY13" fmla="*/ 361405 h 360956"/>
                  <a:gd name="connsiteX14" fmla="*/ 94103 w 263535"/>
                  <a:gd name="connsiteY14" fmla="*/ 361405 h 360956"/>
                  <a:gd name="connsiteX15" fmla="*/ 263813 w 263535"/>
                  <a:gd name="connsiteY15" fmla="*/ 257835 h 360956"/>
                  <a:gd name="connsiteX16" fmla="*/ 94103 w 263535"/>
                  <a:gd name="connsiteY16" fmla="*/ 154783 h 360956"/>
                  <a:gd name="connsiteX17" fmla="*/ 84878 w 263535"/>
                  <a:gd name="connsiteY17" fmla="*/ 154783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3535" h="360956">
                    <a:moveTo>
                      <a:pt x="94103" y="161445"/>
                    </a:moveTo>
                    <a:cubicBezTo>
                      <a:pt x="156660" y="161445"/>
                      <a:pt x="207930" y="162983"/>
                      <a:pt x="207930" y="257835"/>
                    </a:cubicBezTo>
                    <a:cubicBezTo>
                      <a:pt x="207930" y="355261"/>
                      <a:pt x="154092" y="354742"/>
                      <a:pt x="94103" y="354742"/>
                    </a:cubicBezTo>
                    <a:lnTo>
                      <a:pt x="84878" y="354742"/>
                    </a:lnTo>
                    <a:lnTo>
                      <a:pt x="84878" y="161445"/>
                    </a:lnTo>
                    <a:close/>
                    <a:moveTo>
                      <a:pt x="84878" y="70688"/>
                    </a:moveTo>
                    <a:cubicBezTo>
                      <a:pt x="84878" y="9162"/>
                      <a:pt x="103329" y="7118"/>
                      <a:pt x="135629" y="7118"/>
                    </a:cubicBezTo>
                    <a:lnTo>
                      <a:pt x="135629" y="449"/>
                    </a:lnTo>
                    <a:lnTo>
                      <a:pt x="277" y="449"/>
                    </a:lnTo>
                    <a:lnTo>
                      <a:pt x="277" y="7118"/>
                    </a:lnTo>
                    <a:cubicBezTo>
                      <a:pt x="25396" y="7118"/>
                      <a:pt x="34115" y="20449"/>
                      <a:pt x="34115" y="69150"/>
                    </a:cubicBezTo>
                    <a:lnTo>
                      <a:pt x="34115" y="306542"/>
                    </a:lnTo>
                    <a:cubicBezTo>
                      <a:pt x="34115" y="341923"/>
                      <a:pt x="26934" y="354742"/>
                      <a:pt x="1302" y="354742"/>
                    </a:cubicBezTo>
                    <a:lnTo>
                      <a:pt x="1302" y="361405"/>
                    </a:lnTo>
                    <a:lnTo>
                      <a:pt x="94103" y="361405"/>
                    </a:lnTo>
                    <a:cubicBezTo>
                      <a:pt x="196130" y="361405"/>
                      <a:pt x="263813" y="349099"/>
                      <a:pt x="263813" y="257835"/>
                    </a:cubicBezTo>
                    <a:cubicBezTo>
                      <a:pt x="263813" y="167089"/>
                      <a:pt x="196130" y="154783"/>
                      <a:pt x="94103" y="154783"/>
                    </a:cubicBezTo>
                    <a:lnTo>
                      <a:pt x="84878" y="154783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31">
                <a:extLst>
                  <a:ext uri="{FF2B5EF4-FFF2-40B4-BE49-F238E27FC236}">
                    <a16:creationId xmlns:a16="http://schemas.microsoft.com/office/drawing/2014/main" id="{D21932AF-3191-94D4-7F3D-2983A74BD852}"/>
                  </a:ext>
                </a:extLst>
              </p:cNvPr>
              <p:cNvSpPr/>
              <p:nvPr/>
            </p:nvSpPr>
            <p:spPr>
              <a:xfrm flipV="1">
                <a:off x="2031586" y="1998298"/>
                <a:ext cx="336343" cy="360962"/>
              </a:xfrm>
              <a:custGeom>
                <a:avLst/>
                <a:gdLst>
                  <a:gd name="connsiteX0" fmla="*/ 210577 w 336343"/>
                  <a:gd name="connsiteY0" fmla="*/ 116324 h 360962"/>
                  <a:gd name="connsiteX1" fmla="*/ 143401 w 336343"/>
                  <a:gd name="connsiteY1" fmla="*/ 286540 h 360962"/>
                  <a:gd name="connsiteX2" fmla="*/ 81368 w 336343"/>
                  <a:gd name="connsiteY2" fmla="*/ 116324 h 360962"/>
                  <a:gd name="connsiteX3" fmla="*/ 336704 w 336343"/>
                  <a:gd name="connsiteY3" fmla="*/ 442 h 360962"/>
                  <a:gd name="connsiteX4" fmla="*/ 219796 w 336343"/>
                  <a:gd name="connsiteY4" fmla="*/ 442 h 360962"/>
                  <a:gd name="connsiteX5" fmla="*/ 219796 w 336343"/>
                  <a:gd name="connsiteY5" fmla="*/ 7116 h 360962"/>
                  <a:gd name="connsiteX6" fmla="*/ 230565 w 336343"/>
                  <a:gd name="connsiteY6" fmla="*/ 65049 h 360962"/>
                  <a:gd name="connsiteX7" fmla="*/ 212627 w 336343"/>
                  <a:gd name="connsiteY7" fmla="*/ 109656 h 360962"/>
                  <a:gd name="connsiteX8" fmla="*/ 79825 w 336343"/>
                  <a:gd name="connsiteY8" fmla="*/ 109656 h 360962"/>
                  <a:gd name="connsiteX9" fmla="*/ 114700 w 336343"/>
                  <a:gd name="connsiteY9" fmla="*/ 7116 h 360962"/>
                  <a:gd name="connsiteX10" fmla="*/ 114700 w 336343"/>
                  <a:gd name="connsiteY10" fmla="*/ 442 h 360962"/>
                  <a:gd name="connsiteX11" fmla="*/ 361 w 336343"/>
                  <a:gd name="connsiteY11" fmla="*/ 442 h 360962"/>
                  <a:gd name="connsiteX12" fmla="*/ 361 w 336343"/>
                  <a:gd name="connsiteY12" fmla="*/ 7116 h 360962"/>
                  <a:gd name="connsiteX13" fmla="*/ 77268 w 336343"/>
                  <a:gd name="connsiteY13" fmla="*/ 128112 h 360962"/>
                  <a:gd name="connsiteX14" fmla="*/ 162889 w 336343"/>
                  <a:gd name="connsiteY14" fmla="*/ 361404 h 360962"/>
                  <a:gd name="connsiteX15" fmla="*/ 168520 w 336343"/>
                  <a:gd name="connsiteY15" fmla="*/ 361404 h 360962"/>
                  <a:gd name="connsiteX16" fmla="*/ 294660 w 336343"/>
                  <a:gd name="connsiteY16" fmla="*/ 48636 h 360962"/>
                  <a:gd name="connsiteX17" fmla="*/ 336704 w 336343"/>
                  <a:gd name="connsiteY17" fmla="*/ 7116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6343" h="360962">
                    <a:moveTo>
                      <a:pt x="210577" y="116324"/>
                    </a:moveTo>
                    <a:lnTo>
                      <a:pt x="143401" y="286540"/>
                    </a:lnTo>
                    <a:lnTo>
                      <a:pt x="81368" y="116324"/>
                    </a:lnTo>
                    <a:close/>
                    <a:moveTo>
                      <a:pt x="336704" y="442"/>
                    </a:moveTo>
                    <a:lnTo>
                      <a:pt x="219796" y="442"/>
                    </a:lnTo>
                    <a:lnTo>
                      <a:pt x="219796" y="7116"/>
                    </a:lnTo>
                    <a:cubicBezTo>
                      <a:pt x="247484" y="7116"/>
                      <a:pt x="242359" y="36330"/>
                      <a:pt x="230565" y="65049"/>
                    </a:cubicBezTo>
                    <a:lnTo>
                      <a:pt x="212627" y="109656"/>
                    </a:lnTo>
                    <a:lnTo>
                      <a:pt x="79825" y="109656"/>
                    </a:lnTo>
                    <a:cubicBezTo>
                      <a:pt x="65987" y="68636"/>
                      <a:pt x="43430" y="5060"/>
                      <a:pt x="114700" y="7116"/>
                    </a:cubicBezTo>
                    <a:lnTo>
                      <a:pt x="114700" y="442"/>
                    </a:lnTo>
                    <a:lnTo>
                      <a:pt x="361" y="442"/>
                    </a:lnTo>
                    <a:lnTo>
                      <a:pt x="361" y="7116"/>
                    </a:lnTo>
                    <a:cubicBezTo>
                      <a:pt x="19842" y="7623"/>
                      <a:pt x="32661" y="9679"/>
                      <a:pt x="77268" y="128112"/>
                    </a:cubicBezTo>
                    <a:lnTo>
                      <a:pt x="162889" y="361404"/>
                    </a:lnTo>
                    <a:lnTo>
                      <a:pt x="168520" y="361404"/>
                    </a:lnTo>
                    <a:cubicBezTo>
                      <a:pt x="231077" y="210664"/>
                      <a:pt x="294660" y="48636"/>
                      <a:pt x="294660" y="48636"/>
                    </a:cubicBezTo>
                    <a:cubicBezTo>
                      <a:pt x="311585" y="7623"/>
                      <a:pt x="322347" y="8141"/>
                      <a:pt x="336704" y="711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32">
                <a:extLst>
                  <a:ext uri="{FF2B5EF4-FFF2-40B4-BE49-F238E27FC236}">
                    <a16:creationId xmlns:a16="http://schemas.microsoft.com/office/drawing/2014/main" id="{8C186DA1-33C7-FBE0-9546-C8FE20FD53EC}"/>
                  </a:ext>
                </a:extLst>
              </p:cNvPr>
              <p:cNvSpPr/>
              <p:nvPr/>
            </p:nvSpPr>
            <p:spPr>
              <a:xfrm flipV="1">
                <a:off x="2424299" y="1998303"/>
                <a:ext cx="311736" cy="360956"/>
              </a:xfrm>
              <a:custGeom>
                <a:avLst/>
                <a:gdLst>
                  <a:gd name="connsiteX0" fmla="*/ 98361 w 311736"/>
                  <a:gd name="connsiteY0" fmla="*/ 354774 h 360956"/>
                  <a:gd name="connsiteX1" fmla="*/ 82461 w 311736"/>
                  <a:gd name="connsiteY1" fmla="*/ 354774 h 360956"/>
                  <a:gd name="connsiteX2" fmla="*/ 82461 w 311736"/>
                  <a:gd name="connsiteY2" fmla="*/ 172759 h 360956"/>
                  <a:gd name="connsiteX3" fmla="*/ 98361 w 311736"/>
                  <a:gd name="connsiteY3" fmla="*/ 172759 h 360956"/>
                  <a:gd name="connsiteX4" fmla="*/ 200388 w 311736"/>
                  <a:gd name="connsiteY4" fmla="*/ 263504 h 360956"/>
                  <a:gd name="connsiteX5" fmla="*/ 98361 w 311736"/>
                  <a:gd name="connsiteY5" fmla="*/ 354774 h 360956"/>
                  <a:gd name="connsiteX6" fmla="*/ 312165 w 311736"/>
                  <a:gd name="connsiteY6" fmla="*/ 481 h 360956"/>
                  <a:gd name="connsiteX7" fmla="*/ 273189 w 311736"/>
                  <a:gd name="connsiteY7" fmla="*/ 481 h 360956"/>
                  <a:gd name="connsiteX8" fmla="*/ 186037 w 311736"/>
                  <a:gd name="connsiteY8" fmla="*/ 112258 h 360956"/>
                  <a:gd name="connsiteX9" fmla="*/ 106561 w 311736"/>
                  <a:gd name="connsiteY9" fmla="*/ 166090 h 360956"/>
                  <a:gd name="connsiteX10" fmla="*/ 82461 w 311736"/>
                  <a:gd name="connsiteY10" fmla="*/ 166090 h 360956"/>
                  <a:gd name="connsiteX11" fmla="*/ 82461 w 311736"/>
                  <a:gd name="connsiteY11" fmla="*/ 53807 h 360956"/>
                  <a:gd name="connsiteX12" fmla="*/ 115280 w 311736"/>
                  <a:gd name="connsiteY12" fmla="*/ 7156 h 360956"/>
                  <a:gd name="connsiteX13" fmla="*/ 115280 w 311736"/>
                  <a:gd name="connsiteY13" fmla="*/ 481 h 360956"/>
                  <a:gd name="connsiteX14" fmla="*/ 428 w 311736"/>
                  <a:gd name="connsiteY14" fmla="*/ 481 h 360956"/>
                  <a:gd name="connsiteX15" fmla="*/ 428 w 311736"/>
                  <a:gd name="connsiteY15" fmla="*/ 7156 h 360956"/>
                  <a:gd name="connsiteX16" fmla="*/ 32210 w 311736"/>
                  <a:gd name="connsiteY16" fmla="*/ 60470 h 360956"/>
                  <a:gd name="connsiteX17" fmla="*/ 32210 w 311736"/>
                  <a:gd name="connsiteY17" fmla="*/ 315811 h 360956"/>
                  <a:gd name="connsiteX18" fmla="*/ 428 w 311736"/>
                  <a:gd name="connsiteY18" fmla="*/ 354774 h 360956"/>
                  <a:gd name="connsiteX19" fmla="*/ 428 w 311736"/>
                  <a:gd name="connsiteY19" fmla="*/ 361437 h 360956"/>
                  <a:gd name="connsiteX20" fmla="*/ 98361 w 311736"/>
                  <a:gd name="connsiteY20" fmla="*/ 361437 h 360956"/>
                  <a:gd name="connsiteX21" fmla="*/ 256777 w 311736"/>
                  <a:gd name="connsiteY21" fmla="*/ 263504 h 360956"/>
                  <a:gd name="connsiteX22" fmla="*/ 161425 w 311736"/>
                  <a:gd name="connsiteY22" fmla="*/ 169684 h 360956"/>
                  <a:gd name="connsiteX23" fmla="*/ 257301 w 311736"/>
                  <a:gd name="connsiteY23" fmla="*/ 52269 h 360956"/>
                  <a:gd name="connsiteX24" fmla="*/ 312165 w 311736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6" h="360956">
                    <a:moveTo>
                      <a:pt x="98361" y="354774"/>
                    </a:moveTo>
                    <a:lnTo>
                      <a:pt x="82461" y="354774"/>
                    </a:lnTo>
                    <a:lnTo>
                      <a:pt x="82461" y="172759"/>
                    </a:lnTo>
                    <a:lnTo>
                      <a:pt x="98361" y="172759"/>
                    </a:lnTo>
                    <a:cubicBezTo>
                      <a:pt x="156293" y="172759"/>
                      <a:pt x="200388" y="172252"/>
                      <a:pt x="200388" y="263504"/>
                    </a:cubicBezTo>
                    <a:cubicBezTo>
                      <a:pt x="200388" y="356831"/>
                      <a:pt x="153224" y="354774"/>
                      <a:pt x="98361" y="354774"/>
                    </a:cubicBezTo>
                    <a:moveTo>
                      <a:pt x="312165" y="481"/>
                    </a:moveTo>
                    <a:lnTo>
                      <a:pt x="273189" y="481"/>
                    </a:lnTo>
                    <a:cubicBezTo>
                      <a:pt x="207557" y="481"/>
                      <a:pt x="215257" y="994"/>
                      <a:pt x="186037" y="112258"/>
                    </a:cubicBezTo>
                    <a:cubicBezTo>
                      <a:pt x="171669" y="166090"/>
                      <a:pt x="119887" y="166090"/>
                      <a:pt x="106561" y="166090"/>
                    </a:cubicBezTo>
                    <a:lnTo>
                      <a:pt x="82461" y="166090"/>
                    </a:lnTo>
                    <a:lnTo>
                      <a:pt x="82461" y="53807"/>
                    </a:lnTo>
                    <a:cubicBezTo>
                      <a:pt x="82461" y="18431"/>
                      <a:pt x="93742" y="7156"/>
                      <a:pt x="115280" y="7156"/>
                    </a:cubicBezTo>
                    <a:lnTo>
                      <a:pt x="115280" y="481"/>
                    </a:lnTo>
                    <a:lnTo>
                      <a:pt x="428" y="481"/>
                    </a:lnTo>
                    <a:lnTo>
                      <a:pt x="428" y="7156"/>
                    </a:lnTo>
                    <a:cubicBezTo>
                      <a:pt x="22479" y="7156"/>
                      <a:pt x="32210" y="17406"/>
                      <a:pt x="32210" y="60470"/>
                    </a:cubicBezTo>
                    <a:lnTo>
                      <a:pt x="32210" y="315811"/>
                    </a:lnTo>
                    <a:cubicBezTo>
                      <a:pt x="32210" y="347599"/>
                      <a:pt x="22985" y="354774"/>
                      <a:pt x="428" y="354774"/>
                    </a:cubicBezTo>
                    <a:lnTo>
                      <a:pt x="428" y="361437"/>
                    </a:lnTo>
                    <a:lnTo>
                      <a:pt x="98361" y="361437"/>
                    </a:lnTo>
                    <a:cubicBezTo>
                      <a:pt x="200388" y="361437"/>
                      <a:pt x="256777" y="349131"/>
                      <a:pt x="256777" y="263504"/>
                    </a:cubicBezTo>
                    <a:cubicBezTo>
                      <a:pt x="256777" y="193778"/>
                      <a:pt x="216801" y="173265"/>
                      <a:pt x="161425" y="169684"/>
                    </a:cubicBezTo>
                    <a:cubicBezTo>
                      <a:pt x="195257" y="168146"/>
                      <a:pt x="230638" y="164553"/>
                      <a:pt x="257301" y="52269"/>
                    </a:cubicBezTo>
                    <a:cubicBezTo>
                      <a:pt x="266533" y="13300"/>
                      <a:pt x="298833" y="8181"/>
                      <a:pt x="312165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33">
                <a:extLst>
                  <a:ext uri="{FF2B5EF4-FFF2-40B4-BE49-F238E27FC236}">
                    <a16:creationId xmlns:a16="http://schemas.microsoft.com/office/drawing/2014/main" id="{664C2B2D-56C2-D36D-13B9-7CBC22C3290A}"/>
                  </a:ext>
                </a:extLst>
              </p:cNvPr>
              <p:cNvSpPr/>
              <p:nvPr/>
            </p:nvSpPr>
            <p:spPr>
              <a:xfrm flipV="1">
                <a:off x="2770871" y="1998301"/>
                <a:ext cx="313786" cy="360956"/>
              </a:xfrm>
              <a:custGeom>
                <a:avLst/>
                <a:gdLst>
                  <a:gd name="connsiteX0" fmla="*/ 314327 w 313786"/>
                  <a:gd name="connsiteY0" fmla="*/ 361438 h 360956"/>
                  <a:gd name="connsiteX1" fmla="*/ 314327 w 313786"/>
                  <a:gd name="connsiteY1" fmla="*/ 271199 h 360956"/>
                  <a:gd name="connsiteX2" fmla="*/ 307671 w 313786"/>
                  <a:gd name="connsiteY2" fmla="*/ 271199 h 360956"/>
                  <a:gd name="connsiteX3" fmla="*/ 212813 w 313786"/>
                  <a:gd name="connsiteY3" fmla="*/ 354776 h 360956"/>
                  <a:gd name="connsiteX4" fmla="*/ 182556 w 313786"/>
                  <a:gd name="connsiteY4" fmla="*/ 354776 h 360956"/>
                  <a:gd name="connsiteX5" fmla="*/ 182556 w 313786"/>
                  <a:gd name="connsiteY5" fmla="*/ 50214 h 360956"/>
                  <a:gd name="connsiteX6" fmla="*/ 219988 w 313786"/>
                  <a:gd name="connsiteY6" fmla="*/ 7151 h 360956"/>
                  <a:gd name="connsiteX7" fmla="*/ 219988 w 313786"/>
                  <a:gd name="connsiteY7" fmla="*/ 482 h 360956"/>
                  <a:gd name="connsiteX8" fmla="*/ 94886 w 313786"/>
                  <a:gd name="connsiteY8" fmla="*/ 482 h 360956"/>
                  <a:gd name="connsiteX9" fmla="*/ 94886 w 313786"/>
                  <a:gd name="connsiteY9" fmla="*/ 7151 h 360956"/>
                  <a:gd name="connsiteX10" fmla="*/ 131799 w 313786"/>
                  <a:gd name="connsiteY10" fmla="*/ 50214 h 360956"/>
                  <a:gd name="connsiteX11" fmla="*/ 131799 w 313786"/>
                  <a:gd name="connsiteY11" fmla="*/ 354776 h 360956"/>
                  <a:gd name="connsiteX12" fmla="*/ 101549 w 313786"/>
                  <a:gd name="connsiteY12" fmla="*/ 354776 h 360956"/>
                  <a:gd name="connsiteX13" fmla="*/ 7209 w 313786"/>
                  <a:gd name="connsiteY13" fmla="*/ 271199 h 360956"/>
                  <a:gd name="connsiteX14" fmla="*/ 541 w 313786"/>
                  <a:gd name="connsiteY14" fmla="*/ 271199 h 360956"/>
                  <a:gd name="connsiteX15" fmla="*/ 541 w 313786"/>
                  <a:gd name="connsiteY15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3786" h="360956">
                    <a:moveTo>
                      <a:pt x="314327" y="361438"/>
                    </a:moveTo>
                    <a:lnTo>
                      <a:pt x="314327" y="271199"/>
                    </a:lnTo>
                    <a:lnTo>
                      <a:pt x="307671" y="271199"/>
                    </a:lnTo>
                    <a:cubicBezTo>
                      <a:pt x="305614" y="353751"/>
                      <a:pt x="219988" y="354776"/>
                      <a:pt x="212813" y="354776"/>
                    </a:cubicBezTo>
                    <a:lnTo>
                      <a:pt x="182556" y="354776"/>
                    </a:lnTo>
                    <a:lnTo>
                      <a:pt x="182556" y="50214"/>
                    </a:lnTo>
                    <a:cubicBezTo>
                      <a:pt x="182556" y="16376"/>
                      <a:pt x="198456" y="7151"/>
                      <a:pt x="219988" y="7151"/>
                    </a:cubicBezTo>
                    <a:lnTo>
                      <a:pt x="219988" y="482"/>
                    </a:lnTo>
                    <a:lnTo>
                      <a:pt x="94886" y="482"/>
                    </a:lnTo>
                    <a:lnTo>
                      <a:pt x="94886" y="7151"/>
                    </a:lnTo>
                    <a:cubicBezTo>
                      <a:pt x="116424" y="7151"/>
                      <a:pt x="131799" y="16376"/>
                      <a:pt x="131799" y="50214"/>
                    </a:cubicBezTo>
                    <a:lnTo>
                      <a:pt x="131799" y="354776"/>
                    </a:lnTo>
                    <a:lnTo>
                      <a:pt x="101549" y="354776"/>
                    </a:lnTo>
                    <a:cubicBezTo>
                      <a:pt x="85649" y="354776"/>
                      <a:pt x="9266" y="353751"/>
                      <a:pt x="7209" y="271199"/>
                    </a:cubicBezTo>
                    <a:lnTo>
                      <a:pt x="541" y="271199"/>
                    </a:lnTo>
                    <a:lnTo>
                      <a:pt x="541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34">
                <a:extLst>
                  <a:ext uri="{FF2B5EF4-FFF2-40B4-BE49-F238E27FC236}">
                    <a16:creationId xmlns:a16="http://schemas.microsoft.com/office/drawing/2014/main" id="{8D6429A5-5E5C-83FB-7BDE-A8C13D87AD45}"/>
                  </a:ext>
                </a:extLst>
              </p:cNvPr>
              <p:cNvSpPr/>
              <p:nvPr/>
            </p:nvSpPr>
            <p:spPr>
              <a:xfrm flipV="1">
                <a:off x="3131802" y="1998301"/>
                <a:ext cx="395813" cy="360956"/>
              </a:xfrm>
              <a:custGeom>
                <a:avLst/>
                <a:gdLst>
                  <a:gd name="connsiteX0" fmla="*/ 396450 w 395813"/>
                  <a:gd name="connsiteY0" fmla="*/ 361438 h 360956"/>
                  <a:gd name="connsiteX1" fmla="*/ 396450 w 395813"/>
                  <a:gd name="connsiteY1" fmla="*/ 355288 h 360956"/>
                  <a:gd name="connsiteX2" fmla="*/ 323654 w 395813"/>
                  <a:gd name="connsiteY2" fmla="*/ 233773 h 360956"/>
                  <a:gd name="connsiteX3" fmla="*/ 323654 w 395813"/>
                  <a:gd name="connsiteY3" fmla="*/ 482 h 360956"/>
                  <a:gd name="connsiteX4" fmla="*/ 307248 w 395813"/>
                  <a:gd name="connsiteY4" fmla="*/ 482 h 360956"/>
                  <a:gd name="connsiteX5" fmla="*/ 89332 w 395813"/>
                  <a:gd name="connsiteY5" fmla="*/ 281456 h 360956"/>
                  <a:gd name="connsiteX6" fmla="*/ 89332 w 395813"/>
                  <a:gd name="connsiteY6" fmla="*/ 128665 h 360956"/>
                  <a:gd name="connsiteX7" fmla="*/ 156508 w 395813"/>
                  <a:gd name="connsiteY7" fmla="*/ 7151 h 360956"/>
                  <a:gd name="connsiteX8" fmla="*/ 156508 w 395813"/>
                  <a:gd name="connsiteY8" fmla="*/ 482 h 360956"/>
                  <a:gd name="connsiteX9" fmla="*/ 8324 w 395813"/>
                  <a:gd name="connsiteY9" fmla="*/ 482 h 360956"/>
                  <a:gd name="connsiteX10" fmla="*/ 8324 w 395813"/>
                  <a:gd name="connsiteY10" fmla="*/ 7151 h 360956"/>
                  <a:gd name="connsiteX11" fmla="*/ 82675 w 395813"/>
                  <a:gd name="connsiteY11" fmla="*/ 128665 h 360956"/>
                  <a:gd name="connsiteX12" fmla="*/ 82675 w 395813"/>
                  <a:gd name="connsiteY12" fmla="*/ 289143 h 360956"/>
                  <a:gd name="connsiteX13" fmla="*/ 61650 w 395813"/>
                  <a:gd name="connsiteY13" fmla="*/ 316319 h 360956"/>
                  <a:gd name="connsiteX14" fmla="*/ 636 w 395813"/>
                  <a:gd name="connsiteY14" fmla="*/ 355288 h 360956"/>
                  <a:gd name="connsiteX15" fmla="*/ 636 w 395813"/>
                  <a:gd name="connsiteY15" fmla="*/ 361438 h 360956"/>
                  <a:gd name="connsiteX16" fmla="*/ 95488 w 395813"/>
                  <a:gd name="connsiteY16" fmla="*/ 361438 h 360956"/>
                  <a:gd name="connsiteX17" fmla="*/ 316979 w 395813"/>
                  <a:gd name="connsiteY17" fmla="*/ 75346 h 360956"/>
                  <a:gd name="connsiteX18" fmla="*/ 316979 w 395813"/>
                  <a:gd name="connsiteY18" fmla="*/ 233773 h 360956"/>
                  <a:gd name="connsiteX19" fmla="*/ 249822 w 395813"/>
                  <a:gd name="connsiteY19" fmla="*/ 355288 h 360956"/>
                  <a:gd name="connsiteX20" fmla="*/ 249822 w 395813"/>
                  <a:gd name="connsiteY20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5813" h="360956">
                    <a:moveTo>
                      <a:pt x="396450" y="361438"/>
                    </a:moveTo>
                    <a:lnTo>
                      <a:pt x="396450" y="355288"/>
                    </a:lnTo>
                    <a:cubicBezTo>
                      <a:pt x="322111" y="355288"/>
                      <a:pt x="323654" y="281456"/>
                      <a:pt x="323654" y="233773"/>
                    </a:cubicBezTo>
                    <a:lnTo>
                      <a:pt x="323654" y="482"/>
                    </a:lnTo>
                    <a:lnTo>
                      <a:pt x="307248" y="482"/>
                    </a:lnTo>
                    <a:lnTo>
                      <a:pt x="89332" y="281456"/>
                    </a:lnTo>
                    <a:lnTo>
                      <a:pt x="89332" y="128665"/>
                    </a:lnTo>
                    <a:cubicBezTo>
                      <a:pt x="89332" y="83546"/>
                      <a:pt x="89332" y="7151"/>
                      <a:pt x="156508" y="7151"/>
                    </a:cubicBezTo>
                    <a:lnTo>
                      <a:pt x="156508" y="482"/>
                    </a:lnTo>
                    <a:lnTo>
                      <a:pt x="8324" y="482"/>
                    </a:lnTo>
                    <a:lnTo>
                      <a:pt x="8324" y="7151"/>
                    </a:lnTo>
                    <a:cubicBezTo>
                      <a:pt x="82675" y="7151"/>
                      <a:pt x="82675" y="82515"/>
                      <a:pt x="82675" y="128665"/>
                    </a:cubicBezTo>
                    <a:lnTo>
                      <a:pt x="82675" y="289143"/>
                    </a:lnTo>
                    <a:lnTo>
                      <a:pt x="61650" y="316319"/>
                    </a:lnTo>
                    <a:cubicBezTo>
                      <a:pt x="28837" y="357332"/>
                      <a:pt x="13968" y="354263"/>
                      <a:pt x="636" y="355288"/>
                    </a:cubicBezTo>
                    <a:lnTo>
                      <a:pt x="636" y="361438"/>
                    </a:lnTo>
                    <a:lnTo>
                      <a:pt x="95488" y="361438"/>
                    </a:lnTo>
                    <a:lnTo>
                      <a:pt x="316979" y="75346"/>
                    </a:lnTo>
                    <a:lnTo>
                      <a:pt x="316979" y="233773"/>
                    </a:lnTo>
                    <a:cubicBezTo>
                      <a:pt x="316979" y="281456"/>
                      <a:pt x="317498" y="355288"/>
                      <a:pt x="249822" y="355288"/>
                    </a:cubicBezTo>
                    <a:lnTo>
                      <a:pt x="249822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35">
                <a:extLst>
                  <a:ext uri="{FF2B5EF4-FFF2-40B4-BE49-F238E27FC236}">
                    <a16:creationId xmlns:a16="http://schemas.microsoft.com/office/drawing/2014/main" id="{22065B6F-BBE3-7F56-7DC2-3F9FEEB85CC8}"/>
                  </a:ext>
                </a:extLst>
              </p:cNvPr>
              <p:cNvSpPr/>
              <p:nvPr/>
            </p:nvSpPr>
            <p:spPr>
              <a:xfrm flipV="1">
                <a:off x="3587578" y="1998299"/>
                <a:ext cx="257892" cy="360956"/>
              </a:xfrm>
              <a:custGeom>
                <a:avLst/>
                <a:gdLst>
                  <a:gd name="connsiteX0" fmla="*/ 258603 w 257892"/>
                  <a:gd name="connsiteY0" fmla="*/ 107086 h 360956"/>
                  <a:gd name="connsiteX1" fmla="*/ 258603 w 257892"/>
                  <a:gd name="connsiteY1" fmla="*/ 440 h 360956"/>
                  <a:gd name="connsiteX2" fmla="*/ 711 w 257892"/>
                  <a:gd name="connsiteY2" fmla="*/ 440 h 360956"/>
                  <a:gd name="connsiteX3" fmla="*/ 711 w 257892"/>
                  <a:gd name="connsiteY3" fmla="*/ 7109 h 360956"/>
                  <a:gd name="connsiteX4" fmla="*/ 28392 w 257892"/>
                  <a:gd name="connsiteY4" fmla="*/ 60429 h 360956"/>
                  <a:gd name="connsiteX5" fmla="*/ 28392 w 257892"/>
                  <a:gd name="connsiteY5" fmla="*/ 306533 h 360956"/>
                  <a:gd name="connsiteX6" fmla="*/ 711 w 257892"/>
                  <a:gd name="connsiteY6" fmla="*/ 354727 h 360956"/>
                  <a:gd name="connsiteX7" fmla="*/ 711 w 257892"/>
                  <a:gd name="connsiteY7" fmla="*/ 361396 h 360956"/>
                  <a:gd name="connsiteX8" fmla="*/ 251946 w 257892"/>
                  <a:gd name="connsiteY8" fmla="*/ 361396 h 360956"/>
                  <a:gd name="connsiteX9" fmla="*/ 251946 w 257892"/>
                  <a:gd name="connsiteY9" fmla="*/ 269101 h 360956"/>
                  <a:gd name="connsiteX10" fmla="*/ 245283 w 257892"/>
                  <a:gd name="connsiteY10" fmla="*/ 269101 h 360956"/>
                  <a:gd name="connsiteX11" fmla="*/ 108900 w 257892"/>
                  <a:gd name="connsiteY11" fmla="*/ 354727 h 360956"/>
                  <a:gd name="connsiteX12" fmla="*/ 81212 w 257892"/>
                  <a:gd name="connsiteY12" fmla="*/ 354727 h 360956"/>
                  <a:gd name="connsiteX13" fmla="*/ 81212 w 257892"/>
                  <a:gd name="connsiteY13" fmla="*/ 186049 h 360956"/>
                  <a:gd name="connsiteX14" fmla="*/ 114531 w 257892"/>
                  <a:gd name="connsiteY14" fmla="*/ 186049 h 360956"/>
                  <a:gd name="connsiteX15" fmla="*/ 185295 w 257892"/>
                  <a:gd name="connsiteY15" fmla="*/ 237831 h 360956"/>
                  <a:gd name="connsiteX16" fmla="*/ 191951 w 257892"/>
                  <a:gd name="connsiteY16" fmla="*/ 237831 h 360956"/>
                  <a:gd name="connsiteX17" fmla="*/ 191951 w 257892"/>
                  <a:gd name="connsiteY17" fmla="*/ 127592 h 360956"/>
                  <a:gd name="connsiteX18" fmla="*/ 185295 w 257892"/>
                  <a:gd name="connsiteY18" fmla="*/ 127592 h 360956"/>
                  <a:gd name="connsiteX19" fmla="*/ 114531 w 257892"/>
                  <a:gd name="connsiteY19" fmla="*/ 179380 h 360956"/>
                  <a:gd name="connsiteX20" fmla="*/ 81212 w 257892"/>
                  <a:gd name="connsiteY20" fmla="*/ 179380 h 360956"/>
                  <a:gd name="connsiteX21" fmla="*/ 81212 w 257892"/>
                  <a:gd name="connsiteY21" fmla="*/ 7109 h 360956"/>
                  <a:gd name="connsiteX22" fmla="*/ 104787 w 257892"/>
                  <a:gd name="connsiteY22" fmla="*/ 7109 h 360956"/>
                  <a:gd name="connsiteX23" fmla="*/ 251946 w 257892"/>
                  <a:gd name="connsiteY23" fmla="*/ 10708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7892" h="360956">
                    <a:moveTo>
                      <a:pt x="258603" y="107086"/>
                    </a:moveTo>
                    <a:lnTo>
                      <a:pt x="258603" y="440"/>
                    </a:lnTo>
                    <a:lnTo>
                      <a:pt x="711" y="440"/>
                    </a:lnTo>
                    <a:lnTo>
                      <a:pt x="711" y="7109"/>
                    </a:lnTo>
                    <a:cubicBezTo>
                      <a:pt x="22242" y="7109"/>
                      <a:pt x="28392" y="25559"/>
                      <a:pt x="28392" y="60429"/>
                    </a:cubicBezTo>
                    <a:lnTo>
                      <a:pt x="28392" y="306533"/>
                    </a:lnTo>
                    <a:cubicBezTo>
                      <a:pt x="28392" y="338327"/>
                      <a:pt x="23267" y="354727"/>
                      <a:pt x="711" y="354727"/>
                    </a:cubicBezTo>
                    <a:lnTo>
                      <a:pt x="711" y="361396"/>
                    </a:lnTo>
                    <a:lnTo>
                      <a:pt x="251946" y="361396"/>
                    </a:lnTo>
                    <a:lnTo>
                      <a:pt x="251946" y="269101"/>
                    </a:lnTo>
                    <a:lnTo>
                      <a:pt x="245283" y="269101"/>
                    </a:lnTo>
                    <a:cubicBezTo>
                      <a:pt x="239121" y="353702"/>
                      <a:pt x="150426" y="354727"/>
                      <a:pt x="108900" y="354727"/>
                    </a:cubicBezTo>
                    <a:lnTo>
                      <a:pt x="81212" y="354727"/>
                    </a:lnTo>
                    <a:lnTo>
                      <a:pt x="81212" y="186049"/>
                    </a:lnTo>
                    <a:lnTo>
                      <a:pt x="114531" y="186049"/>
                    </a:lnTo>
                    <a:cubicBezTo>
                      <a:pt x="128375" y="186049"/>
                      <a:pt x="182726" y="186049"/>
                      <a:pt x="185295" y="237831"/>
                    </a:cubicBezTo>
                    <a:lnTo>
                      <a:pt x="191951" y="237831"/>
                    </a:lnTo>
                    <a:lnTo>
                      <a:pt x="191951" y="127592"/>
                    </a:lnTo>
                    <a:lnTo>
                      <a:pt x="185295" y="127592"/>
                    </a:lnTo>
                    <a:cubicBezTo>
                      <a:pt x="182726" y="178862"/>
                      <a:pt x="127344" y="179380"/>
                      <a:pt x="114531" y="179380"/>
                    </a:cubicBezTo>
                    <a:lnTo>
                      <a:pt x="81212" y="179380"/>
                    </a:lnTo>
                    <a:lnTo>
                      <a:pt x="81212" y="7109"/>
                    </a:lnTo>
                    <a:lnTo>
                      <a:pt x="104787" y="7109"/>
                    </a:lnTo>
                    <a:cubicBezTo>
                      <a:pt x="150426" y="7109"/>
                      <a:pt x="241171" y="4540"/>
                      <a:pt x="251946" y="10708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36">
                <a:extLst>
                  <a:ext uri="{FF2B5EF4-FFF2-40B4-BE49-F238E27FC236}">
                    <a16:creationId xmlns:a16="http://schemas.microsoft.com/office/drawing/2014/main" id="{DCAC4A88-87F0-F164-BC7B-DC7A7BAD5BBC}"/>
                  </a:ext>
                </a:extLst>
              </p:cNvPr>
              <p:cNvSpPr/>
              <p:nvPr/>
            </p:nvSpPr>
            <p:spPr>
              <a:xfrm flipV="1">
                <a:off x="3923379" y="1998303"/>
                <a:ext cx="311730" cy="360956"/>
              </a:xfrm>
              <a:custGeom>
                <a:avLst/>
                <a:gdLst>
                  <a:gd name="connsiteX0" fmla="*/ 98693 w 311730"/>
                  <a:gd name="connsiteY0" fmla="*/ 354774 h 360956"/>
                  <a:gd name="connsiteX1" fmla="*/ 82792 w 311730"/>
                  <a:gd name="connsiteY1" fmla="*/ 354774 h 360956"/>
                  <a:gd name="connsiteX2" fmla="*/ 82792 w 311730"/>
                  <a:gd name="connsiteY2" fmla="*/ 172759 h 360956"/>
                  <a:gd name="connsiteX3" fmla="*/ 98693 w 311730"/>
                  <a:gd name="connsiteY3" fmla="*/ 172759 h 360956"/>
                  <a:gd name="connsiteX4" fmla="*/ 200719 w 311730"/>
                  <a:gd name="connsiteY4" fmla="*/ 263504 h 360956"/>
                  <a:gd name="connsiteX5" fmla="*/ 98693 w 311730"/>
                  <a:gd name="connsiteY5" fmla="*/ 354774 h 360956"/>
                  <a:gd name="connsiteX6" fmla="*/ 312490 w 311730"/>
                  <a:gd name="connsiteY6" fmla="*/ 481 h 360956"/>
                  <a:gd name="connsiteX7" fmla="*/ 273527 w 311730"/>
                  <a:gd name="connsiteY7" fmla="*/ 481 h 360956"/>
                  <a:gd name="connsiteX8" fmla="*/ 186363 w 311730"/>
                  <a:gd name="connsiteY8" fmla="*/ 112258 h 360956"/>
                  <a:gd name="connsiteX9" fmla="*/ 106893 w 311730"/>
                  <a:gd name="connsiteY9" fmla="*/ 166090 h 360956"/>
                  <a:gd name="connsiteX10" fmla="*/ 82792 w 311730"/>
                  <a:gd name="connsiteY10" fmla="*/ 166090 h 360956"/>
                  <a:gd name="connsiteX11" fmla="*/ 82792 w 311730"/>
                  <a:gd name="connsiteY11" fmla="*/ 53807 h 360956"/>
                  <a:gd name="connsiteX12" fmla="*/ 115612 w 311730"/>
                  <a:gd name="connsiteY12" fmla="*/ 7156 h 360956"/>
                  <a:gd name="connsiteX13" fmla="*/ 115612 w 311730"/>
                  <a:gd name="connsiteY13" fmla="*/ 481 h 360956"/>
                  <a:gd name="connsiteX14" fmla="*/ 760 w 311730"/>
                  <a:gd name="connsiteY14" fmla="*/ 481 h 360956"/>
                  <a:gd name="connsiteX15" fmla="*/ 760 w 311730"/>
                  <a:gd name="connsiteY15" fmla="*/ 7156 h 360956"/>
                  <a:gd name="connsiteX16" fmla="*/ 32548 w 311730"/>
                  <a:gd name="connsiteY16" fmla="*/ 60470 h 360956"/>
                  <a:gd name="connsiteX17" fmla="*/ 32548 w 311730"/>
                  <a:gd name="connsiteY17" fmla="*/ 315811 h 360956"/>
                  <a:gd name="connsiteX18" fmla="*/ 760 w 311730"/>
                  <a:gd name="connsiteY18" fmla="*/ 354774 h 360956"/>
                  <a:gd name="connsiteX19" fmla="*/ 760 w 311730"/>
                  <a:gd name="connsiteY19" fmla="*/ 361437 h 360956"/>
                  <a:gd name="connsiteX20" fmla="*/ 98693 w 311730"/>
                  <a:gd name="connsiteY20" fmla="*/ 361437 h 360956"/>
                  <a:gd name="connsiteX21" fmla="*/ 257120 w 311730"/>
                  <a:gd name="connsiteY21" fmla="*/ 263504 h 360956"/>
                  <a:gd name="connsiteX22" fmla="*/ 161756 w 311730"/>
                  <a:gd name="connsiteY22" fmla="*/ 169684 h 360956"/>
                  <a:gd name="connsiteX23" fmla="*/ 257627 w 311730"/>
                  <a:gd name="connsiteY23" fmla="*/ 52269 h 360956"/>
                  <a:gd name="connsiteX24" fmla="*/ 312490 w 311730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0" h="360956">
                    <a:moveTo>
                      <a:pt x="98693" y="354774"/>
                    </a:moveTo>
                    <a:lnTo>
                      <a:pt x="82792" y="354774"/>
                    </a:lnTo>
                    <a:lnTo>
                      <a:pt x="82792" y="172759"/>
                    </a:lnTo>
                    <a:lnTo>
                      <a:pt x="98693" y="172759"/>
                    </a:lnTo>
                    <a:cubicBezTo>
                      <a:pt x="156625" y="172759"/>
                      <a:pt x="200719" y="172252"/>
                      <a:pt x="200719" y="263504"/>
                    </a:cubicBezTo>
                    <a:cubicBezTo>
                      <a:pt x="200719" y="356831"/>
                      <a:pt x="153550" y="354774"/>
                      <a:pt x="98693" y="354774"/>
                    </a:cubicBezTo>
                    <a:moveTo>
                      <a:pt x="312490" y="481"/>
                    </a:moveTo>
                    <a:lnTo>
                      <a:pt x="273527" y="481"/>
                    </a:lnTo>
                    <a:cubicBezTo>
                      <a:pt x="207901" y="481"/>
                      <a:pt x="215594" y="994"/>
                      <a:pt x="186363" y="112258"/>
                    </a:cubicBezTo>
                    <a:cubicBezTo>
                      <a:pt x="172012" y="166090"/>
                      <a:pt x="120224" y="166090"/>
                      <a:pt x="106893" y="166090"/>
                    </a:cubicBezTo>
                    <a:lnTo>
                      <a:pt x="82792" y="166090"/>
                    </a:lnTo>
                    <a:lnTo>
                      <a:pt x="82792" y="53807"/>
                    </a:lnTo>
                    <a:cubicBezTo>
                      <a:pt x="82792" y="18431"/>
                      <a:pt x="94068" y="7156"/>
                      <a:pt x="115612" y="7156"/>
                    </a:cubicBezTo>
                    <a:lnTo>
                      <a:pt x="115612" y="481"/>
                    </a:lnTo>
                    <a:lnTo>
                      <a:pt x="760" y="481"/>
                    </a:lnTo>
                    <a:lnTo>
                      <a:pt x="760" y="7156"/>
                    </a:lnTo>
                    <a:cubicBezTo>
                      <a:pt x="22804" y="7156"/>
                      <a:pt x="32548" y="17406"/>
                      <a:pt x="32548" y="60470"/>
                    </a:cubicBezTo>
                    <a:lnTo>
                      <a:pt x="32548" y="315811"/>
                    </a:lnTo>
                    <a:cubicBezTo>
                      <a:pt x="32548" y="347599"/>
                      <a:pt x="23316" y="354774"/>
                      <a:pt x="760" y="354774"/>
                    </a:cubicBezTo>
                    <a:lnTo>
                      <a:pt x="760" y="361437"/>
                    </a:lnTo>
                    <a:lnTo>
                      <a:pt x="98693" y="361437"/>
                    </a:lnTo>
                    <a:cubicBezTo>
                      <a:pt x="200719" y="361437"/>
                      <a:pt x="257120" y="349131"/>
                      <a:pt x="257120" y="263504"/>
                    </a:cubicBezTo>
                    <a:cubicBezTo>
                      <a:pt x="257120" y="193778"/>
                      <a:pt x="217126" y="173265"/>
                      <a:pt x="161756" y="169684"/>
                    </a:cubicBezTo>
                    <a:cubicBezTo>
                      <a:pt x="195588" y="168146"/>
                      <a:pt x="230964" y="164553"/>
                      <a:pt x="257627" y="52269"/>
                    </a:cubicBezTo>
                    <a:cubicBezTo>
                      <a:pt x="266870" y="13300"/>
                      <a:pt x="299159" y="8181"/>
                      <a:pt x="312490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37">
                <a:extLst>
                  <a:ext uri="{FF2B5EF4-FFF2-40B4-BE49-F238E27FC236}">
                    <a16:creationId xmlns:a16="http://schemas.microsoft.com/office/drawing/2014/main" id="{913BFE0D-3F74-3020-B8F2-F89BFB61F719}"/>
                  </a:ext>
                </a:extLst>
              </p:cNvPr>
              <p:cNvSpPr/>
              <p:nvPr/>
            </p:nvSpPr>
            <p:spPr>
              <a:xfrm flipV="1">
                <a:off x="4285907" y="1993688"/>
                <a:ext cx="242423" cy="370181"/>
              </a:xfrm>
              <a:custGeom>
                <a:avLst/>
                <a:gdLst>
                  <a:gd name="connsiteX0" fmla="*/ 128442 w 242423"/>
                  <a:gd name="connsiteY0" fmla="*/ 422 h 370181"/>
                  <a:gd name="connsiteX1" fmla="*/ 6421 w 242423"/>
                  <a:gd name="connsiteY1" fmla="*/ 29135 h 370181"/>
                  <a:gd name="connsiteX2" fmla="*/ 6421 w 242423"/>
                  <a:gd name="connsiteY2" fmla="*/ 127580 h 370181"/>
                  <a:gd name="connsiteX3" fmla="*/ 12566 w 242423"/>
                  <a:gd name="connsiteY3" fmla="*/ 127580 h 370181"/>
                  <a:gd name="connsiteX4" fmla="*/ 128442 w 242423"/>
                  <a:gd name="connsiteY4" fmla="*/ 7084 h 370181"/>
                  <a:gd name="connsiteX5" fmla="*/ 156649 w 242423"/>
                  <a:gd name="connsiteY5" fmla="*/ 136293 h 370181"/>
                  <a:gd name="connsiteX6" fmla="*/ 71535 w 242423"/>
                  <a:gd name="connsiteY6" fmla="*/ 191150 h 370181"/>
                  <a:gd name="connsiteX7" fmla="*/ 15647 w 242423"/>
                  <a:gd name="connsiteY7" fmla="*/ 330615 h 370181"/>
                  <a:gd name="connsiteX8" fmla="*/ 112030 w 242423"/>
                  <a:gd name="connsiteY8" fmla="*/ 370603 h 370181"/>
                  <a:gd name="connsiteX9" fmla="*/ 229444 w 242423"/>
                  <a:gd name="connsiteY9" fmla="*/ 346503 h 370181"/>
                  <a:gd name="connsiteX10" fmla="*/ 229444 w 242423"/>
                  <a:gd name="connsiteY10" fmla="*/ 260370 h 370181"/>
                  <a:gd name="connsiteX11" fmla="*/ 222275 w 242423"/>
                  <a:gd name="connsiteY11" fmla="*/ 260370 h 370181"/>
                  <a:gd name="connsiteX12" fmla="*/ 112030 w 242423"/>
                  <a:gd name="connsiteY12" fmla="*/ 363934 h 370181"/>
                  <a:gd name="connsiteX13" fmla="*/ 92042 w 242423"/>
                  <a:gd name="connsiteY13" fmla="*/ 242426 h 370181"/>
                  <a:gd name="connsiteX14" fmla="*/ 176637 w 242423"/>
                  <a:gd name="connsiteY14" fmla="*/ 186537 h 370181"/>
                  <a:gd name="connsiteX15" fmla="*/ 229969 w 242423"/>
                  <a:gd name="connsiteY15" fmla="*/ 42466 h 370181"/>
                  <a:gd name="connsiteX16" fmla="*/ 128442 w 242423"/>
                  <a:gd name="connsiteY16" fmla="*/ 422 h 37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2423" h="370181">
                    <a:moveTo>
                      <a:pt x="128442" y="422"/>
                    </a:moveTo>
                    <a:cubicBezTo>
                      <a:pt x="44872" y="422"/>
                      <a:pt x="6421" y="29135"/>
                      <a:pt x="6421" y="29135"/>
                    </a:cubicBezTo>
                    <a:lnTo>
                      <a:pt x="6421" y="127580"/>
                    </a:lnTo>
                    <a:lnTo>
                      <a:pt x="12566" y="127580"/>
                    </a:lnTo>
                    <a:cubicBezTo>
                      <a:pt x="18209" y="65023"/>
                      <a:pt x="41285" y="7084"/>
                      <a:pt x="128442" y="7084"/>
                    </a:cubicBezTo>
                    <a:cubicBezTo>
                      <a:pt x="206381" y="7084"/>
                      <a:pt x="216637" y="93736"/>
                      <a:pt x="156649" y="136293"/>
                    </a:cubicBezTo>
                    <a:lnTo>
                      <a:pt x="71535" y="191150"/>
                    </a:lnTo>
                    <a:cubicBezTo>
                      <a:pt x="22822" y="223450"/>
                      <a:pt x="-23829" y="270114"/>
                      <a:pt x="15647" y="330615"/>
                    </a:cubicBezTo>
                    <a:cubicBezTo>
                      <a:pt x="15647" y="330615"/>
                      <a:pt x="40766" y="370603"/>
                      <a:pt x="112030" y="370603"/>
                    </a:cubicBezTo>
                    <a:cubicBezTo>
                      <a:pt x="186381" y="370603"/>
                      <a:pt x="229444" y="346503"/>
                      <a:pt x="229444" y="346503"/>
                    </a:cubicBezTo>
                    <a:lnTo>
                      <a:pt x="229444" y="260370"/>
                    </a:lnTo>
                    <a:lnTo>
                      <a:pt x="222275" y="260370"/>
                    </a:lnTo>
                    <a:cubicBezTo>
                      <a:pt x="217656" y="310614"/>
                      <a:pt x="197662" y="363934"/>
                      <a:pt x="112030" y="363934"/>
                    </a:cubicBezTo>
                    <a:cubicBezTo>
                      <a:pt x="56666" y="363934"/>
                      <a:pt x="14622" y="292670"/>
                      <a:pt x="92042" y="242426"/>
                    </a:cubicBezTo>
                    <a:lnTo>
                      <a:pt x="176637" y="186537"/>
                    </a:lnTo>
                    <a:cubicBezTo>
                      <a:pt x="245344" y="141424"/>
                      <a:pt x="256620" y="84504"/>
                      <a:pt x="229969" y="42466"/>
                    </a:cubicBezTo>
                    <a:cubicBezTo>
                      <a:pt x="229969" y="42466"/>
                      <a:pt x="207925" y="422"/>
                      <a:pt x="128442" y="422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6722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5B5E985-4C48-90F5-6DB4-2468B2B577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타이탄컴퍼니 그룹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F1E948-1523-B892-545F-23C5492F3E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DDAC1-7E70-F62E-B639-C8554E9B75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27</a:t>
            </a:fld>
            <a:endParaRPr lang="en-US" dirty="0"/>
          </a:p>
        </p:txBody>
      </p:sp>
      <p:sp>
        <p:nvSpPr>
          <p:cNvPr id="5" name="직사각형 38">
            <a:extLst>
              <a:ext uri="{FF2B5EF4-FFF2-40B4-BE49-F238E27FC236}">
                <a16:creationId xmlns:a16="http://schemas.microsoft.com/office/drawing/2014/main" id="{678DD098-CBB1-546E-F192-668050B4C7D1}"/>
              </a:ext>
            </a:extLst>
          </p:cNvPr>
          <p:cNvSpPr/>
          <p:nvPr/>
        </p:nvSpPr>
        <p:spPr>
          <a:xfrm>
            <a:off x="453000" y="3860749"/>
            <a:ext cx="1284971" cy="43200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 err="1">
                <a:solidFill>
                  <a:schemeClr val="bg1"/>
                </a:solidFill>
              </a:rPr>
              <a:t>클래스어라운드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6" name="직사각형 51">
            <a:extLst>
              <a:ext uri="{FF2B5EF4-FFF2-40B4-BE49-F238E27FC236}">
                <a16:creationId xmlns:a16="http://schemas.microsoft.com/office/drawing/2014/main" id="{A5E33C71-E72B-4A78-59BF-65E0E223C8B4}"/>
              </a:ext>
            </a:extLst>
          </p:cNvPr>
          <p:cNvSpPr/>
          <p:nvPr/>
        </p:nvSpPr>
        <p:spPr>
          <a:xfrm>
            <a:off x="2780515" y="2332053"/>
            <a:ext cx="1284971" cy="44291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타이탄컴퍼니</a:t>
            </a:r>
          </a:p>
        </p:txBody>
      </p:sp>
      <p:sp>
        <p:nvSpPr>
          <p:cNvPr id="7" name="직사각형 38">
            <a:extLst>
              <a:ext uri="{FF2B5EF4-FFF2-40B4-BE49-F238E27FC236}">
                <a16:creationId xmlns:a16="http://schemas.microsoft.com/office/drawing/2014/main" id="{65B500BE-5944-55CB-496B-487B23951B31}"/>
              </a:ext>
            </a:extLst>
          </p:cNvPr>
          <p:cNvSpPr/>
          <p:nvPr/>
        </p:nvSpPr>
        <p:spPr>
          <a:xfrm>
            <a:off x="2780515" y="3860749"/>
            <a:ext cx="1284971" cy="43200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 err="1">
                <a:solidFill>
                  <a:schemeClr val="bg1"/>
                </a:solidFill>
              </a:rPr>
              <a:t>티티에이컴퍼니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9" name="직사각형 38">
            <a:extLst>
              <a:ext uri="{FF2B5EF4-FFF2-40B4-BE49-F238E27FC236}">
                <a16:creationId xmlns:a16="http://schemas.microsoft.com/office/drawing/2014/main" id="{D57D447A-E94D-B741-E443-A5734779837D}"/>
              </a:ext>
            </a:extLst>
          </p:cNvPr>
          <p:cNvSpPr/>
          <p:nvPr/>
        </p:nvSpPr>
        <p:spPr>
          <a:xfrm>
            <a:off x="5108029" y="3860749"/>
            <a:ext cx="1284971" cy="432000"/>
          </a:xfrm>
          <a:prstGeom prst="rect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bg1"/>
                </a:solidFill>
              </a:rPr>
              <a:t>시스템노바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2563B0-D48A-BC18-0A17-F86C847BCA44}"/>
              </a:ext>
            </a:extLst>
          </p:cNvPr>
          <p:cNvSpPr/>
          <p:nvPr/>
        </p:nvSpPr>
        <p:spPr>
          <a:xfrm>
            <a:off x="453000" y="1700213"/>
            <a:ext cx="594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TITAN </a:t>
            </a:r>
            <a:r>
              <a:rPr lang="ko-KR" altLang="en-US" sz="1200" b="1" dirty="0">
                <a:solidFill>
                  <a:schemeClr val="bg1"/>
                </a:solidFill>
              </a:rPr>
              <a:t>지분 구조 및 회사별 사업영역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CCD863-5E00-5088-845F-2A4465015BF1}"/>
              </a:ext>
            </a:extLst>
          </p:cNvPr>
          <p:cNvSpPr/>
          <p:nvPr/>
        </p:nvSpPr>
        <p:spPr>
          <a:xfrm>
            <a:off x="6573000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회사별 매출 비중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41577E0-B3BD-FE79-2BF6-3BBBE1B9F456}"/>
              </a:ext>
            </a:extLst>
          </p:cNvPr>
          <p:cNvCxnSpPr>
            <a:stCxn id="6" idx="2"/>
            <a:endCxn id="5" idx="0"/>
          </p:cNvCxnSpPr>
          <p:nvPr/>
        </p:nvCxnSpPr>
        <p:spPr>
          <a:xfrm rot="5400000">
            <a:off x="1716351" y="2154099"/>
            <a:ext cx="1085786" cy="2327515"/>
          </a:xfrm>
          <a:prstGeom prst="bentConnector3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D6BA4906-CD93-0267-06CC-613E42B67738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16200000" flipH="1">
            <a:off x="4043865" y="2154099"/>
            <a:ext cx="1085786" cy="2327514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3DDBAF7-F224-3D67-7273-4984B7E179C7}"/>
              </a:ext>
            </a:extLst>
          </p:cNvPr>
          <p:cNvSpPr/>
          <p:nvPr/>
        </p:nvSpPr>
        <p:spPr>
          <a:xfrm>
            <a:off x="452438" y="4831081"/>
            <a:ext cx="2740342" cy="631778"/>
          </a:xfrm>
          <a:prstGeom prst="rect">
            <a:avLst/>
          </a:prstGeom>
          <a:noFill/>
          <a:ln>
            <a:solidFill>
              <a:srgbClr val="3D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1FB58A9-2F61-7F6B-BF0D-2F14828592FD}"/>
              </a:ext>
            </a:extLst>
          </p:cNvPr>
          <p:cNvGrpSpPr/>
          <p:nvPr/>
        </p:nvGrpSpPr>
        <p:grpSpPr>
          <a:xfrm>
            <a:off x="537639" y="4911307"/>
            <a:ext cx="2396061" cy="216000"/>
            <a:chOff x="537639" y="4911307"/>
            <a:chExt cx="2396061" cy="216000"/>
          </a:xfrm>
        </p:grpSpPr>
        <p:sp>
          <p:nvSpPr>
            <p:cNvPr id="27" name="직사각형 38">
              <a:extLst>
                <a:ext uri="{FF2B5EF4-FFF2-40B4-BE49-F238E27FC236}">
                  <a16:creationId xmlns:a16="http://schemas.microsoft.com/office/drawing/2014/main" id="{8C9DA775-A198-1FA0-076A-B8C4CCFB5F77}"/>
                </a:ext>
              </a:extLst>
            </p:cNvPr>
            <p:cNvSpPr/>
            <p:nvPr/>
          </p:nvSpPr>
          <p:spPr>
            <a:xfrm>
              <a:off x="537639" y="4950638"/>
              <a:ext cx="408512" cy="137339"/>
            </a:xfrm>
            <a:prstGeom prst="rect">
              <a:avLst/>
            </a:prstGeom>
            <a:solidFill>
              <a:srgbClr val="11244A"/>
            </a:solidFill>
            <a:ln w="6350">
              <a:solidFill>
                <a:srgbClr val="11244A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78508DC-F14D-F3ED-CB44-307FD306BF14}"/>
                </a:ext>
              </a:extLst>
            </p:cNvPr>
            <p:cNvSpPr/>
            <p:nvPr/>
          </p:nvSpPr>
          <p:spPr>
            <a:xfrm>
              <a:off x="1031352" y="4911307"/>
              <a:ext cx="1902348" cy="21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100" dirty="0">
                  <a:solidFill>
                    <a:srgbClr val="3D3D3D"/>
                  </a:solidFill>
                </a:rPr>
                <a:t>Skill-to-Earn </a:t>
              </a:r>
              <a:r>
                <a:rPr lang="ko-KR" altLang="en-US" sz="1100" dirty="0">
                  <a:solidFill>
                    <a:srgbClr val="3D3D3D"/>
                  </a:solidFill>
                </a:rPr>
                <a:t>플랫폼 사업</a:t>
              </a:r>
              <a:endParaRPr lang="en-US" altLang="ko-KR" sz="1100" dirty="0">
                <a:solidFill>
                  <a:srgbClr val="3D3D3D"/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AAEE583-51BC-F3FA-FC95-5197D21F5C0A}"/>
              </a:ext>
            </a:extLst>
          </p:cNvPr>
          <p:cNvGrpSpPr/>
          <p:nvPr/>
        </p:nvGrpSpPr>
        <p:grpSpPr>
          <a:xfrm>
            <a:off x="537639" y="5192027"/>
            <a:ext cx="2396061" cy="216000"/>
            <a:chOff x="537639" y="4911307"/>
            <a:chExt cx="2396061" cy="216000"/>
          </a:xfrm>
        </p:grpSpPr>
        <p:sp>
          <p:nvSpPr>
            <p:cNvPr id="33" name="직사각형 38">
              <a:extLst>
                <a:ext uri="{FF2B5EF4-FFF2-40B4-BE49-F238E27FC236}">
                  <a16:creationId xmlns:a16="http://schemas.microsoft.com/office/drawing/2014/main" id="{ACD31C4B-0EAC-765C-9FBA-D5623AA26B37}"/>
                </a:ext>
              </a:extLst>
            </p:cNvPr>
            <p:cNvSpPr/>
            <p:nvPr/>
          </p:nvSpPr>
          <p:spPr>
            <a:xfrm>
              <a:off x="537639" y="4950638"/>
              <a:ext cx="408512" cy="137339"/>
            </a:xfrm>
            <a:prstGeom prst="rect">
              <a:avLst/>
            </a:pr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082BA27-76E8-FA69-8628-A56765BB83E7}"/>
                </a:ext>
              </a:extLst>
            </p:cNvPr>
            <p:cNvSpPr/>
            <p:nvPr/>
          </p:nvSpPr>
          <p:spPr>
            <a:xfrm>
              <a:off x="1031352" y="4911307"/>
              <a:ext cx="1902348" cy="21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100" dirty="0">
                  <a:solidFill>
                    <a:srgbClr val="3D3D3D"/>
                  </a:solidFill>
                </a:rPr>
                <a:t>Skill-to-Earn </a:t>
              </a:r>
              <a:r>
                <a:rPr lang="ko-KR" altLang="en-US" sz="1100" dirty="0">
                  <a:solidFill>
                    <a:srgbClr val="3D3D3D"/>
                  </a:solidFill>
                </a:rPr>
                <a:t>플랫폼 </a:t>
              </a:r>
              <a:r>
                <a:rPr lang="en-US" altLang="ko-KR" sz="1100" dirty="0">
                  <a:solidFill>
                    <a:srgbClr val="3D3D3D"/>
                  </a:solidFill>
                </a:rPr>
                <a:t>SI </a:t>
              </a:r>
              <a:r>
                <a:rPr lang="ko-KR" altLang="en-US" sz="1100" dirty="0">
                  <a:solidFill>
                    <a:srgbClr val="3D3D3D"/>
                  </a:solidFill>
                </a:rPr>
                <a:t>사업</a:t>
              </a:r>
              <a:endParaRPr lang="en-US" altLang="ko-KR" sz="1100" dirty="0">
                <a:solidFill>
                  <a:srgbClr val="3D3D3D"/>
                </a:solidFill>
              </a:endParaRPr>
            </a:p>
          </p:txBody>
        </p:sp>
      </p:grpSp>
      <p:graphicFrame>
        <p:nvGraphicFramePr>
          <p:cNvPr id="42" name="차트 41">
            <a:extLst>
              <a:ext uri="{FF2B5EF4-FFF2-40B4-BE49-F238E27FC236}">
                <a16:creationId xmlns:a16="http://schemas.microsoft.com/office/drawing/2014/main" id="{CAF5BE74-19F7-C38F-739D-8906493196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634494"/>
              </p:ext>
            </p:extLst>
          </p:nvPr>
        </p:nvGraphicFramePr>
        <p:xfrm>
          <a:off x="6572437" y="2260515"/>
          <a:ext cx="2879999" cy="3390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832D7A3C-5160-6379-1540-826194497BA7}"/>
              </a:ext>
            </a:extLst>
          </p:cNvPr>
          <p:cNvSpPr txBox="1"/>
          <p:nvPr/>
        </p:nvSpPr>
        <p:spPr>
          <a:xfrm>
            <a:off x="7413863" y="3594751"/>
            <a:ext cx="11971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100" dirty="0">
                <a:solidFill>
                  <a:srgbClr val="11244A"/>
                </a:solidFill>
              </a:rPr>
              <a:t>House Revenue</a:t>
            </a:r>
          </a:p>
          <a:p>
            <a:pPr algn="ctr"/>
            <a:r>
              <a:rPr lang="en-US" altLang="ko-KR" b="1" dirty="0">
                <a:solidFill>
                  <a:srgbClr val="11244A"/>
                </a:solidFill>
              </a:rPr>
              <a:t>334</a:t>
            </a:r>
            <a:r>
              <a:rPr lang="ko-KR" altLang="en-US" b="1" dirty="0">
                <a:solidFill>
                  <a:srgbClr val="11244A"/>
                </a:solidFill>
              </a:rPr>
              <a:t>억원</a:t>
            </a:r>
            <a:endParaRPr lang="en-US" altLang="ko-KR" b="1" dirty="0">
              <a:solidFill>
                <a:srgbClr val="11244A"/>
              </a:solidFill>
            </a:endParaRPr>
          </a:p>
          <a:p>
            <a:pPr algn="ctr"/>
            <a:r>
              <a:rPr lang="en-US" altLang="ko-KR" sz="1100" dirty="0">
                <a:solidFill>
                  <a:srgbClr val="11244A"/>
                </a:solidFill>
              </a:rPr>
              <a:t>(’25 1H)</a:t>
            </a:r>
            <a:endParaRPr lang="ko-KR" altLang="en-US" sz="1100" dirty="0">
              <a:solidFill>
                <a:srgbClr val="11244A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8AFCC1-0717-F468-47DE-2238C4DE1AD2}"/>
              </a:ext>
            </a:extLst>
          </p:cNvPr>
          <p:cNvSpPr txBox="1"/>
          <p:nvPr/>
        </p:nvSpPr>
        <p:spPr>
          <a:xfrm>
            <a:off x="1150719" y="3375874"/>
            <a:ext cx="267702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>
                <a:solidFill>
                  <a:srgbClr val="3D3D3D"/>
                </a:solidFill>
              </a:rPr>
              <a:t>39%</a:t>
            </a:r>
            <a:endParaRPr lang="ko-KR" altLang="en-US" sz="1000" dirty="0">
              <a:solidFill>
                <a:srgbClr val="3D3D3D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3385A0-87CE-F6A3-CE23-88537C0E8916}"/>
              </a:ext>
            </a:extLst>
          </p:cNvPr>
          <p:cNvSpPr txBox="1"/>
          <p:nvPr/>
        </p:nvSpPr>
        <p:spPr>
          <a:xfrm>
            <a:off x="3124435" y="3375874"/>
            <a:ext cx="243657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>
                <a:solidFill>
                  <a:srgbClr val="3D3D3D"/>
                </a:solidFill>
              </a:rPr>
              <a:t>51%</a:t>
            </a:r>
            <a:endParaRPr lang="ko-KR" altLang="en-US" sz="1000" dirty="0">
              <a:solidFill>
                <a:srgbClr val="3D3D3D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FED358-F115-5429-EAC6-8D2A5FA8C288}"/>
              </a:ext>
            </a:extLst>
          </p:cNvPr>
          <p:cNvSpPr txBox="1"/>
          <p:nvPr/>
        </p:nvSpPr>
        <p:spPr>
          <a:xfrm>
            <a:off x="5455041" y="3375874"/>
            <a:ext cx="243657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>
                <a:solidFill>
                  <a:srgbClr val="3D3D3D"/>
                </a:solidFill>
              </a:rPr>
              <a:t>51%</a:t>
            </a:r>
            <a:endParaRPr lang="ko-KR" altLang="en-US" sz="1000" dirty="0">
              <a:solidFill>
                <a:srgbClr val="3D3D3D"/>
              </a:solidFill>
            </a:endParaRPr>
          </a:p>
        </p:txBody>
      </p:sp>
      <p:sp>
        <p:nvSpPr>
          <p:cNvPr id="61" name="Block Arc 149">
            <a:extLst>
              <a:ext uri="{FF2B5EF4-FFF2-40B4-BE49-F238E27FC236}">
                <a16:creationId xmlns:a16="http://schemas.microsoft.com/office/drawing/2014/main" id="{5077C21A-4F8A-FBA7-4631-E5F8789D8502}"/>
              </a:ext>
            </a:extLst>
          </p:cNvPr>
          <p:cNvSpPr/>
          <p:nvPr/>
        </p:nvSpPr>
        <p:spPr>
          <a:xfrm rot="13396789">
            <a:off x="6790854" y="2694545"/>
            <a:ext cx="2425122" cy="2425122"/>
          </a:xfrm>
          <a:prstGeom prst="blockArc">
            <a:avLst>
              <a:gd name="adj1" fmla="val 2878761"/>
              <a:gd name="adj2" fmla="val 2087596"/>
              <a:gd name="adj3" fmla="val 2882"/>
            </a:avLst>
          </a:prstGeom>
          <a:solidFill>
            <a:srgbClr val="5CC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CA" sz="1400">
              <a:solidFill>
                <a:srgbClr val="000000"/>
              </a:solidFill>
              <a:latin typeface="Univers for KPMG" panose="020B0603020202020204" pitchFamily="34" charset="0"/>
            </a:endParaRPr>
          </a:p>
        </p:txBody>
      </p:sp>
      <p:sp>
        <p:nvSpPr>
          <p:cNvPr id="62" name="직각 삼각형 43">
            <a:extLst>
              <a:ext uri="{FF2B5EF4-FFF2-40B4-BE49-F238E27FC236}">
                <a16:creationId xmlns:a16="http://schemas.microsoft.com/office/drawing/2014/main" id="{E686FFE8-81C5-307F-C92D-AF8BF7C147F7}"/>
              </a:ext>
            </a:extLst>
          </p:cNvPr>
          <p:cNvSpPr/>
          <p:nvPr/>
        </p:nvSpPr>
        <p:spPr>
          <a:xfrm rot="12790693">
            <a:off x="7669200" y="2676756"/>
            <a:ext cx="167761" cy="167761"/>
          </a:xfrm>
          <a:prstGeom prst="rtTriangle">
            <a:avLst/>
          </a:prstGeom>
          <a:solidFill>
            <a:srgbClr val="5CCF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ko-KR" altLang="en-US" sz="1000" err="1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AEE2F54-39D6-A4AF-266F-E3915BAFCE68}"/>
              </a:ext>
            </a:extLst>
          </p:cNvPr>
          <p:cNvSpPr/>
          <p:nvPr/>
        </p:nvSpPr>
        <p:spPr>
          <a:xfrm>
            <a:off x="8611009" y="2352750"/>
            <a:ext cx="770286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0C1C4D"/>
                </a:solidFill>
              </a:rPr>
              <a:t>타이탄컴퍼니</a:t>
            </a:r>
            <a:br>
              <a:rPr lang="en-US" altLang="ko-KR" sz="1100" b="1" dirty="0">
                <a:solidFill>
                  <a:srgbClr val="0C1C4D"/>
                </a:solidFill>
              </a:rPr>
            </a:br>
            <a:r>
              <a:rPr lang="en-US" altLang="ko-KR" sz="1100" b="1" dirty="0">
                <a:solidFill>
                  <a:srgbClr val="0C1C4D"/>
                </a:solidFill>
              </a:rPr>
              <a:t>66.8%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C3CDFED-4836-F977-84FA-7647B142F58B}"/>
              </a:ext>
            </a:extLst>
          </p:cNvPr>
          <p:cNvSpPr/>
          <p:nvPr/>
        </p:nvSpPr>
        <p:spPr>
          <a:xfrm>
            <a:off x="6070066" y="2698594"/>
            <a:ext cx="899373" cy="501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dirty="0" err="1">
                <a:solidFill>
                  <a:srgbClr val="539DFF"/>
                </a:solidFill>
              </a:rPr>
              <a:t>클래스어라운드</a:t>
            </a:r>
            <a:br>
              <a:rPr lang="en-US" altLang="ko-KR" sz="1100" b="1" dirty="0">
                <a:solidFill>
                  <a:srgbClr val="539DFF"/>
                </a:solidFill>
              </a:rPr>
            </a:br>
            <a:r>
              <a:rPr lang="en-US" altLang="ko-KR" sz="1100" b="1" dirty="0">
                <a:solidFill>
                  <a:srgbClr val="539DFF"/>
                </a:solidFill>
              </a:rPr>
              <a:t>30.7%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E2D743A-8E99-5637-C9D5-CDA74583C1FC}"/>
              </a:ext>
            </a:extLst>
          </p:cNvPr>
          <p:cNvSpPr/>
          <p:nvPr/>
        </p:nvSpPr>
        <p:spPr>
          <a:xfrm>
            <a:off x="6534127" y="2209395"/>
            <a:ext cx="890383" cy="333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dirty="0" err="1">
                <a:solidFill>
                  <a:srgbClr val="93CCFF"/>
                </a:solidFill>
              </a:rPr>
              <a:t>티티에이컴퍼니</a:t>
            </a:r>
            <a:br>
              <a:rPr lang="en-US" altLang="ko-KR" sz="1100" b="1" dirty="0">
                <a:solidFill>
                  <a:srgbClr val="93CCFF"/>
                </a:solidFill>
              </a:rPr>
            </a:br>
            <a:r>
              <a:rPr lang="en-US" altLang="ko-KR" sz="1100" b="1" dirty="0">
                <a:solidFill>
                  <a:srgbClr val="93CCFF"/>
                </a:solidFill>
              </a:rPr>
              <a:t>1.6%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79D5A4C-C95E-6AE2-81B6-98C5255FFE7A}"/>
              </a:ext>
            </a:extLst>
          </p:cNvPr>
          <p:cNvSpPr/>
          <p:nvPr/>
        </p:nvSpPr>
        <p:spPr>
          <a:xfrm>
            <a:off x="7785396" y="2107333"/>
            <a:ext cx="770286" cy="341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dirty="0" err="1">
                <a:solidFill>
                  <a:schemeClr val="bg1">
                    <a:lumMod val="75000"/>
                  </a:schemeClr>
                </a:solidFill>
              </a:rPr>
              <a:t>시스템노바</a:t>
            </a:r>
            <a:br>
              <a:rPr lang="en-US" altLang="ko-KR" sz="11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ko-KR" sz="1100" b="1" dirty="0">
                <a:solidFill>
                  <a:schemeClr val="bg1">
                    <a:lumMod val="75000"/>
                  </a:schemeClr>
                </a:solidFill>
              </a:rPr>
              <a:t>0.8%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C5C2889-493F-21F2-80DD-E1C714C82A56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타이탄컴퍼니 그룹은 </a:t>
            </a:r>
            <a:r>
              <a:rPr lang="en-US" altLang="ko-KR" sz="1400" b="1" dirty="0">
                <a:solidFill>
                  <a:srgbClr val="3D3D3D"/>
                </a:solidFill>
              </a:rPr>
              <a:t>D2C 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플랫폼 시장에서 가장 가파르게 성장하는 대표 기업입니다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r>
              <a:rPr lang="ko-KR" altLang="en-US" sz="1400" b="1" dirty="0">
                <a:solidFill>
                  <a:srgbClr val="3D3D3D"/>
                </a:solidFill>
              </a:rPr>
              <a:t>단기간에 </a:t>
            </a:r>
            <a:r>
              <a:rPr lang="en-US" altLang="ko-KR" sz="1400" b="1" dirty="0">
                <a:solidFill>
                  <a:srgbClr val="3D3D3D"/>
                </a:solidFill>
              </a:rPr>
              <a:t>334</a:t>
            </a:r>
            <a:r>
              <a:rPr lang="ko-KR" altLang="en-US" sz="1400" b="1" dirty="0">
                <a:solidFill>
                  <a:srgbClr val="3D3D3D"/>
                </a:solidFill>
              </a:rPr>
              <a:t>억 원</a:t>
            </a:r>
            <a:r>
              <a:rPr lang="en-US" altLang="ko-KR" sz="1400" b="1" dirty="0">
                <a:solidFill>
                  <a:srgbClr val="3D3D3D"/>
                </a:solidFill>
              </a:rPr>
              <a:t>(’25 1H)</a:t>
            </a:r>
            <a:r>
              <a:rPr lang="ko-KR" altLang="en-US" sz="1400" b="1" dirty="0">
                <a:solidFill>
                  <a:srgbClr val="3D3D3D"/>
                </a:solidFill>
              </a:rPr>
              <a:t>의 매출을 기록하며 압도적인 실행력과 확장 속도를 보여주고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251F6F-50BF-CA2F-3A4B-2AAEC295A81D}"/>
              </a:ext>
            </a:extLst>
          </p:cNvPr>
          <p:cNvSpPr txBox="1"/>
          <p:nvPr/>
        </p:nvSpPr>
        <p:spPr>
          <a:xfrm rot="5400000">
            <a:off x="7635517" y="3243601"/>
            <a:ext cx="2017115" cy="1318297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>
                <a:gd name="adj" fmla="val 11939391"/>
              </a:avLst>
            </a:prstTxWarp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rgbClr val="5CCFA0"/>
                </a:solidFill>
              </a:rPr>
              <a:t>Skill-to-Earn</a:t>
            </a:r>
            <a:r>
              <a:rPr lang="ko-KR" altLang="en-US" sz="1200" b="1" dirty="0">
                <a:solidFill>
                  <a:srgbClr val="5CCFA0"/>
                </a:solidFill>
              </a:rPr>
              <a:t> 플랫폼</a:t>
            </a:r>
            <a:r>
              <a:rPr lang="en-US" altLang="ko-KR" sz="1200" b="1" dirty="0">
                <a:solidFill>
                  <a:srgbClr val="5CCFA0"/>
                </a:solidFill>
              </a:rPr>
              <a:t> </a:t>
            </a:r>
            <a:r>
              <a:rPr lang="ko-KR" altLang="en-US" sz="1200" b="1" dirty="0">
                <a:solidFill>
                  <a:srgbClr val="5CCFA0"/>
                </a:solidFill>
              </a:rPr>
              <a:t>사업 매출</a:t>
            </a: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64AC3A92-9176-EBC3-0EEF-FF2667175CB6}"/>
              </a:ext>
            </a:extLst>
          </p:cNvPr>
          <p:cNvCxnSpPr>
            <a:cxnSpLocks/>
            <a:stCxn id="63" idx="1"/>
          </p:cNvCxnSpPr>
          <p:nvPr/>
        </p:nvCxnSpPr>
        <p:spPr>
          <a:xfrm rot="10800000" flipV="1">
            <a:off x="8433019" y="2603380"/>
            <a:ext cx="177990" cy="290368"/>
          </a:xfrm>
          <a:prstGeom prst="bentConnector2">
            <a:avLst/>
          </a:prstGeom>
          <a:ln w="12700">
            <a:solidFill>
              <a:srgbClr val="0C1C4D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AE8DA641-441F-8183-139A-DD5ABB1E5CDE}"/>
              </a:ext>
            </a:extLst>
          </p:cNvPr>
          <p:cNvCxnSpPr>
            <a:cxnSpLocks/>
          </p:cNvCxnSpPr>
          <p:nvPr/>
        </p:nvCxnSpPr>
        <p:spPr>
          <a:xfrm rot="10800000">
            <a:off x="6979318" y="2919238"/>
            <a:ext cx="260488" cy="175290"/>
          </a:xfrm>
          <a:prstGeom prst="bentConnector3">
            <a:avLst>
              <a:gd name="adj1" fmla="val 26"/>
            </a:avLst>
          </a:prstGeom>
          <a:ln w="12700">
            <a:solidFill>
              <a:srgbClr val="539D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5AB5AE43-1463-F375-9F9C-30A63B00F44A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7424510" y="2376361"/>
            <a:ext cx="432499" cy="436283"/>
          </a:xfrm>
          <a:prstGeom prst="bentConnector2">
            <a:avLst/>
          </a:prstGeom>
          <a:ln w="12700">
            <a:solidFill>
              <a:srgbClr val="93CC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D7CABE94-4E4C-5FA1-C917-CFA0D77F5EBC}"/>
              </a:ext>
            </a:extLst>
          </p:cNvPr>
          <p:cNvCxnSpPr/>
          <p:nvPr/>
        </p:nvCxnSpPr>
        <p:spPr>
          <a:xfrm>
            <a:off x="7959420" y="2449252"/>
            <a:ext cx="0" cy="363886"/>
          </a:xfrm>
          <a:prstGeom prst="line">
            <a:avLst/>
          </a:prstGeom>
          <a:ln w="12700">
            <a:solidFill>
              <a:srgbClr val="E0E0E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E2DBCAC-9379-6C05-2798-B6CDEA4AC182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3423001" y="2774963"/>
            <a:ext cx="0" cy="1085786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015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7B00701-B287-3156-C85D-990BE3D649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사업영역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594A9E-1648-68FF-B49E-9DFE090293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B47065-C7FB-8F4F-21F9-498681F3D9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B8553E-B884-4D75-44A5-5847461DDC0C}"/>
              </a:ext>
            </a:extLst>
          </p:cNvPr>
          <p:cNvSpPr/>
          <p:nvPr/>
        </p:nvSpPr>
        <p:spPr>
          <a:xfrm>
            <a:off x="452999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회사별 일반현황 및 사업내용 상세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19" name="표 28">
            <a:extLst>
              <a:ext uri="{FF2B5EF4-FFF2-40B4-BE49-F238E27FC236}">
                <a16:creationId xmlns:a16="http://schemas.microsoft.com/office/drawing/2014/main" id="{F925638A-1044-D5EB-2EB5-836812393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177984"/>
              </p:ext>
            </p:extLst>
          </p:nvPr>
        </p:nvGraphicFramePr>
        <p:xfrm>
          <a:off x="452999" y="2075753"/>
          <a:ext cx="9000563" cy="3705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161">
                  <a:extLst>
                    <a:ext uri="{9D8B030D-6E8A-4147-A177-3AD203B41FA5}">
                      <a16:colId xmlns:a16="http://schemas.microsoft.com/office/drawing/2014/main" val="77562602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714373574"/>
                    </a:ext>
                  </a:extLst>
                </a:gridCol>
                <a:gridCol w="2594610">
                  <a:extLst>
                    <a:ext uri="{9D8B030D-6E8A-4147-A177-3AD203B41FA5}">
                      <a16:colId xmlns:a16="http://schemas.microsoft.com/office/drawing/2014/main" val="1267368470"/>
                    </a:ext>
                  </a:extLst>
                </a:gridCol>
                <a:gridCol w="2594610">
                  <a:extLst>
                    <a:ext uri="{9D8B030D-6E8A-4147-A177-3AD203B41FA5}">
                      <a16:colId xmlns:a16="http://schemas.microsoft.com/office/drawing/2014/main" val="4240548715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452096826"/>
                    </a:ext>
                  </a:extLst>
                </a:gridCol>
              </a:tblGrid>
              <a:tr h="249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회사명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사업영역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일반현황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사업내용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운영 플랫폼</a:t>
                      </a:r>
                      <a:r>
                        <a:rPr lang="en-US" altLang="ko-KR" sz="11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브랜드</a:t>
                      </a:r>
                      <a:r>
                        <a:rPr lang="en-US" altLang="ko-KR" sz="11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1077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11244A"/>
                          </a:solidFill>
                          <a:latin typeface="+mj-ea"/>
                          <a:ea typeface="+mj-ea"/>
                          <a:cs typeface="+mn-cs"/>
                        </a:rPr>
                        <a:t>타이탄</a:t>
                      </a:r>
                      <a:r>
                        <a:rPr lang="ko-KR" altLang="en-US" sz="1100" u="none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11244A"/>
                          </a:solidFill>
                          <a:latin typeface="+mj-ea"/>
                          <a:ea typeface="+mj-ea"/>
                          <a:cs typeface="+mn-cs"/>
                        </a:rPr>
                        <a:t>컴퍼</a:t>
                      </a:r>
                      <a:r>
                        <a:rPr lang="ko-KR" altLang="en-US" sz="11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11244A"/>
                          </a:solidFill>
                          <a:latin typeface="+mj-ea"/>
                          <a:ea typeface="+mj-ea"/>
                          <a:cs typeface="+mn-cs"/>
                        </a:rPr>
                        <a:t>니</a:t>
                      </a:r>
                      <a:endParaRPr lang="ko-KR" altLang="en-US" sz="800" kern="1200" spc="-6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Skill-to-Earn</a:t>
                      </a:r>
                      <a:br>
                        <a:rPr lang="en-US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</a:br>
                      <a:r>
                        <a:rPr lang="en-US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Platform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설립일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2022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대표이사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오윤록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임직원수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주소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서울특별시 강남구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선릉로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611, 2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층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이커머스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디지털 마케팅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미디어 수익화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재테크 등 다양한 분야의 수익화 교육 서비스 플랫폼 사업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강사 퍼스널 브랜딩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교육 콘텐츠 기획 및 제작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유튜브 콘텐츠 제작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자체 온라인 퍼포먼스 마케팅 수행 등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밸류체인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전영역을 아우르는 사업 수행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4680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90626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u="none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11244A"/>
                          </a:solidFill>
                          <a:latin typeface="+mj-ea"/>
                          <a:ea typeface="+mj-ea"/>
                          <a:cs typeface="+mn-cs"/>
                        </a:rPr>
                        <a:t>클래스어라운드</a:t>
                      </a:r>
                      <a:endParaRPr lang="ko-KR" altLang="en-US" sz="1100" u="none" kern="12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rgbClr val="11244A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Skill-to-Earn</a:t>
                      </a:r>
                      <a:b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Platform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설립일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2024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대표이사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박세영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임직원수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17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주소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서울특별시 강남구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선릉로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611, 3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층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429847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u="none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11244A"/>
                          </a:solidFill>
                          <a:latin typeface="+mj-ea"/>
                          <a:ea typeface="+mj-ea"/>
                          <a:cs typeface="+mn-cs"/>
                        </a:rPr>
                        <a:t>티티에이컴퍼니</a:t>
                      </a:r>
                      <a:endParaRPr lang="ko-KR" altLang="en-US" sz="1100" u="none" kern="12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rgbClr val="11244A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Skill-to-Earn</a:t>
                      </a:r>
                      <a:b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Platform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설립일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2025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대표이사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오윤록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정준호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임직원수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 16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주소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서울특별시 강남구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역삼로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138, 202-2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84314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u="none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rgbClr val="11244A"/>
                          </a:solidFill>
                          <a:latin typeface="+mj-ea"/>
                          <a:ea typeface="+mj-ea"/>
                          <a:cs typeface="+mn-cs"/>
                        </a:rPr>
                        <a:t>시스템노바</a:t>
                      </a:r>
                      <a:endParaRPr lang="ko-KR" altLang="en-US" sz="1100" u="none" kern="12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rgbClr val="11244A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Skill-to-Earn</a:t>
                      </a:r>
                      <a:b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Platform SI/ERP</a:t>
                      </a:r>
                      <a:b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1" i="0" u="none" strike="noStrike" baseline="0" dirty="0">
                          <a:ln>
                            <a:solidFill>
                              <a:srgbClr val="FF0000">
                                <a:alpha val="0"/>
                              </a:srgbClr>
                            </a:solidFill>
                          </a:ln>
                          <a:solidFill>
                            <a:srgbClr val="1E1E3E"/>
                          </a:solidFill>
                          <a:effectLst/>
                          <a:latin typeface="+mn-lt"/>
                          <a:ea typeface="KoPub돋움체 Medium" panose="00000600000000000000" pitchFamily="2" charset="-127"/>
                        </a:rPr>
                        <a:t>Solution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설립일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2025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대표이사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오윤록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김지수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임직원수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9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3D3D3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주소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서울특별시 중구 퇴계로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20</a:t>
                      </a:r>
                    </a:p>
                  </a:txBody>
                  <a:tcPr marL="4680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3D3D3D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단순히 강의 플랫폼을 런칭해주는 솔루션이 아닌 타이탄클래스를 직접 운영하며 축적된 노하우와 체계화 된 세일즈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퍼널을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구축하는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All-in-one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강의 플랫폼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3D3D3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 사업</a:t>
                      </a:r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4680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E1E3E"/>
                        </a:solidFill>
                        <a:effectLst/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856165"/>
                  </a:ext>
                </a:extLst>
              </a:tr>
            </a:tbl>
          </a:graphicData>
        </a:graphic>
      </p:graphicFrame>
      <p:pic>
        <p:nvPicPr>
          <p:cNvPr id="20" name="Picture 4" descr="타이탄클래스">
            <a:extLst>
              <a:ext uri="{FF2B5EF4-FFF2-40B4-BE49-F238E27FC236}">
                <a16:creationId xmlns:a16="http://schemas.microsoft.com/office/drawing/2014/main" id="{49CC6620-481F-F939-F50B-653EEB20F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37939" y="2625270"/>
            <a:ext cx="1286836" cy="26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9C93999C-2F6B-E5D3-13D4-776062832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3094" y="3383206"/>
            <a:ext cx="1286836" cy="224448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53AFDBD-A309-3B3F-857C-9D126A774257}"/>
              </a:ext>
            </a:extLst>
          </p:cNvPr>
          <p:cNvGrpSpPr>
            <a:grpSpLocks noChangeAspect="1"/>
          </p:cNvGrpSpPr>
          <p:nvPr/>
        </p:nvGrpSpPr>
        <p:grpSpPr>
          <a:xfrm>
            <a:off x="7997838" y="3753753"/>
            <a:ext cx="1260000" cy="194289"/>
            <a:chOff x="4185285" y="4568965"/>
            <a:chExt cx="2334671" cy="372522"/>
          </a:xfrm>
          <a:solidFill>
            <a:schemeClr val="tx1"/>
          </a:solidFill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F895D80D-9A7F-EFC7-0E26-D7EA559CA065}"/>
                </a:ext>
              </a:extLst>
            </p:cNvPr>
            <p:cNvSpPr/>
            <p:nvPr/>
          </p:nvSpPr>
          <p:spPr>
            <a:xfrm>
              <a:off x="4486846" y="4568965"/>
              <a:ext cx="114395" cy="372427"/>
            </a:xfrm>
            <a:custGeom>
              <a:avLst/>
              <a:gdLst>
                <a:gd name="connsiteX0" fmla="*/ 114395 w 114395"/>
                <a:gd name="connsiteY0" fmla="*/ 141827 h 372427"/>
                <a:gd name="connsiteX1" fmla="*/ 114395 w 114395"/>
                <a:gd name="connsiteY1" fmla="*/ 192024 h 372427"/>
                <a:gd name="connsiteX2" fmla="*/ 61817 w 114395"/>
                <a:gd name="connsiteY2" fmla="*/ 192024 h 372427"/>
                <a:gd name="connsiteX3" fmla="*/ 61817 w 114395"/>
                <a:gd name="connsiteY3" fmla="*/ 372428 h 372427"/>
                <a:gd name="connsiteX4" fmla="*/ 0 w 114395"/>
                <a:gd name="connsiteY4" fmla="*/ 372428 h 372427"/>
                <a:gd name="connsiteX5" fmla="*/ 0 w 114395"/>
                <a:gd name="connsiteY5" fmla="*/ 0 h 372427"/>
                <a:gd name="connsiteX6" fmla="*/ 61817 w 114395"/>
                <a:gd name="connsiteY6" fmla="*/ 0 h 372427"/>
                <a:gd name="connsiteX7" fmla="*/ 61817 w 114395"/>
                <a:gd name="connsiteY7" fmla="*/ 141827 h 372427"/>
                <a:gd name="connsiteX8" fmla="*/ 114395 w 114395"/>
                <a:gd name="connsiteY8" fmla="*/ 141827 h 37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395" h="372427">
                  <a:moveTo>
                    <a:pt x="114395" y="141827"/>
                  </a:moveTo>
                  <a:lnTo>
                    <a:pt x="114395" y="192024"/>
                  </a:lnTo>
                  <a:lnTo>
                    <a:pt x="61817" y="192024"/>
                  </a:lnTo>
                  <a:lnTo>
                    <a:pt x="61817" y="372428"/>
                  </a:lnTo>
                  <a:lnTo>
                    <a:pt x="0" y="372428"/>
                  </a:lnTo>
                  <a:lnTo>
                    <a:pt x="0" y="0"/>
                  </a:lnTo>
                  <a:lnTo>
                    <a:pt x="61817" y="0"/>
                  </a:lnTo>
                  <a:lnTo>
                    <a:pt x="61817" y="141827"/>
                  </a:lnTo>
                  <a:lnTo>
                    <a:pt x="114395" y="14182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26BC28E2-41EF-0E72-CBE0-96DE1CF2EC84}"/>
                </a:ext>
              </a:extLst>
            </p:cNvPr>
            <p:cNvSpPr/>
            <p:nvPr/>
          </p:nvSpPr>
          <p:spPr>
            <a:xfrm>
              <a:off x="4872989" y="4568965"/>
              <a:ext cx="61721" cy="372522"/>
            </a:xfrm>
            <a:custGeom>
              <a:avLst/>
              <a:gdLst>
                <a:gd name="connsiteX0" fmla="*/ 61721 w 61721"/>
                <a:gd name="connsiteY0" fmla="*/ 0 h 372522"/>
                <a:gd name="connsiteX1" fmla="*/ 0 w 61721"/>
                <a:gd name="connsiteY1" fmla="*/ 0 h 372522"/>
                <a:gd name="connsiteX2" fmla="*/ 0 w 61721"/>
                <a:gd name="connsiteY2" fmla="*/ 372523 h 372522"/>
                <a:gd name="connsiteX3" fmla="*/ 61721 w 61721"/>
                <a:gd name="connsiteY3" fmla="*/ 372523 h 372522"/>
                <a:gd name="connsiteX4" fmla="*/ 61721 w 61721"/>
                <a:gd name="connsiteY4" fmla="*/ 0 h 37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21" h="372522">
                  <a:moveTo>
                    <a:pt x="61721" y="0"/>
                  </a:moveTo>
                  <a:lnTo>
                    <a:pt x="0" y="0"/>
                  </a:lnTo>
                  <a:lnTo>
                    <a:pt x="0" y="372523"/>
                  </a:lnTo>
                  <a:lnTo>
                    <a:pt x="61721" y="372523"/>
                  </a:lnTo>
                  <a:lnTo>
                    <a:pt x="6172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CA4455F9-0FE0-F728-E0DC-730D139A047D}"/>
                </a:ext>
              </a:extLst>
            </p:cNvPr>
            <p:cNvSpPr/>
            <p:nvPr/>
          </p:nvSpPr>
          <p:spPr>
            <a:xfrm>
              <a:off x="4998054" y="4574108"/>
              <a:ext cx="204405" cy="360139"/>
            </a:xfrm>
            <a:custGeom>
              <a:avLst/>
              <a:gdLst>
                <a:gd name="connsiteX0" fmla="*/ 142303 w 204405"/>
                <a:gd name="connsiteY0" fmla="*/ 0 h 360139"/>
                <a:gd name="connsiteX1" fmla="*/ 142303 w 204405"/>
                <a:gd name="connsiteY1" fmla="*/ 140589 h 360139"/>
                <a:gd name="connsiteX2" fmla="*/ 62197 w 204405"/>
                <a:gd name="connsiteY2" fmla="*/ 140589 h 360139"/>
                <a:gd name="connsiteX3" fmla="*/ 62197 w 204405"/>
                <a:gd name="connsiteY3" fmla="*/ 0 h 360139"/>
                <a:gd name="connsiteX4" fmla="*/ 0 w 204405"/>
                <a:gd name="connsiteY4" fmla="*/ 0 h 360139"/>
                <a:gd name="connsiteX5" fmla="*/ 0 w 204405"/>
                <a:gd name="connsiteY5" fmla="*/ 360140 h 360139"/>
                <a:gd name="connsiteX6" fmla="*/ 204406 w 204405"/>
                <a:gd name="connsiteY6" fmla="*/ 360140 h 360139"/>
                <a:gd name="connsiteX7" fmla="*/ 204406 w 204405"/>
                <a:gd name="connsiteY7" fmla="*/ 0 h 360139"/>
                <a:gd name="connsiteX8" fmla="*/ 142207 w 204405"/>
                <a:gd name="connsiteY8" fmla="*/ 0 h 360139"/>
                <a:gd name="connsiteX9" fmla="*/ 142303 w 204405"/>
                <a:gd name="connsiteY9" fmla="*/ 0 h 360139"/>
                <a:gd name="connsiteX10" fmla="*/ 142303 w 204405"/>
                <a:gd name="connsiteY10" fmla="*/ 310705 h 360139"/>
                <a:gd name="connsiteX11" fmla="*/ 62197 w 204405"/>
                <a:gd name="connsiteY11" fmla="*/ 310705 h 360139"/>
                <a:gd name="connsiteX12" fmla="*/ 62197 w 204405"/>
                <a:gd name="connsiteY12" fmla="*/ 190405 h 360139"/>
                <a:gd name="connsiteX13" fmla="*/ 142303 w 204405"/>
                <a:gd name="connsiteY13" fmla="*/ 190405 h 360139"/>
                <a:gd name="connsiteX14" fmla="*/ 142303 w 204405"/>
                <a:gd name="connsiteY14" fmla="*/ 310705 h 36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4405" h="360139">
                  <a:moveTo>
                    <a:pt x="142303" y="0"/>
                  </a:moveTo>
                  <a:lnTo>
                    <a:pt x="142303" y="140589"/>
                  </a:lnTo>
                  <a:lnTo>
                    <a:pt x="62197" y="140589"/>
                  </a:lnTo>
                  <a:lnTo>
                    <a:pt x="62197" y="0"/>
                  </a:lnTo>
                  <a:lnTo>
                    <a:pt x="0" y="0"/>
                  </a:lnTo>
                  <a:lnTo>
                    <a:pt x="0" y="360140"/>
                  </a:lnTo>
                  <a:lnTo>
                    <a:pt x="204406" y="360140"/>
                  </a:lnTo>
                  <a:lnTo>
                    <a:pt x="204406" y="0"/>
                  </a:lnTo>
                  <a:lnTo>
                    <a:pt x="142207" y="0"/>
                  </a:lnTo>
                  <a:lnTo>
                    <a:pt x="142303" y="0"/>
                  </a:lnTo>
                  <a:close/>
                  <a:moveTo>
                    <a:pt x="142303" y="310705"/>
                  </a:moveTo>
                  <a:lnTo>
                    <a:pt x="62197" y="310705"/>
                  </a:lnTo>
                  <a:lnTo>
                    <a:pt x="62197" y="190405"/>
                  </a:lnTo>
                  <a:lnTo>
                    <a:pt x="142303" y="190405"/>
                  </a:lnTo>
                  <a:lnTo>
                    <a:pt x="142303" y="3107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206EB91E-6828-7D27-139E-6213298A0AEE}"/>
                </a:ext>
              </a:extLst>
            </p:cNvPr>
            <p:cNvSpPr/>
            <p:nvPr/>
          </p:nvSpPr>
          <p:spPr>
            <a:xfrm>
              <a:off x="5263419" y="4568965"/>
              <a:ext cx="61721" cy="372522"/>
            </a:xfrm>
            <a:custGeom>
              <a:avLst/>
              <a:gdLst>
                <a:gd name="connsiteX0" fmla="*/ 61722 w 61721"/>
                <a:gd name="connsiteY0" fmla="*/ 0 h 372522"/>
                <a:gd name="connsiteX1" fmla="*/ 0 w 61721"/>
                <a:gd name="connsiteY1" fmla="*/ 0 h 372522"/>
                <a:gd name="connsiteX2" fmla="*/ 0 w 61721"/>
                <a:gd name="connsiteY2" fmla="*/ 372523 h 372522"/>
                <a:gd name="connsiteX3" fmla="*/ 61722 w 61721"/>
                <a:gd name="connsiteY3" fmla="*/ 372523 h 372522"/>
                <a:gd name="connsiteX4" fmla="*/ 61722 w 61721"/>
                <a:gd name="connsiteY4" fmla="*/ 0 h 37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21" h="372522">
                  <a:moveTo>
                    <a:pt x="61722" y="0"/>
                  </a:moveTo>
                  <a:lnTo>
                    <a:pt x="0" y="0"/>
                  </a:lnTo>
                  <a:lnTo>
                    <a:pt x="0" y="372523"/>
                  </a:lnTo>
                  <a:lnTo>
                    <a:pt x="61722" y="372523"/>
                  </a:lnTo>
                  <a:lnTo>
                    <a:pt x="6172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D7466912-6ED2-6000-5D8E-1AD8A00A10DF}"/>
                </a:ext>
              </a:extLst>
            </p:cNvPr>
            <p:cNvSpPr/>
            <p:nvPr/>
          </p:nvSpPr>
          <p:spPr>
            <a:xfrm>
              <a:off x="5372576" y="4574108"/>
              <a:ext cx="365760" cy="185261"/>
            </a:xfrm>
            <a:custGeom>
              <a:avLst/>
              <a:gdLst>
                <a:gd name="connsiteX0" fmla="*/ 0 w 365760"/>
                <a:gd name="connsiteY0" fmla="*/ 135445 h 185261"/>
                <a:gd name="connsiteX1" fmla="*/ 276892 w 365760"/>
                <a:gd name="connsiteY1" fmla="*/ 135445 h 185261"/>
                <a:gd name="connsiteX2" fmla="*/ 276892 w 365760"/>
                <a:gd name="connsiteY2" fmla="*/ 117919 h 185261"/>
                <a:gd name="connsiteX3" fmla="*/ 21907 w 365760"/>
                <a:gd name="connsiteY3" fmla="*/ 117919 h 185261"/>
                <a:gd name="connsiteX4" fmla="*/ 21907 w 365760"/>
                <a:gd name="connsiteY4" fmla="*/ 68961 h 185261"/>
                <a:gd name="connsiteX5" fmla="*/ 276892 w 365760"/>
                <a:gd name="connsiteY5" fmla="*/ 68961 h 185261"/>
                <a:gd name="connsiteX6" fmla="*/ 276892 w 365760"/>
                <a:gd name="connsiteY6" fmla="*/ 49435 h 185261"/>
                <a:gd name="connsiteX7" fmla="*/ 27908 w 365760"/>
                <a:gd name="connsiteY7" fmla="*/ 49435 h 185261"/>
                <a:gd name="connsiteX8" fmla="*/ 27908 w 365760"/>
                <a:gd name="connsiteY8" fmla="*/ 0 h 185261"/>
                <a:gd name="connsiteX9" fmla="*/ 338614 w 365760"/>
                <a:gd name="connsiteY9" fmla="*/ 0 h 185261"/>
                <a:gd name="connsiteX10" fmla="*/ 338614 w 365760"/>
                <a:gd name="connsiteY10" fmla="*/ 135445 h 185261"/>
                <a:gd name="connsiteX11" fmla="*/ 365760 w 365760"/>
                <a:gd name="connsiteY11" fmla="*/ 135445 h 185261"/>
                <a:gd name="connsiteX12" fmla="*/ 365760 w 365760"/>
                <a:gd name="connsiteY12" fmla="*/ 185262 h 185261"/>
                <a:gd name="connsiteX13" fmla="*/ 0 w 365760"/>
                <a:gd name="connsiteY13" fmla="*/ 185262 h 185261"/>
                <a:gd name="connsiteX14" fmla="*/ 0 w 365760"/>
                <a:gd name="connsiteY14" fmla="*/ 135445 h 18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5760" h="185261">
                  <a:moveTo>
                    <a:pt x="0" y="135445"/>
                  </a:moveTo>
                  <a:lnTo>
                    <a:pt x="276892" y="135445"/>
                  </a:lnTo>
                  <a:lnTo>
                    <a:pt x="276892" y="117919"/>
                  </a:lnTo>
                  <a:lnTo>
                    <a:pt x="21907" y="117919"/>
                  </a:lnTo>
                  <a:lnTo>
                    <a:pt x="21907" y="68961"/>
                  </a:lnTo>
                  <a:lnTo>
                    <a:pt x="276892" y="68961"/>
                  </a:lnTo>
                  <a:lnTo>
                    <a:pt x="276892" y="49435"/>
                  </a:lnTo>
                  <a:lnTo>
                    <a:pt x="27908" y="49435"/>
                  </a:lnTo>
                  <a:lnTo>
                    <a:pt x="27908" y="0"/>
                  </a:lnTo>
                  <a:lnTo>
                    <a:pt x="338614" y="0"/>
                  </a:lnTo>
                  <a:lnTo>
                    <a:pt x="338614" y="135445"/>
                  </a:lnTo>
                  <a:lnTo>
                    <a:pt x="365760" y="135445"/>
                  </a:lnTo>
                  <a:lnTo>
                    <a:pt x="365760" y="185262"/>
                  </a:lnTo>
                  <a:lnTo>
                    <a:pt x="0" y="185262"/>
                  </a:lnTo>
                  <a:lnTo>
                    <a:pt x="0" y="1354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97F97B86-EB27-9122-5403-F768775FB740}"/>
                </a:ext>
              </a:extLst>
            </p:cNvPr>
            <p:cNvSpPr/>
            <p:nvPr/>
          </p:nvSpPr>
          <p:spPr>
            <a:xfrm>
              <a:off x="5398484" y="4774896"/>
              <a:ext cx="322706" cy="166497"/>
            </a:xfrm>
            <a:custGeom>
              <a:avLst/>
              <a:gdLst>
                <a:gd name="connsiteX0" fmla="*/ 0 w 322706"/>
                <a:gd name="connsiteY0" fmla="*/ 60960 h 166497"/>
                <a:gd name="connsiteX1" fmla="*/ 252984 w 322706"/>
                <a:gd name="connsiteY1" fmla="*/ 60960 h 166497"/>
                <a:gd name="connsiteX2" fmla="*/ 252984 w 322706"/>
                <a:gd name="connsiteY2" fmla="*/ 46577 h 166497"/>
                <a:gd name="connsiteX3" fmla="*/ 0 w 322706"/>
                <a:gd name="connsiteY3" fmla="*/ 46577 h 166497"/>
                <a:gd name="connsiteX4" fmla="*/ 0 w 322706"/>
                <a:gd name="connsiteY4" fmla="*/ 0 h 166497"/>
                <a:gd name="connsiteX5" fmla="*/ 314706 w 322706"/>
                <a:gd name="connsiteY5" fmla="*/ 0 h 166497"/>
                <a:gd name="connsiteX6" fmla="*/ 314706 w 322706"/>
                <a:gd name="connsiteY6" fmla="*/ 106013 h 166497"/>
                <a:gd name="connsiteX7" fmla="*/ 62103 w 322706"/>
                <a:gd name="connsiteY7" fmla="*/ 106013 h 166497"/>
                <a:gd name="connsiteX8" fmla="*/ 62103 w 322706"/>
                <a:gd name="connsiteY8" fmla="*/ 119920 h 166497"/>
                <a:gd name="connsiteX9" fmla="*/ 322707 w 322706"/>
                <a:gd name="connsiteY9" fmla="*/ 119920 h 166497"/>
                <a:gd name="connsiteX10" fmla="*/ 322707 w 322706"/>
                <a:gd name="connsiteY10" fmla="*/ 166497 h 166497"/>
                <a:gd name="connsiteX11" fmla="*/ 0 w 322706"/>
                <a:gd name="connsiteY11" fmla="*/ 166497 h 166497"/>
                <a:gd name="connsiteX12" fmla="*/ 0 w 322706"/>
                <a:gd name="connsiteY12" fmla="*/ 60960 h 16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706" h="166497">
                  <a:moveTo>
                    <a:pt x="0" y="60960"/>
                  </a:moveTo>
                  <a:lnTo>
                    <a:pt x="252984" y="60960"/>
                  </a:lnTo>
                  <a:lnTo>
                    <a:pt x="252984" y="46577"/>
                  </a:lnTo>
                  <a:lnTo>
                    <a:pt x="0" y="46577"/>
                  </a:lnTo>
                  <a:lnTo>
                    <a:pt x="0" y="0"/>
                  </a:lnTo>
                  <a:lnTo>
                    <a:pt x="314706" y="0"/>
                  </a:lnTo>
                  <a:lnTo>
                    <a:pt x="314706" y="106013"/>
                  </a:lnTo>
                  <a:lnTo>
                    <a:pt x="62103" y="106013"/>
                  </a:lnTo>
                  <a:lnTo>
                    <a:pt x="62103" y="119920"/>
                  </a:lnTo>
                  <a:lnTo>
                    <a:pt x="322707" y="119920"/>
                  </a:lnTo>
                  <a:lnTo>
                    <a:pt x="322707" y="166497"/>
                  </a:lnTo>
                  <a:lnTo>
                    <a:pt x="0" y="166497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1FD309AA-662D-77E0-CF96-AC91314D0550}"/>
                </a:ext>
              </a:extLst>
            </p:cNvPr>
            <p:cNvSpPr/>
            <p:nvPr/>
          </p:nvSpPr>
          <p:spPr>
            <a:xfrm>
              <a:off x="5779389" y="4574108"/>
              <a:ext cx="176879" cy="360139"/>
            </a:xfrm>
            <a:custGeom>
              <a:avLst/>
              <a:gdLst>
                <a:gd name="connsiteX0" fmla="*/ 176879 w 176879"/>
                <a:gd name="connsiteY0" fmla="*/ 360140 h 360139"/>
                <a:gd name="connsiteX1" fmla="*/ 762 w 176879"/>
                <a:gd name="connsiteY1" fmla="*/ 360140 h 360139"/>
                <a:gd name="connsiteX2" fmla="*/ 762 w 176879"/>
                <a:gd name="connsiteY2" fmla="*/ 152591 h 360139"/>
                <a:gd name="connsiteX3" fmla="*/ 110300 w 176879"/>
                <a:gd name="connsiteY3" fmla="*/ 152591 h 360139"/>
                <a:gd name="connsiteX4" fmla="*/ 110300 w 176879"/>
                <a:gd name="connsiteY4" fmla="*/ 50197 h 360139"/>
                <a:gd name="connsiteX5" fmla="*/ 0 w 176879"/>
                <a:gd name="connsiteY5" fmla="*/ 50197 h 360139"/>
                <a:gd name="connsiteX6" fmla="*/ 0 w 176879"/>
                <a:gd name="connsiteY6" fmla="*/ 0 h 360139"/>
                <a:gd name="connsiteX7" fmla="*/ 172879 w 176879"/>
                <a:gd name="connsiteY7" fmla="*/ 0 h 360139"/>
                <a:gd name="connsiteX8" fmla="*/ 172879 w 176879"/>
                <a:gd name="connsiteY8" fmla="*/ 202787 h 360139"/>
                <a:gd name="connsiteX9" fmla="*/ 62865 w 176879"/>
                <a:gd name="connsiteY9" fmla="*/ 202787 h 360139"/>
                <a:gd name="connsiteX10" fmla="*/ 62865 w 176879"/>
                <a:gd name="connsiteY10" fmla="*/ 310325 h 360139"/>
                <a:gd name="connsiteX11" fmla="*/ 176879 w 176879"/>
                <a:gd name="connsiteY11" fmla="*/ 310325 h 360139"/>
                <a:gd name="connsiteX12" fmla="*/ 176879 w 176879"/>
                <a:gd name="connsiteY12" fmla="*/ 360140 h 360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879" h="360139">
                  <a:moveTo>
                    <a:pt x="176879" y="360140"/>
                  </a:moveTo>
                  <a:lnTo>
                    <a:pt x="762" y="360140"/>
                  </a:lnTo>
                  <a:lnTo>
                    <a:pt x="762" y="152591"/>
                  </a:lnTo>
                  <a:lnTo>
                    <a:pt x="110300" y="152591"/>
                  </a:lnTo>
                  <a:lnTo>
                    <a:pt x="110300" y="50197"/>
                  </a:lnTo>
                  <a:lnTo>
                    <a:pt x="0" y="50197"/>
                  </a:lnTo>
                  <a:lnTo>
                    <a:pt x="0" y="0"/>
                  </a:lnTo>
                  <a:lnTo>
                    <a:pt x="172879" y="0"/>
                  </a:lnTo>
                  <a:lnTo>
                    <a:pt x="172879" y="202787"/>
                  </a:lnTo>
                  <a:lnTo>
                    <a:pt x="62865" y="202787"/>
                  </a:lnTo>
                  <a:lnTo>
                    <a:pt x="62865" y="310325"/>
                  </a:lnTo>
                  <a:lnTo>
                    <a:pt x="176879" y="310325"/>
                  </a:lnTo>
                  <a:lnTo>
                    <a:pt x="176879" y="3601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09955E73-BE72-90C3-E086-B226041845AE}"/>
                </a:ext>
              </a:extLst>
            </p:cNvPr>
            <p:cNvSpPr/>
            <p:nvPr/>
          </p:nvSpPr>
          <p:spPr>
            <a:xfrm>
              <a:off x="5974556" y="4568965"/>
              <a:ext cx="139826" cy="372427"/>
            </a:xfrm>
            <a:custGeom>
              <a:avLst/>
              <a:gdLst>
                <a:gd name="connsiteX0" fmla="*/ 80105 w 139826"/>
                <a:gd name="connsiteY0" fmla="*/ 142208 h 372427"/>
                <a:gd name="connsiteX1" fmla="*/ 80105 w 139826"/>
                <a:gd name="connsiteY1" fmla="*/ 0 h 372427"/>
                <a:gd name="connsiteX2" fmla="*/ 139827 w 139826"/>
                <a:gd name="connsiteY2" fmla="*/ 0 h 372427"/>
                <a:gd name="connsiteX3" fmla="*/ 139827 w 139826"/>
                <a:gd name="connsiteY3" fmla="*/ 372428 h 372427"/>
                <a:gd name="connsiteX4" fmla="*/ 80105 w 139826"/>
                <a:gd name="connsiteY4" fmla="*/ 372428 h 372427"/>
                <a:gd name="connsiteX5" fmla="*/ 80105 w 139826"/>
                <a:gd name="connsiteY5" fmla="*/ 192024 h 372427"/>
                <a:gd name="connsiteX6" fmla="*/ 59341 w 139826"/>
                <a:gd name="connsiteY6" fmla="*/ 192024 h 372427"/>
                <a:gd name="connsiteX7" fmla="*/ 59341 w 139826"/>
                <a:gd name="connsiteY7" fmla="*/ 367284 h 372427"/>
                <a:gd name="connsiteX8" fmla="*/ 0 w 139826"/>
                <a:gd name="connsiteY8" fmla="*/ 367284 h 372427"/>
                <a:gd name="connsiteX9" fmla="*/ 0 w 139826"/>
                <a:gd name="connsiteY9" fmla="*/ 3143 h 372427"/>
                <a:gd name="connsiteX10" fmla="*/ 59341 w 139826"/>
                <a:gd name="connsiteY10" fmla="*/ 3143 h 372427"/>
                <a:gd name="connsiteX11" fmla="*/ 59341 w 139826"/>
                <a:gd name="connsiteY11" fmla="*/ 142208 h 372427"/>
                <a:gd name="connsiteX12" fmla="*/ 80105 w 139826"/>
                <a:gd name="connsiteY12" fmla="*/ 142208 h 37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9826" h="372427">
                  <a:moveTo>
                    <a:pt x="80105" y="142208"/>
                  </a:moveTo>
                  <a:lnTo>
                    <a:pt x="80105" y="0"/>
                  </a:lnTo>
                  <a:lnTo>
                    <a:pt x="139827" y="0"/>
                  </a:lnTo>
                  <a:lnTo>
                    <a:pt x="139827" y="372428"/>
                  </a:lnTo>
                  <a:lnTo>
                    <a:pt x="80105" y="372428"/>
                  </a:lnTo>
                  <a:lnTo>
                    <a:pt x="80105" y="192024"/>
                  </a:lnTo>
                  <a:lnTo>
                    <a:pt x="59341" y="192024"/>
                  </a:lnTo>
                  <a:lnTo>
                    <a:pt x="59341" y="367284"/>
                  </a:lnTo>
                  <a:lnTo>
                    <a:pt x="0" y="367284"/>
                  </a:lnTo>
                  <a:lnTo>
                    <a:pt x="0" y="3143"/>
                  </a:lnTo>
                  <a:lnTo>
                    <a:pt x="59341" y="3143"/>
                  </a:lnTo>
                  <a:lnTo>
                    <a:pt x="59341" y="142208"/>
                  </a:lnTo>
                  <a:lnTo>
                    <a:pt x="80105" y="1422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3090604C-0752-FC8E-EAC6-86A9242BC179}"/>
                </a:ext>
              </a:extLst>
            </p:cNvPr>
            <p:cNvSpPr/>
            <p:nvPr/>
          </p:nvSpPr>
          <p:spPr>
            <a:xfrm>
              <a:off x="6153435" y="4883671"/>
              <a:ext cx="366521" cy="49816"/>
            </a:xfrm>
            <a:custGeom>
              <a:avLst/>
              <a:gdLst>
                <a:gd name="connsiteX0" fmla="*/ 366522 w 366521"/>
                <a:gd name="connsiteY0" fmla="*/ 0 h 49816"/>
                <a:gd name="connsiteX1" fmla="*/ 0 w 366521"/>
                <a:gd name="connsiteY1" fmla="*/ 0 h 49816"/>
                <a:gd name="connsiteX2" fmla="*/ 0 w 366521"/>
                <a:gd name="connsiteY2" fmla="*/ 49817 h 49816"/>
                <a:gd name="connsiteX3" fmla="*/ 366522 w 366521"/>
                <a:gd name="connsiteY3" fmla="*/ 49817 h 49816"/>
                <a:gd name="connsiteX4" fmla="*/ 366522 w 366521"/>
                <a:gd name="connsiteY4" fmla="*/ 0 h 49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521" h="49816">
                  <a:moveTo>
                    <a:pt x="366522" y="0"/>
                  </a:moveTo>
                  <a:lnTo>
                    <a:pt x="0" y="0"/>
                  </a:lnTo>
                  <a:lnTo>
                    <a:pt x="0" y="49817"/>
                  </a:lnTo>
                  <a:lnTo>
                    <a:pt x="366522" y="49817"/>
                  </a:lnTo>
                  <a:lnTo>
                    <a:pt x="36652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86ECEDB7-3A0D-17F0-7A87-1F28853A76F8}"/>
                </a:ext>
              </a:extLst>
            </p:cNvPr>
            <p:cNvSpPr/>
            <p:nvPr/>
          </p:nvSpPr>
          <p:spPr>
            <a:xfrm>
              <a:off x="6162960" y="4571918"/>
              <a:ext cx="347567" cy="240792"/>
            </a:xfrm>
            <a:custGeom>
              <a:avLst/>
              <a:gdLst>
                <a:gd name="connsiteX0" fmla="*/ 327946 w 347567"/>
                <a:gd name="connsiteY0" fmla="*/ 240792 h 240792"/>
                <a:gd name="connsiteX1" fmla="*/ 280511 w 347567"/>
                <a:gd name="connsiteY1" fmla="*/ 228886 h 240792"/>
                <a:gd name="connsiteX2" fmla="*/ 236696 w 347567"/>
                <a:gd name="connsiteY2" fmla="*/ 209550 h 240792"/>
                <a:gd name="connsiteX3" fmla="*/ 200025 w 347567"/>
                <a:gd name="connsiteY3" fmla="*/ 183642 h 240792"/>
                <a:gd name="connsiteX4" fmla="*/ 173736 w 347567"/>
                <a:gd name="connsiteY4" fmla="*/ 151543 h 240792"/>
                <a:gd name="connsiteX5" fmla="*/ 147828 w 347567"/>
                <a:gd name="connsiteY5" fmla="*/ 183642 h 240792"/>
                <a:gd name="connsiteX6" fmla="*/ 111538 w 347567"/>
                <a:gd name="connsiteY6" fmla="*/ 209550 h 240792"/>
                <a:gd name="connsiteX7" fmla="*/ 67723 w 347567"/>
                <a:gd name="connsiteY7" fmla="*/ 228886 h 240792"/>
                <a:gd name="connsiteX8" fmla="*/ 19526 w 347567"/>
                <a:gd name="connsiteY8" fmla="*/ 240792 h 240792"/>
                <a:gd name="connsiteX9" fmla="*/ 0 w 347567"/>
                <a:gd name="connsiteY9" fmla="*/ 193739 h 240792"/>
                <a:gd name="connsiteX10" fmla="*/ 57817 w 347567"/>
                <a:gd name="connsiteY10" fmla="*/ 176784 h 240792"/>
                <a:gd name="connsiteX11" fmla="*/ 102870 w 347567"/>
                <a:gd name="connsiteY11" fmla="*/ 150113 h 240792"/>
                <a:gd name="connsiteX12" fmla="*/ 131921 w 347567"/>
                <a:gd name="connsiteY12" fmla="*/ 114015 h 240792"/>
                <a:gd name="connsiteX13" fmla="*/ 142304 w 347567"/>
                <a:gd name="connsiteY13" fmla="*/ 68961 h 240792"/>
                <a:gd name="connsiteX14" fmla="*/ 142304 w 347567"/>
                <a:gd name="connsiteY14" fmla="*/ 0 h 240792"/>
                <a:gd name="connsiteX15" fmla="*/ 205264 w 347567"/>
                <a:gd name="connsiteY15" fmla="*/ 0 h 240792"/>
                <a:gd name="connsiteX16" fmla="*/ 205264 w 347567"/>
                <a:gd name="connsiteY16" fmla="*/ 68961 h 240792"/>
                <a:gd name="connsiteX17" fmla="*/ 215646 w 347567"/>
                <a:gd name="connsiteY17" fmla="*/ 114015 h 240792"/>
                <a:gd name="connsiteX18" fmla="*/ 244697 w 347567"/>
                <a:gd name="connsiteY18" fmla="*/ 150113 h 240792"/>
                <a:gd name="connsiteX19" fmla="*/ 289560 w 347567"/>
                <a:gd name="connsiteY19" fmla="*/ 176784 h 240792"/>
                <a:gd name="connsiteX20" fmla="*/ 347567 w 347567"/>
                <a:gd name="connsiteY20" fmla="*/ 193739 h 240792"/>
                <a:gd name="connsiteX21" fmla="*/ 328041 w 347567"/>
                <a:gd name="connsiteY21" fmla="*/ 240792 h 240792"/>
                <a:gd name="connsiteX22" fmla="*/ 327946 w 347567"/>
                <a:gd name="connsiteY22" fmla="*/ 240792 h 24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7567" h="240792">
                  <a:moveTo>
                    <a:pt x="327946" y="240792"/>
                  </a:moveTo>
                  <a:cubicBezTo>
                    <a:pt x="312039" y="238125"/>
                    <a:pt x="296227" y="234125"/>
                    <a:pt x="280511" y="228886"/>
                  </a:cubicBezTo>
                  <a:cubicBezTo>
                    <a:pt x="264795" y="223552"/>
                    <a:pt x="250222" y="217170"/>
                    <a:pt x="236696" y="209550"/>
                  </a:cubicBezTo>
                  <a:cubicBezTo>
                    <a:pt x="223171" y="202026"/>
                    <a:pt x="210979" y="193358"/>
                    <a:pt x="200025" y="183642"/>
                  </a:cubicBezTo>
                  <a:cubicBezTo>
                    <a:pt x="189167" y="173927"/>
                    <a:pt x="180404" y="163259"/>
                    <a:pt x="173736" y="151543"/>
                  </a:cubicBezTo>
                  <a:cubicBezTo>
                    <a:pt x="167068" y="163259"/>
                    <a:pt x="158496" y="173927"/>
                    <a:pt x="147828" y="183642"/>
                  </a:cubicBezTo>
                  <a:cubicBezTo>
                    <a:pt x="137160" y="193358"/>
                    <a:pt x="125158" y="201930"/>
                    <a:pt x="111538" y="209550"/>
                  </a:cubicBezTo>
                  <a:cubicBezTo>
                    <a:pt x="98012" y="217075"/>
                    <a:pt x="83344" y="223552"/>
                    <a:pt x="67723" y="228886"/>
                  </a:cubicBezTo>
                  <a:cubicBezTo>
                    <a:pt x="52006" y="234220"/>
                    <a:pt x="36004" y="238221"/>
                    <a:pt x="19526" y="240792"/>
                  </a:cubicBezTo>
                  <a:lnTo>
                    <a:pt x="0" y="193739"/>
                  </a:lnTo>
                  <a:cubicBezTo>
                    <a:pt x="20955" y="189738"/>
                    <a:pt x="40196" y="184119"/>
                    <a:pt x="57817" y="176784"/>
                  </a:cubicBezTo>
                  <a:cubicBezTo>
                    <a:pt x="75343" y="169450"/>
                    <a:pt x="90392" y="160591"/>
                    <a:pt x="102870" y="150113"/>
                  </a:cubicBezTo>
                  <a:cubicBezTo>
                    <a:pt x="115348" y="139636"/>
                    <a:pt x="125063" y="127635"/>
                    <a:pt x="131921" y="114015"/>
                  </a:cubicBezTo>
                  <a:cubicBezTo>
                    <a:pt x="138779" y="100489"/>
                    <a:pt x="142304" y="85439"/>
                    <a:pt x="142304" y="68961"/>
                  </a:cubicBezTo>
                  <a:lnTo>
                    <a:pt x="142304" y="0"/>
                  </a:lnTo>
                  <a:lnTo>
                    <a:pt x="205264" y="0"/>
                  </a:lnTo>
                  <a:lnTo>
                    <a:pt x="205264" y="68961"/>
                  </a:lnTo>
                  <a:cubicBezTo>
                    <a:pt x="205264" y="85439"/>
                    <a:pt x="208693" y="100394"/>
                    <a:pt x="215646" y="114015"/>
                  </a:cubicBezTo>
                  <a:cubicBezTo>
                    <a:pt x="222504" y="127540"/>
                    <a:pt x="232219" y="139541"/>
                    <a:pt x="244697" y="150113"/>
                  </a:cubicBezTo>
                  <a:cubicBezTo>
                    <a:pt x="257175" y="160686"/>
                    <a:pt x="272129" y="169545"/>
                    <a:pt x="289560" y="176784"/>
                  </a:cubicBezTo>
                  <a:cubicBezTo>
                    <a:pt x="306991" y="184119"/>
                    <a:pt x="326231" y="189738"/>
                    <a:pt x="347567" y="193739"/>
                  </a:cubicBezTo>
                  <a:lnTo>
                    <a:pt x="328041" y="240792"/>
                  </a:lnTo>
                  <a:lnTo>
                    <a:pt x="327946" y="24079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F0DB386E-7D37-BC3B-D5BF-596A0B4705BF}"/>
                </a:ext>
              </a:extLst>
            </p:cNvPr>
            <p:cNvSpPr/>
            <p:nvPr/>
          </p:nvSpPr>
          <p:spPr>
            <a:xfrm>
              <a:off x="4589429" y="4591442"/>
              <a:ext cx="252603" cy="346243"/>
            </a:xfrm>
            <a:custGeom>
              <a:avLst/>
              <a:gdLst>
                <a:gd name="connsiteX0" fmla="*/ 252604 w 252603"/>
                <a:gd name="connsiteY0" fmla="*/ 126207 h 346243"/>
                <a:gd name="connsiteX1" fmla="*/ 134398 w 252603"/>
                <a:gd name="connsiteY1" fmla="*/ 342900 h 346243"/>
                <a:gd name="connsiteX2" fmla="*/ 107061 w 252603"/>
                <a:gd name="connsiteY2" fmla="*/ 328899 h 346243"/>
                <a:gd name="connsiteX3" fmla="*/ 112967 w 252603"/>
                <a:gd name="connsiteY3" fmla="*/ 316040 h 346243"/>
                <a:gd name="connsiteX4" fmla="*/ 157924 w 252603"/>
                <a:gd name="connsiteY4" fmla="*/ 248412 h 346243"/>
                <a:gd name="connsiteX5" fmla="*/ 126301 w 252603"/>
                <a:gd name="connsiteY5" fmla="*/ 252603 h 346243"/>
                <a:gd name="connsiteX6" fmla="*/ 0 w 252603"/>
                <a:gd name="connsiteY6" fmla="*/ 126302 h 346243"/>
                <a:gd name="connsiteX7" fmla="*/ 126301 w 252603"/>
                <a:gd name="connsiteY7" fmla="*/ 0 h 346243"/>
                <a:gd name="connsiteX8" fmla="*/ 252604 w 252603"/>
                <a:gd name="connsiteY8" fmla="*/ 126302 h 346243"/>
                <a:gd name="connsiteX9" fmla="*/ 252604 w 252603"/>
                <a:gd name="connsiteY9" fmla="*/ 126207 h 34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2603" h="346243">
                  <a:moveTo>
                    <a:pt x="252604" y="126207"/>
                  </a:moveTo>
                  <a:cubicBezTo>
                    <a:pt x="252604" y="240221"/>
                    <a:pt x="176498" y="311944"/>
                    <a:pt x="134398" y="342900"/>
                  </a:cubicBezTo>
                  <a:cubicBezTo>
                    <a:pt x="123063" y="351282"/>
                    <a:pt x="107061" y="342900"/>
                    <a:pt x="107061" y="328899"/>
                  </a:cubicBezTo>
                  <a:cubicBezTo>
                    <a:pt x="107061" y="323946"/>
                    <a:pt x="109252" y="319278"/>
                    <a:pt x="112967" y="316040"/>
                  </a:cubicBezTo>
                  <a:cubicBezTo>
                    <a:pt x="133160" y="298133"/>
                    <a:pt x="147542" y="273749"/>
                    <a:pt x="157924" y="248412"/>
                  </a:cubicBezTo>
                  <a:cubicBezTo>
                    <a:pt x="147828" y="250984"/>
                    <a:pt x="137255" y="252603"/>
                    <a:pt x="126301" y="252603"/>
                  </a:cubicBezTo>
                  <a:cubicBezTo>
                    <a:pt x="56483" y="252603"/>
                    <a:pt x="0" y="196025"/>
                    <a:pt x="0" y="126302"/>
                  </a:cubicBezTo>
                  <a:cubicBezTo>
                    <a:pt x="0" y="56579"/>
                    <a:pt x="56578" y="0"/>
                    <a:pt x="126301" y="0"/>
                  </a:cubicBezTo>
                  <a:cubicBezTo>
                    <a:pt x="196024" y="0"/>
                    <a:pt x="252604" y="56579"/>
                    <a:pt x="252604" y="126302"/>
                  </a:cubicBezTo>
                  <a:lnTo>
                    <a:pt x="252604" y="126207"/>
                  </a:lnTo>
                  <a:close/>
                </a:path>
              </a:pathLst>
            </a:custGeom>
            <a:solidFill>
              <a:srgbClr val="0090C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2C9CEDB8-9ABB-BCBF-358D-0A19C1771378}"/>
                </a:ext>
              </a:extLst>
            </p:cNvPr>
            <p:cNvSpPr/>
            <p:nvPr/>
          </p:nvSpPr>
          <p:spPr>
            <a:xfrm>
              <a:off x="4185285" y="4591349"/>
              <a:ext cx="263270" cy="293560"/>
            </a:xfrm>
            <a:custGeom>
              <a:avLst/>
              <a:gdLst>
                <a:gd name="connsiteX0" fmla="*/ 131636 w 263270"/>
                <a:gd name="connsiteY0" fmla="*/ 293561 h 293560"/>
                <a:gd name="connsiteX1" fmla="*/ 263271 w 263270"/>
                <a:gd name="connsiteY1" fmla="*/ 146780 h 293560"/>
                <a:gd name="connsiteX2" fmla="*/ 131636 w 263270"/>
                <a:gd name="connsiteY2" fmla="*/ 0 h 293560"/>
                <a:gd name="connsiteX3" fmla="*/ 0 w 263270"/>
                <a:gd name="connsiteY3" fmla="*/ 146780 h 293560"/>
                <a:gd name="connsiteX4" fmla="*/ 131636 w 263270"/>
                <a:gd name="connsiteY4" fmla="*/ 293561 h 29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270" h="293560">
                  <a:moveTo>
                    <a:pt x="131636" y="293561"/>
                  </a:moveTo>
                  <a:cubicBezTo>
                    <a:pt x="204336" y="293561"/>
                    <a:pt x="263271" y="227845"/>
                    <a:pt x="263271" y="146780"/>
                  </a:cubicBezTo>
                  <a:cubicBezTo>
                    <a:pt x="263271" y="65716"/>
                    <a:pt x="204336" y="0"/>
                    <a:pt x="131636" y="0"/>
                  </a:cubicBezTo>
                  <a:cubicBezTo>
                    <a:pt x="58935" y="0"/>
                    <a:pt x="0" y="65716"/>
                    <a:pt x="0" y="146780"/>
                  </a:cubicBezTo>
                  <a:cubicBezTo>
                    <a:pt x="0" y="227845"/>
                    <a:pt x="58935" y="293561"/>
                    <a:pt x="131636" y="293561"/>
                  </a:cubicBezTo>
                  <a:close/>
                </a:path>
              </a:pathLst>
            </a:custGeom>
            <a:solidFill>
              <a:srgbClr val="55C6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35" name="그래픽 34">
            <a:extLst>
              <a:ext uri="{FF2B5EF4-FFF2-40B4-BE49-F238E27FC236}">
                <a16:creationId xmlns:a16="http://schemas.microsoft.com/office/drawing/2014/main" id="{B88DF9C7-E543-13AE-9EA0-B6C608BBD1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9922" y="4329506"/>
            <a:ext cx="803251" cy="252000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624B8041-D914-4906-0C94-3B6A12CBFC96}"/>
              </a:ext>
            </a:extLst>
          </p:cNvPr>
          <p:cNvGrpSpPr>
            <a:grpSpLocks noChangeAspect="1"/>
          </p:cNvGrpSpPr>
          <p:nvPr/>
        </p:nvGrpSpPr>
        <p:grpSpPr>
          <a:xfrm>
            <a:off x="8085934" y="5159358"/>
            <a:ext cx="953020" cy="288000"/>
            <a:chOff x="2579869" y="3037522"/>
            <a:chExt cx="5279449" cy="1595438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5378FFF-6EBD-8BF9-FEDB-8C075742769D}"/>
                </a:ext>
              </a:extLst>
            </p:cNvPr>
            <p:cNvSpPr/>
            <p:nvPr/>
          </p:nvSpPr>
          <p:spPr>
            <a:xfrm rot="19916371">
              <a:off x="3030445" y="3594627"/>
              <a:ext cx="1023329" cy="628863"/>
            </a:xfrm>
            <a:prstGeom prst="rect">
              <a:avLst/>
            </a:prstGeom>
            <a:solidFill>
              <a:srgbClr val="E0F9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43498644-8C0F-9B95-9C83-B4DCF0689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579869" y="3037522"/>
              <a:ext cx="5279449" cy="1595438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D49435B-B5DC-0623-0BA9-CC7740C56B0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타이탄컴퍼니 그룹은 </a:t>
            </a:r>
            <a:r>
              <a:rPr lang="en-US" altLang="ko-KR" sz="1400" b="1" dirty="0">
                <a:solidFill>
                  <a:srgbClr val="3D3D3D"/>
                </a:solidFill>
              </a:rPr>
              <a:t>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플랫폼을 중심으로 콘텐츠 기획</a:t>
            </a:r>
            <a:r>
              <a:rPr lang="en-US" altLang="ko-KR" sz="1400" b="1" dirty="0">
                <a:solidFill>
                  <a:srgbClr val="3D3D3D"/>
                </a:solidFill>
              </a:rPr>
              <a:t>/</a:t>
            </a:r>
            <a:r>
              <a:rPr lang="ko-KR" altLang="en-US" sz="1400" b="1" dirty="0">
                <a:solidFill>
                  <a:srgbClr val="3D3D3D"/>
                </a:solidFill>
              </a:rPr>
              <a:t>제작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강사 브랜딩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퍼포먼스 마케팅</a:t>
            </a:r>
            <a:r>
              <a:rPr lang="en-US" altLang="ko-KR" sz="1400" b="1" dirty="0">
                <a:solidFill>
                  <a:srgbClr val="3D3D3D"/>
                </a:solidFill>
              </a:rPr>
              <a:t>·SI</a:t>
            </a:r>
            <a:r>
              <a:rPr lang="ko-KR" altLang="en-US" sz="1400" b="1" dirty="0">
                <a:solidFill>
                  <a:srgbClr val="3D3D3D"/>
                </a:solidFill>
              </a:rPr>
              <a:t>사업까지 전 과정 역량을 내재화한 통합 사업 포트폴리오를 보유하고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260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EC5ADF7-5EC3-BF75-A0B3-4D35C687E0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조직도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7E9802-407B-1352-A36D-8962DF693F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C558EA-ECE1-D577-76CB-FC7DD80765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29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CA23D7-C18E-E4AC-424D-60B5AE564083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타이탄컴퍼니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D1E6D7-4818-AD67-2071-57E47F3E10CF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클래스어라운드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3BBA17F-66D4-5510-50BA-80665CBDDD12}"/>
              </a:ext>
            </a:extLst>
          </p:cNvPr>
          <p:cNvGrpSpPr/>
          <p:nvPr/>
        </p:nvGrpSpPr>
        <p:grpSpPr>
          <a:xfrm>
            <a:off x="490981" y="2332053"/>
            <a:ext cx="4316039" cy="1888696"/>
            <a:chOff x="-671860" y="2332053"/>
            <a:chExt cx="6573964" cy="1888696"/>
          </a:xfrm>
        </p:grpSpPr>
        <p:sp>
          <p:nvSpPr>
            <p:cNvPr id="8" name="직사각형 38">
              <a:extLst>
                <a:ext uri="{FF2B5EF4-FFF2-40B4-BE49-F238E27FC236}">
                  <a16:creationId xmlns:a16="http://schemas.microsoft.com/office/drawing/2014/main" id="{9FD23C25-4E7E-D387-9775-1E56A8E3343F}"/>
                </a:ext>
              </a:extLst>
            </p:cNvPr>
            <p:cNvSpPr/>
            <p:nvPr/>
          </p:nvSpPr>
          <p:spPr>
            <a:xfrm>
              <a:off x="-671860" y="3860749"/>
              <a:ext cx="1535333" cy="360000"/>
            </a:xfrm>
            <a:prstGeom prst="rect">
              <a:avLst/>
            </a:prstGeom>
            <a:solidFill>
              <a:srgbClr val="11244A"/>
            </a:solidFill>
            <a:ln w="6350">
              <a:solidFill>
                <a:srgbClr val="11244A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경영지원팀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(5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직사각형 51">
              <a:extLst>
                <a:ext uri="{FF2B5EF4-FFF2-40B4-BE49-F238E27FC236}">
                  <a16:creationId xmlns:a16="http://schemas.microsoft.com/office/drawing/2014/main" id="{3C4FD8C6-97C5-0DC4-CBA8-060A67CC5734}"/>
                </a:ext>
              </a:extLst>
            </p:cNvPr>
            <p:cNvSpPr/>
            <p:nvPr/>
          </p:nvSpPr>
          <p:spPr>
            <a:xfrm>
              <a:off x="1847455" y="2332053"/>
              <a:ext cx="1535333" cy="360000"/>
            </a:xfrm>
            <a:prstGeom prst="rect">
              <a:avLst/>
            </a:prstGeom>
            <a:solidFill>
              <a:srgbClr val="11244A"/>
            </a:solidFill>
            <a:ln w="6350">
              <a:solidFill>
                <a:srgbClr val="11244A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대표이사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(1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:a16="http://schemas.microsoft.com/office/drawing/2014/main" id="{1590567C-3A78-1AA1-7DCD-F98B649795AF}"/>
                </a:ext>
              </a:extLst>
            </p:cNvPr>
            <p:cNvSpPr/>
            <p:nvPr/>
          </p:nvSpPr>
          <p:spPr>
            <a:xfrm>
              <a:off x="1847455" y="3860749"/>
              <a:ext cx="1535333" cy="360000"/>
            </a:xfrm>
            <a:prstGeom prst="rect">
              <a:avLst/>
            </a:pr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 err="1">
                  <a:solidFill>
                    <a:schemeClr val="bg1"/>
                  </a:solidFill>
                </a:rPr>
                <a:t>교육팀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(14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직사각형 38">
              <a:extLst>
                <a:ext uri="{FF2B5EF4-FFF2-40B4-BE49-F238E27FC236}">
                  <a16:creationId xmlns:a16="http://schemas.microsoft.com/office/drawing/2014/main" id="{6DB1FDAF-EDDA-91F7-3BC8-E71BAD1CBF1F}"/>
                </a:ext>
              </a:extLst>
            </p:cNvPr>
            <p:cNvSpPr/>
            <p:nvPr/>
          </p:nvSpPr>
          <p:spPr>
            <a:xfrm>
              <a:off x="4366771" y="3860749"/>
              <a:ext cx="1535333" cy="360000"/>
            </a:xfrm>
            <a:prstGeom prst="rect">
              <a:avLst/>
            </a:prstGeom>
            <a:solidFill>
              <a:srgbClr val="93CCFF"/>
            </a:solidFill>
            <a:ln w="6350">
              <a:solidFill>
                <a:srgbClr val="93CC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콘텐츠팀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(6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C4C43614-A75C-7339-A1F3-EB66587B39B2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rot="5400000">
            <a:off x="1237643" y="2449392"/>
            <a:ext cx="1168696" cy="1654019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62181EBD-3C11-A393-1124-CA0F7E9A2592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16200000" flipH="1">
            <a:off x="2891662" y="2449391"/>
            <a:ext cx="1168696" cy="1654020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85870E-2344-4263-A321-9A484D3A6206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649000" y="2692053"/>
            <a:ext cx="0" cy="1168696"/>
          </a:xfrm>
          <a:prstGeom prst="line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5A00010-BB9F-F58D-7F5A-62607B7B0611}"/>
              </a:ext>
            </a:extLst>
          </p:cNvPr>
          <p:cNvSpPr txBox="1"/>
          <p:nvPr/>
        </p:nvSpPr>
        <p:spPr>
          <a:xfrm>
            <a:off x="453000" y="4492325"/>
            <a:ext cx="4391999" cy="1136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100" b="1" spc="-30" dirty="0">
                <a:solidFill>
                  <a:srgbClr val="3D3D3D"/>
                </a:solidFill>
              </a:rPr>
              <a:t>[ </a:t>
            </a:r>
            <a:r>
              <a:rPr lang="ko-KR" altLang="en-US" sz="1100" b="1" spc="-30" dirty="0">
                <a:solidFill>
                  <a:srgbClr val="3D3D3D"/>
                </a:solidFill>
              </a:rPr>
              <a:t>부서별 </a:t>
            </a:r>
            <a:r>
              <a:rPr lang="en-US" altLang="ko-KR" sz="1100" b="1" spc="-30" dirty="0">
                <a:solidFill>
                  <a:srgbClr val="3D3D3D"/>
                </a:solidFill>
              </a:rPr>
              <a:t>R&amp;R ] 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경영지원팀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급여처리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법인서류 관리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채용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복지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근태관리 등 인사총무 </a:t>
            </a:r>
            <a:r>
              <a:rPr lang="en-US" altLang="ko-KR" sz="1000" spc="-30" dirty="0">
                <a:solidFill>
                  <a:srgbClr val="3D3D3D"/>
                </a:solidFill>
              </a:rPr>
              <a:t>/ </a:t>
            </a:r>
            <a:r>
              <a:rPr lang="ko-KR" altLang="en-US" sz="1000" spc="-30" dirty="0">
                <a:solidFill>
                  <a:srgbClr val="3D3D3D"/>
                </a:solidFill>
              </a:rPr>
              <a:t>회계결산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각종 정산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송금 및 재무 관리 등 회계업무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교육사업부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강사관리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강의기획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상세페이지 기획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세일즈 업무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유입 </a:t>
            </a:r>
            <a:r>
              <a:rPr lang="en-US" altLang="ko-KR" sz="1000" spc="-30" dirty="0">
                <a:solidFill>
                  <a:srgbClr val="3D3D3D"/>
                </a:solidFill>
              </a:rPr>
              <a:t>CS </a:t>
            </a:r>
            <a:r>
              <a:rPr lang="ko-KR" altLang="en-US" sz="1000" spc="-30" dirty="0">
                <a:solidFill>
                  <a:srgbClr val="3D3D3D"/>
                </a:solidFill>
              </a:rPr>
              <a:t>관리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세일즈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퍼널</a:t>
            </a:r>
            <a:r>
              <a:rPr lang="ko-KR" altLang="en-US" sz="1000" spc="-30" dirty="0">
                <a:solidFill>
                  <a:srgbClr val="3D3D3D"/>
                </a:solidFill>
              </a:rPr>
              <a:t> 및 </a:t>
            </a:r>
            <a:r>
              <a:rPr lang="en-US" altLang="ko-KR" sz="1000" spc="-30" dirty="0">
                <a:solidFill>
                  <a:srgbClr val="3D3D3D"/>
                </a:solidFill>
              </a:rPr>
              <a:t>CRM </a:t>
            </a:r>
            <a:r>
              <a:rPr lang="ko-KR" altLang="en-US" sz="1000" spc="-30" dirty="0">
                <a:solidFill>
                  <a:srgbClr val="3D3D3D"/>
                </a:solidFill>
              </a:rPr>
              <a:t>구조 구축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콘텐츠팀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광고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유튜브 영상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기획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촬영 및 편집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B33C21-1685-E56C-2BD1-E67091B6DDC3}"/>
              </a:ext>
            </a:extLst>
          </p:cNvPr>
          <p:cNvSpPr txBox="1"/>
          <p:nvPr/>
        </p:nvSpPr>
        <p:spPr>
          <a:xfrm>
            <a:off x="5061000" y="4492325"/>
            <a:ext cx="4391999" cy="1513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100" b="1" spc="-30" dirty="0">
                <a:solidFill>
                  <a:srgbClr val="3D3D3D"/>
                </a:solidFill>
              </a:rPr>
              <a:t>[ </a:t>
            </a:r>
            <a:r>
              <a:rPr lang="ko-KR" altLang="en-US" sz="1100" b="1" spc="-30" dirty="0">
                <a:solidFill>
                  <a:srgbClr val="3D3D3D"/>
                </a:solidFill>
              </a:rPr>
              <a:t>부서별 </a:t>
            </a:r>
            <a:r>
              <a:rPr lang="en-US" altLang="ko-KR" sz="1100" b="1" spc="-30" dirty="0">
                <a:solidFill>
                  <a:srgbClr val="3D3D3D"/>
                </a:solidFill>
              </a:rPr>
              <a:t>R&amp;R ] 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경영지원팀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급여처리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법인서류 관리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채용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복지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근태관리 등 인사총무 </a:t>
            </a:r>
            <a:r>
              <a:rPr lang="en-US" altLang="ko-KR" sz="1000" spc="-30" dirty="0">
                <a:solidFill>
                  <a:srgbClr val="3D3D3D"/>
                </a:solidFill>
              </a:rPr>
              <a:t>/ </a:t>
            </a:r>
            <a:r>
              <a:rPr lang="ko-KR" altLang="en-US" sz="1000" spc="-30" dirty="0">
                <a:solidFill>
                  <a:srgbClr val="3D3D3D"/>
                </a:solidFill>
              </a:rPr>
              <a:t>회계결산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각종 정산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송금 및 재무 관리 등 회계업무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 err="1">
                <a:solidFill>
                  <a:srgbClr val="3D3D3D"/>
                </a:solidFill>
              </a:rPr>
              <a:t>교육팀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강사관리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강의기획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상세페이지 기획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세일즈 업무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유입 </a:t>
            </a:r>
            <a:r>
              <a:rPr lang="en-US" altLang="ko-KR" sz="1000" spc="-30" dirty="0">
                <a:solidFill>
                  <a:srgbClr val="3D3D3D"/>
                </a:solidFill>
              </a:rPr>
              <a:t>CS </a:t>
            </a:r>
            <a:r>
              <a:rPr lang="ko-KR" altLang="en-US" sz="1000" spc="-30" dirty="0">
                <a:solidFill>
                  <a:srgbClr val="3D3D3D"/>
                </a:solidFill>
              </a:rPr>
              <a:t>관리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세일즈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퍼널</a:t>
            </a:r>
            <a:r>
              <a:rPr lang="ko-KR" altLang="en-US" sz="1000" spc="-30" dirty="0">
                <a:solidFill>
                  <a:srgbClr val="3D3D3D"/>
                </a:solidFill>
              </a:rPr>
              <a:t> 및 </a:t>
            </a:r>
            <a:r>
              <a:rPr lang="en-US" altLang="ko-KR" sz="1000" spc="-30" dirty="0">
                <a:solidFill>
                  <a:srgbClr val="3D3D3D"/>
                </a:solidFill>
              </a:rPr>
              <a:t>CRM </a:t>
            </a:r>
            <a:r>
              <a:rPr lang="ko-KR" altLang="en-US" sz="1000" spc="-30" dirty="0">
                <a:solidFill>
                  <a:srgbClr val="3D3D3D"/>
                </a:solidFill>
              </a:rPr>
              <a:t>구조 구축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TF</a:t>
            </a:r>
            <a:r>
              <a:rPr lang="ko-KR" altLang="en-US" sz="1000" spc="-30" dirty="0">
                <a:solidFill>
                  <a:srgbClr val="3D3D3D"/>
                </a:solidFill>
              </a:rPr>
              <a:t>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해외 사업 전략 기획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현지 파트너 발굴 및 제휴 협상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계약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협약 진행 및 관리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콘텐츠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서비스 현지화</a:t>
            </a:r>
            <a:r>
              <a:rPr lang="en-US" altLang="ko-KR" sz="1000" spc="-30" dirty="0">
                <a:solidFill>
                  <a:srgbClr val="3D3D3D"/>
                </a:solidFill>
              </a:rPr>
              <a:t>(</a:t>
            </a:r>
            <a:r>
              <a:rPr lang="ko-KR" altLang="en-US" sz="1000" spc="-30" dirty="0">
                <a:solidFill>
                  <a:srgbClr val="3D3D3D"/>
                </a:solidFill>
              </a:rPr>
              <a:t>번역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문화 적합성 검토</a:t>
            </a:r>
            <a:r>
              <a:rPr lang="en-US" altLang="ko-KR" sz="1000" spc="-30" dirty="0">
                <a:solidFill>
                  <a:srgbClr val="3D3D3D"/>
                </a:solidFill>
              </a:rPr>
              <a:t>)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콘텐츠팀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광고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유튜브 영상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기획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촬영 및 편집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BDD8E94-836B-B40E-ADA4-CF96107AD601}"/>
              </a:ext>
            </a:extLst>
          </p:cNvPr>
          <p:cNvGrpSpPr/>
          <p:nvPr/>
        </p:nvGrpSpPr>
        <p:grpSpPr>
          <a:xfrm>
            <a:off x="5098980" y="2332053"/>
            <a:ext cx="4316040" cy="1888696"/>
            <a:chOff x="-671860" y="2332053"/>
            <a:chExt cx="6573964" cy="1888696"/>
          </a:xfrm>
        </p:grpSpPr>
        <p:sp>
          <p:nvSpPr>
            <p:cNvPr id="35" name="직사각형 38">
              <a:extLst>
                <a:ext uri="{FF2B5EF4-FFF2-40B4-BE49-F238E27FC236}">
                  <a16:creationId xmlns:a16="http://schemas.microsoft.com/office/drawing/2014/main" id="{7417ABC5-70B3-95CD-0775-25AEDB348185}"/>
                </a:ext>
              </a:extLst>
            </p:cNvPr>
            <p:cNvSpPr/>
            <p:nvPr/>
          </p:nvSpPr>
          <p:spPr>
            <a:xfrm>
              <a:off x="-671860" y="3860749"/>
              <a:ext cx="1535332" cy="360000"/>
            </a:xfrm>
            <a:prstGeom prst="rect">
              <a:avLst/>
            </a:prstGeom>
            <a:solidFill>
              <a:srgbClr val="11244A"/>
            </a:solidFill>
            <a:ln w="6350">
              <a:solidFill>
                <a:srgbClr val="11244A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경영지원팀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(4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직사각형 51">
              <a:extLst>
                <a:ext uri="{FF2B5EF4-FFF2-40B4-BE49-F238E27FC236}">
                  <a16:creationId xmlns:a16="http://schemas.microsoft.com/office/drawing/2014/main" id="{ACBF1C11-A87C-49DB-E9D4-E2DC3CC79EE9}"/>
                </a:ext>
              </a:extLst>
            </p:cNvPr>
            <p:cNvSpPr/>
            <p:nvPr/>
          </p:nvSpPr>
          <p:spPr>
            <a:xfrm>
              <a:off x="1847454" y="2332053"/>
              <a:ext cx="1535332" cy="360000"/>
            </a:xfrm>
            <a:prstGeom prst="rect">
              <a:avLst/>
            </a:prstGeom>
            <a:solidFill>
              <a:srgbClr val="11244A"/>
            </a:solidFill>
            <a:ln w="6350">
              <a:solidFill>
                <a:srgbClr val="11244A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대표이사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(1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직사각형 38">
              <a:extLst>
                <a:ext uri="{FF2B5EF4-FFF2-40B4-BE49-F238E27FC236}">
                  <a16:creationId xmlns:a16="http://schemas.microsoft.com/office/drawing/2014/main" id="{CF74598D-49EE-2FC1-8CF6-4E3616A95BE7}"/>
                </a:ext>
              </a:extLst>
            </p:cNvPr>
            <p:cNvSpPr/>
            <p:nvPr/>
          </p:nvSpPr>
          <p:spPr>
            <a:xfrm>
              <a:off x="1007684" y="3860749"/>
              <a:ext cx="1535332" cy="360000"/>
            </a:xfrm>
            <a:prstGeom prst="rect">
              <a:avLst/>
            </a:pr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 err="1">
                  <a:solidFill>
                    <a:schemeClr val="bg1"/>
                  </a:solidFill>
                </a:rPr>
                <a:t>교육팀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(9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직사각형 38">
              <a:extLst>
                <a:ext uri="{FF2B5EF4-FFF2-40B4-BE49-F238E27FC236}">
                  <a16:creationId xmlns:a16="http://schemas.microsoft.com/office/drawing/2014/main" id="{9BC0981D-2AC5-5235-DC12-74ED8CD76186}"/>
                </a:ext>
              </a:extLst>
            </p:cNvPr>
            <p:cNvSpPr/>
            <p:nvPr/>
          </p:nvSpPr>
          <p:spPr>
            <a:xfrm>
              <a:off x="2687228" y="3860749"/>
              <a:ext cx="1535332" cy="360000"/>
            </a:xfrm>
            <a:prstGeom prst="rect">
              <a:avLst/>
            </a:prstGeom>
            <a:solidFill>
              <a:srgbClr val="4B6DE8"/>
            </a:solidFill>
            <a:ln w="6350">
              <a:solidFill>
                <a:srgbClr val="4B6DE8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</a:rPr>
                <a:t>TF</a:t>
              </a:r>
              <a:r>
                <a:rPr lang="ko-KR" altLang="en-US" sz="1100" b="1" dirty="0">
                  <a:solidFill>
                    <a:schemeClr val="bg1"/>
                  </a:solidFill>
                </a:rPr>
                <a:t>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(2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직사각형 38">
              <a:extLst>
                <a:ext uri="{FF2B5EF4-FFF2-40B4-BE49-F238E27FC236}">
                  <a16:creationId xmlns:a16="http://schemas.microsoft.com/office/drawing/2014/main" id="{2967BE49-BC2A-31B9-7687-DD81EE62502F}"/>
                </a:ext>
              </a:extLst>
            </p:cNvPr>
            <p:cNvSpPr/>
            <p:nvPr/>
          </p:nvSpPr>
          <p:spPr>
            <a:xfrm>
              <a:off x="4366772" y="3860749"/>
              <a:ext cx="1535332" cy="360000"/>
            </a:xfrm>
            <a:prstGeom prst="rect">
              <a:avLst/>
            </a:prstGeom>
            <a:solidFill>
              <a:srgbClr val="93CCFF"/>
            </a:solidFill>
            <a:ln w="6350">
              <a:solidFill>
                <a:srgbClr val="93CC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콘텐츠팀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(9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30B9132A-1DAB-B63E-7C94-2F9F13AD8268}"/>
              </a:ext>
            </a:extLst>
          </p:cNvPr>
          <p:cNvCxnSpPr>
            <a:cxnSpLocks/>
            <a:stCxn id="36" idx="2"/>
            <a:endCxn id="35" idx="0"/>
          </p:cNvCxnSpPr>
          <p:nvPr/>
        </p:nvCxnSpPr>
        <p:spPr>
          <a:xfrm rot="5400000">
            <a:off x="5845642" y="2449392"/>
            <a:ext cx="1168696" cy="1654019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3FD41E07-7CC3-7ED7-4974-203A08F2F13D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rot="16200000" flipH="1">
            <a:off x="6948321" y="3000730"/>
            <a:ext cx="1168696" cy="551341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A3941CBE-4D66-FB04-DE4D-FF46915A6BB1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rot="5400000">
            <a:off x="6396982" y="3000732"/>
            <a:ext cx="1168696" cy="551339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A6108040-E67D-CEFA-A32D-5D25DB17D3F2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 rot="16200000" flipH="1">
            <a:off x="7499661" y="2449390"/>
            <a:ext cx="1168696" cy="1654021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F5FD3E2-B7A4-BD37-BFB3-D25755E3B19C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타이탄컴퍼니 그룹은 각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기능별 내재화된 전문 조직을 운영 중이며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각 팀이 기획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제작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운영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세일즈까지 전 </a:t>
            </a:r>
            <a:r>
              <a:rPr lang="ko-KR" altLang="en-US" sz="1400" b="1" dirty="0" err="1">
                <a:solidFill>
                  <a:srgbClr val="3D3D3D"/>
                </a:solidFill>
              </a:rPr>
              <a:t>밸류체인을</a:t>
            </a:r>
            <a:r>
              <a:rPr lang="ko-KR" altLang="en-US" sz="1400" b="1" dirty="0">
                <a:solidFill>
                  <a:srgbClr val="3D3D3D"/>
                </a:solidFill>
              </a:rPr>
              <a:t> 유기적으로 분담하며 높은 실행력과 운영 효율성을 확보하고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756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EC47-B83F-476A-BB9B-0703B225B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14C7754-5081-FB82-0B86-D95082C151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조직도 </a:t>
            </a:r>
            <a:r>
              <a:rPr lang="en-US" altLang="ko-KR" sz="1800" dirty="0"/>
              <a:t>(</a:t>
            </a:r>
            <a:r>
              <a:rPr lang="ko-KR" altLang="en-US" sz="1800" dirty="0"/>
              <a:t>계속</a:t>
            </a:r>
            <a:r>
              <a:rPr lang="en-US" altLang="ko-KR" sz="18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3691D1-F9A5-93C8-A939-94443457FA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26478C-5382-EF5B-B475-54147AED46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30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DF887E-17A8-6536-FB0A-1B8677552322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티티에이컴퍼니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F25E9E-D828-D98E-1C33-1089A5A28772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시스템노바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DB6A7FD-9AC1-55DE-3753-09C8914BEAD9}"/>
              </a:ext>
            </a:extLst>
          </p:cNvPr>
          <p:cNvGrpSpPr/>
          <p:nvPr/>
        </p:nvGrpSpPr>
        <p:grpSpPr>
          <a:xfrm>
            <a:off x="490981" y="2332053"/>
            <a:ext cx="4316039" cy="1888696"/>
            <a:chOff x="-671860" y="2332053"/>
            <a:chExt cx="6573964" cy="1888696"/>
          </a:xfrm>
        </p:grpSpPr>
        <p:sp>
          <p:nvSpPr>
            <p:cNvPr id="8" name="직사각형 38">
              <a:extLst>
                <a:ext uri="{FF2B5EF4-FFF2-40B4-BE49-F238E27FC236}">
                  <a16:creationId xmlns:a16="http://schemas.microsoft.com/office/drawing/2014/main" id="{C46ADB47-8DC9-7BF0-E7D8-F0C9BDCBCA08}"/>
                </a:ext>
              </a:extLst>
            </p:cNvPr>
            <p:cNvSpPr/>
            <p:nvPr/>
          </p:nvSpPr>
          <p:spPr>
            <a:xfrm>
              <a:off x="-671860" y="3860749"/>
              <a:ext cx="1535333" cy="360000"/>
            </a:xfrm>
            <a:prstGeom prst="rect">
              <a:avLst/>
            </a:pr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 err="1">
                  <a:solidFill>
                    <a:schemeClr val="bg1"/>
                  </a:solidFill>
                </a:rPr>
                <a:t>교육팀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(8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직사각형 51">
              <a:extLst>
                <a:ext uri="{FF2B5EF4-FFF2-40B4-BE49-F238E27FC236}">
                  <a16:creationId xmlns:a16="http://schemas.microsoft.com/office/drawing/2014/main" id="{8E4D0D0D-0DD1-C65F-EA2F-934964197AD6}"/>
                </a:ext>
              </a:extLst>
            </p:cNvPr>
            <p:cNvSpPr/>
            <p:nvPr/>
          </p:nvSpPr>
          <p:spPr>
            <a:xfrm>
              <a:off x="1847455" y="2332053"/>
              <a:ext cx="1535333" cy="360000"/>
            </a:xfrm>
            <a:prstGeom prst="rect">
              <a:avLst/>
            </a:prstGeom>
            <a:solidFill>
              <a:srgbClr val="11244A"/>
            </a:solidFill>
            <a:ln w="6350">
              <a:solidFill>
                <a:srgbClr val="11244A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대표이사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(1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직사각형 38">
              <a:extLst>
                <a:ext uri="{FF2B5EF4-FFF2-40B4-BE49-F238E27FC236}">
                  <a16:creationId xmlns:a16="http://schemas.microsoft.com/office/drawing/2014/main" id="{871368B2-2A14-89FF-B2A7-7E9C568E0E3E}"/>
                </a:ext>
              </a:extLst>
            </p:cNvPr>
            <p:cNvSpPr/>
            <p:nvPr/>
          </p:nvSpPr>
          <p:spPr>
            <a:xfrm>
              <a:off x="4366771" y="3860749"/>
              <a:ext cx="1535333" cy="360000"/>
            </a:xfrm>
            <a:prstGeom prst="rect">
              <a:avLst/>
            </a:prstGeom>
            <a:solidFill>
              <a:srgbClr val="93CCFF"/>
            </a:solidFill>
            <a:ln w="6350">
              <a:solidFill>
                <a:srgbClr val="93CC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미디어팀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(8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C74D9747-DBA6-F81F-A00C-5C78D33B7913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rot="5400000">
            <a:off x="1237643" y="2449392"/>
            <a:ext cx="1168696" cy="1654019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9ECA3994-2D2B-F3D8-CFAC-B81DEA95F95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16200000" flipH="1">
            <a:off x="2891662" y="2449391"/>
            <a:ext cx="1168696" cy="1654020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E0B56B9-D11B-0314-0F49-05160C336797}"/>
              </a:ext>
            </a:extLst>
          </p:cNvPr>
          <p:cNvSpPr txBox="1"/>
          <p:nvPr/>
        </p:nvSpPr>
        <p:spPr>
          <a:xfrm>
            <a:off x="453000" y="4492325"/>
            <a:ext cx="4391999" cy="9290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100" b="1" spc="-30" dirty="0">
                <a:solidFill>
                  <a:srgbClr val="3D3D3D"/>
                </a:solidFill>
              </a:rPr>
              <a:t>[ </a:t>
            </a:r>
            <a:r>
              <a:rPr lang="ko-KR" altLang="en-US" sz="1100" b="1" spc="-30" dirty="0">
                <a:solidFill>
                  <a:srgbClr val="3D3D3D"/>
                </a:solidFill>
              </a:rPr>
              <a:t>부서별 </a:t>
            </a:r>
            <a:r>
              <a:rPr lang="en-US" altLang="ko-KR" sz="1100" b="1" spc="-30" dirty="0">
                <a:solidFill>
                  <a:srgbClr val="3D3D3D"/>
                </a:solidFill>
              </a:rPr>
              <a:t>R&amp;R ] 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 err="1">
                <a:solidFill>
                  <a:srgbClr val="3D3D3D"/>
                </a:solidFill>
              </a:rPr>
              <a:t>교육팀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dirty="0"/>
              <a:t>인사</a:t>
            </a:r>
            <a:r>
              <a:rPr lang="en-US" altLang="ko-KR" sz="1000" dirty="0"/>
              <a:t>·</a:t>
            </a:r>
            <a:r>
              <a:rPr lang="ko-KR" altLang="en-US" sz="1000" dirty="0"/>
              <a:t>정산</a:t>
            </a:r>
            <a:r>
              <a:rPr lang="en-US" altLang="ko-KR" sz="1000" dirty="0"/>
              <a:t>·</a:t>
            </a:r>
            <a:r>
              <a:rPr lang="ko-KR" altLang="en-US" sz="1000" dirty="0"/>
              <a:t>결제 등 운영 전반 총괄</a:t>
            </a:r>
            <a:r>
              <a:rPr lang="en-US" altLang="ko-KR" sz="1000" dirty="0"/>
              <a:t> / </a:t>
            </a:r>
            <a:r>
              <a:rPr lang="ko-KR" altLang="en-US" sz="1000" dirty="0"/>
              <a:t>강사 및 </a:t>
            </a:r>
            <a:r>
              <a:rPr lang="ko-KR" altLang="en-US" sz="1000" dirty="0" err="1"/>
              <a:t>온드미디어</a:t>
            </a:r>
            <a:r>
              <a:rPr lang="ko-KR" altLang="en-US" sz="1000" dirty="0"/>
              <a:t> 관리</a:t>
            </a:r>
            <a:r>
              <a:rPr lang="en-US" altLang="ko-KR" sz="1000" dirty="0"/>
              <a:t>, CS </a:t>
            </a:r>
            <a:r>
              <a:rPr lang="ko-KR" altLang="en-US" sz="1000" dirty="0"/>
              <a:t>응대</a:t>
            </a:r>
            <a:r>
              <a:rPr lang="en-US" altLang="ko-KR" sz="1000" dirty="0"/>
              <a:t>, </a:t>
            </a:r>
            <a:r>
              <a:rPr lang="ko-KR" altLang="en-US" sz="1000" dirty="0"/>
              <a:t>오프라인 대관을 포함한 플랫폼 운영 </a:t>
            </a:r>
            <a:r>
              <a:rPr lang="en-US" altLang="ko-KR" sz="1000" dirty="0"/>
              <a:t>/ </a:t>
            </a:r>
            <a:r>
              <a:rPr lang="ko-KR" altLang="en-US" sz="1000" dirty="0"/>
              <a:t>강의</a:t>
            </a:r>
            <a:r>
              <a:rPr lang="en-US" altLang="ko-KR" sz="1000" dirty="0"/>
              <a:t>·</a:t>
            </a:r>
            <a:r>
              <a:rPr lang="ko-KR" altLang="en-US" sz="1000" dirty="0"/>
              <a:t>촬영 기획과 마케팅</a:t>
            </a:r>
            <a:r>
              <a:rPr lang="en-US" altLang="ko-KR" sz="1000" dirty="0"/>
              <a:t>(</a:t>
            </a:r>
            <a:r>
              <a:rPr lang="ko-KR" altLang="en-US" sz="1000" dirty="0"/>
              <a:t>광고</a:t>
            </a:r>
            <a:r>
              <a:rPr lang="en-US" altLang="ko-KR" sz="1000" dirty="0"/>
              <a:t>, SNS, </a:t>
            </a:r>
            <a:r>
              <a:rPr lang="ko-KR" altLang="en-US" sz="1000" dirty="0" err="1"/>
              <a:t>인플루언서</a:t>
            </a:r>
            <a:r>
              <a:rPr lang="ko-KR" altLang="en-US" sz="1000" dirty="0"/>
              <a:t> 제안</a:t>
            </a:r>
            <a:r>
              <a:rPr lang="en-US" altLang="ko-KR" sz="1000" dirty="0"/>
              <a:t>) </a:t>
            </a:r>
            <a:r>
              <a:rPr lang="ko-KR" altLang="en-US" sz="1000" dirty="0"/>
              <a:t>업무 및 재무 관련 지원 업무 병행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미디어팀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광고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유튜브 영상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기획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촬영 및 편집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085B38-C1F1-9C46-0022-1F58978E4A5F}"/>
              </a:ext>
            </a:extLst>
          </p:cNvPr>
          <p:cNvSpPr txBox="1"/>
          <p:nvPr/>
        </p:nvSpPr>
        <p:spPr>
          <a:xfrm>
            <a:off x="5061000" y="4492325"/>
            <a:ext cx="4391999" cy="1513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altLang="ko-KR" sz="1100" b="1" spc="-30" dirty="0">
                <a:solidFill>
                  <a:srgbClr val="3D3D3D"/>
                </a:solidFill>
              </a:rPr>
              <a:t>[ </a:t>
            </a:r>
            <a:r>
              <a:rPr lang="ko-KR" altLang="en-US" sz="1100" b="1" spc="-30" dirty="0">
                <a:solidFill>
                  <a:srgbClr val="3D3D3D"/>
                </a:solidFill>
              </a:rPr>
              <a:t>부서별 </a:t>
            </a:r>
            <a:r>
              <a:rPr lang="en-US" altLang="ko-KR" sz="1100" b="1" spc="-30" dirty="0">
                <a:solidFill>
                  <a:srgbClr val="3D3D3D"/>
                </a:solidFill>
              </a:rPr>
              <a:t>R&amp;R ] 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경영지원팀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급여처리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법인서류 관리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채용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복지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근태관리 등 인사총무 </a:t>
            </a:r>
            <a:r>
              <a:rPr lang="en-US" altLang="ko-KR" sz="1000" spc="-30" dirty="0">
                <a:solidFill>
                  <a:srgbClr val="3D3D3D"/>
                </a:solidFill>
              </a:rPr>
              <a:t>/ </a:t>
            </a:r>
            <a:r>
              <a:rPr lang="ko-KR" altLang="en-US" sz="1000" spc="-30" dirty="0">
                <a:solidFill>
                  <a:srgbClr val="3D3D3D"/>
                </a:solidFill>
              </a:rPr>
              <a:t>회계결산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각종 정산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송금 및 재무 관리 등 회계업무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 err="1">
                <a:solidFill>
                  <a:srgbClr val="3D3D3D"/>
                </a:solidFill>
              </a:rPr>
              <a:t>교육팀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플랫폼 운영 전반을 교육 및 관리 </a:t>
            </a:r>
            <a:r>
              <a:rPr lang="en-US" altLang="ko-KR" sz="1000" spc="-30" dirty="0">
                <a:solidFill>
                  <a:srgbClr val="3D3D3D"/>
                </a:solidFill>
              </a:rPr>
              <a:t>/ </a:t>
            </a:r>
            <a:r>
              <a:rPr lang="ko-KR" altLang="en-US" sz="1000" spc="-30" dirty="0">
                <a:solidFill>
                  <a:srgbClr val="3D3D3D"/>
                </a:solidFill>
              </a:rPr>
              <a:t>강사 역량 강화를 위한 무료강의 기획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리허설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운영 지원 </a:t>
            </a:r>
            <a:r>
              <a:rPr lang="en-US" altLang="ko-KR" sz="1000" spc="-30" dirty="0">
                <a:solidFill>
                  <a:srgbClr val="3D3D3D"/>
                </a:solidFill>
              </a:rPr>
              <a:t>/ </a:t>
            </a:r>
            <a:r>
              <a:rPr lang="ko-KR" altLang="en-US" sz="1000" spc="-30" dirty="0">
                <a:solidFill>
                  <a:srgbClr val="3D3D3D"/>
                </a:solidFill>
              </a:rPr>
              <a:t>상세페이지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유튜브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홍보 콘텐츠 관리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UX</a:t>
            </a:r>
            <a:r>
              <a:rPr lang="ko-KR" altLang="en-US" sz="1000" spc="-30" dirty="0">
                <a:solidFill>
                  <a:srgbClr val="3D3D3D"/>
                </a:solidFill>
              </a:rPr>
              <a:t>개발팀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dirty="0"/>
              <a:t>브랜딩과 </a:t>
            </a:r>
            <a:r>
              <a:rPr lang="en-US" altLang="ko-KR" sz="1000" dirty="0"/>
              <a:t>UI·UX </a:t>
            </a:r>
            <a:r>
              <a:rPr lang="ko-KR" altLang="en-US" sz="1000" dirty="0"/>
              <a:t>전반 기획</a:t>
            </a:r>
            <a:r>
              <a:rPr lang="en-US" altLang="ko-KR" sz="1000" dirty="0"/>
              <a:t>·</a:t>
            </a:r>
            <a:r>
              <a:rPr lang="ko-KR" altLang="en-US" sz="1000" dirty="0"/>
              <a:t>디자인 </a:t>
            </a:r>
            <a:r>
              <a:rPr lang="en-US" altLang="ko-KR" sz="1000" dirty="0"/>
              <a:t>/ </a:t>
            </a:r>
            <a:r>
              <a:rPr lang="ko-KR" altLang="en-US" sz="1000" dirty="0"/>
              <a:t>프론트</a:t>
            </a:r>
            <a:r>
              <a:rPr lang="en-US" altLang="ko-KR" sz="1000" dirty="0"/>
              <a:t>·</a:t>
            </a:r>
            <a:r>
              <a:rPr lang="ko-KR" altLang="en-US" sz="1000" dirty="0" err="1"/>
              <a:t>백엔드</a:t>
            </a:r>
            <a:r>
              <a:rPr lang="ko-KR" altLang="en-US" sz="1000" dirty="0"/>
              <a:t> 개발 및 데이터 연동</a:t>
            </a:r>
            <a:r>
              <a:rPr lang="en-US" altLang="ko-KR" sz="1000" dirty="0"/>
              <a:t>, </a:t>
            </a:r>
            <a:r>
              <a:rPr lang="ko-KR" altLang="en-US" sz="1000" dirty="0"/>
              <a:t>서비스 기능 구현</a:t>
            </a:r>
            <a:r>
              <a:rPr lang="en-US" altLang="ko-KR" sz="1000" dirty="0"/>
              <a:t>·</a:t>
            </a:r>
            <a:r>
              <a:rPr lang="ko-KR" altLang="en-US" sz="1000" dirty="0"/>
              <a:t>유지 </a:t>
            </a:r>
            <a:r>
              <a:rPr lang="en-US" altLang="ko-KR" sz="1000" dirty="0"/>
              <a:t>/</a:t>
            </a:r>
            <a:r>
              <a:rPr lang="ko-KR" altLang="en-US" sz="1000" dirty="0"/>
              <a:t> </a:t>
            </a:r>
            <a:r>
              <a:rPr lang="en-US" altLang="ko-KR" sz="1000" dirty="0"/>
              <a:t>ERP·</a:t>
            </a:r>
            <a:r>
              <a:rPr lang="ko-KR" altLang="en-US" sz="1000" dirty="0"/>
              <a:t>관리자페이지 운영과 보안 대응</a:t>
            </a:r>
            <a:endParaRPr lang="en-US" altLang="ko-KR" sz="1000" dirty="0"/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콘텐츠팀</a:t>
            </a:r>
            <a:r>
              <a:rPr lang="en-US" altLang="ko-KR" sz="1000" spc="-30" dirty="0">
                <a:solidFill>
                  <a:srgbClr val="3D3D3D"/>
                </a:solidFill>
              </a:rPr>
              <a:t>: </a:t>
            </a:r>
            <a:r>
              <a:rPr lang="ko-KR" altLang="en-US" sz="1000" spc="-30" dirty="0">
                <a:solidFill>
                  <a:srgbClr val="3D3D3D"/>
                </a:solidFill>
              </a:rPr>
              <a:t>광고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유튜브 영상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기획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촬영 및 편집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DB571CB-184C-47F3-A80F-5AF86649D5ED}"/>
              </a:ext>
            </a:extLst>
          </p:cNvPr>
          <p:cNvGrpSpPr/>
          <p:nvPr/>
        </p:nvGrpSpPr>
        <p:grpSpPr>
          <a:xfrm>
            <a:off x="5098980" y="2332053"/>
            <a:ext cx="4316040" cy="1888696"/>
            <a:chOff x="-671860" y="2332053"/>
            <a:chExt cx="6573964" cy="1888696"/>
          </a:xfrm>
        </p:grpSpPr>
        <p:sp>
          <p:nvSpPr>
            <p:cNvPr id="35" name="직사각형 38">
              <a:extLst>
                <a:ext uri="{FF2B5EF4-FFF2-40B4-BE49-F238E27FC236}">
                  <a16:creationId xmlns:a16="http://schemas.microsoft.com/office/drawing/2014/main" id="{25F6AF9C-E764-D419-7D89-875D7EAF2657}"/>
                </a:ext>
              </a:extLst>
            </p:cNvPr>
            <p:cNvSpPr/>
            <p:nvPr/>
          </p:nvSpPr>
          <p:spPr>
            <a:xfrm>
              <a:off x="-671860" y="3860749"/>
              <a:ext cx="1535332" cy="360000"/>
            </a:xfrm>
            <a:prstGeom prst="rect">
              <a:avLst/>
            </a:prstGeom>
            <a:solidFill>
              <a:srgbClr val="11244A"/>
            </a:solidFill>
            <a:ln w="6350">
              <a:solidFill>
                <a:srgbClr val="11244A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경영지원팀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(1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직사각형 51">
              <a:extLst>
                <a:ext uri="{FF2B5EF4-FFF2-40B4-BE49-F238E27FC236}">
                  <a16:creationId xmlns:a16="http://schemas.microsoft.com/office/drawing/2014/main" id="{BD9F6809-BF36-CE72-D633-5ECC9B916F7F}"/>
                </a:ext>
              </a:extLst>
            </p:cNvPr>
            <p:cNvSpPr/>
            <p:nvPr/>
          </p:nvSpPr>
          <p:spPr>
            <a:xfrm>
              <a:off x="1847454" y="2332053"/>
              <a:ext cx="1535332" cy="360000"/>
            </a:xfrm>
            <a:prstGeom prst="rect">
              <a:avLst/>
            </a:prstGeom>
            <a:solidFill>
              <a:srgbClr val="11244A"/>
            </a:solidFill>
            <a:ln w="6350">
              <a:solidFill>
                <a:srgbClr val="11244A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대표이사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(1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직사각형 38">
              <a:extLst>
                <a:ext uri="{FF2B5EF4-FFF2-40B4-BE49-F238E27FC236}">
                  <a16:creationId xmlns:a16="http://schemas.microsoft.com/office/drawing/2014/main" id="{ADC64C6D-AF04-D9AA-1AD3-3E657003191C}"/>
                </a:ext>
              </a:extLst>
            </p:cNvPr>
            <p:cNvSpPr/>
            <p:nvPr/>
          </p:nvSpPr>
          <p:spPr>
            <a:xfrm>
              <a:off x="1007684" y="3860749"/>
              <a:ext cx="1535332" cy="360000"/>
            </a:xfrm>
            <a:prstGeom prst="rect">
              <a:avLst/>
            </a:pr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100" b="1" dirty="0" err="1">
                  <a:solidFill>
                    <a:schemeClr val="bg1"/>
                  </a:solidFill>
                </a:rPr>
                <a:t>교육팀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(4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직사각형 38">
              <a:extLst>
                <a:ext uri="{FF2B5EF4-FFF2-40B4-BE49-F238E27FC236}">
                  <a16:creationId xmlns:a16="http://schemas.microsoft.com/office/drawing/2014/main" id="{53584893-ECE4-CA51-B562-14102928623B}"/>
                </a:ext>
              </a:extLst>
            </p:cNvPr>
            <p:cNvSpPr/>
            <p:nvPr/>
          </p:nvSpPr>
          <p:spPr>
            <a:xfrm>
              <a:off x="2687228" y="3860749"/>
              <a:ext cx="1535332" cy="360000"/>
            </a:xfrm>
            <a:prstGeom prst="rect">
              <a:avLst/>
            </a:prstGeom>
            <a:solidFill>
              <a:srgbClr val="4B6DE8"/>
            </a:solidFill>
            <a:ln w="6350">
              <a:solidFill>
                <a:srgbClr val="4B6DE8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</a:rPr>
                <a:t>UX</a:t>
              </a:r>
              <a:r>
                <a:rPr lang="ko-KR" altLang="en-US" sz="1100" b="1" dirty="0">
                  <a:solidFill>
                    <a:schemeClr val="bg1"/>
                  </a:solidFill>
                </a:rPr>
                <a:t>개발팀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(4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직사각형 38">
              <a:extLst>
                <a:ext uri="{FF2B5EF4-FFF2-40B4-BE49-F238E27FC236}">
                  <a16:creationId xmlns:a16="http://schemas.microsoft.com/office/drawing/2014/main" id="{19E1C3C5-157E-40F9-F6F4-5928EDAE6329}"/>
                </a:ext>
              </a:extLst>
            </p:cNvPr>
            <p:cNvSpPr/>
            <p:nvPr/>
          </p:nvSpPr>
          <p:spPr>
            <a:xfrm>
              <a:off x="4366772" y="3860749"/>
              <a:ext cx="1535332" cy="360000"/>
            </a:xfrm>
            <a:prstGeom prst="rect">
              <a:avLst/>
            </a:prstGeom>
            <a:solidFill>
              <a:srgbClr val="93CCFF"/>
            </a:solidFill>
            <a:ln w="6350">
              <a:solidFill>
                <a:srgbClr val="93CC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bg1"/>
                  </a:solidFill>
                </a:rPr>
                <a:t>콘텐츠팀</a:t>
              </a:r>
              <a:br>
                <a:rPr lang="en-US" altLang="ko-KR" sz="1100" b="1" dirty="0">
                  <a:solidFill>
                    <a:schemeClr val="bg1"/>
                  </a:solidFill>
                </a:rPr>
              </a:br>
              <a:r>
                <a:rPr lang="en-US" altLang="ko-KR" sz="900" b="1" dirty="0">
                  <a:solidFill>
                    <a:schemeClr val="bg1"/>
                  </a:solidFill>
                </a:rPr>
                <a:t>(2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명</a:t>
              </a:r>
              <a:r>
                <a:rPr lang="en-US" altLang="ko-KR" sz="900" b="1" dirty="0">
                  <a:solidFill>
                    <a:schemeClr val="bg1"/>
                  </a:solidFill>
                </a:rPr>
                <a:t>)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0024F942-F188-C240-6A10-3FD98A14D2D6}"/>
              </a:ext>
            </a:extLst>
          </p:cNvPr>
          <p:cNvCxnSpPr>
            <a:cxnSpLocks/>
            <a:stCxn id="36" idx="2"/>
            <a:endCxn id="35" idx="0"/>
          </p:cNvCxnSpPr>
          <p:nvPr/>
        </p:nvCxnSpPr>
        <p:spPr>
          <a:xfrm rot="5400000">
            <a:off x="5845642" y="2449392"/>
            <a:ext cx="1168696" cy="1654019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8694450B-3137-FA2C-8253-1ABF67B82B8C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rot="16200000" flipH="1">
            <a:off x="6948321" y="3000730"/>
            <a:ext cx="1168696" cy="551341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A9347A59-44FF-999A-8B80-D671A17A6C94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rot="5400000">
            <a:off x="6396982" y="3000732"/>
            <a:ext cx="1168696" cy="551339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ECC60970-C1D3-863F-1DD5-09E4208A8723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 rot="16200000" flipH="1">
            <a:off x="7499661" y="2449390"/>
            <a:ext cx="1168696" cy="1654021"/>
          </a:xfrm>
          <a:prstGeom prst="bentConnector3">
            <a:avLst/>
          </a:prstGeom>
          <a:ln w="635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3C7742-2EA8-D2FA-910E-7FBFA2BC083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타이탄컴퍼니 그룹은 각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기능별 내재화된 전문 조직을 운영 중이며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각 팀이 기획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제작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운영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세일즈까지 전 </a:t>
            </a:r>
            <a:r>
              <a:rPr lang="ko-KR" altLang="en-US" sz="1400" b="1" dirty="0" err="1">
                <a:solidFill>
                  <a:srgbClr val="3D3D3D"/>
                </a:solidFill>
              </a:rPr>
              <a:t>밸류체인을</a:t>
            </a:r>
            <a:r>
              <a:rPr lang="ko-KR" altLang="en-US" sz="1400" b="1" dirty="0">
                <a:solidFill>
                  <a:srgbClr val="3D3D3D"/>
                </a:solidFill>
              </a:rPr>
              <a:t> 유기적으로 분담하며 높은 실행력과 운영 효율성을 확보하고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177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913A1D90-4A2D-0646-BB23-3DC0B12103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5911" y="2519511"/>
            <a:ext cx="772827" cy="104400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D9EDE7C-A598-6FE9-5302-C432BE09CA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8214" y="3960993"/>
            <a:ext cx="772827" cy="1044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DE7DBCE-8449-6C3F-14D4-BDE5D60049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600" y="2525200"/>
            <a:ext cx="769658" cy="10611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5028B2E-36F6-CDCA-989F-6106274306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2438" y="3959022"/>
            <a:ext cx="772820" cy="1044002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F1495A-CFD0-A129-BDBB-4F6D1B34EE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Management Team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CBAED-DE57-62E1-BF7D-9AF9EAF88D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973E82-EBC2-E623-C4C4-2264BCC949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31</a:t>
            </a:fld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44ABA1-FAC0-5608-08D7-80CB905D047E}"/>
              </a:ext>
            </a:extLst>
          </p:cNvPr>
          <p:cNvSpPr/>
          <p:nvPr/>
        </p:nvSpPr>
        <p:spPr>
          <a:xfrm>
            <a:off x="453000" y="1700213"/>
            <a:ext cx="8999998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핵심 경영진 현황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5EFABB-A163-D0B9-6C61-E26DC0FA3F0E}"/>
              </a:ext>
            </a:extLst>
          </p:cNvPr>
          <p:cNvSpPr txBox="1"/>
          <p:nvPr/>
        </p:nvSpPr>
        <p:spPr>
          <a:xfrm>
            <a:off x="1287781" y="2519521"/>
            <a:ext cx="1260000" cy="1322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200" b="1" spc="-30" dirty="0" err="1">
                <a:solidFill>
                  <a:srgbClr val="3D3D3D"/>
                </a:solidFill>
              </a:rPr>
              <a:t>오윤록</a:t>
            </a:r>
            <a:r>
              <a:rPr lang="ko-KR" altLang="en-US" sz="1100" spc="-30" dirty="0">
                <a:solidFill>
                  <a:srgbClr val="3D3D3D"/>
                </a:solidFill>
              </a:rPr>
              <a:t> 대표이사</a:t>
            </a:r>
            <a:endParaRPr lang="en-US" altLang="ko-KR" sz="11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現 타이탄컴퍼니 대표이사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前 부산 교육청 소속 정교사</a:t>
            </a:r>
            <a:r>
              <a:rPr lang="en-US" altLang="ko-KR" sz="1000" spc="-30" dirty="0">
                <a:solidFill>
                  <a:srgbClr val="3D3D3D"/>
                </a:solidFill>
              </a:rPr>
              <a:t>(1</a:t>
            </a:r>
            <a:r>
              <a:rPr lang="ko-KR" altLang="en-US" sz="1000" spc="-30" dirty="0">
                <a:solidFill>
                  <a:srgbClr val="3D3D3D"/>
                </a:solidFill>
              </a:rPr>
              <a:t>급</a:t>
            </a:r>
            <a:r>
              <a:rPr lang="en-US" altLang="ko-KR" sz="1000" spc="-30" dirty="0">
                <a:solidFill>
                  <a:srgbClr val="3D3D3D"/>
                </a:solidFill>
              </a:rPr>
              <a:t>)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2030 </a:t>
            </a:r>
            <a:r>
              <a:rPr lang="ko-KR" altLang="en-US" sz="1000" spc="-30" dirty="0">
                <a:solidFill>
                  <a:srgbClr val="3D3D3D"/>
                </a:solidFill>
              </a:rPr>
              <a:t>부산 엑스포 홍보위원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4884B30-5B11-A982-6388-4609B9A242B6}"/>
              </a:ext>
            </a:extLst>
          </p:cNvPr>
          <p:cNvSpPr txBox="1"/>
          <p:nvPr/>
        </p:nvSpPr>
        <p:spPr>
          <a:xfrm>
            <a:off x="1287781" y="3960994"/>
            <a:ext cx="1260000" cy="1115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200" b="1" spc="-30" dirty="0">
                <a:solidFill>
                  <a:srgbClr val="3D3D3D"/>
                </a:solidFill>
              </a:rPr>
              <a:t>박세진</a:t>
            </a:r>
            <a:r>
              <a:rPr lang="ko-KR" altLang="en-US" sz="1100" spc="-30" dirty="0">
                <a:solidFill>
                  <a:srgbClr val="3D3D3D"/>
                </a:solidFill>
              </a:rPr>
              <a:t> 부장</a:t>
            </a:r>
            <a:endParaRPr lang="en-US" altLang="ko-KR" sz="11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現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타이탄컴퍼니 콘텐츠 부서장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Macquarie University Bachelor of Commerce</a:t>
            </a:r>
            <a:endParaRPr lang="ko-KR" altLang="en-US" sz="1000" spc="-30" dirty="0">
              <a:solidFill>
                <a:srgbClr val="3D3D3D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277E36-37F4-A0D9-416A-65D9C76D48C1}"/>
              </a:ext>
            </a:extLst>
          </p:cNvPr>
          <p:cNvSpPr txBox="1"/>
          <p:nvPr/>
        </p:nvSpPr>
        <p:spPr>
          <a:xfrm>
            <a:off x="5891262" y="2519521"/>
            <a:ext cx="1260000" cy="11152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200" b="1" spc="-30" dirty="0">
                <a:solidFill>
                  <a:srgbClr val="3D3D3D"/>
                </a:solidFill>
              </a:rPr>
              <a:t>정준호</a:t>
            </a:r>
            <a:r>
              <a:rPr lang="ko-KR" altLang="en-US" sz="1100" spc="-30" dirty="0">
                <a:solidFill>
                  <a:srgbClr val="3D3D3D"/>
                </a:solidFill>
              </a:rPr>
              <a:t> 대표이사</a:t>
            </a:r>
            <a:endParaRPr lang="en-US" altLang="ko-KR" sz="11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現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티티에이컴퍼니</a:t>
            </a:r>
            <a:r>
              <a:rPr lang="ko-KR" altLang="en-US" sz="1000" spc="-30" dirty="0">
                <a:solidFill>
                  <a:srgbClr val="3D3D3D"/>
                </a:solidFill>
              </a:rPr>
              <a:t> 대표이사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前 </a:t>
            </a:r>
            <a:r>
              <a:rPr lang="en-US" altLang="ko-KR" sz="1000" spc="-30" dirty="0">
                <a:solidFill>
                  <a:srgbClr val="3D3D3D"/>
                </a:solidFill>
              </a:rPr>
              <a:t>A.BL DESIGN / ABL STUDIO </a:t>
            </a:r>
            <a:r>
              <a:rPr lang="ko-KR" altLang="en-US" sz="1000" spc="-30" dirty="0">
                <a:solidFill>
                  <a:srgbClr val="3D3D3D"/>
                </a:solidFill>
              </a:rPr>
              <a:t>대표이사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2B94972-38DA-538B-8251-CB2EAEEB41D2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타이탄컴퍼니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그룹은 </a:t>
            </a:r>
            <a:r>
              <a:rPr lang="en-US" altLang="ko-KR" sz="1400" b="1" dirty="0">
                <a:solidFill>
                  <a:srgbClr val="3D3D3D"/>
                </a:solidFill>
              </a:rPr>
              <a:t>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플랫폼 운영 전반의 전문성을 갖춘 경영진으로 구성되어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  <a:r>
              <a:rPr lang="ko-KR" altLang="en-US" sz="1400" b="1" dirty="0">
                <a:solidFill>
                  <a:srgbClr val="3D3D3D"/>
                </a:solidFill>
              </a:rPr>
              <a:t>각 회사별 리더의 경험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네트워크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조직 운영 능력이 결합되어 그룹의 지속 성장을 뒷받침하고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5EB126B-69BB-7F32-F2DB-947AB0608754}"/>
              </a:ext>
            </a:extLst>
          </p:cNvPr>
          <p:cNvGrpSpPr/>
          <p:nvPr/>
        </p:nvGrpSpPr>
        <p:grpSpPr>
          <a:xfrm>
            <a:off x="2754734" y="2519521"/>
            <a:ext cx="2094791" cy="1043999"/>
            <a:chOff x="2717615" y="2186264"/>
            <a:chExt cx="2094791" cy="1043999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9503F5B-B1E9-5421-B085-741DC37F0E12}"/>
                </a:ext>
              </a:extLst>
            </p:cNvPr>
            <p:cNvSpPr txBox="1"/>
            <p:nvPr/>
          </p:nvSpPr>
          <p:spPr>
            <a:xfrm>
              <a:off x="3552406" y="2186264"/>
              <a:ext cx="1260000" cy="9459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300"/>
                </a:spcAft>
              </a:pPr>
              <a:r>
                <a:rPr lang="ko-KR" altLang="en-US" sz="1200" b="1" spc="-30" dirty="0">
                  <a:solidFill>
                    <a:srgbClr val="3D3D3D"/>
                  </a:solidFill>
                </a:rPr>
                <a:t>박세영</a:t>
              </a:r>
              <a:r>
                <a:rPr lang="ko-KR" altLang="en-US" sz="1100" spc="-30" dirty="0">
                  <a:solidFill>
                    <a:srgbClr val="3D3D3D"/>
                  </a:solidFill>
                </a:rPr>
                <a:t> 대표이사</a:t>
              </a:r>
              <a:endParaRPr lang="en-US" altLang="ko-KR" sz="1100" spc="-30" dirty="0">
                <a:solidFill>
                  <a:srgbClr val="3D3D3D"/>
                </a:solidFill>
              </a:endParaRPr>
            </a:p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現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클래스어라운드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대표이사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성균관대 경영대학원 글로벌경영학과 석사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4CEC3E2-AECB-4FA3-A905-195E450152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7615" y="2186264"/>
              <a:ext cx="772827" cy="1043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E8FD54D-ED10-E649-BA05-6E30B734F2D6}"/>
              </a:ext>
            </a:extLst>
          </p:cNvPr>
          <p:cNvGrpSpPr/>
          <p:nvPr/>
        </p:nvGrpSpPr>
        <p:grpSpPr>
          <a:xfrm>
            <a:off x="2754733" y="3959022"/>
            <a:ext cx="2094792" cy="1155686"/>
            <a:chOff x="2717614" y="3625765"/>
            <a:chExt cx="2094792" cy="1155686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C7899DF-30B7-0C25-1F1D-AD57E7DECF70}"/>
                </a:ext>
              </a:extLst>
            </p:cNvPr>
            <p:cNvSpPr txBox="1"/>
            <p:nvPr/>
          </p:nvSpPr>
          <p:spPr>
            <a:xfrm>
              <a:off x="3552406" y="3627737"/>
              <a:ext cx="1260000" cy="11537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300"/>
                </a:spcAft>
              </a:pPr>
              <a:r>
                <a:rPr lang="ko-KR" altLang="en-US" sz="1200" b="1" spc="-30" dirty="0">
                  <a:solidFill>
                    <a:srgbClr val="3D3D3D"/>
                  </a:solidFill>
                </a:rPr>
                <a:t>최유진</a:t>
              </a:r>
              <a:r>
                <a:rPr lang="ko-KR" altLang="en-US" sz="1100" spc="-30" dirty="0">
                  <a:solidFill>
                    <a:srgbClr val="3D3D3D"/>
                  </a:solidFill>
                </a:rPr>
                <a:t> 이사</a:t>
              </a:r>
              <a:endParaRPr lang="en-US" altLang="ko-KR" sz="1100" spc="-30" dirty="0">
                <a:solidFill>
                  <a:srgbClr val="3D3D3D"/>
                </a:solidFill>
              </a:endParaRPr>
            </a:p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現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클래스어라운드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이사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동양미래대학교 자동화공학과 학사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  <a:p>
              <a:pPr marL="171450" indent="-171450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C919E6D-D482-4980-A840-ED956211A8D2}"/>
                </a:ext>
              </a:extLst>
            </p:cNvPr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7614" y="3625765"/>
              <a:ext cx="772827" cy="1044001"/>
            </a:xfrm>
            <a:prstGeom prst="rect">
              <a:avLst/>
            </a:prstGeom>
            <a:effectLst/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7151827-9FB6-CE9E-A96A-EA237CA62A8E}"/>
              </a:ext>
            </a:extLst>
          </p:cNvPr>
          <p:cNvGrpSpPr/>
          <p:nvPr/>
        </p:nvGrpSpPr>
        <p:grpSpPr>
          <a:xfrm>
            <a:off x="7358214" y="2519521"/>
            <a:ext cx="2094784" cy="1044000"/>
            <a:chOff x="7180509" y="2186264"/>
            <a:chExt cx="2094784" cy="10440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A64DFC-EB93-C044-BA66-16D680AFAB72}"/>
                </a:ext>
              </a:extLst>
            </p:cNvPr>
            <p:cNvSpPr txBox="1"/>
            <p:nvPr/>
          </p:nvSpPr>
          <p:spPr>
            <a:xfrm>
              <a:off x="8015293" y="2186264"/>
              <a:ext cx="1260000" cy="984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300"/>
                </a:spcAft>
              </a:pPr>
              <a:r>
                <a:rPr lang="ko-KR" altLang="en-US" sz="1200" b="1" spc="-30" dirty="0">
                  <a:solidFill>
                    <a:srgbClr val="3D3D3D"/>
                  </a:solidFill>
                </a:rPr>
                <a:t>김지수</a:t>
              </a:r>
              <a:r>
                <a:rPr lang="ko-KR" altLang="en-US" sz="1100" spc="-30" dirty="0">
                  <a:solidFill>
                    <a:srgbClr val="3D3D3D"/>
                  </a:solidFill>
                </a:rPr>
                <a:t> 대표이사</a:t>
              </a:r>
              <a:endParaRPr lang="en-US" altLang="ko-KR" sz="1100" spc="-30" dirty="0">
                <a:solidFill>
                  <a:srgbClr val="3D3D3D"/>
                </a:solidFill>
              </a:endParaRPr>
            </a:p>
            <a:p>
              <a:pPr marL="171450" indent="-171450" algn="l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現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시스템노바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  <a:p>
              <a:pPr marL="171450" indent="-171450" algn="l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前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플로틱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CSO</a:t>
              </a:r>
            </a:p>
            <a:p>
              <a:pPr marL="171450" indent="-171450" algn="l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서울대학교 벤처경영연합전공 학사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  <p:pic>
          <p:nvPicPr>
            <p:cNvPr id="9" name="그림 8" descr="사람, 의류, 슈트, 벽이(가) 표시된 사진&#10;&#10;자동 생성된 설명">
              <a:extLst>
                <a:ext uri="{FF2B5EF4-FFF2-40B4-BE49-F238E27FC236}">
                  <a16:creationId xmlns:a16="http://schemas.microsoft.com/office/drawing/2014/main" id="{5613747B-4775-9374-E6EC-85C5014BB7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0"/>
                      </a14:imgEffect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7180509" y="2186264"/>
              <a:ext cx="772826" cy="104400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21" name="그림 20" descr="인간의 얼굴, 사람, 인물사진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8013CE-FA50-FE89-05D5-3DA5B4F66CE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8214" y="2519520"/>
            <a:ext cx="772826" cy="104399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7012BB-D04B-C4D3-9C6D-A05D1C3F65C2}"/>
              </a:ext>
            </a:extLst>
          </p:cNvPr>
          <p:cNvSpPr/>
          <p:nvPr/>
        </p:nvSpPr>
        <p:spPr>
          <a:xfrm>
            <a:off x="453000" y="2109867"/>
            <a:ext cx="2094781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타이탄컴퍼니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E4E2C3-A844-C7A3-8AFA-434F6BC64CDF}"/>
              </a:ext>
            </a:extLst>
          </p:cNvPr>
          <p:cNvSpPr/>
          <p:nvPr/>
        </p:nvSpPr>
        <p:spPr>
          <a:xfrm>
            <a:off x="2754733" y="2109867"/>
            <a:ext cx="2094781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클래스어라운드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A2D0BD0-AA55-5367-FB98-E230B10E177A}"/>
              </a:ext>
            </a:extLst>
          </p:cNvPr>
          <p:cNvSpPr/>
          <p:nvPr/>
        </p:nvSpPr>
        <p:spPr>
          <a:xfrm>
            <a:off x="5056480" y="2109867"/>
            <a:ext cx="2094781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티티에이컴퍼니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12E84CB-52FB-50AE-59D2-B64D598C89A4}"/>
              </a:ext>
            </a:extLst>
          </p:cNvPr>
          <p:cNvSpPr/>
          <p:nvPr/>
        </p:nvSpPr>
        <p:spPr>
          <a:xfrm>
            <a:off x="7358214" y="2109867"/>
            <a:ext cx="2094781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시스템노바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4752ED-C067-A444-C545-8353E23E4350}"/>
              </a:ext>
            </a:extLst>
          </p:cNvPr>
          <p:cNvSpPr txBox="1"/>
          <p:nvPr/>
        </p:nvSpPr>
        <p:spPr>
          <a:xfrm>
            <a:off x="8192998" y="3960994"/>
            <a:ext cx="1260000" cy="1153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200" b="1" spc="-30" dirty="0" err="1">
                <a:solidFill>
                  <a:srgbClr val="3D3D3D"/>
                </a:solidFill>
              </a:rPr>
              <a:t>황지유</a:t>
            </a:r>
            <a:r>
              <a:rPr lang="ko-KR" altLang="en-US" sz="1100" spc="-30" dirty="0">
                <a:solidFill>
                  <a:srgbClr val="3D3D3D"/>
                </a:solidFill>
              </a:rPr>
              <a:t> 총괄이사</a:t>
            </a:r>
            <a:endParaRPr lang="en-US" altLang="ko-KR" sz="11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現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시스템노바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前 다큐다 디자인팀 매니저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前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블링크코퍼레이션</a:t>
            </a:r>
            <a:r>
              <a:rPr lang="ko-KR" altLang="en-US" sz="1000" spc="-30" dirty="0">
                <a:solidFill>
                  <a:srgbClr val="3D3D3D"/>
                </a:solidFill>
              </a:rPr>
              <a:t> 유통사업부 팀장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008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C56F-7049-55C6-C9C0-99120523E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175F59-7DB8-F842-AF22-BC698D271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A08029-2A34-97F8-6659-2C123DE56071}"/>
              </a:ext>
            </a:extLst>
          </p:cNvPr>
          <p:cNvSpPr txBox="1"/>
          <p:nvPr/>
        </p:nvSpPr>
        <p:spPr>
          <a:xfrm>
            <a:off x="452438" y="1386550"/>
            <a:ext cx="3064942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49EB51E-F5C1-56DA-9E2E-0BFA91215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236714"/>
              </p:ext>
            </p:extLst>
          </p:nvPr>
        </p:nvGraphicFramePr>
        <p:xfrm>
          <a:off x="344438" y="2080716"/>
          <a:ext cx="360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Investment Highlights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812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Market Opportunities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spc="-50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Business Overview</a:t>
                      </a:r>
                      <a:endParaRPr lang="ko-KR" altLang="en-US" sz="1600" b="0" cap="all" spc="-50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A. Company Overview</a:t>
                      </a:r>
                      <a:endParaRPr lang="ko-KR" altLang="en-US" sz="16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563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spc="0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B. Skill-to-Earn Platform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680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C. SI · ERP Solution</a:t>
                      </a:r>
                      <a:endParaRPr lang="ko-KR" altLang="en-US" sz="16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874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05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Outfit ExtraBold"/>
                          <a:ea typeface="Pretendard ExtraBold"/>
                          <a:cs typeface="+mn-cs"/>
                        </a:rPr>
                        <a:t>Financial Summary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36481"/>
                  </a:ext>
                </a:extLst>
              </a:tr>
            </a:tbl>
          </a:graphicData>
        </a:graphic>
      </p:graphicFrame>
      <p:pic>
        <p:nvPicPr>
          <p:cNvPr id="2" name="그래픽 1">
            <a:extLst>
              <a:ext uri="{FF2B5EF4-FFF2-40B4-BE49-F238E27FC236}">
                <a16:creationId xmlns:a16="http://schemas.microsoft.com/office/drawing/2014/main" id="{89683F0C-0400-80F3-A437-A9C636B82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0908" y="549275"/>
            <a:ext cx="1642500" cy="252000"/>
          </a:xfrm>
          <a:prstGeom prst="rect">
            <a:avLst/>
          </a:prstGeom>
        </p:spPr>
      </p:pic>
      <p:grpSp>
        <p:nvGrpSpPr>
          <p:cNvPr id="7" name="그래픽 12">
            <a:extLst>
              <a:ext uri="{FF2B5EF4-FFF2-40B4-BE49-F238E27FC236}">
                <a16:creationId xmlns:a16="http://schemas.microsoft.com/office/drawing/2014/main" id="{40231E45-605D-042D-0A62-D38615D32CF4}"/>
              </a:ext>
            </a:extLst>
          </p:cNvPr>
          <p:cNvGrpSpPr>
            <a:grpSpLocks noChangeAspect="1"/>
          </p:cNvGrpSpPr>
          <p:nvPr/>
        </p:nvGrpSpPr>
        <p:grpSpPr>
          <a:xfrm>
            <a:off x="452999" y="461630"/>
            <a:ext cx="1363661" cy="427290"/>
            <a:chOff x="1748076" y="1492704"/>
            <a:chExt cx="2780254" cy="871165"/>
          </a:xfrm>
          <a:solidFill>
            <a:schemeClr val="bg1"/>
          </a:solidFill>
        </p:grpSpPr>
        <p:sp>
          <p:nvSpPr>
            <p:cNvPr id="8" name="자유형: 도형 21">
              <a:extLst>
                <a:ext uri="{FF2B5EF4-FFF2-40B4-BE49-F238E27FC236}">
                  <a16:creationId xmlns:a16="http://schemas.microsoft.com/office/drawing/2014/main" id="{3A66FCA4-135F-B580-4E82-9AFC5CA11CEC}"/>
                </a:ext>
              </a:extLst>
            </p:cNvPr>
            <p:cNvSpPr/>
            <p:nvPr/>
          </p:nvSpPr>
          <p:spPr>
            <a:xfrm flipV="1">
              <a:off x="2956473" y="1542367"/>
              <a:ext cx="1551422" cy="303005"/>
            </a:xfrm>
            <a:custGeom>
              <a:avLst/>
              <a:gdLst>
                <a:gd name="connsiteX0" fmla="*/ 1551596 w 1551422"/>
                <a:gd name="connsiteY0" fmla="*/ 303014 h 303005"/>
                <a:gd name="connsiteX1" fmla="*/ 173 w 1551422"/>
                <a:gd name="connsiteY1" fmla="*/ 303014 h 303005"/>
                <a:gd name="connsiteX2" fmla="*/ 173 w 1551422"/>
                <a:gd name="connsiteY2" fmla="*/ 8 h 303005"/>
                <a:gd name="connsiteX3" fmla="*/ 1551596 w 1551422"/>
                <a:gd name="connsiteY3" fmla="*/ 8 h 3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22" h="303005">
                  <a:moveTo>
                    <a:pt x="1551596" y="303014"/>
                  </a:moveTo>
                  <a:lnTo>
                    <a:pt x="173" y="303014"/>
                  </a:lnTo>
                  <a:lnTo>
                    <a:pt x="173" y="8"/>
                  </a:lnTo>
                  <a:lnTo>
                    <a:pt x="1551596" y="8"/>
                  </a:lnTo>
                  <a:close/>
                </a:path>
              </a:pathLst>
            </a:custGeom>
            <a:grpFill/>
            <a:ln w="60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" name="그래픽 12">
              <a:extLst>
                <a:ext uri="{FF2B5EF4-FFF2-40B4-BE49-F238E27FC236}">
                  <a16:creationId xmlns:a16="http://schemas.microsoft.com/office/drawing/2014/main" id="{BD7412E6-BCE3-17D0-F929-5E7F112C0AC0}"/>
                </a:ext>
              </a:extLst>
            </p:cNvPr>
            <p:cNvGrpSpPr/>
            <p:nvPr/>
          </p:nvGrpSpPr>
          <p:grpSpPr>
            <a:xfrm>
              <a:off x="1748076" y="1492704"/>
              <a:ext cx="2780254" cy="871165"/>
              <a:chOff x="1748076" y="1492704"/>
              <a:chExt cx="2780254" cy="871165"/>
            </a:xfrm>
            <a:grpFill/>
          </p:grpSpPr>
          <p:sp>
            <p:nvSpPr>
              <p:cNvPr id="10" name="자유형: 도형 26">
                <a:extLst>
                  <a:ext uri="{FF2B5EF4-FFF2-40B4-BE49-F238E27FC236}">
                    <a16:creationId xmlns:a16="http://schemas.microsoft.com/office/drawing/2014/main" id="{6D5E2B33-1135-611B-5F43-FC70E8058C07}"/>
                  </a:ext>
                </a:extLst>
              </p:cNvPr>
              <p:cNvSpPr/>
              <p:nvPr/>
            </p:nvSpPr>
            <p:spPr>
              <a:xfrm flipV="1">
                <a:off x="1751153" y="1513324"/>
                <a:ext cx="258404" cy="360962"/>
              </a:xfrm>
              <a:custGeom>
                <a:avLst/>
                <a:gdLst>
                  <a:gd name="connsiteX0" fmla="*/ 113589 w 258404"/>
                  <a:gd name="connsiteY0" fmla="*/ 179798 h 360962"/>
                  <a:gd name="connsiteX1" fmla="*/ 82826 w 258404"/>
                  <a:gd name="connsiteY1" fmla="*/ 179798 h 360962"/>
                  <a:gd name="connsiteX2" fmla="*/ 82826 w 258404"/>
                  <a:gd name="connsiteY2" fmla="*/ 7014 h 360962"/>
                  <a:gd name="connsiteX3" fmla="*/ 105382 w 258404"/>
                  <a:gd name="connsiteY3" fmla="*/ 7014 h 360962"/>
                  <a:gd name="connsiteX4" fmla="*/ 201265 w 258404"/>
                  <a:gd name="connsiteY4" fmla="*/ 94177 h 360962"/>
                  <a:gd name="connsiteX5" fmla="*/ 113589 w 258404"/>
                  <a:gd name="connsiteY5" fmla="*/ 179798 h 360962"/>
                  <a:gd name="connsiteX6" fmla="*/ 82826 w 258404"/>
                  <a:gd name="connsiteY6" fmla="*/ 354638 h 360962"/>
                  <a:gd name="connsiteX7" fmla="*/ 82826 w 258404"/>
                  <a:gd name="connsiteY7" fmla="*/ 186461 h 360962"/>
                  <a:gd name="connsiteX8" fmla="*/ 113589 w 258404"/>
                  <a:gd name="connsiteY8" fmla="*/ 186461 h 360962"/>
                  <a:gd name="connsiteX9" fmla="*/ 179215 w 258404"/>
                  <a:gd name="connsiteY9" fmla="*/ 274137 h 360962"/>
                  <a:gd name="connsiteX10" fmla="*/ 105382 w 258404"/>
                  <a:gd name="connsiteY10" fmla="*/ 354638 h 360962"/>
                  <a:gd name="connsiteX11" fmla="*/ 102820 w 258404"/>
                  <a:gd name="connsiteY11" fmla="*/ 345 h 360962"/>
                  <a:gd name="connsiteX12" fmla="*/ 280 w 258404"/>
                  <a:gd name="connsiteY12" fmla="*/ 345 h 360962"/>
                  <a:gd name="connsiteX13" fmla="*/ 280 w 258404"/>
                  <a:gd name="connsiteY13" fmla="*/ 4957 h 360962"/>
                  <a:gd name="connsiteX14" fmla="*/ 30018 w 258404"/>
                  <a:gd name="connsiteY14" fmla="*/ 61871 h 360962"/>
                  <a:gd name="connsiteX15" fmla="*/ 30018 w 258404"/>
                  <a:gd name="connsiteY15" fmla="*/ 300800 h 360962"/>
                  <a:gd name="connsiteX16" fmla="*/ 280 w 258404"/>
                  <a:gd name="connsiteY16" fmla="*/ 356688 h 360962"/>
                  <a:gd name="connsiteX17" fmla="*/ 280 w 258404"/>
                  <a:gd name="connsiteY17" fmla="*/ 361307 h 360962"/>
                  <a:gd name="connsiteX18" fmla="*/ 102820 w 258404"/>
                  <a:gd name="connsiteY18" fmla="*/ 361307 h 360962"/>
                  <a:gd name="connsiteX19" fmla="*/ 234585 w 258404"/>
                  <a:gd name="connsiteY19" fmla="*/ 273631 h 360962"/>
                  <a:gd name="connsiteX20" fmla="*/ 148964 w 258404"/>
                  <a:gd name="connsiteY20" fmla="*/ 185442 h 360962"/>
                  <a:gd name="connsiteX21" fmla="*/ 258685 w 258404"/>
                  <a:gd name="connsiteY21" fmla="*/ 92121 h 360962"/>
                  <a:gd name="connsiteX22" fmla="*/ 102820 w 258404"/>
                  <a:gd name="connsiteY22" fmla="*/ 345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8404" h="360962">
                    <a:moveTo>
                      <a:pt x="113589" y="179798"/>
                    </a:moveTo>
                    <a:lnTo>
                      <a:pt x="82826" y="179798"/>
                    </a:lnTo>
                    <a:lnTo>
                      <a:pt x="82826" y="7014"/>
                    </a:lnTo>
                    <a:lnTo>
                      <a:pt x="105382" y="7014"/>
                    </a:lnTo>
                    <a:cubicBezTo>
                      <a:pt x="154608" y="7014"/>
                      <a:pt x="201265" y="5989"/>
                      <a:pt x="201265" y="94177"/>
                    </a:cubicBezTo>
                    <a:cubicBezTo>
                      <a:pt x="201265" y="177235"/>
                      <a:pt x="151527" y="179798"/>
                      <a:pt x="113589" y="179798"/>
                    </a:cubicBezTo>
                    <a:moveTo>
                      <a:pt x="82826" y="354638"/>
                    </a:moveTo>
                    <a:lnTo>
                      <a:pt x="82826" y="186461"/>
                    </a:lnTo>
                    <a:lnTo>
                      <a:pt x="113589" y="186461"/>
                    </a:lnTo>
                    <a:cubicBezTo>
                      <a:pt x="145377" y="186461"/>
                      <a:pt x="179215" y="196204"/>
                      <a:pt x="179215" y="274137"/>
                    </a:cubicBezTo>
                    <a:cubicBezTo>
                      <a:pt x="179215" y="349507"/>
                      <a:pt x="136664" y="354638"/>
                      <a:pt x="105382" y="354638"/>
                    </a:cubicBezTo>
                    <a:close/>
                    <a:moveTo>
                      <a:pt x="102820" y="345"/>
                    </a:moveTo>
                    <a:lnTo>
                      <a:pt x="280" y="345"/>
                    </a:lnTo>
                    <a:lnTo>
                      <a:pt x="280" y="4957"/>
                    </a:lnTo>
                    <a:cubicBezTo>
                      <a:pt x="22325" y="4957"/>
                      <a:pt x="30018" y="27008"/>
                      <a:pt x="30018" y="61871"/>
                    </a:cubicBezTo>
                    <a:lnTo>
                      <a:pt x="30018" y="300800"/>
                    </a:lnTo>
                    <a:cubicBezTo>
                      <a:pt x="30018" y="332588"/>
                      <a:pt x="22837" y="356688"/>
                      <a:pt x="280" y="356688"/>
                    </a:cubicBezTo>
                    <a:lnTo>
                      <a:pt x="280" y="361307"/>
                    </a:lnTo>
                    <a:lnTo>
                      <a:pt x="102820" y="361307"/>
                    </a:lnTo>
                    <a:cubicBezTo>
                      <a:pt x="174090" y="361307"/>
                      <a:pt x="234585" y="357201"/>
                      <a:pt x="234585" y="273631"/>
                    </a:cubicBezTo>
                    <a:cubicBezTo>
                      <a:pt x="234585" y="193642"/>
                      <a:pt x="159221" y="185442"/>
                      <a:pt x="148964" y="185442"/>
                    </a:cubicBezTo>
                    <a:cubicBezTo>
                      <a:pt x="182290" y="185442"/>
                      <a:pt x="258685" y="178779"/>
                      <a:pt x="258685" y="92121"/>
                    </a:cubicBezTo>
                    <a:cubicBezTo>
                      <a:pt x="258685" y="2913"/>
                      <a:pt x="191527" y="345"/>
                      <a:pt x="102820" y="345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27">
                <a:extLst>
                  <a:ext uri="{FF2B5EF4-FFF2-40B4-BE49-F238E27FC236}">
                    <a16:creationId xmlns:a16="http://schemas.microsoft.com/office/drawing/2014/main" id="{42C1AD2C-B40F-9ABD-3F20-AA086EBC663A}"/>
                  </a:ext>
                </a:extLst>
              </p:cNvPr>
              <p:cNvSpPr/>
              <p:nvPr/>
            </p:nvSpPr>
            <p:spPr>
              <a:xfrm flipV="1">
                <a:off x="2091574" y="1492704"/>
                <a:ext cx="324112" cy="386382"/>
              </a:xfrm>
              <a:custGeom>
                <a:avLst/>
                <a:gdLst>
                  <a:gd name="connsiteX0" fmla="*/ 99962 w 324112"/>
                  <a:gd name="connsiteY0" fmla="*/ 281518 h 386382"/>
                  <a:gd name="connsiteX1" fmla="*/ 134548 w 324112"/>
                  <a:gd name="connsiteY1" fmla="*/ 228704 h 386382"/>
                  <a:gd name="connsiteX2" fmla="*/ 168151 w 324112"/>
                  <a:gd name="connsiteY2" fmla="*/ 359450 h 386382"/>
                  <a:gd name="connsiteX3" fmla="*/ 112142 w 324112"/>
                  <a:gd name="connsiteY3" fmla="*/ 374319 h 386382"/>
                  <a:gd name="connsiteX4" fmla="*/ 99962 w 324112"/>
                  <a:gd name="connsiteY4" fmla="*/ 281518 h 386382"/>
                  <a:gd name="connsiteX5" fmla="*/ 180807 w 324112"/>
                  <a:gd name="connsiteY5" fmla="*/ 76945 h 386382"/>
                  <a:gd name="connsiteX6" fmla="*/ 99962 w 324112"/>
                  <a:gd name="connsiteY6" fmla="*/ 199997 h 386382"/>
                  <a:gd name="connsiteX7" fmla="*/ 72696 w 324112"/>
                  <a:gd name="connsiteY7" fmla="*/ 182047 h 386382"/>
                  <a:gd name="connsiteX8" fmla="*/ 58575 w 324112"/>
                  <a:gd name="connsiteY8" fmla="*/ 53870 h 386382"/>
                  <a:gd name="connsiteX9" fmla="*/ 180807 w 324112"/>
                  <a:gd name="connsiteY9" fmla="*/ 76945 h 386382"/>
                  <a:gd name="connsiteX10" fmla="*/ 324468 w 324112"/>
                  <a:gd name="connsiteY10" fmla="*/ 56945 h 386382"/>
                  <a:gd name="connsiteX11" fmla="*/ 274802 w 324112"/>
                  <a:gd name="connsiteY11" fmla="*/ 550 h 386382"/>
                  <a:gd name="connsiteX12" fmla="*/ 213927 w 324112"/>
                  <a:gd name="connsiteY12" fmla="*/ 26182 h 386382"/>
                  <a:gd name="connsiteX13" fmla="*/ 185679 w 324112"/>
                  <a:gd name="connsiteY13" fmla="*/ 70789 h 386382"/>
                  <a:gd name="connsiteX14" fmla="*/ 19617 w 324112"/>
                  <a:gd name="connsiteY14" fmla="*/ 34901 h 386382"/>
                  <a:gd name="connsiteX15" fmla="*/ 68795 w 324112"/>
                  <a:gd name="connsiteY15" fmla="*/ 188203 h 386382"/>
                  <a:gd name="connsiteX16" fmla="*/ 96073 w 324112"/>
                  <a:gd name="connsiteY16" fmla="*/ 205635 h 386382"/>
                  <a:gd name="connsiteX17" fmla="*/ 71725 w 324112"/>
                  <a:gd name="connsiteY17" fmla="*/ 243573 h 386382"/>
                  <a:gd name="connsiteX18" fmla="*/ 103857 w 324112"/>
                  <a:gd name="connsiteY18" fmla="*/ 385088 h 386382"/>
                  <a:gd name="connsiteX19" fmla="*/ 173993 w 324112"/>
                  <a:gd name="connsiteY19" fmla="*/ 364069 h 386382"/>
                  <a:gd name="connsiteX20" fmla="*/ 138437 w 324112"/>
                  <a:gd name="connsiteY20" fmla="*/ 222554 h 386382"/>
                  <a:gd name="connsiteX21" fmla="*/ 203701 w 324112"/>
                  <a:gd name="connsiteY21" fmla="*/ 121040 h 386382"/>
                  <a:gd name="connsiteX22" fmla="*/ 261646 w 324112"/>
                  <a:gd name="connsiteY22" fmla="*/ 181535 h 386382"/>
                  <a:gd name="connsiteX23" fmla="*/ 291842 w 324112"/>
                  <a:gd name="connsiteY23" fmla="*/ 175897 h 386382"/>
                  <a:gd name="connsiteX24" fmla="*/ 294278 w 324112"/>
                  <a:gd name="connsiteY24" fmla="*/ 139490 h 386382"/>
                  <a:gd name="connsiteX25" fmla="*/ 259216 w 324112"/>
                  <a:gd name="connsiteY25" fmla="*/ 136421 h 386382"/>
                  <a:gd name="connsiteX26" fmla="*/ 250931 w 324112"/>
                  <a:gd name="connsiteY26" fmla="*/ 153853 h 386382"/>
                  <a:gd name="connsiteX27" fmla="*/ 207590 w 324112"/>
                  <a:gd name="connsiteY27" fmla="*/ 115396 h 386382"/>
                  <a:gd name="connsiteX28" fmla="*/ 246059 w 324112"/>
                  <a:gd name="connsiteY28" fmla="*/ 56945 h 386382"/>
                  <a:gd name="connsiteX29" fmla="*/ 285028 w 324112"/>
                  <a:gd name="connsiteY29" fmla="*/ 32845 h 386382"/>
                  <a:gd name="connsiteX30" fmla="*/ 318137 w 324112"/>
                  <a:gd name="connsiteY30" fmla="*/ 56945 h 38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24112" h="386382">
                    <a:moveTo>
                      <a:pt x="99962" y="281518"/>
                    </a:moveTo>
                    <a:lnTo>
                      <a:pt x="134548" y="228704"/>
                    </a:lnTo>
                    <a:cubicBezTo>
                      <a:pt x="199318" y="271774"/>
                      <a:pt x="192010" y="328175"/>
                      <a:pt x="168151" y="359450"/>
                    </a:cubicBezTo>
                    <a:cubicBezTo>
                      <a:pt x="154023" y="374832"/>
                      <a:pt x="131623" y="382013"/>
                      <a:pt x="112142" y="374319"/>
                    </a:cubicBezTo>
                    <a:cubicBezTo>
                      <a:pt x="82446" y="362525"/>
                      <a:pt x="76591" y="317924"/>
                      <a:pt x="99962" y="281518"/>
                    </a:cubicBezTo>
                    <a:moveTo>
                      <a:pt x="180807" y="76945"/>
                    </a:moveTo>
                    <a:lnTo>
                      <a:pt x="99962" y="199997"/>
                    </a:lnTo>
                    <a:lnTo>
                      <a:pt x="72696" y="182047"/>
                    </a:lnTo>
                    <a:cubicBezTo>
                      <a:pt x="44459" y="161540"/>
                      <a:pt x="16699" y="106165"/>
                      <a:pt x="58575" y="53870"/>
                    </a:cubicBezTo>
                    <a:cubicBezTo>
                      <a:pt x="88771" y="15932"/>
                      <a:pt x="155971" y="16957"/>
                      <a:pt x="180807" y="76945"/>
                    </a:cubicBezTo>
                    <a:moveTo>
                      <a:pt x="324468" y="56945"/>
                    </a:moveTo>
                    <a:cubicBezTo>
                      <a:pt x="323980" y="19519"/>
                      <a:pt x="297202" y="2594"/>
                      <a:pt x="274802" y="550"/>
                    </a:cubicBezTo>
                    <a:cubicBezTo>
                      <a:pt x="274802" y="550"/>
                      <a:pt x="232921" y="-3556"/>
                      <a:pt x="213927" y="26182"/>
                    </a:cubicBezTo>
                    <a:lnTo>
                      <a:pt x="185679" y="70789"/>
                    </a:lnTo>
                    <a:cubicBezTo>
                      <a:pt x="168639" y="12338"/>
                      <a:pt x="70742" y="-33807"/>
                      <a:pt x="19617" y="34901"/>
                    </a:cubicBezTo>
                    <a:cubicBezTo>
                      <a:pt x="-31031" y="103096"/>
                      <a:pt x="29844" y="164616"/>
                      <a:pt x="68795" y="188203"/>
                    </a:cubicBezTo>
                    <a:lnTo>
                      <a:pt x="96073" y="205635"/>
                    </a:lnTo>
                    <a:lnTo>
                      <a:pt x="71725" y="243573"/>
                    </a:lnTo>
                    <a:cubicBezTo>
                      <a:pt x="23513" y="312281"/>
                      <a:pt x="49325" y="374832"/>
                      <a:pt x="103857" y="385088"/>
                    </a:cubicBezTo>
                    <a:cubicBezTo>
                      <a:pt x="135518" y="390726"/>
                      <a:pt x="159378" y="381500"/>
                      <a:pt x="173993" y="364069"/>
                    </a:cubicBezTo>
                    <a:cubicBezTo>
                      <a:pt x="194934" y="338937"/>
                      <a:pt x="213433" y="275874"/>
                      <a:pt x="138437" y="222554"/>
                    </a:cubicBezTo>
                    <a:lnTo>
                      <a:pt x="203701" y="121040"/>
                    </a:lnTo>
                    <a:cubicBezTo>
                      <a:pt x="222200" y="169228"/>
                      <a:pt x="248983" y="178460"/>
                      <a:pt x="261646" y="181535"/>
                    </a:cubicBezTo>
                    <a:cubicBezTo>
                      <a:pt x="271383" y="183591"/>
                      <a:pt x="283557" y="183072"/>
                      <a:pt x="291842" y="175897"/>
                    </a:cubicBezTo>
                    <a:cubicBezTo>
                      <a:pt x="301091" y="168203"/>
                      <a:pt x="304498" y="151284"/>
                      <a:pt x="294278" y="139490"/>
                    </a:cubicBezTo>
                    <a:cubicBezTo>
                      <a:pt x="285505" y="128727"/>
                      <a:pt x="269918" y="127184"/>
                      <a:pt x="259216" y="136421"/>
                    </a:cubicBezTo>
                    <a:cubicBezTo>
                      <a:pt x="253367" y="141546"/>
                      <a:pt x="251419" y="146671"/>
                      <a:pt x="250931" y="153853"/>
                    </a:cubicBezTo>
                    <a:cubicBezTo>
                      <a:pt x="250931" y="165128"/>
                      <a:pt x="220741" y="156928"/>
                      <a:pt x="207590" y="115396"/>
                    </a:cubicBezTo>
                    <a:lnTo>
                      <a:pt x="246059" y="56945"/>
                    </a:lnTo>
                    <a:cubicBezTo>
                      <a:pt x="261646" y="33363"/>
                      <a:pt x="285028" y="32845"/>
                      <a:pt x="285028" y="32845"/>
                    </a:cubicBezTo>
                    <a:cubicBezTo>
                      <a:pt x="300120" y="32845"/>
                      <a:pt x="315701" y="39001"/>
                      <a:pt x="318137" y="56945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29">
                <a:extLst>
                  <a:ext uri="{FF2B5EF4-FFF2-40B4-BE49-F238E27FC236}">
                    <a16:creationId xmlns:a16="http://schemas.microsoft.com/office/drawing/2014/main" id="{F4B197EF-59B4-6A55-E88A-7CEEF6A777F7}"/>
                  </a:ext>
                </a:extLst>
              </p:cNvPr>
              <p:cNvSpPr/>
              <p:nvPr/>
            </p:nvSpPr>
            <p:spPr>
              <a:xfrm flipV="1">
                <a:off x="2427647" y="1513327"/>
                <a:ext cx="343018" cy="360956"/>
              </a:xfrm>
              <a:custGeom>
                <a:avLst/>
                <a:gdLst>
                  <a:gd name="connsiteX0" fmla="*/ 343489 w 343018"/>
                  <a:gd name="connsiteY0" fmla="*/ 361331 h 360956"/>
                  <a:gd name="connsiteX1" fmla="*/ 343489 w 343018"/>
                  <a:gd name="connsiteY1" fmla="*/ 354662 h 360956"/>
                  <a:gd name="connsiteX2" fmla="*/ 237862 w 343018"/>
                  <a:gd name="connsiteY2" fmla="*/ 241867 h 360956"/>
                  <a:gd name="connsiteX3" fmla="*/ 198899 w 343018"/>
                  <a:gd name="connsiteY3" fmla="*/ 161371 h 360956"/>
                  <a:gd name="connsiteX4" fmla="*/ 198899 w 343018"/>
                  <a:gd name="connsiteY4" fmla="*/ 57801 h 360956"/>
                  <a:gd name="connsiteX5" fmla="*/ 237349 w 343018"/>
                  <a:gd name="connsiteY5" fmla="*/ 7044 h 360956"/>
                  <a:gd name="connsiteX6" fmla="*/ 237349 w 343018"/>
                  <a:gd name="connsiteY6" fmla="*/ 375 h 360956"/>
                  <a:gd name="connsiteX7" fmla="*/ 112241 w 343018"/>
                  <a:gd name="connsiteY7" fmla="*/ 375 h 360956"/>
                  <a:gd name="connsiteX8" fmla="*/ 112241 w 343018"/>
                  <a:gd name="connsiteY8" fmla="*/ 7044 h 360956"/>
                  <a:gd name="connsiteX9" fmla="*/ 150698 w 343018"/>
                  <a:gd name="connsiteY9" fmla="*/ 57801 h 360956"/>
                  <a:gd name="connsiteX10" fmla="*/ 150698 w 343018"/>
                  <a:gd name="connsiteY10" fmla="*/ 148034 h 360956"/>
                  <a:gd name="connsiteX11" fmla="*/ 54309 w 343018"/>
                  <a:gd name="connsiteY11" fmla="*/ 315186 h 360956"/>
                  <a:gd name="connsiteX12" fmla="*/ 471 w 343018"/>
                  <a:gd name="connsiteY12" fmla="*/ 355175 h 360956"/>
                  <a:gd name="connsiteX13" fmla="*/ 471 w 343018"/>
                  <a:gd name="connsiteY13" fmla="*/ 361331 h 360956"/>
                  <a:gd name="connsiteX14" fmla="*/ 132247 w 343018"/>
                  <a:gd name="connsiteY14" fmla="*/ 361331 h 360956"/>
                  <a:gd name="connsiteX15" fmla="*/ 132247 w 343018"/>
                  <a:gd name="connsiteY15" fmla="*/ 355175 h 360956"/>
                  <a:gd name="connsiteX16" fmla="*/ 120448 w 343018"/>
                  <a:gd name="connsiteY16" fmla="*/ 297242 h 360956"/>
                  <a:gd name="connsiteX17" fmla="*/ 195824 w 343018"/>
                  <a:gd name="connsiteY17" fmla="*/ 169572 h 360956"/>
                  <a:gd name="connsiteX18" fmla="*/ 234787 w 343018"/>
                  <a:gd name="connsiteY18" fmla="*/ 249554 h 360956"/>
                  <a:gd name="connsiteX19" fmla="*/ 211718 w 343018"/>
                  <a:gd name="connsiteY19" fmla="*/ 354662 h 360956"/>
                  <a:gd name="connsiteX20" fmla="*/ 211718 w 343018"/>
                  <a:gd name="connsiteY20" fmla="*/ 361331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3018" h="360956">
                    <a:moveTo>
                      <a:pt x="343489" y="361331"/>
                    </a:moveTo>
                    <a:lnTo>
                      <a:pt x="343489" y="354662"/>
                    </a:lnTo>
                    <a:cubicBezTo>
                      <a:pt x="321444" y="354662"/>
                      <a:pt x="294775" y="354662"/>
                      <a:pt x="237862" y="241867"/>
                    </a:cubicBezTo>
                    <a:lnTo>
                      <a:pt x="198899" y="161371"/>
                    </a:lnTo>
                    <a:lnTo>
                      <a:pt x="198899" y="57801"/>
                    </a:lnTo>
                    <a:cubicBezTo>
                      <a:pt x="198899" y="16269"/>
                      <a:pt x="215818" y="7044"/>
                      <a:pt x="237349" y="7044"/>
                    </a:cubicBezTo>
                    <a:lnTo>
                      <a:pt x="237349" y="375"/>
                    </a:lnTo>
                    <a:lnTo>
                      <a:pt x="112241" y="375"/>
                    </a:lnTo>
                    <a:lnTo>
                      <a:pt x="112241" y="7044"/>
                    </a:lnTo>
                    <a:cubicBezTo>
                      <a:pt x="133785" y="7044"/>
                      <a:pt x="150698" y="16269"/>
                      <a:pt x="150698" y="57801"/>
                    </a:cubicBezTo>
                    <a:lnTo>
                      <a:pt x="150698" y="148034"/>
                    </a:lnTo>
                    <a:cubicBezTo>
                      <a:pt x="75334" y="281342"/>
                      <a:pt x="54309" y="315186"/>
                      <a:pt x="54309" y="315186"/>
                    </a:cubicBezTo>
                    <a:cubicBezTo>
                      <a:pt x="31246" y="354156"/>
                      <a:pt x="17402" y="354156"/>
                      <a:pt x="471" y="355175"/>
                    </a:cubicBezTo>
                    <a:lnTo>
                      <a:pt x="471" y="361331"/>
                    </a:lnTo>
                    <a:lnTo>
                      <a:pt x="132247" y="361331"/>
                    </a:lnTo>
                    <a:lnTo>
                      <a:pt x="132247" y="355175"/>
                    </a:lnTo>
                    <a:cubicBezTo>
                      <a:pt x="117885" y="355175"/>
                      <a:pt x="85596" y="356200"/>
                      <a:pt x="120448" y="297242"/>
                    </a:cubicBezTo>
                    <a:lnTo>
                      <a:pt x="195824" y="169572"/>
                    </a:lnTo>
                    <a:lnTo>
                      <a:pt x="234787" y="249554"/>
                    </a:lnTo>
                    <a:cubicBezTo>
                      <a:pt x="252224" y="284936"/>
                      <a:pt x="280931" y="354662"/>
                      <a:pt x="211718" y="354662"/>
                    </a:cubicBezTo>
                    <a:lnTo>
                      <a:pt x="211718" y="361331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30">
                <a:extLst>
                  <a:ext uri="{FF2B5EF4-FFF2-40B4-BE49-F238E27FC236}">
                    <a16:creationId xmlns:a16="http://schemas.microsoft.com/office/drawing/2014/main" id="{9FE9EDE6-B9EA-22BF-9358-F286384812D5}"/>
                  </a:ext>
                </a:extLst>
              </p:cNvPr>
              <p:cNvSpPr/>
              <p:nvPr/>
            </p:nvSpPr>
            <p:spPr>
              <a:xfrm flipV="1">
                <a:off x="1748076" y="1998302"/>
                <a:ext cx="263535" cy="360956"/>
              </a:xfrm>
              <a:custGeom>
                <a:avLst/>
                <a:gdLst>
                  <a:gd name="connsiteX0" fmla="*/ 94103 w 263535"/>
                  <a:gd name="connsiteY0" fmla="*/ 161445 h 360956"/>
                  <a:gd name="connsiteX1" fmla="*/ 207930 w 263535"/>
                  <a:gd name="connsiteY1" fmla="*/ 257835 h 360956"/>
                  <a:gd name="connsiteX2" fmla="*/ 94103 w 263535"/>
                  <a:gd name="connsiteY2" fmla="*/ 354742 h 360956"/>
                  <a:gd name="connsiteX3" fmla="*/ 84878 w 263535"/>
                  <a:gd name="connsiteY3" fmla="*/ 354742 h 360956"/>
                  <a:gd name="connsiteX4" fmla="*/ 84878 w 263535"/>
                  <a:gd name="connsiteY4" fmla="*/ 161445 h 360956"/>
                  <a:gd name="connsiteX5" fmla="*/ 84878 w 263535"/>
                  <a:gd name="connsiteY5" fmla="*/ 70688 h 360956"/>
                  <a:gd name="connsiteX6" fmla="*/ 135629 w 263535"/>
                  <a:gd name="connsiteY6" fmla="*/ 7118 h 360956"/>
                  <a:gd name="connsiteX7" fmla="*/ 135629 w 263535"/>
                  <a:gd name="connsiteY7" fmla="*/ 449 h 360956"/>
                  <a:gd name="connsiteX8" fmla="*/ 277 w 263535"/>
                  <a:gd name="connsiteY8" fmla="*/ 449 h 360956"/>
                  <a:gd name="connsiteX9" fmla="*/ 277 w 263535"/>
                  <a:gd name="connsiteY9" fmla="*/ 7118 h 360956"/>
                  <a:gd name="connsiteX10" fmla="*/ 34115 w 263535"/>
                  <a:gd name="connsiteY10" fmla="*/ 69150 h 360956"/>
                  <a:gd name="connsiteX11" fmla="*/ 34115 w 263535"/>
                  <a:gd name="connsiteY11" fmla="*/ 306542 h 360956"/>
                  <a:gd name="connsiteX12" fmla="*/ 1302 w 263535"/>
                  <a:gd name="connsiteY12" fmla="*/ 354742 h 360956"/>
                  <a:gd name="connsiteX13" fmla="*/ 1302 w 263535"/>
                  <a:gd name="connsiteY13" fmla="*/ 361405 h 360956"/>
                  <a:gd name="connsiteX14" fmla="*/ 94103 w 263535"/>
                  <a:gd name="connsiteY14" fmla="*/ 361405 h 360956"/>
                  <a:gd name="connsiteX15" fmla="*/ 263813 w 263535"/>
                  <a:gd name="connsiteY15" fmla="*/ 257835 h 360956"/>
                  <a:gd name="connsiteX16" fmla="*/ 94103 w 263535"/>
                  <a:gd name="connsiteY16" fmla="*/ 154783 h 360956"/>
                  <a:gd name="connsiteX17" fmla="*/ 84878 w 263535"/>
                  <a:gd name="connsiteY17" fmla="*/ 154783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3535" h="360956">
                    <a:moveTo>
                      <a:pt x="94103" y="161445"/>
                    </a:moveTo>
                    <a:cubicBezTo>
                      <a:pt x="156660" y="161445"/>
                      <a:pt x="207930" y="162983"/>
                      <a:pt x="207930" y="257835"/>
                    </a:cubicBezTo>
                    <a:cubicBezTo>
                      <a:pt x="207930" y="355261"/>
                      <a:pt x="154092" y="354742"/>
                      <a:pt x="94103" y="354742"/>
                    </a:cubicBezTo>
                    <a:lnTo>
                      <a:pt x="84878" y="354742"/>
                    </a:lnTo>
                    <a:lnTo>
                      <a:pt x="84878" y="161445"/>
                    </a:lnTo>
                    <a:close/>
                    <a:moveTo>
                      <a:pt x="84878" y="70688"/>
                    </a:moveTo>
                    <a:cubicBezTo>
                      <a:pt x="84878" y="9162"/>
                      <a:pt x="103329" y="7118"/>
                      <a:pt x="135629" y="7118"/>
                    </a:cubicBezTo>
                    <a:lnTo>
                      <a:pt x="135629" y="449"/>
                    </a:lnTo>
                    <a:lnTo>
                      <a:pt x="277" y="449"/>
                    </a:lnTo>
                    <a:lnTo>
                      <a:pt x="277" y="7118"/>
                    </a:lnTo>
                    <a:cubicBezTo>
                      <a:pt x="25396" y="7118"/>
                      <a:pt x="34115" y="20449"/>
                      <a:pt x="34115" y="69150"/>
                    </a:cubicBezTo>
                    <a:lnTo>
                      <a:pt x="34115" y="306542"/>
                    </a:lnTo>
                    <a:cubicBezTo>
                      <a:pt x="34115" y="341923"/>
                      <a:pt x="26934" y="354742"/>
                      <a:pt x="1302" y="354742"/>
                    </a:cubicBezTo>
                    <a:lnTo>
                      <a:pt x="1302" y="361405"/>
                    </a:lnTo>
                    <a:lnTo>
                      <a:pt x="94103" y="361405"/>
                    </a:lnTo>
                    <a:cubicBezTo>
                      <a:pt x="196130" y="361405"/>
                      <a:pt x="263813" y="349099"/>
                      <a:pt x="263813" y="257835"/>
                    </a:cubicBezTo>
                    <a:cubicBezTo>
                      <a:pt x="263813" y="167089"/>
                      <a:pt x="196130" y="154783"/>
                      <a:pt x="94103" y="154783"/>
                    </a:cubicBezTo>
                    <a:lnTo>
                      <a:pt x="84878" y="154783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31">
                <a:extLst>
                  <a:ext uri="{FF2B5EF4-FFF2-40B4-BE49-F238E27FC236}">
                    <a16:creationId xmlns:a16="http://schemas.microsoft.com/office/drawing/2014/main" id="{B871121E-92A5-1FCA-2A67-3FC2D48260BA}"/>
                  </a:ext>
                </a:extLst>
              </p:cNvPr>
              <p:cNvSpPr/>
              <p:nvPr/>
            </p:nvSpPr>
            <p:spPr>
              <a:xfrm flipV="1">
                <a:off x="2031586" y="1998298"/>
                <a:ext cx="336343" cy="360962"/>
              </a:xfrm>
              <a:custGeom>
                <a:avLst/>
                <a:gdLst>
                  <a:gd name="connsiteX0" fmla="*/ 210577 w 336343"/>
                  <a:gd name="connsiteY0" fmla="*/ 116324 h 360962"/>
                  <a:gd name="connsiteX1" fmla="*/ 143401 w 336343"/>
                  <a:gd name="connsiteY1" fmla="*/ 286540 h 360962"/>
                  <a:gd name="connsiteX2" fmla="*/ 81368 w 336343"/>
                  <a:gd name="connsiteY2" fmla="*/ 116324 h 360962"/>
                  <a:gd name="connsiteX3" fmla="*/ 336704 w 336343"/>
                  <a:gd name="connsiteY3" fmla="*/ 442 h 360962"/>
                  <a:gd name="connsiteX4" fmla="*/ 219796 w 336343"/>
                  <a:gd name="connsiteY4" fmla="*/ 442 h 360962"/>
                  <a:gd name="connsiteX5" fmla="*/ 219796 w 336343"/>
                  <a:gd name="connsiteY5" fmla="*/ 7116 h 360962"/>
                  <a:gd name="connsiteX6" fmla="*/ 230565 w 336343"/>
                  <a:gd name="connsiteY6" fmla="*/ 65049 h 360962"/>
                  <a:gd name="connsiteX7" fmla="*/ 212627 w 336343"/>
                  <a:gd name="connsiteY7" fmla="*/ 109656 h 360962"/>
                  <a:gd name="connsiteX8" fmla="*/ 79825 w 336343"/>
                  <a:gd name="connsiteY8" fmla="*/ 109656 h 360962"/>
                  <a:gd name="connsiteX9" fmla="*/ 114700 w 336343"/>
                  <a:gd name="connsiteY9" fmla="*/ 7116 h 360962"/>
                  <a:gd name="connsiteX10" fmla="*/ 114700 w 336343"/>
                  <a:gd name="connsiteY10" fmla="*/ 442 h 360962"/>
                  <a:gd name="connsiteX11" fmla="*/ 361 w 336343"/>
                  <a:gd name="connsiteY11" fmla="*/ 442 h 360962"/>
                  <a:gd name="connsiteX12" fmla="*/ 361 w 336343"/>
                  <a:gd name="connsiteY12" fmla="*/ 7116 h 360962"/>
                  <a:gd name="connsiteX13" fmla="*/ 77268 w 336343"/>
                  <a:gd name="connsiteY13" fmla="*/ 128112 h 360962"/>
                  <a:gd name="connsiteX14" fmla="*/ 162889 w 336343"/>
                  <a:gd name="connsiteY14" fmla="*/ 361404 h 360962"/>
                  <a:gd name="connsiteX15" fmla="*/ 168520 w 336343"/>
                  <a:gd name="connsiteY15" fmla="*/ 361404 h 360962"/>
                  <a:gd name="connsiteX16" fmla="*/ 294660 w 336343"/>
                  <a:gd name="connsiteY16" fmla="*/ 48636 h 360962"/>
                  <a:gd name="connsiteX17" fmla="*/ 336704 w 336343"/>
                  <a:gd name="connsiteY17" fmla="*/ 7116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6343" h="360962">
                    <a:moveTo>
                      <a:pt x="210577" y="116324"/>
                    </a:moveTo>
                    <a:lnTo>
                      <a:pt x="143401" y="286540"/>
                    </a:lnTo>
                    <a:lnTo>
                      <a:pt x="81368" y="116324"/>
                    </a:lnTo>
                    <a:close/>
                    <a:moveTo>
                      <a:pt x="336704" y="442"/>
                    </a:moveTo>
                    <a:lnTo>
                      <a:pt x="219796" y="442"/>
                    </a:lnTo>
                    <a:lnTo>
                      <a:pt x="219796" y="7116"/>
                    </a:lnTo>
                    <a:cubicBezTo>
                      <a:pt x="247484" y="7116"/>
                      <a:pt x="242359" y="36330"/>
                      <a:pt x="230565" y="65049"/>
                    </a:cubicBezTo>
                    <a:lnTo>
                      <a:pt x="212627" y="109656"/>
                    </a:lnTo>
                    <a:lnTo>
                      <a:pt x="79825" y="109656"/>
                    </a:lnTo>
                    <a:cubicBezTo>
                      <a:pt x="65987" y="68636"/>
                      <a:pt x="43430" y="5060"/>
                      <a:pt x="114700" y="7116"/>
                    </a:cubicBezTo>
                    <a:lnTo>
                      <a:pt x="114700" y="442"/>
                    </a:lnTo>
                    <a:lnTo>
                      <a:pt x="361" y="442"/>
                    </a:lnTo>
                    <a:lnTo>
                      <a:pt x="361" y="7116"/>
                    </a:lnTo>
                    <a:cubicBezTo>
                      <a:pt x="19842" y="7623"/>
                      <a:pt x="32661" y="9679"/>
                      <a:pt x="77268" y="128112"/>
                    </a:cubicBezTo>
                    <a:lnTo>
                      <a:pt x="162889" y="361404"/>
                    </a:lnTo>
                    <a:lnTo>
                      <a:pt x="168520" y="361404"/>
                    </a:lnTo>
                    <a:cubicBezTo>
                      <a:pt x="231077" y="210664"/>
                      <a:pt x="294660" y="48636"/>
                      <a:pt x="294660" y="48636"/>
                    </a:cubicBezTo>
                    <a:cubicBezTo>
                      <a:pt x="311585" y="7623"/>
                      <a:pt x="322347" y="8141"/>
                      <a:pt x="336704" y="711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32">
                <a:extLst>
                  <a:ext uri="{FF2B5EF4-FFF2-40B4-BE49-F238E27FC236}">
                    <a16:creationId xmlns:a16="http://schemas.microsoft.com/office/drawing/2014/main" id="{682A3D83-8BFF-144C-FF39-00A99AFE2601}"/>
                  </a:ext>
                </a:extLst>
              </p:cNvPr>
              <p:cNvSpPr/>
              <p:nvPr/>
            </p:nvSpPr>
            <p:spPr>
              <a:xfrm flipV="1">
                <a:off x="2424299" y="1998303"/>
                <a:ext cx="311736" cy="360956"/>
              </a:xfrm>
              <a:custGeom>
                <a:avLst/>
                <a:gdLst>
                  <a:gd name="connsiteX0" fmla="*/ 98361 w 311736"/>
                  <a:gd name="connsiteY0" fmla="*/ 354774 h 360956"/>
                  <a:gd name="connsiteX1" fmla="*/ 82461 w 311736"/>
                  <a:gd name="connsiteY1" fmla="*/ 354774 h 360956"/>
                  <a:gd name="connsiteX2" fmla="*/ 82461 w 311736"/>
                  <a:gd name="connsiteY2" fmla="*/ 172759 h 360956"/>
                  <a:gd name="connsiteX3" fmla="*/ 98361 w 311736"/>
                  <a:gd name="connsiteY3" fmla="*/ 172759 h 360956"/>
                  <a:gd name="connsiteX4" fmla="*/ 200388 w 311736"/>
                  <a:gd name="connsiteY4" fmla="*/ 263504 h 360956"/>
                  <a:gd name="connsiteX5" fmla="*/ 98361 w 311736"/>
                  <a:gd name="connsiteY5" fmla="*/ 354774 h 360956"/>
                  <a:gd name="connsiteX6" fmla="*/ 312165 w 311736"/>
                  <a:gd name="connsiteY6" fmla="*/ 481 h 360956"/>
                  <a:gd name="connsiteX7" fmla="*/ 273189 w 311736"/>
                  <a:gd name="connsiteY7" fmla="*/ 481 h 360956"/>
                  <a:gd name="connsiteX8" fmla="*/ 186037 w 311736"/>
                  <a:gd name="connsiteY8" fmla="*/ 112258 h 360956"/>
                  <a:gd name="connsiteX9" fmla="*/ 106561 w 311736"/>
                  <a:gd name="connsiteY9" fmla="*/ 166090 h 360956"/>
                  <a:gd name="connsiteX10" fmla="*/ 82461 w 311736"/>
                  <a:gd name="connsiteY10" fmla="*/ 166090 h 360956"/>
                  <a:gd name="connsiteX11" fmla="*/ 82461 w 311736"/>
                  <a:gd name="connsiteY11" fmla="*/ 53807 h 360956"/>
                  <a:gd name="connsiteX12" fmla="*/ 115280 w 311736"/>
                  <a:gd name="connsiteY12" fmla="*/ 7156 h 360956"/>
                  <a:gd name="connsiteX13" fmla="*/ 115280 w 311736"/>
                  <a:gd name="connsiteY13" fmla="*/ 481 h 360956"/>
                  <a:gd name="connsiteX14" fmla="*/ 428 w 311736"/>
                  <a:gd name="connsiteY14" fmla="*/ 481 h 360956"/>
                  <a:gd name="connsiteX15" fmla="*/ 428 w 311736"/>
                  <a:gd name="connsiteY15" fmla="*/ 7156 h 360956"/>
                  <a:gd name="connsiteX16" fmla="*/ 32210 w 311736"/>
                  <a:gd name="connsiteY16" fmla="*/ 60470 h 360956"/>
                  <a:gd name="connsiteX17" fmla="*/ 32210 w 311736"/>
                  <a:gd name="connsiteY17" fmla="*/ 315811 h 360956"/>
                  <a:gd name="connsiteX18" fmla="*/ 428 w 311736"/>
                  <a:gd name="connsiteY18" fmla="*/ 354774 h 360956"/>
                  <a:gd name="connsiteX19" fmla="*/ 428 w 311736"/>
                  <a:gd name="connsiteY19" fmla="*/ 361437 h 360956"/>
                  <a:gd name="connsiteX20" fmla="*/ 98361 w 311736"/>
                  <a:gd name="connsiteY20" fmla="*/ 361437 h 360956"/>
                  <a:gd name="connsiteX21" fmla="*/ 256777 w 311736"/>
                  <a:gd name="connsiteY21" fmla="*/ 263504 h 360956"/>
                  <a:gd name="connsiteX22" fmla="*/ 161425 w 311736"/>
                  <a:gd name="connsiteY22" fmla="*/ 169684 h 360956"/>
                  <a:gd name="connsiteX23" fmla="*/ 257301 w 311736"/>
                  <a:gd name="connsiteY23" fmla="*/ 52269 h 360956"/>
                  <a:gd name="connsiteX24" fmla="*/ 312165 w 311736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6" h="360956">
                    <a:moveTo>
                      <a:pt x="98361" y="354774"/>
                    </a:moveTo>
                    <a:lnTo>
                      <a:pt x="82461" y="354774"/>
                    </a:lnTo>
                    <a:lnTo>
                      <a:pt x="82461" y="172759"/>
                    </a:lnTo>
                    <a:lnTo>
                      <a:pt x="98361" y="172759"/>
                    </a:lnTo>
                    <a:cubicBezTo>
                      <a:pt x="156293" y="172759"/>
                      <a:pt x="200388" y="172252"/>
                      <a:pt x="200388" y="263504"/>
                    </a:cubicBezTo>
                    <a:cubicBezTo>
                      <a:pt x="200388" y="356831"/>
                      <a:pt x="153224" y="354774"/>
                      <a:pt x="98361" y="354774"/>
                    </a:cubicBezTo>
                    <a:moveTo>
                      <a:pt x="312165" y="481"/>
                    </a:moveTo>
                    <a:lnTo>
                      <a:pt x="273189" y="481"/>
                    </a:lnTo>
                    <a:cubicBezTo>
                      <a:pt x="207557" y="481"/>
                      <a:pt x="215257" y="994"/>
                      <a:pt x="186037" y="112258"/>
                    </a:cubicBezTo>
                    <a:cubicBezTo>
                      <a:pt x="171669" y="166090"/>
                      <a:pt x="119887" y="166090"/>
                      <a:pt x="106561" y="166090"/>
                    </a:cubicBezTo>
                    <a:lnTo>
                      <a:pt x="82461" y="166090"/>
                    </a:lnTo>
                    <a:lnTo>
                      <a:pt x="82461" y="53807"/>
                    </a:lnTo>
                    <a:cubicBezTo>
                      <a:pt x="82461" y="18431"/>
                      <a:pt x="93742" y="7156"/>
                      <a:pt x="115280" y="7156"/>
                    </a:cubicBezTo>
                    <a:lnTo>
                      <a:pt x="115280" y="481"/>
                    </a:lnTo>
                    <a:lnTo>
                      <a:pt x="428" y="481"/>
                    </a:lnTo>
                    <a:lnTo>
                      <a:pt x="428" y="7156"/>
                    </a:lnTo>
                    <a:cubicBezTo>
                      <a:pt x="22479" y="7156"/>
                      <a:pt x="32210" y="17406"/>
                      <a:pt x="32210" y="60470"/>
                    </a:cubicBezTo>
                    <a:lnTo>
                      <a:pt x="32210" y="315811"/>
                    </a:lnTo>
                    <a:cubicBezTo>
                      <a:pt x="32210" y="347599"/>
                      <a:pt x="22985" y="354774"/>
                      <a:pt x="428" y="354774"/>
                    </a:cubicBezTo>
                    <a:lnTo>
                      <a:pt x="428" y="361437"/>
                    </a:lnTo>
                    <a:lnTo>
                      <a:pt x="98361" y="361437"/>
                    </a:lnTo>
                    <a:cubicBezTo>
                      <a:pt x="200388" y="361437"/>
                      <a:pt x="256777" y="349131"/>
                      <a:pt x="256777" y="263504"/>
                    </a:cubicBezTo>
                    <a:cubicBezTo>
                      <a:pt x="256777" y="193778"/>
                      <a:pt x="216801" y="173265"/>
                      <a:pt x="161425" y="169684"/>
                    </a:cubicBezTo>
                    <a:cubicBezTo>
                      <a:pt x="195257" y="168146"/>
                      <a:pt x="230638" y="164553"/>
                      <a:pt x="257301" y="52269"/>
                    </a:cubicBezTo>
                    <a:cubicBezTo>
                      <a:pt x="266533" y="13300"/>
                      <a:pt x="298833" y="8181"/>
                      <a:pt x="312165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33">
                <a:extLst>
                  <a:ext uri="{FF2B5EF4-FFF2-40B4-BE49-F238E27FC236}">
                    <a16:creationId xmlns:a16="http://schemas.microsoft.com/office/drawing/2014/main" id="{6EBEA202-31AB-F28C-C3C3-943430D4094E}"/>
                  </a:ext>
                </a:extLst>
              </p:cNvPr>
              <p:cNvSpPr/>
              <p:nvPr/>
            </p:nvSpPr>
            <p:spPr>
              <a:xfrm flipV="1">
                <a:off x="2770871" y="1998301"/>
                <a:ext cx="313786" cy="360956"/>
              </a:xfrm>
              <a:custGeom>
                <a:avLst/>
                <a:gdLst>
                  <a:gd name="connsiteX0" fmla="*/ 314327 w 313786"/>
                  <a:gd name="connsiteY0" fmla="*/ 361438 h 360956"/>
                  <a:gd name="connsiteX1" fmla="*/ 314327 w 313786"/>
                  <a:gd name="connsiteY1" fmla="*/ 271199 h 360956"/>
                  <a:gd name="connsiteX2" fmla="*/ 307671 w 313786"/>
                  <a:gd name="connsiteY2" fmla="*/ 271199 h 360956"/>
                  <a:gd name="connsiteX3" fmla="*/ 212813 w 313786"/>
                  <a:gd name="connsiteY3" fmla="*/ 354776 h 360956"/>
                  <a:gd name="connsiteX4" fmla="*/ 182556 w 313786"/>
                  <a:gd name="connsiteY4" fmla="*/ 354776 h 360956"/>
                  <a:gd name="connsiteX5" fmla="*/ 182556 w 313786"/>
                  <a:gd name="connsiteY5" fmla="*/ 50214 h 360956"/>
                  <a:gd name="connsiteX6" fmla="*/ 219988 w 313786"/>
                  <a:gd name="connsiteY6" fmla="*/ 7151 h 360956"/>
                  <a:gd name="connsiteX7" fmla="*/ 219988 w 313786"/>
                  <a:gd name="connsiteY7" fmla="*/ 482 h 360956"/>
                  <a:gd name="connsiteX8" fmla="*/ 94886 w 313786"/>
                  <a:gd name="connsiteY8" fmla="*/ 482 h 360956"/>
                  <a:gd name="connsiteX9" fmla="*/ 94886 w 313786"/>
                  <a:gd name="connsiteY9" fmla="*/ 7151 h 360956"/>
                  <a:gd name="connsiteX10" fmla="*/ 131799 w 313786"/>
                  <a:gd name="connsiteY10" fmla="*/ 50214 h 360956"/>
                  <a:gd name="connsiteX11" fmla="*/ 131799 w 313786"/>
                  <a:gd name="connsiteY11" fmla="*/ 354776 h 360956"/>
                  <a:gd name="connsiteX12" fmla="*/ 101549 w 313786"/>
                  <a:gd name="connsiteY12" fmla="*/ 354776 h 360956"/>
                  <a:gd name="connsiteX13" fmla="*/ 7209 w 313786"/>
                  <a:gd name="connsiteY13" fmla="*/ 271199 h 360956"/>
                  <a:gd name="connsiteX14" fmla="*/ 541 w 313786"/>
                  <a:gd name="connsiteY14" fmla="*/ 271199 h 360956"/>
                  <a:gd name="connsiteX15" fmla="*/ 541 w 313786"/>
                  <a:gd name="connsiteY15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3786" h="360956">
                    <a:moveTo>
                      <a:pt x="314327" y="361438"/>
                    </a:moveTo>
                    <a:lnTo>
                      <a:pt x="314327" y="271199"/>
                    </a:lnTo>
                    <a:lnTo>
                      <a:pt x="307671" y="271199"/>
                    </a:lnTo>
                    <a:cubicBezTo>
                      <a:pt x="305614" y="353751"/>
                      <a:pt x="219988" y="354776"/>
                      <a:pt x="212813" y="354776"/>
                    </a:cubicBezTo>
                    <a:lnTo>
                      <a:pt x="182556" y="354776"/>
                    </a:lnTo>
                    <a:lnTo>
                      <a:pt x="182556" y="50214"/>
                    </a:lnTo>
                    <a:cubicBezTo>
                      <a:pt x="182556" y="16376"/>
                      <a:pt x="198456" y="7151"/>
                      <a:pt x="219988" y="7151"/>
                    </a:cubicBezTo>
                    <a:lnTo>
                      <a:pt x="219988" y="482"/>
                    </a:lnTo>
                    <a:lnTo>
                      <a:pt x="94886" y="482"/>
                    </a:lnTo>
                    <a:lnTo>
                      <a:pt x="94886" y="7151"/>
                    </a:lnTo>
                    <a:cubicBezTo>
                      <a:pt x="116424" y="7151"/>
                      <a:pt x="131799" y="16376"/>
                      <a:pt x="131799" y="50214"/>
                    </a:cubicBezTo>
                    <a:lnTo>
                      <a:pt x="131799" y="354776"/>
                    </a:lnTo>
                    <a:lnTo>
                      <a:pt x="101549" y="354776"/>
                    </a:lnTo>
                    <a:cubicBezTo>
                      <a:pt x="85649" y="354776"/>
                      <a:pt x="9266" y="353751"/>
                      <a:pt x="7209" y="271199"/>
                    </a:cubicBezTo>
                    <a:lnTo>
                      <a:pt x="541" y="271199"/>
                    </a:lnTo>
                    <a:lnTo>
                      <a:pt x="541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34">
                <a:extLst>
                  <a:ext uri="{FF2B5EF4-FFF2-40B4-BE49-F238E27FC236}">
                    <a16:creationId xmlns:a16="http://schemas.microsoft.com/office/drawing/2014/main" id="{787B9C99-1F25-BC58-5788-9C2886CB24E6}"/>
                  </a:ext>
                </a:extLst>
              </p:cNvPr>
              <p:cNvSpPr/>
              <p:nvPr/>
            </p:nvSpPr>
            <p:spPr>
              <a:xfrm flipV="1">
                <a:off x="3131802" y="1998301"/>
                <a:ext cx="395813" cy="360956"/>
              </a:xfrm>
              <a:custGeom>
                <a:avLst/>
                <a:gdLst>
                  <a:gd name="connsiteX0" fmla="*/ 396450 w 395813"/>
                  <a:gd name="connsiteY0" fmla="*/ 361438 h 360956"/>
                  <a:gd name="connsiteX1" fmla="*/ 396450 w 395813"/>
                  <a:gd name="connsiteY1" fmla="*/ 355288 h 360956"/>
                  <a:gd name="connsiteX2" fmla="*/ 323654 w 395813"/>
                  <a:gd name="connsiteY2" fmla="*/ 233773 h 360956"/>
                  <a:gd name="connsiteX3" fmla="*/ 323654 w 395813"/>
                  <a:gd name="connsiteY3" fmla="*/ 482 h 360956"/>
                  <a:gd name="connsiteX4" fmla="*/ 307248 w 395813"/>
                  <a:gd name="connsiteY4" fmla="*/ 482 h 360956"/>
                  <a:gd name="connsiteX5" fmla="*/ 89332 w 395813"/>
                  <a:gd name="connsiteY5" fmla="*/ 281456 h 360956"/>
                  <a:gd name="connsiteX6" fmla="*/ 89332 w 395813"/>
                  <a:gd name="connsiteY6" fmla="*/ 128665 h 360956"/>
                  <a:gd name="connsiteX7" fmla="*/ 156508 w 395813"/>
                  <a:gd name="connsiteY7" fmla="*/ 7151 h 360956"/>
                  <a:gd name="connsiteX8" fmla="*/ 156508 w 395813"/>
                  <a:gd name="connsiteY8" fmla="*/ 482 h 360956"/>
                  <a:gd name="connsiteX9" fmla="*/ 8324 w 395813"/>
                  <a:gd name="connsiteY9" fmla="*/ 482 h 360956"/>
                  <a:gd name="connsiteX10" fmla="*/ 8324 w 395813"/>
                  <a:gd name="connsiteY10" fmla="*/ 7151 h 360956"/>
                  <a:gd name="connsiteX11" fmla="*/ 82675 w 395813"/>
                  <a:gd name="connsiteY11" fmla="*/ 128665 h 360956"/>
                  <a:gd name="connsiteX12" fmla="*/ 82675 w 395813"/>
                  <a:gd name="connsiteY12" fmla="*/ 289143 h 360956"/>
                  <a:gd name="connsiteX13" fmla="*/ 61650 w 395813"/>
                  <a:gd name="connsiteY13" fmla="*/ 316319 h 360956"/>
                  <a:gd name="connsiteX14" fmla="*/ 636 w 395813"/>
                  <a:gd name="connsiteY14" fmla="*/ 355288 h 360956"/>
                  <a:gd name="connsiteX15" fmla="*/ 636 w 395813"/>
                  <a:gd name="connsiteY15" fmla="*/ 361438 h 360956"/>
                  <a:gd name="connsiteX16" fmla="*/ 95488 w 395813"/>
                  <a:gd name="connsiteY16" fmla="*/ 361438 h 360956"/>
                  <a:gd name="connsiteX17" fmla="*/ 316979 w 395813"/>
                  <a:gd name="connsiteY17" fmla="*/ 75346 h 360956"/>
                  <a:gd name="connsiteX18" fmla="*/ 316979 w 395813"/>
                  <a:gd name="connsiteY18" fmla="*/ 233773 h 360956"/>
                  <a:gd name="connsiteX19" fmla="*/ 249822 w 395813"/>
                  <a:gd name="connsiteY19" fmla="*/ 355288 h 360956"/>
                  <a:gd name="connsiteX20" fmla="*/ 249822 w 395813"/>
                  <a:gd name="connsiteY20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5813" h="360956">
                    <a:moveTo>
                      <a:pt x="396450" y="361438"/>
                    </a:moveTo>
                    <a:lnTo>
                      <a:pt x="396450" y="355288"/>
                    </a:lnTo>
                    <a:cubicBezTo>
                      <a:pt x="322111" y="355288"/>
                      <a:pt x="323654" y="281456"/>
                      <a:pt x="323654" y="233773"/>
                    </a:cubicBezTo>
                    <a:lnTo>
                      <a:pt x="323654" y="482"/>
                    </a:lnTo>
                    <a:lnTo>
                      <a:pt x="307248" y="482"/>
                    </a:lnTo>
                    <a:lnTo>
                      <a:pt x="89332" y="281456"/>
                    </a:lnTo>
                    <a:lnTo>
                      <a:pt x="89332" y="128665"/>
                    </a:lnTo>
                    <a:cubicBezTo>
                      <a:pt x="89332" y="83546"/>
                      <a:pt x="89332" y="7151"/>
                      <a:pt x="156508" y="7151"/>
                    </a:cubicBezTo>
                    <a:lnTo>
                      <a:pt x="156508" y="482"/>
                    </a:lnTo>
                    <a:lnTo>
                      <a:pt x="8324" y="482"/>
                    </a:lnTo>
                    <a:lnTo>
                      <a:pt x="8324" y="7151"/>
                    </a:lnTo>
                    <a:cubicBezTo>
                      <a:pt x="82675" y="7151"/>
                      <a:pt x="82675" y="82515"/>
                      <a:pt x="82675" y="128665"/>
                    </a:cubicBezTo>
                    <a:lnTo>
                      <a:pt x="82675" y="289143"/>
                    </a:lnTo>
                    <a:lnTo>
                      <a:pt x="61650" y="316319"/>
                    </a:lnTo>
                    <a:cubicBezTo>
                      <a:pt x="28837" y="357332"/>
                      <a:pt x="13968" y="354263"/>
                      <a:pt x="636" y="355288"/>
                    </a:cubicBezTo>
                    <a:lnTo>
                      <a:pt x="636" y="361438"/>
                    </a:lnTo>
                    <a:lnTo>
                      <a:pt x="95488" y="361438"/>
                    </a:lnTo>
                    <a:lnTo>
                      <a:pt x="316979" y="75346"/>
                    </a:lnTo>
                    <a:lnTo>
                      <a:pt x="316979" y="233773"/>
                    </a:lnTo>
                    <a:cubicBezTo>
                      <a:pt x="316979" y="281456"/>
                      <a:pt x="317498" y="355288"/>
                      <a:pt x="249822" y="355288"/>
                    </a:cubicBezTo>
                    <a:lnTo>
                      <a:pt x="249822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35">
                <a:extLst>
                  <a:ext uri="{FF2B5EF4-FFF2-40B4-BE49-F238E27FC236}">
                    <a16:creationId xmlns:a16="http://schemas.microsoft.com/office/drawing/2014/main" id="{55F70B3C-841A-0084-5787-A3449EE9DFB1}"/>
                  </a:ext>
                </a:extLst>
              </p:cNvPr>
              <p:cNvSpPr/>
              <p:nvPr/>
            </p:nvSpPr>
            <p:spPr>
              <a:xfrm flipV="1">
                <a:off x="3587578" y="1998299"/>
                <a:ext cx="257892" cy="360956"/>
              </a:xfrm>
              <a:custGeom>
                <a:avLst/>
                <a:gdLst>
                  <a:gd name="connsiteX0" fmla="*/ 258603 w 257892"/>
                  <a:gd name="connsiteY0" fmla="*/ 107086 h 360956"/>
                  <a:gd name="connsiteX1" fmla="*/ 258603 w 257892"/>
                  <a:gd name="connsiteY1" fmla="*/ 440 h 360956"/>
                  <a:gd name="connsiteX2" fmla="*/ 711 w 257892"/>
                  <a:gd name="connsiteY2" fmla="*/ 440 h 360956"/>
                  <a:gd name="connsiteX3" fmla="*/ 711 w 257892"/>
                  <a:gd name="connsiteY3" fmla="*/ 7109 h 360956"/>
                  <a:gd name="connsiteX4" fmla="*/ 28392 w 257892"/>
                  <a:gd name="connsiteY4" fmla="*/ 60429 h 360956"/>
                  <a:gd name="connsiteX5" fmla="*/ 28392 w 257892"/>
                  <a:gd name="connsiteY5" fmla="*/ 306533 h 360956"/>
                  <a:gd name="connsiteX6" fmla="*/ 711 w 257892"/>
                  <a:gd name="connsiteY6" fmla="*/ 354727 h 360956"/>
                  <a:gd name="connsiteX7" fmla="*/ 711 w 257892"/>
                  <a:gd name="connsiteY7" fmla="*/ 361396 h 360956"/>
                  <a:gd name="connsiteX8" fmla="*/ 251946 w 257892"/>
                  <a:gd name="connsiteY8" fmla="*/ 361396 h 360956"/>
                  <a:gd name="connsiteX9" fmla="*/ 251946 w 257892"/>
                  <a:gd name="connsiteY9" fmla="*/ 269101 h 360956"/>
                  <a:gd name="connsiteX10" fmla="*/ 245283 w 257892"/>
                  <a:gd name="connsiteY10" fmla="*/ 269101 h 360956"/>
                  <a:gd name="connsiteX11" fmla="*/ 108900 w 257892"/>
                  <a:gd name="connsiteY11" fmla="*/ 354727 h 360956"/>
                  <a:gd name="connsiteX12" fmla="*/ 81212 w 257892"/>
                  <a:gd name="connsiteY12" fmla="*/ 354727 h 360956"/>
                  <a:gd name="connsiteX13" fmla="*/ 81212 w 257892"/>
                  <a:gd name="connsiteY13" fmla="*/ 186049 h 360956"/>
                  <a:gd name="connsiteX14" fmla="*/ 114531 w 257892"/>
                  <a:gd name="connsiteY14" fmla="*/ 186049 h 360956"/>
                  <a:gd name="connsiteX15" fmla="*/ 185295 w 257892"/>
                  <a:gd name="connsiteY15" fmla="*/ 237831 h 360956"/>
                  <a:gd name="connsiteX16" fmla="*/ 191951 w 257892"/>
                  <a:gd name="connsiteY16" fmla="*/ 237831 h 360956"/>
                  <a:gd name="connsiteX17" fmla="*/ 191951 w 257892"/>
                  <a:gd name="connsiteY17" fmla="*/ 127592 h 360956"/>
                  <a:gd name="connsiteX18" fmla="*/ 185295 w 257892"/>
                  <a:gd name="connsiteY18" fmla="*/ 127592 h 360956"/>
                  <a:gd name="connsiteX19" fmla="*/ 114531 w 257892"/>
                  <a:gd name="connsiteY19" fmla="*/ 179380 h 360956"/>
                  <a:gd name="connsiteX20" fmla="*/ 81212 w 257892"/>
                  <a:gd name="connsiteY20" fmla="*/ 179380 h 360956"/>
                  <a:gd name="connsiteX21" fmla="*/ 81212 w 257892"/>
                  <a:gd name="connsiteY21" fmla="*/ 7109 h 360956"/>
                  <a:gd name="connsiteX22" fmla="*/ 104787 w 257892"/>
                  <a:gd name="connsiteY22" fmla="*/ 7109 h 360956"/>
                  <a:gd name="connsiteX23" fmla="*/ 251946 w 257892"/>
                  <a:gd name="connsiteY23" fmla="*/ 10708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7892" h="360956">
                    <a:moveTo>
                      <a:pt x="258603" y="107086"/>
                    </a:moveTo>
                    <a:lnTo>
                      <a:pt x="258603" y="440"/>
                    </a:lnTo>
                    <a:lnTo>
                      <a:pt x="711" y="440"/>
                    </a:lnTo>
                    <a:lnTo>
                      <a:pt x="711" y="7109"/>
                    </a:lnTo>
                    <a:cubicBezTo>
                      <a:pt x="22242" y="7109"/>
                      <a:pt x="28392" y="25559"/>
                      <a:pt x="28392" y="60429"/>
                    </a:cubicBezTo>
                    <a:lnTo>
                      <a:pt x="28392" y="306533"/>
                    </a:lnTo>
                    <a:cubicBezTo>
                      <a:pt x="28392" y="338327"/>
                      <a:pt x="23267" y="354727"/>
                      <a:pt x="711" y="354727"/>
                    </a:cubicBezTo>
                    <a:lnTo>
                      <a:pt x="711" y="361396"/>
                    </a:lnTo>
                    <a:lnTo>
                      <a:pt x="251946" y="361396"/>
                    </a:lnTo>
                    <a:lnTo>
                      <a:pt x="251946" y="269101"/>
                    </a:lnTo>
                    <a:lnTo>
                      <a:pt x="245283" y="269101"/>
                    </a:lnTo>
                    <a:cubicBezTo>
                      <a:pt x="239121" y="353702"/>
                      <a:pt x="150426" y="354727"/>
                      <a:pt x="108900" y="354727"/>
                    </a:cubicBezTo>
                    <a:lnTo>
                      <a:pt x="81212" y="354727"/>
                    </a:lnTo>
                    <a:lnTo>
                      <a:pt x="81212" y="186049"/>
                    </a:lnTo>
                    <a:lnTo>
                      <a:pt x="114531" y="186049"/>
                    </a:lnTo>
                    <a:cubicBezTo>
                      <a:pt x="128375" y="186049"/>
                      <a:pt x="182726" y="186049"/>
                      <a:pt x="185295" y="237831"/>
                    </a:cubicBezTo>
                    <a:lnTo>
                      <a:pt x="191951" y="237831"/>
                    </a:lnTo>
                    <a:lnTo>
                      <a:pt x="191951" y="127592"/>
                    </a:lnTo>
                    <a:lnTo>
                      <a:pt x="185295" y="127592"/>
                    </a:lnTo>
                    <a:cubicBezTo>
                      <a:pt x="182726" y="178862"/>
                      <a:pt x="127344" y="179380"/>
                      <a:pt x="114531" y="179380"/>
                    </a:cubicBezTo>
                    <a:lnTo>
                      <a:pt x="81212" y="179380"/>
                    </a:lnTo>
                    <a:lnTo>
                      <a:pt x="81212" y="7109"/>
                    </a:lnTo>
                    <a:lnTo>
                      <a:pt x="104787" y="7109"/>
                    </a:lnTo>
                    <a:cubicBezTo>
                      <a:pt x="150426" y="7109"/>
                      <a:pt x="241171" y="4540"/>
                      <a:pt x="251946" y="10708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36">
                <a:extLst>
                  <a:ext uri="{FF2B5EF4-FFF2-40B4-BE49-F238E27FC236}">
                    <a16:creationId xmlns:a16="http://schemas.microsoft.com/office/drawing/2014/main" id="{1DCD670C-05C9-1E84-EFF7-790D3253D95E}"/>
                  </a:ext>
                </a:extLst>
              </p:cNvPr>
              <p:cNvSpPr/>
              <p:nvPr/>
            </p:nvSpPr>
            <p:spPr>
              <a:xfrm flipV="1">
                <a:off x="3923379" y="1998303"/>
                <a:ext cx="311730" cy="360956"/>
              </a:xfrm>
              <a:custGeom>
                <a:avLst/>
                <a:gdLst>
                  <a:gd name="connsiteX0" fmla="*/ 98693 w 311730"/>
                  <a:gd name="connsiteY0" fmla="*/ 354774 h 360956"/>
                  <a:gd name="connsiteX1" fmla="*/ 82792 w 311730"/>
                  <a:gd name="connsiteY1" fmla="*/ 354774 h 360956"/>
                  <a:gd name="connsiteX2" fmla="*/ 82792 w 311730"/>
                  <a:gd name="connsiteY2" fmla="*/ 172759 h 360956"/>
                  <a:gd name="connsiteX3" fmla="*/ 98693 w 311730"/>
                  <a:gd name="connsiteY3" fmla="*/ 172759 h 360956"/>
                  <a:gd name="connsiteX4" fmla="*/ 200719 w 311730"/>
                  <a:gd name="connsiteY4" fmla="*/ 263504 h 360956"/>
                  <a:gd name="connsiteX5" fmla="*/ 98693 w 311730"/>
                  <a:gd name="connsiteY5" fmla="*/ 354774 h 360956"/>
                  <a:gd name="connsiteX6" fmla="*/ 312490 w 311730"/>
                  <a:gd name="connsiteY6" fmla="*/ 481 h 360956"/>
                  <a:gd name="connsiteX7" fmla="*/ 273527 w 311730"/>
                  <a:gd name="connsiteY7" fmla="*/ 481 h 360956"/>
                  <a:gd name="connsiteX8" fmla="*/ 186363 w 311730"/>
                  <a:gd name="connsiteY8" fmla="*/ 112258 h 360956"/>
                  <a:gd name="connsiteX9" fmla="*/ 106893 w 311730"/>
                  <a:gd name="connsiteY9" fmla="*/ 166090 h 360956"/>
                  <a:gd name="connsiteX10" fmla="*/ 82792 w 311730"/>
                  <a:gd name="connsiteY10" fmla="*/ 166090 h 360956"/>
                  <a:gd name="connsiteX11" fmla="*/ 82792 w 311730"/>
                  <a:gd name="connsiteY11" fmla="*/ 53807 h 360956"/>
                  <a:gd name="connsiteX12" fmla="*/ 115612 w 311730"/>
                  <a:gd name="connsiteY12" fmla="*/ 7156 h 360956"/>
                  <a:gd name="connsiteX13" fmla="*/ 115612 w 311730"/>
                  <a:gd name="connsiteY13" fmla="*/ 481 h 360956"/>
                  <a:gd name="connsiteX14" fmla="*/ 760 w 311730"/>
                  <a:gd name="connsiteY14" fmla="*/ 481 h 360956"/>
                  <a:gd name="connsiteX15" fmla="*/ 760 w 311730"/>
                  <a:gd name="connsiteY15" fmla="*/ 7156 h 360956"/>
                  <a:gd name="connsiteX16" fmla="*/ 32548 w 311730"/>
                  <a:gd name="connsiteY16" fmla="*/ 60470 h 360956"/>
                  <a:gd name="connsiteX17" fmla="*/ 32548 w 311730"/>
                  <a:gd name="connsiteY17" fmla="*/ 315811 h 360956"/>
                  <a:gd name="connsiteX18" fmla="*/ 760 w 311730"/>
                  <a:gd name="connsiteY18" fmla="*/ 354774 h 360956"/>
                  <a:gd name="connsiteX19" fmla="*/ 760 w 311730"/>
                  <a:gd name="connsiteY19" fmla="*/ 361437 h 360956"/>
                  <a:gd name="connsiteX20" fmla="*/ 98693 w 311730"/>
                  <a:gd name="connsiteY20" fmla="*/ 361437 h 360956"/>
                  <a:gd name="connsiteX21" fmla="*/ 257120 w 311730"/>
                  <a:gd name="connsiteY21" fmla="*/ 263504 h 360956"/>
                  <a:gd name="connsiteX22" fmla="*/ 161756 w 311730"/>
                  <a:gd name="connsiteY22" fmla="*/ 169684 h 360956"/>
                  <a:gd name="connsiteX23" fmla="*/ 257627 w 311730"/>
                  <a:gd name="connsiteY23" fmla="*/ 52269 h 360956"/>
                  <a:gd name="connsiteX24" fmla="*/ 312490 w 311730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0" h="360956">
                    <a:moveTo>
                      <a:pt x="98693" y="354774"/>
                    </a:moveTo>
                    <a:lnTo>
                      <a:pt x="82792" y="354774"/>
                    </a:lnTo>
                    <a:lnTo>
                      <a:pt x="82792" y="172759"/>
                    </a:lnTo>
                    <a:lnTo>
                      <a:pt x="98693" y="172759"/>
                    </a:lnTo>
                    <a:cubicBezTo>
                      <a:pt x="156625" y="172759"/>
                      <a:pt x="200719" y="172252"/>
                      <a:pt x="200719" y="263504"/>
                    </a:cubicBezTo>
                    <a:cubicBezTo>
                      <a:pt x="200719" y="356831"/>
                      <a:pt x="153550" y="354774"/>
                      <a:pt x="98693" y="354774"/>
                    </a:cubicBezTo>
                    <a:moveTo>
                      <a:pt x="312490" y="481"/>
                    </a:moveTo>
                    <a:lnTo>
                      <a:pt x="273527" y="481"/>
                    </a:lnTo>
                    <a:cubicBezTo>
                      <a:pt x="207901" y="481"/>
                      <a:pt x="215594" y="994"/>
                      <a:pt x="186363" y="112258"/>
                    </a:cubicBezTo>
                    <a:cubicBezTo>
                      <a:pt x="172012" y="166090"/>
                      <a:pt x="120224" y="166090"/>
                      <a:pt x="106893" y="166090"/>
                    </a:cubicBezTo>
                    <a:lnTo>
                      <a:pt x="82792" y="166090"/>
                    </a:lnTo>
                    <a:lnTo>
                      <a:pt x="82792" y="53807"/>
                    </a:lnTo>
                    <a:cubicBezTo>
                      <a:pt x="82792" y="18431"/>
                      <a:pt x="94068" y="7156"/>
                      <a:pt x="115612" y="7156"/>
                    </a:cubicBezTo>
                    <a:lnTo>
                      <a:pt x="115612" y="481"/>
                    </a:lnTo>
                    <a:lnTo>
                      <a:pt x="760" y="481"/>
                    </a:lnTo>
                    <a:lnTo>
                      <a:pt x="760" y="7156"/>
                    </a:lnTo>
                    <a:cubicBezTo>
                      <a:pt x="22804" y="7156"/>
                      <a:pt x="32548" y="17406"/>
                      <a:pt x="32548" y="60470"/>
                    </a:cubicBezTo>
                    <a:lnTo>
                      <a:pt x="32548" y="315811"/>
                    </a:lnTo>
                    <a:cubicBezTo>
                      <a:pt x="32548" y="347599"/>
                      <a:pt x="23316" y="354774"/>
                      <a:pt x="760" y="354774"/>
                    </a:cubicBezTo>
                    <a:lnTo>
                      <a:pt x="760" y="361437"/>
                    </a:lnTo>
                    <a:lnTo>
                      <a:pt x="98693" y="361437"/>
                    </a:lnTo>
                    <a:cubicBezTo>
                      <a:pt x="200719" y="361437"/>
                      <a:pt x="257120" y="349131"/>
                      <a:pt x="257120" y="263504"/>
                    </a:cubicBezTo>
                    <a:cubicBezTo>
                      <a:pt x="257120" y="193778"/>
                      <a:pt x="217126" y="173265"/>
                      <a:pt x="161756" y="169684"/>
                    </a:cubicBezTo>
                    <a:cubicBezTo>
                      <a:pt x="195588" y="168146"/>
                      <a:pt x="230964" y="164553"/>
                      <a:pt x="257627" y="52269"/>
                    </a:cubicBezTo>
                    <a:cubicBezTo>
                      <a:pt x="266870" y="13300"/>
                      <a:pt x="299159" y="8181"/>
                      <a:pt x="312490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37">
                <a:extLst>
                  <a:ext uri="{FF2B5EF4-FFF2-40B4-BE49-F238E27FC236}">
                    <a16:creationId xmlns:a16="http://schemas.microsoft.com/office/drawing/2014/main" id="{3290F7BD-C9DB-AEBD-2EE2-775A9EA4C13C}"/>
                  </a:ext>
                </a:extLst>
              </p:cNvPr>
              <p:cNvSpPr/>
              <p:nvPr/>
            </p:nvSpPr>
            <p:spPr>
              <a:xfrm flipV="1">
                <a:off x="4285907" y="1993688"/>
                <a:ext cx="242423" cy="370181"/>
              </a:xfrm>
              <a:custGeom>
                <a:avLst/>
                <a:gdLst>
                  <a:gd name="connsiteX0" fmla="*/ 128442 w 242423"/>
                  <a:gd name="connsiteY0" fmla="*/ 422 h 370181"/>
                  <a:gd name="connsiteX1" fmla="*/ 6421 w 242423"/>
                  <a:gd name="connsiteY1" fmla="*/ 29135 h 370181"/>
                  <a:gd name="connsiteX2" fmla="*/ 6421 w 242423"/>
                  <a:gd name="connsiteY2" fmla="*/ 127580 h 370181"/>
                  <a:gd name="connsiteX3" fmla="*/ 12566 w 242423"/>
                  <a:gd name="connsiteY3" fmla="*/ 127580 h 370181"/>
                  <a:gd name="connsiteX4" fmla="*/ 128442 w 242423"/>
                  <a:gd name="connsiteY4" fmla="*/ 7084 h 370181"/>
                  <a:gd name="connsiteX5" fmla="*/ 156649 w 242423"/>
                  <a:gd name="connsiteY5" fmla="*/ 136293 h 370181"/>
                  <a:gd name="connsiteX6" fmla="*/ 71535 w 242423"/>
                  <a:gd name="connsiteY6" fmla="*/ 191150 h 370181"/>
                  <a:gd name="connsiteX7" fmla="*/ 15647 w 242423"/>
                  <a:gd name="connsiteY7" fmla="*/ 330615 h 370181"/>
                  <a:gd name="connsiteX8" fmla="*/ 112030 w 242423"/>
                  <a:gd name="connsiteY8" fmla="*/ 370603 h 370181"/>
                  <a:gd name="connsiteX9" fmla="*/ 229444 w 242423"/>
                  <a:gd name="connsiteY9" fmla="*/ 346503 h 370181"/>
                  <a:gd name="connsiteX10" fmla="*/ 229444 w 242423"/>
                  <a:gd name="connsiteY10" fmla="*/ 260370 h 370181"/>
                  <a:gd name="connsiteX11" fmla="*/ 222275 w 242423"/>
                  <a:gd name="connsiteY11" fmla="*/ 260370 h 370181"/>
                  <a:gd name="connsiteX12" fmla="*/ 112030 w 242423"/>
                  <a:gd name="connsiteY12" fmla="*/ 363934 h 370181"/>
                  <a:gd name="connsiteX13" fmla="*/ 92042 w 242423"/>
                  <a:gd name="connsiteY13" fmla="*/ 242426 h 370181"/>
                  <a:gd name="connsiteX14" fmla="*/ 176637 w 242423"/>
                  <a:gd name="connsiteY14" fmla="*/ 186537 h 370181"/>
                  <a:gd name="connsiteX15" fmla="*/ 229969 w 242423"/>
                  <a:gd name="connsiteY15" fmla="*/ 42466 h 370181"/>
                  <a:gd name="connsiteX16" fmla="*/ 128442 w 242423"/>
                  <a:gd name="connsiteY16" fmla="*/ 422 h 37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2423" h="370181">
                    <a:moveTo>
                      <a:pt x="128442" y="422"/>
                    </a:moveTo>
                    <a:cubicBezTo>
                      <a:pt x="44872" y="422"/>
                      <a:pt x="6421" y="29135"/>
                      <a:pt x="6421" y="29135"/>
                    </a:cubicBezTo>
                    <a:lnTo>
                      <a:pt x="6421" y="127580"/>
                    </a:lnTo>
                    <a:lnTo>
                      <a:pt x="12566" y="127580"/>
                    </a:lnTo>
                    <a:cubicBezTo>
                      <a:pt x="18209" y="65023"/>
                      <a:pt x="41285" y="7084"/>
                      <a:pt x="128442" y="7084"/>
                    </a:cubicBezTo>
                    <a:cubicBezTo>
                      <a:pt x="206381" y="7084"/>
                      <a:pt x="216637" y="93736"/>
                      <a:pt x="156649" y="136293"/>
                    </a:cubicBezTo>
                    <a:lnTo>
                      <a:pt x="71535" y="191150"/>
                    </a:lnTo>
                    <a:cubicBezTo>
                      <a:pt x="22822" y="223450"/>
                      <a:pt x="-23829" y="270114"/>
                      <a:pt x="15647" y="330615"/>
                    </a:cubicBezTo>
                    <a:cubicBezTo>
                      <a:pt x="15647" y="330615"/>
                      <a:pt x="40766" y="370603"/>
                      <a:pt x="112030" y="370603"/>
                    </a:cubicBezTo>
                    <a:cubicBezTo>
                      <a:pt x="186381" y="370603"/>
                      <a:pt x="229444" y="346503"/>
                      <a:pt x="229444" y="346503"/>
                    </a:cubicBezTo>
                    <a:lnTo>
                      <a:pt x="229444" y="260370"/>
                    </a:lnTo>
                    <a:lnTo>
                      <a:pt x="222275" y="260370"/>
                    </a:lnTo>
                    <a:cubicBezTo>
                      <a:pt x="217656" y="310614"/>
                      <a:pt x="197662" y="363934"/>
                      <a:pt x="112030" y="363934"/>
                    </a:cubicBezTo>
                    <a:cubicBezTo>
                      <a:pt x="56666" y="363934"/>
                      <a:pt x="14622" y="292670"/>
                      <a:pt x="92042" y="242426"/>
                    </a:cubicBezTo>
                    <a:lnTo>
                      <a:pt x="176637" y="186537"/>
                    </a:lnTo>
                    <a:cubicBezTo>
                      <a:pt x="245344" y="141424"/>
                      <a:pt x="256620" y="84504"/>
                      <a:pt x="229969" y="42466"/>
                    </a:cubicBezTo>
                    <a:cubicBezTo>
                      <a:pt x="229969" y="42466"/>
                      <a:pt x="207925" y="422"/>
                      <a:pt x="128442" y="422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7112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9BA33C9-6017-55E3-6401-CD9FFA7FF2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Operation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392AB-D5DE-7743-CC35-FF0CF6FAB4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22A579-152C-1E22-D9E8-5043903A3E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33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560566-D1A7-78E6-E571-A684F0F38066}"/>
              </a:ext>
            </a:extLst>
          </p:cNvPr>
          <p:cNvSpPr/>
          <p:nvPr/>
        </p:nvSpPr>
        <p:spPr>
          <a:xfrm>
            <a:off x="452999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Skill-to-Earn </a:t>
            </a:r>
            <a:r>
              <a:rPr lang="ko-KR" altLang="en-US" sz="1200" b="1" dirty="0">
                <a:solidFill>
                  <a:schemeClr val="bg1"/>
                </a:solidFill>
              </a:rPr>
              <a:t>플랫폼 운영 프로세스 개요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7" name="화살표: 갈매기형 수장 36">
            <a:extLst>
              <a:ext uri="{FF2B5EF4-FFF2-40B4-BE49-F238E27FC236}">
                <a16:creationId xmlns:a16="http://schemas.microsoft.com/office/drawing/2014/main" id="{511D8455-22EA-3129-E4AD-818E23990A5A}"/>
              </a:ext>
            </a:extLst>
          </p:cNvPr>
          <p:cNvSpPr/>
          <p:nvPr/>
        </p:nvSpPr>
        <p:spPr>
          <a:xfrm>
            <a:off x="3277799" y="2189344"/>
            <a:ext cx="3127472" cy="360000"/>
          </a:xfrm>
          <a:prstGeom prst="chevron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마케팅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화살표: 오각형 23">
            <a:extLst>
              <a:ext uri="{FF2B5EF4-FFF2-40B4-BE49-F238E27FC236}">
                <a16:creationId xmlns:a16="http://schemas.microsoft.com/office/drawing/2014/main" id="{B37E7F42-EFFC-F6AE-B12F-6DA4B300E879}"/>
              </a:ext>
            </a:extLst>
          </p:cNvPr>
          <p:cNvSpPr/>
          <p:nvPr/>
        </p:nvSpPr>
        <p:spPr>
          <a:xfrm>
            <a:off x="452999" y="2189344"/>
            <a:ext cx="2903982" cy="360000"/>
          </a:xfrm>
          <a:prstGeom prst="homePlate">
            <a:avLst>
              <a:gd name="adj" fmla="val 48996"/>
            </a:avLst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콘텐츠 기획</a:t>
            </a:r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 · 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개발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화살표: 갈매기형 수장 36">
            <a:extLst>
              <a:ext uri="{FF2B5EF4-FFF2-40B4-BE49-F238E27FC236}">
                <a16:creationId xmlns:a16="http://schemas.microsoft.com/office/drawing/2014/main" id="{3B920E1C-018A-2FBE-5319-16B8DDE2AC19}"/>
              </a:ext>
            </a:extLst>
          </p:cNvPr>
          <p:cNvSpPr/>
          <p:nvPr/>
        </p:nvSpPr>
        <p:spPr>
          <a:xfrm>
            <a:off x="6326091" y="2189344"/>
            <a:ext cx="3127472" cy="360000"/>
          </a:xfrm>
          <a:prstGeom prst="chevron">
            <a:avLst/>
          </a:prstGeom>
          <a:solidFill>
            <a:srgbClr val="B2DAFF"/>
          </a:solidFill>
          <a:ln w="6350">
            <a:solidFill>
              <a:srgbClr val="B2DA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+mj-ea"/>
                <a:ea typeface="+mj-ea"/>
              </a:rPr>
              <a:t>세일즈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latin typeface="+mj-ea"/>
              <a:ea typeface="+mj-ea"/>
            </a:endParaRPr>
          </a:p>
        </p:txBody>
      </p:sp>
      <p:sp>
        <p:nvSpPr>
          <p:cNvPr id="11" name="직사각형 9">
            <a:extLst>
              <a:ext uri="{FF2B5EF4-FFF2-40B4-BE49-F238E27FC236}">
                <a16:creationId xmlns:a16="http://schemas.microsoft.com/office/drawing/2014/main" id="{44BB9B10-D16F-1734-41B5-E65D224F46A1}"/>
              </a:ext>
            </a:extLst>
          </p:cNvPr>
          <p:cNvSpPr/>
          <p:nvPr/>
        </p:nvSpPr>
        <p:spPr bwMode="auto">
          <a:xfrm>
            <a:off x="452998" y="3221435"/>
            <a:ext cx="2709301" cy="86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244A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강사 </a:t>
            </a:r>
            <a:r>
              <a:rPr lang="ko-KR" altLang="en-US" sz="1100" dirty="0" err="1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리쿠르팅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및 퍼스널 브랜딩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900" spc="-30" dirty="0">
                <a:solidFill>
                  <a:srgbClr val="0A1A39"/>
                </a:solidFill>
              </a:rPr>
              <a:t>수익화 실전 경험</a:t>
            </a:r>
            <a:r>
              <a:rPr lang="en-US" altLang="ko-KR" sz="900" spc="-30" dirty="0">
                <a:solidFill>
                  <a:srgbClr val="0A1A39"/>
                </a:solidFill>
              </a:rPr>
              <a:t>/</a:t>
            </a:r>
            <a:r>
              <a:rPr lang="ko-KR" altLang="en-US" sz="900" spc="-30" dirty="0">
                <a:solidFill>
                  <a:srgbClr val="0A1A39"/>
                </a:solidFill>
              </a:rPr>
              <a:t>성과 검증 강사 소싱 및 브랜드화 진행</a:t>
            </a:r>
            <a:endParaRPr lang="en-US" altLang="ko-KR" sz="900" spc="-30" dirty="0">
              <a:solidFill>
                <a:srgbClr val="0A1A39"/>
              </a:solidFill>
            </a:endParaRPr>
          </a:p>
        </p:txBody>
      </p:sp>
      <p:sp>
        <p:nvSpPr>
          <p:cNvPr id="12" name="직사각형 9">
            <a:extLst>
              <a:ext uri="{FF2B5EF4-FFF2-40B4-BE49-F238E27FC236}">
                <a16:creationId xmlns:a16="http://schemas.microsoft.com/office/drawing/2014/main" id="{8E98A3E8-D4C8-9E6E-154F-2792759B6653}"/>
              </a:ext>
            </a:extLst>
          </p:cNvPr>
          <p:cNvSpPr/>
          <p:nvPr/>
        </p:nvSpPr>
        <p:spPr bwMode="auto">
          <a:xfrm>
            <a:off x="452998" y="4666100"/>
            <a:ext cx="2709301" cy="86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244A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강의 콘텐츠 설계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429814">
              <a:spcAft>
                <a:spcPts val="200"/>
              </a:spcAft>
              <a:defRPr/>
            </a:pP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11244A"/>
                </a:solidFill>
                <a:latin typeface="KoPub돋움체 Medium"/>
                <a:ea typeface="KoPub돋움체 Medium"/>
              </a:rPr>
              <a:t>N</a:t>
            </a:r>
            <a:r>
              <a:rPr lang="ko-KR" altLang="en-US" sz="900" kern="0" dirty="0" err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11244A"/>
                </a:solidFill>
                <a:latin typeface="KoPub돋움체 Medium"/>
                <a:ea typeface="KoPub돋움체 Medium"/>
              </a:rPr>
              <a:t>잡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11244A"/>
                </a:solidFill>
                <a:latin typeface="KoPub돋움체 Medium"/>
                <a:ea typeface="KoPub돋움체 Medium"/>
              </a:rPr>
              <a:t> 교육에 최적화된 강의 콘텐츠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11244A"/>
                </a:solidFill>
                <a:latin typeface="KoPub돋움체 Medium"/>
                <a:ea typeface="KoPub돋움체 Medium"/>
              </a:rPr>
              <a:t>/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11244A"/>
                </a:solidFill>
                <a:latin typeface="KoPub돋움체 Medium"/>
                <a:ea typeface="KoPub돋움체 Medium"/>
              </a:rPr>
              <a:t>커리큘럼 설계</a:t>
            </a:r>
            <a:endParaRPr lang="en-US" altLang="ko-KR" sz="900" kern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rgbClr val="11244A"/>
              </a:solidFill>
              <a:latin typeface="KoPub돋움체 Medium"/>
              <a:ea typeface="KoPub돋움체 Medium"/>
            </a:endParaRPr>
          </a:p>
        </p:txBody>
      </p:sp>
      <p:sp>
        <p:nvSpPr>
          <p:cNvPr id="13" name="직사각형 9">
            <a:extLst>
              <a:ext uri="{FF2B5EF4-FFF2-40B4-BE49-F238E27FC236}">
                <a16:creationId xmlns:a16="http://schemas.microsoft.com/office/drawing/2014/main" id="{CAD3D8D1-7D6B-6850-C63A-2383A6541879}"/>
              </a:ext>
            </a:extLst>
          </p:cNvPr>
          <p:cNvSpPr/>
          <p:nvPr/>
        </p:nvSpPr>
        <p:spPr bwMode="auto">
          <a:xfrm>
            <a:off x="3524421" y="3221435"/>
            <a:ext cx="2709301" cy="86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539D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539D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광고 세일즈 콘텐츠 기획 및 제작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539DF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강사 실제 경험담과 성공 스토리 중심의 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‘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스토리형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’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 광고를 통해 신뢰 형성 및 관심 확보</a:t>
            </a:r>
            <a:endParaRPr lang="en-US" altLang="ko-KR" sz="900" kern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rgbClr val="539DFF"/>
              </a:solidFill>
              <a:latin typeface="KoPub돋움체 Medium"/>
              <a:ea typeface="KoPub돋움체 Medium"/>
            </a:endParaRPr>
          </a:p>
        </p:txBody>
      </p:sp>
      <p:sp>
        <p:nvSpPr>
          <p:cNvPr id="14" name="직사각형 9">
            <a:extLst>
              <a:ext uri="{FF2B5EF4-FFF2-40B4-BE49-F238E27FC236}">
                <a16:creationId xmlns:a16="http://schemas.microsoft.com/office/drawing/2014/main" id="{2E8DB1B3-928D-3417-C664-AE677CB529A0}"/>
              </a:ext>
            </a:extLst>
          </p:cNvPr>
          <p:cNvSpPr/>
          <p:nvPr/>
        </p:nvSpPr>
        <p:spPr bwMode="auto">
          <a:xfrm>
            <a:off x="3524421" y="4666100"/>
            <a:ext cx="2709301" cy="86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539D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539D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퍼포먼스 마케팅 </a:t>
            </a:r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539D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 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539D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고객 </a:t>
            </a:r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539D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 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539D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확보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539DF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900" kern="0" dirty="0" err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온드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 미디어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, </a:t>
            </a:r>
            <a:r>
              <a:rPr lang="ko-KR" altLang="en-US" sz="900" kern="0" dirty="0" err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페이드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 광고 기반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 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최적의 마케팅 진행</a:t>
            </a:r>
            <a:endParaRPr lang="en-US" altLang="ko-KR" sz="900" kern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rgbClr val="539DFF"/>
              </a:solidFill>
              <a:latin typeface="KoPub돋움체 Medium"/>
              <a:ea typeface="KoPub돋움체 Medium"/>
            </a:endParaRPr>
          </a:p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무료강의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, 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전자책 등 체험형 콘텐츠를 통한</a:t>
            </a:r>
            <a:b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</a:b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잠재적 고객 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Pool 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539DFF"/>
                </a:solidFill>
                <a:latin typeface="KoPub돋움체 Medium"/>
                <a:ea typeface="KoPub돋움체 Medium"/>
              </a:rPr>
              <a:t>구축 및 학습 동기 강화</a:t>
            </a:r>
            <a:endParaRPr lang="en-US" altLang="ko-KR" sz="900" kern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rgbClr val="539DFF"/>
              </a:solidFill>
              <a:latin typeface="KoPub돋움체 Medium"/>
              <a:ea typeface="KoPub돋움체 Medium"/>
            </a:endParaRPr>
          </a:p>
        </p:txBody>
      </p:sp>
      <p:sp>
        <p:nvSpPr>
          <p:cNvPr id="15" name="직사각형 9">
            <a:extLst>
              <a:ext uri="{FF2B5EF4-FFF2-40B4-BE49-F238E27FC236}">
                <a16:creationId xmlns:a16="http://schemas.microsoft.com/office/drawing/2014/main" id="{4AF14D03-0719-EC93-8281-790F426D6408}"/>
              </a:ext>
            </a:extLst>
          </p:cNvPr>
          <p:cNvSpPr/>
          <p:nvPr/>
        </p:nvSpPr>
        <p:spPr bwMode="auto">
          <a:xfrm>
            <a:off x="6595844" y="3221435"/>
            <a:ext cx="2709301" cy="86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A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0C1C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유료 전환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0C1C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블로그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, 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커뮤니티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, 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오픈채팅방 통해 형성된 고객 </a:t>
            </a:r>
            <a:r>
              <a:rPr lang="ko-KR" altLang="en-US" sz="900" kern="0" dirty="0" err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라포와</a:t>
            </a:r>
            <a:endParaRPr lang="ko-KR" altLang="en-US" sz="900" kern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rgbClr val="0C1C4D"/>
              </a:solidFill>
              <a:latin typeface="KoPub돋움체 Medium"/>
              <a:ea typeface="KoPub돋움체 Medium"/>
            </a:endParaRPr>
          </a:p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라이브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, </a:t>
            </a:r>
            <a:r>
              <a:rPr lang="ko-KR" altLang="en-US" sz="900" kern="0" dirty="0" err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웨비나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, </a:t>
            </a:r>
            <a:r>
              <a:rPr lang="ko-KR" altLang="en-US" sz="900" kern="0" dirty="0" err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얼리버드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 이벤트 등을 통해 유료 전환 촉진</a:t>
            </a:r>
          </a:p>
        </p:txBody>
      </p:sp>
      <p:sp>
        <p:nvSpPr>
          <p:cNvPr id="16" name="직사각형 9">
            <a:extLst>
              <a:ext uri="{FF2B5EF4-FFF2-40B4-BE49-F238E27FC236}">
                <a16:creationId xmlns:a16="http://schemas.microsoft.com/office/drawing/2014/main" id="{C154DE49-E9C0-2E14-AF87-75BD3909A781}"/>
              </a:ext>
            </a:extLst>
          </p:cNvPr>
          <p:cNvSpPr/>
          <p:nvPr/>
        </p:nvSpPr>
        <p:spPr bwMode="auto">
          <a:xfrm>
            <a:off x="6595844" y="4666100"/>
            <a:ext cx="2709301" cy="86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A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0C1C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후속 기수 진행 및 </a:t>
            </a:r>
            <a:r>
              <a:rPr lang="ko-KR" altLang="en-US" sz="1100" dirty="0" err="1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0C1C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업셀링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0C1C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429814">
              <a:spcAft>
                <a:spcPts val="200"/>
              </a:spcAft>
              <a:defRPr/>
            </a:pP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강사의 직접적 수강생 밀착 관리를 통해 수강 만족도 극대화</a:t>
            </a:r>
            <a:r>
              <a:rPr lang="en-US" altLang="ko-KR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, 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후속 기수 </a:t>
            </a:r>
            <a:r>
              <a:rPr lang="ko-KR" altLang="en-US" sz="900" kern="0" dirty="0" err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모객</a:t>
            </a:r>
            <a:r>
              <a:rPr lang="ko-KR" altLang="en-US" sz="9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 및 </a:t>
            </a:r>
            <a:r>
              <a:rPr lang="ko-KR" altLang="en-US" sz="900" kern="0" dirty="0" err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C1C4D"/>
                </a:solidFill>
                <a:latin typeface="KoPub돋움체 Medium"/>
                <a:ea typeface="KoPub돋움체 Medium"/>
              </a:rPr>
              <a:t>업셀링</a:t>
            </a:r>
            <a:endParaRPr lang="ko-KR" altLang="en-US" sz="900" kern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rgbClr val="0C1C4D"/>
              </a:solidFill>
              <a:latin typeface="KoPub돋움체 Medium"/>
              <a:ea typeface="KoPub돋움체 Medium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F2D9520-AF07-EA10-6692-D50629BADD7E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1807649" y="4081985"/>
            <a:ext cx="0" cy="584115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BD561078-C7D8-EB1C-6CD5-D729F6C58235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3162299" y="3651710"/>
            <a:ext cx="362122" cy="1444665"/>
          </a:xfrm>
          <a:prstGeom prst="bentConnector3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E267184-6D96-86D3-D8D4-1F459AE9C02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4879072" y="4081985"/>
            <a:ext cx="0" cy="584115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7248BDAB-1ED2-DF55-6042-222941319EB7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6233722" y="3651710"/>
            <a:ext cx="362122" cy="1444665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13A0286-12FD-563A-E939-BAFA64D36A76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7950495" y="4081985"/>
            <a:ext cx="0" cy="584115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7A4C456-DED9-4AA3-FF64-BB4C0A946F68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타이탄컴퍼니의 </a:t>
            </a:r>
            <a:r>
              <a:rPr lang="en-US" altLang="ko-KR" sz="1400" b="1" dirty="0">
                <a:solidFill>
                  <a:srgbClr val="3D3D3D"/>
                </a:solidFill>
              </a:rPr>
              <a:t>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플랫폼은 강사 발굴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콘텐츠 기획에서 고객 확보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전환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재구매까지 이어지는 </a:t>
            </a:r>
            <a:r>
              <a:rPr lang="en-US" altLang="ko-KR" sz="1400" b="1" dirty="0">
                <a:solidFill>
                  <a:srgbClr val="3D3D3D"/>
                </a:solidFill>
              </a:rPr>
              <a:t>Full-funnel</a:t>
            </a:r>
            <a:r>
              <a:rPr lang="ko-KR" altLang="en-US" sz="1400" b="1" dirty="0">
                <a:solidFill>
                  <a:srgbClr val="3D3D3D"/>
                </a:solidFill>
              </a:rPr>
              <a:t> 기반의 운영 체계를 보유하고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….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33" name="화살표: 오른쪽 18">
            <a:extLst>
              <a:ext uri="{FF2B5EF4-FFF2-40B4-BE49-F238E27FC236}">
                <a16:creationId xmlns:a16="http://schemas.microsoft.com/office/drawing/2014/main" id="{738918D0-9E7D-5701-BF80-9A9D4D4164A6}"/>
              </a:ext>
            </a:extLst>
          </p:cNvPr>
          <p:cNvSpPr/>
          <p:nvPr/>
        </p:nvSpPr>
        <p:spPr>
          <a:xfrm>
            <a:off x="6326091" y="2599495"/>
            <a:ext cx="3138986" cy="383329"/>
          </a:xfrm>
          <a:prstGeom prst="rightArrow">
            <a:avLst>
              <a:gd name="adj1" fmla="val 73854"/>
              <a:gd name="adj2" fmla="val 50000"/>
            </a:avLst>
          </a:prstGeom>
          <a:gradFill>
            <a:gsLst>
              <a:gs pos="22000">
                <a:srgbClr val="B2DAFF"/>
              </a:gs>
              <a:gs pos="0">
                <a:srgbClr val="FFFFFF"/>
              </a:gs>
              <a:gs pos="100000">
                <a:srgbClr val="B2DA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화살표: 오른쪽 18">
            <a:extLst>
              <a:ext uri="{FF2B5EF4-FFF2-40B4-BE49-F238E27FC236}">
                <a16:creationId xmlns:a16="http://schemas.microsoft.com/office/drawing/2014/main" id="{BFCAEF54-D2E8-A072-3FAB-2079D1EDCBEE}"/>
              </a:ext>
            </a:extLst>
          </p:cNvPr>
          <p:cNvSpPr/>
          <p:nvPr/>
        </p:nvSpPr>
        <p:spPr>
          <a:xfrm>
            <a:off x="453001" y="2599495"/>
            <a:ext cx="5952270" cy="383329"/>
          </a:xfrm>
          <a:prstGeom prst="rightArrow">
            <a:avLst>
              <a:gd name="adj1" fmla="val 62424"/>
              <a:gd name="adj2" fmla="val 50000"/>
            </a:avLst>
          </a:prstGeom>
          <a:gradFill>
            <a:gsLst>
              <a:gs pos="22000">
                <a:srgbClr val="539DFF"/>
              </a:gs>
              <a:gs pos="0">
                <a:srgbClr val="FFFFFF"/>
              </a:gs>
              <a:gs pos="100000">
                <a:srgbClr val="539D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직사각형 74">
            <a:extLst>
              <a:ext uri="{FF2B5EF4-FFF2-40B4-BE49-F238E27FC236}">
                <a16:creationId xmlns:a16="http://schemas.microsoft.com/office/drawing/2014/main" id="{B5520B61-7A98-DC4A-4D68-556CABB7D214}"/>
              </a:ext>
            </a:extLst>
          </p:cNvPr>
          <p:cNvSpPr/>
          <p:nvPr/>
        </p:nvSpPr>
        <p:spPr>
          <a:xfrm>
            <a:off x="2424281" y="2673832"/>
            <a:ext cx="2116187" cy="21461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Top-Mid Funnel (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탑 </a:t>
            </a:r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· 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미들 </a:t>
            </a:r>
            <a:r>
              <a:rPr lang="ko-KR" altLang="en-US" sz="1100" dirty="0" err="1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퍼널</a:t>
            </a:r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직사각형 74">
            <a:extLst>
              <a:ext uri="{FF2B5EF4-FFF2-40B4-BE49-F238E27FC236}">
                <a16:creationId xmlns:a16="http://schemas.microsoft.com/office/drawing/2014/main" id="{1AC40A18-30D7-5659-0E9E-DF652CFDD04C}"/>
              </a:ext>
            </a:extLst>
          </p:cNvPr>
          <p:cNvSpPr/>
          <p:nvPr/>
        </p:nvSpPr>
        <p:spPr>
          <a:xfrm>
            <a:off x="6718998" y="2673832"/>
            <a:ext cx="2341658" cy="21461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+mj-ea"/>
                <a:ea typeface="+mj-ea"/>
              </a:rPr>
              <a:t>Bottom Funnel(</a:t>
            </a:r>
            <a:r>
              <a:rPr lang="ko-KR" altLang="en-US" sz="1100" dirty="0" err="1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+mj-ea"/>
                <a:ea typeface="+mj-ea"/>
              </a:rPr>
              <a:t>바텀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+mj-ea"/>
                <a:ea typeface="+mj-ea"/>
              </a:rPr>
              <a:t> </a:t>
            </a:r>
            <a:r>
              <a:rPr lang="ko-KR" altLang="en-US" sz="1100" dirty="0" err="1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+mj-ea"/>
                <a:ea typeface="+mj-ea"/>
              </a:rPr>
              <a:t>퍼널</a:t>
            </a:r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+mj-ea"/>
                <a:ea typeface="+mj-ea"/>
              </a:rPr>
              <a:t>)</a:t>
            </a:r>
            <a:endParaRPr lang="ko-KR" altLang="en-US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8968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362E-7AA4-0668-9D99-76AFA9E2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7CA2291-D56A-DFA2-2FB7-44B341479C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Operation</a:t>
            </a:r>
            <a:r>
              <a:rPr lang="ko-KR" altLang="en-US" dirty="0"/>
              <a:t> </a:t>
            </a:r>
            <a:r>
              <a:rPr lang="en-US" altLang="ko-KR" dirty="0"/>
              <a:t>flow </a:t>
            </a:r>
            <a:r>
              <a:rPr lang="en-US" altLang="ko-KR" sz="1800" dirty="0"/>
              <a:t>(</a:t>
            </a:r>
            <a:r>
              <a:rPr lang="ko-KR" altLang="en-US" sz="1800" dirty="0"/>
              <a:t>계속</a:t>
            </a:r>
            <a:r>
              <a:rPr lang="en-US" altLang="ko-KR" sz="18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91BAF5-3C79-3965-9361-1FF0B6DFC0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DF5AAD-B0F4-1EEC-98F1-10EF81D5EF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34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F2F103-2C58-3FCA-F683-8B38AC10984E}"/>
              </a:ext>
            </a:extLst>
          </p:cNvPr>
          <p:cNvSpPr/>
          <p:nvPr/>
        </p:nvSpPr>
        <p:spPr>
          <a:xfrm>
            <a:off x="452999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Skill-to-Earn </a:t>
            </a:r>
            <a:r>
              <a:rPr lang="ko-KR" altLang="en-US" sz="1200" b="1" dirty="0">
                <a:solidFill>
                  <a:schemeClr val="bg1"/>
                </a:solidFill>
              </a:rPr>
              <a:t>플랫폼 </a:t>
            </a:r>
            <a:r>
              <a:rPr lang="en-US" altLang="ko-KR" sz="1200" b="1" dirty="0">
                <a:solidFill>
                  <a:schemeClr val="bg1"/>
                </a:solidFill>
              </a:rPr>
              <a:t>Business Process Map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F739DD-DBFC-3A2A-CDBE-738F6D02B4DC}"/>
              </a:ext>
            </a:extLst>
          </p:cNvPr>
          <p:cNvSpPr txBox="1"/>
          <p:nvPr/>
        </p:nvSpPr>
        <p:spPr>
          <a:xfrm>
            <a:off x="453000" y="981075"/>
            <a:ext cx="8999999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….</a:t>
            </a:r>
            <a:r>
              <a:rPr lang="ko-KR" altLang="en-US" sz="1400" b="1" dirty="0">
                <a:solidFill>
                  <a:srgbClr val="3D3D3D"/>
                </a:solidFill>
              </a:rPr>
              <a:t>상세한 운영구조는 아래와 같습니다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0" name="직사각형 51">
            <a:extLst>
              <a:ext uri="{FF2B5EF4-FFF2-40B4-BE49-F238E27FC236}">
                <a16:creationId xmlns:a16="http://schemas.microsoft.com/office/drawing/2014/main" id="{E5E348F0-E22D-D956-EEBA-4A92EBB2A0E8}"/>
              </a:ext>
            </a:extLst>
          </p:cNvPr>
          <p:cNvSpPr/>
          <p:nvPr/>
        </p:nvSpPr>
        <p:spPr>
          <a:xfrm>
            <a:off x="452999" y="2691996"/>
            <a:ext cx="1284971" cy="442910"/>
          </a:xfrm>
          <a:prstGeom prst="rect">
            <a:avLst/>
          </a:prstGeom>
          <a:solidFill>
            <a:srgbClr val="11244A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 신인 강사</a:t>
            </a:r>
          </a:p>
        </p:txBody>
      </p:sp>
      <p:sp>
        <p:nvSpPr>
          <p:cNvPr id="21" name="직사각형 51">
            <a:extLst>
              <a:ext uri="{FF2B5EF4-FFF2-40B4-BE49-F238E27FC236}">
                <a16:creationId xmlns:a16="http://schemas.microsoft.com/office/drawing/2014/main" id="{37203A6E-93E9-CBB3-9A78-D53CDE022D0C}"/>
              </a:ext>
            </a:extLst>
          </p:cNvPr>
          <p:cNvSpPr/>
          <p:nvPr/>
        </p:nvSpPr>
        <p:spPr>
          <a:xfrm>
            <a:off x="4604996" y="3759985"/>
            <a:ext cx="1284971" cy="442910"/>
          </a:xfrm>
          <a:prstGeom prst="rect">
            <a:avLst/>
          </a:prstGeom>
          <a:solidFill>
            <a:srgbClr val="4B6DE8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자체 마케팅 채널</a:t>
            </a:r>
          </a:p>
        </p:txBody>
      </p:sp>
      <p:sp>
        <p:nvSpPr>
          <p:cNvPr id="24" name="직사각형 51">
            <a:extLst>
              <a:ext uri="{FF2B5EF4-FFF2-40B4-BE49-F238E27FC236}">
                <a16:creationId xmlns:a16="http://schemas.microsoft.com/office/drawing/2014/main" id="{9E174296-633A-025D-4646-FEC346CB6BD8}"/>
              </a:ext>
            </a:extLst>
          </p:cNvPr>
          <p:cNvSpPr/>
          <p:nvPr/>
        </p:nvSpPr>
        <p:spPr>
          <a:xfrm>
            <a:off x="452999" y="4859012"/>
            <a:ext cx="1284971" cy="442910"/>
          </a:xfrm>
          <a:prstGeom prst="rect">
            <a:avLst/>
          </a:prstGeom>
          <a:solidFill>
            <a:srgbClr val="11244A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유명 </a:t>
            </a:r>
            <a:r>
              <a:rPr lang="ko-KR" altLang="en-US" sz="1100" b="1" dirty="0" err="1">
                <a:solidFill>
                  <a:schemeClr val="bg1"/>
                </a:solidFill>
              </a:rPr>
              <a:t>인플루언서</a:t>
            </a:r>
            <a:r>
              <a:rPr lang="en-US" altLang="ko-KR" sz="1100" b="1" dirty="0">
                <a:solidFill>
                  <a:schemeClr val="bg1"/>
                </a:solidFill>
              </a:rPr>
              <a:t>/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ko-KR" altLang="en-US" sz="1100" b="1" dirty="0">
                <a:solidFill>
                  <a:schemeClr val="bg1"/>
                </a:solidFill>
              </a:rPr>
              <a:t>크리에이터</a:t>
            </a:r>
          </a:p>
        </p:txBody>
      </p:sp>
      <p:sp>
        <p:nvSpPr>
          <p:cNvPr id="27" name="직사각형 51">
            <a:extLst>
              <a:ext uri="{FF2B5EF4-FFF2-40B4-BE49-F238E27FC236}">
                <a16:creationId xmlns:a16="http://schemas.microsoft.com/office/drawing/2014/main" id="{87D67142-9E48-C9BA-0C8B-D2858FFF4C84}"/>
              </a:ext>
            </a:extLst>
          </p:cNvPr>
          <p:cNvSpPr/>
          <p:nvPr/>
        </p:nvSpPr>
        <p:spPr>
          <a:xfrm>
            <a:off x="4604996" y="2660958"/>
            <a:ext cx="1284971" cy="442910"/>
          </a:xfrm>
          <a:prstGeom prst="rect">
            <a:avLst/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관계사 마케팅 채널</a:t>
            </a:r>
          </a:p>
        </p:txBody>
      </p:sp>
      <p:sp>
        <p:nvSpPr>
          <p:cNvPr id="29" name="직사각형 51">
            <a:extLst>
              <a:ext uri="{FF2B5EF4-FFF2-40B4-BE49-F238E27FC236}">
                <a16:creationId xmlns:a16="http://schemas.microsoft.com/office/drawing/2014/main" id="{C6D5E71C-CD5F-E942-3A25-3E059B4D49C2}"/>
              </a:ext>
            </a:extLst>
          </p:cNvPr>
          <p:cNvSpPr/>
          <p:nvPr/>
        </p:nvSpPr>
        <p:spPr>
          <a:xfrm>
            <a:off x="6400870" y="2379594"/>
            <a:ext cx="1284971" cy="442910"/>
          </a:xfrm>
          <a:prstGeom prst="rect">
            <a:avLst/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자체 유튜브</a:t>
            </a:r>
            <a:r>
              <a:rPr lang="en-US" altLang="ko-KR" sz="1100" b="1" dirty="0">
                <a:solidFill>
                  <a:schemeClr val="bg1"/>
                </a:solidFill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</a:rPr>
              <a:t>채널</a:t>
            </a:r>
          </a:p>
        </p:txBody>
      </p:sp>
      <p:sp>
        <p:nvSpPr>
          <p:cNvPr id="31" name="직사각형 51">
            <a:extLst>
              <a:ext uri="{FF2B5EF4-FFF2-40B4-BE49-F238E27FC236}">
                <a16:creationId xmlns:a16="http://schemas.microsoft.com/office/drawing/2014/main" id="{7BFAF9B5-5BE4-F1F7-FD2E-1138E2A952C8}"/>
              </a:ext>
            </a:extLst>
          </p:cNvPr>
          <p:cNvSpPr/>
          <p:nvPr/>
        </p:nvSpPr>
        <p:spPr>
          <a:xfrm>
            <a:off x="8168592" y="4013382"/>
            <a:ext cx="1284971" cy="442910"/>
          </a:xfrm>
          <a:prstGeom prst="rect">
            <a:avLst/>
          </a:prstGeom>
          <a:solidFill>
            <a:srgbClr val="2EA37E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TITAN </a:t>
            </a:r>
            <a:r>
              <a:rPr lang="ko-KR" altLang="en-US" sz="1100" b="1" dirty="0">
                <a:solidFill>
                  <a:schemeClr val="bg1"/>
                </a:solidFill>
              </a:rPr>
              <a:t>강의 플랫폼</a:t>
            </a:r>
          </a:p>
        </p:txBody>
      </p:sp>
      <p:sp>
        <p:nvSpPr>
          <p:cNvPr id="37" name="직사각형 51">
            <a:extLst>
              <a:ext uri="{FF2B5EF4-FFF2-40B4-BE49-F238E27FC236}">
                <a16:creationId xmlns:a16="http://schemas.microsoft.com/office/drawing/2014/main" id="{76F0697C-5FEA-D032-F164-72AE086DBD7B}"/>
              </a:ext>
            </a:extLst>
          </p:cNvPr>
          <p:cNvSpPr/>
          <p:nvPr/>
        </p:nvSpPr>
        <p:spPr>
          <a:xfrm>
            <a:off x="1577673" y="2097154"/>
            <a:ext cx="1284971" cy="4429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기타 </a:t>
            </a:r>
            <a:r>
              <a:rPr lang="ko-KR" altLang="en-US" sz="1100" b="1" dirty="0" err="1">
                <a:solidFill>
                  <a:schemeClr val="bg1"/>
                </a:solidFill>
              </a:rPr>
              <a:t>외주사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en-US" altLang="ko-KR" sz="800" b="1" dirty="0">
                <a:solidFill>
                  <a:schemeClr val="bg1"/>
                </a:solidFill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</a:rPr>
              <a:t>상세페이지</a:t>
            </a:r>
            <a:r>
              <a:rPr lang="en-US" altLang="ko-KR" sz="800" b="1" dirty="0">
                <a:solidFill>
                  <a:schemeClr val="bg1"/>
                </a:solidFill>
              </a:rPr>
              <a:t>, </a:t>
            </a:r>
            <a:r>
              <a:rPr lang="ko-KR" altLang="en-US" sz="800" b="1" dirty="0">
                <a:solidFill>
                  <a:schemeClr val="bg1"/>
                </a:solidFill>
              </a:rPr>
              <a:t>전자책 등</a:t>
            </a:r>
            <a:r>
              <a:rPr lang="en-US" altLang="ko-KR" sz="800" b="1" dirty="0">
                <a:solidFill>
                  <a:schemeClr val="bg1"/>
                </a:solidFill>
              </a:rPr>
              <a:t>)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2291D65-4FF9-BAAE-6FFB-6B2CDCFE417A}"/>
              </a:ext>
            </a:extLst>
          </p:cNvPr>
          <p:cNvGrpSpPr/>
          <p:nvPr/>
        </p:nvGrpSpPr>
        <p:grpSpPr>
          <a:xfrm>
            <a:off x="2489650" y="3446848"/>
            <a:ext cx="1069183" cy="1069183"/>
            <a:chOff x="2478327" y="4381500"/>
            <a:chExt cx="1209675" cy="120967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47FA35F7-4FB7-56EA-CE18-4707F70A9184}"/>
                </a:ext>
              </a:extLst>
            </p:cNvPr>
            <p:cNvGrpSpPr/>
            <p:nvPr/>
          </p:nvGrpSpPr>
          <p:grpSpPr>
            <a:xfrm>
              <a:off x="2478327" y="4381500"/>
              <a:ext cx="1209675" cy="1209675"/>
              <a:chOff x="2478327" y="4381500"/>
              <a:chExt cx="1209675" cy="120967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9733B4DA-D220-D9C7-AD06-32B3D0CBFBB0}"/>
                  </a:ext>
                </a:extLst>
              </p:cNvPr>
              <p:cNvSpPr/>
              <p:nvPr/>
            </p:nvSpPr>
            <p:spPr>
              <a:xfrm>
                <a:off x="2478327" y="4381500"/>
                <a:ext cx="1209675" cy="1209675"/>
              </a:xfrm>
              <a:prstGeom prst="ellipse">
                <a:avLst/>
              </a:prstGeom>
              <a:solidFill>
                <a:srgbClr val="4B6D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F2706433-ED7D-A16A-EC4A-E16EF4249DB8}"/>
                  </a:ext>
                </a:extLst>
              </p:cNvPr>
              <p:cNvSpPr/>
              <p:nvPr/>
            </p:nvSpPr>
            <p:spPr>
              <a:xfrm>
                <a:off x="2587863" y="4491036"/>
                <a:ext cx="990602" cy="99060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200" dirty="0">
                  <a:solidFill>
                    <a:srgbClr val="3D3D3D"/>
                  </a:solidFill>
                </a:endParaRPr>
              </a:p>
            </p:txBody>
          </p:sp>
        </p:grpSp>
        <p:sp>
          <p:nvSpPr>
            <p:cNvPr id="26" name="직사각형 51">
              <a:extLst>
                <a:ext uri="{FF2B5EF4-FFF2-40B4-BE49-F238E27FC236}">
                  <a16:creationId xmlns:a16="http://schemas.microsoft.com/office/drawing/2014/main" id="{D56B3F00-9E52-8F22-3843-962DF681E41D}"/>
                </a:ext>
              </a:extLst>
            </p:cNvPr>
            <p:cNvSpPr/>
            <p:nvPr/>
          </p:nvSpPr>
          <p:spPr>
            <a:xfrm>
              <a:off x="2630278" y="4778841"/>
              <a:ext cx="905772" cy="44291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srgbClr val="4B6DE8"/>
                  </a:solidFill>
                </a:rPr>
                <a:t>TITAN</a:t>
              </a:r>
              <a:endParaRPr lang="ko-KR" altLang="en-US" sz="1400" b="1" dirty="0">
                <a:solidFill>
                  <a:srgbClr val="4B6DE8"/>
                </a:solidFill>
              </a:endParaRPr>
            </a:p>
          </p:txBody>
        </p:sp>
      </p:grpSp>
      <p:sp>
        <p:nvSpPr>
          <p:cNvPr id="42" name="직사각형 51">
            <a:extLst>
              <a:ext uri="{FF2B5EF4-FFF2-40B4-BE49-F238E27FC236}">
                <a16:creationId xmlns:a16="http://schemas.microsoft.com/office/drawing/2014/main" id="{4DCFB6A8-DC04-EEB0-CF39-BFCCC8931E0D}"/>
              </a:ext>
            </a:extLst>
          </p:cNvPr>
          <p:cNvSpPr/>
          <p:nvPr/>
        </p:nvSpPr>
        <p:spPr>
          <a:xfrm>
            <a:off x="3185838" y="2092478"/>
            <a:ext cx="1284971" cy="4429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기타 비용 </a:t>
            </a:r>
            <a:r>
              <a:rPr lang="ko-KR" altLang="en-US" sz="1100" b="1" dirty="0" err="1">
                <a:solidFill>
                  <a:schemeClr val="bg1"/>
                </a:solidFill>
              </a:rPr>
              <a:t>지급처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en-US" altLang="ko-KR" sz="800" b="1" dirty="0">
                <a:solidFill>
                  <a:schemeClr val="bg1"/>
                </a:solidFill>
              </a:rPr>
              <a:t>(</a:t>
            </a:r>
            <a:r>
              <a:rPr lang="ko-KR" altLang="en-US" sz="800" b="1" dirty="0" err="1">
                <a:solidFill>
                  <a:schemeClr val="bg1"/>
                </a:solidFill>
              </a:rPr>
              <a:t>알림톡</a:t>
            </a:r>
            <a:r>
              <a:rPr lang="en-US" altLang="ko-KR" sz="800" b="1" dirty="0">
                <a:solidFill>
                  <a:schemeClr val="bg1"/>
                </a:solidFill>
              </a:rPr>
              <a:t>, LMS,</a:t>
            </a:r>
            <a:r>
              <a:rPr lang="ko-KR" altLang="en-US" sz="800" b="1" dirty="0">
                <a:solidFill>
                  <a:schemeClr val="bg1"/>
                </a:solidFill>
              </a:rPr>
              <a:t> 문자서비스 등</a:t>
            </a:r>
            <a:r>
              <a:rPr lang="en-US" altLang="ko-KR" sz="800" b="1" dirty="0">
                <a:solidFill>
                  <a:schemeClr val="bg1"/>
                </a:solidFill>
              </a:rPr>
              <a:t>)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43" name="직사각형 51">
            <a:extLst>
              <a:ext uri="{FF2B5EF4-FFF2-40B4-BE49-F238E27FC236}">
                <a16:creationId xmlns:a16="http://schemas.microsoft.com/office/drawing/2014/main" id="{E9475997-2BFF-10D5-728A-68400409843F}"/>
              </a:ext>
            </a:extLst>
          </p:cNvPr>
          <p:cNvSpPr/>
          <p:nvPr/>
        </p:nvSpPr>
        <p:spPr>
          <a:xfrm>
            <a:off x="8168592" y="4858275"/>
            <a:ext cx="1284971" cy="442910"/>
          </a:xfrm>
          <a:prstGeom prst="rect">
            <a:avLst/>
          </a:prstGeom>
          <a:solidFill>
            <a:srgbClr val="5CCFA0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강의 매출 발생</a:t>
            </a:r>
          </a:p>
        </p:txBody>
      </p:sp>
      <p:sp>
        <p:nvSpPr>
          <p:cNvPr id="44" name="직사각형 51">
            <a:extLst>
              <a:ext uri="{FF2B5EF4-FFF2-40B4-BE49-F238E27FC236}">
                <a16:creationId xmlns:a16="http://schemas.microsoft.com/office/drawing/2014/main" id="{4C0E5D56-C05E-0F3E-EF04-B30269681676}"/>
              </a:ext>
            </a:extLst>
          </p:cNvPr>
          <p:cNvSpPr/>
          <p:nvPr/>
        </p:nvSpPr>
        <p:spPr>
          <a:xfrm>
            <a:off x="4604995" y="4859012"/>
            <a:ext cx="1284971" cy="4429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외부 마케팅 채널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en-US" altLang="ko-KR" sz="900" b="1" dirty="0">
                <a:solidFill>
                  <a:schemeClr val="bg1"/>
                </a:solidFill>
              </a:rPr>
              <a:t>(</a:t>
            </a:r>
            <a:r>
              <a:rPr lang="ko-KR" altLang="en-US" sz="900" b="1" dirty="0">
                <a:solidFill>
                  <a:schemeClr val="bg1"/>
                </a:solidFill>
              </a:rPr>
              <a:t>당근</a:t>
            </a:r>
            <a:r>
              <a:rPr lang="en-US" altLang="ko-KR" sz="900" b="1" dirty="0">
                <a:solidFill>
                  <a:schemeClr val="bg1"/>
                </a:solidFill>
              </a:rPr>
              <a:t>, </a:t>
            </a:r>
            <a:r>
              <a:rPr lang="ko-KR" altLang="en-US" sz="900" b="1" dirty="0" err="1">
                <a:solidFill>
                  <a:schemeClr val="bg1"/>
                </a:solidFill>
              </a:rPr>
              <a:t>틱톡</a:t>
            </a:r>
            <a:r>
              <a:rPr lang="en-US" altLang="ko-KR" sz="900" b="1" dirty="0">
                <a:solidFill>
                  <a:schemeClr val="bg1"/>
                </a:solidFill>
              </a:rPr>
              <a:t>, </a:t>
            </a:r>
            <a:r>
              <a:rPr lang="ko-KR" altLang="en-US" sz="900" b="1" dirty="0" err="1">
                <a:solidFill>
                  <a:schemeClr val="bg1"/>
                </a:solidFill>
              </a:rPr>
              <a:t>페북</a:t>
            </a:r>
            <a:r>
              <a:rPr lang="en-US" altLang="ko-KR" sz="900" b="1" dirty="0">
                <a:solidFill>
                  <a:schemeClr val="bg1"/>
                </a:solidFill>
              </a:rPr>
              <a:t>)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45" name="직사각형 51">
            <a:extLst>
              <a:ext uri="{FF2B5EF4-FFF2-40B4-BE49-F238E27FC236}">
                <a16:creationId xmlns:a16="http://schemas.microsoft.com/office/drawing/2014/main" id="{C7A32809-FD0D-5A77-1E99-E611DAAE576C}"/>
              </a:ext>
            </a:extLst>
          </p:cNvPr>
          <p:cNvSpPr/>
          <p:nvPr/>
        </p:nvSpPr>
        <p:spPr>
          <a:xfrm>
            <a:off x="6400870" y="4018145"/>
            <a:ext cx="1284971" cy="442910"/>
          </a:xfrm>
          <a:prstGeom prst="rect">
            <a:avLst/>
          </a:prstGeom>
          <a:solidFill>
            <a:srgbClr val="4B6DE8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자체 </a:t>
            </a:r>
            <a:r>
              <a:rPr lang="en-US" altLang="ko-KR" sz="1100" b="1" dirty="0">
                <a:solidFill>
                  <a:schemeClr val="bg1"/>
                </a:solidFill>
              </a:rPr>
              <a:t>SNS </a:t>
            </a:r>
            <a:r>
              <a:rPr lang="ko-KR" altLang="en-US" sz="1100" b="1" dirty="0">
                <a:solidFill>
                  <a:schemeClr val="bg1"/>
                </a:solidFill>
              </a:rPr>
              <a:t>채널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en-US" altLang="ko-KR" sz="1000" b="1" dirty="0">
                <a:solidFill>
                  <a:schemeClr val="bg1"/>
                </a:solidFill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</a:rPr>
              <a:t>인스타그램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블로그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46" name="직사각형 51">
            <a:extLst>
              <a:ext uri="{FF2B5EF4-FFF2-40B4-BE49-F238E27FC236}">
                <a16:creationId xmlns:a16="http://schemas.microsoft.com/office/drawing/2014/main" id="{393B35FC-D030-9800-BC51-32F997D2EE47}"/>
              </a:ext>
            </a:extLst>
          </p:cNvPr>
          <p:cNvSpPr/>
          <p:nvPr/>
        </p:nvSpPr>
        <p:spPr>
          <a:xfrm>
            <a:off x="6400870" y="3474998"/>
            <a:ext cx="1284971" cy="442910"/>
          </a:xfrm>
          <a:prstGeom prst="rect">
            <a:avLst/>
          </a:prstGeom>
          <a:solidFill>
            <a:srgbClr val="4B6DE8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자체 유튜브</a:t>
            </a:r>
            <a:r>
              <a:rPr lang="en-US" altLang="ko-KR" sz="1100" b="1" dirty="0">
                <a:solidFill>
                  <a:schemeClr val="bg1"/>
                </a:solidFill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</a:rPr>
              <a:t>채널</a:t>
            </a:r>
          </a:p>
        </p:txBody>
      </p:sp>
      <p:sp>
        <p:nvSpPr>
          <p:cNvPr id="47" name="직사각형 51">
            <a:extLst>
              <a:ext uri="{FF2B5EF4-FFF2-40B4-BE49-F238E27FC236}">
                <a16:creationId xmlns:a16="http://schemas.microsoft.com/office/drawing/2014/main" id="{CF256BB9-EA8F-1DF8-7449-BB36D1C027AE}"/>
              </a:ext>
            </a:extLst>
          </p:cNvPr>
          <p:cNvSpPr/>
          <p:nvPr/>
        </p:nvSpPr>
        <p:spPr>
          <a:xfrm>
            <a:off x="6400870" y="2927088"/>
            <a:ext cx="1284971" cy="442910"/>
          </a:xfrm>
          <a:prstGeom prst="rect">
            <a:avLst/>
          </a:prstGeom>
          <a:solidFill>
            <a:srgbClr val="539DFF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자체 </a:t>
            </a:r>
            <a:r>
              <a:rPr lang="en-US" altLang="ko-KR" sz="1100" b="1" dirty="0">
                <a:solidFill>
                  <a:schemeClr val="bg1"/>
                </a:solidFill>
              </a:rPr>
              <a:t>SNS </a:t>
            </a:r>
            <a:r>
              <a:rPr lang="ko-KR" altLang="en-US" sz="1100" b="1" dirty="0">
                <a:solidFill>
                  <a:schemeClr val="bg1"/>
                </a:solidFill>
              </a:rPr>
              <a:t>채널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en-US" altLang="ko-KR" sz="900" b="1" dirty="0">
                <a:solidFill>
                  <a:schemeClr val="bg1"/>
                </a:solidFill>
              </a:rPr>
              <a:t>(</a:t>
            </a:r>
            <a:r>
              <a:rPr lang="ko-KR" altLang="en-US" sz="900" b="1" dirty="0">
                <a:solidFill>
                  <a:schemeClr val="bg1"/>
                </a:solidFill>
              </a:rPr>
              <a:t>인스타그램</a:t>
            </a:r>
            <a:r>
              <a:rPr lang="en-US" altLang="ko-KR" sz="900" b="1" dirty="0">
                <a:solidFill>
                  <a:schemeClr val="bg1"/>
                </a:solidFill>
              </a:rPr>
              <a:t>, </a:t>
            </a:r>
            <a:r>
              <a:rPr lang="ko-KR" altLang="en-US" sz="900" b="1" dirty="0">
                <a:solidFill>
                  <a:schemeClr val="bg1"/>
                </a:solidFill>
              </a:rPr>
              <a:t>블로그</a:t>
            </a:r>
            <a:r>
              <a:rPr lang="en-US" altLang="ko-KR" sz="900" b="1" dirty="0">
                <a:solidFill>
                  <a:schemeClr val="bg1"/>
                </a:solidFill>
              </a:rPr>
              <a:t>)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EF57C1A8-68F6-C124-8514-77F5BE624E83}"/>
              </a:ext>
            </a:extLst>
          </p:cNvPr>
          <p:cNvCxnSpPr>
            <a:stCxn id="38" idx="0"/>
            <a:endCxn id="37" idx="2"/>
          </p:cNvCxnSpPr>
          <p:nvPr/>
        </p:nvCxnSpPr>
        <p:spPr>
          <a:xfrm rot="16200000" flipV="1">
            <a:off x="2168809" y="2591414"/>
            <a:ext cx="906784" cy="804083"/>
          </a:xfrm>
          <a:prstGeom prst="bentConnector3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DBDE528F-53A4-01A4-4496-B00408D1C663}"/>
              </a:ext>
            </a:extLst>
          </p:cNvPr>
          <p:cNvCxnSpPr>
            <a:cxnSpLocks/>
            <a:stCxn id="38" idx="0"/>
            <a:endCxn id="42" idx="2"/>
          </p:cNvCxnSpPr>
          <p:nvPr/>
        </p:nvCxnSpPr>
        <p:spPr>
          <a:xfrm rot="5400000" flipH="1" flipV="1">
            <a:off x="2970553" y="2589077"/>
            <a:ext cx="911460" cy="804082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9F07E485-E351-D892-2DF3-5DFCB995EFCC}"/>
              </a:ext>
            </a:extLst>
          </p:cNvPr>
          <p:cNvCxnSpPr>
            <a:cxnSpLocks/>
            <a:stCxn id="38" idx="6"/>
            <a:endCxn id="27" idx="1"/>
          </p:cNvCxnSpPr>
          <p:nvPr/>
        </p:nvCxnSpPr>
        <p:spPr>
          <a:xfrm flipV="1">
            <a:off x="3558833" y="2882413"/>
            <a:ext cx="972000" cy="792000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7BE58CBA-2C86-80A1-6039-8054B1EFE270}"/>
              </a:ext>
            </a:extLst>
          </p:cNvPr>
          <p:cNvCxnSpPr>
            <a:cxnSpLocks/>
          </p:cNvCxnSpPr>
          <p:nvPr/>
        </p:nvCxnSpPr>
        <p:spPr>
          <a:xfrm>
            <a:off x="3558833" y="4279890"/>
            <a:ext cx="972000" cy="792000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BBF0B547-4AFA-15F5-BADC-D99CF9D112C1}"/>
              </a:ext>
            </a:extLst>
          </p:cNvPr>
          <p:cNvCxnSpPr>
            <a:cxnSpLocks/>
            <a:stCxn id="38" idx="6"/>
            <a:endCxn id="21" idx="1"/>
          </p:cNvCxnSpPr>
          <p:nvPr/>
        </p:nvCxnSpPr>
        <p:spPr>
          <a:xfrm>
            <a:off x="3558833" y="3981440"/>
            <a:ext cx="972000" cy="0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직사각형 51">
            <a:extLst>
              <a:ext uri="{FF2B5EF4-FFF2-40B4-BE49-F238E27FC236}">
                <a16:creationId xmlns:a16="http://schemas.microsoft.com/office/drawing/2014/main" id="{475CCF58-389C-F4D1-9B27-58C4AB6408CE}"/>
              </a:ext>
            </a:extLst>
          </p:cNvPr>
          <p:cNvSpPr/>
          <p:nvPr/>
        </p:nvSpPr>
        <p:spPr>
          <a:xfrm>
            <a:off x="8168592" y="3214828"/>
            <a:ext cx="1284971" cy="442910"/>
          </a:xfrm>
          <a:prstGeom prst="rect">
            <a:avLst/>
          </a:prstGeom>
          <a:solidFill>
            <a:srgbClr val="1E8A6C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구독자</a:t>
            </a:r>
            <a:r>
              <a:rPr lang="en-US" altLang="ko-KR" sz="1100" b="1" dirty="0">
                <a:solidFill>
                  <a:schemeClr val="bg1"/>
                </a:solidFill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</a:rPr>
              <a:t>소비자</a:t>
            </a: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B5CA1D61-EEE9-F8A2-8244-158049A18BD8}"/>
              </a:ext>
            </a:extLst>
          </p:cNvPr>
          <p:cNvCxnSpPr>
            <a:cxnSpLocks/>
            <a:stCxn id="24" idx="0"/>
          </p:cNvCxnSpPr>
          <p:nvPr/>
        </p:nvCxnSpPr>
        <p:spPr>
          <a:xfrm rot="5400000" flipH="1" flipV="1">
            <a:off x="1466698" y="3779419"/>
            <a:ext cx="648000" cy="1390427"/>
          </a:xfrm>
          <a:prstGeom prst="bentConnector2">
            <a:avLst/>
          </a:prstGeom>
          <a:ln w="6350">
            <a:solidFill>
              <a:srgbClr val="3D3D3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92EA4384-56CB-5E9E-268E-0A9FDC67944B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889967" y="2601049"/>
            <a:ext cx="510903" cy="281364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57164E3-2BFB-552B-5894-6FC39002876F}"/>
              </a:ext>
            </a:extLst>
          </p:cNvPr>
          <p:cNvCxnSpPr>
            <a:cxnSpLocks/>
            <a:stCxn id="27" idx="3"/>
            <a:endCxn id="47" idx="1"/>
          </p:cNvCxnSpPr>
          <p:nvPr/>
        </p:nvCxnSpPr>
        <p:spPr>
          <a:xfrm>
            <a:off x="5889967" y="2882413"/>
            <a:ext cx="510903" cy="266130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630EAC69-790E-B069-A134-F8A9ECF2DA15}"/>
              </a:ext>
            </a:extLst>
          </p:cNvPr>
          <p:cNvCxnSpPr>
            <a:cxnSpLocks/>
            <a:stCxn id="21" idx="3"/>
            <a:endCxn id="46" idx="1"/>
          </p:cNvCxnSpPr>
          <p:nvPr/>
        </p:nvCxnSpPr>
        <p:spPr>
          <a:xfrm flipV="1">
            <a:off x="5889967" y="3696453"/>
            <a:ext cx="510903" cy="284987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0B7A34B1-EE0A-64F3-7B4F-A0086C5948AB}"/>
              </a:ext>
            </a:extLst>
          </p:cNvPr>
          <p:cNvCxnSpPr>
            <a:cxnSpLocks/>
            <a:stCxn id="21" idx="3"/>
            <a:endCxn id="45" idx="1"/>
          </p:cNvCxnSpPr>
          <p:nvPr/>
        </p:nvCxnSpPr>
        <p:spPr>
          <a:xfrm>
            <a:off x="5889967" y="3981440"/>
            <a:ext cx="510903" cy="258160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4C901A68-84C2-3C6E-E211-E3549712E913}"/>
              </a:ext>
            </a:extLst>
          </p:cNvPr>
          <p:cNvCxnSpPr>
            <a:cxnSpLocks/>
            <a:stCxn id="29" idx="3"/>
            <a:endCxn id="76" idx="1"/>
          </p:cNvCxnSpPr>
          <p:nvPr/>
        </p:nvCxnSpPr>
        <p:spPr>
          <a:xfrm>
            <a:off x="7685841" y="2601049"/>
            <a:ext cx="482751" cy="835234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7DE9981B-51F8-CF05-8756-292C4D43DF9E}"/>
              </a:ext>
            </a:extLst>
          </p:cNvPr>
          <p:cNvCxnSpPr>
            <a:cxnSpLocks/>
            <a:stCxn id="47" idx="3"/>
            <a:endCxn id="76" idx="1"/>
          </p:cNvCxnSpPr>
          <p:nvPr/>
        </p:nvCxnSpPr>
        <p:spPr>
          <a:xfrm>
            <a:off x="7685841" y="3148543"/>
            <a:ext cx="482751" cy="287740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9B24BA75-6CFE-6D12-23F7-7F43EEB64CB7}"/>
              </a:ext>
            </a:extLst>
          </p:cNvPr>
          <p:cNvCxnSpPr>
            <a:cxnSpLocks/>
            <a:stCxn id="46" idx="3"/>
            <a:endCxn id="76" idx="1"/>
          </p:cNvCxnSpPr>
          <p:nvPr/>
        </p:nvCxnSpPr>
        <p:spPr>
          <a:xfrm flipV="1">
            <a:off x="7685841" y="3436283"/>
            <a:ext cx="482751" cy="260170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D4BFD530-D365-5E1C-8597-3CB0EEFC55FE}"/>
              </a:ext>
            </a:extLst>
          </p:cNvPr>
          <p:cNvCxnSpPr>
            <a:cxnSpLocks/>
            <a:stCxn id="45" idx="3"/>
            <a:endCxn id="76" idx="1"/>
          </p:cNvCxnSpPr>
          <p:nvPr/>
        </p:nvCxnSpPr>
        <p:spPr>
          <a:xfrm flipV="1">
            <a:off x="7685841" y="3436283"/>
            <a:ext cx="482751" cy="803317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056BA122-EC58-3EFD-FADE-0A9A225337F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67441" y="2798627"/>
            <a:ext cx="646514" cy="1390427"/>
          </a:xfrm>
          <a:prstGeom prst="bentConnector2">
            <a:avLst/>
          </a:prstGeom>
          <a:ln w="6350">
            <a:solidFill>
              <a:srgbClr val="3D3D3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8273D6A0-B980-B6A6-D619-7BA6C0EA51B4}"/>
              </a:ext>
            </a:extLst>
          </p:cNvPr>
          <p:cNvCxnSpPr>
            <a:stCxn id="76" idx="2"/>
            <a:endCxn id="31" idx="0"/>
          </p:cNvCxnSpPr>
          <p:nvPr/>
        </p:nvCxnSpPr>
        <p:spPr>
          <a:xfrm>
            <a:off x="8811078" y="3657738"/>
            <a:ext cx="0" cy="355644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5411DE6B-EB6E-12E8-9044-0B706505E35A}"/>
              </a:ext>
            </a:extLst>
          </p:cNvPr>
          <p:cNvCxnSpPr>
            <a:cxnSpLocks/>
            <a:stCxn id="31" idx="2"/>
            <a:endCxn id="43" idx="0"/>
          </p:cNvCxnSpPr>
          <p:nvPr/>
        </p:nvCxnSpPr>
        <p:spPr>
          <a:xfrm>
            <a:off x="8811078" y="4456292"/>
            <a:ext cx="0" cy="401983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A2E2341-3718-1A6E-3B33-9DE1ACD0AFC0}"/>
              </a:ext>
            </a:extLst>
          </p:cNvPr>
          <p:cNvSpPr txBox="1"/>
          <p:nvPr/>
        </p:nvSpPr>
        <p:spPr>
          <a:xfrm>
            <a:off x="1095970" y="3454321"/>
            <a:ext cx="1069183" cy="295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dirty="0">
                <a:solidFill>
                  <a:srgbClr val="3D3D3D"/>
                </a:solidFill>
              </a:rPr>
              <a:t>계약 및 강사 육성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(</a:t>
            </a:r>
            <a:r>
              <a:rPr lang="ko-KR" altLang="en-US" sz="800" dirty="0">
                <a:solidFill>
                  <a:srgbClr val="3D3D3D"/>
                </a:solidFill>
              </a:rPr>
              <a:t>수익 분배</a:t>
            </a:r>
            <a:r>
              <a:rPr lang="en-US" altLang="ko-KR" sz="800" dirty="0">
                <a:solidFill>
                  <a:srgbClr val="3D3D3D"/>
                </a:solidFill>
              </a:rPr>
              <a:t> 4:6~5:5)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5ACD530-B409-E1A5-1132-6D607BDEFA60}"/>
              </a:ext>
            </a:extLst>
          </p:cNvPr>
          <p:cNvSpPr txBox="1"/>
          <p:nvPr/>
        </p:nvSpPr>
        <p:spPr>
          <a:xfrm>
            <a:off x="1095970" y="4187048"/>
            <a:ext cx="1069183" cy="295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dirty="0">
                <a:solidFill>
                  <a:srgbClr val="3D3D3D"/>
                </a:solidFill>
              </a:rPr>
              <a:t>계약 및 강사 육성</a:t>
            </a:r>
            <a:endParaRPr lang="en-US" altLang="ko-KR" sz="10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(</a:t>
            </a:r>
            <a:r>
              <a:rPr lang="ko-KR" altLang="en-US" sz="800" dirty="0">
                <a:solidFill>
                  <a:srgbClr val="3D3D3D"/>
                </a:solidFill>
              </a:rPr>
              <a:t>수익 분배 </a:t>
            </a:r>
            <a:r>
              <a:rPr lang="en-US" altLang="ko-KR" sz="800" dirty="0">
                <a:solidFill>
                  <a:srgbClr val="3D3D3D"/>
                </a:solidFill>
              </a:rPr>
              <a:t>5:5~6:5)</a:t>
            </a:r>
            <a:endParaRPr lang="ko-KR" altLang="en-US" sz="800" dirty="0">
              <a:solidFill>
                <a:srgbClr val="3D3D3D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6DCBD09-91DB-6C44-2C94-FD153286D090}"/>
              </a:ext>
            </a:extLst>
          </p:cNvPr>
          <p:cNvSpPr txBox="1"/>
          <p:nvPr/>
        </p:nvSpPr>
        <p:spPr>
          <a:xfrm>
            <a:off x="2374348" y="2614724"/>
            <a:ext cx="1292382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dirty="0">
                <a:solidFill>
                  <a:srgbClr val="3D3D3D"/>
                </a:solidFill>
              </a:rPr>
              <a:t>각종 비용 지급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15253AB-CB29-3041-1C4A-F490CCE75853}"/>
              </a:ext>
            </a:extLst>
          </p:cNvPr>
          <p:cNvSpPr txBox="1"/>
          <p:nvPr/>
        </p:nvSpPr>
        <p:spPr>
          <a:xfrm>
            <a:off x="4147392" y="3151126"/>
            <a:ext cx="1934410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000" dirty="0">
                <a:solidFill>
                  <a:srgbClr val="3D3D3D"/>
                </a:solidFill>
              </a:rPr>
              <a:t>영상 </a:t>
            </a:r>
            <a:r>
              <a:rPr lang="ko-KR" altLang="en-US" sz="1000" dirty="0" err="1">
                <a:solidFill>
                  <a:srgbClr val="3D3D3D"/>
                </a:solidFill>
              </a:rPr>
              <a:t>외주비</a:t>
            </a:r>
            <a:r>
              <a:rPr lang="en-US" altLang="ko-KR" sz="1000" dirty="0">
                <a:solidFill>
                  <a:srgbClr val="3D3D3D"/>
                </a:solidFill>
              </a:rPr>
              <a:t>/</a:t>
            </a:r>
            <a:r>
              <a:rPr lang="ko-KR" altLang="en-US" sz="1000" dirty="0">
                <a:solidFill>
                  <a:srgbClr val="3D3D3D"/>
                </a:solidFill>
              </a:rPr>
              <a:t>광고비 지급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6293207-20B2-0795-5B39-027834FAD544}"/>
              </a:ext>
            </a:extLst>
          </p:cNvPr>
          <p:cNvSpPr txBox="1"/>
          <p:nvPr/>
        </p:nvSpPr>
        <p:spPr>
          <a:xfrm>
            <a:off x="4147392" y="3348640"/>
            <a:ext cx="1934410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dirty="0">
                <a:solidFill>
                  <a:srgbClr val="3D3D3D"/>
                </a:solidFill>
              </a:rPr>
              <a:t>RS</a:t>
            </a:r>
            <a:r>
              <a:rPr lang="ko-KR" altLang="en-US" sz="1000" dirty="0">
                <a:solidFill>
                  <a:srgbClr val="3D3D3D"/>
                </a:solidFill>
              </a:rPr>
              <a:t> 분배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9F218B5-F961-96E3-FBBB-575103F6938E}"/>
              </a:ext>
            </a:extLst>
          </p:cNvPr>
          <p:cNvSpPr txBox="1"/>
          <p:nvPr/>
        </p:nvSpPr>
        <p:spPr>
          <a:xfrm>
            <a:off x="3157600" y="5110834"/>
            <a:ext cx="1934410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dirty="0">
                <a:solidFill>
                  <a:srgbClr val="3D3D3D"/>
                </a:solidFill>
              </a:rPr>
              <a:t>광고비 지급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7BBD1FB-BEAD-7014-C76C-4BE682F645C2}"/>
              </a:ext>
            </a:extLst>
          </p:cNvPr>
          <p:cNvSpPr txBox="1"/>
          <p:nvPr/>
        </p:nvSpPr>
        <p:spPr>
          <a:xfrm>
            <a:off x="3719641" y="4008330"/>
            <a:ext cx="751050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dirty="0">
                <a:solidFill>
                  <a:srgbClr val="3D3D3D"/>
                </a:solidFill>
              </a:rPr>
              <a:t>광고비 집행</a:t>
            </a: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A9F7F29A-0530-BF9C-BA8A-4FFE9BCF7AF6}"/>
              </a:ext>
            </a:extLst>
          </p:cNvPr>
          <p:cNvCxnSpPr>
            <a:stCxn id="43" idx="2"/>
            <a:endCxn id="38" idx="4"/>
          </p:cNvCxnSpPr>
          <p:nvPr/>
        </p:nvCxnSpPr>
        <p:spPr>
          <a:xfrm rot="5400000" flipH="1">
            <a:off x="5525083" y="2015190"/>
            <a:ext cx="785154" cy="5786836"/>
          </a:xfrm>
          <a:prstGeom prst="bentConnector3">
            <a:avLst>
              <a:gd name="adj1" fmla="val -59039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D7E00E87-1497-F162-E8A3-9ECAAB3BA9FB}"/>
              </a:ext>
            </a:extLst>
          </p:cNvPr>
          <p:cNvSpPr txBox="1"/>
          <p:nvPr/>
        </p:nvSpPr>
        <p:spPr>
          <a:xfrm>
            <a:off x="8759512" y="3726449"/>
            <a:ext cx="751050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>
                <a:solidFill>
                  <a:srgbClr val="3D3D3D"/>
                </a:solidFill>
              </a:rPr>
              <a:t>플랫폼 유입</a:t>
            </a:r>
            <a:endParaRPr lang="ko-KR" altLang="en-US" sz="1000" dirty="0">
              <a:solidFill>
                <a:srgbClr val="3D3D3D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E8C2500-81DE-8693-4EE3-257357B30248}"/>
              </a:ext>
            </a:extLst>
          </p:cNvPr>
          <p:cNvSpPr txBox="1"/>
          <p:nvPr/>
        </p:nvSpPr>
        <p:spPr>
          <a:xfrm>
            <a:off x="8759512" y="4566084"/>
            <a:ext cx="751050" cy="1580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dirty="0">
                <a:solidFill>
                  <a:srgbClr val="3D3D3D"/>
                </a:solidFill>
              </a:rPr>
              <a:t>유료결제</a:t>
            </a:r>
          </a:p>
        </p:txBody>
      </p: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C411BE94-9757-2690-2842-F28B9F133313}"/>
              </a:ext>
            </a:extLst>
          </p:cNvPr>
          <p:cNvCxnSpPr>
            <a:cxnSpLocks/>
            <a:stCxn id="44" idx="3"/>
            <a:endCxn id="76" idx="1"/>
          </p:cNvCxnSpPr>
          <p:nvPr/>
        </p:nvCxnSpPr>
        <p:spPr>
          <a:xfrm flipV="1">
            <a:off x="5889966" y="3436283"/>
            <a:ext cx="2278626" cy="1644184"/>
          </a:xfrm>
          <a:prstGeom prst="bentConnector3">
            <a:avLst>
              <a:gd name="adj1" fmla="val 93589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897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화살표: 오른쪽 18">
            <a:extLst>
              <a:ext uri="{FF2B5EF4-FFF2-40B4-BE49-F238E27FC236}">
                <a16:creationId xmlns:a16="http://schemas.microsoft.com/office/drawing/2014/main" id="{91F016C8-D992-61B0-69E2-2BD41D27E23D}"/>
              </a:ext>
            </a:extLst>
          </p:cNvPr>
          <p:cNvSpPr/>
          <p:nvPr/>
        </p:nvSpPr>
        <p:spPr>
          <a:xfrm rot="5400000">
            <a:off x="2782274" y="4583716"/>
            <a:ext cx="267751" cy="1163468"/>
          </a:xfrm>
          <a:prstGeom prst="rightArrow">
            <a:avLst>
              <a:gd name="adj1" fmla="val 50000"/>
              <a:gd name="adj2" fmla="val 64177"/>
            </a:avLst>
          </a:prstGeom>
          <a:gradFill>
            <a:gsLst>
              <a:gs pos="0">
                <a:srgbClr val="FFFFFF"/>
              </a:gs>
              <a:gs pos="64000">
                <a:srgbClr val="5CCFA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5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7" name="직사각형 84">
            <a:extLst>
              <a:ext uri="{FF2B5EF4-FFF2-40B4-BE49-F238E27FC236}">
                <a16:creationId xmlns:a16="http://schemas.microsoft.com/office/drawing/2014/main" id="{52EE9212-CB73-1F8F-35A7-B58975228AAF}"/>
              </a:ext>
            </a:extLst>
          </p:cNvPr>
          <p:cNvSpPr/>
          <p:nvPr/>
        </p:nvSpPr>
        <p:spPr>
          <a:xfrm>
            <a:off x="965247" y="3848465"/>
            <a:ext cx="3830591" cy="1795191"/>
          </a:xfrm>
          <a:prstGeom prst="rect">
            <a:avLst/>
          </a:prstGeom>
          <a:solidFill>
            <a:srgbClr val="5CCFA0">
              <a:alpha val="15000"/>
            </a:srgbClr>
          </a:solidFill>
          <a:ln w="28575">
            <a:solidFill>
              <a:srgbClr val="5CCFA0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E8CB9A1-A9AE-0883-606A-3CEB6B56B6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콘텐츠 기획 </a:t>
            </a:r>
            <a:r>
              <a:rPr lang="en-US" altLang="ko-KR" dirty="0"/>
              <a:t>· </a:t>
            </a:r>
            <a:r>
              <a:rPr lang="ko-KR" altLang="en-US" dirty="0"/>
              <a:t>개발 </a:t>
            </a:r>
            <a:r>
              <a:rPr lang="en-US" altLang="ko-KR" dirty="0"/>
              <a:t>- </a:t>
            </a:r>
            <a:r>
              <a:rPr lang="ko-KR" altLang="en-US" dirty="0"/>
              <a:t>강사 </a:t>
            </a:r>
            <a:r>
              <a:rPr lang="ko-KR" altLang="en-US" dirty="0" err="1"/>
              <a:t>프로듀싱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44D296-678E-02B4-A1EF-1F2B345576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CABB44-E3E6-8FE7-9054-EF2FDF9CEA4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35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CEA4C8-7DF8-0683-740E-5CE4B63635EB}"/>
              </a:ext>
            </a:extLst>
          </p:cNvPr>
          <p:cNvSpPr/>
          <p:nvPr/>
        </p:nvSpPr>
        <p:spPr>
          <a:xfrm>
            <a:off x="452999" y="1700213"/>
            <a:ext cx="8999905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높은 잠재력의 강사 </a:t>
            </a:r>
            <a:r>
              <a:rPr lang="ko-KR" altLang="en-US" sz="1200" b="1" dirty="0" err="1">
                <a:solidFill>
                  <a:schemeClr val="bg1"/>
                </a:solidFill>
              </a:rPr>
              <a:t>리쿠르팅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퍼스널 브랜딩 역량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24" name="직사각형 74">
            <a:extLst>
              <a:ext uri="{FF2B5EF4-FFF2-40B4-BE49-F238E27FC236}">
                <a16:creationId xmlns:a16="http://schemas.microsoft.com/office/drawing/2014/main" id="{70857FC7-2714-927D-AE75-6A4D7592C489}"/>
              </a:ext>
            </a:extLst>
          </p:cNvPr>
          <p:cNvSpPr/>
          <p:nvPr/>
        </p:nvSpPr>
        <p:spPr>
          <a:xfrm rot="16200000">
            <a:off x="-10568" y="2959650"/>
            <a:ext cx="1137480" cy="21461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  프로세스</a:t>
            </a:r>
          </a:p>
        </p:txBody>
      </p:sp>
      <p:cxnSp>
        <p:nvCxnSpPr>
          <p:cNvPr id="60" name="직선 화살표 연결선 8">
            <a:extLst>
              <a:ext uri="{FF2B5EF4-FFF2-40B4-BE49-F238E27FC236}">
                <a16:creationId xmlns:a16="http://schemas.microsoft.com/office/drawing/2014/main" id="{3A7BE127-AEA3-69FD-5A2F-2B9F8AA288D7}"/>
              </a:ext>
            </a:extLst>
          </p:cNvPr>
          <p:cNvCxnSpPr>
            <a:cxnSpLocks/>
          </p:cNvCxnSpPr>
          <p:nvPr/>
        </p:nvCxnSpPr>
        <p:spPr>
          <a:xfrm>
            <a:off x="831850" y="2343150"/>
            <a:ext cx="0" cy="1555174"/>
          </a:xfrm>
          <a:prstGeom prst="straightConnector1">
            <a:avLst/>
          </a:prstGeom>
          <a:noFill/>
          <a:ln w="50800" cap="sq" cmpd="sng" algn="ctr">
            <a:gradFill flip="none" rotWithShape="1">
              <a:gsLst>
                <a:gs pos="0">
                  <a:srgbClr val="11244A"/>
                </a:gs>
                <a:gs pos="90000">
                  <a:srgbClr val="2A5FA3"/>
                </a:gs>
              </a:gsLst>
              <a:lin ang="5400000" scaled="1"/>
              <a:tileRect/>
            </a:gradFill>
            <a:prstDash val="solid"/>
            <a:miter lim="800000"/>
            <a:tailEnd type="triangle" w="med" len="med"/>
          </a:ln>
          <a:effectLst/>
        </p:spPr>
      </p:cxnSp>
      <p:sp>
        <p:nvSpPr>
          <p:cNvPr id="70" name="Oval 39">
            <a:extLst>
              <a:ext uri="{FF2B5EF4-FFF2-40B4-BE49-F238E27FC236}">
                <a16:creationId xmlns:a16="http://schemas.microsoft.com/office/drawing/2014/main" id="{30FA1D74-3269-BBAF-CC2F-69EF0F7EE0BF}"/>
              </a:ext>
            </a:extLst>
          </p:cNvPr>
          <p:cNvSpPr/>
          <p:nvPr/>
        </p:nvSpPr>
        <p:spPr>
          <a:xfrm>
            <a:off x="750154" y="2553874"/>
            <a:ext cx="163392" cy="163392"/>
          </a:xfrm>
          <a:prstGeom prst="ellipse">
            <a:avLst/>
          </a:prstGeom>
          <a:solidFill>
            <a:schemeClr val="bg1"/>
          </a:solidFill>
          <a:ln w="31750" cap="flat" cmpd="sng" algn="ctr">
            <a:solidFill>
              <a:srgbClr val="0A1A39"/>
            </a:solidFill>
            <a:prstDash val="solid"/>
            <a:miter lim="800000"/>
          </a:ln>
          <a:effectLst/>
        </p:spPr>
        <p:txBody>
          <a:bodyPr lIns="54610" tIns="54610" rIns="54610" bIns="5461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4915B28F-B531-84DA-98FE-5D69F0F9281E}"/>
              </a:ext>
            </a:extLst>
          </p:cNvPr>
          <p:cNvSpPr/>
          <p:nvPr/>
        </p:nvSpPr>
        <p:spPr>
          <a:xfrm>
            <a:off x="750154" y="3387207"/>
            <a:ext cx="163392" cy="163392"/>
          </a:xfrm>
          <a:prstGeom prst="ellipse">
            <a:avLst/>
          </a:prstGeom>
          <a:solidFill>
            <a:schemeClr val="bg1"/>
          </a:solidFill>
          <a:ln w="31750" cap="flat" cmpd="sng" algn="ctr">
            <a:solidFill>
              <a:srgbClr val="2A5FA3"/>
            </a:solidFill>
            <a:prstDash val="solid"/>
            <a:miter lim="800000"/>
          </a:ln>
          <a:effectLst/>
        </p:spPr>
        <p:txBody>
          <a:bodyPr lIns="54610" tIns="54610" rIns="54610" bIns="5461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8" name="직선 화살표 연결선 8">
            <a:extLst>
              <a:ext uri="{FF2B5EF4-FFF2-40B4-BE49-F238E27FC236}">
                <a16:creationId xmlns:a16="http://schemas.microsoft.com/office/drawing/2014/main" id="{0B54301B-0190-460A-9A33-1F707CFB6324}"/>
              </a:ext>
            </a:extLst>
          </p:cNvPr>
          <p:cNvCxnSpPr>
            <a:cxnSpLocks/>
          </p:cNvCxnSpPr>
          <p:nvPr/>
        </p:nvCxnSpPr>
        <p:spPr>
          <a:xfrm>
            <a:off x="831850" y="3973688"/>
            <a:ext cx="0" cy="1639666"/>
          </a:xfrm>
          <a:prstGeom prst="straightConnector1">
            <a:avLst/>
          </a:prstGeom>
          <a:noFill/>
          <a:ln w="50800" cap="sq" cmpd="sng" algn="ctr">
            <a:gradFill flip="none" rotWithShape="1">
              <a:gsLst>
                <a:gs pos="0">
                  <a:srgbClr val="539DFF"/>
                </a:gs>
                <a:gs pos="90000">
                  <a:srgbClr val="B2DAFF"/>
                </a:gs>
              </a:gsLst>
              <a:lin ang="5400000" scaled="1"/>
              <a:tileRect/>
            </a:gradFill>
            <a:prstDash val="solid"/>
            <a:miter lim="800000"/>
            <a:tailEnd type="triangle" w="med" len="med"/>
          </a:ln>
          <a:effectLst/>
        </p:spPr>
      </p:cxnSp>
      <p:sp>
        <p:nvSpPr>
          <p:cNvPr id="80" name="Oval 39">
            <a:extLst>
              <a:ext uri="{FF2B5EF4-FFF2-40B4-BE49-F238E27FC236}">
                <a16:creationId xmlns:a16="http://schemas.microsoft.com/office/drawing/2014/main" id="{FA93E0F3-C7F5-7FBE-01F8-998CF76FA964}"/>
              </a:ext>
            </a:extLst>
          </p:cNvPr>
          <p:cNvSpPr/>
          <p:nvPr/>
        </p:nvSpPr>
        <p:spPr>
          <a:xfrm>
            <a:off x="750154" y="5047357"/>
            <a:ext cx="163392" cy="163392"/>
          </a:xfrm>
          <a:prstGeom prst="ellipse">
            <a:avLst/>
          </a:prstGeom>
          <a:solidFill>
            <a:schemeClr val="bg1"/>
          </a:solidFill>
          <a:ln w="31750" cap="flat" cmpd="sng" algn="ctr">
            <a:solidFill>
              <a:srgbClr val="B2DAFF"/>
            </a:solidFill>
            <a:prstDash val="solid"/>
            <a:miter lim="800000"/>
          </a:ln>
          <a:effectLst/>
        </p:spPr>
        <p:txBody>
          <a:bodyPr lIns="54610" tIns="54610" rIns="54610" bIns="5461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79D741C2-C1DC-C0A8-2FF8-12F25EF0CC66}"/>
              </a:ext>
            </a:extLst>
          </p:cNvPr>
          <p:cNvGrpSpPr/>
          <p:nvPr/>
        </p:nvGrpSpPr>
        <p:grpSpPr>
          <a:xfrm>
            <a:off x="997271" y="2310960"/>
            <a:ext cx="3763908" cy="756000"/>
            <a:chOff x="1081091" y="2097985"/>
            <a:chExt cx="3703743" cy="756000"/>
          </a:xfrm>
        </p:grpSpPr>
        <p:sp>
          <p:nvSpPr>
            <p:cNvPr id="81" name="Rectangle 398">
              <a:extLst>
                <a:ext uri="{FF2B5EF4-FFF2-40B4-BE49-F238E27FC236}">
                  <a16:creationId xmlns:a16="http://schemas.microsoft.com/office/drawing/2014/main" id="{CF439E6C-0490-F442-C7F0-D53E54A1E69E}"/>
                </a:ext>
              </a:extLst>
            </p:cNvPr>
            <p:cNvSpPr/>
            <p:nvPr/>
          </p:nvSpPr>
          <p:spPr>
            <a:xfrm>
              <a:off x="1316851" y="2097985"/>
              <a:ext cx="3467983" cy="756000"/>
            </a:xfrm>
            <a:prstGeom prst="rect">
              <a:avLst/>
            </a:prstGeom>
            <a:solidFill>
              <a:srgbClr val="0A1A3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100" b="1" dirty="0">
                  <a:solidFill>
                    <a:schemeClr val="bg1"/>
                  </a:solidFill>
                </a:rPr>
                <a:t>Screening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400" kern="0" dirty="0">
                <a:solidFill>
                  <a:srgbClr val="FFFFFF"/>
                </a:solidFill>
                <a:latin typeface="Arial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Isosceles Triangle 399">
              <a:extLst>
                <a:ext uri="{FF2B5EF4-FFF2-40B4-BE49-F238E27FC236}">
                  <a16:creationId xmlns:a16="http://schemas.microsoft.com/office/drawing/2014/main" id="{4E9857C0-F9B1-1DB4-EEC2-531E153EE26B}"/>
                </a:ext>
              </a:extLst>
            </p:cNvPr>
            <p:cNvSpPr/>
            <p:nvPr/>
          </p:nvSpPr>
          <p:spPr>
            <a:xfrm rot="16200000">
              <a:off x="1062231" y="2304106"/>
              <a:ext cx="273480" cy="235759"/>
            </a:xfrm>
            <a:prstGeom prst="triangle">
              <a:avLst/>
            </a:prstGeom>
            <a:solidFill>
              <a:srgbClr val="0A1A3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5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60A9C4A-0648-BA3A-6E46-CB34E32E9666}"/>
              </a:ext>
            </a:extLst>
          </p:cNvPr>
          <p:cNvGrpSpPr/>
          <p:nvPr/>
        </p:nvGrpSpPr>
        <p:grpSpPr>
          <a:xfrm>
            <a:off x="997271" y="3142324"/>
            <a:ext cx="3763908" cy="756000"/>
            <a:chOff x="1081091" y="2078935"/>
            <a:chExt cx="3703743" cy="756000"/>
          </a:xfrm>
        </p:grpSpPr>
        <p:sp>
          <p:nvSpPr>
            <p:cNvPr id="94" name="Rectangle 398">
              <a:extLst>
                <a:ext uri="{FF2B5EF4-FFF2-40B4-BE49-F238E27FC236}">
                  <a16:creationId xmlns:a16="http://schemas.microsoft.com/office/drawing/2014/main" id="{0A40E583-F30E-CD7C-2F6D-F005C880785B}"/>
                </a:ext>
              </a:extLst>
            </p:cNvPr>
            <p:cNvSpPr/>
            <p:nvPr/>
          </p:nvSpPr>
          <p:spPr>
            <a:xfrm>
              <a:off x="1316851" y="2078935"/>
              <a:ext cx="3467983" cy="756000"/>
            </a:xfrm>
            <a:prstGeom prst="rect">
              <a:avLst/>
            </a:prstGeom>
            <a:solidFill>
              <a:srgbClr val="2A5FA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b="1" dirty="0">
                  <a:solidFill>
                    <a:schemeClr val="bg1"/>
                  </a:solidFill>
                </a:rPr>
                <a:t>검증</a:t>
              </a:r>
              <a:endParaRPr lang="de-DE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95" name="Isosceles Triangle 399">
              <a:extLst>
                <a:ext uri="{FF2B5EF4-FFF2-40B4-BE49-F238E27FC236}">
                  <a16:creationId xmlns:a16="http://schemas.microsoft.com/office/drawing/2014/main" id="{6D323979-B74C-F1A1-6D4E-ABC5D787BAAB}"/>
                </a:ext>
              </a:extLst>
            </p:cNvPr>
            <p:cNvSpPr/>
            <p:nvPr/>
          </p:nvSpPr>
          <p:spPr>
            <a:xfrm rot="16200000">
              <a:off x="1062231" y="2285056"/>
              <a:ext cx="273480" cy="235759"/>
            </a:xfrm>
            <a:prstGeom prst="triangle">
              <a:avLst/>
            </a:prstGeom>
            <a:solidFill>
              <a:srgbClr val="2A5FA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5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72BB60FB-F2EC-CA6E-2D7F-A1AD583FEDEF}"/>
              </a:ext>
            </a:extLst>
          </p:cNvPr>
          <p:cNvGrpSpPr/>
          <p:nvPr/>
        </p:nvGrpSpPr>
        <p:grpSpPr>
          <a:xfrm>
            <a:off x="997271" y="3973688"/>
            <a:ext cx="3763908" cy="756000"/>
            <a:chOff x="1081091" y="2104335"/>
            <a:chExt cx="3703743" cy="756000"/>
          </a:xfrm>
        </p:grpSpPr>
        <p:sp>
          <p:nvSpPr>
            <p:cNvPr id="97" name="Rectangle 398">
              <a:extLst>
                <a:ext uri="{FF2B5EF4-FFF2-40B4-BE49-F238E27FC236}">
                  <a16:creationId xmlns:a16="http://schemas.microsoft.com/office/drawing/2014/main" id="{386614BF-AE17-05E4-E7AC-5025DED5D6CD}"/>
                </a:ext>
              </a:extLst>
            </p:cNvPr>
            <p:cNvSpPr/>
            <p:nvPr/>
          </p:nvSpPr>
          <p:spPr>
            <a:xfrm>
              <a:off x="1316851" y="2104335"/>
              <a:ext cx="3467983" cy="756000"/>
            </a:xfrm>
            <a:prstGeom prst="rect">
              <a:avLst/>
            </a:prstGeom>
            <a:solidFill>
              <a:srgbClr val="539D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b="1" dirty="0">
                  <a:solidFill>
                    <a:schemeClr val="bg1"/>
                  </a:solidFill>
                </a:rPr>
                <a:t>퍼스널 브랜딩</a:t>
              </a:r>
              <a:endParaRPr lang="de-DE" sz="11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98" name="Isosceles Triangle 399">
              <a:extLst>
                <a:ext uri="{FF2B5EF4-FFF2-40B4-BE49-F238E27FC236}">
                  <a16:creationId xmlns:a16="http://schemas.microsoft.com/office/drawing/2014/main" id="{EEFC0726-212F-2A9B-9F03-CFA4AA83B2FD}"/>
                </a:ext>
              </a:extLst>
            </p:cNvPr>
            <p:cNvSpPr/>
            <p:nvPr/>
          </p:nvSpPr>
          <p:spPr>
            <a:xfrm rot="16200000">
              <a:off x="1062231" y="2310456"/>
              <a:ext cx="273480" cy="235759"/>
            </a:xfrm>
            <a:prstGeom prst="triangle">
              <a:avLst/>
            </a:prstGeom>
            <a:solidFill>
              <a:srgbClr val="539D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5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ADBA43E-C15D-CAF9-D898-837B1EBDF516}"/>
              </a:ext>
            </a:extLst>
          </p:cNvPr>
          <p:cNvGrpSpPr/>
          <p:nvPr/>
        </p:nvGrpSpPr>
        <p:grpSpPr>
          <a:xfrm>
            <a:off x="997271" y="4805053"/>
            <a:ext cx="3763908" cy="764831"/>
            <a:chOff x="1081091" y="2110685"/>
            <a:chExt cx="3703743" cy="764831"/>
          </a:xfrm>
        </p:grpSpPr>
        <p:sp>
          <p:nvSpPr>
            <p:cNvPr id="100" name="Rectangle 398">
              <a:extLst>
                <a:ext uri="{FF2B5EF4-FFF2-40B4-BE49-F238E27FC236}">
                  <a16:creationId xmlns:a16="http://schemas.microsoft.com/office/drawing/2014/main" id="{A3E3853A-7577-DDB4-F5F2-C041C9FA515D}"/>
                </a:ext>
              </a:extLst>
            </p:cNvPr>
            <p:cNvSpPr/>
            <p:nvPr/>
          </p:nvSpPr>
          <p:spPr>
            <a:xfrm>
              <a:off x="1316851" y="2110685"/>
              <a:ext cx="3467983" cy="764831"/>
            </a:xfrm>
            <a:prstGeom prst="rect">
              <a:avLst/>
            </a:prstGeom>
            <a:solidFill>
              <a:srgbClr val="B2DA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b="1" dirty="0">
                  <a:solidFill>
                    <a:srgbClr val="0A1A39"/>
                  </a:solidFill>
                </a:rPr>
                <a:t>강사 육성 </a:t>
              </a:r>
              <a:r>
                <a:rPr lang="en-US" altLang="ko-KR" sz="1100" b="1" dirty="0">
                  <a:solidFill>
                    <a:srgbClr val="0A1A39"/>
                  </a:solidFill>
                </a:rPr>
                <a:t>·</a:t>
              </a:r>
              <a:r>
                <a:rPr lang="ko-KR" altLang="en-US" sz="1100" b="1" dirty="0">
                  <a:solidFill>
                    <a:srgbClr val="0A1A39"/>
                  </a:solidFill>
                </a:rPr>
                <a:t> 브랜드 구축</a:t>
              </a:r>
              <a:endParaRPr lang="de-DE" sz="1100" b="1" dirty="0" err="1">
                <a:solidFill>
                  <a:srgbClr val="0A1A39"/>
                </a:solidFill>
              </a:endParaRPr>
            </a:p>
          </p:txBody>
        </p:sp>
        <p:sp>
          <p:nvSpPr>
            <p:cNvPr id="101" name="Isosceles Triangle 399">
              <a:extLst>
                <a:ext uri="{FF2B5EF4-FFF2-40B4-BE49-F238E27FC236}">
                  <a16:creationId xmlns:a16="http://schemas.microsoft.com/office/drawing/2014/main" id="{DB92CB1A-84FE-93C3-0E62-4E22A191502E}"/>
                </a:ext>
              </a:extLst>
            </p:cNvPr>
            <p:cNvSpPr/>
            <p:nvPr/>
          </p:nvSpPr>
          <p:spPr>
            <a:xfrm rot="16200000">
              <a:off x="1062231" y="2316806"/>
              <a:ext cx="273480" cy="235759"/>
            </a:xfrm>
            <a:prstGeom prst="triangle">
              <a:avLst/>
            </a:prstGeom>
            <a:solidFill>
              <a:srgbClr val="B2DA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5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2" name="Text Placeholder 8">
            <a:extLst>
              <a:ext uri="{FF2B5EF4-FFF2-40B4-BE49-F238E27FC236}">
                <a16:creationId xmlns:a16="http://schemas.microsoft.com/office/drawing/2014/main" id="{C2412764-F8B5-75CC-37D8-BB37D1A3A4EA}"/>
              </a:ext>
            </a:extLst>
          </p:cNvPr>
          <p:cNvSpPr txBox="1">
            <a:spLocks/>
          </p:cNvSpPr>
          <p:nvPr/>
        </p:nvSpPr>
        <p:spPr>
          <a:xfrm>
            <a:off x="1219852" y="2595964"/>
            <a:ext cx="3541328" cy="400110"/>
          </a:xfrm>
          <a:prstGeom prst="rect">
            <a:avLst/>
          </a:prstGeom>
        </p:spPr>
        <p:txBody>
          <a:bodyPr wrap="square" rIns="90000">
            <a:sp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44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3888" indent="-279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938" indent="-273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980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716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—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45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 defTabSz="457200"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spc="-30" dirty="0">
                <a:solidFill>
                  <a:schemeClr val="bg1"/>
                </a:solidFill>
              </a:rPr>
              <a:t>인스타그램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유튜브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블로그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카페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커뮤니티 등에서 업계 내 실전성과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팬덤을</a:t>
            </a:r>
            <a:r>
              <a:rPr lang="ko-KR" altLang="en-US" sz="1000" spc="-30" dirty="0">
                <a:solidFill>
                  <a:schemeClr val="bg1"/>
                </a:solidFill>
              </a:rPr>
              <a:t> 갖춘 강사 탐색</a:t>
            </a:r>
            <a:endParaRPr lang="en-US" altLang="ko-KR" sz="1000" spc="-30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03" name="Text Placeholder 8">
            <a:extLst>
              <a:ext uri="{FF2B5EF4-FFF2-40B4-BE49-F238E27FC236}">
                <a16:creationId xmlns:a16="http://schemas.microsoft.com/office/drawing/2014/main" id="{D9549811-7522-DAB7-B4C5-010A40650108}"/>
              </a:ext>
            </a:extLst>
          </p:cNvPr>
          <p:cNvSpPr txBox="1">
            <a:spLocks/>
          </p:cNvSpPr>
          <p:nvPr/>
        </p:nvSpPr>
        <p:spPr>
          <a:xfrm>
            <a:off x="1219852" y="3401058"/>
            <a:ext cx="3541328" cy="438582"/>
          </a:xfrm>
          <a:prstGeom prst="rect">
            <a:avLst/>
          </a:prstGeom>
        </p:spPr>
        <p:txBody>
          <a:bodyPr wrap="square" rIns="90000">
            <a:sp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44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3888" indent="-279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938" indent="-273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980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716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—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45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 defTabSz="457200"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000" spc="-30" dirty="0">
                <a:solidFill>
                  <a:schemeClr val="bg1"/>
                </a:solidFill>
              </a:rPr>
              <a:t>SNS </a:t>
            </a:r>
            <a:r>
              <a:rPr lang="ko-KR" altLang="en-US" sz="1000" spc="-30" dirty="0">
                <a:solidFill>
                  <a:schemeClr val="bg1"/>
                </a:solidFill>
              </a:rPr>
              <a:t>콘텐츠 퀄리티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팔로워</a:t>
            </a:r>
            <a:r>
              <a:rPr lang="ko-KR" altLang="en-US" sz="1000" spc="-30" dirty="0">
                <a:solidFill>
                  <a:schemeClr val="bg1"/>
                </a:solidFill>
              </a:rPr>
              <a:t> 반응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댓글 정서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업로드 빈도 등 확인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lvl="1" indent="-171450" defTabSz="457200"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유료강의 이력</a:t>
            </a:r>
            <a:r>
              <a:rPr lang="en-US" altLang="ko-KR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협업 경험 여부 등 과거 경력 및 공신력 검토</a:t>
            </a:r>
            <a:endParaRPr lang="en-US" altLang="ko-KR" sz="1000" spc="-30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104" name="Text Placeholder 8">
            <a:extLst>
              <a:ext uri="{FF2B5EF4-FFF2-40B4-BE49-F238E27FC236}">
                <a16:creationId xmlns:a16="http://schemas.microsoft.com/office/drawing/2014/main" id="{B4AEF1D8-2DB7-2F7A-B599-36471F5B546A}"/>
              </a:ext>
            </a:extLst>
          </p:cNvPr>
          <p:cNvSpPr txBox="1">
            <a:spLocks/>
          </p:cNvSpPr>
          <p:nvPr/>
        </p:nvSpPr>
        <p:spPr>
          <a:xfrm>
            <a:off x="1219852" y="4194600"/>
            <a:ext cx="3541328" cy="553998"/>
          </a:xfrm>
          <a:prstGeom prst="rect">
            <a:avLst/>
          </a:prstGeom>
        </p:spPr>
        <p:txBody>
          <a:bodyPr wrap="square" rIns="90000">
            <a:sp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44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3888" indent="-279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938" indent="-273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980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716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—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45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 defTabSz="457200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spc="-30" dirty="0">
                <a:solidFill>
                  <a:schemeClr val="bg1"/>
                </a:solidFill>
              </a:rPr>
              <a:t>강사의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개인사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계기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배경 등 스토리를 수집하고 브랜드화</a:t>
            </a:r>
            <a:endParaRPr lang="en-US" altLang="ko-KR" sz="1000" spc="-30" dirty="0">
              <a:solidFill>
                <a:schemeClr val="bg1"/>
              </a:solidFill>
            </a:endParaRPr>
          </a:p>
          <a:p>
            <a:pPr marL="171450" lvl="1" indent="-171450" defTabSz="457200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spc="-30" dirty="0" err="1">
                <a:solidFill>
                  <a:schemeClr val="bg1"/>
                </a:solidFill>
                <a:sym typeface="Wingdings" panose="05000000000000000000" pitchFamily="2" charset="2"/>
              </a:rPr>
              <a:t>세일즈포인트가</a:t>
            </a:r>
            <a:r>
              <a:rPr lang="ko-KR" altLang="en-US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 될 수 있는 강사 성과</a:t>
            </a:r>
            <a:r>
              <a:rPr lang="en-US" altLang="ko-KR" sz="800" spc="-30" dirty="0">
                <a:solidFill>
                  <a:schemeClr val="bg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800" spc="-30" dirty="0">
                <a:solidFill>
                  <a:schemeClr val="bg1"/>
                </a:solidFill>
                <a:sym typeface="Wingdings" panose="05000000000000000000" pitchFamily="2" charset="2"/>
              </a:rPr>
              <a:t>매출</a:t>
            </a:r>
            <a:r>
              <a:rPr lang="en-US" altLang="ko-KR" sz="800" spc="-30" dirty="0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800" spc="-30" dirty="0">
                <a:solidFill>
                  <a:schemeClr val="bg1"/>
                </a:solidFill>
                <a:sym typeface="Wingdings" panose="05000000000000000000" pitchFamily="2" charset="2"/>
              </a:rPr>
              <a:t>이직 성공</a:t>
            </a:r>
            <a:r>
              <a:rPr lang="en-US" altLang="ko-KR" sz="800" spc="-30" dirty="0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800" spc="-30" dirty="0" err="1">
                <a:solidFill>
                  <a:schemeClr val="bg1"/>
                </a:solidFill>
                <a:sym typeface="Wingdings" panose="05000000000000000000" pitchFamily="2" charset="2"/>
              </a:rPr>
              <a:t>팔로워</a:t>
            </a:r>
            <a:r>
              <a:rPr lang="ko-KR" altLang="en-US" sz="800" spc="-30" dirty="0">
                <a:solidFill>
                  <a:schemeClr val="bg1"/>
                </a:solidFill>
                <a:sym typeface="Wingdings" panose="05000000000000000000" pitchFamily="2" charset="2"/>
              </a:rPr>
              <a:t>  등</a:t>
            </a:r>
            <a:r>
              <a:rPr lang="en-US" altLang="ko-KR" sz="800" spc="-30" dirty="0">
                <a:solidFill>
                  <a:schemeClr val="bg1"/>
                </a:solidFill>
                <a:sym typeface="Wingdings" panose="05000000000000000000" pitchFamily="2" charset="2"/>
              </a:rPr>
              <a:t>)</a:t>
            </a:r>
            <a:r>
              <a:rPr lang="en-US" altLang="ko-KR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브랜딩</a:t>
            </a:r>
            <a:endParaRPr lang="en-US" altLang="ko-KR" sz="1000" spc="-3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171450" lvl="1" indent="-171450" defTabSz="457200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프로필 촬영</a:t>
            </a:r>
            <a:r>
              <a:rPr lang="en-US" altLang="ko-KR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,</a:t>
            </a:r>
            <a:r>
              <a:rPr lang="ko-KR" altLang="en-US" sz="1000" spc="-30" dirty="0" err="1">
                <a:solidFill>
                  <a:schemeClr val="bg1"/>
                </a:solidFill>
                <a:sym typeface="Wingdings" panose="05000000000000000000" pitchFamily="2" charset="2"/>
              </a:rPr>
              <a:t>키비주얼</a:t>
            </a:r>
            <a:r>
              <a:rPr lang="ko-KR" altLang="en-US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 디자인 등 브랜드 전반의 </a:t>
            </a:r>
            <a:r>
              <a:rPr lang="ko-KR" altLang="en-US" sz="1000" spc="-30" dirty="0" err="1">
                <a:solidFill>
                  <a:schemeClr val="bg1"/>
                </a:solidFill>
                <a:sym typeface="Wingdings" panose="05000000000000000000" pitchFamily="2" charset="2"/>
              </a:rPr>
              <a:t>아이텐티티</a:t>
            </a:r>
            <a:r>
              <a:rPr lang="ko-KR" altLang="en-US" sz="1000" spc="-30" dirty="0">
                <a:solidFill>
                  <a:schemeClr val="bg1"/>
                </a:solidFill>
                <a:sym typeface="Wingdings" panose="05000000000000000000" pitchFamily="2" charset="2"/>
              </a:rPr>
              <a:t> 확립</a:t>
            </a:r>
          </a:p>
        </p:txBody>
      </p:sp>
      <p:sp>
        <p:nvSpPr>
          <p:cNvPr id="105" name="Text Placeholder 8">
            <a:extLst>
              <a:ext uri="{FF2B5EF4-FFF2-40B4-BE49-F238E27FC236}">
                <a16:creationId xmlns:a16="http://schemas.microsoft.com/office/drawing/2014/main" id="{307CB81E-4389-A47F-FFF2-C54C3F5BDE26}"/>
              </a:ext>
            </a:extLst>
          </p:cNvPr>
          <p:cNvSpPr txBox="1">
            <a:spLocks/>
          </p:cNvSpPr>
          <p:nvPr/>
        </p:nvSpPr>
        <p:spPr>
          <a:xfrm>
            <a:off x="1219851" y="5007334"/>
            <a:ext cx="3608009" cy="553998"/>
          </a:xfrm>
          <a:prstGeom prst="rect">
            <a:avLst/>
          </a:prstGeom>
        </p:spPr>
        <p:txBody>
          <a:bodyPr wrap="square" rIns="90000">
            <a:sp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44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3888" indent="-279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6938" indent="-273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980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71600" indent="-284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—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45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 defTabSz="457200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spc="-30" dirty="0">
                <a:solidFill>
                  <a:srgbClr val="0A1A39"/>
                </a:solidFill>
              </a:rPr>
              <a:t>인터뷰</a:t>
            </a:r>
            <a:r>
              <a:rPr lang="en-US" altLang="ko-KR" sz="1000" spc="-30" dirty="0">
                <a:solidFill>
                  <a:srgbClr val="0A1A39"/>
                </a:solidFill>
              </a:rPr>
              <a:t>, </a:t>
            </a:r>
            <a:r>
              <a:rPr lang="ko-KR" altLang="en-US" sz="1000" spc="-30" dirty="0">
                <a:solidFill>
                  <a:srgbClr val="0A1A39"/>
                </a:solidFill>
              </a:rPr>
              <a:t>팟캐스트</a:t>
            </a:r>
            <a:r>
              <a:rPr lang="en-US" altLang="ko-KR" sz="1000" spc="-30" dirty="0">
                <a:solidFill>
                  <a:srgbClr val="0A1A39"/>
                </a:solidFill>
              </a:rPr>
              <a:t>·</a:t>
            </a:r>
            <a:r>
              <a:rPr lang="ko-KR" altLang="en-US" sz="1000" spc="-30" dirty="0">
                <a:solidFill>
                  <a:srgbClr val="0A1A39"/>
                </a:solidFill>
              </a:rPr>
              <a:t>콘퍼런스 출연 등 </a:t>
            </a:r>
            <a:r>
              <a:rPr lang="en-US" altLang="ko-KR" sz="1000" spc="-30" dirty="0">
                <a:solidFill>
                  <a:srgbClr val="0A1A39"/>
                </a:solidFill>
              </a:rPr>
              <a:t>PR </a:t>
            </a:r>
            <a:r>
              <a:rPr lang="ko-KR" altLang="en-US" sz="1000" spc="-30" dirty="0">
                <a:solidFill>
                  <a:srgbClr val="0A1A39"/>
                </a:solidFill>
              </a:rPr>
              <a:t>지원을 통해 개인 영향력 강화</a:t>
            </a:r>
            <a:endParaRPr lang="en-US" altLang="ko-KR" sz="1000" spc="-30" dirty="0">
              <a:solidFill>
                <a:srgbClr val="0A1A39"/>
              </a:solidFill>
            </a:endParaRPr>
          </a:p>
          <a:p>
            <a:pPr marL="171450" lvl="1" indent="-171450" defTabSz="457200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spc="-30" dirty="0">
                <a:solidFill>
                  <a:srgbClr val="0A1A39"/>
                </a:solidFill>
              </a:rPr>
              <a:t>오프라인 팬미팅</a:t>
            </a:r>
            <a:r>
              <a:rPr lang="en-US" altLang="ko-KR" sz="1000" spc="-30" dirty="0">
                <a:solidFill>
                  <a:srgbClr val="0A1A39"/>
                </a:solidFill>
              </a:rPr>
              <a:t> · </a:t>
            </a:r>
            <a:r>
              <a:rPr lang="ko-KR" altLang="en-US" sz="1000" spc="-30" dirty="0">
                <a:solidFill>
                  <a:srgbClr val="0A1A39"/>
                </a:solidFill>
              </a:rPr>
              <a:t>프리미엄 콘텐츠 기획을 통해 </a:t>
            </a:r>
            <a:r>
              <a:rPr lang="ko-KR" altLang="en-US" sz="1000" spc="-30" dirty="0" err="1">
                <a:solidFill>
                  <a:srgbClr val="0A1A39"/>
                </a:solidFill>
              </a:rPr>
              <a:t>팬덤</a:t>
            </a:r>
            <a:r>
              <a:rPr lang="ko-KR" altLang="en-US" sz="1000" spc="-30" dirty="0">
                <a:solidFill>
                  <a:srgbClr val="0A1A39"/>
                </a:solidFill>
              </a:rPr>
              <a:t> 구축</a:t>
            </a:r>
            <a:endParaRPr lang="en-US" altLang="ko-KR" sz="1000" spc="-30" dirty="0">
              <a:solidFill>
                <a:srgbClr val="0A1A39"/>
              </a:solidFill>
            </a:endParaRPr>
          </a:p>
          <a:p>
            <a:pPr marL="171450" lvl="1" indent="-171450" defTabSz="457200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spc="-30" dirty="0">
                <a:solidFill>
                  <a:srgbClr val="0A1A39"/>
                </a:solidFill>
              </a:rPr>
              <a:t>강의 차별화 요소 도출 및 강의 노하우 </a:t>
            </a:r>
            <a:r>
              <a:rPr lang="en-US" altLang="ko-KR" sz="1000" spc="-30" dirty="0">
                <a:solidFill>
                  <a:srgbClr val="0A1A39"/>
                </a:solidFill>
              </a:rPr>
              <a:t>· </a:t>
            </a:r>
            <a:r>
              <a:rPr lang="ko-KR" altLang="en-US" sz="1000" spc="-30" dirty="0">
                <a:solidFill>
                  <a:srgbClr val="0A1A39"/>
                </a:solidFill>
              </a:rPr>
              <a:t>진행 방식 코칭</a:t>
            </a:r>
            <a:endParaRPr lang="en-US" altLang="ko-KR" sz="1000" spc="-30" dirty="0">
              <a:solidFill>
                <a:srgbClr val="0A1A39"/>
              </a:solidFill>
            </a:endParaRPr>
          </a:p>
        </p:txBody>
      </p:sp>
      <p:sp>
        <p:nvSpPr>
          <p:cNvPr id="72" name="Oval 39">
            <a:extLst>
              <a:ext uri="{FF2B5EF4-FFF2-40B4-BE49-F238E27FC236}">
                <a16:creationId xmlns:a16="http://schemas.microsoft.com/office/drawing/2014/main" id="{C4386C98-F558-C700-63BB-CE67C90FA805}"/>
              </a:ext>
            </a:extLst>
          </p:cNvPr>
          <p:cNvSpPr/>
          <p:nvPr/>
        </p:nvSpPr>
        <p:spPr>
          <a:xfrm>
            <a:off x="750154" y="4215992"/>
            <a:ext cx="163392" cy="163392"/>
          </a:xfrm>
          <a:prstGeom prst="ellipse">
            <a:avLst/>
          </a:prstGeom>
          <a:solidFill>
            <a:schemeClr val="bg1"/>
          </a:solidFill>
          <a:ln w="31750" cap="flat" cmpd="sng" algn="ctr">
            <a:solidFill>
              <a:srgbClr val="539DFF"/>
            </a:solidFill>
            <a:prstDash val="solid"/>
            <a:miter lim="800000"/>
          </a:ln>
          <a:effectLst/>
        </p:spPr>
        <p:txBody>
          <a:bodyPr lIns="54610" tIns="54610" rIns="54610" bIns="5461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3" name="그룹 51">
            <a:extLst>
              <a:ext uri="{FF2B5EF4-FFF2-40B4-BE49-F238E27FC236}">
                <a16:creationId xmlns:a16="http://schemas.microsoft.com/office/drawing/2014/main" id="{8352A76A-9637-56C9-97C1-0AF5E1424F87}"/>
              </a:ext>
            </a:extLst>
          </p:cNvPr>
          <p:cNvGrpSpPr/>
          <p:nvPr/>
        </p:nvGrpSpPr>
        <p:grpSpPr>
          <a:xfrm rot="16200000">
            <a:off x="-146566" y="3040400"/>
            <a:ext cx="1617682" cy="108001"/>
            <a:chOff x="-433285" y="3961693"/>
            <a:chExt cx="2069554" cy="108001"/>
          </a:xfrm>
        </p:grpSpPr>
        <p:sp>
          <p:nvSpPr>
            <p:cNvPr id="114" name="직사각형 52">
              <a:extLst>
                <a:ext uri="{FF2B5EF4-FFF2-40B4-BE49-F238E27FC236}">
                  <a16:creationId xmlns:a16="http://schemas.microsoft.com/office/drawing/2014/main" id="{F1D034E9-7F5A-6537-9F4C-13107BAA97AB}"/>
                </a:ext>
              </a:extLst>
            </p:cNvPr>
            <p:cNvSpPr/>
            <p:nvPr/>
          </p:nvSpPr>
          <p:spPr>
            <a:xfrm>
              <a:off x="-433285" y="3961694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53">
              <a:extLst>
                <a:ext uri="{FF2B5EF4-FFF2-40B4-BE49-F238E27FC236}">
                  <a16:creationId xmlns:a16="http://schemas.microsoft.com/office/drawing/2014/main" id="{0889A6E6-C6E0-608A-100F-97EBF10F783A}"/>
                </a:ext>
              </a:extLst>
            </p:cNvPr>
            <p:cNvSpPr/>
            <p:nvPr/>
          </p:nvSpPr>
          <p:spPr>
            <a:xfrm>
              <a:off x="1605340" y="3961693"/>
              <a:ext cx="30929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cxnSp>
          <p:nvCxnSpPr>
            <p:cNvPr id="116" name="직선 연결선 54">
              <a:extLst>
                <a:ext uri="{FF2B5EF4-FFF2-40B4-BE49-F238E27FC236}">
                  <a16:creationId xmlns:a16="http://schemas.microsoft.com/office/drawing/2014/main" id="{0BB9F56B-7995-D66D-E83F-F1B15197BB2D}"/>
                </a:ext>
              </a:extLst>
            </p:cNvPr>
            <p:cNvCxnSpPr>
              <a:cxnSpLocks/>
              <a:stCxn id="114" idx="3"/>
              <a:endCxn id="115" idx="1"/>
            </p:cNvCxnSpPr>
            <p:nvPr/>
          </p:nvCxnSpPr>
          <p:spPr>
            <a:xfrm rot="5400000" flipH="1" flipV="1">
              <a:off x="601491" y="3011845"/>
              <a:ext cx="1" cy="2007696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그룹 51">
            <a:extLst>
              <a:ext uri="{FF2B5EF4-FFF2-40B4-BE49-F238E27FC236}">
                <a16:creationId xmlns:a16="http://schemas.microsoft.com/office/drawing/2014/main" id="{5D1BEB33-A661-D957-2F39-70686D099F4D}"/>
              </a:ext>
            </a:extLst>
          </p:cNvPr>
          <p:cNvGrpSpPr/>
          <p:nvPr/>
        </p:nvGrpSpPr>
        <p:grpSpPr>
          <a:xfrm rot="16200000">
            <a:off x="-138637" y="4714969"/>
            <a:ext cx="1601828" cy="108002"/>
            <a:chOff x="143537" y="3961694"/>
            <a:chExt cx="2049272" cy="108002"/>
          </a:xfrm>
        </p:grpSpPr>
        <p:sp>
          <p:nvSpPr>
            <p:cNvPr id="120" name="직사각형 52">
              <a:extLst>
                <a:ext uri="{FF2B5EF4-FFF2-40B4-BE49-F238E27FC236}">
                  <a16:creationId xmlns:a16="http://schemas.microsoft.com/office/drawing/2014/main" id="{2396478E-A701-E54D-DE96-1437CEA1DBB2}"/>
                </a:ext>
              </a:extLst>
            </p:cNvPr>
            <p:cNvSpPr/>
            <p:nvPr/>
          </p:nvSpPr>
          <p:spPr>
            <a:xfrm>
              <a:off x="143537" y="3961696"/>
              <a:ext cx="30929" cy="108000"/>
            </a:xfrm>
            <a:prstGeom prst="rect">
              <a:avLst/>
            </a:prstGeom>
            <a:solidFill>
              <a:srgbClr val="5CCFA0"/>
            </a:solidFill>
            <a:ln w="6350">
              <a:solidFill>
                <a:srgbClr val="5CC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err="1">
                <a:solidFill>
                  <a:schemeClr val="tx1"/>
                </a:solidFill>
              </a:endParaRPr>
            </a:p>
          </p:txBody>
        </p:sp>
        <p:sp>
          <p:nvSpPr>
            <p:cNvPr id="121" name="직사각형 53">
              <a:extLst>
                <a:ext uri="{FF2B5EF4-FFF2-40B4-BE49-F238E27FC236}">
                  <a16:creationId xmlns:a16="http://schemas.microsoft.com/office/drawing/2014/main" id="{AD12707E-3D8A-D43D-571E-8DD2223BE6F0}"/>
                </a:ext>
              </a:extLst>
            </p:cNvPr>
            <p:cNvSpPr/>
            <p:nvPr/>
          </p:nvSpPr>
          <p:spPr>
            <a:xfrm>
              <a:off x="2161880" y="3961694"/>
              <a:ext cx="30929" cy="108000"/>
            </a:xfrm>
            <a:prstGeom prst="rect">
              <a:avLst/>
            </a:prstGeom>
            <a:solidFill>
              <a:srgbClr val="5CCFA0"/>
            </a:solidFill>
            <a:ln w="6350">
              <a:solidFill>
                <a:srgbClr val="5CC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22" name="직선 연결선 54">
              <a:extLst>
                <a:ext uri="{FF2B5EF4-FFF2-40B4-BE49-F238E27FC236}">
                  <a16:creationId xmlns:a16="http://schemas.microsoft.com/office/drawing/2014/main" id="{CA939B3B-3E81-9A3F-A130-5A62578F64AA}"/>
                </a:ext>
              </a:extLst>
            </p:cNvPr>
            <p:cNvCxnSpPr>
              <a:cxnSpLocks/>
              <a:stCxn id="120" idx="3"/>
              <a:endCxn id="121" idx="1"/>
            </p:cNvCxnSpPr>
            <p:nvPr/>
          </p:nvCxnSpPr>
          <p:spPr>
            <a:xfrm rot="5400000" flipH="1" flipV="1">
              <a:off x="1168172" y="3021988"/>
              <a:ext cx="2" cy="1987414"/>
            </a:xfrm>
            <a:prstGeom prst="line">
              <a:avLst/>
            </a:prstGeom>
            <a:ln w="6350">
              <a:solidFill>
                <a:srgbClr val="5CCF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직사각형 74">
            <a:extLst>
              <a:ext uri="{FF2B5EF4-FFF2-40B4-BE49-F238E27FC236}">
                <a16:creationId xmlns:a16="http://schemas.microsoft.com/office/drawing/2014/main" id="{DF715D75-1E8C-DDF1-34D2-B68E72A4F36D}"/>
              </a:ext>
            </a:extLst>
          </p:cNvPr>
          <p:cNvSpPr/>
          <p:nvPr/>
        </p:nvSpPr>
        <p:spPr>
          <a:xfrm rot="16200000">
            <a:off x="-156877" y="4650911"/>
            <a:ext cx="1430102" cy="21461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b="1" dirty="0">
                <a:solidFill>
                  <a:srgbClr val="5CCFA0"/>
                </a:solidFill>
              </a:rPr>
              <a:t>TITAN </a:t>
            </a:r>
            <a:r>
              <a:rPr lang="ko-KR" altLang="en-US" sz="1100" b="1" dirty="0">
                <a:solidFill>
                  <a:srgbClr val="5CCFA0"/>
                </a:solidFill>
              </a:rPr>
              <a:t>핵심 경쟁력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672CFF6-E2B2-BEC2-8BA6-10AEDC8759DD}"/>
              </a:ext>
            </a:extLst>
          </p:cNvPr>
          <p:cNvSpPr txBox="1"/>
          <p:nvPr/>
        </p:nvSpPr>
        <p:spPr>
          <a:xfrm>
            <a:off x="5998588" y="2299831"/>
            <a:ext cx="3466489" cy="792738"/>
          </a:xfrm>
          <a:prstGeom prst="rect">
            <a:avLst/>
          </a:prstGeom>
          <a:solidFill>
            <a:srgbClr val="5CCFA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0" rIns="90000" bIns="0" rtlCol="0" anchor="ctr">
            <a:no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단순히 강사를 </a:t>
            </a:r>
            <a:r>
              <a:rPr lang="ko-KR" altLang="en-US" sz="1000" spc="-30" dirty="0" err="1">
                <a:solidFill>
                  <a:schemeClr val="bg1"/>
                </a:solidFill>
              </a:rPr>
              <a:t>소싱하는</a:t>
            </a:r>
            <a:r>
              <a:rPr lang="ko-KR" altLang="en-US" sz="1000" spc="-30" dirty="0">
                <a:solidFill>
                  <a:schemeClr val="bg1"/>
                </a:solidFill>
              </a:rPr>
              <a:t> 수준을 넘어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강사 브랜드가 알려지고 판매되는 구조를 통해 단가</a:t>
            </a:r>
            <a:r>
              <a:rPr lang="en-US" altLang="ko-KR" sz="1000" b="1" u="sng" spc="-30" dirty="0">
                <a:solidFill>
                  <a:schemeClr val="bg1"/>
                </a:solidFill>
              </a:rPr>
              <a:t>·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커리큘럼 경쟁 리스크 완화</a:t>
            </a:r>
            <a:endParaRPr lang="en-US" altLang="ko-KR" sz="1000" b="1" u="sng" spc="-30" dirty="0">
              <a:solidFill>
                <a:schemeClr val="bg1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강사 브랜드가 곧 플랫폼 브랜드로 확장되어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차별화된 콘텐츠 경쟁력을 확보</a:t>
            </a:r>
            <a:endParaRPr lang="en-US" altLang="ko-KR" sz="1000" b="1" u="sng" spc="-30" dirty="0">
              <a:solidFill>
                <a:schemeClr val="bg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C4F0E940-FC89-AAAB-3F2B-9CCCCC27A6E5}"/>
              </a:ext>
            </a:extLst>
          </p:cNvPr>
          <p:cNvSpPr txBox="1"/>
          <p:nvPr/>
        </p:nvSpPr>
        <p:spPr>
          <a:xfrm>
            <a:off x="5099601" y="2299831"/>
            <a:ext cx="834689" cy="792738"/>
          </a:xfrm>
          <a:prstGeom prst="rect">
            <a:avLst/>
          </a:prstGeom>
          <a:solidFill>
            <a:srgbClr val="5CCFA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dirty="0">
                <a:solidFill>
                  <a:schemeClr val="bg1"/>
                </a:solidFill>
              </a:rPr>
              <a:t>콘텐츠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ko-KR" altLang="en-US" sz="1100" b="1" dirty="0">
                <a:solidFill>
                  <a:schemeClr val="bg1"/>
                </a:solidFill>
              </a:rPr>
              <a:t>차별성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5D68A997-45EC-B15A-D242-AA32D33C512F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강사를 단순 섭외하는 것을 넘어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개인화 시장에 맞게 차별화된 강사 브랜드를 기획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 err="1">
                <a:solidFill>
                  <a:srgbClr val="3D3D3D"/>
                </a:solidFill>
              </a:rPr>
              <a:t>프로듀싱하는</a:t>
            </a:r>
            <a:r>
              <a:rPr lang="ko-KR" altLang="en-US" sz="1400" b="1" dirty="0">
                <a:solidFill>
                  <a:srgbClr val="3D3D3D"/>
                </a:solidFill>
              </a:rPr>
              <a:t> 역량을 갖추고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  <a:r>
              <a:rPr lang="ko-KR" altLang="en-US" sz="1400" b="1" dirty="0">
                <a:solidFill>
                  <a:srgbClr val="3D3D3D"/>
                </a:solidFill>
              </a:rPr>
              <a:t>이 체계적 프로세스가 강사의 가치와 플랫폼 경쟁력을 동시에 높이는 핵심 성장 동력입니다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C7949981-DB51-0E26-1655-EB71F16C73DA}"/>
              </a:ext>
            </a:extLst>
          </p:cNvPr>
          <p:cNvSpPr txBox="1"/>
          <p:nvPr/>
        </p:nvSpPr>
        <p:spPr>
          <a:xfrm>
            <a:off x="5998588" y="3179855"/>
            <a:ext cx="3466489" cy="792738"/>
          </a:xfrm>
          <a:prstGeom prst="rect">
            <a:avLst/>
          </a:prstGeom>
          <a:solidFill>
            <a:srgbClr val="5CCFA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0" rIns="90000" bIns="0" rtlCol="0" anchor="ctr">
            <a:no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수강생은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‘누구에게 </a:t>
            </a:r>
            <a:r>
              <a:rPr lang="ko-KR" altLang="en-US" sz="1000" b="1" u="sng" spc="-30" dirty="0" err="1">
                <a:solidFill>
                  <a:schemeClr val="bg1"/>
                </a:solidFill>
              </a:rPr>
              <a:t>배우는가’를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 중시</a:t>
            </a:r>
            <a:r>
              <a:rPr lang="ko-KR" altLang="en-US" sz="1000" spc="-30" dirty="0">
                <a:solidFill>
                  <a:schemeClr val="bg1"/>
                </a:solidFill>
              </a:rPr>
              <a:t>하기 때문에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강사의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퍼스널 브랜드가 강할수록 유료 수강 결정에 직접적인 영향</a:t>
            </a:r>
            <a:r>
              <a:rPr lang="ko-KR" altLang="en-US" sz="1000" spc="-30" dirty="0">
                <a:solidFill>
                  <a:schemeClr val="bg1"/>
                </a:solidFill>
              </a:rPr>
              <a:t>을 미침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강사가 쌓아온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평판과 </a:t>
            </a:r>
            <a:r>
              <a:rPr lang="ko-KR" altLang="en-US" sz="1000" b="1" u="sng" spc="-30" dirty="0" err="1">
                <a:solidFill>
                  <a:schemeClr val="bg1"/>
                </a:solidFill>
              </a:rPr>
              <a:t>팬덤이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 곧 신규</a:t>
            </a:r>
            <a:r>
              <a:rPr lang="en-US" altLang="ko-KR" sz="1000" b="1" u="sng" spc="-30" dirty="0">
                <a:solidFill>
                  <a:schemeClr val="bg1"/>
                </a:solidFill>
              </a:rPr>
              <a:t>/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재수강생 유입을 이끄는 강력한 </a:t>
            </a:r>
            <a:r>
              <a:rPr lang="ko-KR" altLang="en-US" sz="1000" b="1" spc="-30" dirty="0">
                <a:solidFill>
                  <a:schemeClr val="bg1"/>
                </a:solidFill>
              </a:rPr>
              <a:t>요인으로 작용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0C271ABA-AD1B-AD56-B14F-4A53BB02FFBD}"/>
              </a:ext>
            </a:extLst>
          </p:cNvPr>
          <p:cNvSpPr txBox="1"/>
          <p:nvPr/>
        </p:nvSpPr>
        <p:spPr>
          <a:xfrm>
            <a:off x="5099601" y="3179855"/>
            <a:ext cx="834689" cy="792738"/>
          </a:xfrm>
          <a:prstGeom prst="rect">
            <a:avLst/>
          </a:prstGeom>
          <a:solidFill>
            <a:srgbClr val="5CCFA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dirty="0">
                <a:solidFill>
                  <a:schemeClr val="bg1"/>
                </a:solidFill>
              </a:rPr>
              <a:t>높은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ko-KR" altLang="en-US" sz="1100" b="1" dirty="0">
                <a:solidFill>
                  <a:schemeClr val="bg1"/>
                </a:solidFill>
              </a:rPr>
              <a:t>고객 충성도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2FED954B-2494-A013-8E73-58EC2DD15FE5}"/>
              </a:ext>
            </a:extLst>
          </p:cNvPr>
          <p:cNvSpPr txBox="1"/>
          <p:nvPr/>
        </p:nvSpPr>
        <p:spPr>
          <a:xfrm>
            <a:off x="5998588" y="4059879"/>
            <a:ext cx="3466489" cy="792738"/>
          </a:xfrm>
          <a:prstGeom prst="rect">
            <a:avLst/>
          </a:prstGeom>
          <a:solidFill>
            <a:srgbClr val="5CCFA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0" rIns="90000" bIns="0" rtlCol="0" anchor="ctr">
            <a:no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강사 자체가 마케팅 자산으로 작동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en-US" altLang="ko-KR" sz="1000" b="1" u="sng" spc="-30" dirty="0">
                <a:solidFill>
                  <a:schemeClr val="bg1"/>
                </a:solidFill>
              </a:rPr>
              <a:t>SNS·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유튜브</a:t>
            </a:r>
            <a:r>
              <a:rPr lang="en-US" altLang="ko-KR" sz="1000" b="1" u="sng" spc="-30" dirty="0">
                <a:solidFill>
                  <a:schemeClr val="bg1"/>
                </a:solidFill>
              </a:rPr>
              <a:t>·</a:t>
            </a:r>
            <a:r>
              <a:rPr lang="ko-KR" altLang="en-US" sz="1000" b="1" u="sng" spc="-30" dirty="0" err="1">
                <a:solidFill>
                  <a:schemeClr val="bg1"/>
                </a:solidFill>
              </a:rPr>
              <a:t>팬덤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 기반 저비용 고효율 바이럴 효과 창출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플랫폼은 강사의 퍼스널 브랜딩 메시지를 전면에 내세워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스토리텔링 중심의 마케팅 전개 가능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36505E73-6FE9-E82D-D7A3-0030A7E4B552}"/>
              </a:ext>
            </a:extLst>
          </p:cNvPr>
          <p:cNvSpPr txBox="1"/>
          <p:nvPr/>
        </p:nvSpPr>
        <p:spPr>
          <a:xfrm>
            <a:off x="5099601" y="4059879"/>
            <a:ext cx="834689" cy="792738"/>
          </a:xfrm>
          <a:prstGeom prst="rect">
            <a:avLst/>
          </a:prstGeom>
          <a:solidFill>
            <a:srgbClr val="5CCFA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dirty="0">
                <a:solidFill>
                  <a:schemeClr val="bg1"/>
                </a:solidFill>
              </a:rPr>
              <a:t>마케팅</a:t>
            </a:r>
            <a:r>
              <a:rPr lang="en-US" altLang="ko-KR" sz="1100" b="1" dirty="0">
                <a:solidFill>
                  <a:schemeClr val="bg1"/>
                </a:solidFill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</a:rPr>
              <a:t>세일즈 효율성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BC06A172-092D-3AF6-44E8-5EF62EF216DE}"/>
              </a:ext>
            </a:extLst>
          </p:cNvPr>
          <p:cNvSpPr txBox="1"/>
          <p:nvPr/>
        </p:nvSpPr>
        <p:spPr>
          <a:xfrm>
            <a:off x="5998588" y="4939902"/>
            <a:ext cx="3466489" cy="792738"/>
          </a:xfrm>
          <a:prstGeom prst="rect">
            <a:avLst/>
          </a:prstGeom>
          <a:solidFill>
            <a:srgbClr val="5CCFA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0" rIns="90000" bIns="0" rtlCol="0" anchor="ctr">
            <a:no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강사가 플랫폼에서 퍼스널 브랜딩을 구축하면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‘브랜드를 키워준 </a:t>
            </a:r>
            <a:r>
              <a:rPr lang="ko-KR" altLang="en-US" sz="1000" b="1" u="sng" spc="-30" dirty="0" err="1">
                <a:solidFill>
                  <a:schemeClr val="bg1"/>
                </a:solidFill>
              </a:rPr>
              <a:t>곳’으로서의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 소속감이 형성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chemeClr val="bg1"/>
                </a:solidFill>
              </a:rPr>
              <a:t>이는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강사 이탈을 줄이고</a:t>
            </a:r>
            <a:r>
              <a:rPr lang="en-US" altLang="ko-KR" sz="1000" spc="-30" dirty="0">
                <a:solidFill>
                  <a:schemeClr val="bg1"/>
                </a:solidFill>
              </a:rPr>
              <a:t>, </a:t>
            </a:r>
            <a:r>
              <a:rPr lang="ko-KR" altLang="en-US" sz="1000" spc="-30" dirty="0">
                <a:solidFill>
                  <a:schemeClr val="bg1"/>
                </a:solidFill>
              </a:rPr>
              <a:t>플랫폼과 강사가 </a:t>
            </a:r>
            <a:r>
              <a:rPr lang="ko-KR" altLang="en-US" sz="1000" b="1" u="sng" spc="-30" dirty="0">
                <a:solidFill>
                  <a:schemeClr val="bg1"/>
                </a:solidFill>
              </a:rPr>
              <a:t>함께 성장하는 장기적 파트너십으로 이어짐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0BE32F3-BB2C-3D41-E200-86FE0D5864F1}"/>
              </a:ext>
            </a:extLst>
          </p:cNvPr>
          <p:cNvSpPr txBox="1"/>
          <p:nvPr/>
        </p:nvSpPr>
        <p:spPr>
          <a:xfrm>
            <a:off x="5099601" y="4939902"/>
            <a:ext cx="834689" cy="792738"/>
          </a:xfrm>
          <a:prstGeom prst="rect">
            <a:avLst/>
          </a:prstGeom>
          <a:solidFill>
            <a:srgbClr val="5CCFA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dirty="0">
                <a:solidFill>
                  <a:schemeClr val="bg1"/>
                </a:solidFill>
              </a:rPr>
              <a:t>장기적 파트너십 효과</a:t>
            </a:r>
          </a:p>
        </p:txBody>
      </p:sp>
      <p:sp>
        <p:nvSpPr>
          <p:cNvPr id="323" name="사다리꼴 6">
            <a:extLst>
              <a:ext uri="{FF2B5EF4-FFF2-40B4-BE49-F238E27FC236}">
                <a16:creationId xmlns:a16="http://schemas.microsoft.com/office/drawing/2014/main" id="{F09A8BBB-7C3C-4331-F255-48EE595EED05}"/>
              </a:ext>
            </a:extLst>
          </p:cNvPr>
          <p:cNvSpPr/>
          <p:nvPr/>
        </p:nvSpPr>
        <p:spPr>
          <a:xfrm rot="16200000">
            <a:off x="3184105" y="3872427"/>
            <a:ext cx="3530685" cy="286093"/>
          </a:xfrm>
          <a:custGeom>
            <a:avLst/>
            <a:gdLst>
              <a:gd name="connsiteX0" fmla="*/ 0 w 5692820"/>
              <a:gd name="connsiteY0" fmla="*/ 216513 h 216513"/>
              <a:gd name="connsiteX1" fmla="*/ 0 w 5692820"/>
              <a:gd name="connsiteY1" fmla="*/ 0 h 216513"/>
              <a:gd name="connsiteX2" fmla="*/ 5692820 w 5692820"/>
              <a:gd name="connsiteY2" fmla="*/ 0 h 216513"/>
              <a:gd name="connsiteX3" fmla="*/ 5692820 w 5692820"/>
              <a:gd name="connsiteY3" fmla="*/ 216513 h 216513"/>
              <a:gd name="connsiteX4" fmla="*/ 0 w 5692820"/>
              <a:gd name="connsiteY4" fmla="*/ 216513 h 216513"/>
              <a:gd name="connsiteX0" fmla="*/ 0 w 5692820"/>
              <a:gd name="connsiteY0" fmla="*/ 216513 h 216513"/>
              <a:gd name="connsiteX1" fmla="*/ 0 w 5692820"/>
              <a:gd name="connsiteY1" fmla="*/ 0 h 216513"/>
              <a:gd name="connsiteX2" fmla="*/ 3968795 w 5692820"/>
              <a:gd name="connsiteY2" fmla="*/ 0 h 216513"/>
              <a:gd name="connsiteX3" fmla="*/ 5692820 w 5692820"/>
              <a:gd name="connsiteY3" fmla="*/ 216513 h 216513"/>
              <a:gd name="connsiteX4" fmla="*/ 0 w 5692820"/>
              <a:gd name="connsiteY4" fmla="*/ 216513 h 216513"/>
              <a:gd name="connsiteX0" fmla="*/ 0 w 5692820"/>
              <a:gd name="connsiteY0" fmla="*/ 216513 h 216513"/>
              <a:gd name="connsiteX1" fmla="*/ 0 w 5692820"/>
              <a:gd name="connsiteY1" fmla="*/ 0 h 216513"/>
              <a:gd name="connsiteX2" fmla="*/ 2644820 w 5692820"/>
              <a:gd name="connsiteY2" fmla="*/ 4763 h 216513"/>
              <a:gd name="connsiteX3" fmla="*/ 5692820 w 5692820"/>
              <a:gd name="connsiteY3" fmla="*/ 216513 h 216513"/>
              <a:gd name="connsiteX4" fmla="*/ 0 w 5692820"/>
              <a:gd name="connsiteY4" fmla="*/ 216513 h 216513"/>
              <a:gd name="connsiteX0" fmla="*/ 0 w 5692820"/>
              <a:gd name="connsiteY0" fmla="*/ 216513 h 216513"/>
              <a:gd name="connsiteX1" fmla="*/ 0 w 5692820"/>
              <a:gd name="connsiteY1" fmla="*/ 0 h 216513"/>
              <a:gd name="connsiteX2" fmla="*/ 3454628 w 5692820"/>
              <a:gd name="connsiteY2" fmla="*/ 17463 h 216513"/>
              <a:gd name="connsiteX3" fmla="*/ 5692820 w 5692820"/>
              <a:gd name="connsiteY3" fmla="*/ 216513 h 216513"/>
              <a:gd name="connsiteX4" fmla="*/ 0 w 5692820"/>
              <a:gd name="connsiteY4" fmla="*/ 216513 h 216513"/>
              <a:gd name="connsiteX0" fmla="*/ 0 w 5692820"/>
              <a:gd name="connsiteY0" fmla="*/ 216513 h 216513"/>
              <a:gd name="connsiteX1" fmla="*/ 0 w 5692820"/>
              <a:gd name="connsiteY1" fmla="*/ 0 h 216513"/>
              <a:gd name="connsiteX2" fmla="*/ 2541344 w 5692820"/>
              <a:gd name="connsiteY2" fmla="*/ 11116 h 216513"/>
              <a:gd name="connsiteX3" fmla="*/ 5692820 w 5692820"/>
              <a:gd name="connsiteY3" fmla="*/ 216513 h 216513"/>
              <a:gd name="connsiteX4" fmla="*/ 0 w 5692820"/>
              <a:gd name="connsiteY4" fmla="*/ 216513 h 216513"/>
              <a:gd name="connsiteX0" fmla="*/ 0 w 5692820"/>
              <a:gd name="connsiteY0" fmla="*/ 205397 h 205397"/>
              <a:gd name="connsiteX1" fmla="*/ 181011 w 5692820"/>
              <a:gd name="connsiteY1" fmla="*/ 1587 h 205397"/>
              <a:gd name="connsiteX2" fmla="*/ 2541344 w 5692820"/>
              <a:gd name="connsiteY2" fmla="*/ 0 h 205397"/>
              <a:gd name="connsiteX3" fmla="*/ 5692820 w 5692820"/>
              <a:gd name="connsiteY3" fmla="*/ 205397 h 205397"/>
              <a:gd name="connsiteX4" fmla="*/ 0 w 5692820"/>
              <a:gd name="connsiteY4" fmla="*/ 205397 h 205397"/>
              <a:gd name="connsiteX0" fmla="*/ 0 w 5692820"/>
              <a:gd name="connsiteY0" fmla="*/ 203810 h 203810"/>
              <a:gd name="connsiteX1" fmla="*/ 181011 w 5692820"/>
              <a:gd name="connsiteY1" fmla="*/ 0 h 203810"/>
              <a:gd name="connsiteX2" fmla="*/ 3046547 w 5692820"/>
              <a:gd name="connsiteY2" fmla="*/ 4766 h 203810"/>
              <a:gd name="connsiteX3" fmla="*/ 5692820 w 5692820"/>
              <a:gd name="connsiteY3" fmla="*/ 203810 h 203810"/>
              <a:gd name="connsiteX4" fmla="*/ 0 w 5692820"/>
              <a:gd name="connsiteY4" fmla="*/ 203810 h 203810"/>
              <a:gd name="connsiteX0" fmla="*/ 0 w 5533344"/>
              <a:gd name="connsiteY0" fmla="*/ 208568 h 208568"/>
              <a:gd name="connsiteX1" fmla="*/ 21535 w 5533344"/>
              <a:gd name="connsiteY1" fmla="*/ 0 h 208568"/>
              <a:gd name="connsiteX2" fmla="*/ 2887071 w 5533344"/>
              <a:gd name="connsiteY2" fmla="*/ 4766 h 208568"/>
              <a:gd name="connsiteX3" fmla="*/ 5533344 w 5533344"/>
              <a:gd name="connsiteY3" fmla="*/ 203810 h 208568"/>
              <a:gd name="connsiteX4" fmla="*/ 0 w 5533344"/>
              <a:gd name="connsiteY4" fmla="*/ 208568 h 208568"/>
              <a:gd name="connsiteX0" fmla="*/ 0 w 5756992"/>
              <a:gd name="connsiteY0" fmla="*/ 214275 h 214275"/>
              <a:gd name="connsiteX1" fmla="*/ 245183 w 5756992"/>
              <a:gd name="connsiteY1" fmla="*/ 0 h 214275"/>
              <a:gd name="connsiteX2" fmla="*/ 3110719 w 5756992"/>
              <a:gd name="connsiteY2" fmla="*/ 4766 h 214275"/>
              <a:gd name="connsiteX3" fmla="*/ 5756992 w 5756992"/>
              <a:gd name="connsiteY3" fmla="*/ 203810 h 214275"/>
              <a:gd name="connsiteX4" fmla="*/ 0 w 5756992"/>
              <a:gd name="connsiteY4" fmla="*/ 214275 h 21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6992" h="214275">
                <a:moveTo>
                  <a:pt x="0" y="214275"/>
                </a:moveTo>
                <a:lnTo>
                  <a:pt x="245183" y="0"/>
                </a:lnTo>
                <a:lnTo>
                  <a:pt x="3110719" y="4766"/>
                </a:lnTo>
                <a:lnTo>
                  <a:pt x="5756992" y="203810"/>
                </a:lnTo>
                <a:lnTo>
                  <a:pt x="0" y="214275"/>
                </a:lnTo>
                <a:close/>
              </a:path>
            </a:pathLst>
          </a:custGeom>
          <a:gradFill flip="none" rotWithShape="1">
            <a:gsLst>
              <a:gs pos="0">
                <a:srgbClr val="5CCFA0"/>
              </a:gs>
              <a:gs pos="100000">
                <a:srgbClr val="E7F8F1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err="1">
              <a:solidFill>
                <a:schemeClr val="tx2">
                  <a:lumMod val="50000"/>
                </a:schemeClr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3FDAF87-470B-B6F0-C0DC-9F439AA9A53F}"/>
              </a:ext>
            </a:extLst>
          </p:cNvPr>
          <p:cNvSpPr txBox="1"/>
          <p:nvPr/>
        </p:nvSpPr>
        <p:spPr>
          <a:xfrm>
            <a:off x="452437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강사 </a:t>
            </a:r>
            <a:r>
              <a:rPr lang="ko-KR" altLang="en-US" sz="1100" dirty="0" err="1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리쿠르팅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및 기획 프로세스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CFAE8327-B4FC-3A5D-74A6-38C3263828CA}"/>
              </a:ext>
            </a:extLst>
          </p:cNvPr>
          <p:cNvSpPr txBox="1"/>
          <p:nvPr/>
        </p:nvSpPr>
        <p:spPr>
          <a:xfrm>
            <a:off x="5078520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TITAN’s Competitive Advantage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04683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01AEE54-6C49-1D30-82EC-9685816B03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콘텐츠 기획 </a:t>
            </a:r>
            <a:r>
              <a:rPr lang="en-US" altLang="ko-KR" dirty="0"/>
              <a:t>· </a:t>
            </a:r>
            <a:r>
              <a:rPr lang="ko-KR" altLang="en-US" dirty="0"/>
              <a:t>개발 </a:t>
            </a:r>
            <a:r>
              <a:rPr lang="en-US" altLang="ko-KR" dirty="0"/>
              <a:t>- </a:t>
            </a:r>
            <a:r>
              <a:rPr lang="ko-KR" altLang="en-US" dirty="0"/>
              <a:t>스타 강사 육성 역량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5668F2-14AA-17B3-6E4B-BC4DF7620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</a:t>
            </a:r>
            <a:r>
              <a:rPr lang="ko-KR" altLang="en-US" dirty="0"/>
              <a:t> </a:t>
            </a:r>
            <a:r>
              <a:rPr lang="en-US" altLang="ko-KR" dirty="0"/>
              <a:t>1)</a:t>
            </a:r>
            <a:r>
              <a:rPr lang="ko-KR" altLang="en-US" dirty="0"/>
              <a:t> 각 </a:t>
            </a:r>
            <a:r>
              <a:rPr lang="ko-KR" altLang="en-US" dirty="0" err="1"/>
              <a:t>법인별</a:t>
            </a:r>
            <a:r>
              <a:rPr lang="ko-KR" altLang="en-US" dirty="0"/>
              <a:t> 첫 강의 론칭 시점 기준으로 분석한 데이터이며 타이탄컴퍼니는 </a:t>
            </a: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1Q</a:t>
            </a:r>
            <a:r>
              <a:rPr lang="ko-KR" altLang="en-US" dirty="0"/>
              <a:t>부터</a:t>
            </a:r>
            <a:r>
              <a:rPr lang="en-US" altLang="ko-KR" dirty="0"/>
              <a:t>, </a:t>
            </a:r>
            <a:r>
              <a:rPr lang="ko-KR" altLang="en-US" dirty="0" err="1"/>
              <a:t>클래스어라운드는</a:t>
            </a:r>
            <a:r>
              <a:rPr lang="ko-KR" altLang="en-US" dirty="0"/>
              <a:t> </a:t>
            </a: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3Q </a:t>
            </a:r>
            <a:r>
              <a:rPr lang="ko-KR" altLang="en-US" dirty="0"/>
              <a:t>부터</a:t>
            </a:r>
            <a:r>
              <a:rPr lang="en-US" altLang="ko-KR" dirty="0"/>
              <a:t>, </a:t>
            </a:r>
            <a:r>
              <a:rPr lang="ko-KR" altLang="en-US" dirty="0" err="1"/>
              <a:t>티티에이컴퍼니는</a:t>
            </a:r>
            <a:r>
              <a:rPr lang="ko-KR" altLang="en-US" dirty="0"/>
              <a:t> </a:t>
            </a: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2Q </a:t>
            </a:r>
            <a:r>
              <a:rPr lang="ko-KR" altLang="en-US" dirty="0"/>
              <a:t>부터의 실적임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AA2B8D-90E6-0D52-4705-69D5FD534F4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36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9CC27F-5F48-8F97-D1ED-E970F38E26DC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스타 강사 배출에 따라 증가하는 </a:t>
            </a:r>
            <a:r>
              <a:rPr lang="en-US" altLang="ko-KR" sz="1200" b="1" dirty="0">
                <a:solidFill>
                  <a:schemeClr val="bg1"/>
                </a:solidFill>
              </a:rPr>
              <a:t>Hit-ratio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B2CC8-9B2F-E5AD-BEC4-893B4CF43F59}"/>
              </a:ext>
            </a:extLst>
          </p:cNvPr>
          <p:cNvSpPr txBox="1"/>
          <p:nvPr/>
        </p:nvSpPr>
        <p:spPr>
          <a:xfrm>
            <a:off x="5061000" y="5401558"/>
            <a:ext cx="4392563" cy="365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강사 브랜딩 및 사업화 역량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유명 강사 소싱 역량 기반 강의별 매출 규모가 빠르게 확대됨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3</a:t>
            </a:r>
            <a:r>
              <a:rPr lang="ko-KR" altLang="en-US" sz="1000" spc="-30" dirty="0">
                <a:solidFill>
                  <a:srgbClr val="3D3D3D"/>
                </a:solidFill>
              </a:rPr>
              <a:t>억 원 이상 매출을 기록한 강의 비중이 ’</a:t>
            </a:r>
            <a:r>
              <a:rPr lang="en-US" altLang="ko-KR" sz="1000" spc="-30" dirty="0">
                <a:solidFill>
                  <a:srgbClr val="3D3D3D"/>
                </a:solidFill>
              </a:rPr>
              <a:t>24</a:t>
            </a:r>
            <a:r>
              <a:rPr lang="ko-KR" altLang="en-US" sz="1000" spc="-30" dirty="0">
                <a:solidFill>
                  <a:srgbClr val="3D3D3D"/>
                </a:solidFill>
              </a:rPr>
              <a:t>년 </a:t>
            </a:r>
            <a:r>
              <a:rPr lang="en-US" altLang="ko-KR" sz="1000" spc="-30" dirty="0">
                <a:solidFill>
                  <a:srgbClr val="3D3D3D"/>
                </a:solidFill>
              </a:rPr>
              <a:t>1</a:t>
            </a:r>
            <a:r>
              <a:rPr lang="ko-KR" altLang="en-US" sz="1000" spc="-30" dirty="0">
                <a:solidFill>
                  <a:srgbClr val="3D3D3D"/>
                </a:solidFill>
              </a:rPr>
              <a:t>분기 </a:t>
            </a:r>
            <a:r>
              <a:rPr lang="en-US" altLang="ko-KR" sz="1000" spc="-30" dirty="0">
                <a:solidFill>
                  <a:srgbClr val="3D3D3D"/>
                </a:solidFill>
              </a:rPr>
              <a:t>0%</a:t>
            </a:r>
            <a:r>
              <a:rPr lang="ko-KR" altLang="en-US" sz="1000" spc="-30" dirty="0">
                <a:solidFill>
                  <a:srgbClr val="3D3D3D"/>
                </a:solidFill>
              </a:rPr>
              <a:t>에서 ’</a:t>
            </a:r>
            <a:r>
              <a:rPr lang="en-US" altLang="ko-KR" sz="1000" spc="-30" dirty="0">
                <a:solidFill>
                  <a:srgbClr val="3D3D3D"/>
                </a:solidFill>
              </a:rPr>
              <a:t>25</a:t>
            </a:r>
            <a:r>
              <a:rPr lang="ko-KR" altLang="en-US" sz="1000" spc="-30" dirty="0">
                <a:solidFill>
                  <a:srgbClr val="3D3D3D"/>
                </a:solidFill>
              </a:rPr>
              <a:t>년 </a:t>
            </a:r>
            <a:r>
              <a:rPr lang="en-US" altLang="ko-KR" sz="1000" spc="-30" dirty="0">
                <a:solidFill>
                  <a:srgbClr val="3D3D3D"/>
                </a:solidFill>
              </a:rPr>
              <a:t>2</a:t>
            </a:r>
            <a:r>
              <a:rPr lang="ko-KR" altLang="en-US" sz="1000" spc="-30" dirty="0">
                <a:solidFill>
                  <a:srgbClr val="3D3D3D"/>
                </a:solidFill>
              </a:rPr>
              <a:t>분기 약 </a:t>
            </a:r>
            <a:r>
              <a:rPr lang="en-US" altLang="ko-KR" sz="1000" spc="-30" dirty="0">
                <a:solidFill>
                  <a:srgbClr val="3D3D3D"/>
                </a:solidFill>
              </a:rPr>
              <a:t>41%</a:t>
            </a:r>
            <a:r>
              <a:rPr lang="ko-KR" altLang="en-US" sz="1000" spc="-30" dirty="0">
                <a:solidFill>
                  <a:srgbClr val="3D3D3D"/>
                </a:solidFill>
              </a:rPr>
              <a:t>로 급등</a:t>
            </a: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1E52E4E1-5E6A-ED28-0861-381CCFA557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6027895"/>
              </p:ext>
            </p:extLst>
          </p:nvPr>
        </p:nvGraphicFramePr>
        <p:xfrm>
          <a:off x="5057156" y="2308630"/>
          <a:ext cx="4391998" cy="2974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5A24060-2FE3-28E3-3C18-4824BF59B907}"/>
              </a:ext>
            </a:extLst>
          </p:cNvPr>
          <p:cNvSpPr txBox="1"/>
          <p:nvPr/>
        </p:nvSpPr>
        <p:spPr>
          <a:xfrm>
            <a:off x="5078520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매출규모별 강의 수 추이</a:t>
            </a:r>
            <a:r>
              <a:rPr lang="en-US" altLang="ko-KR" sz="1100" baseline="300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1)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직사각형 84">
            <a:extLst>
              <a:ext uri="{FF2B5EF4-FFF2-40B4-BE49-F238E27FC236}">
                <a16:creationId xmlns:a16="http://schemas.microsoft.com/office/drawing/2014/main" id="{C24B237B-9AF3-8AED-E8CC-CB3013CDA6C3}"/>
              </a:ext>
            </a:extLst>
          </p:cNvPr>
          <p:cNvSpPr/>
          <p:nvPr/>
        </p:nvSpPr>
        <p:spPr>
          <a:xfrm>
            <a:off x="8741568" y="2997994"/>
            <a:ext cx="447675" cy="1095375"/>
          </a:xfrm>
          <a:prstGeom prst="rect">
            <a:avLst/>
          </a:prstGeom>
          <a:noFill/>
          <a:ln w="25400">
            <a:solidFill>
              <a:srgbClr val="5CCFA0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6" name="직사각형 84">
            <a:extLst>
              <a:ext uri="{FF2B5EF4-FFF2-40B4-BE49-F238E27FC236}">
                <a16:creationId xmlns:a16="http://schemas.microsoft.com/office/drawing/2014/main" id="{EB1CEFED-12A1-BA28-D1AA-73C95FAEBE2C}"/>
              </a:ext>
            </a:extLst>
          </p:cNvPr>
          <p:cNvSpPr/>
          <p:nvPr/>
        </p:nvSpPr>
        <p:spPr>
          <a:xfrm>
            <a:off x="8051953" y="2997995"/>
            <a:ext cx="447675" cy="902494"/>
          </a:xfrm>
          <a:prstGeom prst="rect">
            <a:avLst/>
          </a:prstGeom>
          <a:noFill/>
          <a:ln w="25400">
            <a:solidFill>
              <a:srgbClr val="5CCFA0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직사각형 84">
            <a:extLst>
              <a:ext uri="{FF2B5EF4-FFF2-40B4-BE49-F238E27FC236}">
                <a16:creationId xmlns:a16="http://schemas.microsoft.com/office/drawing/2014/main" id="{EFFE8480-9230-4239-1941-7A8E4ED92F2F}"/>
              </a:ext>
            </a:extLst>
          </p:cNvPr>
          <p:cNvSpPr/>
          <p:nvPr/>
        </p:nvSpPr>
        <p:spPr>
          <a:xfrm>
            <a:off x="7368756" y="2997995"/>
            <a:ext cx="447675" cy="614361"/>
          </a:xfrm>
          <a:prstGeom prst="rect">
            <a:avLst/>
          </a:prstGeom>
          <a:noFill/>
          <a:ln w="25400">
            <a:solidFill>
              <a:srgbClr val="5CCFA0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8" name="직사각형 84">
            <a:extLst>
              <a:ext uri="{FF2B5EF4-FFF2-40B4-BE49-F238E27FC236}">
                <a16:creationId xmlns:a16="http://schemas.microsoft.com/office/drawing/2014/main" id="{90BDF106-E2B0-9C81-E16E-2BE1E0E8C1A8}"/>
              </a:ext>
            </a:extLst>
          </p:cNvPr>
          <p:cNvSpPr/>
          <p:nvPr/>
        </p:nvSpPr>
        <p:spPr>
          <a:xfrm>
            <a:off x="6680581" y="2997995"/>
            <a:ext cx="447675" cy="464343"/>
          </a:xfrm>
          <a:prstGeom prst="rect">
            <a:avLst/>
          </a:prstGeom>
          <a:noFill/>
          <a:ln w="25400">
            <a:solidFill>
              <a:srgbClr val="5CCFA0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" name="화살표: 오른쪽 18">
            <a:extLst>
              <a:ext uri="{FF2B5EF4-FFF2-40B4-BE49-F238E27FC236}">
                <a16:creationId xmlns:a16="http://schemas.microsoft.com/office/drawing/2014/main" id="{6B78D510-8F97-664A-B9E3-43029AEDE4BC}"/>
              </a:ext>
            </a:extLst>
          </p:cNvPr>
          <p:cNvSpPr/>
          <p:nvPr/>
        </p:nvSpPr>
        <p:spPr>
          <a:xfrm>
            <a:off x="6697517" y="2812203"/>
            <a:ext cx="2491726" cy="154978"/>
          </a:xfrm>
          <a:prstGeom prst="rightArrow">
            <a:avLst/>
          </a:prstGeom>
          <a:gradFill>
            <a:gsLst>
              <a:gs pos="0">
                <a:srgbClr val="FFFFFF"/>
              </a:gs>
              <a:gs pos="64000">
                <a:srgbClr val="5CCFA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n>
                <a:solidFill>
                  <a:schemeClr val="accent5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직사각형 74">
            <a:extLst>
              <a:ext uri="{FF2B5EF4-FFF2-40B4-BE49-F238E27FC236}">
                <a16:creationId xmlns:a16="http://schemas.microsoft.com/office/drawing/2014/main" id="{C694889E-D6D5-B393-8650-181122038A32}"/>
              </a:ext>
            </a:extLst>
          </p:cNvPr>
          <p:cNvSpPr/>
          <p:nvPr/>
        </p:nvSpPr>
        <p:spPr>
          <a:xfrm>
            <a:off x="7127573" y="2590109"/>
            <a:ext cx="1702082" cy="29519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b="1" dirty="0">
                <a:solidFill>
                  <a:srgbClr val="5CCFA0"/>
                </a:solidFill>
              </a:rPr>
              <a:t>매출 </a:t>
            </a:r>
            <a:r>
              <a:rPr lang="en-US" altLang="ko-KR" sz="900" b="1" dirty="0">
                <a:solidFill>
                  <a:srgbClr val="5CCFA0"/>
                </a:solidFill>
              </a:rPr>
              <a:t>2</a:t>
            </a:r>
            <a:r>
              <a:rPr lang="ko-KR" altLang="en-US" sz="900" b="1" dirty="0">
                <a:solidFill>
                  <a:srgbClr val="5CCFA0"/>
                </a:solidFill>
              </a:rPr>
              <a:t>억 이상의 히트 강의 비중 증가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1F8676-1925-8E88-880B-9AF56A589776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스타 강사 의존형이 아닌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강사를 직접 브랜딩하고 육성하여 </a:t>
            </a:r>
            <a:r>
              <a:rPr lang="ko-KR" altLang="en-US" sz="1400" b="1" dirty="0" err="1">
                <a:solidFill>
                  <a:srgbClr val="3D3D3D"/>
                </a:solidFill>
              </a:rPr>
              <a:t>고매출</a:t>
            </a:r>
            <a:r>
              <a:rPr lang="ko-KR" altLang="en-US" sz="1400" b="1" dirty="0">
                <a:solidFill>
                  <a:srgbClr val="3D3D3D"/>
                </a:solidFill>
              </a:rPr>
              <a:t> 강의로 전환시키는 기획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육성 역량을 자산화하고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  <a:r>
              <a:rPr lang="ko-KR" altLang="en-US" sz="1400" b="1" dirty="0">
                <a:solidFill>
                  <a:srgbClr val="3D3D3D"/>
                </a:solidFill>
              </a:rPr>
              <a:t>이 누적된 성공 사례는 강사들이 자발적으로 유입되는 선순환을 만들며 플랫폼의 확장성을 높이고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pic>
        <p:nvPicPr>
          <p:cNvPr id="12" name="Picture 8" descr="씨오 - N잡연구소">
            <a:extLst>
              <a:ext uri="{FF2B5EF4-FFF2-40B4-BE49-F238E27FC236}">
                <a16:creationId xmlns:a16="http://schemas.microsoft.com/office/drawing/2014/main" id="{0688BAFE-6908-6BE0-C0DA-4F9850E64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4987965"/>
            <a:ext cx="615600" cy="78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애드센스팜 알파남 강사소개 - 애드센스팜">
            <a:extLst>
              <a:ext uri="{FF2B5EF4-FFF2-40B4-BE49-F238E27FC236}">
                <a16:creationId xmlns:a16="http://schemas.microsoft.com/office/drawing/2014/main" id="{EAA8DC44-8C1D-3BE8-AF7A-5501F47D38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5063" r="29223" b="56132"/>
          <a:stretch>
            <a:fillRect/>
          </a:stretch>
        </p:blipFill>
        <p:spPr bwMode="auto">
          <a:xfrm>
            <a:off x="452437" y="4021973"/>
            <a:ext cx="616163" cy="78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B972BD1-B4BE-0C0F-B4D0-51AFECFE73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04" r="14104"/>
          <a:stretch>
            <a:fillRect/>
          </a:stretch>
        </p:blipFill>
        <p:spPr>
          <a:xfrm>
            <a:off x="452439" y="3056402"/>
            <a:ext cx="614252" cy="78579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3FB7DBA-443A-A29A-BB3D-77032EDE8168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rcRect l="2166" t="2317" r="2237"/>
          <a:stretch>
            <a:fillRect/>
          </a:stretch>
        </p:blipFill>
        <p:spPr>
          <a:xfrm>
            <a:off x="455155" y="2118538"/>
            <a:ext cx="611536" cy="7857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D00E605-BB6F-FABF-265E-E5C5DFF890A7}"/>
              </a:ext>
            </a:extLst>
          </p:cNvPr>
          <p:cNvSpPr txBox="1"/>
          <p:nvPr/>
        </p:nvSpPr>
        <p:spPr>
          <a:xfrm>
            <a:off x="1184381" y="2458055"/>
            <a:ext cx="1188000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2024.03</a:t>
            </a:r>
            <a:endParaRPr lang="en-US" altLang="ko-KR" sz="90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latin typeface="+mj-lt"/>
              <a:ea typeface="KoPub돋움체 Bold" panose="00000800000000000000" pitchFamily="2" charset="-127"/>
            </a:endParaRPr>
          </a:p>
          <a:p>
            <a:pPr algn="ctr"/>
            <a:endParaRPr lang="en-US" altLang="ko-KR" sz="200" spc="-57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자체 유튜브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/</a:t>
            </a:r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인스타그램으로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퍼스널 브랜딩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,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영향력 강화</a:t>
            </a:r>
            <a:endParaRPr lang="ko-KR" altLang="en-US" sz="900" spc="-57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C406DF1-CEFA-3260-DA77-9CFA5F73B53A}"/>
              </a:ext>
            </a:extLst>
          </p:cNvPr>
          <p:cNvCxnSpPr>
            <a:cxnSpLocks/>
          </p:cNvCxnSpPr>
          <p:nvPr/>
        </p:nvCxnSpPr>
        <p:spPr>
          <a:xfrm>
            <a:off x="1227648" y="2367307"/>
            <a:ext cx="3564000" cy="0"/>
          </a:xfrm>
          <a:prstGeom prst="straightConnector1">
            <a:avLst/>
          </a:prstGeom>
          <a:noFill/>
          <a:ln w="38100" cap="sq" cmpd="sng" algn="ctr">
            <a:gradFill>
              <a:gsLst>
                <a:gs pos="0">
                  <a:srgbClr val="0A1A39"/>
                </a:gs>
                <a:gs pos="100000">
                  <a:srgbClr val="539DFF"/>
                </a:gs>
              </a:gsLst>
              <a:lin ang="0" scaled="0"/>
            </a:gradFill>
            <a:prstDash val="solid"/>
            <a:miter lim="800000"/>
            <a:tailEnd type="triangle" w="sm" len="sm"/>
          </a:ln>
          <a:effectLst/>
        </p:spPr>
      </p:cxnSp>
      <p:sp>
        <p:nvSpPr>
          <p:cNvPr id="21" name="Oval 39">
            <a:extLst>
              <a:ext uri="{FF2B5EF4-FFF2-40B4-BE49-F238E27FC236}">
                <a16:creationId xmlns:a16="http://schemas.microsoft.com/office/drawing/2014/main" id="{4E331F90-97DA-21BD-7750-F660DEC33579}"/>
              </a:ext>
            </a:extLst>
          </p:cNvPr>
          <p:cNvSpPr/>
          <p:nvPr/>
        </p:nvSpPr>
        <p:spPr>
          <a:xfrm>
            <a:off x="1728208" y="2326018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0A1A39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22" name="Oval 39">
            <a:extLst>
              <a:ext uri="{FF2B5EF4-FFF2-40B4-BE49-F238E27FC236}">
                <a16:creationId xmlns:a16="http://schemas.microsoft.com/office/drawing/2014/main" id="{A06DAC8A-5FE4-5725-D340-A979BCEF72C5}"/>
              </a:ext>
            </a:extLst>
          </p:cNvPr>
          <p:cNvSpPr/>
          <p:nvPr/>
        </p:nvSpPr>
        <p:spPr>
          <a:xfrm>
            <a:off x="2970086" y="2326018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4686DD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23" name="Oval 39">
            <a:extLst>
              <a:ext uri="{FF2B5EF4-FFF2-40B4-BE49-F238E27FC236}">
                <a16:creationId xmlns:a16="http://schemas.microsoft.com/office/drawing/2014/main" id="{B8297CFE-C820-03C2-EC86-9293CD6D81FB}"/>
              </a:ext>
            </a:extLst>
          </p:cNvPr>
          <p:cNvSpPr/>
          <p:nvPr/>
        </p:nvSpPr>
        <p:spPr>
          <a:xfrm>
            <a:off x="4206396" y="2326018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539DFF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E1FAEC-229B-0257-0C92-13E59E72AFD2}"/>
              </a:ext>
            </a:extLst>
          </p:cNvPr>
          <p:cNvSpPr txBox="1"/>
          <p:nvPr/>
        </p:nvSpPr>
        <p:spPr>
          <a:xfrm>
            <a:off x="1559411" y="2170277"/>
            <a:ext cx="4379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7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n-ea"/>
              </a:rPr>
              <a:t>강사 데뷔</a:t>
            </a:r>
            <a:endParaRPr lang="en-US" altLang="ko-KR" sz="1000" spc="-57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92279C-938B-6B6F-5ACB-EF499B69330D}"/>
              </a:ext>
            </a:extLst>
          </p:cNvPr>
          <p:cNvSpPr txBox="1"/>
          <p:nvPr/>
        </p:nvSpPr>
        <p:spPr>
          <a:xfrm>
            <a:off x="2538213" y="2458055"/>
            <a:ext cx="952953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2024.03~06</a:t>
            </a:r>
            <a:endParaRPr lang="en-US" altLang="ko-KR" sz="90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latin typeface="+mj-lt"/>
              <a:ea typeface="KoPub돋움체 Bold" panose="00000800000000000000" pitchFamily="2" charset="-127"/>
            </a:endParaRPr>
          </a:p>
          <a:p>
            <a:pPr algn="ctr"/>
            <a:endParaRPr lang="en-US" altLang="ko-KR" sz="200" spc="-57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강의 매출 상승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en-US" altLang="ko-KR" sz="900" spc="-57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1</a:t>
            </a:r>
            <a:r>
              <a:rPr lang="ko-KR" altLang="en-US" sz="900" spc="-57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1.6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억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 3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4.8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억</a:t>
            </a:r>
            <a:endParaRPr lang="ko-KR" altLang="en-US" sz="900" spc="-57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678D59-1333-5332-E0B4-A344482AC561}"/>
              </a:ext>
            </a:extLst>
          </p:cNvPr>
          <p:cNvSpPr txBox="1"/>
          <p:nvPr/>
        </p:nvSpPr>
        <p:spPr>
          <a:xfrm>
            <a:off x="3657000" y="2458055"/>
            <a:ext cx="1188000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2024.08~2025.06</a:t>
            </a:r>
            <a:endParaRPr lang="en-US" altLang="ko-KR" sz="90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latin typeface="+mj-lt"/>
              <a:ea typeface="KoPub돋움체 Bold" panose="00000800000000000000" pitchFamily="2" charset="-127"/>
            </a:endParaRPr>
          </a:p>
          <a:p>
            <a:pPr algn="ctr"/>
            <a:endParaRPr lang="en-US" altLang="ko-KR" sz="200" spc="-57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월급쟁이 부자들 출연 등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스타성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추가 확보</a:t>
            </a:r>
            <a:r>
              <a:rPr lang="en-US" altLang="ko-KR" sz="900" spc="-57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,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4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~11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기까지 강의 확장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F4513F9-81CF-16E4-3EAB-AA999989AB03}"/>
              </a:ext>
            </a:extLst>
          </p:cNvPr>
          <p:cNvCxnSpPr>
            <a:cxnSpLocks/>
          </p:cNvCxnSpPr>
          <p:nvPr/>
        </p:nvCxnSpPr>
        <p:spPr>
          <a:xfrm>
            <a:off x="1227648" y="3305172"/>
            <a:ext cx="3564000" cy="0"/>
          </a:xfrm>
          <a:prstGeom prst="straightConnector1">
            <a:avLst/>
          </a:prstGeom>
          <a:noFill/>
          <a:ln w="38100" cap="sq" cmpd="sng" algn="ctr">
            <a:gradFill>
              <a:gsLst>
                <a:gs pos="0">
                  <a:srgbClr val="0A1A39"/>
                </a:gs>
                <a:gs pos="100000">
                  <a:srgbClr val="539DFF"/>
                </a:gs>
              </a:gsLst>
              <a:lin ang="0" scaled="0"/>
            </a:gradFill>
            <a:prstDash val="solid"/>
            <a:miter lim="800000"/>
            <a:tailEnd type="triangle" w="sm" len="sm"/>
          </a:ln>
          <a:effectLst/>
        </p:spPr>
      </p:cxnSp>
      <p:sp>
        <p:nvSpPr>
          <p:cNvPr id="35" name="Oval 39">
            <a:extLst>
              <a:ext uri="{FF2B5EF4-FFF2-40B4-BE49-F238E27FC236}">
                <a16:creationId xmlns:a16="http://schemas.microsoft.com/office/drawing/2014/main" id="{5FCF1EE2-F022-1D11-2AE5-197912BD12AE}"/>
              </a:ext>
            </a:extLst>
          </p:cNvPr>
          <p:cNvSpPr/>
          <p:nvPr/>
        </p:nvSpPr>
        <p:spPr>
          <a:xfrm>
            <a:off x="1728208" y="3263883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0A1A39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6" name="Oval 39">
            <a:extLst>
              <a:ext uri="{FF2B5EF4-FFF2-40B4-BE49-F238E27FC236}">
                <a16:creationId xmlns:a16="http://schemas.microsoft.com/office/drawing/2014/main" id="{5AC6DEB6-73A0-68B4-C183-C7F7A14D83B7}"/>
              </a:ext>
            </a:extLst>
          </p:cNvPr>
          <p:cNvSpPr/>
          <p:nvPr/>
        </p:nvSpPr>
        <p:spPr>
          <a:xfrm>
            <a:off x="2970086" y="3263883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4686DD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7" name="Oval 39">
            <a:extLst>
              <a:ext uri="{FF2B5EF4-FFF2-40B4-BE49-F238E27FC236}">
                <a16:creationId xmlns:a16="http://schemas.microsoft.com/office/drawing/2014/main" id="{ED335A04-4C98-2EF4-89FE-237FD114F60F}"/>
              </a:ext>
            </a:extLst>
          </p:cNvPr>
          <p:cNvSpPr/>
          <p:nvPr/>
        </p:nvSpPr>
        <p:spPr>
          <a:xfrm>
            <a:off x="4206396" y="3263883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539DFF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3B29665-4CE7-2454-E5C9-DDD62FF4644F}"/>
              </a:ext>
            </a:extLst>
          </p:cNvPr>
          <p:cNvCxnSpPr>
            <a:cxnSpLocks/>
          </p:cNvCxnSpPr>
          <p:nvPr/>
        </p:nvCxnSpPr>
        <p:spPr>
          <a:xfrm>
            <a:off x="1227648" y="4271165"/>
            <a:ext cx="3564000" cy="0"/>
          </a:xfrm>
          <a:prstGeom prst="straightConnector1">
            <a:avLst/>
          </a:prstGeom>
          <a:noFill/>
          <a:ln w="38100" cap="sq" cmpd="sng" algn="ctr">
            <a:gradFill>
              <a:gsLst>
                <a:gs pos="0">
                  <a:srgbClr val="0A1A39"/>
                </a:gs>
                <a:gs pos="100000">
                  <a:srgbClr val="539DFF"/>
                </a:gs>
              </a:gsLst>
              <a:lin ang="0" scaled="0"/>
            </a:gradFill>
            <a:prstDash val="solid"/>
            <a:miter lim="800000"/>
            <a:tailEnd type="triangle" w="sm" len="sm"/>
          </a:ln>
          <a:effectLst/>
        </p:spPr>
      </p:cxnSp>
      <p:sp>
        <p:nvSpPr>
          <p:cNvPr id="39" name="Oval 39">
            <a:extLst>
              <a:ext uri="{FF2B5EF4-FFF2-40B4-BE49-F238E27FC236}">
                <a16:creationId xmlns:a16="http://schemas.microsoft.com/office/drawing/2014/main" id="{1DF66A59-AD02-D060-BEF2-2F04D75B2984}"/>
              </a:ext>
            </a:extLst>
          </p:cNvPr>
          <p:cNvSpPr/>
          <p:nvPr/>
        </p:nvSpPr>
        <p:spPr>
          <a:xfrm>
            <a:off x="1728208" y="4229876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0A1A39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A7DB8CB-D42C-414C-B39B-5DEE0F647FF2}"/>
              </a:ext>
            </a:extLst>
          </p:cNvPr>
          <p:cNvSpPr/>
          <p:nvPr/>
        </p:nvSpPr>
        <p:spPr>
          <a:xfrm>
            <a:off x="2970086" y="4229876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4686DD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41" name="Oval 39">
            <a:extLst>
              <a:ext uri="{FF2B5EF4-FFF2-40B4-BE49-F238E27FC236}">
                <a16:creationId xmlns:a16="http://schemas.microsoft.com/office/drawing/2014/main" id="{651FA24C-62BB-E0C8-DDDF-844E1B2C0AF9}"/>
              </a:ext>
            </a:extLst>
          </p:cNvPr>
          <p:cNvSpPr/>
          <p:nvPr/>
        </p:nvSpPr>
        <p:spPr>
          <a:xfrm>
            <a:off x="4206396" y="4229876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539DFF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85D49D7F-02A3-7B17-2AFE-F1B9854710FA}"/>
              </a:ext>
            </a:extLst>
          </p:cNvPr>
          <p:cNvCxnSpPr>
            <a:cxnSpLocks/>
          </p:cNvCxnSpPr>
          <p:nvPr/>
        </p:nvCxnSpPr>
        <p:spPr>
          <a:xfrm>
            <a:off x="1227648" y="5236735"/>
            <a:ext cx="3564000" cy="0"/>
          </a:xfrm>
          <a:prstGeom prst="straightConnector1">
            <a:avLst/>
          </a:prstGeom>
          <a:noFill/>
          <a:ln w="38100" cap="sq" cmpd="sng" algn="ctr">
            <a:gradFill>
              <a:gsLst>
                <a:gs pos="0">
                  <a:srgbClr val="0A1A39"/>
                </a:gs>
                <a:gs pos="100000">
                  <a:srgbClr val="539DFF"/>
                </a:gs>
              </a:gsLst>
              <a:lin ang="0" scaled="0"/>
            </a:gradFill>
            <a:prstDash val="solid"/>
            <a:miter lim="800000"/>
            <a:tailEnd type="triangle" w="sm" len="sm"/>
          </a:ln>
          <a:effectLst/>
        </p:spPr>
      </p:cxnSp>
      <p:sp>
        <p:nvSpPr>
          <p:cNvPr id="43" name="Oval 39">
            <a:extLst>
              <a:ext uri="{FF2B5EF4-FFF2-40B4-BE49-F238E27FC236}">
                <a16:creationId xmlns:a16="http://schemas.microsoft.com/office/drawing/2014/main" id="{DCF11B8D-7854-85ED-2BA2-B62A4B40E415}"/>
              </a:ext>
            </a:extLst>
          </p:cNvPr>
          <p:cNvSpPr/>
          <p:nvPr/>
        </p:nvSpPr>
        <p:spPr>
          <a:xfrm>
            <a:off x="1728208" y="5195446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0A1A39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44" name="Oval 39">
            <a:extLst>
              <a:ext uri="{FF2B5EF4-FFF2-40B4-BE49-F238E27FC236}">
                <a16:creationId xmlns:a16="http://schemas.microsoft.com/office/drawing/2014/main" id="{945BEE1E-C030-6E14-95B5-F65670EE8144}"/>
              </a:ext>
            </a:extLst>
          </p:cNvPr>
          <p:cNvSpPr/>
          <p:nvPr/>
        </p:nvSpPr>
        <p:spPr>
          <a:xfrm>
            <a:off x="2970086" y="5195446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4686DD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45" name="Oval 39">
            <a:extLst>
              <a:ext uri="{FF2B5EF4-FFF2-40B4-BE49-F238E27FC236}">
                <a16:creationId xmlns:a16="http://schemas.microsoft.com/office/drawing/2014/main" id="{F84F2F47-6612-D575-53C8-36653B0E64A8}"/>
              </a:ext>
            </a:extLst>
          </p:cNvPr>
          <p:cNvSpPr/>
          <p:nvPr/>
        </p:nvSpPr>
        <p:spPr>
          <a:xfrm>
            <a:off x="4206396" y="5195446"/>
            <a:ext cx="89209" cy="877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rgbClr val="539DFF"/>
            </a:solidFill>
            <a:prstDash val="solid"/>
            <a:miter lim="800000"/>
          </a:ln>
          <a:effectLst/>
        </p:spPr>
        <p:txBody>
          <a:bodyPr lIns="44371" tIns="44371" rIns="44371" bIns="44371" rtlCol="0" anchor="ctr"/>
          <a:lstStyle/>
          <a:p>
            <a:pPr defTabSz="742950">
              <a:defRPr/>
            </a:pPr>
            <a:endParaRPr lang="en-GB" sz="18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20F2EB3-C770-874A-D30A-C38D94F1629B}"/>
              </a:ext>
            </a:extLst>
          </p:cNvPr>
          <p:cNvSpPr/>
          <p:nvPr/>
        </p:nvSpPr>
        <p:spPr>
          <a:xfrm>
            <a:off x="453001" y="5586258"/>
            <a:ext cx="615600" cy="187500"/>
          </a:xfrm>
          <a:prstGeom prst="rect">
            <a:avLst/>
          </a:prstGeom>
          <a:solidFill>
            <a:schemeClr val="tx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Roboto" panose="02000000000000000000" pitchFamily="2" charset="0"/>
                <a:ea typeface="KoPub돋움체 Bold" panose="00000800000000000000" pitchFamily="2" charset="-127"/>
              </a:rPr>
              <a:t>씨오</a:t>
            </a:r>
            <a:endParaRPr lang="ko-KR" altLang="en-US" sz="1100">
              <a:ln>
                <a:solidFill>
                  <a:schemeClr val="accent1">
                    <a:alpha val="0"/>
                  </a:schemeClr>
                </a:solidFill>
              </a:ln>
              <a:latin typeface="Roboto" panose="02000000000000000000" pitchFamily="2" charset="0"/>
              <a:ea typeface="KoPub돋움체 Bold" panose="00000800000000000000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45094F9-136C-8C58-FA01-742D6F87D0B2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다양한 스타 강사 육성 </a:t>
            </a:r>
            <a:r>
              <a:rPr lang="en-US" altLang="ko-KR" sz="1200" b="1">
                <a:solidFill>
                  <a:schemeClr val="bg1"/>
                </a:solidFill>
              </a:rPr>
              <a:t>Track records</a:t>
            </a:r>
            <a:endParaRPr lang="ko-KR" altLang="en-US" sz="1200" b="1" baseline="3000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F1E8CDA-325F-2B98-ECCF-E34558F46961}"/>
              </a:ext>
            </a:extLst>
          </p:cNvPr>
          <p:cNvSpPr/>
          <p:nvPr/>
        </p:nvSpPr>
        <p:spPr>
          <a:xfrm>
            <a:off x="452940" y="4617080"/>
            <a:ext cx="615600" cy="187500"/>
          </a:xfrm>
          <a:prstGeom prst="rect">
            <a:avLst/>
          </a:prstGeom>
          <a:solidFill>
            <a:schemeClr val="tx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Roboto" panose="02000000000000000000" pitchFamily="2" charset="0"/>
                <a:ea typeface="KoPub돋움체 Bold" panose="00000800000000000000" pitchFamily="2" charset="-127"/>
              </a:rPr>
              <a:t>김지수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0F3C4F6-1BAD-F0B2-5539-33D5D57E02EB}"/>
              </a:ext>
            </a:extLst>
          </p:cNvPr>
          <p:cNvSpPr/>
          <p:nvPr/>
        </p:nvSpPr>
        <p:spPr>
          <a:xfrm>
            <a:off x="452940" y="3654697"/>
            <a:ext cx="615600" cy="187500"/>
          </a:xfrm>
          <a:prstGeom prst="rect">
            <a:avLst/>
          </a:prstGeom>
          <a:solidFill>
            <a:schemeClr val="tx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Roboto" panose="02000000000000000000" pitchFamily="2" charset="0"/>
                <a:ea typeface="KoPub돋움체 Bold" panose="00000800000000000000" pitchFamily="2" charset="-127"/>
              </a:rPr>
              <a:t>김해준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latin typeface="Roboto" panose="02000000000000000000" pitchFamily="2" charset="0"/>
              <a:ea typeface="KoPub돋움체 Bold" panose="00000800000000000000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93058D6-24CB-0D27-47EA-9A2000DA4D86}"/>
              </a:ext>
            </a:extLst>
          </p:cNvPr>
          <p:cNvSpPr/>
          <p:nvPr/>
        </p:nvSpPr>
        <p:spPr>
          <a:xfrm>
            <a:off x="452940" y="2713334"/>
            <a:ext cx="615600" cy="187500"/>
          </a:xfrm>
          <a:prstGeom prst="rect">
            <a:avLst/>
          </a:prstGeom>
          <a:solidFill>
            <a:schemeClr val="tx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Roboto" panose="02000000000000000000" pitchFamily="2" charset="0"/>
                <a:ea typeface="KoPub돋움체 Bold" panose="00000800000000000000" pitchFamily="2" charset="-127"/>
              </a:rPr>
              <a:t>작은성공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latin typeface="Roboto" panose="02000000000000000000" pitchFamily="2" charset="0"/>
              <a:ea typeface="KoPub돋움체 Bold" panose="000008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81AB84-9766-7547-2D7B-7939EC10AAB3}"/>
              </a:ext>
            </a:extLst>
          </p:cNvPr>
          <p:cNvSpPr txBox="1"/>
          <p:nvPr/>
        </p:nvSpPr>
        <p:spPr>
          <a:xfrm>
            <a:off x="1157633" y="3400916"/>
            <a:ext cx="1241494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2024.06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자체 인스타그램 트래픽 확보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, 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세일즈 훈련으로 역량 향상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C28F2E-0BF2-E7E5-DCE4-61C1125E6D0F}"/>
              </a:ext>
            </a:extLst>
          </p:cNvPr>
          <p:cNvSpPr txBox="1"/>
          <p:nvPr/>
        </p:nvSpPr>
        <p:spPr>
          <a:xfrm>
            <a:off x="2474542" y="3400916"/>
            <a:ext cx="1080296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2024.03~10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강의 매출 상승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1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300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만원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 3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1.2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억</a:t>
            </a:r>
            <a:endParaRPr lang="ko-KR" altLang="en-US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C1AE0A-AF26-7BC4-3C08-00C16840E12D}"/>
              </a:ext>
            </a:extLst>
          </p:cNvPr>
          <p:cNvSpPr txBox="1"/>
          <p:nvPr/>
        </p:nvSpPr>
        <p:spPr>
          <a:xfrm>
            <a:off x="3657000" y="3400916"/>
            <a:ext cx="1188000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2025.02~06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세일즈 스피치 강화로 </a:t>
            </a:r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강의퀄리티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향상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,</a:t>
            </a:r>
          </a:p>
          <a:p>
            <a:pPr algn="ctr"/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4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~7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기까지 강의 확장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A784C8-F073-4E77-9132-2293F8ED07A5}"/>
              </a:ext>
            </a:extLst>
          </p:cNvPr>
          <p:cNvSpPr txBox="1"/>
          <p:nvPr/>
        </p:nvSpPr>
        <p:spPr>
          <a:xfrm>
            <a:off x="1184381" y="4354134"/>
            <a:ext cx="1188000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2024.05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자체 유튜브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/</a:t>
            </a:r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인스타그램으로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퍼스널 브랜딩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,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영향력 강화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0B5A2F-AA5B-04EE-02B9-6C4C77C5438B}"/>
              </a:ext>
            </a:extLst>
          </p:cNvPr>
          <p:cNvSpPr txBox="1"/>
          <p:nvPr/>
        </p:nvSpPr>
        <p:spPr>
          <a:xfrm>
            <a:off x="2571588" y="4354134"/>
            <a:ext cx="886205" cy="5847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2024.05~11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온드미디어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출연 기반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인지도 및 </a:t>
            </a:r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팬덤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확장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1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~4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F3FC8C-C2F0-D409-E08E-D39C14EFA53C}"/>
              </a:ext>
            </a:extLst>
          </p:cNvPr>
          <p:cNvSpPr txBox="1"/>
          <p:nvPr/>
        </p:nvSpPr>
        <p:spPr>
          <a:xfrm>
            <a:off x="3657000" y="4354134"/>
            <a:ext cx="1188000" cy="446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2025.01~03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강의 최고 매출 달성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1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0.97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억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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6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10.7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억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DF1F69-9FDB-F86D-743E-F980A15D828C}"/>
              </a:ext>
            </a:extLst>
          </p:cNvPr>
          <p:cNvSpPr txBox="1"/>
          <p:nvPr/>
        </p:nvSpPr>
        <p:spPr>
          <a:xfrm>
            <a:off x="1184381" y="5321088"/>
            <a:ext cx="1188000" cy="446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2025.04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자체 유튜브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/</a:t>
            </a:r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인스타그램으로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퍼스널 브랜딩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,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영향력 강화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424E782-B9E3-7779-54E4-A546F52D8802}"/>
              </a:ext>
            </a:extLst>
          </p:cNvPr>
          <p:cNvSpPr txBox="1"/>
          <p:nvPr/>
        </p:nvSpPr>
        <p:spPr>
          <a:xfrm>
            <a:off x="2555305" y="5321088"/>
            <a:ext cx="918778" cy="5847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2025.05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2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 진행 후 커리큘럼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, 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마케팅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/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세일즈</a:t>
            </a:r>
            <a:b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</a:b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대대적 </a:t>
            </a:r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리빌딩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진행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03DCD8-DDA0-5365-4A33-68503D98AEED}"/>
              </a:ext>
            </a:extLst>
          </p:cNvPr>
          <p:cNvSpPr txBox="1"/>
          <p:nvPr/>
        </p:nvSpPr>
        <p:spPr>
          <a:xfrm>
            <a:off x="3657000" y="5321088"/>
            <a:ext cx="1188000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j-lt"/>
                <a:ea typeface="KoPub돋움체 Bold" panose="00000800000000000000" pitchFamily="2" charset="-127"/>
              </a:rPr>
              <a:t>2025.06~</a:t>
            </a:r>
          </a:p>
          <a:p>
            <a:pPr algn="ctr"/>
            <a:endParaRPr lang="en-US" altLang="ko-KR" sz="2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리빌딩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 후 성공적 실적 </a:t>
            </a:r>
            <a:r>
              <a:rPr lang="ko-KR" altLang="en-US" sz="900" spc="-57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턴어라운드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  <a:p>
            <a:pPr algn="ctr"/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2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1.9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</a:rPr>
              <a:t>억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 4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기 </a:t>
            </a:r>
            <a:r>
              <a:rPr lang="en-US" altLang="ko-KR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4.7</a:t>
            </a:r>
            <a:r>
              <a:rPr lang="ko-KR" altLang="en-US" sz="9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ea typeface="KoPub돋움체 Medium" panose="00000600000000000000" pitchFamily="2" charset="-127"/>
                <a:sym typeface="Wingdings" panose="05000000000000000000" pitchFamily="2" charset="2"/>
              </a:rPr>
              <a:t>억</a:t>
            </a:r>
            <a:endParaRPr lang="en-US" altLang="ko-KR" sz="9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A1A39"/>
              </a:solidFill>
              <a:ea typeface="KoPub돋움체 Medium" panose="000006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5327C2-DE2C-DA19-9A97-D2E6F27E56D6}"/>
              </a:ext>
            </a:extLst>
          </p:cNvPr>
          <p:cNvSpPr txBox="1"/>
          <p:nvPr/>
        </p:nvSpPr>
        <p:spPr>
          <a:xfrm>
            <a:off x="1559411" y="3103971"/>
            <a:ext cx="4379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n-ea"/>
              </a:rPr>
              <a:t>강사 데뷔</a:t>
            </a:r>
            <a:endParaRPr lang="en-US" altLang="ko-KR" sz="10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1473FE-092A-326B-C972-5605A2DF9C66}"/>
              </a:ext>
            </a:extLst>
          </p:cNvPr>
          <p:cNvSpPr txBox="1"/>
          <p:nvPr/>
        </p:nvSpPr>
        <p:spPr>
          <a:xfrm>
            <a:off x="1559411" y="4068580"/>
            <a:ext cx="4379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n-ea"/>
              </a:rPr>
              <a:t>강사 데뷔</a:t>
            </a:r>
            <a:endParaRPr lang="en-US" altLang="ko-KR" sz="10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C3BEE8-37BB-018C-AD8A-84AA9E0D44F8}"/>
              </a:ext>
            </a:extLst>
          </p:cNvPr>
          <p:cNvSpPr txBox="1"/>
          <p:nvPr/>
        </p:nvSpPr>
        <p:spPr>
          <a:xfrm>
            <a:off x="1559411" y="5034150"/>
            <a:ext cx="4379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7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73653"/>
                </a:solidFill>
                <a:latin typeface="+mn-ea"/>
              </a:rPr>
              <a:t>강사 데뷔</a:t>
            </a:r>
            <a:endParaRPr lang="en-US" altLang="ko-KR" sz="1000" spc="-57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373653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92843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2" name="Picture 34" descr="강민우(돈깡) | 증권/주식투자전문가 - 교보문고">
            <a:extLst>
              <a:ext uri="{FF2B5EF4-FFF2-40B4-BE49-F238E27FC236}">
                <a16:creationId xmlns:a16="http://schemas.microsoft.com/office/drawing/2014/main" id="{1D88FAB8-31AC-4296-B897-0B0332DDCE34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2999" y="4904014"/>
            <a:ext cx="504000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철거왕 - 코주부클래스">
            <a:extLst>
              <a:ext uri="{FF2B5EF4-FFF2-40B4-BE49-F238E27FC236}">
                <a16:creationId xmlns:a16="http://schemas.microsoft.com/office/drawing/2014/main" id="{A9C8A0CE-80EA-AD5D-07F0-17EE293AC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3000" y="4184852"/>
            <a:ext cx="503436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직사각형 79">
            <a:extLst>
              <a:ext uri="{FF2B5EF4-FFF2-40B4-BE49-F238E27FC236}">
                <a16:creationId xmlns:a16="http://schemas.microsoft.com/office/drawing/2014/main" id="{68DA51FB-F253-3E4A-C299-00706C2D4809}"/>
              </a:ext>
            </a:extLst>
          </p:cNvPr>
          <p:cNvSpPr/>
          <p:nvPr/>
        </p:nvSpPr>
        <p:spPr>
          <a:xfrm>
            <a:off x="6572998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티티에이컴퍼니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pic>
        <p:nvPicPr>
          <p:cNvPr id="2068" name="Picture 20" descr="씨오xN잡연구소] 나만의 제품으로 월천만원 번 노하우 - N잡연구소">
            <a:extLst>
              <a:ext uri="{FF2B5EF4-FFF2-40B4-BE49-F238E27FC236}">
                <a16:creationId xmlns:a16="http://schemas.microsoft.com/office/drawing/2014/main" id="{55D653D3-95B6-C98B-0882-C2008362414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2998" y="2038924"/>
            <a:ext cx="504000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잰수성가 - N잡연구소">
            <a:extLst>
              <a:ext uri="{FF2B5EF4-FFF2-40B4-BE49-F238E27FC236}">
                <a16:creationId xmlns:a16="http://schemas.microsoft.com/office/drawing/2014/main" id="{31727E1F-1CDA-5B08-009C-E2B17FB78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2998" y="2762888"/>
            <a:ext cx="505613" cy="63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보부상 - N잡연구소">
            <a:extLst>
              <a:ext uri="{FF2B5EF4-FFF2-40B4-BE49-F238E27FC236}">
                <a16:creationId xmlns:a16="http://schemas.microsoft.com/office/drawing/2014/main" id="{DEBECFE4-D69A-4C62-A109-82F8AB157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2998" y="3465690"/>
            <a:ext cx="503999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홍시삼분 - YouTube">
            <a:extLst>
              <a:ext uri="{FF2B5EF4-FFF2-40B4-BE49-F238E27FC236}">
                <a16:creationId xmlns:a16="http://schemas.microsoft.com/office/drawing/2014/main" id="{0BE5AD8A-ADD2-FBAB-7917-31814558D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2998" y="4167273"/>
            <a:ext cx="503998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노바작가 - N잡연구소">
            <a:extLst>
              <a:ext uri="{FF2B5EF4-FFF2-40B4-BE49-F238E27FC236}">
                <a16:creationId xmlns:a16="http://schemas.microsoft.com/office/drawing/2014/main" id="{1ABFDE0A-7A4D-F9C8-7F4F-096EE2C45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2998" y="4867516"/>
            <a:ext cx="503998" cy="62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D92B910-B9CD-A023-F490-D2D09A4EF110}"/>
              </a:ext>
            </a:extLst>
          </p:cNvPr>
          <p:cNvPicPr preferRelativeResize="0"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2999" y="2065643"/>
            <a:ext cx="504000" cy="644400"/>
          </a:xfrm>
          <a:prstGeom prst="rect">
            <a:avLst/>
          </a:prstGeom>
        </p:spPr>
      </p:pic>
      <p:pic>
        <p:nvPicPr>
          <p:cNvPr id="2062" name="Picture 14" descr="디노의 이커머스 올인원 마스터클래스 1기 - 코주부클래스">
            <a:extLst>
              <a:ext uri="{FF2B5EF4-FFF2-40B4-BE49-F238E27FC236}">
                <a16:creationId xmlns:a16="http://schemas.microsoft.com/office/drawing/2014/main" id="{FD742241-9DFE-7C8C-84EE-1AAE1E346B4D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2999" y="3465690"/>
            <a:ext cx="504000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75B37AA-45A6-7F3B-D79F-09AFA681F6C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156" y="2065197"/>
            <a:ext cx="504000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72DAB77-85FB-73A9-5A2C-9C1061CB3FD8}"/>
              </a:ext>
            </a:extLst>
          </p:cNvPr>
          <p:cNvPicPr preferRelativeResize="0">
            <a:picLocks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5156" y="2766262"/>
            <a:ext cx="504000" cy="644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4BA5BFC-0800-79E8-41D1-08AA496401B3}"/>
              </a:ext>
            </a:extLst>
          </p:cNvPr>
          <p:cNvPicPr preferRelativeResize="0">
            <a:picLocks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156" y="4904014"/>
            <a:ext cx="504000" cy="644400"/>
          </a:xfrm>
          <a:prstGeom prst="rect">
            <a:avLst/>
          </a:prstGeom>
        </p:spPr>
      </p:pic>
      <p:pic>
        <p:nvPicPr>
          <p:cNvPr id="2052" name="Picture 4" descr="짧은재미 (@short_boxx) • Threads, Say more">
            <a:extLst>
              <a:ext uri="{FF2B5EF4-FFF2-40B4-BE49-F238E27FC236}">
                <a16:creationId xmlns:a16="http://schemas.microsoft.com/office/drawing/2014/main" id="{23B3AE52-66CE-46EE-8F69-77781C301661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156" y="3465690"/>
            <a:ext cx="504000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하지혜 | 쇼핑호스트 - 교보문고">
            <a:extLst>
              <a:ext uri="{FF2B5EF4-FFF2-40B4-BE49-F238E27FC236}">
                <a16:creationId xmlns:a16="http://schemas.microsoft.com/office/drawing/2014/main" id="{B2980C19-34EC-4AF3-35F1-141D43160F21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156" y="4184852"/>
            <a:ext cx="504000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F74AEA4-853F-680A-182F-BFC6302E18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콘텐츠 기획 </a:t>
            </a:r>
            <a:r>
              <a:rPr lang="en-US" altLang="ko-KR" dirty="0"/>
              <a:t>· </a:t>
            </a:r>
            <a:r>
              <a:rPr lang="ko-KR" altLang="en-US" dirty="0"/>
              <a:t>개발 </a:t>
            </a:r>
            <a:r>
              <a:rPr lang="en-US" altLang="ko-KR" dirty="0"/>
              <a:t>-</a:t>
            </a:r>
            <a:r>
              <a:rPr lang="ko-KR" altLang="en-US" dirty="0"/>
              <a:t> 계약 강사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F327F8-1FC3-A646-9285-4C89112B8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712F2E-98E3-EEA1-8274-C54432125E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CA33C-A175-6977-4A57-E02FCDB94651}"/>
              </a:ext>
            </a:extLst>
          </p:cNvPr>
          <p:cNvSpPr txBox="1"/>
          <p:nvPr/>
        </p:nvSpPr>
        <p:spPr>
          <a:xfrm>
            <a:off x="1030670" y="2085303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어비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콘텐츠수익화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구글 공식 </a:t>
            </a:r>
            <a:r>
              <a:rPr lang="en-US" altLang="ko-KR" sz="1000" spc="-30" dirty="0">
                <a:solidFill>
                  <a:srgbClr val="3D3D3D"/>
                </a:solidFill>
              </a:rPr>
              <a:t>GPE </a:t>
            </a:r>
            <a:r>
              <a:rPr lang="ko-KR" altLang="en-US" sz="1000" spc="-30" dirty="0">
                <a:solidFill>
                  <a:srgbClr val="3D3D3D"/>
                </a:solidFill>
              </a:rPr>
              <a:t>다이아몬드 등급 인증 보유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</a:t>
            </a:r>
            <a:r>
              <a:rPr lang="en-US" altLang="ko-KR" sz="1000" spc="-30" dirty="0">
                <a:solidFill>
                  <a:srgbClr val="3D3D3D"/>
                </a:solidFill>
              </a:rPr>
              <a:t>14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누적 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22</a:t>
            </a:r>
            <a:r>
              <a:rPr lang="ko-KR" altLang="en-US" sz="1000" spc="-30" dirty="0">
                <a:solidFill>
                  <a:srgbClr val="3D3D3D"/>
                </a:solidFill>
              </a:rPr>
              <a:t>억원 기록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1AB9F91-5F6D-6490-439A-009C34F446E2}"/>
              </a:ext>
            </a:extLst>
          </p:cNvPr>
          <p:cNvSpPr txBox="1"/>
          <p:nvPr/>
        </p:nvSpPr>
        <p:spPr>
          <a:xfrm>
            <a:off x="453090" y="5506783"/>
            <a:ext cx="2898960" cy="264837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총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42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명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DB15E65-F19C-656D-B791-9944257421C1}"/>
              </a:ext>
            </a:extLst>
          </p:cNvPr>
          <p:cNvSpPr/>
          <p:nvPr/>
        </p:nvSpPr>
        <p:spPr>
          <a:xfrm>
            <a:off x="453000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타이탄컴퍼니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6CBC1F2-A34D-A809-F3B1-B087E2DE8CC8}"/>
              </a:ext>
            </a:extLst>
          </p:cNvPr>
          <p:cNvSpPr/>
          <p:nvPr/>
        </p:nvSpPr>
        <p:spPr>
          <a:xfrm>
            <a:off x="3512999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클래스어라운드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3DF9B6C-CEFE-1937-2192-FDCE29CC619A}"/>
              </a:ext>
            </a:extLst>
          </p:cNvPr>
          <p:cNvSpPr txBox="1"/>
          <p:nvPr/>
        </p:nvSpPr>
        <p:spPr>
          <a:xfrm>
            <a:off x="1030670" y="2786439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작은성공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이커머스</a:t>
            </a:r>
            <a:r>
              <a:rPr lang="ko-KR" altLang="en-US" sz="1000" spc="-30" dirty="0">
                <a:solidFill>
                  <a:srgbClr val="3D3D3D"/>
                </a:solidFill>
              </a:rPr>
              <a:t>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 err="1">
                <a:solidFill>
                  <a:srgbClr val="3D3D3D"/>
                </a:solidFill>
              </a:rPr>
              <a:t>쿠팡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로켓그로스</a:t>
            </a:r>
            <a:r>
              <a:rPr lang="ko-KR" altLang="en-US" sz="1000" spc="-30" dirty="0">
                <a:solidFill>
                  <a:srgbClr val="3D3D3D"/>
                </a:solidFill>
              </a:rPr>
              <a:t> 전문가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</a:t>
            </a:r>
            <a:r>
              <a:rPr lang="en-US" altLang="ko-KR" sz="1000" spc="-30" dirty="0">
                <a:solidFill>
                  <a:srgbClr val="3D3D3D"/>
                </a:solidFill>
              </a:rPr>
              <a:t>11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누적 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50</a:t>
            </a:r>
            <a:r>
              <a:rPr lang="ko-KR" altLang="en-US" sz="1000" spc="-30" dirty="0">
                <a:solidFill>
                  <a:srgbClr val="3D3D3D"/>
                </a:solidFill>
              </a:rPr>
              <a:t>억원 기록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29F7342-EC89-F0B0-ACF0-287C804ACE86}"/>
              </a:ext>
            </a:extLst>
          </p:cNvPr>
          <p:cNvSpPr txBox="1"/>
          <p:nvPr/>
        </p:nvSpPr>
        <p:spPr>
          <a:xfrm>
            <a:off x="1030670" y="3487575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-3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쇼츠아재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  <a:latin typeface="Pretendard"/>
                <a:ea typeface="Pretendard"/>
              </a:rPr>
              <a:t>콘텐츠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수익화 분야</a:t>
            </a:r>
            <a:endParaRPr kumimoji="0" lang="en-US" altLang="ko-KR" sz="105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유튜브 </a:t>
            </a:r>
            <a:r>
              <a:rPr kumimoji="0" lang="ko-KR" altLang="en-US" sz="1000" b="0" i="0" u="none" strike="noStrike" kern="1200" cap="none" spc="-3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쇼츠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수익화 전문가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2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개 강의 진행으로 매출 약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25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억원 달성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1D2FFD2-05F9-A855-0E49-323FEDC62F91}"/>
              </a:ext>
            </a:extLst>
          </p:cNvPr>
          <p:cNvSpPr txBox="1"/>
          <p:nvPr/>
        </p:nvSpPr>
        <p:spPr>
          <a:xfrm>
            <a:off x="1030670" y="4188711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하지혜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이</a:t>
            </a:r>
            <a:r>
              <a:rPr lang="ko-KR" altLang="en-US" sz="1000" spc="-30" dirty="0">
                <a:solidFill>
                  <a:srgbClr val="3D3D3D"/>
                </a:solidFill>
                <a:latin typeface="Pretendard"/>
                <a:ea typeface="Pretendard"/>
              </a:rPr>
              <a:t>커머스 분야</a:t>
            </a:r>
            <a:endParaRPr kumimoji="0" lang="en-US" altLang="ko-KR" sz="105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000" spc="-30" dirty="0">
                <a:solidFill>
                  <a:srgbClr val="3D3D3D"/>
                </a:solidFill>
                <a:latin typeface="Pretendard"/>
                <a:ea typeface="Pretendard"/>
              </a:rPr>
              <a:t>MBC</a:t>
            </a:r>
            <a:r>
              <a:rPr lang="ko-KR" altLang="en-US" sz="1000" spc="-30" dirty="0">
                <a:solidFill>
                  <a:srgbClr val="3D3D3D"/>
                </a:solidFill>
                <a:latin typeface="Pretendard"/>
                <a:ea typeface="Pretendard"/>
              </a:rPr>
              <a:t> 리포터 출신 </a:t>
            </a:r>
            <a:r>
              <a:rPr lang="ko-KR" altLang="en-US" sz="1000" spc="-30" dirty="0" err="1">
                <a:solidFill>
                  <a:srgbClr val="3D3D3D"/>
                </a:solidFill>
                <a:latin typeface="Pretendard"/>
                <a:ea typeface="Pretendard"/>
              </a:rPr>
              <a:t>라이브커머스</a:t>
            </a:r>
            <a:r>
              <a:rPr lang="ko-KR" altLang="en-US" sz="1000" spc="-30" dirty="0">
                <a:solidFill>
                  <a:srgbClr val="3D3D3D"/>
                </a:solidFill>
                <a:latin typeface="Pretendard"/>
                <a:ea typeface="Pretendard"/>
              </a:rPr>
              <a:t> 전문가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000" spc="-30" dirty="0">
                <a:solidFill>
                  <a:srgbClr val="3D3D3D"/>
                </a:solidFill>
                <a:latin typeface="Pretendard"/>
                <a:ea typeface="Pretendard"/>
              </a:rPr>
              <a:t>2</a:t>
            </a:r>
            <a:r>
              <a:rPr lang="ko-KR" altLang="en-US" sz="1000" spc="-30" dirty="0">
                <a:solidFill>
                  <a:srgbClr val="3D3D3D"/>
                </a:solidFill>
                <a:latin typeface="Pretendard"/>
                <a:ea typeface="Pretendard"/>
              </a:rPr>
              <a:t>개 강의로 매출 약 </a:t>
            </a:r>
            <a:r>
              <a:rPr lang="en-US" altLang="ko-KR" sz="1000" spc="-30" dirty="0">
                <a:solidFill>
                  <a:srgbClr val="3D3D3D"/>
                </a:solidFill>
                <a:latin typeface="Pretendard"/>
                <a:ea typeface="Pretendard"/>
              </a:rPr>
              <a:t>12</a:t>
            </a:r>
            <a:r>
              <a:rPr lang="ko-KR" altLang="en-US" sz="1000" spc="-30" dirty="0">
                <a:solidFill>
                  <a:srgbClr val="3D3D3D"/>
                </a:solidFill>
                <a:latin typeface="Pretendard"/>
                <a:ea typeface="Pretendard"/>
              </a:rPr>
              <a:t>억원 달성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AD7435-7F8B-6773-27D2-A56DDD0D08A6}"/>
              </a:ext>
            </a:extLst>
          </p:cNvPr>
          <p:cNvSpPr txBox="1"/>
          <p:nvPr/>
        </p:nvSpPr>
        <p:spPr>
          <a:xfrm>
            <a:off x="1030670" y="4889848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-3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로사장</a:t>
            </a:r>
            <a:r>
              <a: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AI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디자인 분야</a:t>
            </a:r>
            <a:endParaRPr kumimoji="0" lang="en-US" altLang="ko-KR" sz="105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AI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교육 브랜드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‘1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프로 클래스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’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대표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단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1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개 강의 진행으로 약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4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억원 매출 기록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541533D-864B-AFE2-A280-887A43DD35F1}"/>
              </a:ext>
            </a:extLst>
          </p:cNvPr>
          <p:cNvSpPr txBox="1"/>
          <p:nvPr/>
        </p:nvSpPr>
        <p:spPr>
          <a:xfrm>
            <a:off x="3512999" y="5506783"/>
            <a:ext cx="2898960" cy="264837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총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33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명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0A7AF95-0980-86E4-EC74-722D782FD8F6}"/>
              </a:ext>
            </a:extLst>
          </p:cNvPr>
          <p:cNvSpPr txBox="1"/>
          <p:nvPr/>
        </p:nvSpPr>
        <p:spPr>
          <a:xfrm>
            <a:off x="4090579" y="2085303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영끌남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부동산투자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부동산 투자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임대업 전문가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</a:t>
            </a:r>
            <a:r>
              <a:rPr lang="en-US" altLang="ko-KR" sz="1000" spc="-30" dirty="0">
                <a:solidFill>
                  <a:srgbClr val="3D3D3D"/>
                </a:solidFill>
              </a:rPr>
              <a:t>6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누적 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54</a:t>
            </a:r>
            <a:r>
              <a:rPr lang="ko-KR" altLang="en-US" sz="1000" spc="-30" dirty="0">
                <a:solidFill>
                  <a:srgbClr val="3D3D3D"/>
                </a:solidFill>
              </a:rPr>
              <a:t>억원 달성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E544A06-AD94-BE69-2643-7C9B6523195F}"/>
              </a:ext>
            </a:extLst>
          </p:cNvPr>
          <p:cNvSpPr txBox="1"/>
          <p:nvPr/>
        </p:nvSpPr>
        <p:spPr>
          <a:xfrm>
            <a:off x="4090579" y="2786439"/>
            <a:ext cx="2321380" cy="5904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미큐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콘텐츠수익화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150</a:t>
            </a:r>
            <a:r>
              <a:rPr lang="ko-KR" altLang="en-US" sz="1000" spc="-30" dirty="0">
                <a:solidFill>
                  <a:srgbClr val="3D3D3D"/>
                </a:solidFill>
              </a:rPr>
              <a:t>만 구독자</a:t>
            </a:r>
            <a:r>
              <a:rPr lang="en-US" altLang="ko-KR" sz="1000" spc="-30" dirty="0">
                <a:solidFill>
                  <a:srgbClr val="3D3D3D"/>
                </a:solidFill>
              </a:rPr>
              <a:t>, 200</a:t>
            </a:r>
            <a:r>
              <a:rPr lang="ko-KR" altLang="en-US" sz="1000" spc="-30" dirty="0">
                <a:solidFill>
                  <a:srgbClr val="3D3D3D"/>
                </a:solidFill>
              </a:rPr>
              <a:t>개 채널 운영 경험 전문가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2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 진행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약 </a:t>
            </a:r>
            <a:r>
              <a:rPr lang="en-US" altLang="ko-KR" sz="1000" spc="-30" dirty="0">
                <a:solidFill>
                  <a:srgbClr val="3D3D3D"/>
                </a:solidFill>
              </a:rPr>
              <a:t>20</a:t>
            </a:r>
            <a:r>
              <a:rPr lang="ko-KR" altLang="en-US" sz="1000" spc="-30" dirty="0">
                <a:solidFill>
                  <a:srgbClr val="3D3D3D"/>
                </a:solidFill>
              </a:rPr>
              <a:t>억원 매출 기록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A4B78D3-6FF4-0025-2DA7-E1453F5D2E19}"/>
              </a:ext>
            </a:extLst>
          </p:cNvPr>
          <p:cNvSpPr txBox="1"/>
          <p:nvPr/>
        </p:nvSpPr>
        <p:spPr>
          <a:xfrm>
            <a:off x="4090579" y="3487575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디노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이커머스</a:t>
            </a:r>
            <a:r>
              <a:rPr lang="ko-KR" altLang="en-US" sz="1000" spc="-30" dirty="0">
                <a:solidFill>
                  <a:srgbClr val="3D3D3D"/>
                </a:solidFill>
              </a:rPr>
              <a:t>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 err="1">
                <a:solidFill>
                  <a:srgbClr val="3D3D3D"/>
                </a:solidFill>
              </a:rPr>
              <a:t>쿠팡로켓그로스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/ </a:t>
            </a:r>
            <a:r>
              <a:rPr lang="ko-KR" altLang="en-US" sz="1000" spc="-30" dirty="0">
                <a:solidFill>
                  <a:srgbClr val="3D3D3D"/>
                </a:solidFill>
              </a:rPr>
              <a:t>해외구매대행 전문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</a:t>
            </a:r>
            <a:r>
              <a:rPr lang="en-US" altLang="ko-KR" sz="1000" spc="-30" dirty="0">
                <a:solidFill>
                  <a:srgbClr val="3D3D3D"/>
                </a:solidFill>
              </a:rPr>
              <a:t>4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 진행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20</a:t>
            </a:r>
            <a:r>
              <a:rPr lang="ko-KR" altLang="en-US" sz="1000" spc="-30" dirty="0">
                <a:solidFill>
                  <a:srgbClr val="3D3D3D"/>
                </a:solidFill>
              </a:rPr>
              <a:t>억원 달성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32ADCF7-BEC8-7125-8621-890728ECE039}"/>
              </a:ext>
            </a:extLst>
          </p:cNvPr>
          <p:cNvSpPr txBox="1"/>
          <p:nvPr/>
        </p:nvSpPr>
        <p:spPr>
          <a:xfrm>
            <a:off x="4090579" y="4188711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철거왕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마케팅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마케팅 기반 철거 중개 전문가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</a:t>
            </a:r>
            <a:r>
              <a:rPr lang="en-US" altLang="ko-KR" sz="1000" spc="-30" dirty="0">
                <a:solidFill>
                  <a:srgbClr val="3D3D3D"/>
                </a:solidFill>
              </a:rPr>
              <a:t>3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 진행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8</a:t>
            </a:r>
            <a:r>
              <a:rPr lang="ko-KR" altLang="en-US" sz="1000" spc="-30" dirty="0">
                <a:solidFill>
                  <a:srgbClr val="3D3D3D"/>
                </a:solidFill>
              </a:rPr>
              <a:t>억원 기록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00AAFDA-050A-3387-4700-392D53526638}"/>
              </a:ext>
            </a:extLst>
          </p:cNvPr>
          <p:cNvSpPr txBox="1"/>
          <p:nvPr/>
        </p:nvSpPr>
        <p:spPr>
          <a:xfrm>
            <a:off x="4090579" y="4889848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돈깡</a:t>
            </a:r>
            <a:r>
              <a:rPr lang="ko-KR" altLang="en-US" sz="1050" spc="-30" dirty="0">
                <a:solidFill>
                  <a:srgbClr val="3D3D3D"/>
                </a:solidFill>
              </a:rPr>
              <a:t> 주식</a:t>
            </a:r>
            <a:r>
              <a:rPr lang="ko-KR" altLang="en-US" sz="1000" spc="-30" dirty="0">
                <a:solidFill>
                  <a:srgbClr val="3D3D3D"/>
                </a:solidFill>
              </a:rPr>
              <a:t>투자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전업 주식 투자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유튜버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구독자 </a:t>
            </a:r>
            <a:r>
              <a:rPr lang="en-US" altLang="ko-KR" sz="1000" spc="-30" dirty="0">
                <a:solidFill>
                  <a:srgbClr val="3D3D3D"/>
                </a:solidFill>
              </a:rPr>
              <a:t>58</a:t>
            </a:r>
            <a:r>
              <a:rPr lang="ko-KR" altLang="en-US" sz="1000" spc="-30" dirty="0">
                <a:solidFill>
                  <a:srgbClr val="3D3D3D"/>
                </a:solidFill>
              </a:rPr>
              <a:t>만명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강의 </a:t>
            </a:r>
            <a:r>
              <a:rPr lang="en-US" altLang="ko-KR" sz="1000" spc="-30" dirty="0">
                <a:solidFill>
                  <a:srgbClr val="3D3D3D"/>
                </a:solidFill>
              </a:rPr>
              <a:t>3</a:t>
            </a:r>
            <a:r>
              <a:rPr lang="ko-KR" altLang="en-US" sz="1000" spc="-30" dirty="0">
                <a:solidFill>
                  <a:srgbClr val="3D3D3D"/>
                </a:solidFill>
              </a:rPr>
              <a:t>개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12</a:t>
            </a:r>
            <a:r>
              <a:rPr lang="ko-KR" altLang="en-US" sz="1000" spc="-30" dirty="0">
                <a:solidFill>
                  <a:srgbClr val="3D3D3D"/>
                </a:solidFill>
              </a:rPr>
              <a:t>억원 달성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44CC578-0C5B-1B1E-59E9-C0A8AD2C1A2B}"/>
              </a:ext>
            </a:extLst>
          </p:cNvPr>
          <p:cNvSpPr txBox="1"/>
          <p:nvPr/>
        </p:nvSpPr>
        <p:spPr>
          <a:xfrm>
            <a:off x="7151140" y="2085303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씨오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이커머스</a:t>
            </a:r>
            <a:r>
              <a:rPr lang="ko-KR" altLang="en-US" sz="1000" spc="-30" dirty="0">
                <a:solidFill>
                  <a:srgbClr val="3D3D3D"/>
                </a:solidFill>
              </a:rPr>
              <a:t>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브랜드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중국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사입</a:t>
            </a:r>
            <a:r>
              <a:rPr lang="ko-KR" altLang="en-US" sz="1000" spc="-30" dirty="0">
                <a:solidFill>
                  <a:srgbClr val="3D3D3D"/>
                </a:solidFill>
              </a:rPr>
              <a:t> 전문가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</a:t>
            </a:r>
            <a:r>
              <a:rPr lang="en-US" altLang="ko-KR" sz="1000" spc="-30" dirty="0">
                <a:solidFill>
                  <a:srgbClr val="3D3D3D"/>
                </a:solidFill>
              </a:rPr>
              <a:t>2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 진행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5</a:t>
            </a:r>
            <a:r>
              <a:rPr lang="ko-KR" altLang="en-US" sz="1000" spc="-30" dirty="0">
                <a:solidFill>
                  <a:srgbClr val="3D3D3D"/>
                </a:solidFill>
              </a:rPr>
              <a:t>억원 기록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99F04E5-2205-2687-3567-6ABD0A54EDB0}"/>
              </a:ext>
            </a:extLst>
          </p:cNvPr>
          <p:cNvSpPr txBox="1"/>
          <p:nvPr/>
        </p:nvSpPr>
        <p:spPr>
          <a:xfrm>
            <a:off x="7151140" y="2786439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잰수성가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이커머스</a:t>
            </a:r>
            <a:r>
              <a:rPr lang="ko-KR" altLang="en-US" sz="1000" spc="-30" dirty="0">
                <a:solidFill>
                  <a:srgbClr val="3D3D3D"/>
                </a:solidFill>
              </a:rPr>
              <a:t>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공동구매 중개 전문가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</a:t>
            </a:r>
            <a:r>
              <a:rPr lang="en-US" altLang="ko-KR" sz="1000" spc="-30" dirty="0">
                <a:solidFill>
                  <a:srgbClr val="3D3D3D"/>
                </a:solidFill>
              </a:rPr>
              <a:t>2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 진행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6.6</a:t>
            </a:r>
            <a:r>
              <a:rPr lang="ko-KR" altLang="en-US" sz="1000" spc="-30" dirty="0">
                <a:solidFill>
                  <a:srgbClr val="3D3D3D"/>
                </a:solidFill>
              </a:rPr>
              <a:t>억원 달성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FDB2C0C-94EE-F620-F198-792CAC830EC9}"/>
              </a:ext>
            </a:extLst>
          </p:cNvPr>
          <p:cNvSpPr txBox="1"/>
          <p:nvPr/>
        </p:nvSpPr>
        <p:spPr>
          <a:xfrm>
            <a:off x="7151140" y="3487575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>
                <a:solidFill>
                  <a:srgbClr val="3D3D3D"/>
                </a:solidFill>
              </a:rPr>
              <a:t>보부상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이커머스</a:t>
            </a:r>
            <a:r>
              <a:rPr lang="ko-KR" altLang="en-US" sz="1000" spc="-30" dirty="0">
                <a:solidFill>
                  <a:srgbClr val="3D3D3D"/>
                </a:solidFill>
              </a:rPr>
              <a:t>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건강식품 온라인 쇼핑몰 창업 전문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누적 </a:t>
            </a:r>
            <a:r>
              <a:rPr lang="en-US" altLang="ko-KR" sz="1000" spc="-30" dirty="0">
                <a:solidFill>
                  <a:srgbClr val="3D3D3D"/>
                </a:solidFill>
              </a:rPr>
              <a:t>2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 진행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3</a:t>
            </a:r>
            <a:r>
              <a:rPr lang="ko-KR" altLang="en-US" sz="1000" spc="-30" dirty="0">
                <a:solidFill>
                  <a:srgbClr val="3D3D3D"/>
                </a:solidFill>
              </a:rPr>
              <a:t>억원 달성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BB905F9-B34B-7152-59B1-395235FD5FD1}"/>
              </a:ext>
            </a:extLst>
          </p:cNvPr>
          <p:cNvSpPr txBox="1"/>
          <p:nvPr/>
        </p:nvSpPr>
        <p:spPr>
          <a:xfrm>
            <a:off x="7151140" y="4188711"/>
            <a:ext cx="2321380" cy="6074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>
                <a:solidFill>
                  <a:srgbClr val="3D3D3D"/>
                </a:solidFill>
              </a:rPr>
              <a:t>홍시삼분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이커머스</a:t>
            </a:r>
            <a:r>
              <a:rPr lang="ko-KR" altLang="en-US" sz="1000" spc="-30" dirty="0">
                <a:solidFill>
                  <a:srgbClr val="3D3D3D"/>
                </a:solidFill>
              </a:rPr>
              <a:t>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해외구매대행 전문가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1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강의로 매출 약 </a:t>
            </a:r>
            <a:r>
              <a:rPr lang="en-US" altLang="ko-KR" sz="1000" spc="-30" dirty="0">
                <a:solidFill>
                  <a:srgbClr val="3D3D3D"/>
                </a:solidFill>
              </a:rPr>
              <a:t>4</a:t>
            </a:r>
            <a:r>
              <a:rPr lang="ko-KR" altLang="en-US" sz="1000" spc="-30" dirty="0">
                <a:solidFill>
                  <a:srgbClr val="3D3D3D"/>
                </a:solidFill>
              </a:rPr>
              <a:t>억원 창출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174EF0A-198D-7E77-F123-0FDD53AE2CCE}"/>
              </a:ext>
            </a:extLst>
          </p:cNvPr>
          <p:cNvSpPr txBox="1"/>
          <p:nvPr/>
        </p:nvSpPr>
        <p:spPr>
          <a:xfrm>
            <a:off x="7151140" y="4889848"/>
            <a:ext cx="2321380" cy="5904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b="1" spc="-30" dirty="0" err="1">
                <a:solidFill>
                  <a:srgbClr val="3D3D3D"/>
                </a:solidFill>
              </a:rPr>
              <a:t>노바작가</a:t>
            </a:r>
            <a:r>
              <a:rPr lang="ko-KR" altLang="en-US" sz="105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콘텐츠수익화 분야</a:t>
            </a:r>
            <a:endParaRPr lang="en-US" altLang="ko-KR" sz="105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유튜브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쇼츠</a:t>
            </a:r>
            <a:r>
              <a:rPr lang="ko-KR" altLang="en-US" sz="1000" spc="-30" dirty="0">
                <a:solidFill>
                  <a:srgbClr val="3D3D3D"/>
                </a:solidFill>
              </a:rPr>
              <a:t> 채널 </a:t>
            </a:r>
            <a:r>
              <a:rPr lang="en-US" altLang="ko-KR" sz="1000" spc="-30" dirty="0">
                <a:solidFill>
                  <a:srgbClr val="3D3D3D"/>
                </a:solidFill>
              </a:rPr>
              <a:t>‘</a:t>
            </a:r>
            <a:r>
              <a:rPr lang="ko-KR" altLang="en-US" sz="1000" spc="-30" dirty="0">
                <a:solidFill>
                  <a:srgbClr val="3D3D3D"/>
                </a:solidFill>
              </a:rPr>
              <a:t>서로</a:t>
            </a:r>
            <a:r>
              <a:rPr lang="en-US" altLang="ko-KR" sz="1000" spc="-30" dirty="0">
                <a:solidFill>
                  <a:srgbClr val="3D3D3D"/>
                </a:solidFill>
              </a:rPr>
              <a:t>Sang’, ‘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두부전</a:t>
            </a:r>
            <a:r>
              <a:rPr lang="en-US" altLang="ko-KR" sz="1000" spc="-30" dirty="0">
                <a:solidFill>
                  <a:srgbClr val="3D3D3D"/>
                </a:solidFill>
              </a:rPr>
              <a:t>’ </a:t>
            </a:r>
            <a:r>
              <a:rPr lang="ko-KR" altLang="en-US" sz="1000" spc="-30" dirty="0">
                <a:solidFill>
                  <a:srgbClr val="3D3D3D"/>
                </a:solidFill>
              </a:rPr>
              <a:t>운영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1</a:t>
            </a:r>
            <a:r>
              <a:rPr lang="ko-KR" altLang="en-US" sz="1000" spc="-30" dirty="0">
                <a:solidFill>
                  <a:srgbClr val="3D3D3D"/>
                </a:solidFill>
              </a:rPr>
              <a:t>개 강의로 약 </a:t>
            </a:r>
            <a:r>
              <a:rPr lang="en-US" altLang="ko-KR" sz="1000" spc="-30" dirty="0">
                <a:solidFill>
                  <a:srgbClr val="3D3D3D"/>
                </a:solidFill>
              </a:rPr>
              <a:t>7</a:t>
            </a:r>
            <a:r>
              <a:rPr lang="ko-KR" altLang="en-US" sz="1000" spc="-30" dirty="0">
                <a:solidFill>
                  <a:srgbClr val="3D3D3D"/>
                </a:solidFill>
              </a:rPr>
              <a:t>억원 매출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대흥행</a:t>
            </a:r>
            <a:r>
              <a:rPr lang="ko-KR" altLang="en-US" sz="1000" spc="-30" dirty="0">
                <a:solidFill>
                  <a:srgbClr val="3D3D3D"/>
                </a:solidFill>
              </a:rPr>
              <a:t> 성공</a:t>
            </a:r>
            <a:endParaRPr lang="en-US" altLang="ko-KR" sz="1000" spc="-30" dirty="0">
              <a:solidFill>
                <a:srgbClr val="3D3D3D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2DFE518-F44B-E3B6-119B-1FC2C5A7AFAC}"/>
              </a:ext>
            </a:extLst>
          </p:cNvPr>
          <p:cNvSpPr txBox="1"/>
          <p:nvPr/>
        </p:nvSpPr>
        <p:spPr>
          <a:xfrm>
            <a:off x="6572256" y="5506783"/>
            <a:ext cx="2884938" cy="264837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총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14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A1A39"/>
                </a:solidFill>
                <a:latin typeface="+mj-lt"/>
                <a:ea typeface="KoPub돋움체 Bold" panose="00000800000000000000" pitchFamily="2" charset="-127"/>
              </a:rPr>
              <a:t>명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2E29AF4-79BC-CA8F-F4DC-03ACCDE88E6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기획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브랜딩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육성 역량을 기반으로 스타 강사부터 잠재력 높은 신인 강사까지 폭넓게 확보하고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단 한 번의 계약 이탈도 없이 강사 포트폴리오를 안정적으로 확장하고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pic>
        <p:nvPicPr>
          <p:cNvPr id="2078" name="Picture 30" descr="AI 미큐 - 코주부클래스">
            <a:extLst>
              <a:ext uri="{FF2B5EF4-FFF2-40B4-BE49-F238E27FC236}">
                <a16:creationId xmlns:a16="http://schemas.microsoft.com/office/drawing/2014/main" id="{D6A0A288-22B4-E9BE-211A-405A07D7D1D7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6060" y="2766262"/>
            <a:ext cx="504000" cy="64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9714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0A65D9C-DB9E-F404-D10F-58DA1B133D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콘텐츠 기획 </a:t>
            </a:r>
            <a:r>
              <a:rPr lang="en-US" altLang="ko-KR" dirty="0"/>
              <a:t>· </a:t>
            </a:r>
            <a:r>
              <a:rPr lang="ko-KR" altLang="en-US" dirty="0"/>
              <a:t>개발 </a:t>
            </a:r>
            <a:r>
              <a:rPr lang="en-US" altLang="ko-KR" dirty="0"/>
              <a:t>-</a:t>
            </a:r>
            <a:r>
              <a:rPr lang="ko-KR" altLang="en-US" dirty="0"/>
              <a:t> 강사 계약구조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C6E550-E7EB-493A-8382-E02DB87E9F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774E6-8347-2D1C-97BB-4057EC5A57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058CB-D402-ECEC-E280-BE500CABC20B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강사가 큰 자본 없이 안정적으로 수익을 만들고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회사는 과도한 마케팅 리스크 없이 성과를 높일 수 있는 구조적 </a:t>
            </a:r>
            <a:r>
              <a:rPr lang="en-US" altLang="ko-KR" sz="1400" b="1" dirty="0">
                <a:solidFill>
                  <a:srgbClr val="3D3D3D"/>
                </a:solidFill>
              </a:rPr>
              <a:t>Win-Win </a:t>
            </a:r>
            <a:r>
              <a:rPr lang="ko-KR" altLang="en-US" sz="1400" b="1" dirty="0">
                <a:solidFill>
                  <a:srgbClr val="3D3D3D"/>
                </a:solidFill>
              </a:rPr>
              <a:t>계약 모델로의 전환을 추진하고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  <a:r>
              <a:rPr lang="ko-KR" altLang="en-US" sz="1400" b="1" dirty="0">
                <a:solidFill>
                  <a:srgbClr val="3D3D3D"/>
                </a:solidFill>
              </a:rPr>
              <a:t>강사와 플랫폼 모두가 같은 방향으로 성장할 수 있도록 설계된 지속가능한 구조입니다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34DD278-57C8-33FA-53A7-3153CB052341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As-is :  </a:t>
            </a:r>
            <a:r>
              <a:rPr lang="ko-KR" altLang="en-US" sz="1200" b="1" dirty="0">
                <a:solidFill>
                  <a:schemeClr val="bg1"/>
                </a:solidFill>
              </a:rPr>
              <a:t>시장 선점을 위한 공격적인 계약구조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FEB45E2-2EC0-8828-8A82-8C643FF1FABE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To-be : TITAN – </a:t>
            </a:r>
            <a:r>
              <a:rPr lang="ko-KR" altLang="en-US" sz="1200" b="1" dirty="0">
                <a:solidFill>
                  <a:schemeClr val="bg1"/>
                </a:solidFill>
              </a:rPr>
              <a:t>강사 모두 </a:t>
            </a:r>
            <a:r>
              <a:rPr lang="en-US" altLang="ko-KR" sz="1200" b="1" dirty="0">
                <a:solidFill>
                  <a:schemeClr val="bg1"/>
                </a:solidFill>
              </a:rPr>
              <a:t>Win-Win </a:t>
            </a:r>
            <a:r>
              <a:rPr lang="ko-KR" altLang="en-US" sz="1200" b="1" dirty="0">
                <a:solidFill>
                  <a:schemeClr val="bg1"/>
                </a:solidFill>
              </a:rPr>
              <a:t>이 가능한 계약구조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5" name="사다리꼴 64">
            <a:extLst>
              <a:ext uri="{FF2B5EF4-FFF2-40B4-BE49-F238E27FC236}">
                <a16:creationId xmlns:a16="http://schemas.microsoft.com/office/drawing/2014/main" id="{A46B36BB-1976-FB5D-3794-3F862719DBF4}"/>
              </a:ext>
            </a:extLst>
          </p:cNvPr>
          <p:cNvSpPr/>
          <p:nvPr/>
        </p:nvSpPr>
        <p:spPr>
          <a:xfrm rot="5400000">
            <a:off x="3542920" y="3806689"/>
            <a:ext cx="2895846" cy="216513"/>
          </a:xfrm>
          <a:prstGeom prst="trapezoid">
            <a:avLst>
              <a:gd name="adj" fmla="val 66874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err="1">
              <a:solidFill>
                <a:schemeClr val="tx2">
                  <a:lumMod val="50000"/>
                </a:schemeClr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6" name="직사각형 51">
            <a:extLst>
              <a:ext uri="{FF2B5EF4-FFF2-40B4-BE49-F238E27FC236}">
                <a16:creationId xmlns:a16="http://schemas.microsoft.com/office/drawing/2014/main" id="{3F125E84-411C-CAB2-470E-24B883D34A0F}"/>
              </a:ext>
            </a:extLst>
          </p:cNvPr>
          <p:cNvSpPr/>
          <p:nvPr/>
        </p:nvSpPr>
        <p:spPr>
          <a:xfrm>
            <a:off x="929885" y="3429000"/>
            <a:ext cx="1284971" cy="44291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TITAN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67" name="직사각형 38">
            <a:extLst>
              <a:ext uri="{FF2B5EF4-FFF2-40B4-BE49-F238E27FC236}">
                <a16:creationId xmlns:a16="http://schemas.microsoft.com/office/drawing/2014/main" id="{1094A056-C77B-73BC-F93E-3FC0A1D14B50}"/>
              </a:ext>
            </a:extLst>
          </p:cNvPr>
          <p:cNvSpPr/>
          <p:nvPr/>
        </p:nvSpPr>
        <p:spPr>
          <a:xfrm>
            <a:off x="929885" y="2270072"/>
            <a:ext cx="1284971" cy="432000"/>
          </a:xfrm>
          <a:prstGeom prst="rect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강사</a:t>
            </a:r>
          </a:p>
        </p:txBody>
      </p:sp>
      <p:sp>
        <p:nvSpPr>
          <p:cNvPr id="9" name="직사각형 51">
            <a:extLst>
              <a:ext uri="{FF2B5EF4-FFF2-40B4-BE49-F238E27FC236}">
                <a16:creationId xmlns:a16="http://schemas.microsoft.com/office/drawing/2014/main" id="{2F790A98-B0E8-75B0-C24C-4EF827EB241E}"/>
              </a:ext>
            </a:extLst>
          </p:cNvPr>
          <p:cNvSpPr/>
          <p:nvPr/>
        </p:nvSpPr>
        <p:spPr>
          <a:xfrm>
            <a:off x="929885" y="4616620"/>
            <a:ext cx="1284971" cy="442910"/>
          </a:xfrm>
          <a:prstGeom prst="rect">
            <a:avLst/>
          </a:prstGeom>
          <a:solidFill>
            <a:srgbClr val="B2DAFF"/>
          </a:solidFill>
          <a:ln w="6350">
            <a:solidFill>
              <a:srgbClr val="B2DA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rgbClr val="0A1A39"/>
                </a:solidFill>
              </a:rPr>
              <a:t>마케팅 채널</a:t>
            </a:r>
            <a:br>
              <a:rPr lang="en-US" altLang="ko-KR" sz="1100" b="1" dirty="0">
                <a:solidFill>
                  <a:srgbClr val="0A1A39"/>
                </a:solidFill>
              </a:rPr>
            </a:br>
            <a:r>
              <a:rPr lang="en-US" altLang="ko-KR" sz="900" b="1" dirty="0">
                <a:solidFill>
                  <a:srgbClr val="0A1A39"/>
                </a:solidFill>
              </a:rPr>
              <a:t>(SNS/</a:t>
            </a:r>
            <a:r>
              <a:rPr lang="ko-KR" altLang="en-US" sz="900" b="1" dirty="0">
                <a:solidFill>
                  <a:srgbClr val="0A1A39"/>
                </a:solidFill>
              </a:rPr>
              <a:t>유튜브 등</a:t>
            </a:r>
            <a:r>
              <a:rPr lang="en-US" altLang="ko-KR" sz="900" b="1" dirty="0">
                <a:solidFill>
                  <a:srgbClr val="0A1A39"/>
                </a:solidFill>
              </a:rPr>
              <a:t>)</a:t>
            </a:r>
            <a:endParaRPr lang="ko-KR" altLang="en-US" sz="1100" b="1" dirty="0">
              <a:solidFill>
                <a:srgbClr val="0A1A39"/>
              </a:solidFill>
            </a:endParaRPr>
          </a:p>
        </p:txBody>
      </p:sp>
      <p:sp>
        <p:nvSpPr>
          <p:cNvPr id="11" name="직사각형 51">
            <a:extLst>
              <a:ext uri="{FF2B5EF4-FFF2-40B4-BE49-F238E27FC236}">
                <a16:creationId xmlns:a16="http://schemas.microsoft.com/office/drawing/2014/main" id="{9F2BFD99-C146-552D-A823-8CB02560BC3E}"/>
              </a:ext>
            </a:extLst>
          </p:cNvPr>
          <p:cNvSpPr/>
          <p:nvPr/>
        </p:nvSpPr>
        <p:spPr>
          <a:xfrm>
            <a:off x="3242314" y="3429000"/>
            <a:ext cx="1284971" cy="442910"/>
          </a:xfrm>
          <a:prstGeom prst="rect">
            <a:avLst/>
          </a:prstGeom>
          <a:solidFill>
            <a:srgbClr val="2A5FA3"/>
          </a:solidFill>
          <a:ln w="6350">
            <a:solidFill>
              <a:srgbClr val="2A5FA3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수강생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7E82A73-4E66-9320-A5DB-BFF92F3EBE21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>
            <a:off x="1572371" y="2702072"/>
            <a:ext cx="0" cy="726928"/>
          </a:xfrm>
          <a:prstGeom prst="straightConnector1">
            <a:avLst/>
          </a:prstGeom>
          <a:ln w="6350">
            <a:solidFill>
              <a:srgbClr val="3D3D3D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BA45767-8EEB-646E-AF47-B77093EBE5FD}"/>
              </a:ext>
            </a:extLst>
          </p:cNvPr>
          <p:cNvCxnSpPr>
            <a:cxnSpLocks/>
            <a:stCxn id="66" idx="2"/>
            <a:endCxn id="9" idx="0"/>
          </p:cNvCxnSpPr>
          <p:nvPr/>
        </p:nvCxnSpPr>
        <p:spPr>
          <a:xfrm>
            <a:off x="1572371" y="3871910"/>
            <a:ext cx="0" cy="744710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553B80B-BA96-49A0-871D-1808D6AF480B}"/>
              </a:ext>
            </a:extLst>
          </p:cNvPr>
          <p:cNvCxnSpPr>
            <a:cxnSpLocks/>
          </p:cNvCxnSpPr>
          <p:nvPr/>
        </p:nvCxnSpPr>
        <p:spPr>
          <a:xfrm flipH="1">
            <a:off x="2214856" y="3580713"/>
            <a:ext cx="1027458" cy="0"/>
          </a:xfrm>
          <a:prstGeom prst="straightConnector1">
            <a:avLst/>
          </a:prstGeom>
          <a:ln w="6350">
            <a:solidFill>
              <a:srgbClr val="3D3D3D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7A97B1E-0DA6-A1C5-A00D-4A8AD8CEC998}"/>
              </a:ext>
            </a:extLst>
          </p:cNvPr>
          <p:cNvCxnSpPr>
            <a:cxnSpLocks/>
          </p:cNvCxnSpPr>
          <p:nvPr/>
        </p:nvCxnSpPr>
        <p:spPr>
          <a:xfrm flipH="1">
            <a:off x="2214856" y="3727946"/>
            <a:ext cx="1027458" cy="0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1027B3-EDCA-CF85-F58F-A76C752A3B3B}"/>
              </a:ext>
            </a:extLst>
          </p:cNvPr>
          <p:cNvSpPr txBox="1"/>
          <p:nvPr/>
        </p:nvSpPr>
        <p:spPr>
          <a:xfrm>
            <a:off x="950780" y="2918220"/>
            <a:ext cx="522580" cy="2946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수익분배</a:t>
            </a:r>
            <a:br>
              <a:rPr lang="en-US" altLang="ko-KR" sz="900" dirty="0">
                <a:solidFill>
                  <a:srgbClr val="3D3D3D"/>
                </a:solidFill>
              </a:rPr>
            </a:br>
            <a:r>
              <a:rPr lang="en-US" altLang="ko-KR" sz="900" dirty="0">
                <a:solidFill>
                  <a:srgbClr val="3D3D3D"/>
                </a:solidFill>
              </a:rPr>
              <a:t>(50~70%)</a:t>
            </a:r>
            <a:endParaRPr lang="ko-KR" altLang="en-US" sz="900" dirty="0">
              <a:solidFill>
                <a:srgbClr val="3D3D3D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3A9307-B976-AD5B-5AAE-190A0A0BA64D}"/>
              </a:ext>
            </a:extLst>
          </p:cNvPr>
          <p:cNvSpPr txBox="1"/>
          <p:nvPr/>
        </p:nvSpPr>
        <p:spPr>
          <a:xfrm>
            <a:off x="1638205" y="4173123"/>
            <a:ext cx="525785" cy="2946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광고비 집행</a:t>
            </a:r>
            <a:br>
              <a:rPr lang="en-US" altLang="ko-KR" sz="900" dirty="0">
                <a:solidFill>
                  <a:srgbClr val="3D3D3D"/>
                </a:solidFill>
              </a:rPr>
            </a:br>
            <a:r>
              <a:rPr lang="en-US" altLang="ko-KR" sz="900" dirty="0">
                <a:solidFill>
                  <a:srgbClr val="3D3D3D"/>
                </a:solidFill>
              </a:rPr>
              <a:t>(100%)</a:t>
            </a:r>
            <a:endParaRPr lang="ko-KR" altLang="en-US" sz="900" dirty="0">
              <a:solidFill>
                <a:srgbClr val="3D3D3D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0976EC-A28C-AA4D-B67A-33A7B04A89DF}"/>
              </a:ext>
            </a:extLst>
          </p:cNvPr>
          <p:cNvSpPr txBox="1"/>
          <p:nvPr/>
        </p:nvSpPr>
        <p:spPr>
          <a:xfrm>
            <a:off x="2525997" y="3390935"/>
            <a:ext cx="397546" cy="1422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강의제공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942B8A-EB73-4463-9449-F010AEEE0F4F}"/>
              </a:ext>
            </a:extLst>
          </p:cNvPr>
          <p:cNvSpPr txBox="1"/>
          <p:nvPr/>
        </p:nvSpPr>
        <p:spPr>
          <a:xfrm>
            <a:off x="2461878" y="3772662"/>
            <a:ext cx="525785" cy="1422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>
                <a:solidFill>
                  <a:srgbClr val="3D3D3D"/>
                </a:solidFill>
              </a:rPr>
              <a:t>수강료 지불</a:t>
            </a:r>
            <a:endParaRPr lang="ko-KR" altLang="en-US" sz="900" dirty="0">
              <a:solidFill>
                <a:srgbClr val="3D3D3D"/>
              </a:solidFill>
            </a:endParaRPr>
          </a:p>
        </p:txBody>
      </p:sp>
      <p:sp>
        <p:nvSpPr>
          <p:cNvPr id="27" name="직사각형 51">
            <a:extLst>
              <a:ext uri="{FF2B5EF4-FFF2-40B4-BE49-F238E27FC236}">
                <a16:creationId xmlns:a16="http://schemas.microsoft.com/office/drawing/2014/main" id="{8919130A-E5B3-8C01-811F-3B7A2DAE9D9C}"/>
              </a:ext>
            </a:extLst>
          </p:cNvPr>
          <p:cNvSpPr/>
          <p:nvPr/>
        </p:nvSpPr>
        <p:spPr>
          <a:xfrm>
            <a:off x="5525070" y="3429000"/>
            <a:ext cx="1284971" cy="44291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TITAN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28" name="직사각형 38">
            <a:extLst>
              <a:ext uri="{FF2B5EF4-FFF2-40B4-BE49-F238E27FC236}">
                <a16:creationId xmlns:a16="http://schemas.microsoft.com/office/drawing/2014/main" id="{871D647F-B6DB-D27C-3B2D-EF6D2B30900F}"/>
              </a:ext>
            </a:extLst>
          </p:cNvPr>
          <p:cNvSpPr/>
          <p:nvPr/>
        </p:nvSpPr>
        <p:spPr>
          <a:xfrm>
            <a:off x="5525070" y="2270072"/>
            <a:ext cx="1284971" cy="432000"/>
          </a:xfrm>
          <a:prstGeom prst="rect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강사</a:t>
            </a:r>
          </a:p>
        </p:txBody>
      </p:sp>
      <p:sp>
        <p:nvSpPr>
          <p:cNvPr id="29" name="직사각형 51">
            <a:extLst>
              <a:ext uri="{FF2B5EF4-FFF2-40B4-BE49-F238E27FC236}">
                <a16:creationId xmlns:a16="http://schemas.microsoft.com/office/drawing/2014/main" id="{7B3D84A1-4B7B-73FC-9B4A-15B90E266F6C}"/>
              </a:ext>
            </a:extLst>
          </p:cNvPr>
          <p:cNvSpPr/>
          <p:nvPr/>
        </p:nvSpPr>
        <p:spPr>
          <a:xfrm>
            <a:off x="5525070" y="4616620"/>
            <a:ext cx="1284971" cy="442910"/>
          </a:xfrm>
          <a:prstGeom prst="rect">
            <a:avLst/>
          </a:prstGeom>
          <a:solidFill>
            <a:srgbClr val="B2DAFF"/>
          </a:solidFill>
          <a:ln w="6350">
            <a:solidFill>
              <a:srgbClr val="B2DA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rgbClr val="0A1A39"/>
                </a:solidFill>
              </a:rPr>
              <a:t>마케팅 채널</a:t>
            </a:r>
            <a:br>
              <a:rPr lang="en-US" altLang="ko-KR" sz="1100" b="1" dirty="0">
                <a:solidFill>
                  <a:srgbClr val="0A1A39"/>
                </a:solidFill>
              </a:rPr>
            </a:br>
            <a:r>
              <a:rPr lang="en-US" altLang="ko-KR" sz="900" b="1" dirty="0">
                <a:solidFill>
                  <a:srgbClr val="0A1A39"/>
                </a:solidFill>
              </a:rPr>
              <a:t>(SNS/</a:t>
            </a:r>
            <a:r>
              <a:rPr lang="ko-KR" altLang="en-US" sz="900" b="1" dirty="0">
                <a:solidFill>
                  <a:srgbClr val="0A1A39"/>
                </a:solidFill>
              </a:rPr>
              <a:t>유튜브 등</a:t>
            </a:r>
            <a:r>
              <a:rPr lang="en-US" altLang="ko-KR" sz="900" b="1" dirty="0">
                <a:solidFill>
                  <a:srgbClr val="0A1A39"/>
                </a:solidFill>
              </a:rPr>
              <a:t>)</a:t>
            </a:r>
            <a:endParaRPr lang="ko-KR" altLang="en-US" sz="1100" b="1" dirty="0">
              <a:solidFill>
                <a:srgbClr val="0A1A39"/>
              </a:solidFill>
            </a:endParaRPr>
          </a:p>
        </p:txBody>
      </p:sp>
      <p:sp>
        <p:nvSpPr>
          <p:cNvPr id="30" name="직사각형 51">
            <a:extLst>
              <a:ext uri="{FF2B5EF4-FFF2-40B4-BE49-F238E27FC236}">
                <a16:creationId xmlns:a16="http://schemas.microsoft.com/office/drawing/2014/main" id="{08E98DAA-B0C8-53E7-70EF-5BA92A0E1AAE}"/>
              </a:ext>
            </a:extLst>
          </p:cNvPr>
          <p:cNvSpPr/>
          <p:nvPr/>
        </p:nvSpPr>
        <p:spPr>
          <a:xfrm>
            <a:off x="7837499" y="3429000"/>
            <a:ext cx="1284971" cy="442910"/>
          </a:xfrm>
          <a:prstGeom prst="rect">
            <a:avLst/>
          </a:prstGeom>
          <a:solidFill>
            <a:srgbClr val="2A5FA3"/>
          </a:solidFill>
          <a:ln w="6350">
            <a:solidFill>
              <a:srgbClr val="2A5FA3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수강생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5964441-5895-F749-66B0-BCF459570B8F}"/>
              </a:ext>
            </a:extLst>
          </p:cNvPr>
          <p:cNvCxnSpPr>
            <a:cxnSpLocks/>
          </p:cNvCxnSpPr>
          <p:nvPr/>
        </p:nvCxnSpPr>
        <p:spPr>
          <a:xfrm>
            <a:off x="6093723" y="2702072"/>
            <a:ext cx="0" cy="726928"/>
          </a:xfrm>
          <a:prstGeom prst="straightConnector1">
            <a:avLst/>
          </a:prstGeom>
          <a:ln w="6350">
            <a:solidFill>
              <a:srgbClr val="3D3D3D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3482359-EA96-4DAB-CB56-5F0240F0BE98}"/>
              </a:ext>
            </a:extLst>
          </p:cNvPr>
          <p:cNvCxnSpPr>
            <a:cxnSpLocks/>
          </p:cNvCxnSpPr>
          <p:nvPr/>
        </p:nvCxnSpPr>
        <p:spPr>
          <a:xfrm>
            <a:off x="6259038" y="2702072"/>
            <a:ext cx="0" cy="726928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3F23B70-AB91-EBF1-3645-0070F42CCBD7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6167556" y="3871910"/>
            <a:ext cx="0" cy="744710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BC5481B-AD98-F82B-3090-D274EAC65558}"/>
              </a:ext>
            </a:extLst>
          </p:cNvPr>
          <p:cNvCxnSpPr>
            <a:cxnSpLocks/>
          </p:cNvCxnSpPr>
          <p:nvPr/>
        </p:nvCxnSpPr>
        <p:spPr>
          <a:xfrm flipH="1">
            <a:off x="6810041" y="3580713"/>
            <a:ext cx="1027458" cy="0"/>
          </a:xfrm>
          <a:prstGeom prst="straightConnector1">
            <a:avLst/>
          </a:prstGeom>
          <a:ln w="6350">
            <a:solidFill>
              <a:srgbClr val="3D3D3D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F3A76F1-58F9-DF36-9113-EFEC777BC963}"/>
              </a:ext>
            </a:extLst>
          </p:cNvPr>
          <p:cNvCxnSpPr>
            <a:cxnSpLocks/>
          </p:cNvCxnSpPr>
          <p:nvPr/>
        </p:nvCxnSpPr>
        <p:spPr>
          <a:xfrm flipH="1">
            <a:off x="6810041" y="3727946"/>
            <a:ext cx="1027458" cy="0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175E5DF-1326-BDE0-69F8-29196FBBB9A3}"/>
              </a:ext>
            </a:extLst>
          </p:cNvPr>
          <p:cNvSpPr txBox="1"/>
          <p:nvPr/>
        </p:nvSpPr>
        <p:spPr>
          <a:xfrm>
            <a:off x="6290829" y="2907673"/>
            <a:ext cx="1199047" cy="2946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광고비 지불</a:t>
            </a:r>
            <a:br>
              <a:rPr lang="en-US" altLang="ko-KR" sz="900" dirty="0">
                <a:solidFill>
                  <a:srgbClr val="3D3D3D"/>
                </a:solidFill>
              </a:rPr>
            </a:br>
            <a:r>
              <a:rPr lang="en-US" altLang="ko-KR" sz="900" dirty="0">
                <a:solidFill>
                  <a:srgbClr val="3D3D3D"/>
                </a:solidFill>
              </a:rPr>
              <a:t>(</a:t>
            </a:r>
            <a:r>
              <a:rPr lang="ko-KR" altLang="en-US" sz="900" dirty="0">
                <a:solidFill>
                  <a:srgbClr val="3D3D3D"/>
                </a:solidFill>
              </a:rPr>
              <a:t>전체 집행 광고비의 </a:t>
            </a:r>
            <a:r>
              <a:rPr lang="en-US" altLang="ko-KR" sz="900" dirty="0">
                <a:solidFill>
                  <a:srgbClr val="3D3D3D"/>
                </a:solidFill>
              </a:rPr>
              <a:t>50%)</a:t>
            </a:r>
            <a:endParaRPr lang="ko-KR" altLang="en-US" sz="900" dirty="0">
              <a:solidFill>
                <a:srgbClr val="3D3D3D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D272BA-AB66-A115-F91E-F60C671BB17B}"/>
              </a:ext>
            </a:extLst>
          </p:cNvPr>
          <p:cNvSpPr txBox="1"/>
          <p:nvPr/>
        </p:nvSpPr>
        <p:spPr>
          <a:xfrm>
            <a:off x="5541958" y="2907673"/>
            <a:ext cx="530594" cy="2946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수익분배</a:t>
            </a:r>
            <a:br>
              <a:rPr lang="en-US" altLang="ko-KR" sz="900" dirty="0">
                <a:solidFill>
                  <a:srgbClr val="3D3D3D"/>
                </a:solidFill>
              </a:rPr>
            </a:br>
            <a:r>
              <a:rPr lang="en-US" altLang="ko-KR" sz="900" dirty="0">
                <a:solidFill>
                  <a:srgbClr val="3D3D3D"/>
                </a:solidFill>
              </a:rPr>
              <a:t>(30~60%)</a:t>
            </a:r>
            <a:endParaRPr lang="ko-KR" altLang="en-US" sz="900" dirty="0">
              <a:solidFill>
                <a:srgbClr val="3D3D3D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1D4E93-6DEB-A4E5-B5AB-3D6634D80B74}"/>
              </a:ext>
            </a:extLst>
          </p:cNvPr>
          <p:cNvSpPr txBox="1"/>
          <p:nvPr/>
        </p:nvSpPr>
        <p:spPr>
          <a:xfrm>
            <a:off x="6241009" y="4173123"/>
            <a:ext cx="525785" cy="2946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광고비 집행</a:t>
            </a:r>
            <a:br>
              <a:rPr lang="en-US" altLang="ko-KR" sz="900" dirty="0">
                <a:solidFill>
                  <a:srgbClr val="3D3D3D"/>
                </a:solidFill>
              </a:rPr>
            </a:br>
            <a:r>
              <a:rPr lang="en-US" altLang="ko-KR" sz="900" dirty="0">
                <a:solidFill>
                  <a:srgbClr val="3D3D3D"/>
                </a:solidFill>
              </a:rPr>
              <a:t>(100%)</a:t>
            </a:r>
            <a:endParaRPr lang="ko-KR" altLang="en-US" sz="900" dirty="0">
              <a:solidFill>
                <a:srgbClr val="3D3D3D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00F409-AB68-CE3E-5930-3690FEA761E4}"/>
              </a:ext>
            </a:extLst>
          </p:cNvPr>
          <p:cNvSpPr txBox="1"/>
          <p:nvPr/>
        </p:nvSpPr>
        <p:spPr>
          <a:xfrm>
            <a:off x="7121182" y="3390935"/>
            <a:ext cx="397546" cy="1422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강의제공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5BA025-4B23-04D5-8750-C9F94DA6A0FC}"/>
              </a:ext>
            </a:extLst>
          </p:cNvPr>
          <p:cNvSpPr txBox="1"/>
          <p:nvPr/>
        </p:nvSpPr>
        <p:spPr>
          <a:xfrm>
            <a:off x="7057063" y="3772662"/>
            <a:ext cx="525785" cy="1422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>
                <a:solidFill>
                  <a:srgbClr val="3D3D3D"/>
                </a:solidFill>
              </a:rPr>
              <a:t>수강료 지불</a:t>
            </a:r>
            <a:endParaRPr lang="ko-KR" altLang="en-US" sz="900" dirty="0">
              <a:solidFill>
                <a:srgbClr val="3D3D3D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0E38F9-CC24-774D-6A69-156B23B301D4}"/>
              </a:ext>
            </a:extLst>
          </p:cNvPr>
          <p:cNvSpPr txBox="1"/>
          <p:nvPr/>
        </p:nvSpPr>
        <p:spPr>
          <a:xfrm>
            <a:off x="453000" y="5401558"/>
            <a:ext cx="4391999" cy="365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시장 경쟁을 위해 회사가 마케팅비 전액을 부담해 높은 리스크 구조가 형성됨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강사는 리스크 없이 수익을 가져가지만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플랫폼은 강의 흥행 여부에 실적 변동성이 높음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B9F4EF-CA44-AA8D-D46A-7832AB2E0733}"/>
              </a:ext>
            </a:extLst>
          </p:cNvPr>
          <p:cNvSpPr txBox="1"/>
          <p:nvPr/>
        </p:nvSpPr>
        <p:spPr>
          <a:xfrm>
            <a:off x="5061000" y="5401558"/>
            <a:ext cx="4391999" cy="573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강사가 일정 비율의 광고비를 분담함으로써 강의 성과에 대한 공동 책임 구조 형성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회사는 마케팅 리스크와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비용을를</a:t>
            </a:r>
            <a:r>
              <a:rPr lang="ko-KR" altLang="en-US" sz="1000" spc="-30" dirty="0">
                <a:solidFill>
                  <a:srgbClr val="3D3D3D"/>
                </a:solidFill>
              </a:rPr>
              <a:t> 절감하는 동시에</a:t>
            </a:r>
            <a:r>
              <a:rPr lang="en-US" altLang="ko-KR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>
                <a:solidFill>
                  <a:srgbClr val="3D3D3D"/>
                </a:solidFill>
              </a:rPr>
              <a:t>강사의 동기부여를 확대 가능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358775" indent="-171450">
              <a:lnSpc>
                <a:spcPct val="110000"/>
              </a:lnSpc>
              <a:spcAft>
                <a:spcPts val="300"/>
              </a:spcAft>
              <a:buFont typeface="Pretendard" panose="02000503000000020004" pitchFamily="50" charset="-127"/>
              <a:buChar char="-"/>
            </a:pPr>
            <a:r>
              <a:rPr lang="ko-KR" altLang="en-US" sz="1000" spc="-30" dirty="0">
                <a:solidFill>
                  <a:srgbClr val="3D3D3D"/>
                </a:solidFill>
              </a:rPr>
              <a:t>경쟁사의 경우 고정보수 구조로 배분율 감소에도 강사 이탈 가능성은 낮음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F8352EF-4743-1D57-BF57-46B64936F2C9}"/>
              </a:ext>
            </a:extLst>
          </p:cNvPr>
          <p:cNvCxnSpPr>
            <a:cxnSpLocks/>
          </p:cNvCxnSpPr>
          <p:nvPr/>
        </p:nvCxnSpPr>
        <p:spPr>
          <a:xfrm>
            <a:off x="1734335" y="2702072"/>
            <a:ext cx="0" cy="726928"/>
          </a:xfrm>
          <a:prstGeom prst="straightConnector1">
            <a:avLst/>
          </a:prstGeom>
          <a:ln w="6350">
            <a:solidFill>
              <a:srgbClr val="3D3D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30002B-09D7-3A48-ED76-535040A6A4D4}"/>
              </a:ext>
            </a:extLst>
          </p:cNvPr>
          <p:cNvSpPr txBox="1"/>
          <p:nvPr/>
        </p:nvSpPr>
        <p:spPr>
          <a:xfrm>
            <a:off x="1774275" y="2907673"/>
            <a:ext cx="782265" cy="2946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광고비 지불 </a:t>
            </a:r>
            <a:r>
              <a:rPr lang="en-US" altLang="ko-KR" sz="900" dirty="0">
                <a:solidFill>
                  <a:srgbClr val="3D3D3D"/>
                </a:solidFill>
              </a:rPr>
              <a:t>X,</a:t>
            </a:r>
            <a:br>
              <a:rPr lang="en-US" altLang="ko-KR" sz="900" dirty="0">
                <a:solidFill>
                  <a:srgbClr val="3D3D3D"/>
                </a:solidFill>
              </a:rPr>
            </a:br>
            <a:r>
              <a:rPr lang="ko-KR" altLang="en-US" sz="900" dirty="0">
                <a:solidFill>
                  <a:srgbClr val="3D3D3D"/>
                </a:solidFill>
              </a:rPr>
              <a:t>전액 </a:t>
            </a:r>
            <a:r>
              <a:rPr lang="en-US" altLang="ko-KR" sz="900" dirty="0">
                <a:solidFill>
                  <a:srgbClr val="3D3D3D"/>
                </a:solidFill>
              </a:rPr>
              <a:t>TITAN </a:t>
            </a:r>
            <a:r>
              <a:rPr lang="ko-KR" altLang="en-US" sz="900" dirty="0">
                <a:solidFill>
                  <a:srgbClr val="3D3D3D"/>
                </a:solidFill>
              </a:rPr>
              <a:t>부담</a:t>
            </a:r>
          </a:p>
        </p:txBody>
      </p:sp>
    </p:spTree>
    <p:extLst>
      <p:ext uri="{BB962C8B-B14F-4D97-AF65-F5344CB8AC3E}">
        <p14:creationId xmlns:p14="http://schemas.microsoft.com/office/powerpoint/2010/main" val="12230875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2841-2E52-19BD-7BE6-D0C5164C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0F03BF-D240-AB93-AFFF-CC0C2DCC8B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콘텐츠 기획 </a:t>
            </a:r>
            <a:r>
              <a:rPr lang="en-US" altLang="ko-KR" dirty="0"/>
              <a:t>· </a:t>
            </a:r>
            <a:r>
              <a:rPr lang="ko-KR" altLang="en-US" dirty="0"/>
              <a:t>개발 </a:t>
            </a:r>
            <a:r>
              <a:rPr lang="en-US" altLang="ko-KR" dirty="0"/>
              <a:t>- </a:t>
            </a:r>
            <a:r>
              <a:rPr lang="ko-KR" altLang="en-US" dirty="0"/>
              <a:t>강의 콘텐츠 제작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637C39-81DA-40EE-61C6-E4399DE8D5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D7C13A-9CDD-3666-1E97-FB9AA9E7E8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39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34D5EE-0951-1C0D-E491-77E9F48AFF44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강의 콘텐츠 기획 · 설계 방식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0D15F9-A722-95B1-0E9E-5CAED70C668D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N</a:t>
            </a:r>
            <a:r>
              <a:rPr lang="ko-KR" altLang="en-US" sz="1200" b="1" dirty="0" err="1">
                <a:solidFill>
                  <a:schemeClr val="bg1"/>
                </a:solidFill>
              </a:rPr>
              <a:t>잡</a:t>
            </a:r>
            <a:r>
              <a:rPr lang="ko-KR" altLang="en-US" sz="1200" b="1" dirty="0">
                <a:solidFill>
                  <a:schemeClr val="bg1"/>
                </a:solidFill>
              </a:rPr>
              <a:t> 트렌드에 부합하는 다각화된 강의 기획 및 개발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DCFAF-7C5D-3388-6F81-27F5565AB233}"/>
              </a:ext>
            </a:extLst>
          </p:cNvPr>
          <p:cNvSpPr txBox="1"/>
          <p:nvPr/>
        </p:nvSpPr>
        <p:spPr>
          <a:xfrm>
            <a:off x="450597" y="2311199"/>
            <a:ext cx="1296000" cy="1080000"/>
          </a:xfrm>
          <a:prstGeom prst="rect">
            <a:avLst/>
          </a:prstGeom>
          <a:solidFill>
            <a:srgbClr val="539DFF">
              <a:alpha val="20000"/>
            </a:srgbClr>
          </a:solidFill>
          <a:ln w="19050">
            <a:solidFill>
              <a:srgbClr val="539D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2pPr marL="0" lvl="1" algn="ctr" defTabSz="429814">
              <a:spcAft>
                <a:spcPts val="200"/>
              </a:spcAft>
              <a:defRPr sz="110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algn="ctr">
              <a:spcAft>
                <a:spcPts val="300"/>
              </a:spcAft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트렌드 센싱 </a:t>
            </a:r>
            <a:endParaRPr lang="en-US" altLang="ko-KR" sz="110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900" spc="-30" dirty="0">
                <a:solidFill>
                  <a:srgbClr val="0A1A39"/>
                </a:solidFill>
              </a:rPr>
              <a:t>유사 강의 사례 수집 후 커리큘럼</a:t>
            </a:r>
            <a:r>
              <a:rPr lang="en-US" altLang="ko-KR" sz="900" spc="-30" dirty="0">
                <a:solidFill>
                  <a:srgbClr val="0A1A39"/>
                </a:solidFill>
              </a:rPr>
              <a:t>, </a:t>
            </a:r>
            <a:r>
              <a:rPr lang="ko-KR" altLang="en-US" sz="900" spc="-30" dirty="0">
                <a:solidFill>
                  <a:srgbClr val="0A1A39"/>
                </a:solidFill>
              </a:rPr>
              <a:t>가격대</a:t>
            </a:r>
            <a:r>
              <a:rPr lang="en-US" altLang="ko-KR" sz="900" spc="-30" dirty="0">
                <a:solidFill>
                  <a:srgbClr val="0A1A39"/>
                </a:solidFill>
              </a:rPr>
              <a:t>, </a:t>
            </a:r>
            <a:r>
              <a:rPr lang="ko-KR" altLang="en-US" sz="900" spc="-30" dirty="0">
                <a:solidFill>
                  <a:srgbClr val="0A1A39"/>
                </a:solidFill>
              </a:rPr>
              <a:t>수강생 케어 방식 등을 비교 분석</a:t>
            </a:r>
            <a:endParaRPr lang="en-US" altLang="ko-KR" sz="900" spc="-30" dirty="0">
              <a:solidFill>
                <a:srgbClr val="0A1A3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AB1D2-CDF0-9EED-F49D-DFA9A6495D39}"/>
              </a:ext>
            </a:extLst>
          </p:cNvPr>
          <p:cNvSpPr txBox="1"/>
          <p:nvPr/>
        </p:nvSpPr>
        <p:spPr>
          <a:xfrm>
            <a:off x="1999798" y="2311199"/>
            <a:ext cx="1296000" cy="1080000"/>
          </a:xfrm>
          <a:prstGeom prst="rect">
            <a:avLst/>
          </a:prstGeom>
          <a:solidFill>
            <a:srgbClr val="539DFF">
              <a:alpha val="20000"/>
            </a:srgbClr>
          </a:solidFill>
          <a:ln w="19050">
            <a:solidFill>
              <a:srgbClr val="539D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2pPr marL="0" lvl="1" algn="ctr" defTabSz="429814">
              <a:spcAft>
                <a:spcPts val="200"/>
              </a:spcAft>
              <a:defRPr sz="110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커리큘럼 콘텐츠 기획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  <a:p>
            <a:pPr lvl="0" algn="ctr">
              <a:defRPr/>
            </a:pPr>
            <a:r>
              <a:rPr lang="ko-KR" altLang="en-US" sz="900" spc="-30" dirty="0">
                <a:solidFill>
                  <a:srgbClr val="0A1A39"/>
                </a:solidFill>
              </a:rPr>
              <a:t>콘텐츠 </a:t>
            </a:r>
            <a:r>
              <a:rPr lang="ko-KR" altLang="en-US" sz="900" spc="-30" dirty="0" err="1">
                <a:solidFill>
                  <a:srgbClr val="0A1A39"/>
                </a:solidFill>
              </a:rPr>
              <a:t>차별점</a:t>
            </a:r>
            <a:r>
              <a:rPr lang="en-US" altLang="ko-KR" sz="900" spc="-30" dirty="0">
                <a:solidFill>
                  <a:srgbClr val="0A1A39"/>
                </a:solidFill>
              </a:rPr>
              <a:t>/</a:t>
            </a:r>
            <a:r>
              <a:rPr lang="ko-KR" altLang="en-US" sz="900" spc="-30" dirty="0">
                <a:solidFill>
                  <a:srgbClr val="0A1A39"/>
                </a:solidFill>
              </a:rPr>
              <a:t>약점 파악 후 포지션 도출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srgbClr val="0A1A39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63953B-AA2F-52E5-9975-4E6F313C0FAC}"/>
              </a:ext>
            </a:extLst>
          </p:cNvPr>
          <p:cNvSpPr txBox="1"/>
          <p:nvPr/>
        </p:nvSpPr>
        <p:spPr>
          <a:xfrm>
            <a:off x="3549000" y="2311199"/>
            <a:ext cx="1296000" cy="1080000"/>
          </a:xfrm>
          <a:prstGeom prst="rect">
            <a:avLst/>
          </a:prstGeom>
          <a:solidFill>
            <a:srgbClr val="539DFF">
              <a:alpha val="20000"/>
            </a:srgbClr>
          </a:solidFill>
          <a:ln w="19050">
            <a:solidFill>
              <a:srgbClr val="539D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2pPr marL="0" lvl="1" algn="ctr" defTabSz="429814">
              <a:spcAft>
                <a:spcPts val="200"/>
              </a:spcAft>
              <a:defRPr sz="110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강사 커리큘럼 분석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  <a:p>
            <a:pPr lvl="0" algn="ctr">
              <a:defRPr/>
            </a:pPr>
            <a:r>
              <a:rPr lang="ko-KR" altLang="en-US" sz="900" spc="-30" dirty="0">
                <a:solidFill>
                  <a:srgbClr val="0A1A39"/>
                </a:solidFill>
              </a:rPr>
              <a:t>기존 강사의 강의안을 입수해 실제 수강생 반응과 </a:t>
            </a:r>
            <a:r>
              <a:rPr lang="ko-KR" altLang="en-US" sz="900" spc="-30" dirty="0" err="1">
                <a:solidFill>
                  <a:srgbClr val="0A1A39"/>
                </a:solidFill>
              </a:rPr>
              <a:t>실천률</a:t>
            </a:r>
            <a:r>
              <a:rPr lang="ko-KR" altLang="en-US" sz="900" spc="-30" dirty="0">
                <a:solidFill>
                  <a:srgbClr val="0A1A39"/>
                </a:solidFill>
              </a:rPr>
              <a:t> 확인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srgbClr val="0A1A39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CD533-0F30-82E5-AB53-4D5435A233EB}"/>
              </a:ext>
            </a:extLst>
          </p:cNvPr>
          <p:cNvSpPr txBox="1"/>
          <p:nvPr/>
        </p:nvSpPr>
        <p:spPr>
          <a:xfrm>
            <a:off x="452997" y="4068197"/>
            <a:ext cx="1296000" cy="1080000"/>
          </a:xfrm>
          <a:prstGeom prst="rect">
            <a:avLst/>
          </a:prstGeom>
          <a:solidFill>
            <a:srgbClr val="539DFF">
              <a:alpha val="20000"/>
            </a:srgbClr>
          </a:solidFill>
          <a:ln w="19050">
            <a:solidFill>
              <a:srgbClr val="539D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2pPr marL="0" lvl="1" algn="ctr" defTabSz="429814">
              <a:spcAft>
                <a:spcPts val="200"/>
              </a:spcAft>
              <a:defRPr sz="110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유료강의 제작</a:t>
            </a:r>
            <a:r>
              <a:rPr lang="en-US" altLang="ko-KR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진행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  <a:p>
            <a:pPr lvl="0" algn="ctr">
              <a:defRPr/>
            </a:pPr>
            <a:r>
              <a:rPr lang="ko-KR" altLang="en-US" sz="900" spc="-30" dirty="0">
                <a:solidFill>
                  <a:srgbClr val="0A1A39"/>
                </a:solidFill>
              </a:rPr>
              <a:t>온</a:t>
            </a:r>
            <a:r>
              <a:rPr lang="en-US" altLang="ko-KR" sz="900" spc="-30" dirty="0">
                <a:solidFill>
                  <a:srgbClr val="0A1A39"/>
                </a:solidFill>
              </a:rPr>
              <a:t>/</a:t>
            </a:r>
            <a:r>
              <a:rPr lang="ko-KR" altLang="en-US" sz="900" spc="-30" dirty="0">
                <a:solidFill>
                  <a:srgbClr val="0A1A39"/>
                </a:solidFill>
              </a:rPr>
              <a:t>오프라인</a:t>
            </a:r>
            <a:r>
              <a:rPr lang="en-US" altLang="ko-KR" sz="900" spc="-30" dirty="0">
                <a:solidFill>
                  <a:srgbClr val="0A1A39"/>
                </a:solidFill>
              </a:rPr>
              <a:t>, </a:t>
            </a:r>
            <a:r>
              <a:rPr lang="ko-KR" altLang="en-US" sz="900" spc="-30" dirty="0">
                <a:solidFill>
                  <a:srgbClr val="0A1A39"/>
                </a:solidFill>
              </a:rPr>
              <a:t>챌린지형 중에서 확정하여 운영 구조까지 정의함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srgbClr val="0A1A39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7F0F22-D812-D874-4A11-B94C7FA05C75}"/>
              </a:ext>
            </a:extLst>
          </p:cNvPr>
          <p:cNvSpPr txBox="1"/>
          <p:nvPr/>
        </p:nvSpPr>
        <p:spPr>
          <a:xfrm>
            <a:off x="2002198" y="4068197"/>
            <a:ext cx="1296000" cy="1080000"/>
          </a:xfrm>
          <a:prstGeom prst="rect">
            <a:avLst/>
          </a:prstGeom>
          <a:solidFill>
            <a:srgbClr val="539DFF">
              <a:alpha val="20000"/>
            </a:srgbClr>
          </a:solidFill>
          <a:ln w="19050">
            <a:solidFill>
              <a:srgbClr val="539D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2pPr marL="0" lvl="1" algn="ctr" defTabSz="429814">
              <a:spcAft>
                <a:spcPts val="200"/>
              </a:spcAft>
              <a:defRPr sz="110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무료강의 </a:t>
            </a: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제작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진행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  <a:p>
            <a:pPr lvl="0" algn="ctr">
              <a:defRPr/>
            </a:pPr>
            <a:r>
              <a:rPr lang="ko-KR" altLang="en-US" sz="900" spc="-30" dirty="0">
                <a:solidFill>
                  <a:srgbClr val="0A1A39"/>
                </a:solidFill>
              </a:rPr>
              <a:t>‘</a:t>
            </a:r>
            <a:r>
              <a:rPr lang="ko-KR" altLang="en-US" sz="900" spc="-30" dirty="0" err="1">
                <a:solidFill>
                  <a:srgbClr val="0A1A39"/>
                </a:solidFill>
              </a:rPr>
              <a:t>카톡방</a:t>
            </a:r>
            <a:r>
              <a:rPr lang="ko-KR" altLang="en-US" sz="900" spc="-30" dirty="0">
                <a:solidFill>
                  <a:srgbClr val="0A1A39"/>
                </a:solidFill>
              </a:rPr>
              <a:t> 선입장형’ 혹은 ‘무료강의 </a:t>
            </a:r>
            <a:r>
              <a:rPr lang="ko-KR" altLang="en-US" sz="900" spc="-30" dirty="0" err="1">
                <a:solidFill>
                  <a:srgbClr val="0A1A39"/>
                </a:solidFill>
              </a:rPr>
              <a:t>참여형’으로</a:t>
            </a:r>
            <a:r>
              <a:rPr lang="ko-KR" altLang="en-US" sz="900" spc="-30" dirty="0">
                <a:solidFill>
                  <a:srgbClr val="0A1A39"/>
                </a:solidFill>
              </a:rPr>
              <a:t> 구성하며</a:t>
            </a:r>
            <a:r>
              <a:rPr lang="en-US" altLang="ko-KR" sz="900" spc="-30" dirty="0">
                <a:solidFill>
                  <a:srgbClr val="0A1A39"/>
                </a:solidFill>
              </a:rPr>
              <a:t>, </a:t>
            </a:r>
            <a:r>
              <a:rPr lang="ko-KR" altLang="en-US" sz="900" spc="-30" dirty="0">
                <a:solidFill>
                  <a:srgbClr val="0A1A39"/>
                </a:solidFill>
              </a:rPr>
              <a:t>목적에 따라 최소 </a:t>
            </a:r>
            <a:r>
              <a:rPr lang="en-US" altLang="ko-KR" sz="900" spc="-30" dirty="0">
                <a:solidFill>
                  <a:srgbClr val="0A1A39"/>
                </a:solidFill>
              </a:rPr>
              <a:t>2</a:t>
            </a:r>
            <a:r>
              <a:rPr lang="ko-KR" altLang="en-US" sz="900" spc="-30" dirty="0">
                <a:solidFill>
                  <a:srgbClr val="0A1A39"/>
                </a:solidFill>
              </a:rPr>
              <a:t>종 이상 제작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srgbClr val="0A1A39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692442-B241-E267-0599-DCB4C9D5371C}"/>
              </a:ext>
            </a:extLst>
          </p:cNvPr>
          <p:cNvSpPr txBox="1"/>
          <p:nvPr/>
        </p:nvSpPr>
        <p:spPr>
          <a:xfrm>
            <a:off x="3549000" y="4068197"/>
            <a:ext cx="1296000" cy="1080000"/>
          </a:xfrm>
          <a:prstGeom prst="rect">
            <a:avLst/>
          </a:prstGeom>
          <a:solidFill>
            <a:srgbClr val="539DFF">
              <a:alpha val="20000"/>
            </a:srgbClr>
          </a:solidFill>
          <a:ln w="19050">
            <a:solidFill>
              <a:srgbClr val="539DFF"/>
            </a:solidFill>
            <a:miter lim="800000"/>
            <a:headEnd/>
            <a:tailEnd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2pPr marL="0" lvl="1" algn="ctr" defTabSz="429814">
              <a:spcAft>
                <a:spcPts val="200"/>
              </a:spcAft>
              <a:defRPr sz="110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커리큘럼 제작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solidFill>
                    <a:srgbClr val="00338D">
                      <a:alpha val="0"/>
                    </a:srgbClr>
                  </a:solidFill>
                </a:ln>
                <a:solidFill>
                  <a:srgbClr val="11244A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</a:t>
            </a:r>
            <a:endParaRPr kumimoji="0" lang="en-US" altLang="ko-KR" sz="1100" b="0" i="0" u="none" strike="noStrike" kern="1200" cap="none" spc="0" normalizeH="0" baseline="0" noProof="0" dirty="0">
              <a:ln>
                <a:solidFill>
                  <a:srgbClr val="00338D">
                    <a:alpha val="0"/>
                  </a:srgbClr>
                </a:solidFill>
              </a:ln>
              <a:solidFill>
                <a:srgbClr val="11244A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  <a:p>
            <a:pPr lvl="0" algn="ctr">
              <a:defRPr/>
            </a:pPr>
            <a:r>
              <a:rPr lang="ko-KR" altLang="en-US" sz="900" spc="-30" dirty="0">
                <a:solidFill>
                  <a:srgbClr val="0A1A39"/>
                </a:solidFill>
              </a:rPr>
              <a:t>입문 → 실전 적용 → 수익화 결과 인증</a:t>
            </a:r>
            <a:r>
              <a:rPr lang="en-US" altLang="ko-KR" sz="900" spc="-30" dirty="0">
                <a:solidFill>
                  <a:srgbClr val="0A1A39"/>
                </a:solidFill>
              </a:rPr>
              <a:t> </a:t>
            </a:r>
            <a:r>
              <a:rPr lang="ko-KR" altLang="en-US" sz="900" spc="-30" dirty="0">
                <a:solidFill>
                  <a:srgbClr val="0A1A39"/>
                </a:solidFill>
              </a:rPr>
              <a:t>순으로 재구성</a:t>
            </a:r>
            <a:r>
              <a:rPr lang="en-US" altLang="ko-KR" sz="900" spc="-30" dirty="0">
                <a:solidFill>
                  <a:srgbClr val="0A1A39"/>
                </a:solidFill>
              </a:rPr>
              <a:t>, </a:t>
            </a:r>
            <a:br>
              <a:rPr lang="en-US" altLang="ko-KR" sz="900" spc="-30" dirty="0">
                <a:solidFill>
                  <a:srgbClr val="0A1A39"/>
                </a:solidFill>
              </a:rPr>
            </a:br>
            <a:r>
              <a:rPr lang="ko-KR" altLang="en-US" sz="900" spc="-30" dirty="0">
                <a:solidFill>
                  <a:srgbClr val="0A1A39"/>
                </a:solidFill>
              </a:rPr>
              <a:t>각 파트 별 예제 및 과제 삽입</a:t>
            </a:r>
            <a:endParaRPr kumimoji="0" lang="en-US" altLang="ko-KR" sz="900" b="0" i="0" u="none" strike="noStrike" kern="1200" cap="none" spc="-30" normalizeH="0" baseline="0" noProof="0" dirty="0">
              <a:ln>
                <a:noFill/>
              </a:ln>
              <a:solidFill>
                <a:srgbClr val="0A1A39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18409A8-087B-649D-6D99-333FBB1BD7C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746597" y="2851199"/>
            <a:ext cx="253201" cy="0"/>
          </a:xfrm>
          <a:prstGeom prst="straightConnector1">
            <a:avLst/>
          </a:prstGeom>
          <a:ln w="63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1097AF0-C2E3-3EF5-1472-3B6E3945C9D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295798" y="2851199"/>
            <a:ext cx="253202" cy="0"/>
          </a:xfrm>
          <a:prstGeom prst="straightConnector1">
            <a:avLst/>
          </a:prstGeom>
          <a:ln w="63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7F1CE59-4C28-C34C-1B6F-14303BC8394C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4197000" y="3391199"/>
            <a:ext cx="0" cy="676998"/>
          </a:xfrm>
          <a:prstGeom prst="straightConnector1">
            <a:avLst/>
          </a:prstGeom>
          <a:ln w="63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A2A38EC-1189-AB88-CB2F-8BB67B01AA07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3298198" y="4608197"/>
            <a:ext cx="250802" cy="0"/>
          </a:xfrm>
          <a:prstGeom prst="straightConnector1">
            <a:avLst/>
          </a:prstGeom>
          <a:ln w="63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C363C60-7741-2F57-981C-EFBBCD503FBD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1748997" y="4608197"/>
            <a:ext cx="253201" cy="0"/>
          </a:xfrm>
          <a:prstGeom prst="straightConnector1">
            <a:avLst/>
          </a:prstGeom>
          <a:ln w="63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4181C7-64FF-BA70-2002-6DD8D551008B}"/>
              </a:ext>
            </a:extLst>
          </p:cNvPr>
          <p:cNvSpPr/>
          <p:nvPr/>
        </p:nvSpPr>
        <p:spPr>
          <a:xfrm>
            <a:off x="452997" y="3608074"/>
            <a:ext cx="619381" cy="30541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kern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KoPub돋움체 Medium"/>
                <a:ea typeface="KoPub돋움체 Medium"/>
              </a:rPr>
              <a:t>수강생 피드백 전달</a:t>
            </a:r>
          </a:p>
        </p:txBody>
      </p:sp>
      <p:graphicFrame>
        <p:nvGraphicFramePr>
          <p:cNvPr id="37" name="차트 36">
            <a:extLst>
              <a:ext uri="{FF2B5EF4-FFF2-40B4-BE49-F238E27FC236}">
                <a16:creationId xmlns:a16="http://schemas.microsoft.com/office/drawing/2014/main" id="{E948A1AA-EA0A-C00D-919D-7835D65D1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7368058"/>
              </p:ext>
            </p:extLst>
          </p:nvPr>
        </p:nvGraphicFramePr>
        <p:xfrm>
          <a:off x="5056103" y="2241574"/>
          <a:ext cx="4396896" cy="309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68443A6-977D-D286-436B-891991C8A0A6}"/>
              </a:ext>
            </a:extLst>
          </p:cNvPr>
          <p:cNvSpPr txBox="1"/>
          <p:nvPr/>
        </p:nvSpPr>
        <p:spPr>
          <a:xfrm>
            <a:off x="5061000" y="5401558"/>
            <a:ext cx="4392563" cy="365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고정된 주제나 포맷에 머물지 않고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시기별 </a:t>
            </a:r>
            <a:r>
              <a:rPr lang="en-US" altLang="ko-KR" sz="1000" spc="-30" dirty="0">
                <a:solidFill>
                  <a:srgbClr val="3D3D3D"/>
                </a:solidFill>
              </a:rPr>
              <a:t>N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잡</a:t>
            </a:r>
            <a:r>
              <a:rPr lang="ko-KR" altLang="en-US" sz="1000" spc="-30" dirty="0">
                <a:solidFill>
                  <a:srgbClr val="3D3D3D"/>
                </a:solidFill>
              </a:rPr>
              <a:t> 트렌드에 부합하는 강의를 지속 기획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확장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매 시기 ‘가장 필요한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강의’를</a:t>
            </a:r>
            <a:r>
              <a:rPr lang="ko-KR" altLang="en-US" sz="1000" spc="-30" dirty="0">
                <a:solidFill>
                  <a:srgbClr val="3D3D3D"/>
                </a:solidFill>
              </a:rPr>
              <a:t> 지속적으로 제작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제공하며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높은 시장 대응력을 입증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9A8CD4-B915-2D75-5675-2DE750C7F381}"/>
              </a:ext>
            </a:extLst>
          </p:cNvPr>
          <p:cNvSpPr txBox="1"/>
          <p:nvPr/>
        </p:nvSpPr>
        <p:spPr>
          <a:xfrm>
            <a:off x="452438" y="5401558"/>
            <a:ext cx="4392563" cy="5350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트렌드 분석과 성공 사례 벤치마킹과 </a:t>
            </a:r>
            <a:r>
              <a:rPr lang="en-US" altLang="ko-KR" sz="1000" spc="-30" dirty="0">
                <a:solidFill>
                  <a:srgbClr val="3D3D3D"/>
                </a:solidFill>
              </a:rPr>
              <a:t>TITAN</a:t>
            </a:r>
            <a:r>
              <a:rPr lang="ko-KR" altLang="en-US" sz="1000" spc="-30" dirty="0">
                <a:solidFill>
                  <a:srgbClr val="3D3D3D"/>
                </a:solidFill>
              </a:rPr>
              <a:t> 고유의 성공 방식을 반영해 강의를 설계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기획부터 설계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코칭까지 전 과정이 전문 인력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자체 설비</a:t>
            </a:r>
            <a:r>
              <a:rPr lang="en-US" altLang="ko-KR" sz="1000" spc="-30" dirty="0">
                <a:solidFill>
                  <a:srgbClr val="3D3D3D"/>
                </a:solidFill>
              </a:rPr>
              <a:t>(</a:t>
            </a:r>
            <a:r>
              <a:rPr lang="ko-KR" altLang="en-US" sz="1000" spc="-30" dirty="0">
                <a:solidFill>
                  <a:srgbClr val="3D3D3D"/>
                </a:solidFill>
              </a:rPr>
              <a:t>스튜디오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촬영</a:t>
            </a:r>
            <a:r>
              <a:rPr lang="en-US" altLang="ko-KR" sz="1000" spc="-30" dirty="0">
                <a:solidFill>
                  <a:srgbClr val="3D3D3D"/>
                </a:solidFill>
              </a:rPr>
              <a:t>)</a:t>
            </a:r>
            <a:r>
              <a:rPr lang="ko-KR" altLang="en-US" sz="1000" spc="-30" dirty="0">
                <a:solidFill>
                  <a:srgbClr val="3D3D3D"/>
                </a:solidFill>
              </a:rPr>
              <a:t>에 의해 내재화되어 빠르고 효율적으로 진행됨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3C0998-1E1F-EA08-4CA7-063168ABC016}"/>
              </a:ext>
            </a:extLst>
          </p:cNvPr>
          <p:cNvSpPr txBox="1"/>
          <p:nvPr/>
        </p:nvSpPr>
        <p:spPr>
          <a:xfrm>
            <a:off x="8909869" y="2075809"/>
            <a:ext cx="555208" cy="158057"/>
          </a:xfrm>
          <a:prstGeom prst="rect">
            <a:avLst/>
          </a:prstGeom>
          <a:noFill/>
        </p:spPr>
        <p:txBody>
          <a:bodyPr wrap="non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단위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ko-KR" alt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10B3BD-F4B1-7021-6EBF-E59529EE1415}"/>
              </a:ext>
            </a:extLst>
          </p:cNvPr>
          <p:cNvSpPr txBox="1"/>
          <p:nvPr/>
        </p:nvSpPr>
        <p:spPr>
          <a:xfrm>
            <a:off x="5078520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과목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주제별 강의 수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8418ADC7-2CA4-2306-AEB1-B52FCE6CEB8D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rot="5400000" flipH="1" flipV="1">
            <a:off x="1535898" y="2956298"/>
            <a:ext cx="676998" cy="1546801"/>
          </a:xfrm>
          <a:prstGeom prst="bentConnector3">
            <a:avLst/>
          </a:prstGeom>
          <a:ln w="63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3D2BAA5-29B8-8B10-817A-B7863E0AF6B8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트렌드 분석</a:t>
            </a:r>
            <a:r>
              <a:rPr lang="en-US" altLang="ko-KR" sz="1400" b="1" dirty="0">
                <a:solidFill>
                  <a:srgbClr val="3D3D3D"/>
                </a:solidFill>
              </a:rPr>
              <a:t>–</a:t>
            </a:r>
            <a:r>
              <a:rPr lang="ko-KR" altLang="en-US" sz="1400" b="1" dirty="0">
                <a:solidFill>
                  <a:srgbClr val="3D3D3D"/>
                </a:solidFill>
              </a:rPr>
              <a:t>커리큘럼 설계</a:t>
            </a:r>
            <a:r>
              <a:rPr lang="en-US" altLang="ko-KR" sz="1400" b="1" dirty="0">
                <a:solidFill>
                  <a:srgbClr val="3D3D3D"/>
                </a:solidFill>
              </a:rPr>
              <a:t>–</a:t>
            </a:r>
            <a:r>
              <a:rPr lang="ko-KR" altLang="en-US" sz="1400" b="1" dirty="0">
                <a:solidFill>
                  <a:srgbClr val="3D3D3D"/>
                </a:solidFill>
              </a:rPr>
              <a:t>제작</a:t>
            </a:r>
            <a:r>
              <a:rPr lang="en-US" altLang="ko-KR" sz="1400" b="1" dirty="0">
                <a:solidFill>
                  <a:srgbClr val="3D3D3D"/>
                </a:solidFill>
              </a:rPr>
              <a:t>-</a:t>
            </a:r>
            <a:r>
              <a:rPr lang="ko-KR" altLang="en-US" sz="1400" b="1" dirty="0">
                <a:solidFill>
                  <a:srgbClr val="3D3D3D"/>
                </a:solidFill>
              </a:rPr>
              <a:t>검증까지 전 과정을 체계화된 프로세스로 내재화하고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카테고리별 흥행 공식을 구축해 왔습니다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  <a:r>
              <a:rPr lang="ko-KR" altLang="en-US" sz="1400" b="1" dirty="0">
                <a:solidFill>
                  <a:srgbClr val="3D3D3D"/>
                </a:solidFill>
              </a:rPr>
              <a:t>이 구조화된 기획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제작 역량을 기반으로 트렌드에 맞춘 강의를 빠르게 확장하며 시장 대응력을 지속 높이고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7074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F80A3-BADD-43B1-D1B5-E3434C9AB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8794B39-F713-F222-4F86-E249ECED09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마케팅 </a:t>
            </a:r>
            <a:r>
              <a:rPr lang="en-US" altLang="ko-KR" dirty="0"/>
              <a:t>· </a:t>
            </a:r>
            <a:r>
              <a:rPr lang="ko-KR" altLang="en-US" dirty="0"/>
              <a:t>세일즈 프로세스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D7A4B6-3CD3-46AA-4DA3-6C401FE809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</a:t>
            </a:r>
            <a:r>
              <a:rPr lang="ko-KR" altLang="en-US" dirty="0"/>
              <a:t> </a:t>
            </a:r>
            <a:r>
              <a:rPr lang="en-US" altLang="ko-KR" dirty="0"/>
              <a:t>1)</a:t>
            </a:r>
            <a:r>
              <a:rPr lang="ko-KR" altLang="en-US" dirty="0"/>
              <a:t> 관계사 채널은 타이탄 대주주가 운영 중인 </a:t>
            </a:r>
            <a:r>
              <a:rPr lang="en-US" altLang="ko-KR" dirty="0"/>
              <a:t>"</a:t>
            </a:r>
            <a:r>
              <a:rPr lang="ko-KR" altLang="en-US" dirty="0" err="1"/>
              <a:t>레드락컴퍼니</a:t>
            </a:r>
            <a:r>
              <a:rPr lang="en-US" altLang="ko-KR" dirty="0"/>
              <a:t>" </a:t>
            </a:r>
            <a:r>
              <a:rPr lang="ko-KR" altLang="en-US" dirty="0"/>
              <a:t>산하의 유튜브 채널이며 협업채널에서 순수하게 발생하는 매출의 </a:t>
            </a:r>
            <a:r>
              <a:rPr lang="en-US" altLang="ko-KR" dirty="0"/>
              <a:t>20%</a:t>
            </a:r>
            <a:r>
              <a:rPr lang="ko-KR" altLang="en-US" dirty="0"/>
              <a:t>를 </a:t>
            </a:r>
            <a:r>
              <a:rPr lang="ko-KR" altLang="en-US" dirty="0" err="1"/>
              <a:t>레드락컴퍼니에게</a:t>
            </a:r>
            <a:r>
              <a:rPr lang="ko-KR" altLang="en-US" dirty="0"/>
              <a:t> 비용으로 지급하고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16B80A-5169-E2F1-803F-9005998A26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40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B452A0-E8F4-3883-CECC-69F8D63AF304}"/>
              </a:ext>
            </a:extLst>
          </p:cNvPr>
          <p:cNvSpPr/>
          <p:nvPr/>
        </p:nvSpPr>
        <p:spPr>
          <a:xfrm>
            <a:off x="453000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마케팅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세일즈 프로세스 개요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0" name="직사각형 38">
            <a:extLst>
              <a:ext uri="{FF2B5EF4-FFF2-40B4-BE49-F238E27FC236}">
                <a16:creationId xmlns:a16="http://schemas.microsoft.com/office/drawing/2014/main" id="{3C24872E-ED6A-FB46-1B1C-3E86558F1A86}"/>
              </a:ext>
            </a:extLst>
          </p:cNvPr>
          <p:cNvSpPr/>
          <p:nvPr/>
        </p:nvSpPr>
        <p:spPr>
          <a:xfrm>
            <a:off x="463454" y="3159249"/>
            <a:ext cx="1284971" cy="432000"/>
          </a:xfrm>
          <a:prstGeom prst="rect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강사</a:t>
            </a:r>
            <a:r>
              <a:rPr lang="en-US" altLang="ko-KR" sz="1100" b="1" dirty="0">
                <a:solidFill>
                  <a:schemeClr val="bg1"/>
                </a:solidFill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</a:rPr>
              <a:t>강의 광고 콘텐츠</a:t>
            </a:r>
          </a:p>
        </p:txBody>
      </p:sp>
      <p:sp>
        <p:nvSpPr>
          <p:cNvPr id="11" name="직사각형 51">
            <a:extLst>
              <a:ext uri="{FF2B5EF4-FFF2-40B4-BE49-F238E27FC236}">
                <a16:creationId xmlns:a16="http://schemas.microsoft.com/office/drawing/2014/main" id="{4489D2AE-4D3E-CA5A-E324-34786709965F}"/>
              </a:ext>
            </a:extLst>
          </p:cNvPr>
          <p:cNvSpPr/>
          <p:nvPr/>
        </p:nvSpPr>
        <p:spPr>
          <a:xfrm>
            <a:off x="2238200" y="2387932"/>
            <a:ext cx="1284971" cy="43200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자체 유튜브 채널</a:t>
            </a:r>
          </a:p>
        </p:txBody>
      </p:sp>
      <p:sp>
        <p:nvSpPr>
          <p:cNvPr id="12" name="직사각형 51">
            <a:extLst>
              <a:ext uri="{FF2B5EF4-FFF2-40B4-BE49-F238E27FC236}">
                <a16:creationId xmlns:a16="http://schemas.microsoft.com/office/drawing/2014/main" id="{506D49E8-5C55-ACA9-D612-D4E31243C7CF}"/>
              </a:ext>
            </a:extLst>
          </p:cNvPr>
          <p:cNvSpPr/>
          <p:nvPr/>
        </p:nvSpPr>
        <p:spPr>
          <a:xfrm>
            <a:off x="2238200" y="3159249"/>
            <a:ext cx="1284971" cy="43200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관계사 유튜브 채널</a:t>
            </a:r>
            <a:r>
              <a:rPr lang="en-US" altLang="ko-KR" sz="1100" b="1" baseline="30000" dirty="0">
                <a:solidFill>
                  <a:schemeClr val="bg1"/>
                </a:solidFill>
              </a:rPr>
              <a:t>1)</a:t>
            </a:r>
            <a:endParaRPr lang="ko-KR" altLang="en-US" sz="1100" b="1" baseline="30000" dirty="0">
              <a:solidFill>
                <a:schemeClr val="bg1"/>
              </a:solidFill>
            </a:endParaRPr>
          </a:p>
        </p:txBody>
      </p:sp>
      <p:sp>
        <p:nvSpPr>
          <p:cNvPr id="14" name="직사각형 51">
            <a:extLst>
              <a:ext uri="{FF2B5EF4-FFF2-40B4-BE49-F238E27FC236}">
                <a16:creationId xmlns:a16="http://schemas.microsoft.com/office/drawing/2014/main" id="{FFBD03C6-033B-847C-581D-D9BBC94C6C86}"/>
              </a:ext>
            </a:extLst>
          </p:cNvPr>
          <p:cNvSpPr/>
          <p:nvPr/>
        </p:nvSpPr>
        <p:spPr>
          <a:xfrm>
            <a:off x="2238200" y="3930245"/>
            <a:ext cx="1284971" cy="43200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자체</a:t>
            </a:r>
            <a:r>
              <a:rPr lang="en-US" altLang="ko-KR" sz="1100" b="1" dirty="0">
                <a:solidFill>
                  <a:schemeClr val="bg1"/>
                </a:solidFill>
              </a:rPr>
              <a:t>/</a:t>
            </a:r>
            <a:r>
              <a:rPr lang="ko-KR" altLang="en-US" sz="1100" b="1" dirty="0">
                <a:solidFill>
                  <a:schemeClr val="bg1"/>
                </a:solidFill>
              </a:rPr>
              <a:t>관계사 </a:t>
            </a:r>
            <a:r>
              <a:rPr lang="en-US" altLang="ko-KR" sz="1100" b="1" dirty="0">
                <a:solidFill>
                  <a:schemeClr val="bg1"/>
                </a:solidFill>
              </a:rPr>
              <a:t>SNS </a:t>
            </a:r>
            <a:r>
              <a:rPr lang="ko-KR" altLang="en-US" sz="1100" b="1" dirty="0">
                <a:solidFill>
                  <a:schemeClr val="bg1"/>
                </a:solidFill>
              </a:rPr>
              <a:t>채널</a:t>
            </a:r>
            <a:br>
              <a:rPr lang="en-US" altLang="ko-KR" sz="1100" b="1" dirty="0">
                <a:solidFill>
                  <a:schemeClr val="bg1"/>
                </a:solidFill>
              </a:rPr>
            </a:b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인스타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 err="1">
                <a:solidFill>
                  <a:schemeClr val="bg1"/>
                </a:solidFill>
              </a:rPr>
              <a:t>페북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블로그 등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23" name="직사각형 51">
            <a:extLst>
              <a:ext uri="{FF2B5EF4-FFF2-40B4-BE49-F238E27FC236}">
                <a16:creationId xmlns:a16="http://schemas.microsoft.com/office/drawing/2014/main" id="{221E745B-0754-F53A-4766-B4F650A40350}"/>
              </a:ext>
            </a:extLst>
          </p:cNvPr>
          <p:cNvSpPr/>
          <p:nvPr/>
        </p:nvSpPr>
        <p:spPr>
          <a:xfrm>
            <a:off x="4012469" y="2544661"/>
            <a:ext cx="586300" cy="18408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rgbClr val="0A1A39"/>
                </a:solidFill>
              </a:rPr>
              <a:t>구독자</a:t>
            </a:r>
            <a:r>
              <a:rPr lang="en-US" altLang="ko-KR" sz="1100" b="1" dirty="0">
                <a:solidFill>
                  <a:srgbClr val="0A1A39"/>
                </a:solidFill>
              </a:rPr>
              <a:t>A</a:t>
            </a:r>
            <a:endParaRPr lang="ko-KR" altLang="en-US" sz="1100" b="1" dirty="0">
              <a:solidFill>
                <a:srgbClr val="0A1A39"/>
              </a:solidFill>
            </a:endParaRPr>
          </a:p>
        </p:txBody>
      </p:sp>
      <p:sp>
        <p:nvSpPr>
          <p:cNvPr id="25" name="직사각형 51">
            <a:extLst>
              <a:ext uri="{FF2B5EF4-FFF2-40B4-BE49-F238E27FC236}">
                <a16:creationId xmlns:a16="http://schemas.microsoft.com/office/drawing/2014/main" id="{FC532BA8-D5C0-F11C-F0B5-7D9C0EB0B2EF}"/>
              </a:ext>
            </a:extLst>
          </p:cNvPr>
          <p:cNvSpPr/>
          <p:nvPr/>
        </p:nvSpPr>
        <p:spPr>
          <a:xfrm>
            <a:off x="5050090" y="2112419"/>
            <a:ext cx="1284971" cy="43200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잠재고객유인</a:t>
            </a:r>
          </a:p>
        </p:txBody>
      </p:sp>
      <p:sp>
        <p:nvSpPr>
          <p:cNvPr id="27" name="직사각형 51">
            <a:extLst>
              <a:ext uri="{FF2B5EF4-FFF2-40B4-BE49-F238E27FC236}">
                <a16:creationId xmlns:a16="http://schemas.microsoft.com/office/drawing/2014/main" id="{E9DDA7A5-5ACE-E7F9-41F8-9521D9CB0655}"/>
              </a:ext>
            </a:extLst>
          </p:cNvPr>
          <p:cNvSpPr/>
          <p:nvPr/>
        </p:nvSpPr>
        <p:spPr>
          <a:xfrm>
            <a:off x="6604817" y="2112419"/>
            <a:ext cx="1284971" cy="43200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</a:rPr>
              <a:t>라이브강의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pic>
        <p:nvPicPr>
          <p:cNvPr id="37" name="그래픽 36">
            <a:extLst>
              <a:ext uri="{FF2B5EF4-FFF2-40B4-BE49-F238E27FC236}">
                <a16:creationId xmlns:a16="http://schemas.microsoft.com/office/drawing/2014/main" id="{65E33DD8-955D-24B9-B94D-FBC6ADCD9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7960" y="2072006"/>
            <a:ext cx="447139" cy="447139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971FE94A-CC7F-2335-AE72-9ED0B5BC6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7960" y="2768762"/>
            <a:ext cx="447139" cy="447139"/>
          </a:xfrm>
          <a:prstGeom prst="rect">
            <a:avLst/>
          </a:prstGeom>
        </p:spPr>
      </p:pic>
      <p:pic>
        <p:nvPicPr>
          <p:cNvPr id="39" name="그래픽 38">
            <a:extLst>
              <a:ext uri="{FF2B5EF4-FFF2-40B4-BE49-F238E27FC236}">
                <a16:creationId xmlns:a16="http://schemas.microsoft.com/office/drawing/2014/main" id="{CF553C08-1806-6D6C-8BF0-2B19F58AC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7960" y="3465518"/>
            <a:ext cx="447139" cy="447139"/>
          </a:xfrm>
          <a:prstGeom prst="rect">
            <a:avLst/>
          </a:prstGeom>
        </p:spPr>
      </p:pic>
      <p:pic>
        <p:nvPicPr>
          <p:cNvPr id="40" name="그래픽 39">
            <a:extLst>
              <a:ext uri="{FF2B5EF4-FFF2-40B4-BE49-F238E27FC236}">
                <a16:creationId xmlns:a16="http://schemas.microsoft.com/office/drawing/2014/main" id="{D16E3926-8B57-2C5A-51CD-FB30078BF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7960" y="4162273"/>
            <a:ext cx="447139" cy="447139"/>
          </a:xfrm>
          <a:prstGeom prst="rect">
            <a:avLst/>
          </a:prstGeom>
        </p:spPr>
      </p:pic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3EDBF13E-95C8-B463-55B8-B0B1B4DCCC6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1748425" y="2603932"/>
            <a:ext cx="489775" cy="771317"/>
          </a:xfrm>
          <a:prstGeom prst="bentConnector3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2040F366-292A-A8C8-E967-2A42CB76858D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1748425" y="3375249"/>
            <a:ext cx="489775" cy="770996"/>
          </a:xfrm>
          <a:prstGeom prst="bentConnector3">
            <a:avLst>
              <a:gd name="adj1" fmla="val 50000"/>
            </a:avLst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9C08C0A-2FA1-6FF2-7550-81B7DFA543D8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1748425" y="3375249"/>
            <a:ext cx="489775" cy="0"/>
          </a:xfrm>
          <a:prstGeom prst="straightConnector1">
            <a:avLst/>
          </a:prstGeom>
          <a:ln w="6350">
            <a:solidFill>
              <a:srgbClr val="3D3D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직사각형 51">
            <a:extLst>
              <a:ext uri="{FF2B5EF4-FFF2-40B4-BE49-F238E27FC236}">
                <a16:creationId xmlns:a16="http://schemas.microsoft.com/office/drawing/2014/main" id="{7AA6CBE5-9A8A-D0BF-AB41-91FB39794535}"/>
              </a:ext>
            </a:extLst>
          </p:cNvPr>
          <p:cNvSpPr/>
          <p:nvPr/>
        </p:nvSpPr>
        <p:spPr>
          <a:xfrm>
            <a:off x="4012469" y="3244844"/>
            <a:ext cx="586300" cy="18408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rgbClr val="0A1A39"/>
                </a:solidFill>
              </a:rPr>
              <a:t>구독자</a:t>
            </a:r>
            <a:r>
              <a:rPr lang="en-US" altLang="ko-KR" sz="1100" b="1" dirty="0">
                <a:solidFill>
                  <a:srgbClr val="0A1A39"/>
                </a:solidFill>
              </a:rPr>
              <a:t>B</a:t>
            </a:r>
            <a:endParaRPr lang="ko-KR" altLang="en-US" sz="1100" b="1" dirty="0">
              <a:solidFill>
                <a:srgbClr val="0A1A39"/>
              </a:solidFill>
            </a:endParaRPr>
          </a:p>
        </p:txBody>
      </p:sp>
      <p:sp>
        <p:nvSpPr>
          <p:cNvPr id="89" name="직사각형 51">
            <a:extLst>
              <a:ext uri="{FF2B5EF4-FFF2-40B4-BE49-F238E27FC236}">
                <a16:creationId xmlns:a16="http://schemas.microsoft.com/office/drawing/2014/main" id="{47A694EE-BC6D-5CB7-8BDF-771D79FE5D87}"/>
              </a:ext>
            </a:extLst>
          </p:cNvPr>
          <p:cNvSpPr/>
          <p:nvPr/>
        </p:nvSpPr>
        <p:spPr>
          <a:xfrm>
            <a:off x="4012469" y="3907655"/>
            <a:ext cx="586300" cy="18408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rgbClr val="0A1A39"/>
                </a:solidFill>
              </a:rPr>
              <a:t>구독자</a:t>
            </a:r>
            <a:r>
              <a:rPr lang="en-US" altLang="ko-KR" sz="1100" b="1" dirty="0">
                <a:solidFill>
                  <a:srgbClr val="0A1A39"/>
                </a:solidFill>
              </a:rPr>
              <a:t>C</a:t>
            </a:r>
            <a:endParaRPr lang="ko-KR" altLang="en-US" sz="1100" b="1" dirty="0">
              <a:solidFill>
                <a:srgbClr val="0A1A39"/>
              </a:solidFill>
            </a:endParaRPr>
          </a:p>
        </p:txBody>
      </p:sp>
      <p:sp>
        <p:nvSpPr>
          <p:cNvPr id="90" name="직사각형 51">
            <a:extLst>
              <a:ext uri="{FF2B5EF4-FFF2-40B4-BE49-F238E27FC236}">
                <a16:creationId xmlns:a16="http://schemas.microsoft.com/office/drawing/2014/main" id="{20F16B8A-ABCA-7C8D-6917-F48B56169E4D}"/>
              </a:ext>
            </a:extLst>
          </p:cNvPr>
          <p:cNvSpPr/>
          <p:nvPr/>
        </p:nvSpPr>
        <p:spPr>
          <a:xfrm>
            <a:off x="4012469" y="4647136"/>
            <a:ext cx="586300" cy="18408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rgbClr val="0A1A39"/>
                </a:solidFill>
              </a:rPr>
              <a:t>구독자</a:t>
            </a:r>
            <a:r>
              <a:rPr lang="en-US" altLang="ko-KR" sz="1100" b="1" dirty="0">
                <a:solidFill>
                  <a:srgbClr val="0A1A39"/>
                </a:solidFill>
              </a:rPr>
              <a:t>D</a:t>
            </a:r>
            <a:endParaRPr lang="ko-KR" altLang="en-US" sz="1100" b="1" dirty="0">
              <a:solidFill>
                <a:srgbClr val="0A1A39"/>
              </a:solidFill>
            </a:endParaRP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DC9B247A-C909-4407-E02D-2EB2287638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10351" y="3749840"/>
            <a:ext cx="977462" cy="539138"/>
          </a:xfrm>
          <a:prstGeom prst="rect">
            <a:avLst/>
          </a:prstGeom>
          <a:ln w="3175">
            <a:solidFill>
              <a:srgbClr val="3D3D3D"/>
            </a:solidFill>
          </a:ln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22F1787D-FA6A-7A88-AC66-E0D5F45653DC}"/>
              </a:ext>
            </a:extLst>
          </p:cNvPr>
          <p:cNvSpPr txBox="1"/>
          <p:nvPr/>
        </p:nvSpPr>
        <p:spPr>
          <a:xfrm>
            <a:off x="5183192" y="4324369"/>
            <a:ext cx="1082027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인스타그램 링크 노출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포스팅 댓글 작성자에</a:t>
            </a:r>
            <a:endParaRPr lang="en-US" altLang="ko-KR" sz="8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altLang="ko-KR" sz="800" dirty="0">
                <a:solidFill>
                  <a:srgbClr val="3D3D3D"/>
                </a:solidFill>
              </a:rPr>
              <a:t>DM </a:t>
            </a:r>
            <a:r>
              <a:rPr lang="ko-KR" altLang="en-US" sz="800" dirty="0">
                <a:solidFill>
                  <a:srgbClr val="3D3D3D"/>
                </a:solidFill>
              </a:rPr>
              <a:t>통한 </a:t>
            </a:r>
            <a:r>
              <a:rPr lang="ko-KR" altLang="en-US" sz="800" dirty="0" err="1">
                <a:solidFill>
                  <a:srgbClr val="3D3D3D"/>
                </a:solidFill>
              </a:rPr>
              <a:t>톡방</a:t>
            </a:r>
            <a:r>
              <a:rPr lang="ko-KR" altLang="en-US" sz="800" dirty="0">
                <a:solidFill>
                  <a:srgbClr val="3D3D3D"/>
                </a:solidFill>
              </a:rPr>
              <a:t> 링크 전달</a:t>
            </a:r>
          </a:p>
        </p:txBody>
      </p:sp>
      <p:pic>
        <p:nvPicPr>
          <p:cNvPr id="107" name="그림 106">
            <a:extLst>
              <a:ext uri="{FF2B5EF4-FFF2-40B4-BE49-F238E27FC236}">
                <a16:creationId xmlns:a16="http://schemas.microsoft.com/office/drawing/2014/main" id="{3010F50F-716A-3B68-12EF-F3003D1F73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10351" y="2595133"/>
            <a:ext cx="977463" cy="539138"/>
          </a:xfrm>
          <a:prstGeom prst="rect">
            <a:avLst/>
          </a:prstGeom>
          <a:ln w="3175">
            <a:solidFill>
              <a:srgbClr val="3D3D3D"/>
            </a:solidFill>
          </a:ln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52DBAA3E-A4EF-D6B9-EE7B-B0C474E62316}"/>
              </a:ext>
            </a:extLst>
          </p:cNvPr>
          <p:cNvSpPr txBox="1"/>
          <p:nvPr/>
        </p:nvSpPr>
        <p:spPr>
          <a:xfrm>
            <a:off x="5112288" y="3202910"/>
            <a:ext cx="1160575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유튜브 링크 노출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영상 콘텐츠 내 상세정보 및</a:t>
            </a:r>
            <a:endParaRPr lang="en-US" altLang="ko-KR" sz="800" dirty="0">
              <a:solidFill>
                <a:srgbClr val="3D3D3D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 err="1">
                <a:solidFill>
                  <a:srgbClr val="3D3D3D"/>
                </a:solidFill>
              </a:rPr>
              <a:t>고정댓글</a:t>
            </a:r>
            <a:r>
              <a:rPr lang="ko-KR" altLang="en-US" sz="800" dirty="0">
                <a:solidFill>
                  <a:srgbClr val="3D3D3D"/>
                </a:solidFill>
              </a:rPr>
              <a:t> 통한 </a:t>
            </a:r>
            <a:r>
              <a:rPr lang="ko-KR" altLang="en-US" sz="800" dirty="0" err="1">
                <a:solidFill>
                  <a:srgbClr val="3D3D3D"/>
                </a:solidFill>
              </a:rPr>
              <a:t>톡방</a:t>
            </a:r>
            <a:r>
              <a:rPr lang="ko-KR" altLang="en-US" sz="800" dirty="0">
                <a:solidFill>
                  <a:srgbClr val="3D3D3D"/>
                </a:solidFill>
              </a:rPr>
              <a:t> 링크 노출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B3D3F9D-8E16-0EB8-2F8A-594E4000A844}"/>
              </a:ext>
            </a:extLst>
          </p:cNvPr>
          <p:cNvSpPr txBox="1"/>
          <p:nvPr/>
        </p:nvSpPr>
        <p:spPr>
          <a:xfrm>
            <a:off x="453000" y="5117538"/>
            <a:ext cx="4378764" cy="5001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방대한 구독자 기반의 유튜브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인스타그램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블로그 등 자체 콘텐츠 채널을 통해 다양한 연령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성별</a:t>
            </a:r>
            <a:r>
              <a:rPr lang="en-US" altLang="ko-KR" sz="1000" spc="-30" dirty="0">
                <a:solidFill>
                  <a:srgbClr val="3D3D3D"/>
                </a:solidFill>
              </a:rPr>
              <a:t>/</a:t>
            </a:r>
            <a:r>
              <a:rPr lang="ko-KR" altLang="en-US" sz="1000" spc="-30" dirty="0">
                <a:solidFill>
                  <a:srgbClr val="3D3D3D"/>
                </a:solidFill>
              </a:rPr>
              <a:t>니즈의 구독자에게 효과적인 광고 콘텐츠 노출 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자사 </a:t>
            </a:r>
            <a:r>
              <a:rPr lang="en-US" altLang="ko-KR" sz="1000" spc="-30" dirty="0">
                <a:solidFill>
                  <a:srgbClr val="3D3D3D"/>
                </a:solidFill>
              </a:rPr>
              <a:t>DB </a:t>
            </a:r>
            <a:r>
              <a:rPr lang="ko-KR" altLang="en-US" sz="1000" spc="-30" dirty="0">
                <a:solidFill>
                  <a:srgbClr val="3D3D3D"/>
                </a:solidFill>
              </a:rPr>
              <a:t>기반 강사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특성에 맞는 최적 콘텐츠  제작하여 긍정적 인지도 </a:t>
            </a:r>
            <a:r>
              <a:rPr lang="en-US" altLang="ko-KR" sz="1000" spc="-30" dirty="0">
                <a:solidFill>
                  <a:srgbClr val="3D3D3D"/>
                </a:solidFill>
              </a:rPr>
              <a:t>· </a:t>
            </a:r>
            <a:r>
              <a:rPr lang="ko-KR" altLang="en-US" sz="1000" spc="-30" dirty="0">
                <a:solidFill>
                  <a:srgbClr val="3D3D3D"/>
                </a:solidFill>
              </a:rPr>
              <a:t>신뢰도 확보</a:t>
            </a:r>
          </a:p>
        </p:txBody>
      </p:sp>
      <p:grpSp>
        <p:nvGrpSpPr>
          <p:cNvPr id="130" name="그룹 65">
            <a:extLst>
              <a:ext uri="{FF2B5EF4-FFF2-40B4-BE49-F238E27FC236}">
                <a16:creationId xmlns:a16="http://schemas.microsoft.com/office/drawing/2014/main" id="{3CA2E6BD-5DD8-0636-B186-9FB7AB2CF7DB}"/>
              </a:ext>
            </a:extLst>
          </p:cNvPr>
          <p:cNvGrpSpPr/>
          <p:nvPr/>
        </p:nvGrpSpPr>
        <p:grpSpPr>
          <a:xfrm>
            <a:off x="3659365" y="2491535"/>
            <a:ext cx="236270" cy="236345"/>
            <a:chOff x="3795386" y="7152361"/>
            <a:chExt cx="496702" cy="450937"/>
          </a:xfrm>
        </p:grpSpPr>
        <p:sp>
          <p:nvSpPr>
            <p:cNvPr id="131" name="화살표: 갈매기형 수장 66">
              <a:extLst>
                <a:ext uri="{FF2B5EF4-FFF2-40B4-BE49-F238E27FC236}">
                  <a16:creationId xmlns:a16="http://schemas.microsoft.com/office/drawing/2014/main" id="{18AD41B7-A051-58CD-6485-E34A996C3709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2" name="화살표: 갈매기형 수장 67">
              <a:extLst>
                <a:ext uri="{FF2B5EF4-FFF2-40B4-BE49-F238E27FC236}">
                  <a16:creationId xmlns:a16="http://schemas.microsoft.com/office/drawing/2014/main" id="{25FB3948-3B7A-5539-8786-5BD855A74501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3" name="화살표: 갈매기형 수장 68">
              <a:extLst>
                <a:ext uri="{FF2B5EF4-FFF2-40B4-BE49-F238E27FC236}">
                  <a16:creationId xmlns:a16="http://schemas.microsoft.com/office/drawing/2014/main" id="{9547F5D1-C2DF-5193-A392-98841A344289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34" name="그룹 65">
            <a:extLst>
              <a:ext uri="{FF2B5EF4-FFF2-40B4-BE49-F238E27FC236}">
                <a16:creationId xmlns:a16="http://schemas.microsoft.com/office/drawing/2014/main" id="{5481A2B4-F1BC-DEE4-5562-FAD6E4422A3F}"/>
              </a:ext>
            </a:extLst>
          </p:cNvPr>
          <p:cNvGrpSpPr/>
          <p:nvPr/>
        </p:nvGrpSpPr>
        <p:grpSpPr>
          <a:xfrm>
            <a:off x="3659365" y="3262532"/>
            <a:ext cx="236270" cy="236345"/>
            <a:chOff x="3795386" y="7152361"/>
            <a:chExt cx="496702" cy="450937"/>
          </a:xfrm>
        </p:grpSpPr>
        <p:sp>
          <p:nvSpPr>
            <p:cNvPr id="135" name="화살표: 갈매기형 수장 66">
              <a:extLst>
                <a:ext uri="{FF2B5EF4-FFF2-40B4-BE49-F238E27FC236}">
                  <a16:creationId xmlns:a16="http://schemas.microsoft.com/office/drawing/2014/main" id="{15CB0A67-9A84-3BA1-F8ED-AB1D2DA00F5D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6" name="화살표: 갈매기형 수장 67">
              <a:extLst>
                <a:ext uri="{FF2B5EF4-FFF2-40B4-BE49-F238E27FC236}">
                  <a16:creationId xmlns:a16="http://schemas.microsoft.com/office/drawing/2014/main" id="{E15712CB-8D27-0CC7-446F-BA19A31A4F7F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37" name="화살표: 갈매기형 수장 68">
              <a:extLst>
                <a:ext uri="{FF2B5EF4-FFF2-40B4-BE49-F238E27FC236}">
                  <a16:creationId xmlns:a16="http://schemas.microsoft.com/office/drawing/2014/main" id="{1944930F-4F30-A8BD-D3BC-EB3366CC9E4C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38" name="그룹 65">
            <a:extLst>
              <a:ext uri="{FF2B5EF4-FFF2-40B4-BE49-F238E27FC236}">
                <a16:creationId xmlns:a16="http://schemas.microsoft.com/office/drawing/2014/main" id="{8F1E18A4-C6A7-6090-1901-8507BFAF748A}"/>
              </a:ext>
            </a:extLst>
          </p:cNvPr>
          <p:cNvGrpSpPr/>
          <p:nvPr/>
        </p:nvGrpSpPr>
        <p:grpSpPr>
          <a:xfrm>
            <a:off x="3659365" y="4033528"/>
            <a:ext cx="236270" cy="236345"/>
            <a:chOff x="3795386" y="7152361"/>
            <a:chExt cx="496702" cy="450937"/>
          </a:xfrm>
        </p:grpSpPr>
        <p:sp>
          <p:nvSpPr>
            <p:cNvPr id="139" name="화살표: 갈매기형 수장 66">
              <a:extLst>
                <a:ext uri="{FF2B5EF4-FFF2-40B4-BE49-F238E27FC236}">
                  <a16:creationId xmlns:a16="http://schemas.microsoft.com/office/drawing/2014/main" id="{6F1ADD17-292E-B283-A4FE-EC04FA8A8638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40" name="화살표: 갈매기형 수장 67">
              <a:extLst>
                <a:ext uri="{FF2B5EF4-FFF2-40B4-BE49-F238E27FC236}">
                  <a16:creationId xmlns:a16="http://schemas.microsoft.com/office/drawing/2014/main" id="{2A7B2F42-74AF-C5CB-6BD3-451314618E07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41" name="화살표: 갈매기형 수장 68">
              <a:extLst>
                <a:ext uri="{FF2B5EF4-FFF2-40B4-BE49-F238E27FC236}">
                  <a16:creationId xmlns:a16="http://schemas.microsoft.com/office/drawing/2014/main" id="{429BB7EF-A42E-6C39-8853-58A042B082C9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46" name="화살표: 오른쪽 18">
            <a:extLst>
              <a:ext uri="{FF2B5EF4-FFF2-40B4-BE49-F238E27FC236}">
                <a16:creationId xmlns:a16="http://schemas.microsoft.com/office/drawing/2014/main" id="{9EA5A0F1-A38C-63C6-CC4B-BCA0ADA84607}"/>
              </a:ext>
            </a:extLst>
          </p:cNvPr>
          <p:cNvSpPr/>
          <p:nvPr/>
        </p:nvSpPr>
        <p:spPr>
          <a:xfrm>
            <a:off x="453001" y="4781938"/>
            <a:ext cx="4378764" cy="383329"/>
          </a:xfrm>
          <a:prstGeom prst="rightArrow">
            <a:avLst/>
          </a:prstGeom>
          <a:gradFill>
            <a:gsLst>
              <a:gs pos="22000">
                <a:srgbClr val="539DFF"/>
              </a:gs>
              <a:gs pos="0">
                <a:srgbClr val="FFFFFF"/>
              </a:gs>
              <a:gs pos="100000">
                <a:srgbClr val="539D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7" name="화살표: 오른쪽 18">
            <a:extLst>
              <a:ext uri="{FF2B5EF4-FFF2-40B4-BE49-F238E27FC236}">
                <a16:creationId xmlns:a16="http://schemas.microsoft.com/office/drawing/2014/main" id="{37B0EBF2-DB6B-9F49-4946-6323E5DF405D}"/>
              </a:ext>
            </a:extLst>
          </p:cNvPr>
          <p:cNvSpPr/>
          <p:nvPr/>
        </p:nvSpPr>
        <p:spPr>
          <a:xfrm>
            <a:off x="5050090" y="4781938"/>
            <a:ext cx="4414988" cy="383329"/>
          </a:xfrm>
          <a:prstGeom prst="rightArrow">
            <a:avLst/>
          </a:prstGeom>
          <a:gradFill>
            <a:gsLst>
              <a:gs pos="22000">
                <a:srgbClr val="4B6DE8"/>
              </a:gs>
              <a:gs pos="0">
                <a:srgbClr val="FFFFFF"/>
              </a:gs>
              <a:gs pos="100000">
                <a:srgbClr val="4B6DE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8" name="직사각형 51">
            <a:extLst>
              <a:ext uri="{FF2B5EF4-FFF2-40B4-BE49-F238E27FC236}">
                <a16:creationId xmlns:a16="http://schemas.microsoft.com/office/drawing/2014/main" id="{BD5FEB88-07DE-4A54-9CEE-FC1AEA3DA95A}"/>
              </a:ext>
            </a:extLst>
          </p:cNvPr>
          <p:cNvSpPr/>
          <p:nvPr/>
        </p:nvSpPr>
        <p:spPr>
          <a:xfrm>
            <a:off x="8159544" y="2112419"/>
            <a:ext cx="1284971" cy="432000"/>
          </a:xfrm>
          <a:prstGeom prst="rect">
            <a:avLst/>
          </a:prstGeom>
          <a:solidFill>
            <a:srgbClr val="11244A"/>
          </a:solidFill>
          <a:ln w="63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유료강의 구매</a:t>
            </a:r>
          </a:p>
        </p:txBody>
      </p:sp>
      <p:grpSp>
        <p:nvGrpSpPr>
          <p:cNvPr id="159" name="그룹 65">
            <a:extLst>
              <a:ext uri="{FF2B5EF4-FFF2-40B4-BE49-F238E27FC236}">
                <a16:creationId xmlns:a16="http://schemas.microsoft.com/office/drawing/2014/main" id="{426FFB7F-B9E4-632F-5145-B0FDBD7326DB}"/>
              </a:ext>
            </a:extLst>
          </p:cNvPr>
          <p:cNvGrpSpPr/>
          <p:nvPr/>
        </p:nvGrpSpPr>
        <p:grpSpPr>
          <a:xfrm>
            <a:off x="6383314" y="2262300"/>
            <a:ext cx="183312" cy="183370"/>
            <a:chOff x="3795386" y="7152361"/>
            <a:chExt cx="496702" cy="450937"/>
          </a:xfrm>
        </p:grpSpPr>
        <p:sp>
          <p:nvSpPr>
            <p:cNvPr id="160" name="화살표: 갈매기형 수장 66">
              <a:extLst>
                <a:ext uri="{FF2B5EF4-FFF2-40B4-BE49-F238E27FC236}">
                  <a16:creationId xmlns:a16="http://schemas.microsoft.com/office/drawing/2014/main" id="{7508E5ED-182E-9203-553A-92B57AB91BDB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1" name="화살표: 갈매기형 수장 67">
              <a:extLst>
                <a:ext uri="{FF2B5EF4-FFF2-40B4-BE49-F238E27FC236}">
                  <a16:creationId xmlns:a16="http://schemas.microsoft.com/office/drawing/2014/main" id="{BC9E4E88-10BD-23C3-9222-EA434E4387B4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2" name="화살표: 갈매기형 수장 68">
              <a:extLst>
                <a:ext uri="{FF2B5EF4-FFF2-40B4-BE49-F238E27FC236}">
                  <a16:creationId xmlns:a16="http://schemas.microsoft.com/office/drawing/2014/main" id="{0F7CEBD4-6EA9-EA8E-4F48-5EA4104C3623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66" name="그룹 65">
            <a:extLst>
              <a:ext uri="{FF2B5EF4-FFF2-40B4-BE49-F238E27FC236}">
                <a16:creationId xmlns:a16="http://schemas.microsoft.com/office/drawing/2014/main" id="{F97903B7-F212-B332-A849-6720A67D6452}"/>
              </a:ext>
            </a:extLst>
          </p:cNvPr>
          <p:cNvGrpSpPr/>
          <p:nvPr/>
        </p:nvGrpSpPr>
        <p:grpSpPr>
          <a:xfrm>
            <a:off x="7928482" y="2262300"/>
            <a:ext cx="183312" cy="183370"/>
            <a:chOff x="3795386" y="7152361"/>
            <a:chExt cx="496702" cy="450937"/>
          </a:xfrm>
        </p:grpSpPr>
        <p:sp>
          <p:nvSpPr>
            <p:cNvPr id="167" name="화살표: 갈매기형 수장 66">
              <a:extLst>
                <a:ext uri="{FF2B5EF4-FFF2-40B4-BE49-F238E27FC236}">
                  <a16:creationId xmlns:a16="http://schemas.microsoft.com/office/drawing/2014/main" id="{D7411742-3F34-555D-2022-E6B70FF4EC05}"/>
                </a:ext>
              </a:extLst>
            </p:cNvPr>
            <p:cNvSpPr/>
            <p:nvPr/>
          </p:nvSpPr>
          <p:spPr>
            <a:xfrm>
              <a:off x="3795386" y="7152361"/>
              <a:ext cx="187891" cy="45093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8" name="화살표: 갈매기형 수장 67">
              <a:extLst>
                <a:ext uri="{FF2B5EF4-FFF2-40B4-BE49-F238E27FC236}">
                  <a16:creationId xmlns:a16="http://schemas.microsoft.com/office/drawing/2014/main" id="{BE68EE4A-6479-7B56-3BD4-D5543AAB9148}"/>
                </a:ext>
              </a:extLst>
            </p:cNvPr>
            <p:cNvSpPr/>
            <p:nvPr/>
          </p:nvSpPr>
          <p:spPr>
            <a:xfrm>
              <a:off x="3947786" y="7152361"/>
              <a:ext cx="187891" cy="450937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69" name="화살표: 갈매기형 수장 68">
              <a:extLst>
                <a:ext uri="{FF2B5EF4-FFF2-40B4-BE49-F238E27FC236}">
                  <a16:creationId xmlns:a16="http://schemas.microsoft.com/office/drawing/2014/main" id="{2621E7C3-3919-29F2-2651-3C6818916089}"/>
                </a:ext>
              </a:extLst>
            </p:cNvPr>
            <p:cNvSpPr/>
            <p:nvPr/>
          </p:nvSpPr>
          <p:spPr>
            <a:xfrm>
              <a:off x="4104197" y="7152361"/>
              <a:ext cx="187891" cy="450937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>
                <a:solidFill>
                  <a:schemeClr val="accent3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70" name="사다리꼴 6">
            <a:extLst>
              <a:ext uri="{FF2B5EF4-FFF2-40B4-BE49-F238E27FC236}">
                <a16:creationId xmlns:a16="http://schemas.microsoft.com/office/drawing/2014/main" id="{EEC696DE-B235-FD45-5198-0E0F335261C7}"/>
              </a:ext>
            </a:extLst>
          </p:cNvPr>
          <p:cNvSpPr/>
          <p:nvPr/>
        </p:nvSpPr>
        <p:spPr>
          <a:xfrm rot="5400000">
            <a:off x="3622179" y="3384457"/>
            <a:ext cx="2350360" cy="216513"/>
          </a:xfrm>
          <a:prstGeom prst="trapezoid">
            <a:avLst>
              <a:gd name="adj" fmla="val 66874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err="1">
              <a:solidFill>
                <a:schemeClr val="tx2">
                  <a:lumMod val="50000"/>
                </a:schemeClr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715D470-CA0C-611B-18AD-651263AFBED9}"/>
              </a:ext>
            </a:extLst>
          </p:cNvPr>
          <p:cNvSpPr txBox="1"/>
          <p:nvPr/>
        </p:nvSpPr>
        <p:spPr>
          <a:xfrm>
            <a:off x="6604817" y="4118022"/>
            <a:ext cx="1284972" cy="566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무료 라이브 강의 </a:t>
            </a:r>
            <a:r>
              <a:rPr lang="en-US" altLang="ko-KR" sz="1000" b="1" dirty="0">
                <a:solidFill>
                  <a:srgbClr val="11244A"/>
                </a:solidFill>
              </a:rPr>
              <a:t>/ Q&amp;A</a:t>
            </a:r>
          </a:p>
          <a:p>
            <a:pPr algn="ctr">
              <a:lnSpc>
                <a:spcPct val="110000"/>
              </a:lnSpc>
            </a:pPr>
            <a:r>
              <a:rPr lang="ko-KR" altLang="en-US" sz="800" dirty="0" err="1">
                <a:solidFill>
                  <a:srgbClr val="3D3D3D"/>
                </a:solidFill>
              </a:rPr>
              <a:t>톡방</a:t>
            </a:r>
            <a:r>
              <a:rPr lang="ko-KR" altLang="en-US" sz="800" dirty="0">
                <a:solidFill>
                  <a:srgbClr val="3D3D3D"/>
                </a:solidFill>
              </a:rPr>
              <a:t> 유저 대상 라이브 강의 진행</a:t>
            </a:r>
            <a:r>
              <a:rPr lang="en-US" altLang="ko-KR" sz="800" dirty="0">
                <a:solidFill>
                  <a:srgbClr val="3D3D3D"/>
                </a:solidFill>
              </a:rPr>
              <a:t>, </a:t>
            </a:r>
            <a:br>
              <a:rPr lang="en-US" altLang="ko-KR" sz="800" dirty="0">
                <a:solidFill>
                  <a:srgbClr val="3D3D3D"/>
                </a:solidFill>
              </a:rPr>
            </a:br>
            <a:r>
              <a:rPr lang="ko-KR" altLang="en-US" sz="800" dirty="0">
                <a:solidFill>
                  <a:srgbClr val="3D3D3D"/>
                </a:solidFill>
              </a:rPr>
              <a:t>강사의 직접 </a:t>
            </a:r>
            <a:r>
              <a:rPr lang="en-US" altLang="ko-KR" sz="800" dirty="0">
                <a:solidFill>
                  <a:srgbClr val="3D3D3D"/>
                </a:solidFill>
              </a:rPr>
              <a:t>Q&amp;A </a:t>
            </a:r>
            <a:r>
              <a:rPr lang="ko-KR" altLang="en-US" sz="800" dirty="0">
                <a:solidFill>
                  <a:srgbClr val="3D3D3D"/>
                </a:solidFill>
              </a:rPr>
              <a:t>진행을 통해</a:t>
            </a:r>
            <a:br>
              <a:rPr lang="en-US" altLang="ko-KR" sz="800" dirty="0">
                <a:solidFill>
                  <a:srgbClr val="3D3D3D"/>
                </a:solidFill>
              </a:rPr>
            </a:br>
            <a:r>
              <a:rPr lang="ko-KR" altLang="en-US" sz="800" dirty="0">
                <a:solidFill>
                  <a:srgbClr val="3D3D3D"/>
                </a:solidFill>
              </a:rPr>
              <a:t>유료 전환 촉진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09FDAC1-D5AE-A0EB-FBAE-D330D1FED337}"/>
              </a:ext>
            </a:extLst>
          </p:cNvPr>
          <p:cNvSpPr txBox="1"/>
          <p:nvPr/>
        </p:nvSpPr>
        <p:spPr>
          <a:xfrm>
            <a:off x="8306595" y="4324369"/>
            <a:ext cx="1035540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후속기수 개설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 err="1">
                <a:solidFill>
                  <a:srgbClr val="3D3D3D"/>
                </a:solidFill>
              </a:rPr>
              <a:t>팬덤</a:t>
            </a:r>
            <a:r>
              <a:rPr lang="ko-KR" altLang="en-US" sz="800" dirty="0">
                <a:solidFill>
                  <a:srgbClr val="3D3D3D"/>
                </a:solidFill>
              </a:rPr>
              <a:t> 기반 커뮤니티 운영 </a:t>
            </a:r>
            <a:r>
              <a:rPr lang="en-US" altLang="ko-KR" sz="800" dirty="0">
                <a:solidFill>
                  <a:srgbClr val="3D3D3D"/>
                </a:solidFill>
              </a:rPr>
              <a:t>· </a:t>
            </a:r>
            <a:br>
              <a:rPr lang="en-US" altLang="ko-KR" sz="800" dirty="0">
                <a:solidFill>
                  <a:srgbClr val="3D3D3D"/>
                </a:solidFill>
              </a:rPr>
            </a:br>
            <a:r>
              <a:rPr lang="en-US" altLang="ko-KR" sz="800" dirty="0">
                <a:solidFill>
                  <a:srgbClr val="3D3D3D"/>
                </a:solidFill>
              </a:rPr>
              <a:t>A/S </a:t>
            </a:r>
            <a:r>
              <a:rPr lang="ko-KR" altLang="en-US" sz="800" dirty="0">
                <a:solidFill>
                  <a:srgbClr val="3D3D3D"/>
                </a:solidFill>
              </a:rPr>
              <a:t>통한 후속기수 진행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EAA6BE4-7843-D1D2-8FD9-F7F83FDE348F}"/>
              </a:ext>
            </a:extLst>
          </p:cNvPr>
          <p:cNvSpPr txBox="1"/>
          <p:nvPr/>
        </p:nvSpPr>
        <p:spPr>
          <a:xfrm>
            <a:off x="8168365" y="3202910"/>
            <a:ext cx="1248739" cy="4311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000" b="1" dirty="0">
                <a:solidFill>
                  <a:srgbClr val="11244A"/>
                </a:solidFill>
              </a:rPr>
              <a:t>유료강의 결제</a:t>
            </a:r>
            <a:endParaRPr lang="en-US" altLang="ko-KR" sz="1000" b="1" dirty="0">
              <a:solidFill>
                <a:srgbClr val="11244A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ko-KR" altLang="en-US" sz="800" dirty="0">
                <a:solidFill>
                  <a:srgbClr val="3D3D3D"/>
                </a:solidFill>
              </a:rPr>
              <a:t>기간한정 구매 구조 및 각종혜택</a:t>
            </a:r>
            <a:br>
              <a:rPr lang="en-US" altLang="ko-KR" sz="800" dirty="0">
                <a:solidFill>
                  <a:srgbClr val="3D3D3D"/>
                </a:solidFill>
              </a:rPr>
            </a:br>
            <a:r>
              <a:rPr lang="ko-KR" altLang="en-US" sz="800" dirty="0">
                <a:solidFill>
                  <a:srgbClr val="3D3D3D"/>
                </a:solidFill>
              </a:rPr>
              <a:t>제공을 통한 유료전환 촉진</a:t>
            </a:r>
            <a:endParaRPr lang="en-US" altLang="ko-KR" sz="800" dirty="0">
              <a:solidFill>
                <a:srgbClr val="3D3D3D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5F592516-1D3B-1A4A-0728-84429033A756}"/>
              </a:ext>
            </a:extLst>
          </p:cNvPr>
          <p:cNvSpPr txBox="1"/>
          <p:nvPr/>
        </p:nvSpPr>
        <p:spPr>
          <a:xfrm>
            <a:off x="5050089" y="5117538"/>
            <a:ext cx="4402911" cy="6540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 err="1">
                <a:solidFill>
                  <a:srgbClr val="3D3D3D"/>
                </a:solidFill>
              </a:rPr>
              <a:t>온드미디어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 유료광고 콘텐츠 내 무료 링크 노출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무료 강의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전자책 등 </a:t>
            </a:r>
            <a:r>
              <a:rPr lang="en-US" altLang="ko-KR" sz="1000" spc="-30" dirty="0">
                <a:solidFill>
                  <a:srgbClr val="3D3D3D"/>
                </a:solidFill>
              </a:rPr>
              <a:t>‘</a:t>
            </a:r>
            <a:r>
              <a:rPr lang="ko-KR" altLang="en-US" sz="1000" spc="-30" dirty="0">
                <a:solidFill>
                  <a:srgbClr val="3D3D3D"/>
                </a:solidFill>
              </a:rPr>
              <a:t>미끼</a:t>
            </a:r>
            <a:r>
              <a:rPr lang="en-US" altLang="ko-KR" sz="1000" spc="-30" dirty="0">
                <a:solidFill>
                  <a:srgbClr val="3D3D3D"/>
                </a:solidFill>
              </a:rPr>
              <a:t>‘ </a:t>
            </a:r>
            <a:r>
              <a:rPr lang="ko-KR" altLang="en-US" sz="1000" spc="-30" dirty="0">
                <a:solidFill>
                  <a:srgbClr val="3D3D3D"/>
                </a:solidFill>
              </a:rPr>
              <a:t>콘텐츠 제공 약속하여 관심도 높은 잠재 고객의 부담 없는 유입 유인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강사 </a:t>
            </a:r>
            <a:r>
              <a:rPr lang="en-US" altLang="ko-KR" sz="1000" spc="-30" dirty="0">
                <a:solidFill>
                  <a:srgbClr val="3D3D3D"/>
                </a:solidFill>
              </a:rPr>
              <a:t>- </a:t>
            </a:r>
            <a:r>
              <a:rPr lang="ko-KR" altLang="en-US" sz="1000" spc="-30" dirty="0">
                <a:solidFill>
                  <a:srgbClr val="3D3D3D"/>
                </a:solidFill>
              </a:rPr>
              <a:t>수강생 간 양방향 소통 중심의 강의와 강의 종료 후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팬덤</a:t>
            </a:r>
            <a:r>
              <a:rPr lang="ko-KR" altLang="en-US" sz="1000" spc="-30" dirty="0">
                <a:solidFill>
                  <a:srgbClr val="3D3D3D"/>
                </a:solidFill>
              </a:rPr>
              <a:t> 기반 커뮤니티 운영 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en-US" altLang="ko-KR" sz="1000" spc="-30" dirty="0">
                <a:solidFill>
                  <a:srgbClr val="3D3D3D"/>
                </a:solidFill>
              </a:rPr>
              <a:t>AS</a:t>
            </a:r>
            <a:r>
              <a:rPr lang="ko-KR" altLang="en-US" sz="1000" spc="-30" dirty="0">
                <a:solidFill>
                  <a:srgbClr val="3D3D3D"/>
                </a:solidFill>
              </a:rPr>
              <a:t>로 후속 기수 개설 기회 극대화</a:t>
            </a:r>
          </a:p>
        </p:txBody>
      </p:sp>
      <p:sp>
        <p:nvSpPr>
          <p:cNvPr id="180" name="직사각형 74">
            <a:extLst>
              <a:ext uri="{FF2B5EF4-FFF2-40B4-BE49-F238E27FC236}">
                <a16:creationId xmlns:a16="http://schemas.microsoft.com/office/drawing/2014/main" id="{3BF5F543-50A4-825E-63D7-0A561804492C}"/>
              </a:ext>
            </a:extLst>
          </p:cNvPr>
          <p:cNvSpPr/>
          <p:nvPr/>
        </p:nvSpPr>
        <p:spPr>
          <a:xfrm>
            <a:off x="1583069" y="4866292"/>
            <a:ext cx="1684006" cy="21461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마케팅</a:t>
            </a:r>
          </a:p>
        </p:txBody>
      </p:sp>
      <p:sp>
        <p:nvSpPr>
          <p:cNvPr id="184" name="직사각형 74">
            <a:extLst>
              <a:ext uri="{FF2B5EF4-FFF2-40B4-BE49-F238E27FC236}">
                <a16:creationId xmlns:a16="http://schemas.microsoft.com/office/drawing/2014/main" id="{CAEE7346-F377-A904-7A0D-A816621E790A}"/>
              </a:ext>
            </a:extLst>
          </p:cNvPr>
          <p:cNvSpPr/>
          <p:nvPr/>
        </p:nvSpPr>
        <p:spPr>
          <a:xfrm>
            <a:off x="6409541" y="4866292"/>
            <a:ext cx="1684006" cy="214619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세일즈</a:t>
            </a: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A2D1E07-5798-3704-1E65-0E5884994C5D}"/>
              </a:ext>
            </a:extLst>
          </p:cNvPr>
          <p:cNvGrpSpPr/>
          <p:nvPr/>
        </p:nvGrpSpPr>
        <p:grpSpPr>
          <a:xfrm>
            <a:off x="6604817" y="2828390"/>
            <a:ext cx="1273801" cy="1212007"/>
            <a:chOff x="6479597" y="2840284"/>
            <a:chExt cx="1383909" cy="1316773"/>
          </a:xfrm>
        </p:grpSpPr>
        <p:pic>
          <p:nvPicPr>
            <p:cNvPr id="186" name="Picture 6">
              <a:extLst>
                <a:ext uri="{FF2B5EF4-FFF2-40B4-BE49-F238E27FC236}">
                  <a16:creationId xmlns:a16="http://schemas.microsoft.com/office/drawing/2014/main" id="{65A30E56-045E-15CD-8646-A2F016051096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9597" y="2840284"/>
              <a:ext cx="652981" cy="1305962"/>
            </a:xfrm>
            <a:prstGeom prst="rect">
              <a:avLst/>
            </a:prstGeom>
            <a:ln w="3175">
              <a:solidFill>
                <a:srgbClr val="3D3D3D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7" name="Picture 10">
              <a:extLst>
                <a:ext uri="{FF2B5EF4-FFF2-40B4-BE49-F238E27FC236}">
                  <a16:creationId xmlns:a16="http://schemas.microsoft.com/office/drawing/2014/main" id="{F895DD02-3D86-161B-8258-FADBE5E1DB70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6813" y="2843671"/>
              <a:ext cx="656693" cy="1313386"/>
            </a:xfrm>
            <a:prstGeom prst="rect">
              <a:avLst/>
            </a:prstGeom>
            <a:ln w="3175">
              <a:solidFill>
                <a:srgbClr val="3D3D3D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C689C4F1-4431-BC5B-1292-AF79C7DA5A02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자사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관계사 채널 기반의 광범위한 </a:t>
            </a:r>
            <a:r>
              <a:rPr lang="ko-KR" altLang="en-US" sz="1400" b="1" dirty="0" err="1">
                <a:solidFill>
                  <a:srgbClr val="3D3D3D"/>
                </a:solidFill>
              </a:rPr>
              <a:t>도달력과</a:t>
            </a:r>
            <a:r>
              <a:rPr lang="ko-KR" altLang="en-US" sz="1400" b="1" dirty="0">
                <a:solidFill>
                  <a:srgbClr val="3D3D3D"/>
                </a:solidFill>
              </a:rPr>
              <a:t> 정교한 </a:t>
            </a:r>
            <a:r>
              <a:rPr lang="ko-KR" altLang="en-US" sz="1400" b="1" dirty="0" err="1">
                <a:solidFill>
                  <a:srgbClr val="3D3D3D"/>
                </a:solidFill>
              </a:rPr>
              <a:t>퍼널</a:t>
            </a:r>
            <a:r>
              <a:rPr lang="ko-KR" altLang="en-US" sz="1400" b="1" dirty="0">
                <a:solidFill>
                  <a:srgbClr val="3D3D3D"/>
                </a:solidFill>
              </a:rPr>
              <a:t> 운영을 통해 잠재고객을 효율적으로 </a:t>
            </a:r>
            <a:r>
              <a:rPr lang="ko-KR" altLang="en-US" sz="1400" b="1" dirty="0" err="1">
                <a:solidFill>
                  <a:srgbClr val="3D3D3D"/>
                </a:solidFill>
              </a:rPr>
              <a:t>유입시키고</a:t>
            </a:r>
            <a:r>
              <a:rPr lang="ko-KR" altLang="en-US" sz="1400" b="1" dirty="0">
                <a:solidFill>
                  <a:srgbClr val="3D3D3D"/>
                </a:solidFill>
              </a:rPr>
              <a:t> 자연스러운 구매 전환을 이끌어내는 고도화된 마케팅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세일즈 시스템을 보유하고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pic>
        <p:nvPicPr>
          <p:cNvPr id="191" name="그림 190">
            <a:extLst>
              <a:ext uri="{FF2B5EF4-FFF2-40B4-BE49-F238E27FC236}">
                <a16:creationId xmlns:a16="http://schemas.microsoft.com/office/drawing/2014/main" id="{448F9F76-3730-19A6-802B-48C75DCB76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7836" y="2620362"/>
            <a:ext cx="339888" cy="556124"/>
          </a:xfrm>
          <a:prstGeom prst="rect">
            <a:avLst/>
          </a:prstGeom>
          <a:ln w="3175">
            <a:solidFill>
              <a:srgbClr val="3D3D3D"/>
            </a:solidFill>
          </a:ln>
        </p:spPr>
      </p:pic>
      <p:pic>
        <p:nvPicPr>
          <p:cNvPr id="193" name="그림 192">
            <a:extLst>
              <a:ext uri="{FF2B5EF4-FFF2-40B4-BE49-F238E27FC236}">
                <a16:creationId xmlns:a16="http://schemas.microsoft.com/office/drawing/2014/main" id="{CB095F88-A84E-C4B2-8467-AFF1E017ECD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7159" y="2616091"/>
            <a:ext cx="531335" cy="560393"/>
          </a:xfrm>
          <a:prstGeom prst="rect">
            <a:avLst/>
          </a:prstGeom>
          <a:ln w="3175">
            <a:solidFill>
              <a:srgbClr val="3D3D3D"/>
            </a:solidFill>
          </a:ln>
        </p:spPr>
      </p:pic>
      <p:pic>
        <p:nvPicPr>
          <p:cNvPr id="195" name="그림 194">
            <a:extLst>
              <a:ext uri="{FF2B5EF4-FFF2-40B4-BE49-F238E27FC236}">
                <a16:creationId xmlns:a16="http://schemas.microsoft.com/office/drawing/2014/main" id="{3A56628F-F7EE-D566-6B85-EC656F384A2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7186" y="3866800"/>
            <a:ext cx="1159918" cy="40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647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588AE-AAAF-3B73-1DEC-07584821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A5CFBA-A552-ACD0-40F8-0F3B0440EE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마케팅 </a:t>
            </a:r>
            <a:r>
              <a:rPr lang="en-US" altLang="ko-KR" dirty="0"/>
              <a:t>· </a:t>
            </a:r>
            <a:r>
              <a:rPr lang="ko-KR" altLang="en-US" dirty="0"/>
              <a:t>세일즈  </a:t>
            </a:r>
            <a:r>
              <a:rPr lang="en-US" altLang="ko-KR" dirty="0"/>
              <a:t>- </a:t>
            </a:r>
            <a:r>
              <a:rPr lang="ko-KR" altLang="en-US" dirty="0"/>
              <a:t>광고 콘텐츠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1F522-C5A1-D457-BD9A-A9CFB4999C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7A7348-38CE-C852-29FB-895BFB1509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41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0918F6-F88D-E436-01E9-0BA2C3E64AF8}"/>
              </a:ext>
            </a:extLst>
          </p:cNvPr>
          <p:cNvSpPr/>
          <p:nvPr/>
        </p:nvSpPr>
        <p:spPr>
          <a:xfrm>
            <a:off x="453000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차별화된 광고 콘텐츠 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7FF909-7E9C-343D-ADEC-0BCDA56954E8}"/>
              </a:ext>
            </a:extLst>
          </p:cNvPr>
          <p:cNvSpPr/>
          <p:nvPr/>
        </p:nvSpPr>
        <p:spPr>
          <a:xfrm>
            <a:off x="453000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‘N</a:t>
            </a:r>
            <a:r>
              <a:rPr lang="ko-KR" altLang="en-US" sz="1200" b="1" dirty="0" err="1">
                <a:solidFill>
                  <a:schemeClr val="bg1"/>
                </a:solidFill>
              </a:rPr>
              <a:t>잡러</a:t>
            </a:r>
            <a:r>
              <a:rPr lang="en-US" altLang="ko-KR" sz="1200" b="1" dirty="0">
                <a:solidFill>
                  <a:schemeClr val="bg1"/>
                </a:solidFill>
              </a:rPr>
              <a:t>’</a:t>
            </a:r>
            <a:r>
              <a:rPr lang="ko-KR" altLang="en-US" sz="1200" b="1" dirty="0">
                <a:solidFill>
                  <a:schemeClr val="bg1"/>
                </a:solidFill>
              </a:rPr>
              <a:t>의 니즈를 관통하는 키워드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주제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1BD3331-A4B3-F61A-A1B3-C58050A530C8}"/>
              </a:ext>
            </a:extLst>
          </p:cNvPr>
          <p:cNvSpPr/>
          <p:nvPr/>
        </p:nvSpPr>
        <p:spPr>
          <a:xfrm>
            <a:off x="3512999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인터뷰 형식 경험 </a:t>
            </a:r>
            <a:r>
              <a:rPr lang="en-US" altLang="ko-KR" sz="1200" b="1" dirty="0">
                <a:solidFill>
                  <a:schemeClr val="bg1"/>
                </a:solidFill>
              </a:rPr>
              <a:t>/ </a:t>
            </a:r>
            <a:r>
              <a:rPr lang="ko-KR" altLang="en-US" sz="1200" b="1" dirty="0">
                <a:solidFill>
                  <a:schemeClr val="bg1"/>
                </a:solidFill>
              </a:rPr>
              <a:t>실제 사례 공유 형식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FC08CF-AB05-3B32-BE71-1AA2078A73A1}"/>
              </a:ext>
            </a:extLst>
          </p:cNvPr>
          <p:cNvSpPr/>
          <p:nvPr/>
        </p:nvSpPr>
        <p:spPr>
          <a:xfrm>
            <a:off x="6572998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실전 팁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전략 공유로 </a:t>
            </a:r>
            <a:r>
              <a:rPr lang="en-US" altLang="ko-KR" sz="1200" b="1" dirty="0">
                <a:solidFill>
                  <a:schemeClr val="bg1"/>
                </a:solidFill>
              </a:rPr>
              <a:t>‘</a:t>
            </a:r>
            <a:r>
              <a:rPr lang="ko-KR" altLang="en-US" sz="1200" b="1" dirty="0">
                <a:solidFill>
                  <a:schemeClr val="bg1"/>
                </a:solidFill>
              </a:rPr>
              <a:t>가치전달</a:t>
            </a:r>
            <a:r>
              <a:rPr lang="en-US" altLang="ko-KR" sz="1200" b="1" dirty="0">
                <a:solidFill>
                  <a:schemeClr val="bg1"/>
                </a:solidFill>
              </a:rPr>
              <a:t>’</a:t>
            </a:r>
            <a:r>
              <a:rPr lang="ko-KR" altLang="en-US" sz="1200" b="1" dirty="0">
                <a:solidFill>
                  <a:schemeClr val="bg1"/>
                </a:solidFill>
              </a:rPr>
              <a:t> 극대화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2D632AF-CD7E-9165-F5F2-3FFB7DC84F64}"/>
              </a:ext>
            </a:extLst>
          </p:cNvPr>
          <p:cNvGrpSpPr/>
          <p:nvPr/>
        </p:nvGrpSpPr>
        <p:grpSpPr>
          <a:xfrm>
            <a:off x="453000" y="2444133"/>
            <a:ext cx="2879999" cy="2526398"/>
            <a:chOff x="453001" y="2444133"/>
            <a:chExt cx="2504020" cy="21965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450DB7D-0CA7-63CF-2A94-E16C2937B8C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3001" y="2444134"/>
              <a:ext cx="1226072" cy="68966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5D5F3A1-862B-795A-18DA-0B20847960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001" y="3196825"/>
              <a:ext cx="1226072" cy="689665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B088608-6E09-2D6E-7D78-75A2A35CEC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3001" y="3949515"/>
              <a:ext cx="1226072" cy="68966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08795FD-5D5C-AD04-A1D9-631226E59A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29421" y="2444133"/>
              <a:ext cx="1227600" cy="6912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4A427BAA-0726-B603-219B-4A99719C5D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29421" y="3196824"/>
              <a:ext cx="1227600" cy="691200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11940626-B18F-DECF-6F8E-D810E097B1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29421" y="3949514"/>
              <a:ext cx="1227600" cy="691200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320078F-11CE-3818-AD68-B78321CDD263}"/>
              </a:ext>
            </a:extLst>
          </p:cNvPr>
          <p:cNvSpPr txBox="1"/>
          <p:nvPr/>
        </p:nvSpPr>
        <p:spPr>
          <a:xfrm>
            <a:off x="453000" y="5064615"/>
            <a:ext cx="2879999" cy="704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N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잡러들이</a:t>
            </a:r>
            <a:r>
              <a:rPr lang="ko-KR" altLang="en-US" sz="1000" spc="-30" dirty="0">
                <a:solidFill>
                  <a:srgbClr val="3D3D3D"/>
                </a:solidFill>
              </a:rPr>
              <a:t> 공감하는 수익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생계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시간 이슈를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직격하는</a:t>
            </a:r>
            <a:r>
              <a:rPr lang="ko-KR" altLang="en-US" sz="1000" spc="-30" dirty="0">
                <a:solidFill>
                  <a:srgbClr val="3D3D3D"/>
                </a:solidFill>
              </a:rPr>
              <a:t>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후킹형</a:t>
            </a:r>
            <a:r>
              <a:rPr lang="ko-KR" altLang="en-US" sz="1000" spc="-30" dirty="0">
                <a:solidFill>
                  <a:srgbClr val="3D3D3D"/>
                </a:solidFill>
              </a:rPr>
              <a:t> 제목으로 강한 초기 관심 확보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썸네일과 키워드에서 구체적 금액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성과를 제시해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클릭률과</a:t>
            </a:r>
            <a:r>
              <a:rPr lang="ko-KR" altLang="en-US" sz="1000" spc="-30" dirty="0">
                <a:solidFill>
                  <a:srgbClr val="3D3D3D"/>
                </a:solidFill>
              </a:rPr>
              <a:t> 시청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진입률</a:t>
            </a:r>
            <a:r>
              <a:rPr lang="ko-KR" altLang="en-US" sz="1000" spc="-30" dirty="0">
                <a:solidFill>
                  <a:srgbClr val="3D3D3D"/>
                </a:solidFill>
              </a:rPr>
              <a:t> 극대화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1319297-2E63-9DA5-BAD9-55805B5E8FA3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5622" y="4204789"/>
            <a:ext cx="1387377" cy="76397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C1859F2-8131-27EA-2C4A-BF0031A37A71}"/>
              </a:ext>
            </a:extLst>
          </p:cNvPr>
          <p:cNvPicPr preferRelativeResize="0"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3000" y="3344472"/>
            <a:ext cx="1387377" cy="76397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6E5831C-26F3-F970-3563-33E92B17F4B1}"/>
              </a:ext>
            </a:extLst>
          </p:cNvPr>
          <p:cNvPicPr preferRelativeResize="0"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05622" y="3344472"/>
            <a:ext cx="1387377" cy="76397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655C8D1-83FE-126A-01AF-F190AA100592}"/>
              </a:ext>
            </a:extLst>
          </p:cNvPr>
          <p:cNvPicPr preferRelativeResize="0"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2999" y="4204788"/>
            <a:ext cx="1387377" cy="76397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DFE80ED-F710-237C-FFCB-4DBEEFAB165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05622" y="2444133"/>
            <a:ext cx="1387377" cy="80777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C9D4153-B33E-4525-B044-4777C0821B8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2999" y="2447907"/>
            <a:ext cx="1387377" cy="80022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5052680-DAB0-A6EF-0697-EB6A7C39EF5F}"/>
              </a:ext>
            </a:extLst>
          </p:cNvPr>
          <p:cNvSpPr txBox="1"/>
          <p:nvPr/>
        </p:nvSpPr>
        <p:spPr>
          <a:xfrm>
            <a:off x="3513000" y="5064615"/>
            <a:ext cx="2879999" cy="704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자연스러운 대화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인터뷰 방식으로 광고성을 낮추고 ‘진짜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사례’처럼</a:t>
            </a:r>
            <a:r>
              <a:rPr lang="ko-KR" altLang="en-US" sz="1000" spc="-30" dirty="0">
                <a:solidFill>
                  <a:srgbClr val="3D3D3D"/>
                </a:solidFill>
              </a:rPr>
              <a:t> 느껴지도록 구성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실제 수익 인증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경험담을 중심으로 신뢰도를 강화해 콘텐츠 몰입도를 높임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5E8564D5-4E7A-6E66-7DCE-4FCBB2A8771D}"/>
              </a:ext>
            </a:extLst>
          </p:cNvPr>
          <p:cNvPicPr preferRelativeResize="0">
            <a:picLocks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2998" y="2448017"/>
            <a:ext cx="1404000" cy="789335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094EA84C-2C25-64A8-AC47-78DA983666E3}"/>
              </a:ext>
            </a:extLst>
          </p:cNvPr>
          <p:cNvPicPr preferRelativeResize="0">
            <a:picLocks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998" y="2448017"/>
            <a:ext cx="1404000" cy="789335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DA2A961-45EE-B44E-7B36-E57B82A43C5D}"/>
              </a:ext>
            </a:extLst>
          </p:cNvPr>
          <p:cNvPicPr preferRelativeResize="0">
            <a:picLocks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2998" y="3344473"/>
            <a:ext cx="1404000" cy="758588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BE15111-3741-5B59-523D-6FBD73FAA1B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999" y="3344472"/>
            <a:ext cx="1404000" cy="758588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FEA3427-58F7-FD89-A649-90DD202BBB6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84892" y="4204696"/>
            <a:ext cx="1387377" cy="76397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CA0DB2A-EE2D-D651-0C8D-0CF81D7B1BEA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9000" y="4204696"/>
            <a:ext cx="1404564" cy="75718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0CA5750-8010-3C40-8208-FB38FE89C633}"/>
              </a:ext>
            </a:extLst>
          </p:cNvPr>
          <p:cNvSpPr txBox="1"/>
          <p:nvPr/>
        </p:nvSpPr>
        <p:spPr>
          <a:xfrm>
            <a:off x="6585078" y="5063520"/>
            <a:ext cx="2879999" cy="704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유저가 바로 적용할 수 있는 핵심 팁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전략 일부를 공개해 실질적 도움을 주는 콘텐츠로 포지셔닝</a:t>
            </a:r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유저가 “나도 한번 시도해볼 수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있겠다”는</a:t>
            </a:r>
            <a:r>
              <a:rPr lang="ko-KR" altLang="en-US" sz="1000" spc="-30" dirty="0">
                <a:solidFill>
                  <a:srgbClr val="3D3D3D"/>
                </a:solidFill>
              </a:rPr>
              <a:t> 느낌을 받을 수 있도록 현실적 방향성을 제시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14BCA7-D5B9-92E3-32B2-0A0B049D04E5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</a:t>
            </a:r>
            <a:r>
              <a:rPr lang="en-US" altLang="ko-KR" sz="1400" b="1" dirty="0">
                <a:solidFill>
                  <a:srgbClr val="3D3D3D"/>
                </a:solidFill>
              </a:rPr>
              <a:t>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</a:t>
            </a:r>
            <a:r>
              <a:rPr lang="ko-KR" altLang="en-US" sz="1400" b="1" dirty="0">
                <a:solidFill>
                  <a:srgbClr val="3D3D3D"/>
                </a:solidFill>
              </a:rPr>
              <a:t> 수요자가 ‘공감하고 듣고 싶어 하는 </a:t>
            </a:r>
            <a:r>
              <a:rPr lang="ko-KR" altLang="en-US" sz="1400" b="1" dirty="0" err="1">
                <a:solidFill>
                  <a:srgbClr val="3D3D3D"/>
                </a:solidFill>
              </a:rPr>
              <a:t>이야기’를</a:t>
            </a:r>
            <a:r>
              <a:rPr lang="ko-KR" altLang="en-US" sz="1400" b="1" dirty="0">
                <a:solidFill>
                  <a:srgbClr val="3D3D3D"/>
                </a:solidFill>
              </a:rPr>
              <a:t> 관통하는 차별화된 광고 콘텐츠를 제작합니다</a:t>
            </a:r>
            <a:r>
              <a:rPr lang="en-US" altLang="ko-KR" sz="1400" b="1" dirty="0">
                <a:solidFill>
                  <a:srgbClr val="3D3D3D"/>
                </a:solidFill>
              </a:rPr>
              <a:t>. ‘N</a:t>
            </a:r>
            <a:r>
              <a:rPr lang="ko-KR" altLang="en-US" sz="1400" b="1" dirty="0" err="1">
                <a:solidFill>
                  <a:srgbClr val="3D3D3D"/>
                </a:solidFill>
              </a:rPr>
              <a:t>잡러</a:t>
            </a:r>
            <a:r>
              <a:rPr lang="en-US" altLang="ko-KR" sz="1400" b="1" dirty="0">
                <a:solidFill>
                  <a:srgbClr val="3D3D3D"/>
                </a:solidFill>
              </a:rPr>
              <a:t>’ </a:t>
            </a:r>
            <a:r>
              <a:rPr lang="ko-KR" altLang="en-US" sz="1400" b="1" dirty="0">
                <a:solidFill>
                  <a:srgbClr val="3D3D3D"/>
                </a:solidFill>
              </a:rPr>
              <a:t>들의  니즈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키워드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현실 고민을 정교하게 포착해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강한 몰입과 높은 전환으로 이어지는 뛰어난 광고 성과를 만들어내고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419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FF57BCD-50FB-C32C-6A79-0FDC9BFFA2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마케팅 </a:t>
            </a:r>
            <a:r>
              <a:rPr lang="en-US" altLang="ko-KR" dirty="0"/>
              <a:t>· </a:t>
            </a:r>
            <a:r>
              <a:rPr lang="ko-KR" altLang="en-US" dirty="0"/>
              <a:t>세일즈  </a:t>
            </a:r>
            <a:r>
              <a:rPr lang="en-US" altLang="ko-KR" dirty="0"/>
              <a:t>-  </a:t>
            </a:r>
            <a:r>
              <a:rPr lang="ko-KR" altLang="en-US" dirty="0"/>
              <a:t>운영 마케팅 채널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7DE402-9732-7001-2C97-D6A318EF97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</a:t>
            </a:r>
            <a:r>
              <a:rPr lang="ko-KR" altLang="en-US" dirty="0"/>
              <a:t> </a:t>
            </a:r>
            <a:r>
              <a:rPr lang="en-US" altLang="ko-KR" dirty="0"/>
              <a:t>1),2),3),4) ‘</a:t>
            </a:r>
            <a:r>
              <a:rPr lang="ko-KR" altLang="en-US" dirty="0" err="1"/>
              <a:t>우리동네사장</a:t>
            </a:r>
            <a:r>
              <a:rPr lang="en-US" altLang="ko-KR" dirty="0"/>
              <a:t>’,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 err="1"/>
              <a:t>전국부업자랑</a:t>
            </a:r>
            <a:r>
              <a:rPr lang="en-US" altLang="ko-KR" dirty="0"/>
              <a:t>’,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 err="1"/>
              <a:t>부업이알고싶다</a:t>
            </a:r>
            <a:r>
              <a:rPr lang="en-US" altLang="ko-KR" dirty="0"/>
              <a:t>’, ‘</a:t>
            </a:r>
            <a:r>
              <a:rPr lang="ko-KR" altLang="en-US" dirty="0"/>
              <a:t>꿈꾸는 사람들</a:t>
            </a:r>
            <a:r>
              <a:rPr lang="en-US" altLang="ko-KR" dirty="0"/>
              <a:t>’ </a:t>
            </a:r>
            <a:r>
              <a:rPr lang="ko-KR" altLang="en-US" dirty="0"/>
              <a:t>의 경우 </a:t>
            </a:r>
            <a:r>
              <a:rPr lang="en-US" altLang="ko-KR" dirty="0"/>
              <a:t>2025</a:t>
            </a:r>
            <a:r>
              <a:rPr lang="ko-KR" altLang="en-US" dirty="0"/>
              <a:t>년 연중에 신규로 개설된 채널로 구독자 증가율을 측정하지 않음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A5527-5B26-6326-0CB3-3565D61708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42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8AFFDD-7F86-CFAB-8009-F9D48A8EB8F7}"/>
              </a:ext>
            </a:extLst>
          </p:cNvPr>
          <p:cNvSpPr/>
          <p:nvPr/>
        </p:nvSpPr>
        <p:spPr>
          <a:xfrm>
            <a:off x="453000" y="1700213"/>
            <a:ext cx="5939438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운영 중 마케팅 채널 성과</a:t>
            </a:r>
          </a:p>
        </p:txBody>
      </p:sp>
      <p:graphicFrame>
        <p:nvGraphicFramePr>
          <p:cNvPr id="12" name="표 28">
            <a:extLst>
              <a:ext uri="{FF2B5EF4-FFF2-40B4-BE49-F238E27FC236}">
                <a16:creationId xmlns:a16="http://schemas.microsoft.com/office/drawing/2014/main" id="{126B68B5-E996-58A8-36B8-3C33A606E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469237"/>
              </p:ext>
            </p:extLst>
          </p:nvPr>
        </p:nvGraphicFramePr>
        <p:xfrm>
          <a:off x="452438" y="2082888"/>
          <a:ext cx="5939440" cy="386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008">
                  <a:extLst>
                    <a:ext uri="{9D8B030D-6E8A-4147-A177-3AD203B41FA5}">
                      <a16:colId xmlns:a16="http://schemas.microsoft.com/office/drawing/2014/main" val="3319320361"/>
                    </a:ext>
                  </a:extLst>
                </a:gridCol>
                <a:gridCol w="914008">
                  <a:extLst>
                    <a:ext uri="{9D8B030D-6E8A-4147-A177-3AD203B41FA5}">
                      <a16:colId xmlns:a16="http://schemas.microsoft.com/office/drawing/2014/main" val="775626028"/>
                    </a:ext>
                  </a:extLst>
                </a:gridCol>
                <a:gridCol w="1027856">
                  <a:extLst>
                    <a:ext uri="{9D8B030D-6E8A-4147-A177-3AD203B41FA5}">
                      <a16:colId xmlns:a16="http://schemas.microsoft.com/office/drawing/2014/main" val="714373574"/>
                    </a:ext>
                  </a:extLst>
                </a:gridCol>
                <a:gridCol w="1027856">
                  <a:extLst>
                    <a:ext uri="{9D8B030D-6E8A-4147-A177-3AD203B41FA5}">
                      <a16:colId xmlns:a16="http://schemas.microsoft.com/office/drawing/2014/main" val="1267368470"/>
                    </a:ext>
                  </a:extLst>
                </a:gridCol>
                <a:gridCol w="1027856">
                  <a:extLst>
                    <a:ext uri="{9D8B030D-6E8A-4147-A177-3AD203B41FA5}">
                      <a16:colId xmlns:a16="http://schemas.microsoft.com/office/drawing/2014/main" val="4240548715"/>
                    </a:ext>
                  </a:extLst>
                </a:gridCol>
                <a:gridCol w="1027856">
                  <a:extLst>
                    <a:ext uri="{9D8B030D-6E8A-4147-A177-3AD203B41FA5}">
                      <a16:colId xmlns:a16="http://schemas.microsoft.com/office/drawing/2014/main" val="1452096826"/>
                    </a:ext>
                  </a:extLst>
                </a:gridCol>
              </a:tblGrid>
              <a:tr h="231144">
                <a:tc>
                  <a:txBody>
                    <a:bodyPr/>
                    <a:lstStyle/>
                    <a:p>
                      <a:pPr latinLnBrk="1"/>
                      <a:endParaRPr lang="ko-KR" altLang="en-US" sz="1000" b="1" i="0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1244A"/>
                        </a:solidFill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i="0" baseline="0" dirty="0">
                        <a:ln>
                          <a:solidFill>
                            <a:srgbClr val="FF0000">
                              <a:alpha val="0"/>
                            </a:srgbClr>
                          </a:solidFill>
                        </a:ln>
                        <a:solidFill>
                          <a:srgbClr val="11244A"/>
                        </a:solidFill>
                        <a:latin typeface="+mn-lt"/>
                        <a:ea typeface="KoPub돋움체 Medium" panose="00000600000000000000" pitchFamily="2" charset="-127"/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유저 성과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1E1E3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콘텐츠 성과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rgbClr val="1E1E3E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285427"/>
                  </a:ext>
                </a:extLst>
              </a:tr>
              <a:tr h="231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채널명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구독자 수</a:t>
                      </a:r>
                    </a:p>
                  </a:txBody>
                  <a:tcPr marL="0" marR="0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구독자 증가율</a:t>
                      </a:r>
                      <a:r>
                        <a:rPr lang="en-US" altLang="ko-KR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(LTM)</a:t>
                      </a:r>
                      <a:endParaRPr lang="ko-KR" altLang="en-US" sz="8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누적 조회수</a:t>
                      </a: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영상별 평균 조회수</a:t>
                      </a:r>
                      <a:endParaRPr lang="ko-KR" altLang="en-US" sz="10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10771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관계사채널</a:t>
                      </a:r>
                      <a:endParaRPr lang="ko-KR" altLang="en-US" sz="8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돈공</a:t>
                      </a:r>
                      <a:r>
                        <a:rPr lang="en-US" altLang="ko-KR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돈버는공식</a:t>
                      </a:r>
                      <a:endParaRPr lang="ko-KR" altLang="en-US" sz="8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34.1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-4.2%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3,128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6.9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906264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자체채널</a:t>
                      </a: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이웃집사장</a:t>
                      </a: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28.1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41.2%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528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3.1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429847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돈버는사람들</a:t>
                      </a:r>
                      <a:endParaRPr lang="ko-KR" altLang="en-US" sz="8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27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59.8%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16,768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25.1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711360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월세받는사람들</a:t>
                      </a:r>
                      <a:endParaRPr lang="ko-KR" altLang="en-US" sz="8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25.2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19.2%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506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3.1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843144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머니로드</a:t>
                      </a:r>
                      <a:endParaRPr lang="ko-KR" altLang="en-US" sz="8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21.1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43.5%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3,962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23.2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78688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옆집</a:t>
                      </a:r>
                      <a:r>
                        <a:rPr lang="en-US" altLang="ko-KR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CEO</a:t>
                      </a:r>
                      <a:endParaRPr lang="ko-KR" altLang="en-US" sz="8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15.8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51.5%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772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9.8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856165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우리동네사장</a:t>
                      </a:r>
                      <a:r>
                        <a:rPr lang="en-US" altLang="ko-KR" sz="800" b="1" kern="1200" baseline="300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  <a:endParaRPr lang="ko-KR" altLang="en-US" sz="8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15.7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75.3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5.5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천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338216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자영업자스토리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14.9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7.2%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6,218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9.6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96971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사장찍어주는남자</a:t>
                      </a:r>
                      <a:endParaRPr lang="ko-KR" altLang="en-US" sz="8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14.1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171.7%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7,669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22.3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763014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인생속으로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11.2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71%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4,563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8.1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365721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현장속으로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7.9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272.6%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3,417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altLang="ko-KR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5.7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29414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전국부업자랑</a:t>
                      </a:r>
                      <a:r>
                        <a:rPr lang="en-US" altLang="ko-KR" sz="800" b="1" kern="1200" baseline="300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endParaRPr lang="ko-KR" altLang="en-US" sz="8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6.9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67.4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altLang="ko-KR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4.2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228089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돈찾남</a:t>
                      </a:r>
                      <a:endParaRPr lang="ko-KR" altLang="en-US" sz="8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5.4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-0.4%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111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1.8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090916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온라인프리덤</a:t>
                      </a:r>
                      <a:endParaRPr lang="ko-KR" altLang="en-US" sz="800" kern="12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4.6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2,823.1%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398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4.2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468799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8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잡연구소</a:t>
                      </a:r>
                      <a:endParaRPr lang="ko-KR" altLang="en-US" sz="8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1.6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33.3%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5.3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천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513065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꿈꾸는 사람들</a:t>
                      </a:r>
                      <a:r>
                        <a:rPr kumimoji="0" lang="en-US" altLang="ko-KR" sz="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endParaRPr kumimoji="0" lang="ko-KR" altLang="en-US" sz="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11244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9.6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천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14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1.4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195780"/>
                  </a:ext>
                </a:extLst>
              </a:tr>
              <a:tr h="2000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부업이알고싶다</a:t>
                      </a:r>
                      <a:r>
                        <a:rPr kumimoji="0" lang="en-US" altLang="ko-KR" sz="800" b="1" i="0" u="none" strike="noStrike" kern="1200" cap="none" spc="0" normalizeH="0" baseline="3000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4)</a:t>
                      </a:r>
                      <a:endParaRPr kumimoji="0" lang="ko-KR" altLang="en-US" sz="800" b="1" i="0" u="none" strike="noStrike" kern="1200" cap="none" spc="0" normalizeH="0" baseline="30000" dirty="0">
                        <a:ln>
                          <a:noFill/>
                        </a:ln>
                        <a:solidFill>
                          <a:srgbClr val="11244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2.2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천 명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12.5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6.2 </a:t>
                      </a:r>
                      <a:r>
                        <a:rPr lang="ko-KR" altLang="en-US" sz="8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천 회</a:t>
                      </a:r>
                      <a:endParaRPr lang="en-US" sz="8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838291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3F7ED8-06C4-07FF-A33E-606C62FC03EC}"/>
              </a:ext>
            </a:extLst>
          </p:cNvPr>
          <p:cNvSpPr/>
          <p:nvPr/>
        </p:nvSpPr>
        <p:spPr>
          <a:xfrm>
            <a:off x="6572999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기타 </a:t>
            </a:r>
            <a:r>
              <a:rPr lang="en-US" altLang="ko-KR" sz="1200" b="1" dirty="0">
                <a:solidFill>
                  <a:schemeClr val="bg1"/>
                </a:solidFill>
              </a:rPr>
              <a:t>SNS </a:t>
            </a:r>
            <a:r>
              <a:rPr lang="ko-KR" altLang="en-US" sz="1200" b="1" dirty="0">
                <a:solidFill>
                  <a:schemeClr val="bg1"/>
                </a:solidFill>
              </a:rPr>
              <a:t>채널 현황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C110F290-0619-7CCE-52C5-62FC14C73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266411"/>
              </p:ext>
            </p:extLst>
          </p:nvPr>
        </p:nvGraphicFramePr>
        <p:xfrm>
          <a:off x="6572999" y="2082890"/>
          <a:ext cx="2880564" cy="3863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360">
                  <a:extLst>
                    <a:ext uri="{9D8B030D-6E8A-4147-A177-3AD203B41FA5}">
                      <a16:colId xmlns:a16="http://schemas.microsoft.com/office/drawing/2014/main" val="1827548850"/>
                    </a:ext>
                  </a:extLst>
                </a:gridCol>
                <a:gridCol w="567558">
                  <a:extLst>
                    <a:ext uri="{9D8B030D-6E8A-4147-A177-3AD203B41FA5}">
                      <a16:colId xmlns:a16="http://schemas.microsoft.com/office/drawing/2014/main" val="2457026728"/>
                    </a:ext>
                  </a:extLst>
                </a:gridCol>
                <a:gridCol w="1332150">
                  <a:extLst>
                    <a:ext uri="{9D8B030D-6E8A-4147-A177-3AD203B41FA5}">
                      <a16:colId xmlns:a16="http://schemas.microsoft.com/office/drawing/2014/main" val="775626028"/>
                    </a:ext>
                  </a:extLst>
                </a:gridCol>
                <a:gridCol w="585496">
                  <a:extLst>
                    <a:ext uri="{9D8B030D-6E8A-4147-A177-3AD203B41FA5}">
                      <a16:colId xmlns:a16="http://schemas.microsoft.com/office/drawing/2014/main" val="714373574"/>
                    </a:ext>
                  </a:extLst>
                </a:gridCol>
              </a:tblGrid>
              <a:tr h="3662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채널명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팔로워</a:t>
                      </a:r>
                      <a:r>
                        <a:rPr lang="ko-KR" altLang="en-US" sz="10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 수</a:t>
                      </a:r>
                    </a:p>
                  </a:txBody>
                  <a:tcPr marL="74295" marR="74295" marT="37148" marB="3714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285427"/>
                  </a:ext>
                </a:extLst>
              </a:tr>
              <a:tr h="204297">
                <a:tc rowSpan="1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인스타</a:t>
                      </a:r>
                      <a:br>
                        <a:rPr lang="en-US" altLang="ko-KR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그램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sajjiknam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4.2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906264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money_road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2.1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429847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money_makers_youtube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7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711360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jangsa_story</a:t>
                      </a:r>
                      <a:r>
                        <a:rPr lang="en-US" altLang="ko-KR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1.7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843144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aliceinwonderreview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4.1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78688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nlab.kr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4.8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856165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cashflow_people</a:t>
                      </a:r>
                      <a:endParaRPr lang="ko-KR" altLang="en-US" sz="9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1.7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338216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관계사채널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youtube_insangstory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0.8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96971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eut.sajang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2.8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763014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financepro_choi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481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29414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jang_investment</a:t>
                      </a:r>
                      <a:endParaRPr lang="ko-KR" altLang="en-US" sz="900" b="1" kern="1200" baseline="300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462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228089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tradinghub.yuuj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475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090916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kern="12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jjin_global</a:t>
                      </a:r>
                      <a:endParaRPr lang="ko-KR" altLang="en-US" sz="900" kern="12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394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468799"/>
                  </a:ext>
                </a:extLst>
              </a:tr>
              <a:tr h="20429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err="1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gyul.hustle</a:t>
                      </a:r>
                      <a:endParaRPr lang="ko-KR" altLang="en-US" sz="900" b="1" kern="1200" dirty="0">
                        <a:solidFill>
                          <a:srgbClr val="11244A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3,800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513065"/>
                  </a:ext>
                </a:extLst>
              </a:tr>
              <a:tr h="17464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rgbClr val="11244A"/>
                          </a:solidFill>
                          <a:latin typeface="+mn-lt"/>
                          <a:ea typeface="+mn-ea"/>
                          <a:cs typeface="+mn-cs"/>
                        </a:rPr>
                        <a:t>블로그</a:t>
                      </a: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타이탄철물점</a:t>
                      </a:r>
                      <a:endParaRPr lang="ko-KR" altLang="en-US" sz="900" kern="12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3.2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838291"/>
                  </a:ext>
                </a:extLst>
              </a:tr>
              <a:tr h="17464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kern="1200" baseline="300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kern="1200" dirty="0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타이탄클래스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2.6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790401"/>
                  </a:ext>
                </a:extLst>
              </a:tr>
              <a:tr h="17464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kern="1200" baseline="300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7148" marB="3714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244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자체채널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kern="1200" dirty="0" err="1">
                          <a:ln>
                            <a:solidFill>
                              <a:srgbClr val="00338D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타철</a:t>
                      </a:r>
                      <a:endParaRPr lang="ko-KR" altLang="en-US" sz="900" kern="1200" dirty="0">
                        <a:ln>
                          <a:solidFill>
                            <a:srgbClr val="00338D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1.6 </a:t>
                      </a:r>
                      <a:r>
                        <a:rPr lang="ko-KR" altLang="en-US" sz="900" b="1" kern="1200" spc="0" dirty="0">
                          <a:solidFill>
                            <a:srgbClr val="3D3D3D"/>
                          </a:solidFill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en-US" sz="900" b="1" kern="1200" spc="0" dirty="0">
                        <a:solidFill>
                          <a:srgbClr val="3D3D3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783431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3D65FF91-9B6F-2939-CB2D-525816BD60C1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단일 채널 중심이 아닌 멀티 채널 포트폴리오를 구축하여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연령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성별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관심사별 세분화된 </a:t>
            </a:r>
            <a:r>
              <a:rPr lang="ko-KR" altLang="en-US" sz="1400" b="1" dirty="0" err="1">
                <a:solidFill>
                  <a:srgbClr val="3D3D3D"/>
                </a:solidFill>
              </a:rPr>
              <a:t>타겟군에</a:t>
            </a:r>
            <a:r>
              <a:rPr lang="ko-KR" altLang="en-US" sz="1400" b="1" dirty="0">
                <a:solidFill>
                  <a:srgbClr val="3D3D3D"/>
                </a:solidFill>
              </a:rPr>
              <a:t> 대해</a:t>
            </a:r>
            <a:r>
              <a:rPr lang="en-US" altLang="ko-KR" sz="1400" b="1" dirty="0">
                <a:solidFill>
                  <a:srgbClr val="3D3D3D"/>
                </a:solidFill>
              </a:rPr>
              <a:t> white-space</a:t>
            </a:r>
            <a:r>
              <a:rPr lang="ko-KR" altLang="en-US" sz="1400" b="1" dirty="0">
                <a:solidFill>
                  <a:srgbClr val="3D3D3D"/>
                </a:solidFill>
              </a:rPr>
              <a:t>없는 마케팅 </a:t>
            </a:r>
            <a:r>
              <a:rPr lang="ko-KR" altLang="en-US" sz="1400" b="1" dirty="0" err="1">
                <a:solidFill>
                  <a:srgbClr val="3D3D3D"/>
                </a:solidFill>
              </a:rPr>
              <a:t>커버리지를</a:t>
            </a:r>
            <a:r>
              <a:rPr lang="ko-KR" altLang="en-US" sz="1400" b="1" dirty="0">
                <a:solidFill>
                  <a:srgbClr val="3D3D3D"/>
                </a:solidFill>
              </a:rPr>
              <a:t> 구축하고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</a:t>
            </a:r>
            <a:r>
              <a:rPr lang="ko-KR" altLang="en-US" sz="1400" b="1" dirty="0">
                <a:solidFill>
                  <a:srgbClr val="3D3D3D"/>
                </a:solidFill>
              </a:rPr>
              <a:t>이를 통해 월등히 높은 마케팅 </a:t>
            </a:r>
            <a:r>
              <a:rPr lang="ko-KR" altLang="en-US" sz="1400" b="1" dirty="0" err="1">
                <a:solidFill>
                  <a:srgbClr val="3D3D3D"/>
                </a:solidFill>
              </a:rPr>
              <a:t>확산력</a:t>
            </a:r>
            <a:r>
              <a:rPr lang="en-US" altLang="ko-KR" sz="1400" b="1" dirty="0">
                <a:solidFill>
                  <a:srgbClr val="3D3D3D"/>
                </a:solidFill>
              </a:rPr>
              <a:t>,</a:t>
            </a:r>
            <a:r>
              <a:rPr lang="ko-KR" altLang="en-US" sz="1400" b="1" dirty="0">
                <a:solidFill>
                  <a:srgbClr val="3D3D3D"/>
                </a:solidFill>
              </a:rPr>
              <a:t> 유입 볼륨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마케팅 효율을 확보해 나가고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430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C35A3B-AFAF-3C46-3C33-588E18CB78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마케팅 </a:t>
            </a:r>
            <a:r>
              <a:rPr lang="en-US" altLang="ko-KR" dirty="0"/>
              <a:t>· </a:t>
            </a:r>
            <a:r>
              <a:rPr lang="ko-KR" altLang="en-US" dirty="0"/>
              <a:t>세일즈  </a:t>
            </a:r>
            <a:r>
              <a:rPr lang="en-US" altLang="ko-KR" dirty="0"/>
              <a:t>-  </a:t>
            </a:r>
            <a:r>
              <a:rPr lang="ko-KR" altLang="en-US" dirty="0"/>
              <a:t>유료 전환 촉진 노하우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E1E988-B506-9B3B-69F1-0A441BF7FA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303B93-3FAC-E7D5-1FF0-C70A980030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43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75DD52-4A21-0BB5-927B-7EC21F640D47}"/>
              </a:ext>
            </a:extLst>
          </p:cNvPr>
          <p:cNvSpPr/>
          <p:nvPr/>
        </p:nvSpPr>
        <p:spPr>
          <a:xfrm>
            <a:off x="453000" y="1700213"/>
            <a:ext cx="900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모집 유저 </a:t>
            </a:r>
            <a:r>
              <a:rPr lang="en-US" altLang="ko-KR" sz="1200" b="1" dirty="0">
                <a:solidFill>
                  <a:schemeClr val="bg1"/>
                </a:solidFill>
              </a:rPr>
              <a:t>Pool</a:t>
            </a:r>
            <a:r>
              <a:rPr lang="ko-KR" altLang="en-US" sz="1200" b="1" dirty="0">
                <a:solidFill>
                  <a:schemeClr val="bg1"/>
                </a:solidFill>
              </a:rPr>
              <a:t> 유료 전환 방식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46AA6B-1454-266D-D684-15F396718C4E}"/>
              </a:ext>
            </a:extLst>
          </p:cNvPr>
          <p:cNvSpPr/>
          <p:nvPr/>
        </p:nvSpPr>
        <p:spPr>
          <a:xfrm>
            <a:off x="453000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한정형 판매 전략</a:t>
            </a:r>
            <a:r>
              <a:rPr lang="en-US" altLang="ko-KR" sz="1000" b="1" dirty="0">
                <a:solidFill>
                  <a:schemeClr val="bg1"/>
                </a:solidFill>
              </a:rPr>
              <a:t>(Time-Limited Offer)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7DA109-4FF1-F283-F493-7AABE48B57F7}"/>
              </a:ext>
            </a:extLst>
          </p:cNvPr>
          <p:cNvSpPr/>
          <p:nvPr/>
        </p:nvSpPr>
        <p:spPr>
          <a:xfrm>
            <a:off x="3512999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초기 전환 유도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44770C-2FEC-D4B9-C7E1-89522568A2AA}"/>
              </a:ext>
            </a:extLst>
          </p:cNvPr>
          <p:cNvSpPr/>
          <p:nvPr/>
        </p:nvSpPr>
        <p:spPr>
          <a:xfrm>
            <a:off x="6572998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강사 </a:t>
            </a:r>
            <a:r>
              <a:rPr lang="en-US" altLang="ko-KR" sz="1200" b="1" dirty="0">
                <a:solidFill>
                  <a:schemeClr val="bg1"/>
                </a:solidFill>
              </a:rPr>
              <a:t>– </a:t>
            </a:r>
            <a:r>
              <a:rPr lang="ko-KR" altLang="en-US" sz="1200" b="1" dirty="0">
                <a:solidFill>
                  <a:schemeClr val="bg1"/>
                </a:solidFill>
              </a:rPr>
              <a:t>잠재적수강생 </a:t>
            </a:r>
            <a:r>
              <a:rPr lang="ko-KR" altLang="en-US" sz="1200" b="1" dirty="0" err="1">
                <a:solidFill>
                  <a:schemeClr val="bg1"/>
                </a:solidFill>
              </a:rPr>
              <a:t>라포</a:t>
            </a:r>
            <a:r>
              <a:rPr lang="ko-KR" altLang="en-US" sz="1200" b="1" dirty="0">
                <a:solidFill>
                  <a:schemeClr val="bg1"/>
                </a:solidFill>
              </a:rPr>
              <a:t> 형성 </a:t>
            </a:r>
            <a:r>
              <a:rPr lang="en-US" altLang="ko-KR" sz="1200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chemeClr val="bg1"/>
                </a:solidFill>
                <a:sym typeface="Wingdings" panose="05000000000000000000" pitchFamily="2" charset="2"/>
              </a:rPr>
              <a:t>전환 촉진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DF3EE52-ACE9-7E72-26F1-D59E4FA19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2998" y="2689852"/>
            <a:ext cx="1292601" cy="211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18A05D-81BC-44B1-569F-A1685B2FA225}"/>
              </a:ext>
            </a:extLst>
          </p:cNvPr>
          <p:cNvSpPr txBox="1"/>
          <p:nvPr/>
        </p:nvSpPr>
        <p:spPr>
          <a:xfrm>
            <a:off x="453000" y="5012674"/>
            <a:ext cx="2880000" cy="8079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spc="-30" dirty="0">
                <a:solidFill>
                  <a:srgbClr val="3D3D3D"/>
                </a:solidFill>
              </a:rPr>
              <a:t>TITAN</a:t>
            </a:r>
            <a:r>
              <a:rPr lang="ko-KR" altLang="en-US" sz="1000" spc="-30" dirty="0">
                <a:solidFill>
                  <a:srgbClr val="3D3D3D"/>
                </a:solidFill>
              </a:rPr>
              <a:t>은 언제 어디서든 강의 구매가 가능한 경쟁사의 </a:t>
            </a:r>
            <a:r>
              <a:rPr lang="en-US" altLang="ko-KR" sz="1000" spc="-30" dirty="0">
                <a:solidFill>
                  <a:srgbClr val="3D3D3D"/>
                </a:solidFill>
              </a:rPr>
              <a:t>VOD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판매 구조가 아닌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기간한정</a:t>
            </a:r>
            <a:r>
              <a:rPr lang="en-US" altLang="ko-KR" sz="1000" spc="-30" dirty="0">
                <a:solidFill>
                  <a:srgbClr val="3D3D3D"/>
                </a:solidFill>
              </a:rPr>
              <a:t>(Time-Limited) </a:t>
            </a:r>
            <a:r>
              <a:rPr lang="ko-KR" altLang="en-US" sz="1000" spc="-30" dirty="0">
                <a:solidFill>
                  <a:srgbClr val="3D3D3D"/>
                </a:solidFill>
              </a:rPr>
              <a:t>구조로 구매 긴급성을 설계해 유료 전환율을 극대화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희소성 기반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오퍼</a:t>
            </a:r>
            <a:r>
              <a:rPr lang="ko-KR" altLang="en-US" sz="1000" spc="-30" dirty="0">
                <a:solidFill>
                  <a:srgbClr val="3D3D3D"/>
                </a:solidFill>
              </a:rPr>
              <a:t> 설계를 통해 잠재고객의 관심을 단기 집중시키고 유료 구매를 자연스럽게 유도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61EF1-C7DD-7833-11BE-E4FC2A4943AC}"/>
              </a:ext>
            </a:extLst>
          </p:cNvPr>
          <p:cNvSpPr txBox="1"/>
          <p:nvPr/>
        </p:nvSpPr>
        <p:spPr>
          <a:xfrm>
            <a:off x="3513000" y="5012674"/>
            <a:ext cx="2880000" cy="1000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유튜브</a:t>
            </a:r>
            <a:r>
              <a:rPr lang="en-US" altLang="ko-KR" sz="1000" spc="-30" dirty="0">
                <a:solidFill>
                  <a:srgbClr val="3D3D3D"/>
                </a:solidFill>
              </a:rPr>
              <a:t>·SNS </a:t>
            </a:r>
            <a:r>
              <a:rPr lang="ko-KR" altLang="en-US" sz="1000" spc="-30" dirty="0">
                <a:solidFill>
                  <a:srgbClr val="3D3D3D"/>
                </a:solidFill>
              </a:rPr>
              <a:t>광고로 유입된 유저에게 지속적으로 정보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알림을 전달해 관심도를 유지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라이브 강의를 통해 강사의 실전 경험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수익 사례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기초 노하우를 공개해 유저의 강의 결제 욕구를 자극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즉각적인 소통과 </a:t>
            </a:r>
            <a:r>
              <a:rPr lang="en-US" altLang="ko-KR" sz="1000" spc="-30" dirty="0">
                <a:solidFill>
                  <a:srgbClr val="3D3D3D"/>
                </a:solidFill>
              </a:rPr>
              <a:t>Q&amp;A</a:t>
            </a:r>
            <a:r>
              <a:rPr lang="ko-KR" altLang="en-US" sz="1000" spc="-30" dirty="0">
                <a:solidFill>
                  <a:srgbClr val="3D3D3D"/>
                </a:solidFill>
              </a:rPr>
              <a:t>를 통해 유저가 유료 강의 필요성을 스스로 인지하도록 설계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689858-3FB5-A479-5A21-C383EFAF5711}"/>
              </a:ext>
            </a:extLst>
          </p:cNvPr>
          <p:cNvSpPr txBox="1"/>
          <p:nvPr/>
        </p:nvSpPr>
        <p:spPr>
          <a:xfrm>
            <a:off x="6572998" y="5012674"/>
            <a:ext cx="2880000" cy="6540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라이브 이후 강사가 </a:t>
            </a:r>
            <a:r>
              <a:rPr lang="en-US" altLang="ko-KR" sz="1000" spc="-30" dirty="0">
                <a:solidFill>
                  <a:srgbClr val="3D3D3D"/>
                </a:solidFill>
              </a:rPr>
              <a:t>1:1 </a:t>
            </a:r>
            <a:r>
              <a:rPr lang="ko-KR" altLang="en-US" sz="1000" spc="-30" dirty="0">
                <a:solidFill>
                  <a:srgbClr val="3D3D3D"/>
                </a:solidFill>
              </a:rPr>
              <a:t>대응에 가까운 후속 </a:t>
            </a:r>
            <a:r>
              <a:rPr lang="en-US" altLang="ko-KR" sz="1000" spc="-30" dirty="0">
                <a:solidFill>
                  <a:srgbClr val="3D3D3D"/>
                </a:solidFill>
              </a:rPr>
              <a:t>Q&amp;A</a:t>
            </a:r>
            <a:r>
              <a:rPr lang="ko-KR" altLang="en-US" sz="1000" spc="-30" dirty="0">
                <a:solidFill>
                  <a:srgbClr val="3D3D3D"/>
                </a:solidFill>
              </a:rPr>
              <a:t>로 신뢰와 관계를 강화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구매 의사를 보인 유저에게 최종적으로 유료 강의 결제를 자연스럽게 유도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D4DD76DB-99BA-00B0-5AE1-E86C5C3A94CF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9836" y="2686787"/>
            <a:ext cx="1293161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987B795-7778-496B-6E17-3504F106827E}"/>
              </a:ext>
            </a:extLst>
          </p:cNvPr>
          <p:cNvSpPr txBox="1"/>
          <p:nvPr/>
        </p:nvSpPr>
        <p:spPr>
          <a:xfrm>
            <a:off x="5099835" y="2398859"/>
            <a:ext cx="1293162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라이브 무료 강의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03100E-35CE-AAC3-137E-F0685C3F0406}"/>
              </a:ext>
            </a:extLst>
          </p:cNvPr>
          <p:cNvSpPr txBox="1"/>
          <p:nvPr/>
        </p:nvSpPr>
        <p:spPr>
          <a:xfrm>
            <a:off x="6573564" y="2398859"/>
            <a:ext cx="287999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강사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–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잠재적수강생 양방향 라이브 무료 강의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3339F7DD-5BB2-64DB-265D-059E769F93AF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03114" y="2708264"/>
            <a:ext cx="1080000" cy="215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B7D36E45-D0A9-6780-15F6-73ACECB9FB32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20057" y="2708264"/>
            <a:ext cx="108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8C2DCD6-1960-AA36-F6D0-FFA757FC292F}"/>
              </a:ext>
            </a:extLst>
          </p:cNvPr>
          <p:cNvSpPr txBox="1"/>
          <p:nvPr/>
        </p:nvSpPr>
        <p:spPr>
          <a:xfrm>
            <a:off x="3512435" y="2398859"/>
            <a:ext cx="1293162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유저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Retention 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54472BC-EB16-6CDB-18FD-6080BA4EAB4D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36" y="2693799"/>
            <a:ext cx="1368000" cy="211193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F20B3F0-04C3-4EF9-F748-9BDDBC95AED8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965000" y="2696683"/>
            <a:ext cx="1368000" cy="211193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38C8ECF-1A23-0A2F-CBBF-8529415F952F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시간제한형 판매 구조와 다층 전환 </a:t>
            </a:r>
            <a:r>
              <a:rPr lang="ko-KR" altLang="en-US" sz="1400" b="1" dirty="0" err="1">
                <a:solidFill>
                  <a:srgbClr val="3D3D3D"/>
                </a:solidFill>
              </a:rPr>
              <a:t>퍼널로</a:t>
            </a:r>
            <a:r>
              <a:rPr lang="ko-KR" altLang="en-US" sz="1400" b="1" dirty="0">
                <a:solidFill>
                  <a:srgbClr val="3D3D3D"/>
                </a:solidFill>
              </a:rPr>
              <a:t> 잠재고객의 구매 결정을 빠르게 끌어내는 체계를 갖추고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br>
              <a:rPr lang="en-US" altLang="ko-KR" sz="1400" b="1" dirty="0">
                <a:solidFill>
                  <a:srgbClr val="3D3D3D"/>
                </a:solidFill>
              </a:rPr>
            </a:br>
            <a:r>
              <a:rPr lang="ko-KR" altLang="en-US" sz="1400" b="1" dirty="0">
                <a:solidFill>
                  <a:srgbClr val="3D3D3D"/>
                </a:solidFill>
              </a:rPr>
              <a:t>광고 </a:t>
            </a:r>
            <a:r>
              <a:rPr lang="en-US" altLang="ko-KR" sz="1400" b="1" dirty="0">
                <a:solidFill>
                  <a:srgbClr val="3D3D3D"/>
                </a:solidFill>
              </a:rPr>
              <a:t>– </a:t>
            </a:r>
            <a:r>
              <a:rPr lang="ko-KR" altLang="en-US" sz="1400" b="1" dirty="0" err="1">
                <a:solidFill>
                  <a:srgbClr val="3D3D3D"/>
                </a:solidFill>
              </a:rPr>
              <a:t>리텐션</a:t>
            </a:r>
            <a:r>
              <a:rPr lang="ko-KR" altLang="en-US" sz="1400" b="1" dirty="0">
                <a:solidFill>
                  <a:srgbClr val="3D3D3D"/>
                </a:solidFill>
              </a:rPr>
              <a:t> </a:t>
            </a:r>
            <a:r>
              <a:rPr lang="en-US" altLang="ko-KR" sz="1400" b="1" dirty="0">
                <a:solidFill>
                  <a:srgbClr val="3D3D3D"/>
                </a:solidFill>
              </a:rPr>
              <a:t>– </a:t>
            </a:r>
            <a:r>
              <a:rPr lang="ko-KR" altLang="en-US" sz="1400" b="1" dirty="0">
                <a:solidFill>
                  <a:srgbClr val="3D3D3D"/>
                </a:solidFill>
              </a:rPr>
              <a:t>초기전환유도 </a:t>
            </a:r>
            <a:r>
              <a:rPr lang="en-US" altLang="ko-KR" sz="1400" b="1" dirty="0">
                <a:solidFill>
                  <a:srgbClr val="3D3D3D"/>
                </a:solidFill>
              </a:rPr>
              <a:t>– </a:t>
            </a:r>
            <a:r>
              <a:rPr lang="ko-KR" altLang="en-US" sz="1400" b="1" dirty="0">
                <a:solidFill>
                  <a:srgbClr val="3D3D3D"/>
                </a:solidFill>
              </a:rPr>
              <a:t>밀착 소통을 통한 전환촉진 단계가 유기적으로 연결돼 높은 유료전환 효율을 이끌어내고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55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다리꼴 6">
            <a:extLst>
              <a:ext uri="{FF2B5EF4-FFF2-40B4-BE49-F238E27FC236}">
                <a16:creationId xmlns:a16="http://schemas.microsoft.com/office/drawing/2014/main" id="{5B9BB467-F23A-2FF1-A25C-D4D59819C434}"/>
              </a:ext>
            </a:extLst>
          </p:cNvPr>
          <p:cNvSpPr/>
          <p:nvPr/>
        </p:nvSpPr>
        <p:spPr>
          <a:xfrm>
            <a:off x="5060437" y="2932441"/>
            <a:ext cx="4404639" cy="216513"/>
          </a:xfrm>
          <a:prstGeom prst="trapezoid">
            <a:avLst>
              <a:gd name="adj" fmla="val 429425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err="1">
              <a:solidFill>
                <a:schemeClr val="tx2">
                  <a:lumMod val="50000"/>
                </a:schemeClr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EE5AFC2-0FF1-44C7-2638-A6454E5C9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마케팅 </a:t>
            </a:r>
            <a:r>
              <a:rPr lang="en-US" altLang="ko-KR" dirty="0"/>
              <a:t>· </a:t>
            </a:r>
            <a:r>
              <a:rPr lang="ko-KR" altLang="en-US" dirty="0"/>
              <a:t>세일즈  </a:t>
            </a:r>
            <a:r>
              <a:rPr lang="en-US" altLang="ko-KR" dirty="0"/>
              <a:t>-  </a:t>
            </a:r>
            <a:r>
              <a:rPr lang="ko-KR" altLang="en-US" dirty="0"/>
              <a:t>흥행 강의 대상 후속 기수 진행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D099BD-B172-731D-984F-BC8BBF4C30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</a:t>
            </a:r>
            <a:r>
              <a:rPr lang="ko-KR" altLang="en-US" dirty="0"/>
              <a:t> </a:t>
            </a:r>
            <a:r>
              <a:rPr lang="en-US" altLang="ko-KR" dirty="0"/>
              <a:t>1)</a:t>
            </a:r>
            <a:r>
              <a:rPr lang="ko-KR" altLang="en-US" dirty="0"/>
              <a:t> 설립 후 진행된 전체 강의 기준의 데이터임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25E2C-149E-DD9C-9EA9-5363A3A1066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44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D34DB8-F02C-24D9-99A1-8193A5E3CA38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진행 강의 대부분 흥행 성공으로 후속 기수 진행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DFC9D2-4678-C383-616E-7C1C3F0634DE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업셀링이</a:t>
            </a:r>
            <a:r>
              <a:rPr lang="ko-KR" altLang="en-US" sz="1200" b="1" dirty="0">
                <a:solidFill>
                  <a:schemeClr val="bg1"/>
                </a:solidFill>
              </a:rPr>
              <a:t> 가능한 후속 기수 강의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67C6EA51-6F35-5168-C98B-528B86F220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2673305"/>
              </p:ext>
            </p:extLst>
          </p:nvPr>
        </p:nvGraphicFramePr>
        <p:xfrm>
          <a:off x="452438" y="2321463"/>
          <a:ext cx="4392562" cy="2959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E0CD0B4-C4DC-344A-7375-2862E074FD4F}"/>
              </a:ext>
            </a:extLst>
          </p:cNvPr>
          <p:cNvSpPr txBox="1"/>
          <p:nvPr/>
        </p:nvSpPr>
        <p:spPr>
          <a:xfrm>
            <a:off x="452437" y="2033848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진행 기수 별 강의 비중</a:t>
            </a:r>
            <a:r>
              <a:rPr lang="en-US" altLang="ko-KR" sz="1100" baseline="300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1)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28109A9-8871-06E4-728F-EB75F73E14F4}"/>
              </a:ext>
            </a:extLst>
          </p:cNvPr>
          <p:cNvGrpSpPr/>
          <p:nvPr/>
        </p:nvGrpSpPr>
        <p:grpSpPr>
          <a:xfrm>
            <a:off x="5061000" y="2135867"/>
            <a:ext cx="4392000" cy="796576"/>
            <a:chOff x="5061000" y="2135866"/>
            <a:chExt cx="5692820" cy="860551"/>
          </a:xfrm>
        </p:grpSpPr>
        <p:sp>
          <p:nvSpPr>
            <p:cNvPr id="19" name="Arrow: Down 42">
              <a:extLst>
                <a:ext uri="{FF2B5EF4-FFF2-40B4-BE49-F238E27FC236}">
                  <a16:creationId xmlns:a16="http://schemas.microsoft.com/office/drawing/2014/main" id="{53C90658-6426-707F-E4B3-BCCAF6F8AC20}"/>
                </a:ext>
              </a:extLst>
            </p:cNvPr>
            <p:cNvSpPr/>
            <p:nvPr/>
          </p:nvSpPr>
          <p:spPr>
            <a:xfrm rot="16200000">
              <a:off x="7714708" y="1001154"/>
              <a:ext cx="539568" cy="3173772"/>
            </a:xfrm>
            <a:prstGeom prst="downArrow">
              <a:avLst>
                <a:gd name="adj1" fmla="val 50000"/>
                <a:gd name="adj2" fmla="val 36666"/>
              </a:avLst>
            </a:prstGeom>
            <a:solidFill>
              <a:srgbClr val="2A5FA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9">
              <a:extLst>
                <a:ext uri="{FF2B5EF4-FFF2-40B4-BE49-F238E27FC236}">
                  <a16:creationId xmlns:a16="http://schemas.microsoft.com/office/drawing/2014/main" id="{04ECB197-8DE4-7EB6-0F6B-018412B89187}"/>
                </a:ext>
              </a:extLst>
            </p:cNvPr>
            <p:cNvSpPr/>
            <p:nvPr/>
          </p:nvSpPr>
          <p:spPr bwMode="auto">
            <a:xfrm>
              <a:off x="5061000" y="2135867"/>
              <a:ext cx="1336606" cy="86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4B6DE8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lvl="1" algn="ctr" defTabSz="429814">
                <a:spcAft>
                  <a:spcPts val="200"/>
                </a:spcAft>
                <a:defRPr/>
              </a:pPr>
              <a:r>
                <a:rPr lang="ko-KR" altLang="en-US" sz="1000" b="1" dirty="0">
                  <a:solidFill>
                    <a:srgbClr val="4B6DE8"/>
                  </a:solidFill>
                </a:rPr>
                <a:t>강사 </a:t>
              </a:r>
              <a:r>
                <a:rPr lang="ko-KR" altLang="en-US" sz="1000" b="1" dirty="0" err="1">
                  <a:solidFill>
                    <a:srgbClr val="4B6DE8"/>
                  </a:solidFill>
                </a:rPr>
                <a:t>팬덤</a:t>
              </a:r>
              <a:r>
                <a:rPr lang="ko-KR" altLang="en-US" sz="1000" b="1" dirty="0">
                  <a:solidFill>
                    <a:srgbClr val="4B6DE8"/>
                  </a:solidFill>
                </a:rPr>
                <a:t> 형성</a:t>
              </a:r>
              <a:endParaRPr lang="en-US" altLang="ko-KR" sz="1000" b="1" dirty="0">
                <a:solidFill>
                  <a:srgbClr val="4B6DE8"/>
                </a:solidFill>
              </a:endParaRPr>
            </a:p>
            <a:p>
              <a:pPr marL="0" lvl="1" algn="ctr" defTabSz="429814">
                <a:spcAft>
                  <a:spcPts val="200"/>
                </a:spcAft>
                <a:defRPr/>
              </a:pPr>
              <a:r>
                <a:rPr lang="ko-KR" altLang="en-US" sz="900" spc="-30" dirty="0">
                  <a:solidFill>
                    <a:srgbClr val="3D3D3D"/>
                  </a:solidFill>
                </a:rPr>
                <a:t>성공적인 전 기수 진행으로 자체</a:t>
              </a:r>
              <a:br>
                <a:rPr lang="en-US" altLang="ko-KR" sz="900" spc="-30" dirty="0">
                  <a:solidFill>
                    <a:srgbClr val="3D3D3D"/>
                  </a:solidFill>
                </a:rPr>
              </a:br>
              <a:r>
                <a:rPr lang="ko-KR" altLang="en-US" sz="900" spc="-30" dirty="0" err="1">
                  <a:solidFill>
                    <a:srgbClr val="3D3D3D"/>
                  </a:solidFill>
                </a:rPr>
                <a:t>팬덤층</a:t>
              </a:r>
              <a:r>
                <a:rPr lang="ko-KR" altLang="en-US" sz="900" spc="-30" dirty="0">
                  <a:solidFill>
                    <a:srgbClr val="3D3D3D"/>
                  </a:solidFill>
                </a:rPr>
                <a:t> 구축 </a:t>
              </a:r>
              <a:endParaRPr lang="en-US" altLang="ko-KR" sz="900" b="1" dirty="0">
                <a:solidFill>
                  <a:srgbClr val="11244A"/>
                </a:solidFill>
              </a:endParaRPr>
            </a:p>
          </p:txBody>
        </p:sp>
        <p:sp>
          <p:nvSpPr>
            <p:cNvPr id="21" name="직사각형 9">
              <a:extLst>
                <a:ext uri="{FF2B5EF4-FFF2-40B4-BE49-F238E27FC236}">
                  <a16:creationId xmlns:a16="http://schemas.microsoft.com/office/drawing/2014/main" id="{0BD61040-C346-7796-4636-17FDE424C9E8}"/>
                </a:ext>
              </a:extLst>
            </p:cNvPr>
            <p:cNvSpPr/>
            <p:nvPr/>
          </p:nvSpPr>
          <p:spPr bwMode="auto">
            <a:xfrm>
              <a:off x="6464928" y="2135867"/>
              <a:ext cx="1336606" cy="86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4B6DE8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lvl="1" algn="ctr" defTabSz="429814">
                <a:spcAft>
                  <a:spcPts val="200"/>
                </a:spcAft>
                <a:defRPr/>
              </a:pPr>
              <a:r>
                <a:rPr lang="ko-KR" altLang="en-US" sz="1000" b="1" dirty="0">
                  <a:solidFill>
                    <a:srgbClr val="4B6DE8"/>
                  </a:solidFill>
                </a:rPr>
                <a:t>보완된 커리큘럼</a:t>
              </a:r>
              <a:endParaRPr lang="en-US" altLang="ko-KR" sz="1000" b="1" dirty="0">
                <a:solidFill>
                  <a:srgbClr val="4B6DE8"/>
                </a:solidFill>
              </a:endParaRPr>
            </a:p>
            <a:p>
              <a:pPr marL="0" lvl="1" algn="ctr" defTabSz="429814">
                <a:spcAft>
                  <a:spcPts val="200"/>
                </a:spcAft>
                <a:defRPr/>
              </a:pPr>
              <a:r>
                <a:rPr lang="ko-KR" altLang="en-US" sz="900" spc="-30" dirty="0">
                  <a:solidFill>
                    <a:srgbClr val="3D3D3D"/>
                  </a:solidFill>
                </a:rPr>
                <a:t>전 기수 진행 간 수집된 수강생 피드백 기반 더욱 보완된 강의</a:t>
              </a:r>
              <a:endParaRPr lang="en-US" altLang="ko-KR" sz="900" b="1" dirty="0">
                <a:solidFill>
                  <a:srgbClr val="11244A"/>
                </a:solidFill>
              </a:endParaRPr>
            </a:p>
          </p:txBody>
        </p:sp>
        <p:sp>
          <p:nvSpPr>
            <p:cNvPr id="23" name="직사각형 9">
              <a:extLst>
                <a:ext uri="{FF2B5EF4-FFF2-40B4-BE49-F238E27FC236}">
                  <a16:creationId xmlns:a16="http://schemas.microsoft.com/office/drawing/2014/main" id="{52D2DB74-E7E3-92B5-E529-83DF5CDAD96C}"/>
                </a:ext>
              </a:extLst>
            </p:cNvPr>
            <p:cNvSpPr/>
            <p:nvPr/>
          </p:nvSpPr>
          <p:spPr bwMode="auto">
            <a:xfrm>
              <a:off x="9485437" y="2135866"/>
              <a:ext cx="1268383" cy="860549"/>
            </a:xfrm>
            <a:prstGeom prst="rect">
              <a:avLst/>
            </a:prstGeom>
            <a:solidFill>
              <a:srgbClr val="4B6DE8"/>
            </a:solidFill>
            <a:ln w="19050">
              <a:solidFill>
                <a:srgbClr val="4B6DE8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lvl="1" algn="ctr" defTabSz="429814">
                <a:spcAft>
                  <a:spcPts val="200"/>
                </a:spcAft>
                <a:defRPr/>
              </a:pPr>
              <a:r>
                <a:rPr lang="ko-KR" altLang="en-US" sz="1050" b="1" dirty="0">
                  <a:solidFill>
                    <a:schemeClr val="bg1"/>
                  </a:solidFill>
                </a:rPr>
                <a:t>단가</a:t>
              </a:r>
              <a:r>
                <a:rPr lang="en-US" altLang="ko-KR" sz="1050" b="1" dirty="0">
                  <a:solidFill>
                    <a:schemeClr val="bg1"/>
                  </a:solidFill>
                </a:rPr>
                <a:t> ↑</a:t>
              </a:r>
            </a:p>
            <a:p>
              <a:pPr marL="0" lvl="1" algn="ctr" defTabSz="429814">
                <a:spcAft>
                  <a:spcPts val="200"/>
                </a:spcAft>
                <a:defRPr/>
              </a:pPr>
              <a:r>
                <a:rPr lang="ko-KR" altLang="en-US" sz="1050" b="1" dirty="0">
                  <a:solidFill>
                    <a:schemeClr val="bg1"/>
                  </a:solidFill>
                </a:rPr>
                <a:t>신규 유료회원 ↑</a:t>
              </a:r>
              <a:endParaRPr lang="en-US" altLang="ko-KR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직사각형 9">
              <a:extLst>
                <a:ext uri="{FF2B5EF4-FFF2-40B4-BE49-F238E27FC236}">
                  <a16:creationId xmlns:a16="http://schemas.microsoft.com/office/drawing/2014/main" id="{FF06D6AB-4209-F37A-3134-927B7CFC55CD}"/>
                </a:ext>
              </a:extLst>
            </p:cNvPr>
            <p:cNvSpPr/>
            <p:nvPr/>
          </p:nvSpPr>
          <p:spPr bwMode="auto">
            <a:xfrm>
              <a:off x="7868856" y="2135867"/>
              <a:ext cx="1336606" cy="86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4B6DE8"/>
              </a:solidFill>
              <a:miter lim="800000"/>
              <a:headEnd/>
              <a:tailEnd/>
            </a:ln>
            <a:effectLst/>
          </p:spPr>
          <p:txBody>
            <a:bodyPr vert="horz" wrap="square" lIns="36000" tIns="36000" rIns="36000" bIns="360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lvl="1" algn="ctr" defTabSz="429814">
                <a:spcAft>
                  <a:spcPts val="200"/>
                </a:spcAft>
                <a:defRPr/>
              </a:pPr>
              <a:r>
                <a:rPr lang="ko-KR" altLang="en-US" sz="1000" b="1" dirty="0">
                  <a:solidFill>
                    <a:srgbClr val="4B6DE8"/>
                  </a:solidFill>
                </a:rPr>
                <a:t>전 기수 성공사례</a:t>
              </a:r>
              <a:endParaRPr lang="en-US" altLang="ko-KR" sz="1000" b="1" dirty="0">
                <a:solidFill>
                  <a:srgbClr val="4B6DE8"/>
                </a:solidFill>
              </a:endParaRPr>
            </a:p>
            <a:p>
              <a:pPr marL="0" lvl="1" algn="ctr" defTabSz="429814">
                <a:spcAft>
                  <a:spcPts val="200"/>
                </a:spcAft>
                <a:defRPr/>
              </a:pPr>
              <a:r>
                <a:rPr lang="ko-KR" altLang="en-US" sz="900" spc="-30" dirty="0">
                  <a:solidFill>
                    <a:srgbClr val="3D3D3D"/>
                  </a:solidFill>
                </a:rPr>
                <a:t>다수의 실전 수익화 성공 사례로 신규 수강생 </a:t>
              </a:r>
              <a:r>
                <a:rPr lang="ko-KR" altLang="en-US" sz="900" spc="-30" dirty="0" err="1">
                  <a:solidFill>
                    <a:srgbClr val="3D3D3D"/>
                  </a:solidFill>
                </a:rPr>
                <a:t>모객</a:t>
              </a:r>
              <a:r>
                <a:rPr lang="ko-KR" altLang="en-US" sz="900" spc="-30" dirty="0">
                  <a:solidFill>
                    <a:srgbClr val="3D3D3D"/>
                  </a:solidFill>
                </a:rPr>
                <a:t> 용이</a:t>
              </a:r>
              <a:endParaRPr lang="en-US" altLang="ko-KR" sz="900" b="1" dirty="0">
                <a:solidFill>
                  <a:srgbClr val="11244A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21411F9-9B91-0B42-5A01-FC2203626349}"/>
              </a:ext>
            </a:extLst>
          </p:cNvPr>
          <p:cNvSpPr txBox="1"/>
          <p:nvPr/>
        </p:nvSpPr>
        <p:spPr>
          <a:xfrm>
            <a:off x="5061000" y="5401558"/>
            <a:ext cx="4392563" cy="5350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전 기수에서 구축된 강사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팬덤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피드백 기반 커리큘럼 고도화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수익화 성공사례의 축적이 신뢰도를 크게 강화하며 후속 기수의 단가 인상에 대한 소비자 저항을 낮춤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강화된 강의 신뢰도를 기반으로 후속 기수의 신규 유료회원 유입 또한 증가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5B6AAB-AEF4-F3EC-D5DC-3EF5CD4E89B7}"/>
              </a:ext>
            </a:extLst>
          </p:cNvPr>
          <p:cNvSpPr txBox="1"/>
          <p:nvPr/>
        </p:nvSpPr>
        <p:spPr>
          <a:xfrm>
            <a:off x="452438" y="5401558"/>
            <a:ext cx="4392563" cy="327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spc="-30" dirty="0">
                <a:solidFill>
                  <a:srgbClr val="3D3D3D"/>
                </a:solidFill>
              </a:rPr>
              <a:t>탄탄한 커리큘럼 설계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강의 운영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사후 관리</a:t>
            </a:r>
            <a:r>
              <a:rPr lang="en-US" altLang="ko-KR" sz="1000" spc="-30" dirty="0">
                <a:solidFill>
                  <a:srgbClr val="3D3D3D"/>
                </a:solidFill>
              </a:rPr>
              <a:t>(AS)</a:t>
            </a:r>
            <a:r>
              <a:rPr lang="ko-KR" altLang="en-US" sz="1000" spc="-30" dirty="0">
                <a:solidFill>
                  <a:srgbClr val="3D3D3D"/>
                </a:solidFill>
              </a:rPr>
              <a:t>까지 이어지는 높은 고객 만족도를 기반으로 대부분의 강의가 </a:t>
            </a:r>
            <a:r>
              <a:rPr lang="en-US" altLang="ko-KR" sz="1000" spc="-30" dirty="0">
                <a:solidFill>
                  <a:srgbClr val="3D3D3D"/>
                </a:solidFill>
              </a:rPr>
              <a:t>2</a:t>
            </a:r>
            <a:r>
              <a:rPr lang="ko-KR" altLang="en-US" sz="1000" spc="-30" dirty="0">
                <a:solidFill>
                  <a:srgbClr val="3D3D3D"/>
                </a:solidFill>
              </a:rPr>
              <a:t>기 이상 개설 되는 선순환 구조가 자리잡음</a:t>
            </a:r>
          </a:p>
        </p:txBody>
      </p:sp>
      <p:graphicFrame>
        <p:nvGraphicFramePr>
          <p:cNvPr id="30" name="차트 29">
            <a:extLst>
              <a:ext uri="{FF2B5EF4-FFF2-40B4-BE49-F238E27FC236}">
                <a16:creationId xmlns:a16="http://schemas.microsoft.com/office/drawing/2014/main" id="{E627DBE7-D96C-D845-24A3-08B0A9B37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1525181"/>
              </p:ext>
            </p:extLst>
          </p:nvPr>
        </p:nvGraphicFramePr>
        <p:xfrm>
          <a:off x="5060436" y="3381837"/>
          <a:ext cx="4391999" cy="1899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F8C3857C-D40C-B618-B944-80CCAA171153}"/>
              </a:ext>
            </a:extLst>
          </p:cNvPr>
          <p:cNvSpPr txBox="1"/>
          <p:nvPr/>
        </p:nvSpPr>
        <p:spPr>
          <a:xfrm>
            <a:off x="5060436" y="3139857"/>
            <a:ext cx="2879439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‘</a:t>
            </a:r>
            <a:r>
              <a:rPr lang="ko-KR" altLang="en-US" sz="1100" dirty="0" err="1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영끌남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’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후속 기수 실제 성과 사례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사각형: 둥근 모서리 58">
            <a:extLst>
              <a:ext uri="{FF2B5EF4-FFF2-40B4-BE49-F238E27FC236}">
                <a16:creationId xmlns:a16="http://schemas.microsoft.com/office/drawing/2014/main" id="{86431055-CC37-E3D1-71BC-D2398151CE96}"/>
              </a:ext>
            </a:extLst>
          </p:cNvPr>
          <p:cNvSpPr/>
          <p:nvPr/>
        </p:nvSpPr>
        <p:spPr>
          <a:xfrm>
            <a:off x="7991633" y="3528235"/>
            <a:ext cx="229795" cy="67091"/>
          </a:xfrm>
          <a:prstGeom prst="roundRect">
            <a:avLst/>
          </a:prstGeom>
          <a:solidFill>
            <a:srgbClr val="1E49E2">
              <a:alpha val="80000"/>
            </a:srgbClr>
          </a:solidFill>
          <a:ln w="12700">
            <a:solidFill>
              <a:srgbClr val="1E49E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en-US" altLang="ko-KR" sz="100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48B6FBF4-B92A-C4CA-BA0E-A31514731FF2}"/>
              </a:ext>
            </a:extLst>
          </p:cNvPr>
          <p:cNvSpPr/>
          <p:nvPr/>
        </p:nvSpPr>
        <p:spPr>
          <a:xfrm>
            <a:off x="8252095" y="3483593"/>
            <a:ext cx="941912" cy="15637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000" bIns="0" rtlCol="0" anchor="ctr"/>
          <a:lstStyle/>
          <a:p>
            <a:pPr defTabSz="914400">
              <a:spcAft>
                <a:spcPts val="300"/>
              </a:spcAft>
              <a:defRPr lang="en-US" altLang="ko-KR" sz="1000" b="0" i="0" u="none" strike="noStrike" kern="1200" baseline="0">
                <a:solidFill>
                  <a:srgbClr val="3D3D3D"/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dirty="0">
                <a:solidFill>
                  <a:srgbClr val="3D3D3D"/>
                </a:solidFill>
              </a:rPr>
              <a:t>결제건수</a:t>
            </a:r>
          </a:p>
        </p:txBody>
      </p:sp>
      <p:sp>
        <p:nvSpPr>
          <p:cNvPr id="34" name="사각형: 둥근 모서리 58">
            <a:extLst>
              <a:ext uri="{FF2B5EF4-FFF2-40B4-BE49-F238E27FC236}">
                <a16:creationId xmlns:a16="http://schemas.microsoft.com/office/drawing/2014/main" id="{2EEA6E8C-2502-18A9-71B2-22F46E3EAE97}"/>
              </a:ext>
            </a:extLst>
          </p:cNvPr>
          <p:cNvSpPr/>
          <p:nvPr/>
        </p:nvSpPr>
        <p:spPr>
          <a:xfrm>
            <a:off x="5272088" y="3751679"/>
            <a:ext cx="538162" cy="211476"/>
          </a:xfrm>
          <a:prstGeom prst="roundRect">
            <a:avLst/>
          </a:prstGeom>
          <a:solidFill>
            <a:srgbClr val="1E49E2">
              <a:alpha val="80000"/>
            </a:srgbClr>
          </a:solidFill>
          <a:ln w="12700">
            <a:solidFill>
              <a:srgbClr val="1E49E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  <a:defRPr lang="en-US" altLang="ko-KR" sz="1000" b="1" i="0" u="none" strike="noStrike" kern="1200" baseline="0">
                <a:solidFill>
                  <a:srgbClr val="11244A"/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>
                <a:solidFill>
                  <a:schemeClr val="bg1"/>
                </a:solidFill>
              </a:rPr>
              <a:t>222</a:t>
            </a:r>
          </a:p>
        </p:txBody>
      </p:sp>
      <p:sp>
        <p:nvSpPr>
          <p:cNvPr id="35" name="사각형: 둥근 모서리 58">
            <a:extLst>
              <a:ext uri="{FF2B5EF4-FFF2-40B4-BE49-F238E27FC236}">
                <a16:creationId xmlns:a16="http://schemas.microsoft.com/office/drawing/2014/main" id="{F6679768-DB0A-927F-E1DE-98DF61038266}"/>
              </a:ext>
            </a:extLst>
          </p:cNvPr>
          <p:cNvSpPr/>
          <p:nvPr/>
        </p:nvSpPr>
        <p:spPr>
          <a:xfrm>
            <a:off x="5958846" y="3751679"/>
            <a:ext cx="538162" cy="211476"/>
          </a:xfrm>
          <a:prstGeom prst="roundRect">
            <a:avLst/>
          </a:prstGeom>
          <a:solidFill>
            <a:srgbClr val="1E49E2">
              <a:alpha val="80000"/>
            </a:srgbClr>
          </a:solidFill>
          <a:ln w="12700">
            <a:solidFill>
              <a:srgbClr val="1E49E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  <a:defRPr lang="en-US" altLang="ko-KR" sz="1000" b="1" i="0" u="none" strike="noStrike" kern="1200" baseline="0">
                <a:solidFill>
                  <a:srgbClr val="11244A"/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>
                <a:solidFill>
                  <a:schemeClr val="bg1"/>
                </a:solidFill>
              </a:rPr>
              <a:t>293</a:t>
            </a:r>
          </a:p>
        </p:txBody>
      </p:sp>
      <p:sp>
        <p:nvSpPr>
          <p:cNvPr id="36" name="사각형: 둥근 모서리 58">
            <a:extLst>
              <a:ext uri="{FF2B5EF4-FFF2-40B4-BE49-F238E27FC236}">
                <a16:creationId xmlns:a16="http://schemas.microsoft.com/office/drawing/2014/main" id="{8AE7C3E9-780C-3650-BE69-E13BE5C9A4C5}"/>
              </a:ext>
            </a:extLst>
          </p:cNvPr>
          <p:cNvSpPr/>
          <p:nvPr/>
        </p:nvSpPr>
        <p:spPr>
          <a:xfrm>
            <a:off x="6645604" y="3751679"/>
            <a:ext cx="538162" cy="211476"/>
          </a:xfrm>
          <a:prstGeom prst="roundRect">
            <a:avLst/>
          </a:prstGeom>
          <a:solidFill>
            <a:srgbClr val="1E49E2">
              <a:alpha val="80000"/>
            </a:srgbClr>
          </a:solidFill>
          <a:ln w="12700">
            <a:solidFill>
              <a:srgbClr val="1E49E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  <a:defRPr lang="en-US" altLang="ko-KR" sz="1000" b="1" i="0" u="none" strike="noStrike" kern="1200" baseline="0">
                <a:solidFill>
                  <a:srgbClr val="11244A"/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>
                <a:solidFill>
                  <a:schemeClr val="bg1"/>
                </a:solidFill>
              </a:rPr>
              <a:t>217</a:t>
            </a:r>
          </a:p>
        </p:txBody>
      </p:sp>
      <p:sp>
        <p:nvSpPr>
          <p:cNvPr id="37" name="사각형: 둥근 모서리 58">
            <a:extLst>
              <a:ext uri="{FF2B5EF4-FFF2-40B4-BE49-F238E27FC236}">
                <a16:creationId xmlns:a16="http://schemas.microsoft.com/office/drawing/2014/main" id="{DBD86F94-D360-AE76-1EF5-3E37C5CEC271}"/>
              </a:ext>
            </a:extLst>
          </p:cNvPr>
          <p:cNvSpPr/>
          <p:nvPr/>
        </p:nvSpPr>
        <p:spPr>
          <a:xfrm>
            <a:off x="7332362" y="3751679"/>
            <a:ext cx="538162" cy="211476"/>
          </a:xfrm>
          <a:prstGeom prst="roundRect">
            <a:avLst/>
          </a:prstGeom>
          <a:solidFill>
            <a:srgbClr val="1E49E2">
              <a:alpha val="80000"/>
            </a:srgbClr>
          </a:solidFill>
          <a:ln w="12700">
            <a:solidFill>
              <a:srgbClr val="1E49E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  <a:defRPr lang="en-US" altLang="ko-KR" sz="1000" b="1" i="0" u="none" strike="noStrike" kern="1200" baseline="0">
                <a:solidFill>
                  <a:srgbClr val="11244A"/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>
                <a:solidFill>
                  <a:schemeClr val="bg1"/>
                </a:solidFill>
              </a:rPr>
              <a:t>279</a:t>
            </a:r>
          </a:p>
        </p:txBody>
      </p:sp>
      <p:sp>
        <p:nvSpPr>
          <p:cNvPr id="38" name="사각형: 둥근 모서리 58">
            <a:extLst>
              <a:ext uri="{FF2B5EF4-FFF2-40B4-BE49-F238E27FC236}">
                <a16:creationId xmlns:a16="http://schemas.microsoft.com/office/drawing/2014/main" id="{74179AA8-FEAB-BD07-8072-93B5FB7CC9D9}"/>
              </a:ext>
            </a:extLst>
          </p:cNvPr>
          <p:cNvSpPr/>
          <p:nvPr/>
        </p:nvSpPr>
        <p:spPr>
          <a:xfrm>
            <a:off x="8019120" y="3751679"/>
            <a:ext cx="538162" cy="211476"/>
          </a:xfrm>
          <a:prstGeom prst="roundRect">
            <a:avLst/>
          </a:prstGeom>
          <a:solidFill>
            <a:srgbClr val="1E49E2">
              <a:alpha val="80000"/>
            </a:srgbClr>
          </a:solidFill>
          <a:ln w="12700">
            <a:solidFill>
              <a:srgbClr val="1E49E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  <a:defRPr lang="en-US" altLang="ko-KR" sz="1000" b="1" i="0" u="none" strike="noStrike" kern="1200" baseline="0">
                <a:solidFill>
                  <a:srgbClr val="11244A"/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>
                <a:solidFill>
                  <a:schemeClr val="bg1"/>
                </a:solidFill>
              </a:rPr>
              <a:t>486</a:t>
            </a:r>
          </a:p>
        </p:txBody>
      </p:sp>
      <p:sp>
        <p:nvSpPr>
          <p:cNvPr id="39" name="사각형: 둥근 모서리 58">
            <a:extLst>
              <a:ext uri="{FF2B5EF4-FFF2-40B4-BE49-F238E27FC236}">
                <a16:creationId xmlns:a16="http://schemas.microsoft.com/office/drawing/2014/main" id="{C3853738-42CA-7D4C-8A5D-2BEA2D691CD8}"/>
              </a:ext>
            </a:extLst>
          </p:cNvPr>
          <p:cNvSpPr/>
          <p:nvPr/>
        </p:nvSpPr>
        <p:spPr>
          <a:xfrm>
            <a:off x="8705877" y="3746195"/>
            <a:ext cx="538162" cy="211476"/>
          </a:xfrm>
          <a:prstGeom prst="roundRect">
            <a:avLst/>
          </a:prstGeom>
          <a:solidFill>
            <a:srgbClr val="1E49E2">
              <a:alpha val="80000"/>
            </a:srgbClr>
          </a:solidFill>
          <a:ln w="12700">
            <a:solidFill>
              <a:srgbClr val="1E49E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  <a:defRPr lang="en-US" altLang="ko-KR" sz="1000" b="1" i="0" u="none" strike="noStrike" kern="1200" baseline="0">
                <a:solidFill>
                  <a:srgbClr val="11244A"/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>
                <a:solidFill>
                  <a:schemeClr val="bg1"/>
                </a:solidFill>
              </a:rPr>
              <a:t>81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CD6859-B941-B4DA-62FD-9DEBCE42E8CB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의 강의 대부분 초기 흥행을 기반으로 안정적으로 후속 기수로 이어지고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기수 운영을 통해 축적된 </a:t>
            </a:r>
            <a:r>
              <a:rPr lang="ko-KR" altLang="en-US" sz="1400" b="1" dirty="0" err="1">
                <a:solidFill>
                  <a:srgbClr val="3D3D3D"/>
                </a:solidFill>
              </a:rPr>
              <a:t>팬덤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커리큘럼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성과가 후속 기수에서의 단가 상승과 신규 유료회원 확대를 견인하며 성장 모멘텀을 크게 끌어올리고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540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231C4-F79F-197F-12DD-EBED59B5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74C45F6-8A6C-9FFA-19C5-205FA06AC0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마케팅 </a:t>
            </a:r>
            <a:r>
              <a:rPr lang="en-US" altLang="ko-KR" dirty="0"/>
              <a:t>· </a:t>
            </a:r>
            <a:r>
              <a:rPr lang="ko-KR" altLang="en-US" dirty="0"/>
              <a:t>세일즈 </a:t>
            </a:r>
            <a:r>
              <a:rPr lang="en-US" altLang="ko-KR" dirty="0"/>
              <a:t>- Key Performance indicator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37CE29-5A92-C6DE-FCF5-64A945933F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1)</a:t>
            </a:r>
            <a:r>
              <a:rPr lang="ko-KR" altLang="en-US" dirty="0"/>
              <a:t>강의별 마케팅을 통해 유입된 </a:t>
            </a:r>
            <a:r>
              <a:rPr lang="ko-KR" altLang="en-US" dirty="0" err="1"/>
              <a:t>톡방</a:t>
            </a:r>
            <a:r>
              <a:rPr lang="ko-KR" altLang="en-US" dirty="0"/>
              <a:t> 모집 인원 </a:t>
            </a:r>
            <a:r>
              <a:rPr lang="ko-KR" altLang="en-US" dirty="0" err="1"/>
              <a:t>수며</a:t>
            </a:r>
            <a:r>
              <a:rPr lang="en-US" altLang="ko-KR" dirty="0"/>
              <a:t>, 2024</a:t>
            </a:r>
            <a:r>
              <a:rPr lang="ko-KR" altLang="en-US" dirty="0"/>
              <a:t>년의 경우 데이터 집계에 </a:t>
            </a:r>
            <a:r>
              <a:rPr lang="ko-KR" altLang="en-US" dirty="0" err="1"/>
              <a:t>제한점</a:t>
            </a:r>
            <a:r>
              <a:rPr lang="ko-KR" altLang="en-US" dirty="0"/>
              <a:t> 존재로 일부 강의에 대해서는 집계가 이뤄지지 않음</a:t>
            </a:r>
            <a:r>
              <a:rPr lang="en-US" altLang="ko-KR" dirty="0"/>
              <a:t>. 2) </a:t>
            </a:r>
            <a:r>
              <a:rPr lang="ko-KR" altLang="en-US" dirty="0"/>
              <a:t>무료 라이브강의 최고 동시 </a:t>
            </a:r>
            <a:r>
              <a:rPr lang="ko-KR" altLang="en-US" dirty="0" err="1"/>
              <a:t>접속자</a:t>
            </a:r>
            <a:r>
              <a:rPr lang="ko-KR" altLang="en-US" dirty="0"/>
              <a:t> 수이며</a:t>
            </a:r>
            <a:r>
              <a:rPr lang="en-US" altLang="ko-KR" dirty="0"/>
              <a:t>, 2024</a:t>
            </a:r>
            <a:r>
              <a:rPr lang="ko-KR" altLang="en-US" dirty="0"/>
              <a:t>년의 경우 데이터 집계 제한으로 일부 강의에 대해서는 집계가 이뤄지지 않음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5F603-C83F-6CF2-0E12-591B480AEA6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BCBC0-244A-A196-16D9-B5DDB19A5DE7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콘텐츠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마케팅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세일즈 전 과정에서의 월등한 실행력과 경쟁력을 기반으로</a:t>
            </a:r>
            <a:r>
              <a:rPr lang="en-US" altLang="ko-KR" sz="1400" b="1" dirty="0">
                <a:solidFill>
                  <a:srgbClr val="3D3D3D"/>
                </a:solidFill>
              </a:rPr>
              <a:t>, TITAN</a:t>
            </a:r>
            <a:r>
              <a:rPr lang="ko-KR" altLang="en-US" sz="1400" b="1" dirty="0">
                <a:solidFill>
                  <a:srgbClr val="3D3D3D"/>
                </a:solidFill>
              </a:rPr>
              <a:t>의 </a:t>
            </a:r>
            <a:r>
              <a:rPr lang="en-US" altLang="ko-KR" sz="1400" b="1" dirty="0">
                <a:solidFill>
                  <a:srgbClr val="3D3D3D"/>
                </a:solidFill>
              </a:rPr>
              <a:t>Addressable User</a:t>
            </a:r>
            <a:r>
              <a:rPr lang="ko-KR" altLang="en-US" sz="1400" b="1" dirty="0">
                <a:solidFill>
                  <a:srgbClr val="3D3D3D"/>
                </a:solidFill>
              </a:rPr>
              <a:t>는 </a:t>
            </a:r>
            <a:r>
              <a:rPr lang="en-US" altLang="ko-KR" sz="1400" b="1" dirty="0">
                <a:solidFill>
                  <a:srgbClr val="3D3D3D"/>
                </a:solidFill>
              </a:rPr>
              <a:t>1</a:t>
            </a:r>
            <a:r>
              <a:rPr lang="ko-KR" altLang="en-US" sz="1400" b="1" dirty="0">
                <a:solidFill>
                  <a:srgbClr val="3D3D3D"/>
                </a:solidFill>
              </a:rPr>
              <a:t>년 만에 폭발적으로 확대되고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동시에 </a:t>
            </a:r>
            <a:r>
              <a:rPr lang="en-US" altLang="ko-KR" sz="1400" b="1" dirty="0">
                <a:solidFill>
                  <a:srgbClr val="3D3D3D"/>
                </a:solidFill>
              </a:rPr>
              <a:t>Serviceable·</a:t>
            </a:r>
            <a:r>
              <a:rPr lang="ko-KR" altLang="en-US" sz="1400" b="1" dirty="0">
                <a:solidFill>
                  <a:srgbClr val="3D3D3D"/>
                </a:solidFill>
              </a:rPr>
              <a:t>유료결제 전환율이 안정적으로 유지되며 가파른 성장 추세가 견고하게 이어지고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DE6849-F86A-15A5-25C7-03C9ABE0A028}"/>
              </a:ext>
            </a:extLst>
          </p:cNvPr>
          <p:cNvSpPr/>
          <p:nvPr/>
        </p:nvSpPr>
        <p:spPr>
          <a:xfrm>
            <a:off x="453000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Addressable Users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1)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92959A-10B5-4AE4-6AC9-770DA6340495}"/>
              </a:ext>
            </a:extLst>
          </p:cNvPr>
          <p:cNvSpPr/>
          <p:nvPr/>
        </p:nvSpPr>
        <p:spPr>
          <a:xfrm>
            <a:off x="3512999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Serviceable Users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2)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368E6A-D180-8B6C-E97E-6FF90B357878}"/>
              </a:ext>
            </a:extLst>
          </p:cNvPr>
          <p:cNvSpPr/>
          <p:nvPr/>
        </p:nvSpPr>
        <p:spPr>
          <a:xfrm>
            <a:off x="6572998" y="1700213"/>
            <a:ext cx="2880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유료결제 건수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19DEB740-ED5C-3652-2670-05639898DC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593831"/>
              </p:ext>
            </p:extLst>
          </p:nvPr>
        </p:nvGraphicFramePr>
        <p:xfrm>
          <a:off x="453000" y="1984247"/>
          <a:ext cx="2880000" cy="378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57439DA2-4119-AF08-2DC5-97EBD56B00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5981824"/>
              </p:ext>
            </p:extLst>
          </p:nvPr>
        </p:nvGraphicFramePr>
        <p:xfrm>
          <a:off x="3512999" y="1984247"/>
          <a:ext cx="2880000" cy="378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30417CEB-64F4-984E-6CAC-2D562DF5BA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326905"/>
              </p:ext>
            </p:extLst>
          </p:nvPr>
        </p:nvGraphicFramePr>
        <p:xfrm>
          <a:off x="6572998" y="1984247"/>
          <a:ext cx="2880000" cy="3784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8735AEE-4810-0B58-B2D7-C8169F2E7FB1}"/>
              </a:ext>
            </a:extLst>
          </p:cNvPr>
          <p:cNvSpPr txBox="1"/>
          <p:nvPr/>
        </p:nvSpPr>
        <p:spPr>
          <a:xfrm>
            <a:off x="2635126" y="1763202"/>
            <a:ext cx="697874" cy="158057"/>
          </a:xfrm>
          <a:prstGeom prst="rect">
            <a:avLst/>
          </a:prstGeom>
          <a:noFill/>
        </p:spPr>
        <p:txBody>
          <a:bodyPr wrap="squar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단위</a:t>
            </a:r>
            <a:r>
              <a:rPr lang="en-US" altLang="ko-KR" sz="1000" dirty="0">
                <a:solidFill>
                  <a:schemeClr val="bg1"/>
                </a:solidFill>
              </a:rPr>
              <a:t>: </a:t>
            </a:r>
            <a:r>
              <a:rPr lang="ko-KR" altLang="en-US" sz="1000" dirty="0">
                <a:solidFill>
                  <a:schemeClr val="bg1"/>
                </a:solidFill>
              </a:rPr>
              <a:t>만 명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15CEA4-6B27-4595-3711-3C7D1E030508}"/>
              </a:ext>
            </a:extLst>
          </p:cNvPr>
          <p:cNvSpPr txBox="1"/>
          <p:nvPr/>
        </p:nvSpPr>
        <p:spPr>
          <a:xfrm>
            <a:off x="5695125" y="1763202"/>
            <a:ext cx="697874" cy="158057"/>
          </a:xfrm>
          <a:prstGeom prst="rect">
            <a:avLst/>
          </a:prstGeom>
          <a:noFill/>
        </p:spPr>
        <p:txBody>
          <a:bodyPr wrap="squar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단위</a:t>
            </a:r>
            <a:r>
              <a:rPr lang="en-US" altLang="ko-KR" sz="1000" dirty="0">
                <a:solidFill>
                  <a:schemeClr val="bg1"/>
                </a:solidFill>
              </a:rPr>
              <a:t>: </a:t>
            </a:r>
            <a:r>
              <a:rPr lang="ko-KR" altLang="en-US" sz="1000" dirty="0">
                <a:solidFill>
                  <a:schemeClr val="bg1"/>
                </a:solidFill>
              </a:rPr>
              <a:t>만 명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633C91-D450-98AB-34BA-725E0DA17EC9}"/>
              </a:ext>
            </a:extLst>
          </p:cNvPr>
          <p:cNvSpPr txBox="1"/>
          <p:nvPr/>
        </p:nvSpPr>
        <p:spPr>
          <a:xfrm>
            <a:off x="8786100" y="1763202"/>
            <a:ext cx="697874" cy="158057"/>
          </a:xfrm>
          <a:prstGeom prst="rect">
            <a:avLst/>
          </a:prstGeom>
          <a:noFill/>
        </p:spPr>
        <p:txBody>
          <a:bodyPr wrap="squar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단위</a:t>
            </a:r>
            <a:r>
              <a:rPr lang="en-US" altLang="ko-KR" sz="1000" dirty="0">
                <a:solidFill>
                  <a:schemeClr val="bg1"/>
                </a:solidFill>
              </a:rPr>
              <a:t>: </a:t>
            </a:r>
            <a:r>
              <a:rPr lang="ko-KR" altLang="en-US" sz="1000" dirty="0">
                <a:solidFill>
                  <a:schemeClr val="bg1"/>
                </a:solidFill>
              </a:rPr>
              <a:t>건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1" name="직사각형 1121">
            <a:extLst>
              <a:ext uri="{FF2B5EF4-FFF2-40B4-BE49-F238E27FC236}">
                <a16:creationId xmlns:a16="http://schemas.microsoft.com/office/drawing/2014/main" id="{D32A1DAD-74A1-415D-70A4-3A1CD03E1CC4}"/>
              </a:ext>
            </a:extLst>
          </p:cNvPr>
          <p:cNvSpPr/>
          <p:nvPr/>
        </p:nvSpPr>
        <p:spPr>
          <a:xfrm>
            <a:off x="452438" y="2407946"/>
            <a:ext cx="1595437" cy="906753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lt"/>
                <a:ea typeface="+mj-ea"/>
              </a:rPr>
              <a:t>40,947</a:t>
            </a:r>
            <a:r>
              <a:rPr lang="en-US" altLang="ko-KR" sz="1200" b="1" dirty="0">
                <a:solidFill>
                  <a:schemeClr val="bg1"/>
                </a:solidFill>
              </a:rPr>
              <a:t>%</a:t>
            </a:r>
          </a:p>
          <a:p>
            <a:pPr algn="ctr"/>
            <a:endParaRPr lang="en-US" altLang="ko-KR" sz="5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’24 1Q </a:t>
            </a:r>
            <a: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  <a:t> ’25 2Q</a:t>
            </a:r>
            <a:b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  <a:t>Addressable User </a:t>
            </a:r>
            <a:r>
              <a:rPr lang="ko-KR" altLang="en-US" sz="1000" b="1" dirty="0">
                <a:solidFill>
                  <a:schemeClr val="bg1"/>
                </a:solidFill>
                <a:sym typeface="Wingdings" panose="05000000000000000000" pitchFamily="2" charset="2"/>
              </a:rPr>
              <a:t>증가율</a:t>
            </a:r>
            <a:endParaRPr lang="en-US" altLang="ko-KR" sz="1000" b="1" baseline="30000" dirty="0">
              <a:solidFill>
                <a:schemeClr val="bg1"/>
              </a:solidFill>
            </a:endParaRPr>
          </a:p>
        </p:txBody>
      </p:sp>
      <p:sp>
        <p:nvSpPr>
          <p:cNvPr id="22" name="직사각형 1121">
            <a:extLst>
              <a:ext uri="{FF2B5EF4-FFF2-40B4-BE49-F238E27FC236}">
                <a16:creationId xmlns:a16="http://schemas.microsoft.com/office/drawing/2014/main" id="{C78AEF1F-3CB7-43FF-01FE-EF3870B3B371}"/>
              </a:ext>
            </a:extLst>
          </p:cNvPr>
          <p:cNvSpPr/>
          <p:nvPr/>
        </p:nvSpPr>
        <p:spPr>
          <a:xfrm>
            <a:off x="3512999" y="2407946"/>
            <a:ext cx="1595437" cy="906753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lt"/>
                <a:ea typeface="+mj-ea"/>
              </a:rPr>
              <a:t>26.4</a:t>
            </a:r>
            <a:r>
              <a:rPr lang="en-US" altLang="ko-KR" sz="1200" b="1" dirty="0">
                <a:solidFill>
                  <a:schemeClr val="bg1"/>
                </a:solidFill>
              </a:rPr>
              <a:t>%</a:t>
            </a:r>
          </a:p>
          <a:p>
            <a:pPr algn="ctr"/>
            <a:endParaRPr lang="en-US" altLang="ko-KR" sz="5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’24 3Q </a:t>
            </a:r>
            <a: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  <a:t>~ ’25 2Q</a:t>
            </a:r>
            <a:b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ko-KR" altLang="en-US" sz="1000" b="1" spc="-70" dirty="0">
                <a:solidFill>
                  <a:schemeClr val="bg1"/>
                </a:solidFill>
                <a:sym typeface="Wingdings" panose="05000000000000000000" pitchFamily="2" charset="2"/>
              </a:rPr>
              <a:t>평균 </a:t>
            </a:r>
            <a:r>
              <a:rPr lang="en-US" altLang="ko-KR" sz="1000" b="1" spc="-70" dirty="0">
                <a:solidFill>
                  <a:schemeClr val="bg1"/>
                </a:solidFill>
                <a:sym typeface="Wingdings" panose="05000000000000000000" pitchFamily="2" charset="2"/>
              </a:rPr>
              <a:t>Serviceable User </a:t>
            </a:r>
            <a:r>
              <a:rPr lang="ko-KR" altLang="en-US" sz="1000" b="1" spc="-70" dirty="0" err="1">
                <a:solidFill>
                  <a:schemeClr val="bg1"/>
                </a:solidFill>
                <a:sym typeface="Wingdings" panose="05000000000000000000" pitchFamily="2" charset="2"/>
              </a:rPr>
              <a:t>전환율</a:t>
            </a:r>
            <a:endParaRPr lang="en-US" altLang="ko-KR" sz="1000" b="1" spc="-70" dirty="0">
              <a:solidFill>
                <a:schemeClr val="bg1"/>
              </a:solidFill>
            </a:endParaRPr>
          </a:p>
        </p:txBody>
      </p:sp>
      <p:sp>
        <p:nvSpPr>
          <p:cNvPr id="23" name="직사각형 1121">
            <a:extLst>
              <a:ext uri="{FF2B5EF4-FFF2-40B4-BE49-F238E27FC236}">
                <a16:creationId xmlns:a16="http://schemas.microsoft.com/office/drawing/2014/main" id="{05AB1829-5B6B-144D-844B-8F62E34D202A}"/>
              </a:ext>
            </a:extLst>
          </p:cNvPr>
          <p:cNvSpPr/>
          <p:nvPr/>
        </p:nvSpPr>
        <p:spPr>
          <a:xfrm>
            <a:off x="6572998" y="2407946"/>
            <a:ext cx="1595437" cy="906753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+mj-lt"/>
                <a:ea typeface="+mj-ea"/>
              </a:rPr>
              <a:t>26.1</a:t>
            </a:r>
            <a:r>
              <a:rPr lang="en-US" altLang="ko-KR" sz="1200" b="1" dirty="0">
                <a:solidFill>
                  <a:schemeClr val="bg1"/>
                </a:solidFill>
              </a:rPr>
              <a:t>%</a:t>
            </a:r>
          </a:p>
          <a:p>
            <a:pPr algn="ctr"/>
            <a:endParaRPr lang="en-US" altLang="ko-KR" sz="5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’24 3Q </a:t>
            </a:r>
            <a: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  <a:t>~ ’25 2Q</a:t>
            </a:r>
            <a:br>
              <a:rPr lang="en-US" altLang="ko-KR" sz="1000" b="1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ko-KR" altLang="en-US" sz="1000" b="1" spc="-70" dirty="0">
                <a:solidFill>
                  <a:schemeClr val="bg1"/>
                </a:solidFill>
                <a:sym typeface="Wingdings" panose="05000000000000000000" pitchFamily="2" charset="2"/>
              </a:rPr>
              <a:t>평균 </a:t>
            </a:r>
            <a:r>
              <a:rPr lang="en-US" altLang="ko-KR" sz="1000" b="1" spc="-70" dirty="0">
                <a:solidFill>
                  <a:schemeClr val="bg1"/>
                </a:solidFill>
                <a:sym typeface="Wingdings" panose="05000000000000000000" pitchFamily="2" charset="2"/>
              </a:rPr>
              <a:t>Serviceable  </a:t>
            </a:r>
            <a:r>
              <a:rPr lang="ko-KR" altLang="en-US" sz="1000" b="1" spc="-70" dirty="0">
                <a:solidFill>
                  <a:schemeClr val="bg1"/>
                </a:solidFill>
                <a:sym typeface="Wingdings" panose="05000000000000000000" pitchFamily="2" charset="2"/>
              </a:rPr>
              <a:t>유료</a:t>
            </a:r>
            <a:r>
              <a:rPr lang="en-US" altLang="ko-KR" sz="1000" b="1" spc="-7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b="1" spc="-70" dirty="0" err="1">
                <a:solidFill>
                  <a:schemeClr val="bg1"/>
                </a:solidFill>
                <a:sym typeface="Wingdings" panose="05000000000000000000" pitchFamily="2" charset="2"/>
              </a:rPr>
              <a:t>전환율</a:t>
            </a:r>
            <a:endParaRPr lang="en-US" altLang="ko-KR" sz="1000" b="1" spc="-7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475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28F28-4221-459D-FB04-BFCEC3D3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D99400-941C-0B6C-D861-B403345908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21ADC8-1EC4-07E3-B913-1E261B7F54E6}"/>
              </a:ext>
            </a:extLst>
          </p:cNvPr>
          <p:cNvSpPr txBox="1"/>
          <p:nvPr/>
        </p:nvSpPr>
        <p:spPr>
          <a:xfrm>
            <a:off x="452438" y="1386550"/>
            <a:ext cx="3064942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3673058-8C54-03DD-4A0A-D61B02470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93960"/>
              </p:ext>
            </p:extLst>
          </p:nvPr>
        </p:nvGraphicFramePr>
        <p:xfrm>
          <a:off x="344438" y="2080716"/>
          <a:ext cx="360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Investment Highlights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812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Market Opportunities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spc="-50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Business Overview</a:t>
                      </a:r>
                      <a:endParaRPr lang="ko-KR" altLang="en-US" sz="1600" b="0" cap="all" spc="-50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A. Company Overview</a:t>
                      </a:r>
                      <a:endParaRPr lang="ko-KR" altLang="en-US" sz="16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5635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B. Skill-to-Earn Platform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680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endParaRPr lang="ko-KR" altLang="en-US" sz="1600" b="0" cap="all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spc="0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C. SI · ERP Solution</a:t>
                      </a:r>
                      <a:endParaRPr lang="ko-KR" altLang="en-US" sz="1600" b="0" cap="all" spc="0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874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05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Outfit ExtraBold"/>
                          <a:ea typeface="Pretendard ExtraBold"/>
                          <a:cs typeface="+mn-cs"/>
                        </a:rPr>
                        <a:t>Financial Summary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36481"/>
                  </a:ext>
                </a:extLst>
              </a:tr>
            </a:tbl>
          </a:graphicData>
        </a:graphic>
      </p:graphicFrame>
      <p:pic>
        <p:nvPicPr>
          <p:cNvPr id="2" name="그래픽 1">
            <a:extLst>
              <a:ext uri="{FF2B5EF4-FFF2-40B4-BE49-F238E27FC236}">
                <a16:creationId xmlns:a16="http://schemas.microsoft.com/office/drawing/2014/main" id="{7BDEF3CA-138D-53BC-FC21-559C022E8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0908" y="549275"/>
            <a:ext cx="1642500" cy="252000"/>
          </a:xfrm>
          <a:prstGeom prst="rect">
            <a:avLst/>
          </a:prstGeom>
        </p:spPr>
      </p:pic>
      <p:grpSp>
        <p:nvGrpSpPr>
          <p:cNvPr id="7" name="그래픽 12">
            <a:extLst>
              <a:ext uri="{FF2B5EF4-FFF2-40B4-BE49-F238E27FC236}">
                <a16:creationId xmlns:a16="http://schemas.microsoft.com/office/drawing/2014/main" id="{CFC13A73-71E4-20F5-8A2D-9F018D26735A}"/>
              </a:ext>
            </a:extLst>
          </p:cNvPr>
          <p:cNvGrpSpPr>
            <a:grpSpLocks noChangeAspect="1"/>
          </p:cNvGrpSpPr>
          <p:nvPr/>
        </p:nvGrpSpPr>
        <p:grpSpPr>
          <a:xfrm>
            <a:off x="452999" y="461630"/>
            <a:ext cx="1363661" cy="427290"/>
            <a:chOff x="1748076" y="1492704"/>
            <a:chExt cx="2780254" cy="871165"/>
          </a:xfrm>
          <a:solidFill>
            <a:schemeClr val="bg1"/>
          </a:solidFill>
        </p:grpSpPr>
        <p:sp>
          <p:nvSpPr>
            <p:cNvPr id="8" name="자유형: 도형 21">
              <a:extLst>
                <a:ext uri="{FF2B5EF4-FFF2-40B4-BE49-F238E27FC236}">
                  <a16:creationId xmlns:a16="http://schemas.microsoft.com/office/drawing/2014/main" id="{B2847664-BFCF-B33D-2E19-C90BF6F96DA3}"/>
                </a:ext>
              </a:extLst>
            </p:cNvPr>
            <p:cNvSpPr/>
            <p:nvPr/>
          </p:nvSpPr>
          <p:spPr>
            <a:xfrm flipV="1">
              <a:off x="2956473" y="1542367"/>
              <a:ext cx="1551422" cy="303005"/>
            </a:xfrm>
            <a:custGeom>
              <a:avLst/>
              <a:gdLst>
                <a:gd name="connsiteX0" fmla="*/ 1551596 w 1551422"/>
                <a:gd name="connsiteY0" fmla="*/ 303014 h 303005"/>
                <a:gd name="connsiteX1" fmla="*/ 173 w 1551422"/>
                <a:gd name="connsiteY1" fmla="*/ 303014 h 303005"/>
                <a:gd name="connsiteX2" fmla="*/ 173 w 1551422"/>
                <a:gd name="connsiteY2" fmla="*/ 8 h 303005"/>
                <a:gd name="connsiteX3" fmla="*/ 1551596 w 1551422"/>
                <a:gd name="connsiteY3" fmla="*/ 8 h 3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22" h="303005">
                  <a:moveTo>
                    <a:pt x="1551596" y="303014"/>
                  </a:moveTo>
                  <a:lnTo>
                    <a:pt x="173" y="303014"/>
                  </a:lnTo>
                  <a:lnTo>
                    <a:pt x="173" y="8"/>
                  </a:lnTo>
                  <a:lnTo>
                    <a:pt x="1551596" y="8"/>
                  </a:lnTo>
                  <a:close/>
                </a:path>
              </a:pathLst>
            </a:custGeom>
            <a:grpFill/>
            <a:ln w="60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" name="그래픽 12">
              <a:extLst>
                <a:ext uri="{FF2B5EF4-FFF2-40B4-BE49-F238E27FC236}">
                  <a16:creationId xmlns:a16="http://schemas.microsoft.com/office/drawing/2014/main" id="{506A8637-CBF9-A947-352D-339EE1B05EF1}"/>
                </a:ext>
              </a:extLst>
            </p:cNvPr>
            <p:cNvGrpSpPr/>
            <p:nvPr/>
          </p:nvGrpSpPr>
          <p:grpSpPr>
            <a:xfrm>
              <a:off x="1748076" y="1492704"/>
              <a:ext cx="2780254" cy="871165"/>
              <a:chOff x="1748076" y="1492704"/>
              <a:chExt cx="2780254" cy="871165"/>
            </a:xfrm>
            <a:grpFill/>
          </p:grpSpPr>
          <p:sp>
            <p:nvSpPr>
              <p:cNvPr id="10" name="자유형: 도형 26">
                <a:extLst>
                  <a:ext uri="{FF2B5EF4-FFF2-40B4-BE49-F238E27FC236}">
                    <a16:creationId xmlns:a16="http://schemas.microsoft.com/office/drawing/2014/main" id="{67769383-F8DC-855C-2FD9-7DFC63861AEF}"/>
                  </a:ext>
                </a:extLst>
              </p:cNvPr>
              <p:cNvSpPr/>
              <p:nvPr/>
            </p:nvSpPr>
            <p:spPr>
              <a:xfrm flipV="1">
                <a:off x="1751153" y="1513324"/>
                <a:ext cx="258404" cy="360962"/>
              </a:xfrm>
              <a:custGeom>
                <a:avLst/>
                <a:gdLst>
                  <a:gd name="connsiteX0" fmla="*/ 113589 w 258404"/>
                  <a:gd name="connsiteY0" fmla="*/ 179798 h 360962"/>
                  <a:gd name="connsiteX1" fmla="*/ 82826 w 258404"/>
                  <a:gd name="connsiteY1" fmla="*/ 179798 h 360962"/>
                  <a:gd name="connsiteX2" fmla="*/ 82826 w 258404"/>
                  <a:gd name="connsiteY2" fmla="*/ 7014 h 360962"/>
                  <a:gd name="connsiteX3" fmla="*/ 105382 w 258404"/>
                  <a:gd name="connsiteY3" fmla="*/ 7014 h 360962"/>
                  <a:gd name="connsiteX4" fmla="*/ 201265 w 258404"/>
                  <a:gd name="connsiteY4" fmla="*/ 94177 h 360962"/>
                  <a:gd name="connsiteX5" fmla="*/ 113589 w 258404"/>
                  <a:gd name="connsiteY5" fmla="*/ 179798 h 360962"/>
                  <a:gd name="connsiteX6" fmla="*/ 82826 w 258404"/>
                  <a:gd name="connsiteY6" fmla="*/ 354638 h 360962"/>
                  <a:gd name="connsiteX7" fmla="*/ 82826 w 258404"/>
                  <a:gd name="connsiteY7" fmla="*/ 186461 h 360962"/>
                  <a:gd name="connsiteX8" fmla="*/ 113589 w 258404"/>
                  <a:gd name="connsiteY8" fmla="*/ 186461 h 360962"/>
                  <a:gd name="connsiteX9" fmla="*/ 179215 w 258404"/>
                  <a:gd name="connsiteY9" fmla="*/ 274137 h 360962"/>
                  <a:gd name="connsiteX10" fmla="*/ 105382 w 258404"/>
                  <a:gd name="connsiteY10" fmla="*/ 354638 h 360962"/>
                  <a:gd name="connsiteX11" fmla="*/ 102820 w 258404"/>
                  <a:gd name="connsiteY11" fmla="*/ 345 h 360962"/>
                  <a:gd name="connsiteX12" fmla="*/ 280 w 258404"/>
                  <a:gd name="connsiteY12" fmla="*/ 345 h 360962"/>
                  <a:gd name="connsiteX13" fmla="*/ 280 w 258404"/>
                  <a:gd name="connsiteY13" fmla="*/ 4957 h 360962"/>
                  <a:gd name="connsiteX14" fmla="*/ 30018 w 258404"/>
                  <a:gd name="connsiteY14" fmla="*/ 61871 h 360962"/>
                  <a:gd name="connsiteX15" fmla="*/ 30018 w 258404"/>
                  <a:gd name="connsiteY15" fmla="*/ 300800 h 360962"/>
                  <a:gd name="connsiteX16" fmla="*/ 280 w 258404"/>
                  <a:gd name="connsiteY16" fmla="*/ 356688 h 360962"/>
                  <a:gd name="connsiteX17" fmla="*/ 280 w 258404"/>
                  <a:gd name="connsiteY17" fmla="*/ 361307 h 360962"/>
                  <a:gd name="connsiteX18" fmla="*/ 102820 w 258404"/>
                  <a:gd name="connsiteY18" fmla="*/ 361307 h 360962"/>
                  <a:gd name="connsiteX19" fmla="*/ 234585 w 258404"/>
                  <a:gd name="connsiteY19" fmla="*/ 273631 h 360962"/>
                  <a:gd name="connsiteX20" fmla="*/ 148964 w 258404"/>
                  <a:gd name="connsiteY20" fmla="*/ 185442 h 360962"/>
                  <a:gd name="connsiteX21" fmla="*/ 258685 w 258404"/>
                  <a:gd name="connsiteY21" fmla="*/ 92121 h 360962"/>
                  <a:gd name="connsiteX22" fmla="*/ 102820 w 258404"/>
                  <a:gd name="connsiteY22" fmla="*/ 345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8404" h="360962">
                    <a:moveTo>
                      <a:pt x="113589" y="179798"/>
                    </a:moveTo>
                    <a:lnTo>
                      <a:pt x="82826" y="179798"/>
                    </a:lnTo>
                    <a:lnTo>
                      <a:pt x="82826" y="7014"/>
                    </a:lnTo>
                    <a:lnTo>
                      <a:pt x="105382" y="7014"/>
                    </a:lnTo>
                    <a:cubicBezTo>
                      <a:pt x="154608" y="7014"/>
                      <a:pt x="201265" y="5989"/>
                      <a:pt x="201265" y="94177"/>
                    </a:cubicBezTo>
                    <a:cubicBezTo>
                      <a:pt x="201265" y="177235"/>
                      <a:pt x="151527" y="179798"/>
                      <a:pt x="113589" y="179798"/>
                    </a:cubicBezTo>
                    <a:moveTo>
                      <a:pt x="82826" y="354638"/>
                    </a:moveTo>
                    <a:lnTo>
                      <a:pt x="82826" y="186461"/>
                    </a:lnTo>
                    <a:lnTo>
                      <a:pt x="113589" y="186461"/>
                    </a:lnTo>
                    <a:cubicBezTo>
                      <a:pt x="145377" y="186461"/>
                      <a:pt x="179215" y="196204"/>
                      <a:pt x="179215" y="274137"/>
                    </a:cubicBezTo>
                    <a:cubicBezTo>
                      <a:pt x="179215" y="349507"/>
                      <a:pt x="136664" y="354638"/>
                      <a:pt x="105382" y="354638"/>
                    </a:cubicBezTo>
                    <a:close/>
                    <a:moveTo>
                      <a:pt x="102820" y="345"/>
                    </a:moveTo>
                    <a:lnTo>
                      <a:pt x="280" y="345"/>
                    </a:lnTo>
                    <a:lnTo>
                      <a:pt x="280" y="4957"/>
                    </a:lnTo>
                    <a:cubicBezTo>
                      <a:pt x="22325" y="4957"/>
                      <a:pt x="30018" y="27008"/>
                      <a:pt x="30018" y="61871"/>
                    </a:cubicBezTo>
                    <a:lnTo>
                      <a:pt x="30018" y="300800"/>
                    </a:lnTo>
                    <a:cubicBezTo>
                      <a:pt x="30018" y="332588"/>
                      <a:pt x="22837" y="356688"/>
                      <a:pt x="280" y="356688"/>
                    </a:cubicBezTo>
                    <a:lnTo>
                      <a:pt x="280" y="361307"/>
                    </a:lnTo>
                    <a:lnTo>
                      <a:pt x="102820" y="361307"/>
                    </a:lnTo>
                    <a:cubicBezTo>
                      <a:pt x="174090" y="361307"/>
                      <a:pt x="234585" y="357201"/>
                      <a:pt x="234585" y="273631"/>
                    </a:cubicBezTo>
                    <a:cubicBezTo>
                      <a:pt x="234585" y="193642"/>
                      <a:pt x="159221" y="185442"/>
                      <a:pt x="148964" y="185442"/>
                    </a:cubicBezTo>
                    <a:cubicBezTo>
                      <a:pt x="182290" y="185442"/>
                      <a:pt x="258685" y="178779"/>
                      <a:pt x="258685" y="92121"/>
                    </a:cubicBezTo>
                    <a:cubicBezTo>
                      <a:pt x="258685" y="2913"/>
                      <a:pt x="191527" y="345"/>
                      <a:pt x="102820" y="345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27">
                <a:extLst>
                  <a:ext uri="{FF2B5EF4-FFF2-40B4-BE49-F238E27FC236}">
                    <a16:creationId xmlns:a16="http://schemas.microsoft.com/office/drawing/2014/main" id="{FD8A9137-5E18-2B74-64E8-5E654ED53D86}"/>
                  </a:ext>
                </a:extLst>
              </p:cNvPr>
              <p:cNvSpPr/>
              <p:nvPr/>
            </p:nvSpPr>
            <p:spPr>
              <a:xfrm flipV="1">
                <a:off x="2091574" y="1492704"/>
                <a:ext cx="324112" cy="386382"/>
              </a:xfrm>
              <a:custGeom>
                <a:avLst/>
                <a:gdLst>
                  <a:gd name="connsiteX0" fmla="*/ 99962 w 324112"/>
                  <a:gd name="connsiteY0" fmla="*/ 281518 h 386382"/>
                  <a:gd name="connsiteX1" fmla="*/ 134548 w 324112"/>
                  <a:gd name="connsiteY1" fmla="*/ 228704 h 386382"/>
                  <a:gd name="connsiteX2" fmla="*/ 168151 w 324112"/>
                  <a:gd name="connsiteY2" fmla="*/ 359450 h 386382"/>
                  <a:gd name="connsiteX3" fmla="*/ 112142 w 324112"/>
                  <a:gd name="connsiteY3" fmla="*/ 374319 h 386382"/>
                  <a:gd name="connsiteX4" fmla="*/ 99962 w 324112"/>
                  <a:gd name="connsiteY4" fmla="*/ 281518 h 386382"/>
                  <a:gd name="connsiteX5" fmla="*/ 180807 w 324112"/>
                  <a:gd name="connsiteY5" fmla="*/ 76945 h 386382"/>
                  <a:gd name="connsiteX6" fmla="*/ 99962 w 324112"/>
                  <a:gd name="connsiteY6" fmla="*/ 199997 h 386382"/>
                  <a:gd name="connsiteX7" fmla="*/ 72696 w 324112"/>
                  <a:gd name="connsiteY7" fmla="*/ 182047 h 386382"/>
                  <a:gd name="connsiteX8" fmla="*/ 58575 w 324112"/>
                  <a:gd name="connsiteY8" fmla="*/ 53870 h 386382"/>
                  <a:gd name="connsiteX9" fmla="*/ 180807 w 324112"/>
                  <a:gd name="connsiteY9" fmla="*/ 76945 h 386382"/>
                  <a:gd name="connsiteX10" fmla="*/ 324468 w 324112"/>
                  <a:gd name="connsiteY10" fmla="*/ 56945 h 386382"/>
                  <a:gd name="connsiteX11" fmla="*/ 274802 w 324112"/>
                  <a:gd name="connsiteY11" fmla="*/ 550 h 386382"/>
                  <a:gd name="connsiteX12" fmla="*/ 213927 w 324112"/>
                  <a:gd name="connsiteY12" fmla="*/ 26182 h 386382"/>
                  <a:gd name="connsiteX13" fmla="*/ 185679 w 324112"/>
                  <a:gd name="connsiteY13" fmla="*/ 70789 h 386382"/>
                  <a:gd name="connsiteX14" fmla="*/ 19617 w 324112"/>
                  <a:gd name="connsiteY14" fmla="*/ 34901 h 386382"/>
                  <a:gd name="connsiteX15" fmla="*/ 68795 w 324112"/>
                  <a:gd name="connsiteY15" fmla="*/ 188203 h 386382"/>
                  <a:gd name="connsiteX16" fmla="*/ 96073 w 324112"/>
                  <a:gd name="connsiteY16" fmla="*/ 205635 h 386382"/>
                  <a:gd name="connsiteX17" fmla="*/ 71725 w 324112"/>
                  <a:gd name="connsiteY17" fmla="*/ 243573 h 386382"/>
                  <a:gd name="connsiteX18" fmla="*/ 103857 w 324112"/>
                  <a:gd name="connsiteY18" fmla="*/ 385088 h 386382"/>
                  <a:gd name="connsiteX19" fmla="*/ 173993 w 324112"/>
                  <a:gd name="connsiteY19" fmla="*/ 364069 h 386382"/>
                  <a:gd name="connsiteX20" fmla="*/ 138437 w 324112"/>
                  <a:gd name="connsiteY20" fmla="*/ 222554 h 386382"/>
                  <a:gd name="connsiteX21" fmla="*/ 203701 w 324112"/>
                  <a:gd name="connsiteY21" fmla="*/ 121040 h 386382"/>
                  <a:gd name="connsiteX22" fmla="*/ 261646 w 324112"/>
                  <a:gd name="connsiteY22" fmla="*/ 181535 h 386382"/>
                  <a:gd name="connsiteX23" fmla="*/ 291842 w 324112"/>
                  <a:gd name="connsiteY23" fmla="*/ 175897 h 386382"/>
                  <a:gd name="connsiteX24" fmla="*/ 294278 w 324112"/>
                  <a:gd name="connsiteY24" fmla="*/ 139490 h 386382"/>
                  <a:gd name="connsiteX25" fmla="*/ 259216 w 324112"/>
                  <a:gd name="connsiteY25" fmla="*/ 136421 h 386382"/>
                  <a:gd name="connsiteX26" fmla="*/ 250931 w 324112"/>
                  <a:gd name="connsiteY26" fmla="*/ 153853 h 386382"/>
                  <a:gd name="connsiteX27" fmla="*/ 207590 w 324112"/>
                  <a:gd name="connsiteY27" fmla="*/ 115396 h 386382"/>
                  <a:gd name="connsiteX28" fmla="*/ 246059 w 324112"/>
                  <a:gd name="connsiteY28" fmla="*/ 56945 h 386382"/>
                  <a:gd name="connsiteX29" fmla="*/ 285028 w 324112"/>
                  <a:gd name="connsiteY29" fmla="*/ 32845 h 386382"/>
                  <a:gd name="connsiteX30" fmla="*/ 318137 w 324112"/>
                  <a:gd name="connsiteY30" fmla="*/ 56945 h 38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24112" h="386382">
                    <a:moveTo>
                      <a:pt x="99962" y="281518"/>
                    </a:moveTo>
                    <a:lnTo>
                      <a:pt x="134548" y="228704"/>
                    </a:lnTo>
                    <a:cubicBezTo>
                      <a:pt x="199318" y="271774"/>
                      <a:pt x="192010" y="328175"/>
                      <a:pt x="168151" y="359450"/>
                    </a:cubicBezTo>
                    <a:cubicBezTo>
                      <a:pt x="154023" y="374832"/>
                      <a:pt x="131623" y="382013"/>
                      <a:pt x="112142" y="374319"/>
                    </a:cubicBezTo>
                    <a:cubicBezTo>
                      <a:pt x="82446" y="362525"/>
                      <a:pt x="76591" y="317924"/>
                      <a:pt x="99962" y="281518"/>
                    </a:cubicBezTo>
                    <a:moveTo>
                      <a:pt x="180807" y="76945"/>
                    </a:moveTo>
                    <a:lnTo>
                      <a:pt x="99962" y="199997"/>
                    </a:lnTo>
                    <a:lnTo>
                      <a:pt x="72696" y="182047"/>
                    </a:lnTo>
                    <a:cubicBezTo>
                      <a:pt x="44459" y="161540"/>
                      <a:pt x="16699" y="106165"/>
                      <a:pt x="58575" y="53870"/>
                    </a:cubicBezTo>
                    <a:cubicBezTo>
                      <a:pt x="88771" y="15932"/>
                      <a:pt x="155971" y="16957"/>
                      <a:pt x="180807" y="76945"/>
                    </a:cubicBezTo>
                    <a:moveTo>
                      <a:pt x="324468" y="56945"/>
                    </a:moveTo>
                    <a:cubicBezTo>
                      <a:pt x="323980" y="19519"/>
                      <a:pt x="297202" y="2594"/>
                      <a:pt x="274802" y="550"/>
                    </a:cubicBezTo>
                    <a:cubicBezTo>
                      <a:pt x="274802" y="550"/>
                      <a:pt x="232921" y="-3556"/>
                      <a:pt x="213927" y="26182"/>
                    </a:cubicBezTo>
                    <a:lnTo>
                      <a:pt x="185679" y="70789"/>
                    </a:lnTo>
                    <a:cubicBezTo>
                      <a:pt x="168639" y="12338"/>
                      <a:pt x="70742" y="-33807"/>
                      <a:pt x="19617" y="34901"/>
                    </a:cubicBezTo>
                    <a:cubicBezTo>
                      <a:pt x="-31031" y="103096"/>
                      <a:pt x="29844" y="164616"/>
                      <a:pt x="68795" y="188203"/>
                    </a:cubicBezTo>
                    <a:lnTo>
                      <a:pt x="96073" y="205635"/>
                    </a:lnTo>
                    <a:lnTo>
                      <a:pt x="71725" y="243573"/>
                    </a:lnTo>
                    <a:cubicBezTo>
                      <a:pt x="23513" y="312281"/>
                      <a:pt x="49325" y="374832"/>
                      <a:pt x="103857" y="385088"/>
                    </a:cubicBezTo>
                    <a:cubicBezTo>
                      <a:pt x="135518" y="390726"/>
                      <a:pt x="159378" y="381500"/>
                      <a:pt x="173993" y="364069"/>
                    </a:cubicBezTo>
                    <a:cubicBezTo>
                      <a:pt x="194934" y="338937"/>
                      <a:pt x="213433" y="275874"/>
                      <a:pt x="138437" y="222554"/>
                    </a:cubicBezTo>
                    <a:lnTo>
                      <a:pt x="203701" y="121040"/>
                    </a:lnTo>
                    <a:cubicBezTo>
                      <a:pt x="222200" y="169228"/>
                      <a:pt x="248983" y="178460"/>
                      <a:pt x="261646" y="181535"/>
                    </a:cubicBezTo>
                    <a:cubicBezTo>
                      <a:pt x="271383" y="183591"/>
                      <a:pt x="283557" y="183072"/>
                      <a:pt x="291842" y="175897"/>
                    </a:cubicBezTo>
                    <a:cubicBezTo>
                      <a:pt x="301091" y="168203"/>
                      <a:pt x="304498" y="151284"/>
                      <a:pt x="294278" y="139490"/>
                    </a:cubicBezTo>
                    <a:cubicBezTo>
                      <a:pt x="285505" y="128727"/>
                      <a:pt x="269918" y="127184"/>
                      <a:pt x="259216" y="136421"/>
                    </a:cubicBezTo>
                    <a:cubicBezTo>
                      <a:pt x="253367" y="141546"/>
                      <a:pt x="251419" y="146671"/>
                      <a:pt x="250931" y="153853"/>
                    </a:cubicBezTo>
                    <a:cubicBezTo>
                      <a:pt x="250931" y="165128"/>
                      <a:pt x="220741" y="156928"/>
                      <a:pt x="207590" y="115396"/>
                    </a:cubicBezTo>
                    <a:lnTo>
                      <a:pt x="246059" y="56945"/>
                    </a:lnTo>
                    <a:cubicBezTo>
                      <a:pt x="261646" y="33363"/>
                      <a:pt x="285028" y="32845"/>
                      <a:pt x="285028" y="32845"/>
                    </a:cubicBezTo>
                    <a:cubicBezTo>
                      <a:pt x="300120" y="32845"/>
                      <a:pt x="315701" y="39001"/>
                      <a:pt x="318137" y="56945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29">
                <a:extLst>
                  <a:ext uri="{FF2B5EF4-FFF2-40B4-BE49-F238E27FC236}">
                    <a16:creationId xmlns:a16="http://schemas.microsoft.com/office/drawing/2014/main" id="{501F9246-A141-84D1-4579-49F7B641D27D}"/>
                  </a:ext>
                </a:extLst>
              </p:cNvPr>
              <p:cNvSpPr/>
              <p:nvPr/>
            </p:nvSpPr>
            <p:spPr>
              <a:xfrm flipV="1">
                <a:off x="2427647" y="1513327"/>
                <a:ext cx="343018" cy="360956"/>
              </a:xfrm>
              <a:custGeom>
                <a:avLst/>
                <a:gdLst>
                  <a:gd name="connsiteX0" fmla="*/ 343489 w 343018"/>
                  <a:gd name="connsiteY0" fmla="*/ 361331 h 360956"/>
                  <a:gd name="connsiteX1" fmla="*/ 343489 w 343018"/>
                  <a:gd name="connsiteY1" fmla="*/ 354662 h 360956"/>
                  <a:gd name="connsiteX2" fmla="*/ 237862 w 343018"/>
                  <a:gd name="connsiteY2" fmla="*/ 241867 h 360956"/>
                  <a:gd name="connsiteX3" fmla="*/ 198899 w 343018"/>
                  <a:gd name="connsiteY3" fmla="*/ 161371 h 360956"/>
                  <a:gd name="connsiteX4" fmla="*/ 198899 w 343018"/>
                  <a:gd name="connsiteY4" fmla="*/ 57801 h 360956"/>
                  <a:gd name="connsiteX5" fmla="*/ 237349 w 343018"/>
                  <a:gd name="connsiteY5" fmla="*/ 7044 h 360956"/>
                  <a:gd name="connsiteX6" fmla="*/ 237349 w 343018"/>
                  <a:gd name="connsiteY6" fmla="*/ 375 h 360956"/>
                  <a:gd name="connsiteX7" fmla="*/ 112241 w 343018"/>
                  <a:gd name="connsiteY7" fmla="*/ 375 h 360956"/>
                  <a:gd name="connsiteX8" fmla="*/ 112241 w 343018"/>
                  <a:gd name="connsiteY8" fmla="*/ 7044 h 360956"/>
                  <a:gd name="connsiteX9" fmla="*/ 150698 w 343018"/>
                  <a:gd name="connsiteY9" fmla="*/ 57801 h 360956"/>
                  <a:gd name="connsiteX10" fmla="*/ 150698 w 343018"/>
                  <a:gd name="connsiteY10" fmla="*/ 148034 h 360956"/>
                  <a:gd name="connsiteX11" fmla="*/ 54309 w 343018"/>
                  <a:gd name="connsiteY11" fmla="*/ 315186 h 360956"/>
                  <a:gd name="connsiteX12" fmla="*/ 471 w 343018"/>
                  <a:gd name="connsiteY12" fmla="*/ 355175 h 360956"/>
                  <a:gd name="connsiteX13" fmla="*/ 471 w 343018"/>
                  <a:gd name="connsiteY13" fmla="*/ 361331 h 360956"/>
                  <a:gd name="connsiteX14" fmla="*/ 132247 w 343018"/>
                  <a:gd name="connsiteY14" fmla="*/ 361331 h 360956"/>
                  <a:gd name="connsiteX15" fmla="*/ 132247 w 343018"/>
                  <a:gd name="connsiteY15" fmla="*/ 355175 h 360956"/>
                  <a:gd name="connsiteX16" fmla="*/ 120448 w 343018"/>
                  <a:gd name="connsiteY16" fmla="*/ 297242 h 360956"/>
                  <a:gd name="connsiteX17" fmla="*/ 195824 w 343018"/>
                  <a:gd name="connsiteY17" fmla="*/ 169572 h 360956"/>
                  <a:gd name="connsiteX18" fmla="*/ 234787 w 343018"/>
                  <a:gd name="connsiteY18" fmla="*/ 249554 h 360956"/>
                  <a:gd name="connsiteX19" fmla="*/ 211718 w 343018"/>
                  <a:gd name="connsiteY19" fmla="*/ 354662 h 360956"/>
                  <a:gd name="connsiteX20" fmla="*/ 211718 w 343018"/>
                  <a:gd name="connsiteY20" fmla="*/ 361331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3018" h="360956">
                    <a:moveTo>
                      <a:pt x="343489" y="361331"/>
                    </a:moveTo>
                    <a:lnTo>
                      <a:pt x="343489" y="354662"/>
                    </a:lnTo>
                    <a:cubicBezTo>
                      <a:pt x="321444" y="354662"/>
                      <a:pt x="294775" y="354662"/>
                      <a:pt x="237862" y="241867"/>
                    </a:cubicBezTo>
                    <a:lnTo>
                      <a:pt x="198899" y="161371"/>
                    </a:lnTo>
                    <a:lnTo>
                      <a:pt x="198899" y="57801"/>
                    </a:lnTo>
                    <a:cubicBezTo>
                      <a:pt x="198899" y="16269"/>
                      <a:pt x="215818" y="7044"/>
                      <a:pt x="237349" y="7044"/>
                    </a:cubicBezTo>
                    <a:lnTo>
                      <a:pt x="237349" y="375"/>
                    </a:lnTo>
                    <a:lnTo>
                      <a:pt x="112241" y="375"/>
                    </a:lnTo>
                    <a:lnTo>
                      <a:pt x="112241" y="7044"/>
                    </a:lnTo>
                    <a:cubicBezTo>
                      <a:pt x="133785" y="7044"/>
                      <a:pt x="150698" y="16269"/>
                      <a:pt x="150698" y="57801"/>
                    </a:cubicBezTo>
                    <a:lnTo>
                      <a:pt x="150698" y="148034"/>
                    </a:lnTo>
                    <a:cubicBezTo>
                      <a:pt x="75334" y="281342"/>
                      <a:pt x="54309" y="315186"/>
                      <a:pt x="54309" y="315186"/>
                    </a:cubicBezTo>
                    <a:cubicBezTo>
                      <a:pt x="31246" y="354156"/>
                      <a:pt x="17402" y="354156"/>
                      <a:pt x="471" y="355175"/>
                    </a:cubicBezTo>
                    <a:lnTo>
                      <a:pt x="471" y="361331"/>
                    </a:lnTo>
                    <a:lnTo>
                      <a:pt x="132247" y="361331"/>
                    </a:lnTo>
                    <a:lnTo>
                      <a:pt x="132247" y="355175"/>
                    </a:lnTo>
                    <a:cubicBezTo>
                      <a:pt x="117885" y="355175"/>
                      <a:pt x="85596" y="356200"/>
                      <a:pt x="120448" y="297242"/>
                    </a:cubicBezTo>
                    <a:lnTo>
                      <a:pt x="195824" y="169572"/>
                    </a:lnTo>
                    <a:lnTo>
                      <a:pt x="234787" y="249554"/>
                    </a:lnTo>
                    <a:cubicBezTo>
                      <a:pt x="252224" y="284936"/>
                      <a:pt x="280931" y="354662"/>
                      <a:pt x="211718" y="354662"/>
                    </a:cubicBezTo>
                    <a:lnTo>
                      <a:pt x="211718" y="361331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30">
                <a:extLst>
                  <a:ext uri="{FF2B5EF4-FFF2-40B4-BE49-F238E27FC236}">
                    <a16:creationId xmlns:a16="http://schemas.microsoft.com/office/drawing/2014/main" id="{4EED3553-7856-2420-A38A-6054580547EA}"/>
                  </a:ext>
                </a:extLst>
              </p:cNvPr>
              <p:cNvSpPr/>
              <p:nvPr/>
            </p:nvSpPr>
            <p:spPr>
              <a:xfrm flipV="1">
                <a:off x="1748076" y="1998302"/>
                <a:ext cx="263535" cy="360956"/>
              </a:xfrm>
              <a:custGeom>
                <a:avLst/>
                <a:gdLst>
                  <a:gd name="connsiteX0" fmla="*/ 94103 w 263535"/>
                  <a:gd name="connsiteY0" fmla="*/ 161445 h 360956"/>
                  <a:gd name="connsiteX1" fmla="*/ 207930 w 263535"/>
                  <a:gd name="connsiteY1" fmla="*/ 257835 h 360956"/>
                  <a:gd name="connsiteX2" fmla="*/ 94103 w 263535"/>
                  <a:gd name="connsiteY2" fmla="*/ 354742 h 360956"/>
                  <a:gd name="connsiteX3" fmla="*/ 84878 w 263535"/>
                  <a:gd name="connsiteY3" fmla="*/ 354742 h 360956"/>
                  <a:gd name="connsiteX4" fmla="*/ 84878 w 263535"/>
                  <a:gd name="connsiteY4" fmla="*/ 161445 h 360956"/>
                  <a:gd name="connsiteX5" fmla="*/ 84878 w 263535"/>
                  <a:gd name="connsiteY5" fmla="*/ 70688 h 360956"/>
                  <a:gd name="connsiteX6" fmla="*/ 135629 w 263535"/>
                  <a:gd name="connsiteY6" fmla="*/ 7118 h 360956"/>
                  <a:gd name="connsiteX7" fmla="*/ 135629 w 263535"/>
                  <a:gd name="connsiteY7" fmla="*/ 449 h 360956"/>
                  <a:gd name="connsiteX8" fmla="*/ 277 w 263535"/>
                  <a:gd name="connsiteY8" fmla="*/ 449 h 360956"/>
                  <a:gd name="connsiteX9" fmla="*/ 277 w 263535"/>
                  <a:gd name="connsiteY9" fmla="*/ 7118 h 360956"/>
                  <a:gd name="connsiteX10" fmla="*/ 34115 w 263535"/>
                  <a:gd name="connsiteY10" fmla="*/ 69150 h 360956"/>
                  <a:gd name="connsiteX11" fmla="*/ 34115 w 263535"/>
                  <a:gd name="connsiteY11" fmla="*/ 306542 h 360956"/>
                  <a:gd name="connsiteX12" fmla="*/ 1302 w 263535"/>
                  <a:gd name="connsiteY12" fmla="*/ 354742 h 360956"/>
                  <a:gd name="connsiteX13" fmla="*/ 1302 w 263535"/>
                  <a:gd name="connsiteY13" fmla="*/ 361405 h 360956"/>
                  <a:gd name="connsiteX14" fmla="*/ 94103 w 263535"/>
                  <a:gd name="connsiteY14" fmla="*/ 361405 h 360956"/>
                  <a:gd name="connsiteX15" fmla="*/ 263813 w 263535"/>
                  <a:gd name="connsiteY15" fmla="*/ 257835 h 360956"/>
                  <a:gd name="connsiteX16" fmla="*/ 94103 w 263535"/>
                  <a:gd name="connsiteY16" fmla="*/ 154783 h 360956"/>
                  <a:gd name="connsiteX17" fmla="*/ 84878 w 263535"/>
                  <a:gd name="connsiteY17" fmla="*/ 154783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3535" h="360956">
                    <a:moveTo>
                      <a:pt x="94103" y="161445"/>
                    </a:moveTo>
                    <a:cubicBezTo>
                      <a:pt x="156660" y="161445"/>
                      <a:pt x="207930" y="162983"/>
                      <a:pt x="207930" y="257835"/>
                    </a:cubicBezTo>
                    <a:cubicBezTo>
                      <a:pt x="207930" y="355261"/>
                      <a:pt x="154092" y="354742"/>
                      <a:pt x="94103" y="354742"/>
                    </a:cubicBezTo>
                    <a:lnTo>
                      <a:pt x="84878" y="354742"/>
                    </a:lnTo>
                    <a:lnTo>
                      <a:pt x="84878" y="161445"/>
                    </a:lnTo>
                    <a:close/>
                    <a:moveTo>
                      <a:pt x="84878" y="70688"/>
                    </a:moveTo>
                    <a:cubicBezTo>
                      <a:pt x="84878" y="9162"/>
                      <a:pt x="103329" y="7118"/>
                      <a:pt x="135629" y="7118"/>
                    </a:cubicBezTo>
                    <a:lnTo>
                      <a:pt x="135629" y="449"/>
                    </a:lnTo>
                    <a:lnTo>
                      <a:pt x="277" y="449"/>
                    </a:lnTo>
                    <a:lnTo>
                      <a:pt x="277" y="7118"/>
                    </a:lnTo>
                    <a:cubicBezTo>
                      <a:pt x="25396" y="7118"/>
                      <a:pt x="34115" y="20449"/>
                      <a:pt x="34115" y="69150"/>
                    </a:cubicBezTo>
                    <a:lnTo>
                      <a:pt x="34115" y="306542"/>
                    </a:lnTo>
                    <a:cubicBezTo>
                      <a:pt x="34115" y="341923"/>
                      <a:pt x="26934" y="354742"/>
                      <a:pt x="1302" y="354742"/>
                    </a:cubicBezTo>
                    <a:lnTo>
                      <a:pt x="1302" y="361405"/>
                    </a:lnTo>
                    <a:lnTo>
                      <a:pt x="94103" y="361405"/>
                    </a:lnTo>
                    <a:cubicBezTo>
                      <a:pt x="196130" y="361405"/>
                      <a:pt x="263813" y="349099"/>
                      <a:pt x="263813" y="257835"/>
                    </a:cubicBezTo>
                    <a:cubicBezTo>
                      <a:pt x="263813" y="167089"/>
                      <a:pt x="196130" y="154783"/>
                      <a:pt x="94103" y="154783"/>
                    </a:cubicBezTo>
                    <a:lnTo>
                      <a:pt x="84878" y="154783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31">
                <a:extLst>
                  <a:ext uri="{FF2B5EF4-FFF2-40B4-BE49-F238E27FC236}">
                    <a16:creationId xmlns:a16="http://schemas.microsoft.com/office/drawing/2014/main" id="{37D0D6C4-31FF-7E35-BABF-746CAC356604}"/>
                  </a:ext>
                </a:extLst>
              </p:cNvPr>
              <p:cNvSpPr/>
              <p:nvPr/>
            </p:nvSpPr>
            <p:spPr>
              <a:xfrm flipV="1">
                <a:off x="2031586" y="1998298"/>
                <a:ext cx="336343" cy="360962"/>
              </a:xfrm>
              <a:custGeom>
                <a:avLst/>
                <a:gdLst>
                  <a:gd name="connsiteX0" fmla="*/ 210577 w 336343"/>
                  <a:gd name="connsiteY0" fmla="*/ 116324 h 360962"/>
                  <a:gd name="connsiteX1" fmla="*/ 143401 w 336343"/>
                  <a:gd name="connsiteY1" fmla="*/ 286540 h 360962"/>
                  <a:gd name="connsiteX2" fmla="*/ 81368 w 336343"/>
                  <a:gd name="connsiteY2" fmla="*/ 116324 h 360962"/>
                  <a:gd name="connsiteX3" fmla="*/ 336704 w 336343"/>
                  <a:gd name="connsiteY3" fmla="*/ 442 h 360962"/>
                  <a:gd name="connsiteX4" fmla="*/ 219796 w 336343"/>
                  <a:gd name="connsiteY4" fmla="*/ 442 h 360962"/>
                  <a:gd name="connsiteX5" fmla="*/ 219796 w 336343"/>
                  <a:gd name="connsiteY5" fmla="*/ 7116 h 360962"/>
                  <a:gd name="connsiteX6" fmla="*/ 230565 w 336343"/>
                  <a:gd name="connsiteY6" fmla="*/ 65049 h 360962"/>
                  <a:gd name="connsiteX7" fmla="*/ 212627 w 336343"/>
                  <a:gd name="connsiteY7" fmla="*/ 109656 h 360962"/>
                  <a:gd name="connsiteX8" fmla="*/ 79825 w 336343"/>
                  <a:gd name="connsiteY8" fmla="*/ 109656 h 360962"/>
                  <a:gd name="connsiteX9" fmla="*/ 114700 w 336343"/>
                  <a:gd name="connsiteY9" fmla="*/ 7116 h 360962"/>
                  <a:gd name="connsiteX10" fmla="*/ 114700 w 336343"/>
                  <a:gd name="connsiteY10" fmla="*/ 442 h 360962"/>
                  <a:gd name="connsiteX11" fmla="*/ 361 w 336343"/>
                  <a:gd name="connsiteY11" fmla="*/ 442 h 360962"/>
                  <a:gd name="connsiteX12" fmla="*/ 361 w 336343"/>
                  <a:gd name="connsiteY12" fmla="*/ 7116 h 360962"/>
                  <a:gd name="connsiteX13" fmla="*/ 77268 w 336343"/>
                  <a:gd name="connsiteY13" fmla="*/ 128112 h 360962"/>
                  <a:gd name="connsiteX14" fmla="*/ 162889 w 336343"/>
                  <a:gd name="connsiteY14" fmla="*/ 361404 h 360962"/>
                  <a:gd name="connsiteX15" fmla="*/ 168520 w 336343"/>
                  <a:gd name="connsiteY15" fmla="*/ 361404 h 360962"/>
                  <a:gd name="connsiteX16" fmla="*/ 294660 w 336343"/>
                  <a:gd name="connsiteY16" fmla="*/ 48636 h 360962"/>
                  <a:gd name="connsiteX17" fmla="*/ 336704 w 336343"/>
                  <a:gd name="connsiteY17" fmla="*/ 7116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6343" h="360962">
                    <a:moveTo>
                      <a:pt x="210577" y="116324"/>
                    </a:moveTo>
                    <a:lnTo>
                      <a:pt x="143401" y="286540"/>
                    </a:lnTo>
                    <a:lnTo>
                      <a:pt x="81368" y="116324"/>
                    </a:lnTo>
                    <a:close/>
                    <a:moveTo>
                      <a:pt x="336704" y="442"/>
                    </a:moveTo>
                    <a:lnTo>
                      <a:pt x="219796" y="442"/>
                    </a:lnTo>
                    <a:lnTo>
                      <a:pt x="219796" y="7116"/>
                    </a:lnTo>
                    <a:cubicBezTo>
                      <a:pt x="247484" y="7116"/>
                      <a:pt x="242359" y="36330"/>
                      <a:pt x="230565" y="65049"/>
                    </a:cubicBezTo>
                    <a:lnTo>
                      <a:pt x="212627" y="109656"/>
                    </a:lnTo>
                    <a:lnTo>
                      <a:pt x="79825" y="109656"/>
                    </a:lnTo>
                    <a:cubicBezTo>
                      <a:pt x="65987" y="68636"/>
                      <a:pt x="43430" y="5060"/>
                      <a:pt x="114700" y="7116"/>
                    </a:cubicBezTo>
                    <a:lnTo>
                      <a:pt x="114700" y="442"/>
                    </a:lnTo>
                    <a:lnTo>
                      <a:pt x="361" y="442"/>
                    </a:lnTo>
                    <a:lnTo>
                      <a:pt x="361" y="7116"/>
                    </a:lnTo>
                    <a:cubicBezTo>
                      <a:pt x="19842" y="7623"/>
                      <a:pt x="32661" y="9679"/>
                      <a:pt x="77268" y="128112"/>
                    </a:cubicBezTo>
                    <a:lnTo>
                      <a:pt x="162889" y="361404"/>
                    </a:lnTo>
                    <a:lnTo>
                      <a:pt x="168520" y="361404"/>
                    </a:lnTo>
                    <a:cubicBezTo>
                      <a:pt x="231077" y="210664"/>
                      <a:pt x="294660" y="48636"/>
                      <a:pt x="294660" y="48636"/>
                    </a:cubicBezTo>
                    <a:cubicBezTo>
                      <a:pt x="311585" y="7623"/>
                      <a:pt x="322347" y="8141"/>
                      <a:pt x="336704" y="711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32">
                <a:extLst>
                  <a:ext uri="{FF2B5EF4-FFF2-40B4-BE49-F238E27FC236}">
                    <a16:creationId xmlns:a16="http://schemas.microsoft.com/office/drawing/2014/main" id="{02D5BF06-64B1-03A9-2488-19D50DB01D35}"/>
                  </a:ext>
                </a:extLst>
              </p:cNvPr>
              <p:cNvSpPr/>
              <p:nvPr/>
            </p:nvSpPr>
            <p:spPr>
              <a:xfrm flipV="1">
                <a:off x="2424299" y="1998303"/>
                <a:ext cx="311736" cy="360956"/>
              </a:xfrm>
              <a:custGeom>
                <a:avLst/>
                <a:gdLst>
                  <a:gd name="connsiteX0" fmla="*/ 98361 w 311736"/>
                  <a:gd name="connsiteY0" fmla="*/ 354774 h 360956"/>
                  <a:gd name="connsiteX1" fmla="*/ 82461 w 311736"/>
                  <a:gd name="connsiteY1" fmla="*/ 354774 h 360956"/>
                  <a:gd name="connsiteX2" fmla="*/ 82461 w 311736"/>
                  <a:gd name="connsiteY2" fmla="*/ 172759 h 360956"/>
                  <a:gd name="connsiteX3" fmla="*/ 98361 w 311736"/>
                  <a:gd name="connsiteY3" fmla="*/ 172759 h 360956"/>
                  <a:gd name="connsiteX4" fmla="*/ 200388 w 311736"/>
                  <a:gd name="connsiteY4" fmla="*/ 263504 h 360956"/>
                  <a:gd name="connsiteX5" fmla="*/ 98361 w 311736"/>
                  <a:gd name="connsiteY5" fmla="*/ 354774 h 360956"/>
                  <a:gd name="connsiteX6" fmla="*/ 312165 w 311736"/>
                  <a:gd name="connsiteY6" fmla="*/ 481 h 360956"/>
                  <a:gd name="connsiteX7" fmla="*/ 273189 w 311736"/>
                  <a:gd name="connsiteY7" fmla="*/ 481 h 360956"/>
                  <a:gd name="connsiteX8" fmla="*/ 186037 w 311736"/>
                  <a:gd name="connsiteY8" fmla="*/ 112258 h 360956"/>
                  <a:gd name="connsiteX9" fmla="*/ 106561 w 311736"/>
                  <a:gd name="connsiteY9" fmla="*/ 166090 h 360956"/>
                  <a:gd name="connsiteX10" fmla="*/ 82461 w 311736"/>
                  <a:gd name="connsiteY10" fmla="*/ 166090 h 360956"/>
                  <a:gd name="connsiteX11" fmla="*/ 82461 w 311736"/>
                  <a:gd name="connsiteY11" fmla="*/ 53807 h 360956"/>
                  <a:gd name="connsiteX12" fmla="*/ 115280 w 311736"/>
                  <a:gd name="connsiteY12" fmla="*/ 7156 h 360956"/>
                  <a:gd name="connsiteX13" fmla="*/ 115280 w 311736"/>
                  <a:gd name="connsiteY13" fmla="*/ 481 h 360956"/>
                  <a:gd name="connsiteX14" fmla="*/ 428 w 311736"/>
                  <a:gd name="connsiteY14" fmla="*/ 481 h 360956"/>
                  <a:gd name="connsiteX15" fmla="*/ 428 w 311736"/>
                  <a:gd name="connsiteY15" fmla="*/ 7156 h 360956"/>
                  <a:gd name="connsiteX16" fmla="*/ 32210 w 311736"/>
                  <a:gd name="connsiteY16" fmla="*/ 60470 h 360956"/>
                  <a:gd name="connsiteX17" fmla="*/ 32210 w 311736"/>
                  <a:gd name="connsiteY17" fmla="*/ 315811 h 360956"/>
                  <a:gd name="connsiteX18" fmla="*/ 428 w 311736"/>
                  <a:gd name="connsiteY18" fmla="*/ 354774 h 360956"/>
                  <a:gd name="connsiteX19" fmla="*/ 428 w 311736"/>
                  <a:gd name="connsiteY19" fmla="*/ 361437 h 360956"/>
                  <a:gd name="connsiteX20" fmla="*/ 98361 w 311736"/>
                  <a:gd name="connsiteY20" fmla="*/ 361437 h 360956"/>
                  <a:gd name="connsiteX21" fmla="*/ 256777 w 311736"/>
                  <a:gd name="connsiteY21" fmla="*/ 263504 h 360956"/>
                  <a:gd name="connsiteX22" fmla="*/ 161425 w 311736"/>
                  <a:gd name="connsiteY22" fmla="*/ 169684 h 360956"/>
                  <a:gd name="connsiteX23" fmla="*/ 257301 w 311736"/>
                  <a:gd name="connsiteY23" fmla="*/ 52269 h 360956"/>
                  <a:gd name="connsiteX24" fmla="*/ 312165 w 311736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6" h="360956">
                    <a:moveTo>
                      <a:pt x="98361" y="354774"/>
                    </a:moveTo>
                    <a:lnTo>
                      <a:pt x="82461" y="354774"/>
                    </a:lnTo>
                    <a:lnTo>
                      <a:pt x="82461" y="172759"/>
                    </a:lnTo>
                    <a:lnTo>
                      <a:pt x="98361" y="172759"/>
                    </a:lnTo>
                    <a:cubicBezTo>
                      <a:pt x="156293" y="172759"/>
                      <a:pt x="200388" y="172252"/>
                      <a:pt x="200388" y="263504"/>
                    </a:cubicBezTo>
                    <a:cubicBezTo>
                      <a:pt x="200388" y="356831"/>
                      <a:pt x="153224" y="354774"/>
                      <a:pt x="98361" y="354774"/>
                    </a:cubicBezTo>
                    <a:moveTo>
                      <a:pt x="312165" y="481"/>
                    </a:moveTo>
                    <a:lnTo>
                      <a:pt x="273189" y="481"/>
                    </a:lnTo>
                    <a:cubicBezTo>
                      <a:pt x="207557" y="481"/>
                      <a:pt x="215257" y="994"/>
                      <a:pt x="186037" y="112258"/>
                    </a:cubicBezTo>
                    <a:cubicBezTo>
                      <a:pt x="171669" y="166090"/>
                      <a:pt x="119887" y="166090"/>
                      <a:pt x="106561" y="166090"/>
                    </a:cubicBezTo>
                    <a:lnTo>
                      <a:pt x="82461" y="166090"/>
                    </a:lnTo>
                    <a:lnTo>
                      <a:pt x="82461" y="53807"/>
                    </a:lnTo>
                    <a:cubicBezTo>
                      <a:pt x="82461" y="18431"/>
                      <a:pt x="93742" y="7156"/>
                      <a:pt x="115280" y="7156"/>
                    </a:cubicBezTo>
                    <a:lnTo>
                      <a:pt x="115280" y="481"/>
                    </a:lnTo>
                    <a:lnTo>
                      <a:pt x="428" y="481"/>
                    </a:lnTo>
                    <a:lnTo>
                      <a:pt x="428" y="7156"/>
                    </a:lnTo>
                    <a:cubicBezTo>
                      <a:pt x="22479" y="7156"/>
                      <a:pt x="32210" y="17406"/>
                      <a:pt x="32210" y="60470"/>
                    </a:cubicBezTo>
                    <a:lnTo>
                      <a:pt x="32210" y="315811"/>
                    </a:lnTo>
                    <a:cubicBezTo>
                      <a:pt x="32210" y="347599"/>
                      <a:pt x="22985" y="354774"/>
                      <a:pt x="428" y="354774"/>
                    </a:cubicBezTo>
                    <a:lnTo>
                      <a:pt x="428" y="361437"/>
                    </a:lnTo>
                    <a:lnTo>
                      <a:pt x="98361" y="361437"/>
                    </a:lnTo>
                    <a:cubicBezTo>
                      <a:pt x="200388" y="361437"/>
                      <a:pt x="256777" y="349131"/>
                      <a:pt x="256777" y="263504"/>
                    </a:cubicBezTo>
                    <a:cubicBezTo>
                      <a:pt x="256777" y="193778"/>
                      <a:pt x="216801" y="173265"/>
                      <a:pt x="161425" y="169684"/>
                    </a:cubicBezTo>
                    <a:cubicBezTo>
                      <a:pt x="195257" y="168146"/>
                      <a:pt x="230638" y="164553"/>
                      <a:pt x="257301" y="52269"/>
                    </a:cubicBezTo>
                    <a:cubicBezTo>
                      <a:pt x="266533" y="13300"/>
                      <a:pt x="298833" y="8181"/>
                      <a:pt x="312165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33">
                <a:extLst>
                  <a:ext uri="{FF2B5EF4-FFF2-40B4-BE49-F238E27FC236}">
                    <a16:creationId xmlns:a16="http://schemas.microsoft.com/office/drawing/2014/main" id="{9655BC78-1E42-A916-30FA-1510328B425E}"/>
                  </a:ext>
                </a:extLst>
              </p:cNvPr>
              <p:cNvSpPr/>
              <p:nvPr/>
            </p:nvSpPr>
            <p:spPr>
              <a:xfrm flipV="1">
                <a:off x="2770871" y="1998301"/>
                <a:ext cx="313786" cy="360956"/>
              </a:xfrm>
              <a:custGeom>
                <a:avLst/>
                <a:gdLst>
                  <a:gd name="connsiteX0" fmla="*/ 314327 w 313786"/>
                  <a:gd name="connsiteY0" fmla="*/ 361438 h 360956"/>
                  <a:gd name="connsiteX1" fmla="*/ 314327 w 313786"/>
                  <a:gd name="connsiteY1" fmla="*/ 271199 h 360956"/>
                  <a:gd name="connsiteX2" fmla="*/ 307671 w 313786"/>
                  <a:gd name="connsiteY2" fmla="*/ 271199 h 360956"/>
                  <a:gd name="connsiteX3" fmla="*/ 212813 w 313786"/>
                  <a:gd name="connsiteY3" fmla="*/ 354776 h 360956"/>
                  <a:gd name="connsiteX4" fmla="*/ 182556 w 313786"/>
                  <a:gd name="connsiteY4" fmla="*/ 354776 h 360956"/>
                  <a:gd name="connsiteX5" fmla="*/ 182556 w 313786"/>
                  <a:gd name="connsiteY5" fmla="*/ 50214 h 360956"/>
                  <a:gd name="connsiteX6" fmla="*/ 219988 w 313786"/>
                  <a:gd name="connsiteY6" fmla="*/ 7151 h 360956"/>
                  <a:gd name="connsiteX7" fmla="*/ 219988 w 313786"/>
                  <a:gd name="connsiteY7" fmla="*/ 482 h 360956"/>
                  <a:gd name="connsiteX8" fmla="*/ 94886 w 313786"/>
                  <a:gd name="connsiteY8" fmla="*/ 482 h 360956"/>
                  <a:gd name="connsiteX9" fmla="*/ 94886 w 313786"/>
                  <a:gd name="connsiteY9" fmla="*/ 7151 h 360956"/>
                  <a:gd name="connsiteX10" fmla="*/ 131799 w 313786"/>
                  <a:gd name="connsiteY10" fmla="*/ 50214 h 360956"/>
                  <a:gd name="connsiteX11" fmla="*/ 131799 w 313786"/>
                  <a:gd name="connsiteY11" fmla="*/ 354776 h 360956"/>
                  <a:gd name="connsiteX12" fmla="*/ 101549 w 313786"/>
                  <a:gd name="connsiteY12" fmla="*/ 354776 h 360956"/>
                  <a:gd name="connsiteX13" fmla="*/ 7209 w 313786"/>
                  <a:gd name="connsiteY13" fmla="*/ 271199 h 360956"/>
                  <a:gd name="connsiteX14" fmla="*/ 541 w 313786"/>
                  <a:gd name="connsiteY14" fmla="*/ 271199 h 360956"/>
                  <a:gd name="connsiteX15" fmla="*/ 541 w 313786"/>
                  <a:gd name="connsiteY15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3786" h="360956">
                    <a:moveTo>
                      <a:pt x="314327" y="361438"/>
                    </a:moveTo>
                    <a:lnTo>
                      <a:pt x="314327" y="271199"/>
                    </a:lnTo>
                    <a:lnTo>
                      <a:pt x="307671" y="271199"/>
                    </a:lnTo>
                    <a:cubicBezTo>
                      <a:pt x="305614" y="353751"/>
                      <a:pt x="219988" y="354776"/>
                      <a:pt x="212813" y="354776"/>
                    </a:cubicBezTo>
                    <a:lnTo>
                      <a:pt x="182556" y="354776"/>
                    </a:lnTo>
                    <a:lnTo>
                      <a:pt x="182556" y="50214"/>
                    </a:lnTo>
                    <a:cubicBezTo>
                      <a:pt x="182556" y="16376"/>
                      <a:pt x="198456" y="7151"/>
                      <a:pt x="219988" y="7151"/>
                    </a:cubicBezTo>
                    <a:lnTo>
                      <a:pt x="219988" y="482"/>
                    </a:lnTo>
                    <a:lnTo>
                      <a:pt x="94886" y="482"/>
                    </a:lnTo>
                    <a:lnTo>
                      <a:pt x="94886" y="7151"/>
                    </a:lnTo>
                    <a:cubicBezTo>
                      <a:pt x="116424" y="7151"/>
                      <a:pt x="131799" y="16376"/>
                      <a:pt x="131799" y="50214"/>
                    </a:cubicBezTo>
                    <a:lnTo>
                      <a:pt x="131799" y="354776"/>
                    </a:lnTo>
                    <a:lnTo>
                      <a:pt x="101549" y="354776"/>
                    </a:lnTo>
                    <a:cubicBezTo>
                      <a:pt x="85649" y="354776"/>
                      <a:pt x="9266" y="353751"/>
                      <a:pt x="7209" y="271199"/>
                    </a:cubicBezTo>
                    <a:lnTo>
                      <a:pt x="541" y="271199"/>
                    </a:lnTo>
                    <a:lnTo>
                      <a:pt x="541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34">
                <a:extLst>
                  <a:ext uri="{FF2B5EF4-FFF2-40B4-BE49-F238E27FC236}">
                    <a16:creationId xmlns:a16="http://schemas.microsoft.com/office/drawing/2014/main" id="{7549729D-6584-CFF2-0730-2C3FEB47D349}"/>
                  </a:ext>
                </a:extLst>
              </p:cNvPr>
              <p:cNvSpPr/>
              <p:nvPr/>
            </p:nvSpPr>
            <p:spPr>
              <a:xfrm flipV="1">
                <a:off x="3131802" y="1998301"/>
                <a:ext cx="395813" cy="360956"/>
              </a:xfrm>
              <a:custGeom>
                <a:avLst/>
                <a:gdLst>
                  <a:gd name="connsiteX0" fmla="*/ 396450 w 395813"/>
                  <a:gd name="connsiteY0" fmla="*/ 361438 h 360956"/>
                  <a:gd name="connsiteX1" fmla="*/ 396450 w 395813"/>
                  <a:gd name="connsiteY1" fmla="*/ 355288 h 360956"/>
                  <a:gd name="connsiteX2" fmla="*/ 323654 w 395813"/>
                  <a:gd name="connsiteY2" fmla="*/ 233773 h 360956"/>
                  <a:gd name="connsiteX3" fmla="*/ 323654 w 395813"/>
                  <a:gd name="connsiteY3" fmla="*/ 482 h 360956"/>
                  <a:gd name="connsiteX4" fmla="*/ 307248 w 395813"/>
                  <a:gd name="connsiteY4" fmla="*/ 482 h 360956"/>
                  <a:gd name="connsiteX5" fmla="*/ 89332 w 395813"/>
                  <a:gd name="connsiteY5" fmla="*/ 281456 h 360956"/>
                  <a:gd name="connsiteX6" fmla="*/ 89332 w 395813"/>
                  <a:gd name="connsiteY6" fmla="*/ 128665 h 360956"/>
                  <a:gd name="connsiteX7" fmla="*/ 156508 w 395813"/>
                  <a:gd name="connsiteY7" fmla="*/ 7151 h 360956"/>
                  <a:gd name="connsiteX8" fmla="*/ 156508 w 395813"/>
                  <a:gd name="connsiteY8" fmla="*/ 482 h 360956"/>
                  <a:gd name="connsiteX9" fmla="*/ 8324 w 395813"/>
                  <a:gd name="connsiteY9" fmla="*/ 482 h 360956"/>
                  <a:gd name="connsiteX10" fmla="*/ 8324 w 395813"/>
                  <a:gd name="connsiteY10" fmla="*/ 7151 h 360956"/>
                  <a:gd name="connsiteX11" fmla="*/ 82675 w 395813"/>
                  <a:gd name="connsiteY11" fmla="*/ 128665 h 360956"/>
                  <a:gd name="connsiteX12" fmla="*/ 82675 w 395813"/>
                  <a:gd name="connsiteY12" fmla="*/ 289143 h 360956"/>
                  <a:gd name="connsiteX13" fmla="*/ 61650 w 395813"/>
                  <a:gd name="connsiteY13" fmla="*/ 316319 h 360956"/>
                  <a:gd name="connsiteX14" fmla="*/ 636 w 395813"/>
                  <a:gd name="connsiteY14" fmla="*/ 355288 h 360956"/>
                  <a:gd name="connsiteX15" fmla="*/ 636 w 395813"/>
                  <a:gd name="connsiteY15" fmla="*/ 361438 h 360956"/>
                  <a:gd name="connsiteX16" fmla="*/ 95488 w 395813"/>
                  <a:gd name="connsiteY16" fmla="*/ 361438 h 360956"/>
                  <a:gd name="connsiteX17" fmla="*/ 316979 w 395813"/>
                  <a:gd name="connsiteY17" fmla="*/ 75346 h 360956"/>
                  <a:gd name="connsiteX18" fmla="*/ 316979 w 395813"/>
                  <a:gd name="connsiteY18" fmla="*/ 233773 h 360956"/>
                  <a:gd name="connsiteX19" fmla="*/ 249822 w 395813"/>
                  <a:gd name="connsiteY19" fmla="*/ 355288 h 360956"/>
                  <a:gd name="connsiteX20" fmla="*/ 249822 w 395813"/>
                  <a:gd name="connsiteY20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5813" h="360956">
                    <a:moveTo>
                      <a:pt x="396450" y="361438"/>
                    </a:moveTo>
                    <a:lnTo>
                      <a:pt x="396450" y="355288"/>
                    </a:lnTo>
                    <a:cubicBezTo>
                      <a:pt x="322111" y="355288"/>
                      <a:pt x="323654" y="281456"/>
                      <a:pt x="323654" y="233773"/>
                    </a:cubicBezTo>
                    <a:lnTo>
                      <a:pt x="323654" y="482"/>
                    </a:lnTo>
                    <a:lnTo>
                      <a:pt x="307248" y="482"/>
                    </a:lnTo>
                    <a:lnTo>
                      <a:pt x="89332" y="281456"/>
                    </a:lnTo>
                    <a:lnTo>
                      <a:pt x="89332" y="128665"/>
                    </a:lnTo>
                    <a:cubicBezTo>
                      <a:pt x="89332" y="83546"/>
                      <a:pt x="89332" y="7151"/>
                      <a:pt x="156508" y="7151"/>
                    </a:cubicBezTo>
                    <a:lnTo>
                      <a:pt x="156508" y="482"/>
                    </a:lnTo>
                    <a:lnTo>
                      <a:pt x="8324" y="482"/>
                    </a:lnTo>
                    <a:lnTo>
                      <a:pt x="8324" y="7151"/>
                    </a:lnTo>
                    <a:cubicBezTo>
                      <a:pt x="82675" y="7151"/>
                      <a:pt x="82675" y="82515"/>
                      <a:pt x="82675" y="128665"/>
                    </a:cubicBezTo>
                    <a:lnTo>
                      <a:pt x="82675" y="289143"/>
                    </a:lnTo>
                    <a:lnTo>
                      <a:pt x="61650" y="316319"/>
                    </a:lnTo>
                    <a:cubicBezTo>
                      <a:pt x="28837" y="357332"/>
                      <a:pt x="13968" y="354263"/>
                      <a:pt x="636" y="355288"/>
                    </a:cubicBezTo>
                    <a:lnTo>
                      <a:pt x="636" y="361438"/>
                    </a:lnTo>
                    <a:lnTo>
                      <a:pt x="95488" y="361438"/>
                    </a:lnTo>
                    <a:lnTo>
                      <a:pt x="316979" y="75346"/>
                    </a:lnTo>
                    <a:lnTo>
                      <a:pt x="316979" y="233773"/>
                    </a:lnTo>
                    <a:cubicBezTo>
                      <a:pt x="316979" y="281456"/>
                      <a:pt x="317498" y="355288"/>
                      <a:pt x="249822" y="355288"/>
                    </a:cubicBezTo>
                    <a:lnTo>
                      <a:pt x="249822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35">
                <a:extLst>
                  <a:ext uri="{FF2B5EF4-FFF2-40B4-BE49-F238E27FC236}">
                    <a16:creationId xmlns:a16="http://schemas.microsoft.com/office/drawing/2014/main" id="{027087C1-20B5-B691-0344-710161D707B9}"/>
                  </a:ext>
                </a:extLst>
              </p:cNvPr>
              <p:cNvSpPr/>
              <p:nvPr/>
            </p:nvSpPr>
            <p:spPr>
              <a:xfrm flipV="1">
                <a:off x="3587578" y="1998299"/>
                <a:ext cx="257892" cy="360956"/>
              </a:xfrm>
              <a:custGeom>
                <a:avLst/>
                <a:gdLst>
                  <a:gd name="connsiteX0" fmla="*/ 258603 w 257892"/>
                  <a:gd name="connsiteY0" fmla="*/ 107086 h 360956"/>
                  <a:gd name="connsiteX1" fmla="*/ 258603 w 257892"/>
                  <a:gd name="connsiteY1" fmla="*/ 440 h 360956"/>
                  <a:gd name="connsiteX2" fmla="*/ 711 w 257892"/>
                  <a:gd name="connsiteY2" fmla="*/ 440 h 360956"/>
                  <a:gd name="connsiteX3" fmla="*/ 711 w 257892"/>
                  <a:gd name="connsiteY3" fmla="*/ 7109 h 360956"/>
                  <a:gd name="connsiteX4" fmla="*/ 28392 w 257892"/>
                  <a:gd name="connsiteY4" fmla="*/ 60429 h 360956"/>
                  <a:gd name="connsiteX5" fmla="*/ 28392 w 257892"/>
                  <a:gd name="connsiteY5" fmla="*/ 306533 h 360956"/>
                  <a:gd name="connsiteX6" fmla="*/ 711 w 257892"/>
                  <a:gd name="connsiteY6" fmla="*/ 354727 h 360956"/>
                  <a:gd name="connsiteX7" fmla="*/ 711 w 257892"/>
                  <a:gd name="connsiteY7" fmla="*/ 361396 h 360956"/>
                  <a:gd name="connsiteX8" fmla="*/ 251946 w 257892"/>
                  <a:gd name="connsiteY8" fmla="*/ 361396 h 360956"/>
                  <a:gd name="connsiteX9" fmla="*/ 251946 w 257892"/>
                  <a:gd name="connsiteY9" fmla="*/ 269101 h 360956"/>
                  <a:gd name="connsiteX10" fmla="*/ 245283 w 257892"/>
                  <a:gd name="connsiteY10" fmla="*/ 269101 h 360956"/>
                  <a:gd name="connsiteX11" fmla="*/ 108900 w 257892"/>
                  <a:gd name="connsiteY11" fmla="*/ 354727 h 360956"/>
                  <a:gd name="connsiteX12" fmla="*/ 81212 w 257892"/>
                  <a:gd name="connsiteY12" fmla="*/ 354727 h 360956"/>
                  <a:gd name="connsiteX13" fmla="*/ 81212 w 257892"/>
                  <a:gd name="connsiteY13" fmla="*/ 186049 h 360956"/>
                  <a:gd name="connsiteX14" fmla="*/ 114531 w 257892"/>
                  <a:gd name="connsiteY14" fmla="*/ 186049 h 360956"/>
                  <a:gd name="connsiteX15" fmla="*/ 185295 w 257892"/>
                  <a:gd name="connsiteY15" fmla="*/ 237831 h 360956"/>
                  <a:gd name="connsiteX16" fmla="*/ 191951 w 257892"/>
                  <a:gd name="connsiteY16" fmla="*/ 237831 h 360956"/>
                  <a:gd name="connsiteX17" fmla="*/ 191951 w 257892"/>
                  <a:gd name="connsiteY17" fmla="*/ 127592 h 360956"/>
                  <a:gd name="connsiteX18" fmla="*/ 185295 w 257892"/>
                  <a:gd name="connsiteY18" fmla="*/ 127592 h 360956"/>
                  <a:gd name="connsiteX19" fmla="*/ 114531 w 257892"/>
                  <a:gd name="connsiteY19" fmla="*/ 179380 h 360956"/>
                  <a:gd name="connsiteX20" fmla="*/ 81212 w 257892"/>
                  <a:gd name="connsiteY20" fmla="*/ 179380 h 360956"/>
                  <a:gd name="connsiteX21" fmla="*/ 81212 w 257892"/>
                  <a:gd name="connsiteY21" fmla="*/ 7109 h 360956"/>
                  <a:gd name="connsiteX22" fmla="*/ 104787 w 257892"/>
                  <a:gd name="connsiteY22" fmla="*/ 7109 h 360956"/>
                  <a:gd name="connsiteX23" fmla="*/ 251946 w 257892"/>
                  <a:gd name="connsiteY23" fmla="*/ 10708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7892" h="360956">
                    <a:moveTo>
                      <a:pt x="258603" y="107086"/>
                    </a:moveTo>
                    <a:lnTo>
                      <a:pt x="258603" y="440"/>
                    </a:lnTo>
                    <a:lnTo>
                      <a:pt x="711" y="440"/>
                    </a:lnTo>
                    <a:lnTo>
                      <a:pt x="711" y="7109"/>
                    </a:lnTo>
                    <a:cubicBezTo>
                      <a:pt x="22242" y="7109"/>
                      <a:pt x="28392" y="25559"/>
                      <a:pt x="28392" y="60429"/>
                    </a:cubicBezTo>
                    <a:lnTo>
                      <a:pt x="28392" y="306533"/>
                    </a:lnTo>
                    <a:cubicBezTo>
                      <a:pt x="28392" y="338327"/>
                      <a:pt x="23267" y="354727"/>
                      <a:pt x="711" y="354727"/>
                    </a:cubicBezTo>
                    <a:lnTo>
                      <a:pt x="711" y="361396"/>
                    </a:lnTo>
                    <a:lnTo>
                      <a:pt x="251946" y="361396"/>
                    </a:lnTo>
                    <a:lnTo>
                      <a:pt x="251946" y="269101"/>
                    </a:lnTo>
                    <a:lnTo>
                      <a:pt x="245283" y="269101"/>
                    </a:lnTo>
                    <a:cubicBezTo>
                      <a:pt x="239121" y="353702"/>
                      <a:pt x="150426" y="354727"/>
                      <a:pt x="108900" y="354727"/>
                    </a:cubicBezTo>
                    <a:lnTo>
                      <a:pt x="81212" y="354727"/>
                    </a:lnTo>
                    <a:lnTo>
                      <a:pt x="81212" y="186049"/>
                    </a:lnTo>
                    <a:lnTo>
                      <a:pt x="114531" y="186049"/>
                    </a:lnTo>
                    <a:cubicBezTo>
                      <a:pt x="128375" y="186049"/>
                      <a:pt x="182726" y="186049"/>
                      <a:pt x="185295" y="237831"/>
                    </a:cubicBezTo>
                    <a:lnTo>
                      <a:pt x="191951" y="237831"/>
                    </a:lnTo>
                    <a:lnTo>
                      <a:pt x="191951" y="127592"/>
                    </a:lnTo>
                    <a:lnTo>
                      <a:pt x="185295" y="127592"/>
                    </a:lnTo>
                    <a:cubicBezTo>
                      <a:pt x="182726" y="178862"/>
                      <a:pt x="127344" y="179380"/>
                      <a:pt x="114531" y="179380"/>
                    </a:cubicBezTo>
                    <a:lnTo>
                      <a:pt x="81212" y="179380"/>
                    </a:lnTo>
                    <a:lnTo>
                      <a:pt x="81212" y="7109"/>
                    </a:lnTo>
                    <a:lnTo>
                      <a:pt x="104787" y="7109"/>
                    </a:lnTo>
                    <a:cubicBezTo>
                      <a:pt x="150426" y="7109"/>
                      <a:pt x="241171" y="4540"/>
                      <a:pt x="251946" y="10708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36">
                <a:extLst>
                  <a:ext uri="{FF2B5EF4-FFF2-40B4-BE49-F238E27FC236}">
                    <a16:creationId xmlns:a16="http://schemas.microsoft.com/office/drawing/2014/main" id="{C564F400-9F75-0EB3-A3E0-A1C255740485}"/>
                  </a:ext>
                </a:extLst>
              </p:cNvPr>
              <p:cNvSpPr/>
              <p:nvPr/>
            </p:nvSpPr>
            <p:spPr>
              <a:xfrm flipV="1">
                <a:off x="3923379" y="1998303"/>
                <a:ext cx="311730" cy="360956"/>
              </a:xfrm>
              <a:custGeom>
                <a:avLst/>
                <a:gdLst>
                  <a:gd name="connsiteX0" fmla="*/ 98693 w 311730"/>
                  <a:gd name="connsiteY0" fmla="*/ 354774 h 360956"/>
                  <a:gd name="connsiteX1" fmla="*/ 82792 w 311730"/>
                  <a:gd name="connsiteY1" fmla="*/ 354774 h 360956"/>
                  <a:gd name="connsiteX2" fmla="*/ 82792 w 311730"/>
                  <a:gd name="connsiteY2" fmla="*/ 172759 h 360956"/>
                  <a:gd name="connsiteX3" fmla="*/ 98693 w 311730"/>
                  <a:gd name="connsiteY3" fmla="*/ 172759 h 360956"/>
                  <a:gd name="connsiteX4" fmla="*/ 200719 w 311730"/>
                  <a:gd name="connsiteY4" fmla="*/ 263504 h 360956"/>
                  <a:gd name="connsiteX5" fmla="*/ 98693 w 311730"/>
                  <a:gd name="connsiteY5" fmla="*/ 354774 h 360956"/>
                  <a:gd name="connsiteX6" fmla="*/ 312490 w 311730"/>
                  <a:gd name="connsiteY6" fmla="*/ 481 h 360956"/>
                  <a:gd name="connsiteX7" fmla="*/ 273527 w 311730"/>
                  <a:gd name="connsiteY7" fmla="*/ 481 h 360956"/>
                  <a:gd name="connsiteX8" fmla="*/ 186363 w 311730"/>
                  <a:gd name="connsiteY8" fmla="*/ 112258 h 360956"/>
                  <a:gd name="connsiteX9" fmla="*/ 106893 w 311730"/>
                  <a:gd name="connsiteY9" fmla="*/ 166090 h 360956"/>
                  <a:gd name="connsiteX10" fmla="*/ 82792 w 311730"/>
                  <a:gd name="connsiteY10" fmla="*/ 166090 h 360956"/>
                  <a:gd name="connsiteX11" fmla="*/ 82792 w 311730"/>
                  <a:gd name="connsiteY11" fmla="*/ 53807 h 360956"/>
                  <a:gd name="connsiteX12" fmla="*/ 115612 w 311730"/>
                  <a:gd name="connsiteY12" fmla="*/ 7156 h 360956"/>
                  <a:gd name="connsiteX13" fmla="*/ 115612 w 311730"/>
                  <a:gd name="connsiteY13" fmla="*/ 481 h 360956"/>
                  <a:gd name="connsiteX14" fmla="*/ 760 w 311730"/>
                  <a:gd name="connsiteY14" fmla="*/ 481 h 360956"/>
                  <a:gd name="connsiteX15" fmla="*/ 760 w 311730"/>
                  <a:gd name="connsiteY15" fmla="*/ 7156 h 360956"/>
                  <a:gd name="connsiteX16" fmla="*/ 32548 w 311730"/>
                  <a:gd name="connsiteY16" fmla="*/ 60470 h 360956"/>
                  <a:gd name="connsiteX17" fmla="*/ 32548 w 311730"/>
                  <a:gd name="connsiteY17" fmla="*/ 315811 h 360956"/>
                  <a:gd name="connsiteX18" fmla="*/ 760 w 311730"/>
                  <a:gd name="connsiteY18" fmla="*/ 354774 h 360956"/>
                  <a:gd name="connsiteX19" fmla="*/ 760 w 311730"/>
                  <a:gd name="connsiteY19" fmla="*/ 361437 h 360956"/>
                  <a:gd name="connsiteX20" fmla="*/ 98693 w 311730"/>
                  <a:gd name="connsiteY20" fmla="*/ 361437 h 360956"/>
                  <a:gd name="connsiteX21" fmla="*/ 257120 w 311730"/>
                  <a:gd name="connsiteY21" fmla="*/ 263504 h 360956"/>
                  <a:gd name="connsiteX22" fmla="*/ 161756 w 311730"/>
                  <a:gd name="connsiteY22" fmla="*/ 169684 h 360956"/>
                  <a:gd name="connsiteX23" fmla="*/ 257627 w 311730"/>
                  <a:gd name="connsiteY23" fmla="*/ 52269 h 360956"/>
                  <a:gd name="connsiteX24" fmla="*/ 312490 w 311730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0" h="360956">
                    <a:moveTo>
                      <a:pt x="98693" y="354774"/>
                    </a:moveTo>
                    <a:lnTo>
                      <a:pt x="82792" y="354774"/>
                    </a:lnTo>
                    <a:lnTo>
                      <a:pt x="82792" y="172759"/>
                    </a:lnTo>
                    <a:lnTo>
                      <a:pt x="98693" y="172759"/>
                    </a:lnTo>
                    <a:cubicBezTo>
                      <a:pt x="156625" y="172759"/>
                      <a:pt x="200719" y="172252"/>
                      <a:pt x="200719" y="263504"/>
                    </a:cubicBezTo>
                    <a:cubicBezTo>
                      <a:pt x="200719" y="356831"/>
                      <a:pt x="153550" y="354774"/>
                      <a:pt x="98693" y="354774"/>
                    </a:cubicBezTo>
                    <a:moveTo>
                      <a:pt x="312490" y="481"/>
                    </a:moveTo>
                    <a:lnTo>
                      <a:pt x="273527" y="481"/>
                    </a:lnTo>
                    <a:cubicBezTo>
                      <a:pt x="207901" y="481"/>
                      <a:pt x="215594" y="994"/>
                      <a:pt x="186363" y="112258"/>
                    </a:cubicBezTo>
                    <a:cubicBezTo>
                      <a:pt x="172012" y="166090"/>
                      <a:pt x="120224" y="166090"/>
                      <a:pt x="106893" y="166090"/>
                    </a:cubicBezTo>
                    <a:lnTo>
                      <a:pt x="82792" y="166090"/>
                    </a:lnTo>
                    <a:lnTo>
                      <a:pt x="82792" y="53807"/>
                    </a:lnTo>
                    <a:cubicBezTo>
                      <a:pt x="82792" y="18431"/>
                      <a:pt x="94068" y="7156"/>
                      <a:pt x="115612" y="7156"/>
                    </a:cubicBezTo>
                    <a:lnTo>
                      <a:pt x="115612" y="481"/>
                    </a:lnTo>
                    <a:lnTo>
                      <a:pt x="760" y="481"/>
                    </a:lnTo>
                    <a:lnTo>
                      <a:pt x="760" y="7156"/>
                    </a:lnTo>
                    <a:cubicBezTo>
                      <a:pt x="22804" y="7156"/>
                      <a:pt x="32548" y="17406"/>
                      <a:pt x="32548" y="60470"/>
                    </a:cubicBezTo>
                    <a:lnTo>
                      <a:pt x="32548" y="315811"/>
                    </a:lnTo>
                    <a:cubicBezTo>
                      <a:pt x="32548" y="347599"/>
                      <a:pt x="23316" y="354774"/>
                      <a:pt x="760" y="354774"/>
                    </a:cubicBezTo>
                    <a:lnTo>
                      <a:pt x="760" y="361437"/>
                    </a:lnTo>
                    <a:lnTo>
                      <a:pt x="98693" y="361437"/>
                    </a:lnTo>
                    <a:cubicBezTo>
                      <a:pt x="200719" y="361437"/>
                      <a:pt x="257120" y="349131"/>
                      <a:pt x="257120" y="263504"/>
                    </a:cubicBezTo>
                    <a:cubicBezTo>
                      <a:pt x="257120" y="193778"/>
                      <a:pt x="217126" y="173265"/>
                      <a:pt x="161756" y="169684"/>
                    </a:cubicBezTo>
                    <a:cubicBezTo>
                      <a:pt x="195588" y="168146"/>
                      <a:pt x="230964" y="164553"/>
                      <a:pt x="257627" y="52269"/>
                    </a:cubicBezTo>
                    <a:cubicBezTo>
                      <a:pt x="266870" y="13300"/>
                      <a:pt x="299159" y="8181"/>
                      <a:pt x="312490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37">
                <a:extLst>
                  <a:ext uri="{FF2B5EF4-FFF2-40B4-BE49-F238E27FC236}">
                    <a16:creationId xmlns:a16="http://schemas.microsoft.com/office/drawing/2014/main" id="{51007B27-57C0-D5BA-7CF8-CC7F407A5C92}"/>
                  </a:ext>
                </a:extLst>
              </p:cNvPr>
              <p:cNvSpPr/>
              <p:nvPr/>
            </p:nvSpPr>
            <p:spPr>
              <a:xfrm flipV="1">
                <a:off x="4285907" y="1993688"/>
                <a:ext cx="242423" cy="370181"/>
              </a:xfrm>
              <a:custGeom>
                <a:avLst/>
                <a:gdLst>
                  <a:gd name="connsiteX0" fmla="*/ 128442 w 242423"/>
                  <a:gd name="connsiteY0" fmla="*/ 422 h 370181"/>
                  <a:gd name="connsiteX1" fmla="*/ 6421 w 242423"/>
                  <a:gd name="connsiteY1" fmla="*/ 29135 h 370181"/>
                  <a:gd name="connsiteX2" fmla="*/ 6421 w 242423"/>
                  <a:gd name="connsiteY2" fmla="*/ 127580 h 370181"/>
                  <a:gd name="connsiteX3" fmla="*/ 12566 w 242423"/>
                  <a:gd name="connsiteY3" fmla="*/ 127580 h 370181"/>
                  <a:gd name="connsiteX4" fmla="*/ 128442 w 242423"/>
                  <a:gd name="connsiteY4" fmla="*/ 7084 h 370181"/>
                  <a:gd name="connsiteX5" fmla="*/ 156649 w 242423"/>
                  <a:gd name="connsiteY5" fmla="*/ 136293 h 370181"/>
                  <a:gd name="connsiteX6" fmla="*/ 71535 w 242423"/>
                  <a:gd name="connsiteY6" fmla="*/ 191150 h 370181"/>
                  <a:gd name="connsiteX7" fmla="*/ 15647 w 242423"/>
                  <a:gd name="connsiteY7" fmla="*/ 330615 h 370181"/>
                  <a:gd name="connsiteX8" fmla="*/ 112030 w 242423"/>
                  <a:gd name="connsiteY8" fmla="*/ 370603 h 370181"/>
                  <a:gd name="connsiteX9" fmla="*/ 229444 w 242423"/>
                  <a:gd name="connsiteY9" fmla="*/ 346503 h 370181"/>
                  <a:gd name="connsiteX10" fmla="*/ 229444 w 242423"/>
                  <a:gd name="connsiteY10" fmla="*/ 260370 h 370181"/>
                  <a:gd name="connsiteX11" fmla="*/ 222275 w 242423"/>
                  <a:gd name="connsiteY11" fmla="*/ 260370 h 370181"/>
                  <a:gd name="connsiteX12" fmla="*/ 112030 w 242423"/>
                  <a:gd name="connsiteY12" fmla="*/ 363934 h 370181"/>
                  <a:gd name="connsiteX13" fmla="*/ 92042 w 242423"/>
                  <a:gd name="connsiteY13" fmla="*/ 242426 h 370181"/>
                  <a:gd name="connsiteX14" fmla="*/ 176637 w 242423"/>
                  <a:gd name="connsiteY14" fmla="*/ 186537 h 370181"/>
                  <a:gd name="connsiteX15" fmla="*/ 229969 w 242423"/>
                  <a:gd name="connsiteY15" fmla="*/ 42466 h 370181"/>
                  <a:gd name="connsiteX16" fmla="*/ 128442 w 242423"/>
                  <a:gd name="connsiteY16" fmla="*/ 422 h 37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2423" h="370181">
                    <a:moveTo>
                      <a:pt x="128442" y="422"/>
                    </a:moveTo>
                    <a:cubicBezTo>
                      <a:pt x="44872" y="422"/>
                      <a:pt x="6421" y="29135"/>
                      <a:pt x="6421" y="29135"/>
                    </a:cubicBezTo>
                    <a:lnTo>
                      <a:pt x="6421" y="127580"/>
                    </a:lnTo>
                    <a:lnTo>
                      <a:pt x="12566" y="127580"/>
                    </a:lnTo>
                    <a:cubicBezTo>
                      <a:pt x="18209" y="65023"/>
                      <a:pt x="41285" y="7084"/>
                      <a:pt x="128442" y="7084"/>
                    </a:cubicBezTo>
                    <a:cubicBezTo>
                      <a:pt x="206381" y="7084"/>
                      <a:pt x="216637" y="93736"/>
                      <a:pt x="156649" y="136293"/>
                    </a:cubicBezTo>
                    <a:lnTo>
                      <a:pt x="71535" y="191150"/>
                    </a:lnTo>
                    <a:cubicBezTo>
                      <a:pt x="22822" y="223450"/>
                      <a:pt x="-23829" y="270114"/>
                      <a:pt x="15647" y="330615"/>
                    </a:cubicBezTo>
                    <a:cubicBezTo>
                      <a:pt x="15647" y="330615"/>
                      <a:pt x="40766" y="370603"/>
                      <a:pt x="112030" y="370603"/>
                    </a:cubicBezTo>
                    <a:cubicBezTo>
                      <a:pt x="186381" y="370603"/>
                      <a:pt x="229444" y="346503"/>
                      <a:pt x="229444" y="346503"/>
                    </a:cubicBezTo>
                    <a:lnTo>
                      <a:pt x="229444" y="260370"/>
                    </a:lnTo>
                    <a:lnTo>
                      <a:pt x="222275" y="260370"/>
                    </a:lnTo>
                    <a:cubicBezTo>
                      <a:pt x="217656" y="310614"/>
                      <a:pt x="197662" y="363934"/>
                      <a:pt x="112030" y="363934"/>
                    </a:cubicBezTo>
                    <a:cubicBezTo>
                      <a:pt x="56666" y="363934"/>
                      <a:pt x="14622" y="292670"/>
                      <a:pt x="92042" y="242426"/>
                    </a:cubicBezTo>
                    <a:lnTo>
                      <a:pt x="176637" y="186537"/>
                    </a:lnTo>
                    <a:cubicBezTo>
                      <a:pt x="245344" y="141424"/>
                      <a:pt x="256620" y="84504"/>
                      <a:pt x="229969" y="42466"/>
                    </a:cubicBezTo>
                    <a:cubicBezTo>
                      <a:pt x="229969" y="42466"/>
                      <a:pt x="207925" y="422"/>
                      <a:pt x="128442" y="422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55114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그룹 53">
            <a:extLst>
              <a:ext uri="{FF2B5EF4-FFF2-40B4-BE49-F238E27FC236}">
                <a16:creationId xmlns:a16="http://schemas.microsoft.com/office/drawing/2014/main" id="{6A6EECBF-7C0E-064C-56FB-B8ABFFBAA4F3}"/>
              </a:ext>
            </a:extLst>
          </p:cNvPr>
          <p:cNvGrpSpPr/>
          <p:nvPr/>
        </p:nvGrpSpPr>
        <p:grpSpPr>
          <a:xfrm>
            <a:off x="4580310" y="3129232"/>
            <a:ext cx="753294" cy="512113"/>
            <a:chOff x="4504138" y="3229329"/>
            <a:chExt cx="753294" cy="625051"/>
          </a:xfrm>
        </p:grpSpPr>
        <p:sp>
          <p:nvSpPr>
            <p:cNvPr id="50" name="화살표: 오른쪽 141">
              <a:extLst>
                <a:ext uri="{FF2B5EF4-FFF2-40B4-BE49-F238E27FC236}">
                  <a16:creationId xmlns:a16="http://schemas.microsoft.com/office/drawing/2014/main" id="{21CB97E5-9298-4D83-7383-8A85464BB8E1}"/>
                </a:ext>
              </a:extLst>
            </p:cNvPr>
            <p:cNvSpPr/>
            <p:nvPr/>
          </p:nvSpPr>
          <p:spPr>
            <a:xfrm rot="5400000">
              <a:off x="4643554" y="3509833"/>
              <a:ext cx="474462" cy="214632"/>
            </a:xfrm>
            <a:prstGeom prst="rightArrow">
              <a:avLst>
                <a:gd name="adj1" fmla="val 50837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75000"/>
                  </a:schemeClr>
                </a:gs>
                <a:gs pos="8300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/>
            </a:p>
          </p:txBody>
        </p:sp>
        <p:sp>
          <p:nvSpPr>
            <p:cNvPr id="51" name="화살표: 오른쪽 141">
              <a:extLst>
                <a:ext uri="{FF2B5EF4-FFF2-40B4-BE49-F238E27FC236}">
                  <a16:creationId xmlns:a16="http://schemas.microsoft.com/office/drawing/2014/main" id="{3D3AA343-1671-934C-70B4-C38BCEB7A497}"/>
                </a:ext>
              </a:extLst>
            </p:cNvPr>
            <p:cNvSpPr/>
            <p:nvPr/>
          </p:nvSpPr>
          <p:spPr>
            <a:xfrm rot="5400000">
              <a:off x="4912885" y="3359244"/>
              <a:ext cx="474462" cy="214632"/>
            </a:xfrm>
            <a:prstGeom prst="rightArrow">
              <a:avLst>
                <a:gd name="adj1" fmla="val 50837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75000"/>
                  </a:schemeClr>
                </a:gs>
                <a:gs pos="8300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/>
            </a:p>
          </p:txBody>
        </p:sp>
        <p:sp>
          <p:nvSpPr>
            <p:cNvPr id="52" name="화살표: 오른쪽 141">
              <a:extLst>
                <a:ext uri="{FF2B5EF4-FFF2-40B4-BE49-F238E27FC236}">
                  <a16:creationId xmlns:a16="http://schemas.microsoft.com/office/drawing/2014/main" id="{34B700C5-62DE-4CFE-CE11-91C4C527B5D9}"/>
                </a:ext>
              </a:extLst>
            </p:cNvPr>
            <p:cNvSpPr/>
            <p:nvPr/>
          </p:nvSpPr>
          <p:spPr>
            <a:xfrm rot="5400000">
              <a:off x="4374223" y="3426691"/>
              <a:ext cx="474462" cy="214632"/>
            </a:xfrm>
            <a:prstGeom prst="rightArrow">
              <a:avLst>
                <a:gd name="adj1" fmla="val 50837"/>
                <a:gd name="adj2" fmla="val 50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75000"/>
                  </a:schemeClr>
                </a:gs>
                <a:gs pos="8300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0000"/>
                </a:lnSpc>
                <a:spcAft>
                  <a:spcPts val="300"/>
                </a:spcAft>
              </a:pPr>
              <a:endParaRPr lang="ko-KR" altLang="en-US" sz="1000"/>
            </a:p>
          </p:txBody>
        </p:sp>
      </p:grpSp>
      <p:sp>
        <p:nvSpPr>
          <p:cNvPr id="33" name="직사각형 51">
            <a:extLst>
              <a:ext uri="{FF2B5EF4-FFF2-40B4-BE49-F238E27FC236}">
                <a16:creationId xmlns:a16="http://schemas.microsoft.com/office/drawing/2014/main" id="{3E4ECC0C-3ADD-6071-07E0-807C88F64B57}"/>
              </a:ext>
            </a:extLst>
          </p:cNvPr>
          <p:cNvSpPr/>
          <p:nvPr/>
        </p:nvSpPr>
        <p:spPr>
          <a:xfrm>
            <a:off x="3634921" y="2546474"/>
            <a:ext cx="2636160" cy="700319"/>
          </a:xfrm>
          <a:prstGeom prst="rect">
            <a:avLst/>
          </a:prstGeom>
          <a:solidFill>
            <a:schemeClr val="bg1"/>
          </a:solidFill>
          <a:ln w="190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</a:rPr>
              <a:t>TITAN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22" name="Arrow: Down 23">
            <a:extLst>
              <a:ext uri="{FF2B5EF4-FFF2-40B4-BE49-F238E27FC236}">
                <a16:creationId xmlns:a16="http://schemas.microsoft.com/office/drawing/2014/main" id="{BA79FB52-4110-3CA6-87E4-2E303A3B09DE}"/>
              </a:ext>
            </a:extLst>
          </p:cNvPr>
          <p:cNvSpPr/>
          <p:nvPr/>
        </p:nvSpPr>
        <p:spPr>
          <a:xfrm>
            <a:off x="1638482" y="4264910"/>
            <a:ext cx="539568" cy="466396"/>
          </a:xfrm>
          <a:prstGeom prst="downArrow">
            <a:avLst>
              <a:gd name="adj1" fmla="val 50000"/>
              <a:gd name="adj2" fmla="val 36666"/>
            </a:avLst>
          </a:prstGeom>
          <a:solidFill>
            <a:srgbClr val="4B6D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ko-KR" altLang="en-US" sz="1000" err="1">
              <a:solidFill>
                <a:schemeClr val="tx1"/>
              </a:solidFill>
            </a:endParaRPr>
          </a:p>
        </p:txBody>
      </p:sp>
      <p:sp>
        <p:nvSpPr>
          <p:cNvPr id="21" name="Arrow: Down 23">
            <a:extLst>
              <a:ext uri="{FF2B5EF4-FFF2-40B4-BE49-F238E27FC236}">
                <a16:creationId xmlns:a16="http://schemas.microsoft.com/office/drawing/2014/main" id="{17624D85-0E93-1A2C-ADFB-DF5B86B5171A}"/>
              </a:ext>
            </a:extLst>
          </p:cNvPr>
          <p:cNvSpPr/>
          <p:nvPr/>
        </p:nvSpPr>
        <p:spPr>
          <a:xfrm rot="10800000">
            <a:off x="1638482" y="3513866"/>
            <a:ext cx="539568" cy="466396"/>
          </a:xfrm>
          <a:prstGeom prst="downArrow">
            <a:avLst>
              <a:gd name="adj1" fmla="val 50000"/>
              <a:gd name="adj2" fmla="val 36666"/>
            </a:avLst>
          </a:prstGeom>
          <a:solidFill>
            <a:srgbClr val="4B6D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ko-KR" altLang="en-US" sz="1000" err="1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A84A286-BC86-111F-5E0A-5DE90E94FC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시스템노바</a:t>
            </a:r>
            <a:r>
              <a:rPr lang="ko-KR" altLang="en-US" dirty="0"/>
              <a:t>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9E9A7D-6981-8DF7-B24B-C82AABCE86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69B503-D428-5847-584E-B125A6C679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47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BA1E62-56C4-8BA6-24F1-5278BD234707}"/>
              </a:ext>
            </a:extLst>
          </p:cNvPr>
          <p:cNvSpPr/>
          <p:nvPr/>
        </p:nvSpPr>
        <p:spPr>
          <a:xfrm>
            <a:off x="452999" y="1700213"/>
            <a:ext cx="8999999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시스템노바</a:t>
            </a:r>
            <a:r>
              <a:rPr lang="ko-KR" altLang="en-US" sz="1200" b="1" dirty="0">
                <a:solidFill>
                  <a:schemeClr val="bg1"/>
                </a:solidFill>
              </a:rPr>
              <a:t> 서비스 시작 배경 및 확보가능한 경쟁우위점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A8A51C-9AC3-8F58-207F-74D1796BC638}"/>
              </a:ext>
            </a:extLst>
          </p:cNvPr>
          <p:cNvSpPr/>
          <p:nvPr/>
        </p:nvSpPr>
        <p:spPr>
          <a:xfrm>
            <a:off x="453000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수요 및 니즈 배경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14F173-E383-C2F9-4B30-EE767C5122B2}"/>
              </a:ext>
            </a:extLst>
          </p:cNvPr>
          <p:cNvSpPr/>
          <p:nvPr/>
        </p:nvSpPr>
        <p:spPr>
          <a:xfrm>
            <a:off x="3512999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시스템노바의</a:t>
            </a:r>
            <a:r>
              <a:rPr lang="ko-KR" altLang="en-US" sz="1200" b="1" dirty="0">
                <a:solidFill>
                  <a:schemeClr val="bg1"/>
                </a:solidFill>
              </a:rPr>
              <a:t> 제공 솔루션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3EC4B8-06DE-5F6F-F671-1C60B0C0B45B}"/>
              </a:ext>
            </a:extLst>
          </p:cNvPr>
          <p:cNvSpPr/>
          <p:nvPr/>
        </p:nvSpPr>
        <p:spPr>
          <a:xfrm>
            <a:off x="6572998" y="2072173"/>
            <a:ext cx="2880000" cy="288000"/>
          </a:xfrm>
          <a:prstGeom prst="rect">
            <a:avLst/>
          </a:prstGeom>
          <a:solidFill>
            <a:srgbClr val="539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확보가능한 경쟁우위점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15" name="직사각형 19">
            <a:extLst>
              <a:ext uri="{FF2B5EF4-FFF2-40B4-BE49-F238E27FC236}">
                <a16:creationId xmlns:a16="http://schemas.microsoft.com/office/drawing/2014/main" id="{E4A2ED97-E2EB-AF3C-5BA7-5D40769A8E31}"/>
              </a:ext>
            </a:extLst>
          </p:cNvPr>
          <p:cNvSpPr/>
          <p:nvPr/>
        </p:nvSpPr>
        <p:spPr>
          <a:xfrm>
            <a:off x="461083" y="3736067"/>
            <a:ext cx="2871918" cy="761761"/>
          </a:xfrm>
          <a:prstGeom prst="rect">
            <a:avLst/>
          </a:prstGeom>
          <a:solidFill>
            <a:srgbClr val="4B6DE8"/>
          </a:solidFill>
          <a:ln w="19050" cap="flat" cmpd="sng" algn="ctr">
            <a:solidFill>
              <a:srgbClr val="4B6DE8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720000" tIns="0" rIns="144000" bIns="0" rtlCol="0" anchor="ctr"/>
          <a:lstStyle/>
          <a:p>
            <a:pPr marL="0" marR="0" lvl="0" indent="0" algn="ctr" defTabSz="4298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chemeClr val="bg1"/>
                </a:solidFill>
              </a:rPr>
              <a:t>“TITAN</a:t>
            </a:r>
            <a:r>
              <a:rPr lang="ko-KR" altLang="en-US" sz="1200" b="1" dirty="0">
                <a:solidFill>
                  <a:schemeClr val="bg1"/>
                </a:solidFill>
              </a:rPr>
              <a:t>의 성공 공식을 기반으로 독립된 자체 강의 플랫폼을 운영하고 싶은 강사</a:t>
            </a:r>
            <a:r>
              <a:rPr lang="en-US" altLang="ko-KR" sz="1200" b="1" dirty="0">
                <a:solidFill>
                  <a:schemeClr val="bg1"/>
                </a:solidFill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</a:rPr>
              <a:t>전문가 누구나</a:t>
            </a:r>
            <a:r>
              <a:rPr lang="en-US" altLang="ko-KR" sz="1200" b="1" dirty="0">
                <a:solidFill>
                  <a:schemeClr val="bg1"/>
                </a:solidFill>
              </a:rPr>
              <a:t>”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직사각형 19">
            <a:extLst>
              <a:ext uri="{FF2B5EF4-FFF2-40B4-BE49-F238E27FC236}">
                <a16:creationId xmlns:a16="http://schemas.microsoft.com/office/drawing/2014/main" id="{0C071259-F48E-956E-8F8C-2916EBDC6118}"/>
              </a:ext>
            </a:extLst>
          </p:cNvPr>
          <p:cNvSpPr/>
          <p:nvPr/>
        </p:nvSpPr>
        <p:spPr>
          <a:xfrm>
            <a:off x="461081" y="3736066"/>
            <a:ext cx="524757" cy="761761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4298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bg1"/>
                </a:solidFill>
              </a:rPr>
              <a:t>수요자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7BE04F6-80E1-1097-5A9A-757871FCA62C}"/>
              </a:ext>
            </a:extLst>
          </p:cNvPr>
          <p:cNvCxnSpPr/>
          <p:nvPr/>
        </p:nvCxnSpPr>
        <p:spPr>
          <a:xfrm>
            <a:off x="1039713" y="3812102"/>
            <a:ext cx="0" cy="61277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9">
            <a:extLst>
              <a:ext uri="{FF2B5EF4-FFF2-40B4-BE49-F238E27FC236}">
                <a16:creationId xmlns:a16="http://schemas.microsoft.com/office/drawing/2014/main" id="{2CDD8147-FB7D-69DA-5337-4D6E414AE6CC}"/>
              </a:ext>
            </a:extLst>
          </p:cNvPr>
          <p:cNvSpPr/>
          <p:nvPr/>
        </p:nvSpPr>
        <p:spPr bwMode="auto">
          <a:xfrm>
            <a:off x="461082" y="4640713"/>
            <a:ext cx="2871919" cy="1115155"/>
          </a:xfrm>
          <a:prstGeom prst="rect">
            <a:avLst/>
          </a:prstGeom>
          <a:solidFill>
            <a:srgbClr val="FFFFFF"/>
          </a:solidFill>
          <a:ln w="19050">
            <a:solidFill>
              <a:srgbClr val="4B6DE8"/>
            </a:solidFill>
            <a:miter lim="800000"/>
            <a:headEnd/>
            <a:tailEnd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defTabSz="429814">
              <a:spcAft>
                <a:spcPts val="400"/>
              </a:spcAft>
              <a:defRPr/>
            </a:pPr>
            <a:r>
              <a:rPr lang="ko-KR" altLang="en-US" sz="1100" b="1" dirty="0">
                <a:solidFill>
                  <a:srgbClr val="4B6DE8"/>
                </a:solidFill>
              </a:rPr>
              <a:t>개인 브랜드 구축 및 운영 역량 부족</a:t>
            </a:r>
            <a:endParaRPr lang="en-US" altLang="ko-KR" sz="1100" b="1" dirty="0">
              <a:solidFill>
                <a:srgbClr val="4B6DE8"/>
              </a:solidFill>
            </a:endParaRPr>
          </a:p>
          <a:p>
            <a:pPr marL="171450" marR="0" lvl="1" indent="-171450" fontAlgn="auto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spc="-30" dirty="0">
                <a:solidFill>
                  <a:srgbClr val="3D3D3D"/>
                </a:solidFill>
              </a:rPr>
              <a:t>강의 홈페이지 제작 시 커스터마이징 및 디자인 한계</a:t>
            </a:r>
          </a:p>
          <a:p>
            <a:pPr marL="171450" marR="0" lvl="1" indent="-171450" fontAlgn="auto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spc="-30" dirty="0">
                <a:solidFill>
                  <a:srgbClr val="3D3D3D"/>
                </a:solidFill>
              </a:rPr>
              <a:t>기획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디자인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마케팅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운영 관리 등 전 과정 부담으로 전문적 운영 지원 니즈 증대</a:t>
            </a:r>
          </a:p>
        </p:txBody>
      </p:sp>
      <p:sp>
        <p:nvSpPr>
          <p:cNvPr id="24" name="직사각형 9">
            <a:extLst>
              <a:ext uri="{FF2B5EF4-FFF2-40B4-BE49-F238E27FC236}">
                <a16:creationId xmlns:a16="http://schemas.microsoft.com/office/drawing/2014/main" id="{DD5CF946-7EEB-8A30-492D-06FDB5737C67}"/>
              </a:ext>
            </a:extLst>
          </p:cNvPr>
          <p:cNvSpPr/>
          <p:nvPr/>
        </p:nvSpPr>
        <p:spPr bwMode="auto">
          <a:xfrm>
            <a:off x="461082" y="2452056"/>
            <a:ext cx="2871919" cy="1115155"/>
          </a:xfrm>
          <a:prstGeom prst="rect">
            <a:avLst/>
          </a:prstGeom>
          <a:solidFill>
            <a:srgbClr val="FFFFFF"/>
          </a:solidFill>
          <a:ln w="19050">
            <a:solidFill>
              <a:srgbClr val="4B6DE8"/>
            </a:solidFill>
            <a:miter lim="800000"/>
            <a:headEnd/>
            <a:tailEnd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defTabSz="429814">
              <a:spcAft>
                <a:spcPts val="400"/>
              </a:spcAft>
              <a:defRPr/>
            </a:pPr>
            <a:r>
              <a:rPr lang="ko-KR" altLang="en-US" sz="1100" b="1" dirty="0">
                <a:solidFill>
                  <a:srgbClr val="4B6DE8"/>
                </a:solidFill>
              </a:rPr>
              <a:t>강의 기회</a:t>
            </a:r>
            <a:r>
              <a:rPr lang="en-US" altLang="ko-KR" sz="1100" b="1" dirty="0">
                <a:solidFill>
                  <a:srgbClr val="4B6DE8"/>
                </a:solidFill>
              </a:rPr>
              <a:t>/</a:t>
            </a:r>
            <a:r>
              <a:rPr lang="ko-KR" altLang="en-US" sz="1100" b="1" dirty="0">
                <a:solidFill>
                  <a:srgbClr val="4B6DE8"/>
                </a:solidFill>
              </a:rPr>
              <a:t>윈도우 확대에 대한 니즈</a:t>
            </a:r>
            <a:endParaRPr lang="en-US" altLang="ko-KR" sz="1100" b="1" dirty="0">
              <a:solidFill>
                <a:srgbClr val="4B6DE8"/>
              </a:solidFill>
            </a:endParaRPr>
          </a:p>
          <a:p>
            <a:pPr marL="171450" marR="0" lvl="1" indent="-171450" fontAlgn="auto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spc="-30" dirty="0">
                <a:solidFill>
                  <a:srgbClr val="3D3D3D"/>
                </a:solidFill>
              </a:rPr>
              <a:t>시장 내 기존 플랫폼의 강의 슬롯 제한으로 추가 강의 기회 확대에 제약</a:t>
            </a:r>
          </a:p>
          <a:p>
            <a:pPr marL="171450" marR="0" lvl="1" indent="-171450" fontAlgn="auto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spc="-30" dirty="0">
                <a:solidFill>
                  <a:srgbClr val="3D3D3D"/>
                </a:solidFill>
              </a:rPr>
              <a:t>독립형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확장형 강의 운영에 대한 높은 수요 존재</a:t>
            </a:r>
          </a:p>
        </p:txBody>
      </p:sp>
      <p:sp>
        <p:nvSpPr>
          <p:cNvPr id="27" name="사다리꼴 6">
            <a:extLst>
              <a:ext uri="{FF2B5EF4-FFF2-40B4-BE49-F238E27FC236}">
                <a16:creationId xmlns:a16="http://schemas.microsoft.com/office/drawing/2014/main" id="{D9CD7C30-2211-AEC1-FA5C-329EAC69B21D}"/>
              </a:ext>
            </a:extLst>
          </p:cNvPr>
          <p:cNvSpPr/>
          <p:nvPr/>
        </p:nvSpPr>
        <p:spPr>
          <a:xfrm rot="5400000">
            <a:off x="2078741" y="3885584"/>
            <a:ext cx="2895846" cy="216513"/>
          </a:xfrm>
          <a:prstGeom prst="trapezoid">
            <a:avLst>
              <a:gd name="adj" fmla="val 66874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err="1">
              <a:solidFill>
                <a:schemeClr val="tx2">
                  <a:lumMod val="50000"/>
                </a:schemeClr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64F95FF-5847-8FE7-E841-9799AC6EB3D5}"/>
              </a:ext>
            </a:extLst>
          </p:cNvPr>
          <p:cNvGrpSpPr>
            <a:grpSpLocks noChangeAspect="1"/>
          </p:cNvGrpSpPr>
          <p:nvPr/>
        </p:nvGrpSpPr>
        <p:grpSpPr>
          <a:xfrm>
            <a:off x="4413519" y="3662546"/>
            <a:ext cx="993316" cy="300178"/>
            <a:chOff x="2579869" y="3037522"/>
            <a:chExt cx="5279449" cy="1595438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DE23171-B467-6911-32DD-E888D64656C8}"/>
                </a:ext>
              </a:extLst>
            </p:cNvPr>
            <p:cNvSpPr/>
            <p:nvPr/>
          </p:nvSpPr>
          <p:spPr>
            <a:xfrm rot="19916371">
              <a:off x="3030445" y="3594627"/>
              <a:ext cx="1023329" cy="628863"/>
            </a:xfrm>
            <a:prstGeom prst="rect">
              <a:avLst/>
            </a:prstGeom>
            <a:solidFill>
              <a:srgbClr val="E0F9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4D765A87-F3F5-2D5D-BB90-E5F1549E1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79869" y="3037522"/>
              <a:ext cx="5279449" cy="1595438"/>
            </a:xfrm>
            <a:prstGeom prst="rect">
              <a:avLst/>
            </a:prstGeom>
          </p:spPr>
        </p:pic>
      </p:grpSp>
      <p:sp>
        <p:nvSpPr>
          <p:cNvPr id="32" name="직사각형 51">
            <a:extLst>
              <a:ext uri="{FF2B5EF4-FFF2-40B4-BE49-F238E27FC236}">
                <a16:creationId xmlns:a16="http://schemas.microsoft.com/office/drawing/2014/main" id="{C4BBCE12-CFD6-E1EF-2BB0-4C3FE230BC12}"/>
              </a:ext>
            </a:extLst>
          </p:cNvPr>
          <p:cNvSpPr/>
          <p:nvPr/>
        </p:nvSpPr>
        <p:spPr>
          <a:xfrm>
            <a:off x="4631760" y="2424619"/>
            <a:ext cx="642482" cy="22145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 dirty="0">
                <a:solidFill>
                  <a:srgbClr val="11244A"/>
                </a:solidFill>
              </a:rPr>
              <a:t>TITAN</a:t>
            </a:r>
            <a:endParaRPr lang="ko-KR" altLang="en-US" sz="1100" b="1" dirty="0">
              <a:solidFill>
                <a:srgbClr val="11244A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5584167-ED10-B8D9-2820-3459D8115647}"/>
              </a:ext>
            </a:extLst>
          </p:cNvPr>
          <p:cNvSpPr/>
          <p:nvPr/>
        </p:nvSpPr>
        <p:spPr>
          <a:xfrm>
            <a:off x="3756659" y="2666144"/>
            <a:ext cx="479879" cy="479879"/>
          </a:xfrm>
          <a:prstGeom prst="ellipse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30" dirty="0" err="1">
                <a:solidFill>
                  <a:schemeClr val="bg1"/>
                </a:solidFill>
              </a:rPr>
              <a:t>퍼스널브랜딩</a:t>
            </a:r>
            <a:endParaRPr lang="ko-KR" altLang="en-US" sz="1000" spc="-30" dirty="0">
              <a:solidFill>
                <a:schemeClr val="bg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F53BEFD-D496-7A53-62BE-9CF9F39F9B07}"/>
              </a:ext>
            </a:extLst>
          </p:cNvPr>
          <p:cNvSpPr/>
          <p:nvPr/>
        </p:nvSpPr>
        <p:spPr>
          <a:xfrm>
            <a:off x="4333418" y="2666144"/>
            <a:ext cx="479879" cy="479879"/>
          </a:xfrm>
          <a:prstGeom prst="ellipse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30" dirty="0">
                <a:solidFill>
                  <a:schemeClr val="bg1"/>
                </a:solidFill>
              </a:rPr>
              <a:t>마케팅</a:t>
            </a:r>
            <a:br>
              <a:rPr lang="en-US" altLang="ko-KR" sz="1000" spc="-30" dirty="0">
                <a:solidFill>
                  <a:schemeClr val="bg1"/>
                </a:solidFill>
              </a:rPr>
            </a:br>
            <a:r>
              <a:rPr lang="ko-KR" altLang="en-US" sz="1000" spc="-30" dirty="0" err="1">
                <a:solidFill>
                  <a:schemeClr val="bg1"/>
                </a:solidFill>
              </a:rPr>
              <a:t>퍼널</a:t>
            </a:r>
            <a:endParaRPr lang="ko-KR" altLang="en-US" sz="1000" spc="-30" dirty="0">
              <a:solidFill>
                <a:schemeClr val="bg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E167CC5-B1D5-7602-6E0E-5327EC32BAC3}"/>
              </a:ext>
            </a:extLst>
          </p:cNvPr>
          <p:cNvSpPr/>
          <p:nvPr/>
        </p:nvSpPr>
        <p:spPr>
          <a:xfrm>
            <a:off x="4910177" y="2666144"/>
            <a:ext cx="479879" cy="479879"/>
          </a:xfrm>
          <a:prstGeom prst="ellipse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30" dirty="0">
                <a:solidFill>
                  <a:schemeClr val="bg1"/>
                </a:solidFill>
              </a:rPr>
              <a:t>마케팅</a:t>
            </a:r>
            <a:br>
              <a:rPr lang="en-US" altLang="ko-KR" sz="1000" spc="-30" dirty="0">
                <a:solidFill>
                  <a:schemeClr val="bg1"/>
                </a:solidFill>
              </a:rPr>
            </a:br>
            <a:r>
              <a:rPr lang="ko-KR" altLang="en-US" sz="1000" spc="-30" dirty="0">
                <a:solidFill>
                  <a:schemeClr val="bg1"/>
                </a:solidFill>
              </a:rPr>
              <a:t>채널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3EE9EA5-2A9A-9411-A20A-31456D3F46A7}"/>
              </a:ext>
            </a:extLst>
          </p:cNvPr>
          <p:cNvSpPr/>
          <p:nvPr/>
        </p:nvSpPr>
        <p:spPr>
          <a:xfrm>
            <a:off x="5486936" y="2666144"/>
            <a:ext cx="479879" cy="479879"/>
          </a:xfrm>
          <a:prstGeom prst="ellipse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pc="-30" dirty="0">
                <a:solidFill>
                  <a:schemeClr val="bg1"/>
                </a:solidFill>
              </a:rPr>
              <a:t>콘텐츠 노하우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0BFDDA9-85AD-709C-2A54-9000B767BA46}"/>
              </a:ext>
            </a:extLst>
          </p:cNvPr>
          <p:cNvSpPr/>
          <p:nvPr/>
        </p:nvSpPr>
        <p:spPr>
          <a:xfrm>
            <a:off x="5994400" y="2754179"/>
            <a:ext cx="241300" cy="206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dirty="0">
                <a:solidFill>
                  <a:srgbClr val="3D3D3D"/>
                </a:solidFill>
              </a:rPr>
              <a:t>…</a:t>
            </a:r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601A6D-6F4C-61AF-4044-22CDF6BE81AD}"/>
              </a:ext>
            </a:extLst>
          </p:cNvPr>
          <p:cNvSpPr txBox="1"/>
          <p:nvPr/>
        </p:nvSpPr>
        <p:spPr>
          <a:xfrm>
            <a:off x="5257432" y="3278546"/>
            <a:ext cx="1013649" cy="2946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900" dirty="0">
                <a:solidFill>
                  <a:srgbClr val="3D3D3D"/>
                </a:solidFill>
              </a:rPr>
              <a:t>TITAN</a:t>
            </a:r>
            <a:r>
              <a:rPr lang="ko-KR" altLang="en-US" sz="900" dirty="0">
                <a:solidFill>
                  <a:srgbClr val="3D3D3D"/>
                </a:solidFill>
              </a:rPr>
              <a:t>만의</a:t>
            </a:r>
            <a:br>
              <a:rPr lang="en-US" altLang="ko-KR" sz="900" dirty="0">
                <a:solidFill>
                  <a:srgbClr val="3D3D3D"/>
                </a:solidFill>
              </a:rPr>
            </a:br>
            <a:r>
              <a:rPr lang="ko-KR" altLang="en-US" sz="900" dirty="0">
                <a:solidFill>
                  <a:srgbClr val="3D3D3D"/>
                </a:solidFill>
              </a:rPr>
              <a:t>성공공식</a:t>
            </a:r>
            <a:r>
              <a:rPr lang="en-US" altLang="ko-KR" sz="900" dirty="0">
                <a:solidFill>
                  <a:srgbClr val="3D3D3D"/>
                </a:solidFill>
              </a:rPr>
              <a:t>·</a:t>
            </a:r>
            <a:r>
              <a:rPr lang="ko-KR" altLang="en-US" sz="900" dirty="0">
                <a:solidFill>
                  <a:srgbClr val="3D3D3D"/>
                </a:solidFill>
              </a:rPr>
              <a:t>노하우</a:t>
            </a:r>
            <a:r>
              <a:rPr lang="en-US" altLang="ko-KR" sz="900" dirty="0">
                <a:solidFill>
                  <a:srgbClr val="3D3D3D"/>
                </a:solidFill>
              </a:rPr>
              <a:t> </a:t>
            </a:r>
            <a:r>
              <a:rPr lang="ko-KR" altLang="en-US" sz="900" dirty="0">
                <a:solidFill>
                  <a:srgbClr val="3D3D3D"/>
                </a:solidFill>
              </a:rPr>
              <a:t>이식</a:t>
            </a:r>
          </a:p>
        </p:txBody>
      </p:sp>
      <p:sp>
        <p:nvSpPr>
          <p:cNvPr id="55" name="직사각형 51">
            <a:extLst>
              <a:ext uri="{FF2B5EF4-FFF2-40B4-BE49-F238E27FC236}">
                <a16:creationId xmlns:a16="http://schemas.microsoft.com/office/drawing/2014/main" id="{2F9CE59E-E7DC-4F71-A895-BB7A25BC912E}"/>
              </a:ext>
            </a:extLst>
          </p:cNvPr>
          <p:cNvSpPr/>
          <p:nvPr/>
        </p:nvSpPr>
        <p:spPr>
          <a:xfrm>
            <a:off x="3634921" y="4564610"/>
            <a:ext cx="792000" cy="432000"/>
          </a:xfrm>
          <a:prstGeom prst="rect">
            <a:avLst/>
          </a:prstGeom>
          <a:solidFill>
            <a:srgbClr val="11244A"/>
          </a:solidFill>
          <a:ln w="190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수요자</a:t>
            </a:r>
            <a:r>
              <a:rPr lang="en-US" altLang="ko-KR" sz="1100" b="1" dirty="0">
                <a:solidFill>
                  <a:schemeClr val="bg1"/>
                </a:solidFill>
              </a:rPr>
              <a:t>A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57" name="화살표: 오른쪽 141">
            <a:extLst>
              <a:ext uri="{FF2B5EF4-FFF2-40B4-BE49-F238E27FC236}">
                <a16:creationId xmlns:a16="http://schemas.microsoft.com/office/drawing/2014/main" id="{962B7033-0ADB-7C8C-8661-3002500D8AEF}"/>
              </a:ext>
            </a:extLst>
          </p:cNvPr>
          <p:cNvSpPr/>
          <p:nvPr/>
        </p:nvSpPr>
        <p:spPr>
          <a:xfrm rot="16200000">
            <a:off x="4871272" y="4183437"/>
            <a:ext cx="513714" cy="214632"/>
          </a:xfrm>
          <a:prstGeom prst="rightArrow">
            <a:avLst>
              <a:gd name="adj1" fmla="val 50837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bg1">
                  <a:lumMod val="75000"/>
                </a:schemeClr>
              </a:gs>
              <a:gs pos="83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ko-KR" altLang="en-US" sz="1000"/>
          </a:p>
        </p:txBody>
      </p:sp>
      <p:sp>
        <p:nvSpPr>
          <p:cNvPr id="58" name="화살표: 오른쪽 141">
            <a:extLst>
              <a:ext uri="{FF2B5EF4-FFF2-40B4-BE49-F238E27FC236}">
                <a16:creationId xmlns:a16="http://schemas.microsoft.com/office/drawing/2014/main" id="{F7C8F831-57CC-16B6-CD8E-65A77B109908}"/>
              </a:ext>
            </a:extLst>
          </p:cNvPr>
          <p:cNvSpPr/>
          <p:nvPr/>
        </p:nvSpPr>
        <p:spPr>
          <a:xfrm rot="5400000">
            <a:off x="4518413" y="4183437"/>
            <a:ext cx="513714" cy="214632"/>
          </a:xfrm>
          <a:prstGeom prst="rightArrow">
            <a:avLst>
              <a:gd name="adj1" fmla="val 50837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bg1">
                  <a:lumMod val="75000"/>
                </a:schemeClr>
              </a:gs>
              <a:gs pos="8300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endParaRPr lang="ko-KR" altLang="en-US" sz="10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31B50F-5D51-32AD-65B8-A0969E8901CF}"/>
              </a:ext>
            </a:extLst>
          </p:cNvPr>
          <p:cNvSpPr txBox="1"/>
          <p:nvPr/>
        </p:nvSpPr>
        <p:spPr>
          <a:xfrm>
            <a:off x="5145333" y="4144069"/>
            <a:ext cx="1013649" cy="2946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00" dirty="0">
                <a:solidFill>
                  <a:srgbClr val="3D3D3D"/>
                </a:solidFill>
              </a:rPr>
              <a:t>매출의 </a:t>
            </a:r>
            <a:r>
              <a:rPr lang="en-US" altLang="ko-KR" sz="900" dirty="0">
                <a:solidFill>
                  <a:srgbClr val="3D3D3D"/>
                </a:solidFill>
              </a:rPr>
              <a:t>5~15%</a:t>
            </a:r>
            <a:br>
              <a:rPr lang="en-US" altLang="ko-KR" sz="900" dirty="0">
                <a:solidFill>
                  <a:srgbClr val="3D3D3D"/>
                </a:solidFill>
              </a:rPr>
            </a:br>
            <a:r>
              <a:rPr lang="ko-KR" altLang="en-US" sz="900" dirty="0">
                <a:solidFill>
                  <a:srgbClr val="3D3D3D"/>
                </a:solidFill>
              </a:rPr>
              <a:t>수수료 지급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2F48CC-FCA7-B11E-E918-37EABB29DB17}"/>
              </a:ext>
            </a:extLst>
          </p:cNvPr>
          <p:cNvSpPr txBox="1"/>
          <p:nvPr/>
        </p:nvSpPr>
        <p:spPr>
          <a:xfrm>
            <a:off x="3681017" y="4063282"/>
            <a:ext cx="1013649" cy="4469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900" dirty="0">
                <a:solidFill>
                  <a:srgbClr val="3D3D3D"/>
                </a:solidFill>
              </a:rPr>
              <a:t>TITAN</a:t>
            </a:r>
            <a:r>
              <a:rPr lang="ko-KR" altLang="en-US" sz="900" dirty="0">
                <a:solidFill>
                  <a:srgbClr val="3D3D3D"/>
                </a:solidFill>
              </a:rPr>
              <a:t>의 성공전략을 복제한 개인 맞춤형 강의플랫폼 구축</a:t>
            </a:r>
          </a:p>
        </p:txBody>
      </p:sp>
      <p:grpSp>
        <p:nvGrpSpPr>
          <p:cNvPr id="61" name="그룹 116">
            <a:extLst>
              <a:ext uri="{FF2B5EF4-FFF2-40B4-BE49-F238E27FC236}">
                <a16:creationId xmlns:a16="http://schemas.microsoft.com/office/drawing/2014/main" id="{5C6041C8-AC72-2C3B-7D2C-F91CE25C6BBB}"/>
              </a:ext>
            </a:extLst>
          </p:cNvPr>
          <p:cNvGrpSpPr/>
          <p:nvPr/>
        </p:nvGrpSpPr>
        <p:grpSpPr>
          <a:xfrm>
            <a:off x="6353187" y="2471508"/>
            <a:ext cx="3106726" cy="1044000"/>
            <a:chOff x="4769403" y="2206500"/>
            <a:chExt cx="3106726" cy="1044000"/>
          </a:xfrm>
        </p:grpSpPr>
        <p:sp>
          <p:nvSpPr>
            <p:cNvPr id="62" name="Rectangle 206">
              <a:extLst>
                <a:ext uri="{FF2B5EF4-FFF2-40B4-BE49-F238E27FC236}">
                  <a16:creationId xmlns:a16="http://schemas.microsoft.com/office/drawing/2014/main" id="{B4D5FC16-9F1C-8E96-152E-4EA871FD7A68}"/>
                </a:ext>
              </a:extLst>
            </p:cNvPr>
            <p:cNvSpPr/>
            <p:nvPr/>
          </p:nvSpPr>
          <p:spPr>
            <a:xfrm>
              <a:off x="4985523" y="2206500"/>
              <a:ext cx="2890606" cy="1044000"/>
            </a:xfrm>
            <a:prstGeom prst="rect">
              <a:avLst/>
            </a:prstGeom>
            <a:solidFill>
              <a:srgbClr val="4B6DE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Isosceles Triangle 207">
              <a:extLst>
                <a:ext uri="{FF2B5EF4-FFF2-40B4-BE49-F238E27FC236}">
                  <a16:creationId xmlns:a16="http://schemas.microsoft.com/office/drawing/2014/main" id="{4F594813-D533-9788-3288-F7CA30F71B7B}"/>
                </a:ext>
              </a:extLst>
            </p:cNvPr>
            <p:cNvSpPr/>
            <p:nvPr/>
          </p:nvSpPr>
          <p:spPr>
            <a:xfrm rot="16200000">
              <a:off x="4691780" y="2284123"/>
              <a:ext cx="371246" cy="216000"/>
            </a:xfrm>
            <a:prstGeom prst="triangle">
              <a:avLst/>
            </a:prstGeom>
            <a:solidFill>
              <a:srgbClr val="4B6DE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Text Placeholder 8">
              <a:extLst>
                <a:ext uri="{FF2B5EF4-FFF2-40B4-BE49-F238E27FC236}">
                  <a16:creationId xmlns:a16="http://schemas.microsoft.com/office/drawing/2014/main" id="{70AEE0E1-A191-E54F-A3B2-D69C9229106C}"/>
                </a:ext>
              </a:extLst>
            </p:cNvPr>
            <p:cNvSpPr txBox="1">
              <a:spLocks/>
            </p:cNvSpPr>
            <p:nvPr/>
          </p:nvSpPr>
          <p:spPr>
            <a:xfrm>
              <a:off x="5099031" y="2398004"/>
              <a:ext cx="2765936" cy="707886"/>
            </a:xfrm>
            <a:prstGeom prst="rect">
              <a:avLst/>
            </a:prstGeom>
          </p:spPr>
          <p:txBody>
            <a:bodyPr wrap="square" rIns="182880">
              <a:spAutoFit/>
            </a:bodyPr>
            <a:lstStyle>
              <a:lvl1pPr marL="0" indent="0" algn="ctr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4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2844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623888" indent="-279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896938" indent="-273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ko-KR" altLang="en-US" sz="1000" spc="-30" dirty="0">
                  <a:solidFill>
                    <a:schemeClr val="bg1"/>
                  </a:solidFill>
                </a:rPr>
                <a:t>다양한 분야의 전문성을 지닌 개인이 강의 사업자로 진입할 수 있는 기반 제공</a:t>
              </a:r>
              <a:r>
                <a:rPr lang="en-US" altLang="ko-KR" sz="1000" spc="-30" dirty="0">
                  <a:solidFill>
                    <a:schemeClr val="bg1"/>
                  </a:solidFill>
                </a:rPr>
                <a:t>, 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시장 내 강사와 시장에서 경쟁하는 것이 아닌 신규 수요를 창출하고 시장 자체를 확장 시키는 </a:t>
              </a:r>
              <a:r>
                <a:rPr lang="en-US" altLang="ko-KR" sz="1000" u="sng" spc="-30" dirty="0">
                  <a:solidFill>
                    <a:schemeClr val="bg1"/>
                  </a:solidFill>
                </a:rPr>
                <a:t>Market-Maker</a:t>
              </a:r>
              <a:r>
                <a:rPr lang="en-US" altLang="ko-KR" sz="1000" spc="-30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spc="-30" dirty="0">
                  <a:solidFill>
                    <a:schemeClr val="bg1"/>
                  </a:solidFill>
                </a:rPr>
                <a:t>역할 수행</a:t>
              </a:r>
              <a:endParaRPr lang="en-US" sz="1000" spc="-30" dirty="0">
                <a:solidFill>
                  <a:schemeClr val="bg1"/>
                </a:solidFill>
              </a:endParaRPr>
            </a:p>
          </p:txBody>
        </p:sp>
        <p:sp>
          <p:nvSpPr>
            <p:cNvPr id="65" name="Text Placeholder 8">
              <a:extLst>
                <a:ext uri="{FF2B5EF4-FFF2-40B4-BE49-F238E27FC236}">
                  <a16:creationId xmlns:a16="http://schemas.microsoft.com/office/drawing/2014/main" id="{7ACC659C-225D-FD3B-9A00-6C29E1C0FB25}"/>
                </a:ext>
              </a:extLst>
            </p:cNvPr>
            <p:cNvSpPr txBox="1">
              <a:spLocks/>
            </p:cNvSpPr>
            <p:nvPr/>
          </p:nvSpPr>
          <p:spPr>
            <a:xfrm>
              <a:off x="4985523" y="2225065"/>
              <a:ext cx="2879444" cy="216000"/>
            </a:xfrm>
            <a:prstGeom prst="rect">
              <a:avLst/>
            </a:prstGeom>
          </p:spPr>
          <p:txBody>
            <a:bodyPr lIns="54000" rIns="0" anchor="ctr"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2844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623888" indent="-279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896938" indent="-273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defTabSz="429814">
                <a:spcAft>
                  <a:spcPts val="400"/>
                </a:spcAft>
                <a:defRPr/>
              </a:pPr>
              <a:r>
                <a:rPr lang="en-US" altLang="ko-KR" sz="1100" b="1" dirty="0">
                  <a:solidFill>
                    <a:schemeClr val="bg1"/>
                  </a:solidFill>
                </a:rPr>
                <a:t>Market Maker</a:t>
              </a:r>
              <a:r>
                <a:rPr lang="ko-KR" altLang="en-US" sz="1100" b="1" dirty="0">
                  <a:solidFill>
                    <a:schemeClr val="bg1"/>
                  </a:solidFill>
                </a:rPr>
                <a:t>로의 우위 선점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그룹 143">
            <a:extLst>
              <a:ext uri="{FF2B5EF4-FFF2-40B4-BE49-F238E27FC236}">
                <a16:creationId xmlns:a16="http://schemas.microsoft.com/office/drawing/2014/main" id="{E4F2CCC3-B2BD-558B-1C4D-6F39E82332C0}"/>
              </a:ext>
            </a:extLst>
          </p:cNvPr>
          <p:cNvGrpSpPr/>
          <p:nvPr/>
        </p:nvGrpSpPr>
        <p:grpSpPr>
          <a:xfrm>
            <a:off x="6357949" y="3601992"/>
            <a:ext cx="3215472" cy="1044000"/>
            <a:chOff x="4774165" y="2206500"/>
            <a:chExt cx="3215472" cy="1044000"/>
          </a:xfrm>
        </p:grpSpPr>
        <p:sp>
          <p:nvSpPr>
            <p:cNvPr id="67" name="Rectangle 206">
              <a:extLst>
                <a:ext uri="{FF2B5EF4-FFF2-40B4-BE49-F238E27FC236}">
                  <a16:creationId xmlns:a16="http://schemas.microsoft.com/office/drawing/2014/main" id="{5448B867-EF6F-4B77-DF7E-3AFF011767C8}"/>
                </a:ext>
              </a:extLst>
            </p:cNvPr>
            <p:cNvSpPr/>
            <p:nvPr/>
          </p:nvSpPr>
          <p:spPr>
            <a:xfrm>
              <a:off x="4985523" y="2206500"/>
              <a:ext cx="2890606" cy="1044000"/>
            </a:xfrm>
            <a:prstGeom prst="rect">
              <a:avLst/>
            </a:prstGeom>
            <a:solidFill>
              <a:srgbClr val="7892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Isosceles Triangle 207">
              <a:extLst>
                <a:ext uri="{FF2B5EF4-FFF2-40B4-BE49-F238E27FC236}">
                  <a16:creationId xmlns:a16="http://schemas.microsoft.com/office/drawing/2014/main" id="{9E3DFBAA-B010-AAF5-58CE-AE909AC278E4}"/>
                </a:ext>
              </a:extLst>
            </p:cNvPr>
            <p:cNvSpPr/>
            <p:nvPr/>
          </p:nvSpPr>
          <p:spPr>
            <a:xfrm rot="16200000">
              <a:off x="4696542" y="2284123"/>
              <a:ext cx="371246" cy="216000"/>
            </a:xfrm>
            <a:prstGeom prst="triangle">
              <a:avLst/>
            </a:prstGeom>
            <a:solidFill>
              <a:srgbClr val="7892E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9" name="Text Placeholder 8">
              <a:extLst>
                <a:ext uri="{FF2B5EF4-FFF2-40B4-BE49-F238E27FC236}">
                  <a16:creationId xmlns:a16="http://schemas.microsoft.com/office/drawing/2014/main" id="{5C08A685-0D6C-F377-893E-B565FDE82071}"/>
                </a:ext>
              </a:extLst>
            </p:cNvPr>
            <p:cNvSpPr txBox="1">
              <a:spLocks/>
            </p:cNvSpPr>
            <p:nvPr/>
          </p:nvSpPr>
          <p:spPr>
            <a:xfrm>
              <a:off x="5099031" y="2448514"/>
              <a:ext cx="2890606" cy="707886"/>
            </a:xfrm>
            <a:prstGeom prst="rect">
              <a:avLst/>
            </a:prstGeom>
          </p:spPr>
          <p:txBody>
            <a:bodyPr wrap="square" rIns="182880">
              <a:spAutoFit/>
            </a:bodyPr>
            <a:lstStyle>
              <a:lvl1pPr marL="0" indent="0" algn="ctr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4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2844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623888" indent="-279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896938" indent="-273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ko-KR" altLang="en-US" sz="1000" u="sng" spc="-30" dirty="0">
                  <a:solidFill>
                    <a:schemeClr val="bg1"/>
                  </a:solidFill>
                </a:rPr>
                <a:t>기존</a:t>
              </a:r>
              <a:r>
                <a:rPr lang="en-US" altLang="ko-KR" sz="1000" u="sng" spc="-30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강사의 ‘독립 </a:t>
              </a:r>
              <a:r>
                <a:rPr lang="ko-KR" altLang="en-US" sz="1000" u="sng" spc="-30" dirty="0" err="1">
                  <a:solidFill>
                    <a:schemeClr val="bg1"/>
                  </a:solidFill>
                </a:rPr>
                <a:t>니즈’를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u="sng" spc="-30" dirty="0" err="1">
                  <a:solidFill>
                    <a:schemeClr val="bg1"/>
                  </a:solidFill>
                </a:rPr>
                <a:t>시스템노바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 입점으로 흡수</a:t>
              </a:r>
              <a:r>
                <a:rPr lang="en-US" altLang="ko-KR" sz="1000" u="sng" spc="-30" dirty="0">
                  <a:solidFill>
                    <a:schemeClr val="bg1"/>
                  </a:solidFill>
                </a:rPr>
                <a:t>, 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강사의 이탈이 아닌 </a:t>
              </a:r>
              <a:r>
                <a:rPr lang="en-US" altLang="ko-KR" sz="1000" u="sng" spc="-30" dirty="0">
                  <a:solidFill>
                    <a:schemeClr val="bg1"/>
                  </a:solidFill>
                </a:rPr>
                <a:t>TITAN 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생태계 확장으로 이어지는 </a:t>
              </a:r>
              <a:r>
                <a:rPr lang="en-US" altLang="ko-KR" sz="1000" u="sng" spc="-30" dirty="0">
                  <a:solidFill>
                    <a:schemeClr val="bg1"/>
                  </a:solidFill>
                </a:rPr>
                <a:t>Lock-in 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구조</a:t>
              </a:r>
              <a:r>
                <a:rPr lang="ko-KR" altLang="en-US" sz="1000" spc="-30" dirty="0">
                  <a:solidFill>
                    <a:schemeClr val="bg1"/>
                  </a:solidFill>
                </a:rPr>
                <a:t> 형성 이를 통해 잠재적 이탈 리스크가 오히려 </a:t>
              </a:r>
              <a:r>
                <a:rPr lang="en-US" altLang="ko-KR" sz="1000" spc="-30" dirty="0">
                  <a:solidFill>
                    <a:schemeClr val="bg1"/>
                  </a:solidFill>
                </a:rPr>
                <a:t>TITAN </a:t>
              </a:r>
              <a:r>
                <a:rPr lang="ko-KR" altLang="en-US" sz="1000" spc="-30" dirty="0">
                  <a:solidFill>
                    <a:schemeClr val="bg1"/>
                  </a:solidFill>
                </a:rPr>
                <a:t>생태계 성장 동력으로 전환</a:t>
              </a:r>
              <a:endParaRPr lang="en-US" altLang="ko-KR" sz="1000" spc="-30" dirty="0">
                <a:solidFill>
                  <a:schemeClr val="bg1"/>
                </a:solidFill>
              </a:endParaRPr>
            </a:p>
          </p:txBody>
        </p:sp>
        <p:sp>
          <p:nvSpPr>
            <p:cNvPr id="70" name="Text Placeholder 8">
              <a:extLst>
                <a:ext uri="{FF2B5EF4-FFF2-40B4-BE49-F238E27FC236}">
                  <a16:creationId xmlns:a16="http://schemas.microsoft.com/office/drawing/2014/main" id="{52681673-2DB2-AEF3-FAAA-1CFC7C691A47}"/>
                </a:ext>
              </a:extLst>
            </p:cNvPr>
            <p:cNvSpPr txBox="1">
              <a:spLocks/>
            </p:cNvSpPr>
            <p:nvPr/>
          </p:nvSpPr>
          <p:spPr>
            <a:xfrm>
              <a:off x="4985523" y="2245094"/>
              <a:ext cx="2879444" cy="216000"/>
            </a:xfrm>
            <a:prstGeom prst="rect">
              <a:avLst/>
            </a:prstGeom>
          </p:spPr>
          <p:txBody>
            <a:bodyPr lIns="54000" rIns="0" anchor="ctr"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2844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623888" indent="-279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896938" indent="-273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ko-KR" altLang="en-US" sz="1100" dirty="0">
                  <a:solidFill>
                    <a:schemeClr val="bg1"/>
                  </a:solidFill>
                </a:rPr>
                <a:t>강사 이탈</a:t>
              </a:r>
              <a:r>
                <a:rPr lang="en-US" altLang="ko-KR" sz="1100" dirty="0">
                  <a:solidFill>
                    <a:schemeClr val="bg1"/>
                  </a:solidFill>
                </a:rPr>
                <a:t> </a:t>
              </a:r>
              <a:r>
                <a:rPr lang="ko-KR" altLang="en-US" sz="1100" dirty="0">
                  <a:solidFill>
                    <a:schemeClr val="bg1"/>
                  </a:solidFill>
                </a:rPr>
                <a:t>리스크를 생태계 확장 기회로 활용</a:t>
              </a:r>
            </a:p>
          </p:txBody>
        </p:sp>
      </p:grpSp>
      <p:grpSp>
        <p:nvGrpSpPr>
          <p:cNvPr id="71" name="그룹 149">
            <a:extLst>
              <a:ext uri="{FF2B5EF4-FFF2-40B4-BE49-F238E27FC236}">
                <a16:creationId xmlns:a16="http://schemas.microsoft.com/office/drawing/2014/main" id="{CDB4ADFC-C260-6362-0E1F-81E51D2A9D62}"/>
              </a:ext>
            </a:extLst>
          </p:cNvPr>
          <p:cNvGrpSpPr/>
          <p:nvPr/>
        </p:nvGrpSpPr>
        <p:grpSpPr>
          <a:xfrm>
            <a:off x="6353186" y="4732476"/>
            <a:ext cx="3106727" cy="1044000"/>
            <a:chOff x="4769402" y="2206500"/>
            <a:chExt cx="3106727" cy="1044000"/>
          </a:xfrm>
        </p:grpSpPr>
        <p:sp>
          <p:nvSpPr>
            <p:cNvPr id="72" name="Rectangle 206">
              <a:extLst>
                <a:ext uri="{FF2B5EF4-FFF2-40B4-BE49-F238E27FC236}">
                  <a16:creationId xmlns:a16="http://schemas.microsoft.com/office/drawing/2014/main" id="{0C7F3433-629F-17B9-9822-5CF7FC4A5672}"/>
                </a:ext>
              </a:extLst>
            </p:cNvPr>
            <p:cNvSpPr/>
            <p:nvPr/>
          </p:nvSpPr>
          <p:spPr>
            <a:xfrm>
              <a:off x="4985523" y="2206500"/>
              <a:ext cx="2890606" cy="1044000"/>
            </a:xfrm>
            <a:prstGeom prst="rect">
              <a:avLst/>
            </a:prstGeom>
            <a:solidFill>
              <a:srgbClr val="A5B6F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Isosceles Triangle 207">
              <a:extLst>
                <a:ext uri="{FF2B5EF4-FFF2-40B4-BE49-F238E27FC236}">
                  <a16:creationId xmlns:a16="http://schemas.microsoft.com/office/drawing/2014/main" id="{A0F44B4B-8CD1-E306-7E5A-069FB14E423F}"/>
                </a:ext>
              </a:extLst>
            </p:cNvPr>
            <p:cNvSpPr/>
            <p:nvPr/>
          </p:nvSpPr>
          <p:spPr>
            <a:xfrm rot="16200000">
              <a:off x="4691779" y="2284123"/>
              <a:ext cx="371246" cy="216000"/>
            </a:xfrm>
            <a:prstGeom prst="triangle">
              <a:avLst/>
            </a:prstGeom>
            <a:solidFill>
              <a:srgbClr val="A5B6F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Text Placeholder 8">
              <a:extLst>
                <a:ext uri="{FF2B5EF4-FFF2-40B4-BE49-F238E27FC236}">
                  <a16:creationId xmlns:a16="http://schemas.microsoft.com/office/drawing/2014/main" id="{C066E75F-C4F3-537D-5828-92D7F2AEB7E0}"/>
                </a:ext>
              </a:extLst>
            </p:cNvPr>
            <p:cNvSpPr txBox="1">
              <a:spLocks/>
            </p:cNvSpPr>
            <p:nvPr/>
          </p:nvSpPr>
          <p:spPr>
            <a:xfrm>
              <a:off x="5099030" y="2419216"/>
              <a:ext cx="2708835" cy="707886"/>
            </a:xfrm>
            <a:prstGeom prst="rect">
              <a:avLst/>
            </a:prstGeom>
          </p:spPr>
          <p:txBody>
            <a:bodyPr wrap="square" rIns="182880">
              <a:spAutoFit/>
            </a:bodyPr>
            <a:lstStyle>
              <a:lvl1pPr marL="0" indent="0" algn="ctr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400" b="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2844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623888" indent="-279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896938" indent="-273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ko-KR" altLang="en-US" sz="1000" spc="-30" dirty="0" err="1">
                  <a:solidFill>
                    <a:schemeClr val="bg1"/>
                  </a:solidFill>
                </a:rPr>
                <a:t>시스템노바는</a:t>
              </a:r>
              <a:r>
                <a:rPr lang="ko-KR" altLang="en-US" sz="1000" spc="-30" dirty="0">
                  <a:solidFill>
                    <a:schemeClr val="bg1"/>
                  </a:solidFill>
                </a:rPr>
                <a:t> 강의 플랫폼을 동시에 대량</a:t>
              </a:r>
              <a:r>
                <a:rPr lang="en-US" altLang="ko-KR" sz="1000" spc="-30" dirty="0">
                  <a:solidFill>
                    <a:schemeClr val="bg1"/>
                  </a:solidFill>
                </a:rPr>
                <a:t>·</a:t>
              </a:r>
              <a:r>
                <a:rPr lang="ko-KR" altLang="en-US" sz="1000" spc="-30" dirty="0">
                  <a:solidFill>
                    <a:schemeClr val="bg1"/>
                  </a:solidFill>
                </a:rPr>
                <a:t>병렬적으로 구축 가능하고</a:t>
              </a:r>
              <a:r>
                <a:rPr lang="en-US" altLang="ko-KR" sz="1000" spc="-30" dirty="0">
                  <a:solidFill>
                    <a:schemeClr val="bg1"/>
                  </a:solidFill>
                </a:rPr>
                <a:t>, </a:t>
              </a:r>
              <a:r>
                <a:rPr lang="ko-KR" altLang="en-US" sz="1000" spc="-30" dirty="0">
                  <a:solidFill>
                    <a:schemeClr val="bg1"/>
                  </a:solidFill>
                </a:rPr>
                <a:t>이를 통해 </a:t>
              </a:r>
              <a:r>
                <a:rPr lang="en-US" altLang="ko-KR" sz="1000" u="sng" spc="-30" dirty="0">
                  <a:solidFill>
                    <a:schemeClr val="bg1"/>
                  </a:solidFill>
                </a:rPr>
                <a:t>TITAN 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생태계 소속 강사</a:t>
              </a:r>
              <a:r>
                <a:rPr lang="en-US" altLang="ko-KR" sz="1000" u="sng" spc="-30" dirty="0">
                  <a:solidFill>
                    <a:schemeClr val="bg1"/>
                  </a:solidFill>
                </a:rPr>
                <a:t>·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콘텐츠 확대 속도를 비약적으로 가속화하여</a:t>
              </a:r>
              <a:r>
                <a:rPr lang="en-US" altLang="ko-KR" sz="1000" u="sng" spc="-30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u="sng" spc="-30" dirty="0">
                  <a:solidFill>
                    <a:schemeClr val="bg1"/>
                  </a:solidFill>
                </a:rPr>
                <a:t>시장 지배력을 빠르게 증식</a:t>
              </a:r>
              <a:endParaRPr lang="en-US" sz="1000" u="sng" spc="-30" dirty="0">
                <a:solidFill>
                  <a:schemeClr val="bg1"/>
                </a:solidFill>
              </a:endParaRPr>
            </a:p>
          </p:txBody>
        </p:sp>
        <p:sp>
          <p:nvSpPr>
            <p:cNvPr id="75" name="Text Placeholder 8">
              <a:extLst>
                <a:ext uri="{FF2B5EF4-FFF2-40B4-BE49-F238E27FC236}">
                  <a16:creationId xmlns:a16="http://schemas.microsoft.com/office/drawing/2014/main" id="{F1B6833F-0B06-C84F-7A02-9AA8B4533D26}"/>
                </a:ext>
              </a:extLst>
            </p:cNvPr>
            <p:cNvSpPr txBox="1">
              <a:spLocks/>
            </p:cNvSpPr>
            <p:nvPr/>
          </p:nvSpPr>
          <p:spPr>
            <a:xfrm>
              <a:off x="4985523" y="2245094"/>
              <a:ext cx="2879444" cy="216000"/>
            </a:xfrm>
            <a:prstGeom prst="rect">
              <a:avLst/>
            </a:prstGeom>
          </p:spPr>
          <p:txBody>
            <a:bodyPr lIns="54000" rIns="0" anchor="ctr"/>
            <a:lstStyle>
              <a:lvl1pPr marL="0" indent="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b="1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Tx/>
                <a:buNone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2844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623888" indent="-279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896938" indent="-273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60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098000" indent="-230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1371600" indent="-2844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—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16452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-"/>
                <a:defRPr sz="15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100" dirty="0">
                  <a:solidFill>
                    <a:schemeClr val="bg1"/>
                  </a:solidFill>
                </a:rPr>
                <a:t>TITAN </a:t>
              </a:r>
              <a:r>
                <a:rPr lang="ko-KR" altLang="en-US" sz="1100" dirty="0">
                  <a:solidFill>
                    <a:schemeClr val="bg1"/>
                  </a:solidFill>
                </a:rPr>
                <a:t>생태계의 시장 지배력 확장 가속화</a:t>
              </a:r>
            </a:p>
          </p:txBody>
        </p:sp>
      </p:grpSp>
      <p:sp>
        <p:nvSpPr>
          <p:cNvPr id="76" name="직사각형 51">
            <a:extLst>
              <a:ext uri="{FF2B5EF4-FFF2-40B4-BE49-F238E27FC236}">
                <a16:creationId xmlns:a16="http://schemas.microsoft.com/office/drawing/2014/main" id="{C37FCC16-6DBA-B594-A676-A340F1D4C64D}"/>
              </a:ext>
            </a:extLst>
          </p:cNvPr>
          <p:cNvSpPr/>
          <p:nvPr/>
        </p:nvSpPr>
        <p:spPr>
          <a:xfrm>
            <a:off x="4555154" y="4564610"/>
            <a:ext cx="792000" cy="432000"/>
          </a:xfrm>
          <a:prstGeom prst="rect">
            <a:avLst/>
          </a:prstGeom>
          <a:solidFill>
            <a:srgbClr val="11244A"/>
          </a:solidFill>
          <a:ln w="190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수요자</a:t>
            </a:r>
            <a:r>
              <a:rPr lang="en-US" altLang="ko-KR" sz="1100" b="1" dirty="0">
                <a:solidFill>
                  <a:schemeClr val="bg1"/>
                </a:solidFill>
              </a:rPr>
              <a:t>B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77" name="직사각형 51">
            <a:extLst>
              <a:ext uri="{FF2B5EF4-FFF2-40B4-BE49-F238E27FC236}">
                <a16:creationId xmlns:a16="http://schemas.microsoft.com/office/drawing/2014/main" id="{54D56902-B6FD-6105-875C-4D745882F7E1}"/>
              </a:ext>
            </a:extLst>
          </p:cNvPr>
          <p:cNvSpPr/>
          <p:nvPr/>
        </p:nvSpPr>
        <p:spPr>
          <a:xfrm>
            <a:off x="5475387" y="4564610"/>
            <a:ext cx="792000" cy="432000"/>
          </a:xfrm>
          <a:prstGeom prst="rect">
            <a:avLst/>
          </a:prstGeom>
          <a:solidFill>
            <a:srgbClr val="11244A"/>
          </a:solidFill>
          <a:ln w="190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수요자</a:t>
            </a:r>
            <a:r>
              <a:rPr lang="en-US" altLang="ko-KR" sz="1100" b="1" dirty="0">
                <a:solidFill>
                  <a:schemeClr val="bg1"/>
                </a:solidFill>
              </a:rPr>
              <a:t>C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E4D204-9E98-DBF1-8C3B-43D6882EDFD5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 err="1">
                <a:solidFill>
                  <a:srgbClr val="3D3D3D"/>
                </a:solidFill>
              </a:rPr>
              <a:t>시스템노바는</a:t>
            </a:r>
            <a:r>
              <a:rPr lang="ko-KR" altLang="en-US" sz="1400" b="1" dirty="0">
                <a:solidFill>
                  <a:srgbClr val="3D3D3D"/>
                </a:solidFill>
              </a:rPr>
              <a:t> </a:t>
            </a: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의 검증된 </a:t>
            </a:r>
            <a:r>
              <a:rPr lang="en-US" altLang="ko-KR" sz="1400" b="1" dirty="0">
                <a:solidFill>
                  <a:srgbClr val="3D3D3D"/>
                </a:solidFill>
              </a:rPr>
              <a:t>D2C 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플랫폼 모델을 표준화해 외부로 확장하는 전략적 </a:t>
            </a:r>
            <a:r>
              <a:rPr lang="en-US" altLang="ko-KR" sz="1400" b="1" dirty="0">
                <a:solidFill>
                  <a:srgbClr val="3D3D3D"/>
                </a:solidFill>
              </a:rPr>
              <a:t>Growth Engine</a:t>
            </a:r>
            <a:r>
              <a:rPr lang="ko-KR" altLang="en-US" sz="1400" b="1" dirty="0">
                <a:solidFill>
                  <a:srgbClr val="3D3D3D"/>
                </a:solidFill>
              </a:rPr>
              <a:t>으로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이를 통해 </a:t>
            </a:r>
            <a:r>
              <a:rPr lang="en-US" altLang="ko-KR" sz="1400" b="1" dirty="0">
                <a:solidFill>
                  <a:srgbClr val="3D3D3D"/>
                </a:solidFill>
              </a:rPr>
              <a:t>TITAN</a:t>
            </a:r>
            <a:r>
              <a:rPr lang="ko-KR" altLang="en-US" sz="1400" b="1" dirty="0">
                <a:solidFill>
                  <a:srgbClr val="3D3D3D"/>
                </a:solidFill>
              </a:rPr>
              <a:t>은 강사 생태계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콘텐츠 공급망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시장 영향력을 구조적으로 확대하며 지속적인 경쟁우위를 확보해 나가고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2" name="직사각형 51">
            <a:extLst>
              <a:ext uri="{FF2B5EF4-FFF2-40B4-BE49-F238E27FC236}">
                <a16:creationId xmlns:a16="http://schemas.microsoft.com/office/drawing/2014/main" id="{301868B5-E4B4-AFB2-5B6C-4AB19BBF79D5}"/>
              </a:ext>
            </a:extLst>
          </p:cNvPr>
          <p:cNvSpPr/>
          <p:nvPr/>
        </p:nvSpPr>
        <p:spPr>
          <a:xfrm>
            <a:off x="3634921" y="5117931"/>
            <a:ext cx="2636160" cy="637937"/>
          </a:xfrm>
          <a:prstGeom prst="rect">
            <a:avLst/>
          </a:prstGeom>
          <a:solidFill>
            <a:schemeClr val="bg1"/>
          </a:solidFill>
          <a:ln w="19050">
            <a:solidFill>
              <a:srgbClr val="11244A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 dirty="0">
                <a:solidFill>
                  <a:srgbClr val="11244A"/>
                </a:solidFill>
              </a:rPr>
              <a:t>TITAN SI </a:t>
            </a:r>
            <a:r>
              <a:rPr lang="ko-KR" altLang="en-US" sz="1100" b="1" dirty="0">
                <a:solidFill>
                  <a:srgbClr val="11244A"/>
                </a:solidFill>
              </a:rPr>
              <a:t>란</a:t>
            </a:r>
            <a:r>
              <a:rPr lang="en-US" altLang="ko-KR" sz="1100" b="1" dirty="0">
                <a:solidFill>
                  <a:srgbClr val="11244A"/>
                </a:solidFill>
              </a:rPr>
              <a:t>?</a:t>
            </a:r>
          </a:p>
          <a:p>
            <a:pPr algn="ctr"/>
            <a:r>
              <a:rPr lang="ko-KR" altLang="en-US" sz="1000" spc="-30" dirty="0">
                <a:solidFill>
                  <a:srgbClr val="3D3D3D"/>
                </a:solidFill>
              </a:rPr>
              <a:t>강의 기획 </a:t>
            </a:r>
            <a:r>
              <a:rPr lang="ko-KR" altLang="en-US" sz="1000" spc="-30" dirty="0" err="1">
                <a:solidFill>
                  <a:srgbClr val="3D3D3D"/>
                </a:solidFill>
              </a:rPr>
              <a:t>부터</a:t>
            </a:r>
            <a:r>
              <a:rPr lang="ko-KR" altLang="en-US" sz="1000" spc="-30" dirty="0">
                <a:solidFill>
                  <a:srgbClr val="3D3D3D"/>
                </a:solidFill>
              </a:rPr>
              <a:t> 디자인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개발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설치</a:t>
            </a:r>
            <a:r>
              <a:rPr lang="en-US" altLang="ko-KR" sz="1000" spc="-30" dirty="0">
                <a:solidFill>
                  <a:srgbClr val="3D3D3D"/>
                </a:solidFill>
              </a:rPr>
              <a:t>, </a:t>
            </a:r>
            <a:r>
              <a:rPr lang="ko-KR" altLang="en-US" sz="1000" spc="-30" dirty="0">
                <a:solidFill>
                  <a:srgbClr val="3D3D3D"/>
                </a:solidFill>
              </a:rPr>
              <a:t>운영</a:t>
            </a:r>
            <a:r>
              <a:rPr lang="en-US" altLang="ko-KR" sz="1000" spc="-30" dirty="0">
                <a:solidFill>
                  <a:srgbClr val="3D3D3D"/>
                </a:solidFill>
              </a:rPr>
              <a:t>·</a:t>
            </a:r>
            <a:r>
              <a:rPr lang="ko-KR" altLang="en-US" sz="1000" spc="-30" dirty="0">
                <a:solidFill>
                  <a:srgbClr val="3D3D3D"/>
                </a:solidFill>
              </a:rPr>
              <a:t>보수에 이르는 전 과정에 대해 개인 맞춤형 지식 비즈니스 플랫폼을 구축하는 종합서비스사업</a:t>
            </a:r>
          </a:p>
        </p:txBody>
      </p:sp>
    </p:spTree>
    <p:extLst>
      <p:ext uri="{BB962C8B-B14F-4D97-AF65-F5344CB8AC3E}">
        <p14:creationId xmlns:p14="http://schemas.microsoft.com/office/powerpoint/2010/main" val="7682384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CE51D82-61AD-5167-6F4C-BD73370F23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시스템노바</a:t>
            </a:r>
            <a:r>
              <a:rPr lang="ko-KR" altLang="en-US" dirty="0"/>
              <a:t> 서비스 </a:t>
            </a:r>
            <a:r>
              <a:rPr lang="ko-KR" altLang="en-US" dirty="0" err="1"/>
              <a:t>차별점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E2A6E0-2801-7D2A-2330-CDBD645660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513964-05C4-8E6C-CCC8-6C445B285F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48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58EA54-F950-12BD-6217-1EA662FA9DED}"/>
              </a:ext>
            </a:extLst>
          </p:cNvPr>
          <p:cNvSpPr/>
          <p:nvPr/>
        </p:nvSpPr>
        <p:spPr>
          <a:xfrm>
            <a:off x="452999" y="1700213"/>
            <a:ext cx="9000564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주요 경쟁사 대비 </a:t>
            </a:r>
            <a:r>
              <a:rPr lang="en-US" altLang="ko-KR" sz="1200" b="1" dirty="0">
                <a:solidFill>
                  <a:schemeClr val="bg1"/>
                </a:solidFill>
              </a:rPr>
              <a:t>TITAN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SI </a:t>
            </a:r>
            <a:r>
              <a:rPr lang="ko-KR" altLang="en-US" sz="1200" b="1" dirty="0">
                <a:solidFill>
                  <a:schemeClr val="bg1"/>
                </a:solidFill>
              </a:rPr>
              <a:t>서비스 </a:t>
            </a:r>
            <a:r>
              <a:rPr lang="ko-KR" altLang="en-US" sz="1200" b="1" dirty="0" err="1">
                <a:solidFill>
                  <a:schemeClr val="bg1"/>
                </a:solidFill>
              </a:rPr>
              <a:t>차별점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2CAEBE3-337B-E0DD-9ABC-C5CA5D21A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03551"/>
              </p:ext>
            </p:extLst>
          </p:nvPr>
        </p:nvGraphicFramePr>
        <p:xfrm>
          <a:off x="453000" y="2291997"/>
          <a:ext cx="5040000" cy="34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371799624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2751792661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3669486446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1735473912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4292288574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804121128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367209195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플랫폼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구축 </a:t>
                      </a:r>
                      <a:r>
                        <a:rPr lang="en-US" altLang="ko-KR" sz="1000" b="1" spc="-30" baseline="0" dirty="0">
                          <a:solidFill>
                            <a:srgbClr val="11244A"/>
                          </a:solidFill>
                        </a:rPr>
                        <a:t>· </a:t>
                      </a:r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운영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30" baseline="0" dirty="0">
                          <a:solidFill>
                            <a:srgbClr val="11244A"/>
                          </a:solidFill>
                        </a:rPr>
                        <a:t>PG </a:t>
                      </a:r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연동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결제 </a:t>
                      </a:r>
                      <a:r>
                        <a:rPr lang="en-US" altLang="ko-KR" sz="1000" b="1" spc="-30" baseline="0" dirty="0">
                          <a:solidFill>
                            <a:srgbClr val="11244A"/>
                          </a:solidFill>
                        </a:rPr>
                        <a:t>· </a:t>
                      </a:r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정산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강의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기획 </a:t>
                      </a:r>
                      <a:r>
                        <a:rPr lang="en-US" altLang="ko-KR" sz="1000" b="1" spc="-30" baseline="0" dirty="0">
                          <a:solidFill>
                            <a:srgbClr val="11244A"/>
                          </a:solidFill>
                        </a:rPr>
                        <a:t>· </a:t>
                      </a:r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구성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퍼스널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브랜딩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세일즈 </a:t>
                      </a:r>
                      <a:r>
                        <a:rPr lang="ko-KR" altLang="en-US" sz="1000" b="1" spc="-30" baseline="0" dirty="0" err="1">
                          <a:solidFill>
                            <a:srgbClr val="11244A"/>
                          </a:solidFill>
                        </a:rPr>
                        <a:t>퍼널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마케팅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사업</a:t>
                      </a:r>
                      <a:endParaRPr lang="en-US" altLang="ko-KR" sz="1000" b="1" spc="-30" baseline="0" dirty="0">
                        <a:solidFill>
                          <a:srgbClr val="11244A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1" spc="-30" baseline="0" dirty="0">
                          <a:solidFill>
                            <a:srgbClr val="11244A"/>
                          </a:solidFill>
                        </a:rPr>
                        <a:t>네트워킹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48776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 err="1">
                          <a:solidFill>
                            <a:srgbClr val="3D3D3D"/>
                          </a:solidFill>
                        </a:rPr>
                        <a:t>시스템노바</a:t>
                      </a:r>
                      <a:endParaRPr lang="ko-KR" altLang="en-US" sz="1000" b="1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96746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 err="1">
                          <a:solidFill>
                            <a:srgbClr val="3D3D3D"/>
                          </a:solidFill>
                        </a:rPr>
                        <a:t>노코드</a:t>
                      </a:r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 </a:t>
                      </a:r>
                      <a:r>
                        <a:rPr lang="ko-KR" altLang="en-US" sz="1000" b="1" spc="-30" baseline="0" dirty="0" err="1">
                          <a:solidFill>
                            <a:srgbClr val="3D3D3D"/>
                          </a:solidFill>
                        </a:rPr>
                        <a:t>웹빌더</a:t>
                      </a:r>
                      <a:endParaRPr lang="en-US" altLang="ko-KR" sz="1000" b="1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카페</a:t>
                      </a:r>
                      <a:r>
                        <a:rPr lang="en-US" altLang="ko-KR" sz="800" b="0" spc="-30" baseline="0" dirty="0">
                          <a:solidFill>
                            <a:srgbClr val="3D3D3D"/>
                          </a:solidFill>
                        </a:rPr>
                        <a:t>24, </a:t>
                      </a:r>
                      <a:r>
                        <a:rPr lang="ko-KR" altLang="en-US" sz="800" b="0" spc="-30" baseline="0" dirty="0" err="1">
                          <a:solidFill>
                            <a:srgbClr val="3D3D3D"/>
                          </a:solidFill>
                        </a:rPr>
                        <a:t>아임웹</a:t>
                      </a:r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 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CCFA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6378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강의 </a:t>
                      </a:r>
                      <a:r>
                        <a:rPr lang="ko-KR" altLang="en-US" sz="1000" b="1" spc="-30" baseline="0" dirty="0" err="1">
                          <a:solidFill>
                            <a:srgbClr val="3D3D3D"/>
                          </a:solidFill>
                        </a:rPr>
                        <a:t>웹빌더</a:t>
                      </a:r>
                      <a:endParaRPr lang="en-US" altLang="ko-KR" sz="1000" b="1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라이브클래스</a:t>
                      </a:r>
                      <a:r>
                        <a:rPr lang="en-US" altLang="ko-KR" sz="800" b="0" spc="-30" baseline="0" dirty="0">
                          <a:solidFill>
                            <a:srgbClr val="3D3D3D"/>
                          </a:solidFill>
                        </a:rPr>
                        <a:t>, </a:t>
                      </a:r>
                      <a:r>
                        <a:rPr lang="ko-KR" altLang="en-US" sz="800" b="0" spc="-30" baseline="0" dirty="0" err="1">
                          <a:solidFill>
                            <a:srgbClr val="3D3D3D"/>
                          </a:solidFill>
                        </a:rPr>
                        <a:t>퍼블</a:t>
                      </a:r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 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15998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강의 플랫폼</a:t>
                      </a:r>
                      <a:endParaRPr lang="en-US" altLang="ko-KR" sz="1000" b="1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클래스</a:t>
                      </a:r>
                      <a:r>
                        <a:rPr lang="en-US" altLang="ko-KR" sz="800" b="0" spc="-30" baseline="0" dirty="0">
                          <a:solidFill>
                            <a:srgbClr val="3D3D3D"/>
                          </a:solidFill>
                        </a:rPr>
                        <a:t>101, </a:t>
                      </a:r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월급쟁이부자들 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30568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30" baseline="0" dirty="0">
                          <a:solidFill>
                            <a:srgbClr val="3D3D3D"/>
                          </a:solidFill>
                        </a:rPr>
                        <a:t>해외 솔루션</a:t>
                      </a:r>
                      <a:endParaRPr lang="en-US" altLang="ko-KR" sz="1000" b="1" spc="-30" baseline="0" dirty="0">
                        <a:solidFill>
                          <a:srgbClr val="3D3D3D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800" b="0" spc="-30" baseline="0" dirty="0" err="1">
                          <a:solidFill>
                            <a:srgbClr val="3D3D3D"/>
                          </a:solidFill>
                        </a:rPr>
                        <a:t>구글폼</a:t>
                      </a:r>
                      <a:r>
                        <a:rPr lang="en-US" altLang="ko-KR" sz="800" b="0" spc="-30" baseline="0" dirty="0">
                          <a:solidFill>
                            <a:srgbClr val="3D3D3D"/>
                          </a:solidFill>
                        </a:rPr>
                        <a:t>, </a:t>
                      </a:r>
                      <a:r>
                        <a:rPr lang="ko-KR" altLang="en-US" sz="800" b="0" spc="-30" baseline="0" dirty="0" err="1">
                          <a:solidFill>
                            <a:srgbClr val="3D3D3D"/>
                          </a:solidFill>
                        </a:rPr>
                        <a:t>카자비</a:t>
                      </a:r>
                      <a:r>
                        <a:rPr lang="ko-KR" altLang="en-US" sz="800" b="0" spc="-30" baseline="0" dirty="0">
                          <a:solidFill>
                            <a:srgbClr val="3D3D3D"/>
                          </a:solidFill>
                        </a:rPr>
                        <a:t> 등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spc="-30" baseline="0" dirty="0">
                        <a:solidFill>
                          <a:srgbClr val="3D3D3D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525567"/>
                  </a:ext>
                </a:extLst>
              </a:tr>
            </a:tbl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F4FCAE65-6A26-7F2F-1242-61CD4D4B7887}"/>
              </a:ext>
            </a:extLst>
          </p:cNvPr>
          <p:cNvSpPr/>
          <p:nvPr/>
        </p:nvSpPr>
        <p:spPr>
          <a:xfrm>
            <a:off x="188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B015E06-99D9-36F5-44FA-2161B5FCDDE8}"/>
              </a:ext>
            </a:extLst>
          </p:cNvPr>
          <p:cNvGrpSpPr/>
          <p:nvPr/>
        </p:nvGrpSpPr>
        <p:grpSpPr>
          <a:xfrm>
            <a:off x="4404000" y="5318211"/>
            <a:ext cx="288000" cy="288000"/>
            <a:chOff x="4736340" y="2606040"/>
            <a:chExt cx="1080000" cy="108000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81B6ED1-22C8-9F68-65E2-632E05A7AE85}"/>
                </a:ext>
              </a:extLst>
            </p:cNvPr>
            <p:cNvSpPr/>
            <p:nvPr/>
          </p:nvSpPr>
          <p:spPr>
            <a:xfrm>
              <a:off x="4736340" y="2606040"/>
              <a:ext cx="108000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539D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B67E0EA9-21F4-4623-E5CF-5138CAAC461C}"/>
                </a:ext>
              </a:extLst>
            </p:cNvPr>
            <p:cNvSpPr/>
            <p:nvPr/>
          </p:nvSpPr>
          <p:spPr>
            <a:xfrm>
              <a:off x="4736340" y="2606040"/>
              <a:ext cx="540000" cy="1080000"/>
            </a:xfrm>
            <a:custGeom>
              <a:avLst/>
              <a:gdLst>
                <a:gd name="connsiteX0" fmla="*/ 540000 w 540000"/>
                <a:gd name="connsiteY0" fmla="*/ 0 h 1080000"/>
                <a:gd name="connsiteX1" fmla="*/ 540000 w 540000"/>
                <a:gd name="connsiteY1" fmla="*/ 1080000 h 1080000"/>
                <a:gd name="connsiteX2" fmla="*/ 0 w 540000"/>
                <a:gd name="connsiteY2" fmla="*/ 540000 h 1080000"/>
                <a:gd name="connsiteX3" fmla="*/ 540000 w 540000"/>
                <a:gd name="connsiteY3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0000" h="1080000">
                  <a:moveTo>
                    <a:pt x="540000" y="0"/>
                  </a:moveTo>
                  <a:lnTo>
                    <a:pt x="540000" y="1080000"/>
                  </a:ln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</p:grpSp>
      <p:sp>
        <p:nvSpPr>
          <p:cNvPr id="11" name="타원 10">
            <a:extLst>
              <a:ext uri="{FF2B5EF4-FFF2-40B4-BE49-F238E27FC236}">
                <a16:creationId xmlns:a16="http://schemas.microsoft.com/office/drawing/2014/main" id="{7D395951-9E2E-ED7A-8C01-B25ACC75554E}"/>
              </a:ext>
            </a:extLst>
          </p:cNvPr>
          <p:cNvSpPr/>
          <p:nvPr/>
        </p:nvSpPr>
        <p:spPr>
          <a:xfrm>
            <a:off x="3144000" y="3482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DD97EE0-190C-3C31-9C04-71C08A1D8BA2}"/>
              </a:ext>
            </a:extLst>
          </p:cNvPr>
          <p:cNvSpPr/>
          <p:nvPr/>
        </p:nvSpPr>
        <p:spPr>
          <a:xfrm>
            <a:off x="251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3ACE40-3FA6-87AE-7F87-0F54E5283478}"/>
              </a:ext>
            </a:extLst>
          </p:cNvPr>
          <p:cNvSpPr/>
          <p:nvPr/>
        </p:nvSpPr>
        <p:spPr>
          <a:xfrm>
            <a:off x="314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B87742A-3E37-E8BC-74CB-0F61B04AE988}"/>
              </a:ext>
            </a:extLst>
          </p:cNvPr>
          <p:cNvSpPr/>
          <p:nvPr/>
        </p:nvSpPr>
        <p:spPr>
          <a:xfrm>
            <a:off x="377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592C674-FBDF-66C8-9378-440988879E34}"/>
              </a:ext>
            </a:extLst>
          </p:cNvPr>
          <p:cNvSpPr/>
          <p:nvPr/>
        </p:nvSpPr>
        <p:spPr>
          <a:xfrm>
            <a:off x="440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63A5F25-BAC7-A310-3DFE-89F797041A5D}"/>
              </a:ext>
            </a:extLst>
          </p:cNvPr>
          <p:cNvSpPr/>
          <p:nvPr/>
        </p:nvSpPr>
        <p:spPr>
          <a:xfrm>
            <a:off x="5034000" y="2870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F3BAC93-4DB8-D90E-8EF6-C8FC93F53443}"/>
              </a:ext>
            </a:extLst>
          </p:cNvPr>
          <p:cNvSpPr/>
          <p:nvPr/>
        </p:nvSpPr>
        <p:spPr>
          <a:xfrm>
            <a:off x="1884000" y="3482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9544508-DB73-5241-4055-C20B0A588A6A}"/>
              </a:ext>
            </a:extLst>
          </p:cNvPr>
          <p:cNvSpPr/>
          <p:nvPr/>
        </p:nvSpPr>
        <p:spPr>
          <a:xfrm>
            <a:off x="2514000" y="3482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6CF180C-A243-0BA8-19FF-E6C7DC4211F6}"/>
              </a:ext>
            </a:extLst>
          </p:cNvPr>
          <p:cNvSpPr/>
          <p:nvPr/>
        </p:nvSpPr>
        <p:spPr>
          <a:xfrm>
            <a:off x="4404000" y="3482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81775F9-74A8-81C2-A9AC-9ABA3DEB14B6}"/>
              </a:ext>
            </a:extLst>
          </p:cNvPr>
          <p:cNvSpPr/>
          <p:nvPr/>
        </p:nvSpPr>
        <p:spPr>
          <a:xfrm>
            <a:off x="1884000" y="4094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6D5B5BE-F1BF-42E7-784C-B6F47C60A021}"/>
              </a:ext>
            </a:extLst>
          </p:cNvPr>
          <p:cNvSpPr/>
          <p:nvPr/>
        </p:nvSpPr>
        <p:spPr>
          <a:xfrm>
            <a:off x="2514000" y="4094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ECCB548-2AF8-4D8D-5749-1798F248575E}"/>
              </a:ext>
            </a:extLst>
          </p:cNvPr>
          <p:cNvSpPr/>
          <p:nvPr/>
        </p:nvSpPr>
        <p:spPr>
          <a:xfrm>
            <a:off x="2514000" y="4706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8A0E2E5-0EE0-F4C9-BFF5-134C52699385}"/>
              </a:ext>
            </a:extLst>
          </p:cNvPr>
          <p:cNvSpPr/>
          <p:nvPr/>
        </p:nvSpPr>
        <p:spPr>
          <a:xfrm>
            <a:off x="3144000" y="4706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009C06E-FC08-248C-8337-A1EB8484ED82}"/>
              </a:ext>
            </a:extLst>
          </p:cNvPr>
          <p:cNvSpPr/>
          <p:nvPr/>
        </p:nvSpPr>
        <p:spPr>
          <a:xfrm>
            <a:off x="4404000" y="4706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4BC434A-1E13-9B8C-18F7-2FC51F56D4AD}"/>
              </a:ext>
            </a:extLst>
          </p:cNvPr>
          <p:cNvSpPr/>
          <p:nvPr/>
        </p:nvSpPr>
        <p:spPr>
          <a:xfrm>
            <a:off x="1884000" y="5318211"/>
            <a:ext cx="288000" cy="288000"/>
          </a:xfrm>
          <a:prstGeom prst="ellipse">
            <a:avLst/>
          </a:prstGeom>
          <a:solidFill>
            <a:srgbClr val="539DFF"/>
          </a:solidFill>
          <a:ln w="6350">
            <a:solidFill>
              <a:srgbClr val="539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C35275C-9D48-1804-2DC3-B820D8F1787E}"/>
              </a:ext>
            </a:extLst>
          </p:cNvPr>
          <p:cNvSpPr/>
          <p:nvPr/>
        </p:nvSpPr>
        <p:spPr>
          <a:xfrm>
            <a:off x="3144000" y="4094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3468313-9D87-DC01-D259-05234B50BF06}"/>
              </a:ext>
            </a:extLst>
          </p:cNvPr>
          <p:cNvSpPr/>
          <p:nvPr/>
        </p:nvSpPr>
        <p:spPr>
          <a:xfrm>
            <a:off x="3144000" y="5318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93012DC-0C49-0779-950A-CEFC7DCD8468}"/>
              </a:ext>
            </a:extLst>
          </p:cNvPr>
          <p:cNvSpPr/>
          <p:nvPr/>
        </p:nvSpPr>
        <p:spPr>
          <a:xfrm>
            <a:off x="5034000" y="3482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E5A46F9-8ABC-7411-F09A-87E0F5A2C6A3}"/>
              </a:ext>
            </a:extLst>
          </p:cNvPr>
          <p:cNvSpPr/>
          <p:nvPr/>
        </p:nvSpPr>
        <p:spPr>
          <a:xfrm>
            <a:off x="5034000" y="4094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5C9BCB3-6EA2-0187-15D4-0FB804386423}"/>
              </a:ext>
            </a:extLst>
          </p:cNvPr>
          <p:cNvSpPr/>
          <p:nvPr/>
        </p:nvSpPr>
        <p:spPr>
          <a:xfrm>
            <a:off x="5034000" y="5318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C9F2689-B6B3-DFB9-DC99-BADC63E4639A}"/>
              </a:ext>
            </a:extLst>
          </p:cNvPr>
          <p:cNvSpPr/>
          <p:nvPr/>
        </p:nvSpPr>
        <p:spPr>
          <a:xfrm>
            <a:off x="5034000" y="4706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859B2B7-7092-1DA3-31EE-170AF64F1804}"/>
              </a:ext>
            </a:extLst>
          </p:cNvPr>
          <p:cNvSpPr/>
          <p:nvPr/>
        </p:nvSpPr>
        <p:spPr>
          <a:xfrm>
            <a:off x="4404000" y="4094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64323B9-24DF-83C2-4368-9BA8CCD095C0}"/>
              </a:ext>
            </a:extLst>
          </p:cNvPr>
          <p:cNvSpPr/>
          <p:nvPr/>
        </p:nvSpPr>
        <p:spPr>
          <a:xfrm>
            <a:off x="3774000" y="3482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59D2141-1AB6-C6E4-5716-D04E4A091C54}"/>
              </a:ext>
            </a:extLst>
          </p:cNvPr>
          <p:cNvSpPr/>
          <p:nvPr/>
        </p:nvSpPr>
        <p:spPr>
          <a:xfrm>
            <a:off x="3774000" y="4094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99069F7-6BDA-3A92-7953-9C288E9CF347}"/>
              </a:ext>
            </a:extLst>
          </p:cNvPr>
          <p:cNvSpPr/>
          <p:nvPr/>
        </p:nvSpPr>
        <p:spPr>
          <a:xfrm>
            <a:off x="3774000" y="5318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2437EB1-8B1C-354C-8475-C058D0D72202}"/>
              </a:ext>
            </a:extLst>
          </p:cNvPr>
          <p:cNvSpPr/>
          <p:nvPr/>
        </p:nvSpPr>
        <p:spPr>
          <a:xfrm>
            <a:off x="3774000" y="4706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5DE6A84-3DAA-2236-804D-3B56A851CC6A}"/>
              </a:ext>
            </a:extLst>
          </p:cNvPr>
          <p:cNvGrpSpPr/>
          <p:nvPr/>
        </p:nvGrpSpPr>
        <p:grpSpPr>
          <a:xfrm>
            <a:off x="2514000" y="5318211"/>
            <a:ext cx="288000" cy="288000"/>
            <a:chOff x="4736340" y="2606040"/>
            <a:chExt cx="1080000" cy="1080000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47B721D-6CC6-7C78-44C1-9CC4900FFAC7}"/>
                </a:ext>
              </a:extLst>
            </p:cNvPr>
            <p:cNvSpPr/>
            <p:nvPr/>
          </p:nvSpPr>
          <p:spPr>
            <a:xfrm>
              <a:off x="4736340" y="2606040"/>
              <a:ext cx="1080000" cy="1080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539D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723F86DB-071A-CA78-406A-B637DE0E8C25}"/>
                </a:ext>
              </a:extLst>
            </p:cNvPr>
            <p:cNvSpPr/>
            <p:nvPr/>
          </p:nvSpPr>
          <p:spPr>
            <a:xfrm>
              <a:off x="4736340" y="2606040"/>
              <a:ext cx="540000" cy="1080000"/>
            </a:xfrm>
            <a:custGeom>
              <a:avLst/>
              <a:gdLst>
                <a:gd name="connsiteX0" fmla="*/ 540000 w 540000"/>
                <a:gd name="connsiteY0" fmla="*/ 0 h 1080000"/>
                <a:gd name="connsiteX1" fmla="*/ 540000 w 540000"/>
                <a:gd name="connsiteY1" fmla="*/ 1080000 h 1080000"/>
                <a:gd name="connsiteX2" fmla="*/ 0 w 540000"/>
                <a:gd name="connsiteY2" fmla="*/ 540000 h 1080000"/>
                <a:gd name="connsiteX3" fmla="*/ 540000 w 540000"/>
                <a:gd name="connsiteY3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0000" h="1080000">
                  <a:moveTo>
                    <a:pt x="540000" y="0"/>
                  </a:moveTo>
                  <a:lnTo>
                    <a:pt x="540000" y="1080000"/>
                  </a:ln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solidFill>
              <a:srgbClr val="539DFF"/>
            </a:solidFill>
            <a:ln w="6350">
              <a:solidFill>
                <a:srgbClr val="539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200" dirty="0">
                <a:solidFill>
                  <a:srgbClr val="3D3D3D"/>
                </a:solidFill>
              </a:endParaRPr>
            </a:p>
          </p:txBody>
        </p:sp>
      </p:grpSp>
      <p:sp>
        <p:nvSpPr>
          <p:cNvPr id="40" name="타원 39">
            <a:extLst>
              <a:ext uri="{FF2B5EF4-FFF2-40B4-BE49-F238E27FC236}">
                <a16:creationId xmlns:a16="http://schemas.microsoft.com/office/drawing/2014/main" id="{60AF020C-F2D9-491D-2F56-0E459D52CEB6}"/>
              </a:ext>
            </a:extLst>
          </p:cNvPr>
          <p:cNvSpPr/>
          <p:nvPr/>
        </p:nvSpPr>
        <p:spPr>
          <a:xfrm>
            <a:off x="1884000" y="4706211"/>
            <a:ext cx="288000" cy="288000"/>
          </a:xfrm>
          <a:prstGeom prst="ellipse">
            <a:avLst/>
          </a:prstGeom>
          <a:solidFill>
            <a:schemeClr val="bg1"/>
          </a:solidFill>
          <a:ln w="6350">
            <a:solidFill>
              <a:srgbClr val="539D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dirty="0">
              <a:solidFill>
                <a:srgbClr val="3D3D3D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2670705-8A02-7DF2-B90F-242736EFD1AE}"/>
              </a:ext>
            </a:extLst>
          </p:cNvPr>
          <p:cNvSpPr txBox="1"/>
          <p:nvPr/>
        </p:nvSpPr>
        <p:spPr>
          <a:xfrm>
            <a:off x="452437" y="2033848"/>
            <a:ext cx="5040000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유사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서비스 비교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F534D1-4993-68A3-60E5-93D1E10B44A3}"/>
              </a:ext>
            </a:extLst>
          </p:cNvPr>
          <p:cNvSpPr txBox="1"/>
          <p:nvPr/>
        </p:nvSpPr>
        <p:spPr>
          <a:xfrm>
            <a:off x="5743575" y="2033848"/>
            <a:ext cx="3721502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주요 </a:t>
            </a:r>
            <a:r>
              <a:rPr lang="ko-KR" altLang="en-US" sz="1100" dirty="0" err="1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차별점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및 경쟁력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ECB09F3-0E3C-1D24-7BA4-ECCA6F3C4BE5}"/>
              </a:ext>
            </a:extLst>
          </p:cNvPr>
          <p:cNvGrpSpPr/>
          <p:nvPr/>
        </p:nvGrpSpPr>
        <p:grpSpPr>
          <a:xfrm>
            <a:off x="5858702" y="2510794"/>
            <a:ext cx="3594298" cy="706155"/>
            <a:chOff x="5858702" y="2510794"/>
            <a:chExt cx="3594298" cy="706155"/>
          </a:xfrm>
        </p:grpSpPr>
        <p:sp>
          <p:nvSpPr>
            <p:cNvPr id="77" name="직사각형 9">
              <a:extLst>
                <a:ext uri="{FF2B5EF4-FFF2-40B4-BE49-F238E27FC236}">
                  <a16:creationId xmlns:a16="http://schemas.microsoft.com/office/drawing/2014/main" id="{44B5EB1E-51DA-6D1D-6882-DB3FA7D4CDD4}"/>
                </a:ext>
              </a:extLst>
            </p:cNvPr>
            <p:cNvSpPr/>
            <p:nvPr/>
          </p:nvSpPr>
          <p:spPr bwMode="auto">
            <a:xfrm>
              <a:off x="6067611" y="2510794"/>
              <a:ext cx="3385389" cy="70615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vert="horz" wrap="square" lIns="72000" tIns="36000" rIns="3600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4B6DE8"/>
                  </a:solidFill>
                </a:rPr>
                <a:t>강의 비즈니스 전 과정을 아우르는 </a:t>
              </a:r>
              <a:r>
                <a:rPr lang="en-US" altLang="ko-KR" sz="1100" b="1" dirty="0">
                  <a:solidFill>
                    <a:srgbClr val="4B6DE8"/>
                  </a:solidFill>
                </a:rPr>
                <a:t>All-in-One </a:t>
              </a:r>
              <a:r>
                <a:rPr lang="ko-KR" altLang="en-US" sz="1100" b="1" dirty="0">
                  <a:solidFill>
                    <a:srgbClr val="4B6DE8"/>
                  </a:solidFill>
                </a:rPr>
                <a:t>솔루션</a:t>
              </a:r>
              <a:endParaRPr lang="en-US" altLang="ko-KR" sz="1100" b="1" dirty="0">
                <a:solidFill>
                  <a:srgbClr val="4B6DE8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단순 플랫폼 구축이나 광고 대행 수준을 넘어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LMS·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결제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인프라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퍼널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설계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광고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·CRM·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브랜딩까지 강의 사업에 필요한 전 기능이 담긴 플랫폼을 단기간내 구축 가능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  <p:grpSp>
          <p:nvGrpSpPr>
            <p:cNvPr id="80" name="그룹 54">
              <a:extLst>
                <a:ext uri="{FF2B5EF4-FFF2-40B4-BE49-F238E27FC236}">
                  <a16:creationId xmlns:a16="http://schemas.microsoft.com/office/drawing/2014/main" id="{D4E0270B-0623-1244-F9E3-2A23CCF6F148}"/>
                </a:ext>
              </a:extLst>
            </p:cNvPr>
            <p:cNvGrpSpPr/>
            <p:nvPr/>
          </p:nvGrpSpPr>
          <p:grpSpPr>
            <a:xfrm>
              <a:off x="5858702" y="2510794"/>
              <a:ext cx="208909" cy="197470"/>
              <a:chOff x="505333" y="5241193"/>
              <a:chExt cx="208909" cy="197470"/>
            </a:xfrm>
          </p:grpSpPr>
          <p:sp>
            <p:nvSpPr>
              <p:cNvPr id="81" name="양쪽 모서리가 둥근 사각형 19">
                <a:extLst>
                  <a:ext uri="{FF2B5EF4-FFF2-40B4-BE49-F238E27FC236}">
                    <a16:creationId xmlns:a16="http://schemas.microsoft.com/office/drawing/2014/main" id="{9FAC9A38-C62E-13E0-F4F1-B0E3F0A162F1}"/>
                  </a:ext>
                </a:extLst>
              </p:cNvPr>
              <p:cNvSpPr/>
              <p:nvPr/>
            </p:nvSpPr>
            <p:spPr>
              <a:xfrm flipV="1">
                <a:off x="505333" y="5263667"/>
                <a:ext cx="179777" cy="174996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1E49E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ko-KR" altLang="en-US" sz="1800" kern="0">
                  <a:solidFill>
                    <a:prstClr val="white"/>
                  </a:solidFill>
                  <a:latin typeface="Calibri"/>
                  <a:ea typeface="KoPub돋움체 Medium"/>
                </a:endParaRPr>
              </a:p>
            </p:txBody>
          </p:sp>
          <p:pic>
            <p:nvPicPr>
              <p:cNvPr id="82" name="Picture 4" descr="Blue Tick Icon PNG Transparent Background, Free Download #14142 -  FreeIconsPNG">
                <a:extLst>
                  <a:ext uri="{FF2B5EF4-FFF2-40B4-BE49-F238E27FC236}">
                    <a16:creationId xmlns:a16="http://schemas.microsoft.com/office/drawing/2014/main" id="{7AE19C72-B4E9-5E91-9AD2-DB4FE692C9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4465" y="5241193"/>
                <a:ext cx="179777" cy="1758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069B5EEA-1AC5-BB47-58F7-00B0F1D82787}"/>
              </a:ext>
            </a:extLst>
          </p:cNvPr>
          <p:cNvGrpSpPr/>
          <p:nvPr/>
        </p:nvGrpSpPr>
        <p:grpSpPr>
          <a:xfrm>
            <a:off x="5858702" y="3638487"/>
            <a:ext cx="3594298" cy="706155"/>
            <a:chOff x="5858702" y="2510794"/>
            <a:chExt cx="3594298" cy="706155"/>
          </a:xfrm>
        </p:grpSpPr>
        <p:sp>
          <p:nvSpPr>
            <p:cNvPr id="85" name="직사각형 9">
              <a:extLst>
                <a:ext uri="{FF2B5EF4-FFF2-40B4-BE49-F238E27FC236}">
                  <a16:creationId xmlns:a16="http://schemas.microsoft.com/office/drawing/2014/main" id="{658D249A-C76E-444B-0FF9-C867EDEF960E}"/>
                </a:ext>
              </a:extLst>
            </p:cNvPr>
            <p:cNvSpPr/>
            <p:nvPr/>
          </p:nvSpPr>
          <p:spPr bwMode="auto">
            <a:xfrm>
              <a:off x="6067611" y="2510794"/>
              <a:ext cx="3385389" cy="70615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vert="horz" wrap="square" lIns="72000" tIns="36000" rIns="3600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en-US" altLang="ko-KR" sz="1100" b="1" dirty="0">
                  <a:solidFill>
                    <a:srgbClr val="4B6DE8"/>
                  </a:solidFill>
                </a:rPr>
                <a:t>TITAN</a:t>
              </a:r>
              <a:r>
                <a:rPr lang="ko-KR" altLang="en-US" sz="1100" b="1" dirty="0">
                  <a:solidFill>
                    <a:srgbClr val="4B6DE8"/>
                  </a:solidFill>
                </a:rPr>
                <a:t>의 검증된 성공 공식 기반 고도화된 운영 시스템</a:t>
              </a:r>
              <a:endParaRPr lang="en-US" altLang="ko-KR" sz="1100" b="1" dirty="0">
                <a:solidFill>
                  <a:srgbClr val="4B6DE8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altLang="ko-KR" sz="1000" spc="-30" dirty="0">
                  <a:solidFill>
                    <a:srgbClr val="3D3D3D"/>
                  </a:solidFill>
                </a:rPr>
                <a:t>TITAN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의 콘텐츠 기획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퍼널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광고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세일즈 전략을 기반으로 일반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웹빌더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광고대행사 대비 압도적으로 높은 퍼포먼스를 단기간내 창출 가능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개인 강사가 스스로는 구축이 어려운 성과 달성 가능</a:t>
              </a:r>
            </a:p>
          </p:txBody>
        </p:sp>
        <p:grpSp>
          <p:nvGrpSpPr>
            <p:cNvPr id="86" name="그룹 54">
              <a:extLst>
                <a:ext uri="{FF2B5EF4-FFF2-40B4-BE49-F238E27FC236}">
                  <a16:creationId xmlns:a16="http://schemas.microsoft.com/office/drawing/2014/main" id="{21041786-AFFB-7E8F-AC34-33339B0532DF}"/>
                </a:ext>
              </a:extLst>
            </p:cNvPr>
            <p:cNvGrpSpPr/>
            <p:nvPr/>
          </p:nvGrpSpPr>
          <p:grpSpPr>
            <a:xfrm>
              <a:off x="5858702" y="2510794"/>
              <a:ext cx="208909" cy="197470"/>
              <a:chOff x="505333" y="5241193"/>
              <a:chExt cx="208909" cy="197470"/>
            </a:xfrm>
          </p:grpSpPr>
          <p:sp>
            <p:nvSpPr>
              <p:cNvPr id="87" name="양쪽 모서리가 둥근 사각형 19">
                <a:extLst>
                  <a:ext uri="{FF2B5EF4-FFF2-40B4-BE49-F238E27FC236}">
                    <a16:creationId xmlns:a16="http://schemas.microsoft.com/office/drawing/2014/main" id="{F5F944C3-FE6F-B161-AE6C-AAAE128EC4D1}"/>
                  </a:ext>
                </a:extLst>
              </p:cNvPr>
              <p:cNvSpPr/>
              <p:nvPr/>
            </p:nvSpPr>
            <p:spPr>
              <a:xfrm flipV="1">
                <a:off x="505333" y="5263667"/>
                <a:ext cx="179777" cy="174996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1E49E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ko-KR" altLang="en-US" sz="1800" kern="0">
                  <a:solidFill>
                    <a:prstClr val="white"/>
                  </a:solidFill>
                  <a:latin typeface="Calibri"/>
                  <a:ea typeface="KoPub돋움체 Medium"/>
                </a:endParaRPr>
              </a:p>
            </p:txBody>
          </p:sp>
          <p:pic>
            <p:nvPicPr>
              <p:cNvPr id="88" name="Picture 4" descr="Blue Tick Icon PNG Transparent Background, Free Download #14142 -  FreeIconsPNG">
                <a:extLst>
                  <a:ext uri="{FF2B5EF4-FFF2-40B4-BE49-F238E27FC236}">
                    <a16:creationId xmlns:a16="http://schemas.microsoft.com/office/drawing/2014/main" id="{AB273860-CE8C-6AAE-733F-C464500195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4465" y="5241193"/>
                <a:ext cx="179777" cy="1758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F00447A6-AE43-2A27-EFD9-B1BDADCF1898}"/>
              </a:ext>
            </a:extLst>
          </p:cNvPr>
          <p:cNvGrpSpPr/>
          <p:nvPr/>
        </p:nvGrpSpPr>
        <p:grpSpPr>
          <a:xfrm>
            <a:off x="5858702" y="4844709"/>
            <a:ext cx="3594298" cy="706155"/>
            <a:chOff x="5858702" y="2510794"/>
            <a:chExt cx="3594298" cy="706155"/>
          </a:xfrm>
        </p:grpSpPr>
        <p:sp>
          <p:nvSpPr>
            <p:cNvPr id="90" name="직사각형 9">
              <a:extLst>
                <a:ext uri="{FF2B5EF4-FFF2-40B4-BE49-F238E27FC236}">
                  <a16:creationId xmlns:a16="http://schemas.microsoft.com/office/drawing/2014/main" id="{B5312D4C-8A50-4B0A-4184-2C6CE5AF49B1}"/>
                </a:ext>
              </a:extLst>
            </p:cNvPr>
            <p:cNvSpPr/>
            <p:nvPr/>
          </p:nvSpPr>
          <p:spPr bwMode="auto">
            <a:xfrm>
              <a:off x="6067611" y="2510794"/>
              <a:ext cx="3385389" cy="70615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vert="horz" wrap="square" lIns="72000" tIns="36000" rIns="36000" bIns="36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4B6DE8"/>
                  </a:solidFill>
                </a:rPr>
                <a:t>사업 네트워킹</a:t>
              </a:r>
              <a:r>
                <a:rPr lang="en-US" altLang="ko-KR" sz="1100" b="1" dirty="0">
                  <a:solidFill>
                    <a:srgbClr val="4B6DE8"/>
                  </a:solidFill>
                </a:rPr>
                <a:t>·</a:t>
              </a:r>
              <a:r>
                <a:rPr lang="ko-KR" altLang="en-US" sz="1100" b="1" dirty="0">
                  <a:solidFill>
                    <a:srgbClr val="4B6DE8"/>
                  </a:solidFill>
                </a:rPr>
                <a:t>협업 체계를 통한 플랫폼 성장의 가속화</a:t>
              </a:r>
              <a:endParaRPr lang="en-US" altLang="ko-KR" sz="1100" b="1" dirty="0">
                <a:solidFill>
                  <a:srgbClr val="4B6DE8"/>
                </a:solidFill>
              </a:endParaRPr>
            </a:p>
            <a:p>
              <a:pPr marL="171450" lvl="1" indent="-171450">
                <a:lnSpc>
                  <a:spcPct val="110000"/>
                </a:lnSpc>
                <a:spcAft>
                  <a:spcPts val="300"/>
                </a:spcAft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spc="-30" dirty="0">
                  <a:solidFill>
                    <a:srgbClr val="3D3D3D"/>
                  </a:solidFill>
                </a:rPr>
                <a:t>TITAN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이 보유한 방대한 강사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Pool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과의 협업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브랜드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미디어 파트너십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전문가 네트워크 연결 제공으로 플랫폼의 사업 확장 속도와 성공 확률을 극대화</a:t>
              </a:r>
            </a:p>
          </p:txBody>
        </p:sp>
        <p:grpSp>
          <p:nvGrpSpPr>
            <p:cNvPr id="91" name="그룹 54">
              <a:extLst>
                <a:ext uri="{FF2B5EF4-FFF2-40B4-BE49-F238E27FC236}">
                  <a16:creationId xmlns:a16="http://schemas.microsoft.com/office/drawing/2014/main" id="{006DB854-8AE2-E4B7-9666-1588CA22F4D5}"/>
                </a:ext>
              </a:extLst>
            </p:cNvPr>
            <p:cNvGrpSpPr/>
            <p:nvPr/>
          </p:nvGrpSpPr>
          <p:grpSpPr>
            <a:xfrm>
              <a:off x="5858702" y="2510794"/>
              <a:ext cx="208909" cy="197470"/>
              <a:chOff x="505333" y="5241193"/>
              <a:chExt cx="208909" cy="197470"/>
            </a:xfrm>
          </p:grpSpPr>
          <p:sp>
            <p:nvSpPr>
              <p:cNvPr id="92" name="양쪽 모서리가 둥근 사각형 19">
                <a:extLst>
                  <a:ext uri="{FF2B5EF4-FFF2-40B4-BE49-F238E27FC236}">
                    <a16:creationId xmlns:a16="http://schemas.microsoft.com/office/drawing/2014/main" id="{243B146C-42C9-CF0E-5F69-366A41FBC52C}"/>
                  </a:ext>
                </a:extLst>
              </p:cNvPr>
              <p:cNvSpPr/>
              <p:nvPr/>
            </p:nvSpPr>
            <p:spPr>
              <a:xfrm flipV="1">
                <a:off x="505333" y="5263667"/>
                <a:ext cx="179777" cy="174996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 w="19050" cap="flat" cmpd="sng" algn="ctr">
                <a:solidFill>
                  <a:srgbClr val="1E49E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/>
                <a:endParaRPr lang="ko-KR" altLang="en-US" sz="1800" kern="0">
                  <a:solidFill>
                    <a:prstClr val="white"/>
                  </a:solidFill>
                  <a:latin typeface="Calibri"/>
                  <a:ea typeface="KoPub돋움체 Medium"/>
                </a:endParaRPr>
              </a:p>
            </p:txBody>
          </p:sp>
          <p:pic>
            <p:nvPicPr>
              <p:cNvPr id="93" name="Picture 4" descr="Blue Tick Icon PNG Transparent Background, Free Download #14142 -  FreeIconsPNG">
                <a:extLst>
                  <a:ext uri="{FF2B5EF4-FFF2-40B4-BE49-F238E27FC236}">
                    <a16:creationId xmlns:a16="http://schemas.microsoft.com/office/drawing/2014/main" id="{32E69D34-B053-B2A5-737B-9D4350C00A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4465" y="5241193"/>
                <a:ext cx="179777" cy="1758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B0186B9B-FD49-39E5-858D-952E2C00B261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 err="1">
                <a:solidFill>
                  <a:srgbClr val="3D3D3D"/>
                </a:solidFill>
              </a:rPr>
              <a:t>시스템노바는</a:t>
            </a:r>
            <a:r>
              <a:rPr lang="ko-KR" altLang="en-US" sz="1400" b="1" dirty="0">
                <a:solidFill>
                  <a:srgbClr val="3D3D3D"/>
                </a:solidFill>
              </a:rPr>
              <a:t> 단순 플랫폼 제작에 머무는 일반 </a:t>
            </a:r>
            <a:r>
              <a:rPr lang="en-US" altLang="ko-KR" sz="1400" b="1" dirty="0">
                <a:solidFill>
                  <a:srgbClr val="3D3D3D"/>
                </a:solidFill>
              </a:rPr>
              <a:t>SI</a:t>
            </a:r>
            <a:r>
              <a:rPr lang="ko-KR" altLang="en-US" sz="1400" b="1" dirty="0">
                <a:solidFill>
                  <a:srgbClr val="3D3D3D"/>
                </a:solidFill>
              </a:rPr>
              <a:t>와 달리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구축부터 결제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정산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 err="1">
                <a:solidFill>
                  <a:srgbClr val="3D3D3D"/>
                </a:solidFill>
              </a:rPr>
              <a:t>세일즈퍼널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마케팅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브랜딩까지 강의 비즈니스 전 과정을 하나의 체계로 제공해 누구나 단기간에 안정적 운영 기반을 갖추고 실질적 성과를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만들어 낼 수 있는 독보적인 솔루션 입니다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811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0909F2-13F4-1F27-7FCA-2A89186407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제공서비스 상세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3AB43-AC78-BA8B-8FC0-66BD6553C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C7D0D3-BAF3-5332-BE1C-5590FD340F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49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8D8212-DF10-57BF-3E1B-9D472C175232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강의 플랫폼 개발 및 구축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EF0FDA-69E6-B8F8-2254-580AD7C6A0C2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세일즈퍼널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1107F4C-8893-3A52-40E8-84F97B0FC416}"/>
              </a:ext>
            </a:extLst>
          </p:cNvPr>
          <p:cNvGrpSpPr/>
          <p:nvPr/>
        </p:nvGrpSpPr>
        <p:grpSpPr>
          <a:xfrm>
            <a:off x="461082" y="2104967"/>
            <a:ext cx="4383918" cy="936000"/>
            <a:chOff x="461082" y="2452057"/>
            <a:chExt cx="4205163" cy="936000"/>
          </a:xfrm>
        </p:grpSpPr>
        <p:sp>
          <p:nvSpPr>
            <p:cNvPr id="7" name="직사각형 9">
              <a:extLst>
                <a:ext uri="{FF2B5EF4-FFF2-40B4-BE49-F238E27FC236}">
                  <a16:creationId xmlns:a16="http://schemas.microsoft.com/office/drawing/2014/main" id="{3E6B6E4F-308C-9CCD-58F1-1BD31C34EEA6}"/>
                </a:ext>
              </a:extLst>
            </p:cNvPr>
            <p:cNvSpPr/>
            <p:nvPr/>
          </p:nvSpPr>
          <p:spPr bwMode="auto">
            <a:xfrm>
              <a:off x="461082" y="2452057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 맞춤형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LMS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 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수강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/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진도 관리는 물론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강사 리스트 관리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커뮤니티까지 모두 맞춤형 제작</a:t>
              </a:r>
              <a:br>
                <a:rPr lang="en-US" altLang="ko-KR" sz="1000" spc="-30" dirty="0">
                  <a:solidFill>
                    <a:srgbClr val="3D3D3D"/>
                  </a:solidFill>
                </a:rPr>
              </a:br>
              <a:r>
                <a:rPr lang="en-US" altLang="ko-KR" sz="1000" spc="-30" dirty="0">
                  <a:solidFill>
                    <a:srgbClr val="3D3D3D"/>
                  </a:solidFill>
                </a:rPr>
                <a:t>(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프론트엔드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및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백엔드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개발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)</a:t>
              </a:r>
            </a:p>
          </p:txBody>
        </p:sp>
        <p:sp>
          <p:nvSpPr>
            <p:cNvPr id="8" name="직사각형 9">
              <a:extLst>
                <a:ext uri="{FF2B5EF4-FFF2-40B4-BE49-F238E27FC236}">
                  <a16:creationId xmlns:a16="http://schemas.microsoft.com/office/drawing/2014/main" id="{14B8CFB1-0E8B-3015-0C9B-B946C2B09CEA}"/>
                </a:ext>
              </a:extLst>
            </p:cNvPr>
            <p:cNvSpPr/>
            <p:nvPr/>
          </p:nvSpPr>
          <p:spPr bwMode="auto">
            <a:xfrm>
              <a:off x="2649000" y="2452057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결제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· 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정산 연동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국내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PG ·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글로벌 결제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(Stripe · PayPal)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시스템의 결제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구독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할부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환불 정책 프로세스에 연동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F124BB0-81A6-08D8-0D72-63515F79D190}"/>
              </a:ext>
            </a:extLst>
          </p:cNvPr>
          <p:cNvGrpSpPr/>
          <p:nvPr/>
        </p:nvGrpSpPr>
        <p:grpSpPr>
          <a:xfrm>
            <a:off x="461082" y="3157721"/>
            <a:ext cx="4383918" cy="936000"/>
            <a:chOff x="461082" y="2452056"/>
            <a:chExt cx="4205163" cy="936000"/>
          </a:xfrm>
        </p:grpSpPr>
        <p:sp>
          <p:nvSpPr>
            <p:cNvPr id="11" name="직사각형 9">
              <a:extLst>
                <a:ext uri="{FF2B5EF4-FFF2-40B4-BE49-F238E27FC236}">
                  <a16:creationId xmlns:a16="http://schemas.microsoft.com/office/drawing/2014/main" id="{6F31DE5A-3AC4-560A-325B-1A5EC8D1EC3C}"/>
                </a:ext>
              </a:extLst>
            </p:cNvPr>
            <p:cNvSpPr/>
            <p:nvPr/>
          </p:nvSpPr>
          <p:spPr bwMode="auto">
            <a:xfrm>
              <a:off x="461082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맞춤형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UI/UX</a:t>
              </a:r>
            </a:p>
            <a:p>
              <a:pPr marL="171450" marR="0" lvl="1" indent="-171450" fontAlgn="auto"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각 브랜드 성격에 맞춘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UI/UX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설계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심미적으로 뛰어난 플랫폼 제작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  <a:p>
              <a:pPr marL="171450" marR="0" lvl="1" indent="-171450" fontAlgn="auto"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정보구조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설계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와이어프레임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비주얼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UI,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반응형 웹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/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앱 인터페이스 구성</a:t>
              </a:r>
            </a:p>
          </p:txBody>
        </p:sp>
        <p:sp>
          <p:nvSpPr>
            <p:cNvPr id="12" name="직사각형 9">
              <a:extLst>
                <a:ext uri="{FF2B5EF4-FFF2-40B4-BE49-F238E27FC236}">
                  <a16:creationId xmlns:a16="http://schemas.microsoft.com/office/drawing/2014/main" id="{6BC4CEA2-9E56-D3BB-43A3-9E62EA8213C9}"/>
                </a:ext>
              </a:extLst>
            </p:cNvPr>
            <p:cNvSpPr/>
            <p:nvPr/>
          </p:nvSpPr>
          <p:spPr bwMode="auto">
            <a:xfrm>
              <a:off x="2649000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인프라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보안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lvl="1" indent="-171450"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클라우드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Auto-Scaling, CDN, SSL, DB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암호화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디도스 방어 시스템 등 안전한 서비스 구축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19644A9-6ACD-E977-0685-20F1A8C3D260}"/>
              </a:ext>
            </a:extLst>
          </p:cNvPr>
          <p:cNvGrpSpPr/>
          <p:nvPr/>
        </p:nvGrpSpPr>
        <p:grpSpPr>
          <a:xfrm>
            <a:off x="461082" y="4210475"/>
            <a:ext cx="4383918" cy="936000"/>
            <a:chOff x="461082" y="2452056"/>
            <a:chExt cx="4205163" cy="936000"/>
          </a:xfrm>
        </p:grpSpPr>
        <p:sp>
          <p:nvSpPr>
            <p:cNvPr id="14" name="직사각형 9">
              <a:extLst>
                <a:ext uri="{FF2B5EF4-FFF2-40B4-BE49-F238E27FC236}">
                  <a16:creationId xmlns:a16="http://schemas.microsoft.com/office/drawing/2014/main" id="{AC60E6EE-9206-6616-EA90-F2BE52FDF6F1}"/>
                </a:ext>
              </a:extLst>
            </p:cNvPr>
            <p:cNvSpPr/>
            <p:nvPr/>
          </p:nvSpPr>
          <p:spPr bwMode="auto">
            <a:xfrm>
              <a:off x="461082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데이터 대시보드 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고객 친화 대시보드 설계를 통해 유입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-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전환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-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수강 데이터를 실시간시각화 하여 제공</a:t>
              </a:r>
            </a:p>
          </p:txBody>
        </p:sp>
        <p:sp>
          <p:nvSpPr>
            <p:cNvPr id="15" name="직사각형 9">
              <a:extLst>
                <a:ext uri="{FF2B5EF4-FFF2-40B4-BE49-F238E27FC236}">
                  <a16:creationId xmlns:a16="http://schemas.microsoft.com/office/drawing/2014/main" id="{0AFB3367-64D3-E29C-8615-E1F52BCD5523}"/>
                </a:ext>
              </a:extLst>
            </p:cNvPr>
            <p:cNvSpPr/>
            <p:nvPr/>
          </p:nvSpPr>
          <p:spPr bwMode="auto">
            <a:xfrm>
              <a:off x="2649000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시스템 유지보수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주기적인 버전 관리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장애 모니터링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기능 고도화를 통한 상시 쾌적한 플랫폼 환경 유지 지원</a:t>
              </a:r>
            </a:p>
          </p:txBody>
        </p:sp>
      </p:grpSp>
      <p:pic>
        <p:nvPicPr>
          <p:cNvPr id="27" name="그래픽 26">
            <a:extLst>
              <a:ext uri="{FF2B5EF4-FFF2-40B4-BE49-F238E27FC236}">
                <a16:creationId xmlns:a16="http://schemas.microsoft.com/office/drawing/2014/main" id="{875944F9-A200-38C0-AF54-496C6DFC6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028" y="2147484"/>
            <a:ext cx="248053" cy="248053"/>
          </a:xfrm>
          <a:prstGeom prst="rect">
            <a:avLst/>
          </a:prstGeom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525F76A2-4752-B817-E302-176C3C31A6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75315" y="2145103"/>
            <a:ext cx="248053" cy="248053"/>
          </a:xfrm>
          <a:prstGeom prst="rect">
            <a:avLst/>
          </a:prstGeom>
        </p:spPr>
      </p:pic>
      <p:pic>
        <p:nvPicPr>
          <p:cNvPr id="29" name="그래픽 28">
            <a:extLst>
              <a:ext uri="{FF2B5EF4-FFF2-40B4-BE49-F238E27FC236}">
                <a16:creationId xmlns:a16="http://schemas.microsoft.com/office/drawing/2014/main" id="{5C19E000-3F4E-7BD8-DA71-A72C9BB26F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028" y="3191274"/>
            <a:ext cx="231160" cy="231160"/>
          </a:xfrm>
          <a:prstGeom prst="rect">
            <a:avLst/>
          </a:prstGeom>
        </p:spPr>
      </p:pic>
      <p:pic>
        <p:nvPicPr>
          <p:cNvPr id="30" name="그래픽 29">
            <a:extLst>
              <a:ext uri="{FF2B5EF4-FFF2-40B4-BE49-F238E27FC236}">
                <a16:creationId xmlns:a16="http://schemas.microsoft.com/office/drawing/2014/main" id="{5C0AD854-72BB-2E7F-C820-4C952A9750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7598" y="3193039"/>
            <a:ext cx="225770" cy="225770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9FA98742-389D-233E-35DC-B8095A37D6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9186" y="4249196"/>
            <a:ext cx="251702" cy="251702"/>
          </a:xfrm>
          <a:prstGeom prst="rect">
            <a:avLst/>
          </a:prstGeom>
        </p:spPr>
      </p:pic>
      <p:pic>
        <p:nvPicPr>
          <p:cNvPr id="32" name="그래픽 31">
            <a:extLst>
              <a:ext uri="{FF2B5EF4-FFF2-40B4-BE49-F238E27FC236}">
                <a16:creationId xmlns:a16="http://schemas.microsoft.com/office/drawing/2014/main" id="{69ADEF5C-71BD-B671-241A-3F5DF6024C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5315" y="4249196"/>
            <a:ext cx="206010" cy="225770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4947DDDC-5F8E-AD91-3EF3-B4AFEFEFFD59}"/>
              </a:ext>
            </a:extLst>
          </p:cNvPr>
          <p:cNvGrpSpPr/>
          <p:nvPr/>
        </p:nvGrpSpPr>
        <p:grpSpPr>
          <a:xfrm>
            <a:off x="5060495" y="2104967"/>
            <a:ext cx="4383918" cy="936000"/>
            <a:chOff x="461082" y="2452057"/>
            <a:chExt cx="4205163" cy="936000"/>
          </a:xfrm>
        </p:grpSpPr>
        <p:sp>
          <p:nvSpPr>
            <p:cNvPr id="36" name="직사각형 9">
              <a:extLst>
                <a:ext uri="{FF2B5EF4-FFF2-40B4-BE49-F238E27FC236}">
                  <a16:creationId xmlns:a16="http://schemas.microsoft.com/office/drawing/2014/main" id="{C81BA899-54DC-876E-2428-E7AA8E1EC6B3}"/>
                </a:ext>
              </a:extLst>
            </p:cNvPr>
            <p:cNvSpPr/>
            <p:nvPr/>
          </p:nvSpPr>
          <p:spPr bwMode="auto">
            <a:xfrm>
              <a:off x="461082" y="2452057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 트래픽 전략 구축 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채널 믹스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(YouTube · Instagram ·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검색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) &amp;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예산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시뮬레이션하여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최적화 된 트래픽 전략을 구축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  <p:sp>
          <p:nvSpPr>
            <p:cNvPr id="37" name="직사각형 9">
              <a:extLst>
                <a:ext uri="{FF2B5EF4-FFF2-40B4-BE49-F238E27FC236}">
                  <a16:creationId xmlns:a16="http://schemas.microsoft.com/office/drawing/2014/main" id="{737AEB37-2967-7EB5-6FF0-871801B7D960}"/>
                </a:ext>
              </a:extLst>
            </p:cNvPr>
            <p:cNvSpPr/>
            <p:nvPr/>
          </p:nvSpPr>
          <p:spPr bwMode="auto">
            <a:xfrm>
              <a:off x="2649000" y="2452057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콘텐츠 크리에이티브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최고의 실력을 가진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PD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들이 참여하여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후킹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스크립트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숏폼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배너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·LP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등을 직접 제작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C65243E-C273-1C6B-FEA3-8F68158E50D9}"/>
              </a:ext>
            </a:extLst>
          </p:cNvPr>
          <p:cNvGrpSpPr/>
          <p:nvPr/>
        </p:nvGrpSpPr>
        <p:grpSpPr>
          <a:xfrm>
            <a:off x="5060495" y="3157721"/>
            <a:ext cx="4383918" cy="936000"/>
            <a:chOff x="461082" y="2452056"/>
            <a:chExt cx="4205163" cy="936000"/>
          </a:xfrm>
        </p:grpSpPr>
        <p:sp>
          <p:nvSpPr>
            <p:cNvPr id="39" name="직사각형 9">
              <a:extLst>
                <a:ext uri="{FF2B5EF4-FFF2-40B4-BE49-F238E27FC236}">
                  <a16:creationId xmlns:a16="http://schemas.microsoft.com/office/drawing/2014/main" id="{E9522ADE-E41D-062A-0D21-176FBA80667B}"/>
                </a:ext>
              </a:extLst>
            </p:cNvPr>
            <p:cNvSpPr/>
            <p:nvPr/>
          </p:nvSpPr>
          <p:spPr bwMode="auto">
            <a:xfrm>
              <a:off x="461082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</a:t>
              </a:r>
              <a:r>
                <a:rPr lang="ko-KR" altLang="en-US" sz="1100" b="1" dirty="0" err="1">
                  <a:solidFill>
                    <a:srgbClr val="539DFF"/>
                  </a:solidFill>
                </a:rPr>
                <a:t>웨비나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 시나리오 제작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오랜 노하우를 바탕으로 한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웨비나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스토리라인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CTA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타이밍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안정적 라이브 강의 세팅</a:t>
              </a:r>
            </a:p>
          </p:txBody>
        </p:sp>
        <p:sp>
          <p:nvSpPr>
            <p:cNvPr id="40" name="직사각형 9">
              <a:extLst>
                <a:ext uri="{FF2B5EF4-FFF2-40B4-BE49-F238E27FC236}">
                  <a16:creationId xmlns:a16="http://schemas.microsoft.com/office/drawing/2014/main" id="{92218C20-DDE8-DDBA-A352-A65F107D54D6}"/>
                </a:ext>
              </a:extLst>
            </p:cNvPr>
            <p:cNvSpPr/>
            <p:nvPr/>
          </p:nvSpPr>
          <p:spPr bwMode="auto">
            <a:xfrm>
              <a:off x="2649000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</a:t>
              </a:r>
              <a:r>
                <a:rPr lang="ko-KR" altLang="en-US" sz="1100" b="1" dirty="0" err="1">
                  <a:solidFill>
                    <a:srgbClr val="539DFF"/>
                  </a:solidFill>
                </a:rPr>
                <a:t>전환율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 최적화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lvl="1" indent="-171450"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산출된 데이터를 바탕으로 랜딩페이지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폼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체크아웃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UX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분석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&amp;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개선을 통해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전활율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최적화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A8C8355-7F88-1F6A-C8B0-08948CE1BE2B}"/>
              </a:ext>
            </a:extLst>
          </p:cNvPr>
          <p:cNvGrpSpPr/>
          <p:nvPr/>
        </p:nvGrpSpPr>
        <p:grpSpPr>
          <a:xfrm>
            <a:off x="5060495" y="4210475"/>
            <a:ext cx="4383918" cy="936000"/>
            <a:chOff x="461082" y="2452056"/>
            <a:chExt cx="4205163" cy="936000"/>
          </a:xfrm>
        </p:grpSpPr>
        <p:sp>
          <p:nvSpPr>
            <p:cNvPr id="42" name="직사각형 9">
              <a:extLst>
                <a:ext uri="{FF2B5EF4-FFF2-40B4-BE49-F238E27FC236}">
                  <a16:creationId xmlns:a16="http://schemas.microsoft.com/office/drawing/2014/main" id="{8F946218-1284-6C48-4EEE-2B99B957417A}"/>
                </a:ext>
              </a:extLst>
            </p:cNvPr>
            <p:cNvSpPr/>
            <p:nvPr/>
          </p:nvSpPr>
          <p:spPr bwMode="auto">
            <a:xfrm>
              <a:off x="461082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CRM &amp; 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리마케팅 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이메일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카톡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SMS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자동 시퀀스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장바구니 이탈 복구 등 매출 극대화</a:t>
              </a:r>
            </a:p>
          </p:txBody>
        </p:sp>
        <p:sp>
          <p:nvSpPr>
            <p:cNvPr id="43" name="직사각형 9">
              <a:extLst>
                <a:ext uri="{FF2B5EF4-FFF2-40B4-BE49-F238E27FC236}">
                  <a16:creationId xmlns:a16="http://schemas.microsoft.com/office/drawing/2014/main" id="{8AF37E49-0BFC-D5EF-AB1A-679ACB2FED2E}"/>
                </a:ext>
              </a:extLst>
            </p:cNvPr>
            <p:cNvSpPr/>
            <p:nvPr/>
          </p:nvSpPr>
          <p:spPr bwMode="auto">
            <a:xfrm>
              <a:off x="2649000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</a:t>
              </a:r>
              <a:r>
                <a:rPr lang="ko-KR" altLang="en-US" sz="1100" b="1" dirty="0" err="1">
                  <a:solidFill>
                    <a:srgbClr val="539DFF"/>
                  </a:solidFill>
                </a:rPr>
                <a:t>퍼널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 분석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altLang="ko-KR" sz="1000" spc="-30" dirty="0">
                  <a:solidFill>
                    <a:srgbClr val="3D3D3D"/>
                  </a:solidFill>
                </a:rPr>
                <a:t>GA4 ·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파이어베이스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BI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툴 연동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KPI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리포트 등 구축한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퍼널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분석 및 개선</a:t>
              </a:r>
            </a:p>
          </p:txBody>
        </p:sp>
      </p:grpSp>
      <p:pic>
        <p:nvPicPr>
          <p:cNvPr id="45" name="그래픽 44">
            <a:extLst>
              <a:ext uri="{FF2B5EF4-FFF2-40B4-BE49-F238E27FC236}">
                <a16:creationId xmlns:a16="http://schemas.microsoft.com/office/drawing/2014/main" id="{3179B773-0933-D1E4-415C-93B0F5E240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15910" y="2140141"/>
            <a:ext cx="253015" cy="253015"/>
          </a:xfrm>
          <a:prstGeom prst="rect">
            <a:avLst/>
          </a:prstGeom>
        </p:spPr>
      </p:pic>
      <p:pic>
        <p:nvPicPr>
          <p:cNvPr id="46" name="그래픽 45">
            <a:extLst>
              <a:ext uri="{FF2B5EF4-FFF2-40B4-BE49-F238E27FC236}">
                <a16:creationId xmlns:a16="http://schemas.microsoft.com/office/drawing/2014/main" id="{E21FA069-D4DB-24DE-26A4-8C949C56841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93701" y="2140142"/>
            <a:ext cx="231584" cy="231584"/>
          </a:xfrm>
          <a:prstGeom prst="rect">
            <a:avLst/>
          </a:prstGeom>
        </p:spPr>
      </p:pic>
      <p:pic>
        <p:nvPicPr>
          <p:cNvPr id="47" name="그래픽 46">
            <a:extLst>
              <a:ext uri="{FF2B5EF4-FFF2-40B4-BE49-F238E27FC236}">
                <a16:creationId xmlns:a16="http://schemas.microsoft.com/office/drawing/2014/main" id="{B9B8E3D2-0907-47D1-9F96-DBC7D89904A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94478" y="3191274"/>
            <a:ext cx="253015" cy="253015"/>
          </a:xfrm>
          <a:prstGeom prst="rect">
            <a:avLst/>
          </a:prstGeom>
        </p:spPr>
      </p:pic>
      <p:pic>
        <p:nvPicPr>
          <p:cNvPr id="48" name="그래픽 47">
            <a:extLst>
              <a:ext uri="{FF2B5EF4-FFF2-40B4-BE49-F238E27FC236}">
                <a16:creationId xmlns:a16="http://schemas.microsoft.com/office/drawing/2014/main" id="{EB129052-C847-5C5D-647C-A254C241921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78985" y="3191274"/>
            <a:ext cx="217742" cy="217742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E92F8ACA-2AC0-52BE-6229-41DF47D8D85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94478" y="4249196"/>
            <a:ext cx="251702" cy="251702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B0F8766B-56E0-C001-1551-272F156A84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75634" y="4249196"/>
            <a:ext cx="205152" cy="20515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1A2A279-0C2E-57CA-1EFE-D8787FD7A70C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 err="1">
                <a:solidFill>
                  <a:srgbClr val="3D3D3D"/>
                </a:solidFill>
              </a:rPr>
              <a:t>시스템노바는</a:t>
            </a:r>
            <a:r>
              <a:rPr lang="ko-KR" altLang="en-US" sz="1400" b="1" dirty="0">
                <a:solidFill>
                  <a:srgbClr val="3D3D3D"/>
                </a:solidFill>
              </a:rPr>
              <a:t> 초보 강사도 손쉽게 </a:t>
            </a:r>
            <a:r>
              <a:rPr lang="en-US" altLang="ko-KR" sz="1400" b="1" dirty="0">
                <a:solidFill>
                  <a:srgbClr val="3D3D3D"/>
                </a:solidFill>
              </a:rPr>
              <a:t>D2C 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플랫폼을 구축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운영할 수 있도록 지원하며</a:t>
            </a:r>
            <a:r>
              <a:rPr lang="en-US" altLang="ko-KR" sz="1400" b="1" dirty="0">
                <a:solidFill>
                  <a:srgbClr val="3D3D3D"/>
                </a:solidFill>
              </a:rPr>
              <a:t>, TITAN</a:t>
            </a:r>
            <a:r>
              <a:rPr lang="ko-KR" altLang="en-US" sz="1400" b="1" dirty="0">
                <a:solidFill>
                  <a:srgbClr val="3D3D3D"/>
                </a:solidFill>
              </a:rPr>
              <a:t>의 검증된 </a:t>
            </a:r>
            <a:r>
              <a:rPr lang="ko-KR" altLang="en-US" sz="1400" b="1" dirty="0" err="1">
                <a:solidFill>
                  <a:srgbClr val="3D3D3D"/>
                </a:solidFill>
              </a:rPr>
              <a:t>세일즈퍼널</a:t>
            </a:r>
            <a:r>
              <a:rPr lang="ko-KR" altLang="en-US" sz="1400" b="1" dirty="0">
                <a:solidFill>
                  <a:srgbClr val="3D3D3D"/>
                </a:solidFill>
              </a:rPr>
              <a:t> 구조를 그대로 이식해 단기간에 가시화된 성과를 만들어낼 수 있는 차별화된 서비스를 제공하고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2023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24294-89F6-DE25-D9D8-F74F1587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740BCD-9C13-2B15-8928-EFF90EC44D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제공서비스 상세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3E2464-1816-700F-A1B0-2EED3881F2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EC26C-A7A1-2B76-257D-00502D79BD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50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710D71-7AB9-9232-599C-D58BCF178D0B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온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모바일 광고대행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992277-2FB5-6D44-65D8-2879769012D7}"/>
              </a:ext>
            </a:extLst>
          </p:cNvPr>
          <p:cNvSpPr/>
          <p:nvPr/>
        </p:nvSpPr>
        <p:spPr>
          <a:xfrm>
            <a:off x="5061000" y="1700213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강사퍼스널</a:t>
            </a:r>
            <a:r>
              <a:rPr lang="ko-KR" altLang="en-US" sz="1200" b="1" dirty="0">
                <a:solidFill>
                  <a:schemeClr val="bg1"/>
                </a:solidFill>
              </a:rPr>
              <a:t> 브랜딩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D232F03-3297-133F-E4B1-8F3DA30DD09A}"/>
              </a:ext>
            </a:extLst>
          </p:cNvPr>
          <p:cNvGrpSpPr/>
          <p:nvPr/>
        </p:nvGrpSpPr>
        <p:grpSpPr>
          <a:xfrm>
            <a:off x="461082" y="2104967"/>
            <a:ext cx="4383918" cy="936000"/>
            <a:chOff x="461082" y="2452057"/>
            <a:chExt cx="4205163" cy="936000"/>
          </a:xfrm>
        </p:grpSpPr>
        <p:sp>
          <p:nvSpPr>
            <p:cNvPr id="7" name="직사각형 9">
              <a:extLst>
                <a:ext uri="{FF2B5EF4-FFF2-40B4-BE49-F238E27FC236}">
                  <a16:creationId xmlns:a16="http://schemas.microsoft.com/office/drawing/2014/main" id="{7D197854-5D12-0250-A4DF-C9D25901476A}"/>
                </a:ext>
              </a:extLst>
            </p:cNvPr>
            <p:cNvSpPr/>
            <p:nvPr/>
          </p:nvSpPr>
          <p:spPr bwMode="auto">
            <a:xfrm>
              <a:off x="461082" y="2452057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 광고 채널 세팅 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altLang="ko-KR" sz="1000" spc="-30" dirty="0">
                  <a:solidFill>
                    <a:srgbClr val="3D3D3D"/>
                  </a:solidFill>
                </a:rPr>
                <a:t>Meta Ads, </a:t>
              </a:r>
              <a:r>
                <a:rPr lang="en-US" altLang="ko-KR" sz="1000" spc="-30" dirty="0" err="1">
                  <a:solidFill>
                    <a:srgbClr val="3D3D3D"/>
                  </a:solidFill>
                </a:rPr>
                <a:t>GDN·Naver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 SA, TikTok Ads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등 최적의 광고 채널 세팅 진행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  <p:sp>
          <p:nvSpPr>
            <p:cNvPr id="8" name="직사각형 9">
              <a:extLst>
                <a:ext uri="{FF2B5EF4-FFF2-40B4-BE49-F238E27FC236}">
                  <a16:creationId xmlns:a16="http://schemas.microsoft.com/office/drawing/2014/main" id="{545236C4-BACD-66C4-C570-230CB0EBF25C}"/>
                </a:ext>
              </a:extLst>
            </p:cNvPr>
            <p:cNvSpPr/>
            <p:nvPr/>
          </p:nvSpPr>
          <p:spPr bwMode="auto">
            <a:xfrm>
              <a:off x="2649000" y="2452057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타겟 디테일링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관심사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리타게팅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Look-alike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등 디테일한 광고 세팅을 통해 광고 성과를 최적화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02B933-2BFE-C8AF-DCA2-F9B390DBAAFB}"/>
              </a:ext>
            </a:extLst>
          </p:cNvPr>
          <p:cNvGrpSpPr/>
          <p:nvPr/>
        </p:nvGrpSpPr>
        <p:grpSpPr>
          <a:xfrm>
            <a:off x="461082" y="3157721"/>
            <a:ext cx="4383918" cy="936000"/>
            <a:chOff x="461082" y="2452056"/>
            <a:chExt cx="4205163" cy="936000"/>
          </a:xfrm>
        </p:grpSpPr>
        <p:sp>
          <p:nvSpPr>
            <p:cNvPr id="11" name="직사각형 9">
              <a:extLst>
                <a:ext uri="{FF2B5EF4-FFF2-40B4-BE49-F238E27FC236}">
                  <a16:creationId xmlns:a16="http://schemas.microsoft.com/office/drawing/2014/main" id="{5711DC6C-AE9A-62FB-BA73-AA85E77B45BE}"/>
                </a:ext>
              </a:extLst>
            </p:cNvPr>
            <p:cNvSpPr/>
            <p:nvPr/>
          </p:nvSpPr>
          <p:spPr bwMode="auto">
            <a:xfrm>
              <a:off x="461082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</a:t>
              </a:r>
              <a:r>
                <a:rPr lang="ko-KR" altLang="en-US" sz="1100" b="1" dirty="0" err="1">
                  <a:solidFill>
                    <a:srgbClr val="539DFF"/>
                  </a:solidFill>
                </a:rPr>
                <a:t>크레이티브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 제작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영상 소재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이미지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캐러셀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높은 전환을 유도하는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카피라이팅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등 광고 크리에이티브 기획 및 제작</a:t>
              </a:r>
            </a:p>
          </p:txBody>
        </p:sp>
        <p:sp>
          <p:nvSpPr>
            <p:cNvPr id="12" name="직사각형 9">
              <a:extLst>
                <a:ext uri="{FF2B5EF4-FFF2-40B4-BE49-F238E27FC236}">
                  <a16:creationId xmlns:a16="http://schemas.microsoft.com/office/drawing/2014/main" id="{06496C1C-F624-2C2E-214E-C299DE748D57}"/>
                </a:ext>
              </a:extLst>
            </p:cNvPr>
            <p:cNvSpPr/>
            <p:nvPr/>
          </p:nvSpPr>
          <p:spPr bwMode="auto">
            <a:xfrm>
              <a:off x="2649000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예산 운영 기능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lvl="1" indent="-171450">
                <a:buFont typeface="Wingdings" panose="05000000000000000000" pitchFamily="2" charset="2"/>
                <a:buChar char="§"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설정한 예산에 맞춰 실시간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ROAS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추적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자동 입찰 전략 등 광고 최적화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D9715CF-7769-3B60-C35C-3F3408C0F66F}"/>
              </a:ext>
            </a:extLst>
          </p:cNvPr>
          <p:cNvGrpSpPr/>
          <p:nvPr/>
        </p:nvGrpSpPr>
        <p:grpSpPr>
          <a:xfrm>
            <a:off x="461082" y="4210475"/>
            <a:ext cx="4383918" cy="936000"/>
            <a:chOff x="461082" y="2452056"/>
            <a:chExt cx="4205163" cy="936000"/>
          </a:xfrm>
        </p:grpSpPr>
        <p:sp>
          <p:nvSpPr>
            <p:cNvPr id="14" name="직사각형 9">
              <a:extLst>
                <a:ext uri="{FF2B5EF4-FFF2-40B4-BE49-F238E27FC236}">
                  <a16:creationId xmlns:a16="http://schemas.microsoft.com/office/drawing/2014/main" id="{8E69F509-D53F-FABC-F55C-2F746CF3F896}"/>
                </a:ext>
              </a:extLst>
            </p:cNvPr>
            <p:cNvSpPr/>
            <p:nvPr/>
          </p:nvSpPr>
          <p:spPr bwMode="auto">
            <a:xfrm>
              <a:off x="461082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성과 리포트 제공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일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주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월별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KPI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분석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개선 액션 플랜 작성 등 신뢰도 높은 광고 성과 리포트  제공</a:t>
              </a:r>
            </a:p>
          </p:txBody>
        </p:sp>
        <p:sp>
          <p:nvSpPr>
            <p:cNvPr id="15" name="직사각형 9">
              <a:extLst>
                <a:ext uri="{FF2B5EF4-FFF2-40B4-BE49-F238E27FC236}">
                  <a16:creationId xmlns:a16="http://schemas.microsoft.com/office/drawing/2014/main" id="{BA438D99-A3A2-C5DB-2529-935DA6C0E60C}"/>
                </a:ext>
              </a:extLst>
            </p:cNvPr>
            <p:cNvSpPr/>
            <p:nvPr/>
          </p:nvSpPr>
          <p:spPr bwMode="auto">
            <a:xfrm>
              <a:off x="2649000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법적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· 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플랫폼 가이드 수립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교육 광고 심의 대응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개인정보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저작권 체크 등 대응하기 힘든 법적 규제에 대응 지원</a:t>
              </a:r>
            </a:p>
          </p:txBody>
        </p:sp>
      </p:grpSp>
      <p:pic>
        <p:nvPicPr>
          <p:cNvPr id="31" name="그래픽 30">
            <a:extLst>
              <a:ext uri="{FF2B5EF4-FFF2-40B4-BE49-F238E27FC236}">
                <a16:creationId xmlns:a16="http://schemas.microsoft.com/office/drawing/2014/main" id="{97C42C27-F5F4-CC0D-B2B8-A3690FDEB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186" y="4249196"/>
            <a:ext cx="251702" cy="251702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9486B276-5A75-7B03-80BF-1FAF784A14FB}"/>
              </a:ext>
            </a:extLst>
          </p:cNvPr>
          <p:cNvGrpSpPr/>
          <p:nvPr/>
        </p:nvGrpSpPr>
        <p:grpSpPr>
          <a:xfrm>
            <a:off x="5060495" y="2104967"/>
            <a:ext cx="4383918" cy="936000"/>
            <a:chOff x="461082" y="2452057"/>
            <a:chExt cx="4205163" cy="936000"/>
          </a:xfrm>
        </p:grpSpPr>
        <p:sp>
          <p:nvSpPr>
            <p:cNvPr id="36" name="직사각형 9">
              <a:extLst>
                <a:ext uri="{FF2B5EF4-FFF2-40B4-BE49-F238E27FC236}">
                  <a16:creationId xmlns:a16="http://schemas.microsoft.com/office/drawing/2014/main" id="{B9D76CA1-2C68-3878-9DE2-9A9B75B10823}"/>
                </a:ext>
              </a:extLst>
            </p:cNvPr>
            <p:cNvSpPr/>
            <p:nvPr/>
          </p:nvSpPr>
          <p:spPr bwMode="auto">
            <a:xfrm>
              <a:off x="461082" y="2452057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PR &amp; 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미디어 지원 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인터뷰 섭외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팟캐스트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세미나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콘퍼런스 출연 등을 통해 강사 영향력을 빠르게 확대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  <p:sp>
          <p:nvSpPr>
            <p:cNvPr id="37" name="직사각형 9">
              <a:extLst>
                <a:ext uri="{FF2B5EF4-FFF2-40B4-BE49-F238E27FC236}">
                  <a16:creationId xmlns:a16="http://schemas.microsoft.com/office/drawing/2014/main" id="{FF2A467E-1BE0-2F1B-89FE-503C0CBFE936}"/>
                </a:ext>
              </a:extLst>
            </p:cNvPr>
            <p:cNvSpPr/>
            <p:nvPr/>
          </p:nvSpPr>
          <p:spPr bwMode="auto">
            <a:xfrm>
              <a:off x="2649000" y="2452057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SNS &amp; 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콘텐츠 설계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강사의 아이덴티티를 설정하고 유튜브 채널 기획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릴스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쇼츠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블로그 시리즈 등을 설계</a:t>
              </a:r>
              <a:endParaRPr lang="en-US" altLang="ko-KR" sz="1000" spc="-30" dirty="0">
                <a:solidFill>
                  <a:srgbClr val="3D3D3D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9638073-C5B6-101F-C6BD-B1CCD28AC4E7}"/>
              </a:ext>
            </a:extLst>
          </p:cNvPr>
          <p:cNvGrpSpPr/>
          <p:nvPr/>
        </p:nvGrpSpPr>
        <p:grpSpPr>
          <a:xfrm>
            <a:off x="5060495" y="3157721"/>
            <a:ext cx="4383918" cy="936000"/>
            <a:chOff x="461082" y="2452056"/>
            <a:chExt cx="4205163" cy="936000"/>
          </a:xfrm>
        </p:grpSpPr>
        <p:sp>
          <p:nvSpPr>
            <p:cNvPr id="39" name="직사각형 9">
              <a:extLst>
                <a:ext uri="{FF2B5EF4-FFF2-40B4-BE49-F238E27FC236}">
                  <a16:creationId xmlns:a16="http://schemas.microsoft.com/office/drawing/2014/main" id="{EE3869CC-7042-1D9F-A915-CFD4A69BF62E}"/>
                </a:ext>
              </a:extLst>
            </p:cNvPr>
            <p:cNvSpPr/>
            <p:nvPr/>
          </p:nvSpPr>
          <p:spPr bwMode="auto">
            <a:xfrm>
              <a:off x="461082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</a:t>
              </a:r>
              <a:r>
                <a:rPr lang="ko-KR" altLang="en-US" sz="1100" b="1" dirty="0" err="1">
                  <a:solidFill>
                    <a:srgbClr val="539DFF"/>
                  </a:solidFill>
                </a:rPr>
                <a:t>팬덤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 구축 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멤버십 구축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네이버 프리미엄 콘텐츠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오프라인 팬미팅 기획 등을 통해 강사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팬덤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구축 지원</a:t>
              </a:r>
            </a:p>
          </p:txBody>
        </p:sp>
        <p:sp>
          <p:nvSpPr>
            <p:cNvPr id="40" name="직사각형 9">
              <a:extLst>
                <a:ext uri="{FF2B5EF4-FFF2-40B4-BE49-F238E27FC236}">
                  <a16:creationId xmlns:a16="http://schemas.microsoft.com/office/drawing/2014/main" id="{BD0C1D58-22E3-6F90-1053-2DF5E5A9D99A}"/>
                </a:ext>
              </a:extLst>
            </p:cNvPr>
            <p:cNvSpPr/>
            <p:nvPr/>
          </p:nvSpPr>
          <p:spPr bwMode="auto">
            <a:xfrm>
              <a:off x="2649000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브랜드 아이덴티티 확립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lvl="1" indent="-171450">
                <a:buFont typeface="Wingdings" panose="05000000000000000000" pitchFamily="2" charset="2"/>
                <a:buChar char="§"/>
                <a:defRPr/>
              </a:pPr>
              <a:r>
                <a:rPr lang="en-US" altLang="ko-KR" sz="1000" spc="-30" dirty="0">
                  <a:solidFill>
                    <a:srgbClr val="3D3D3D"/>
                  </a:solidFill>
                </a:rPr>
                <a:t>BI·CI,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톤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&amp;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매너 가이드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시그니처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컬러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브랜드 폰트 등 균일한 브랜드 아이덴티티 설정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B997489-59A1-94C7-90B7-70E7E55DD882}"/>
              </a:ext>
            </a:extLst>
          </p:cNvPr>
          <p:cNvGrpSpPr/>
          <p:nvPr/>
        </p:nvGrpSpPr>
        <p:grpSpPr>
          <a:xfrm>
            <a:off x="5060495" y="4210475"/>
            <a:ext cx="4383918" cy="936000"/>
            <a:chOff x="461082" y="2452056"/>
            <a:chExt cx="4205163" cy="936000"/>
          </a:xfrm>
        </p:grpSpPr>
        <p:sp>
          <p:nvSpPr>
            <p:cNvPr id="42" name="직사각형 9">
              <a:extLst>
                <a:ext uri="{FF2B5EF4-FFF2-40B4-BE49-F238E27FC236}">
                  <a16:creationId xmlns:a16="http://schemas.microsoft.com/office/drawing/2014/main" id="{844F778B-7B65-3B97-7DB0-FBE13A46045A}"/>
                </a:ext>
              </a:extLst>
            </p:cNvPr>
            <p:cNvSpPr/>
            <p:nvPr/>
          </p:nvSpPr>
          <p:spPr bwMode="auto">
            <a:xfrm>
              <a:off x="461082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  퍼스널 브랜드 키트 제작 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브랜드 아이덴티티에 맞춘 퀄리티 높은 템플릿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슬라이드 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·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굿즈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패키지 기획 및 제작</a:t>
              </a:r>
            </a:p>
          </p:txBody>
        </p:sp>
        <p:sp>
          <p:nvSpPr>
            <p:cNvPr id="43" name="직사각형 9">
              <a:extLst>
                <a:ext uri="{FF2B5EF4-FFF2-40B4-BE49-F238E27FC236}">
                  <a16:creationId xmlns:a16="http://schemas.microsoft.com/office/drawing/2014/main" id="{4A2717A8-3DB8-0654-F772-4D8336E93ABE}"/>
                </a:ext>
              </a:extLst>
            </p:cNvPr>
            <p:cNvSpPr/>
            <p:nvPr/>
          </p:nvSpPr>
          <p:spPr bwMode="auto">
            <a:xfrm>
              <a:off x="2649000" y="2452056"/>
              <a:ext cx="2017245" cy="93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39DFF"/>
              </a:solidFill>
              <a:miter lim="800000"/>
              <a:headEnd/>
              <a:tailEnd/>
            </a:ln>
            <a:effectLst/>
          </p:spPr>
          <p:txBody>
            <a:bodyPr vert="horz" wrap="square" lIns="72000" tIns="72000" rIns="72000" bIns="720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lvl="1" defTabSz="429814">
                <a:spcAft>
                  <a:spcPts val="400"/>
                </a:spcAft>
                <a:defRPr/>
              </a:pPr>
              <a:r>
                <a:rPr lang="ko-KR" altLang="en-US" sz="1100" b="1" dirty="0">
                  <a:solidFill>
                    <a:srgbClr val="539DFF"/>
                  </a:solidFill>
                </a:rPr>
                <a:t>      프로필 </a:t>
              </a:r>
              <a:r>
                <a:rPr lang="en-US" altLang="ko-KR" sz="1100" b="1" dirty="0">
                  <a:solidFill>
                    <a:srgbClr val="539DFF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539DFF"/>
                  </a:solidFill>
                </a:rPr>
                <a:t>비주얼 제작</a:t>
              </a:r>
              <a:endParaRPr lang="en-US" altLang="ko-KR" sz="1100" b="1" dirty="0">
                <a:solidFill>
                  <a:srgbClr val="539DFF"/>
                </a:solidFill>
              </a:endParaRPr>
            </a:p>
            <a:p>
              <a:pPr marL="171450" marR="0" lvl="1" indent="-171450" fontAlgn="auto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000" spc="-30" dirty="0">
                  <a:solidFill>
                    <a:srgbClr val="3D3D3D"/>
                  </a:solidFill>
                </a:rPr>
                <a:t>제휴 스튜디오를 통해 프로필 촬영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인트로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영상</a:t>
              </a:r>
              <a:r>
                <a:rPr lang="en-US" altLang="ko-KR" sz="1000" spc="-30" dirty="0">
                  <a:solidFill>
                    <a:srgbClr val="3D3D3D"/>
                  </a:solidFill>
                </a:rPr>
                <a:t>, </a:t>
              </a:r>
              <a:r>
                <a:rPr lang="ko-KR" altLang="en-US" sz="1000" spc="-30" dirty="0" err="1">
                  <a:solidFill>
                    <a:srgbClr val="3D3D3D"/>
                  </a:solidFill>
                </a:rPr>
                <a:t>키비주얼</a:t>
              </a:r>
              <a:r>
                <a:rPr lang="ko-KR" altLang="en-US" sz="1000" spc="-30" dirty="0">
                  <a:solidFill>
                    <a:srgbClr val="3D3D3D"/>
                  </a:solidFill>
                </a:rPr>
                <a:t> 디자인을 통해 독자적인 브랜드 확립 지원</a:t>
              </a:r>
            </a:p>
          </p:txBody>
        </p:sp>
      </p:grpSp>
      <p:pic>
        <p:nvPicPr>
          <p:cNvPr id="16" name="그래픽 15">
            <a:extLst>
              <a:ext uri="{FF2B5EF4-FFF2-40B4-BE49-F238E27FC236}">
                <a16:creationId xmlns:a16="http://schemas.microsoft.com/office/drawing/2014/main" id="{9AFA85E6-9496-E050-5807-AE17B6DF1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86" y="3197416"/>
            <a:ext cx="231584" cy="231584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59B9084A-8BE6-11D6-D927-63B2759ABF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5748" y="3220419"/>
            <a:ext cx="185577" cy="185577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86435494-2220-7B32-BA63-C8C4A1C427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5748" y="2140141"/>
            <a:ext cx="206028" cy="206028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3C8D194D-5986-D250-84D7-12FBD7A8C3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9187" y="2114339"/>
            <a:ext cx="257388" cy="257388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7039F264-034A-44B5-0649-86808B0E4C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8354" y="4249196"/>
            <a:ext cx="223422" cy="223422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8D119481-D5B5-B147-A3CA-8F491CA963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03002" y="2161882"/>
            <a:ext cx="243178" cy="243178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9678E2B6-707F-6DD3-4EE7-BEED4C29CD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67122" y="2130460"/>
            <a:ext cx="247541" cy="247541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1FC9B7BA-13A0-0A94-5945-DA29490F23C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22011" y="3220419"/>
            <a:ext cx="196635" cy="196635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0236F9E0-C150-8C1C-38C6-F90E53F9048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78658" y="3192995"/>
            <a:ext cx="236005" cy="236005"/>
          </a:xfrm>
          <a:prstGeom prst="rect">
            <a:avLst/>
          </a:prstGeom>
        </p:spPr>
      </p:pic>
      <p:pic>
        <p:nvPicPr>
          <p:cNvPr id="33" name="그래픽 32">
            <a:extLst>
              <a:ext uri="{FF2B5EF4-FFF2-40B4-BE49-F238E27FC236}">
                <a16:creationId xmlns:a16="http://schemas.microsoft.com/office/drawing/2014/main" id="{8546EC8F-25D5-78B6-146B-7AD0F9B939C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116632" y="4234030"/>
            <a:ext cx="229548" cy="229548"/>
          </a:xfrm>
          <a:prstGeom prst="rect">
            <a:avLst/>
          </a:prstGeom>
        </p:spPr>
      </p:pic>
      <p:pic>
        <p:nvPicPr>
          <p:cNvPr id="34" name="그래픽 33">
            <a:extLst>
              <a:ext uri="{FF2B5EF4-FFF2-40B4-BE49-F238E27FC236}">
                <a16:creationId xmlns:a16="http://schemas.microsoft.com/office/drawing/2014/main" id="{F19C1A39-3495-C62D-B866-62A19E12B86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67122" y="4249749"/>
            <a:ext cx="211553" cy="21155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F43C74D-9100-427D-995D-366860E20B5D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뿐만 아니라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광고 집행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콘텐츠 제작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성과 관리부터 강사의 퍼스널 브랜딩까지</a:t>
            </a:r>
            <a:r>
              <a:rPr lang="en-US" altLang="ko-KR" sz="1400" b="1" dirty="0">
                <a:solidFill>
                  <a:srgbClr val="3D3D3D"/>
                </a:solidFill>
              </a:rPr>
              <a:t>, D2C Skill-to-Earn </a:t>
            </a:r>
            <a:r>
              <a:rPr lang="ko-KR" altLang="en-US" sz="1400" b="1" dirty="0">
                <a:solidFill>
                  <a:srgbClr val="3D3D3D"/>
                </a:solidFill>
              </a:rPr>
              <a:t>플랫폼 운영에 필요한 모든 마케팅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브랜딩 기능을 원스톱으로 제공하고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1832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사다리꼴 6">
            <a:extLst>
              <a:ext uri="{FF2B5EF4-FFF2-40B4-BE49-F238E27FC236}">
                <a16:creationId xmlns:a16="http://schemas.microsoft.com/office/drawing/2014/main" id="{B4BFDB6F-23C7-EF32-5C32-4B29099073EB}"/>
              </a:ext>
            </a:extLst>
          </p:cNvPr>
          <p:cNvSpPr/>
          <p:nvPr/>
        </p:nvSpPr>
        <p:spPr>
          <a:xfrm rot="5400000">
            <a:off x="4815343" y="3985682"/>
            <a:ext cx="2895846" cy="216513"/>
          </a:xfrm>
          <a:prstGeom prst="trapezoid">
            <a:avLst>
              <a:gd name="adj" fmla="val 668746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err="1">
              <a:solidFill>
                <a:schemeClr val="tx2">
                  <a:lumMod val="50000"/>
                </a:schemeClr>
              </a:solidFill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4269BFD-6CA2-218F-BA19-91091E260C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자체 </a:t>
            </a:r>
            <a:r>
              <a:rPr lang="en-US" altLang="ko-KR" dirty="0"/>
              <a:t>ERP </a:t>
            </a:r>
            <a:r>
              <a:rPr lang="ko-KR" altLang="en-US" dirty="0"/>
              <a:t>시스템 기반 파트너사 관리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BB03B8-181E-ADC8-9F3A-7A35359E5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35EF1E-3001-7D19-6FF7-E6374C7BD2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51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A96341-3DD4-FDB3-B4CC-A474F85C72D6}"/>
              </a:ext>
            </a:extLst>
          </p:cNvPr>
          <p:cNvSpPr/>
          <p:nvPr/>
        </p:nvSpPr>
        <p:spPr>
          <a:xfrm>
            <a:off x="452999" y="1700213"/>
            <a:ext cx="9000564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자체 구축 </a:t>
            </a:r>
            <a:r>
              <a:rPr lang="en-US" altLang="ko-KR" sz="1200" b="1" dirty="0">
                <a:solidFill>
                  <a:schemeClr val="bg1"/>
                </a:solidFill>
              </a:rPr>
              <a:t>ERP </a:t>
            </a:r>
            <a:r>
              <a:rPr lang="ko-KR" altLang="en-US" sz="1200" b="1" dirty="0">
                <a:solidFill>
                  <a:schemeClr val="bg1"/>
                </a:solidFill>
              </a:rPr>
              <a:t>기반 투명하고 효율적인 운영 및 관리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2BBF5D-B9B7-3481-47E1-090A568F2E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999" y="2369121"/>
            <a:ext cx="2671202" cy="15058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5AE0D699-010F-8EC9-5287-68BF2C17EC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438" y="3990943"/>
            <a:ext cx="2671203" cy="14739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F0408D16-91B8-4CDA-29D2-E62C234F6ED0}"/>
              </a:ext>
            </a:extLst>
          </p:cNvPr>
          <p:cNvSpPr txBox="1"/>
          <p:nvPr/>
        </p:nvSpPr>
        <p:spPr>
          <a:xfrm>
            <a:off x="452437" y="2033848"/>
            <a:ext cx="2671202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실제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ERP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구축 화면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79E49DD6-96D0-0FA4-457E-0188E440791F}"/>
              </a:ext>
            </a:extLst>
          </p:cNvPr>
          <p:cNvGrpSpPr/>
          <p:nvPr/>
        </p:nvGrpSpPr>
        <p:grpSpPr>
          <a:xfrm>
            <a:off x="3397418" y="2049258"/>
            <a:ext cx="6055582" cy="341806"/>
            <a:chOff x="3291631" y="2049258"/>
            <a:chExt cx="6161370" cy="341806"/>
          </a:xfrm>
        </p:grpSpPr>
        <p:grpSp>
          <p:nvGrpSpPr>
            <p:cNvPr id="79" name="그룹 35">
              <a:extLst>
                <a:ext uri="{FF2B5EF4-FFF2-40B4-BE49-F238E27FC236}">
                  <a16:creationId xmlns:a16="http://schemas.microsoft.com/office/drawing/2014/main" id="{075E007B-3E6D-460D-B5F2-E0A8541CCED8}"/>
                </a:ext>
              </a:extLst>
            </p:cNvPr>
            <p:cNvGrpSpPr/>
            <p:nvPr/>
          </p:nvGrpSpPr>
          <p:grpSpPr>
            <a:xfrm>
              <a:off x="6069361" y="2049258"/>
              <a:ext cx="3383640" cy="341804"/>
              <a:chOff x="4300632" y="2537609"/>
              <a:chExt cx="5116374" cy="408173"/>
            </a:xfrm>
          </p:grpSpPr>
          <p:sp>
            <p:nvSpPr>
              <p:cNvPr id="80" name="직각 삼각형 36">
                <a:extLst>
                  <a:ext uri="{FF2B5EF4-FFF2-40B4-BE49-F238E27FC236}">
                    <a16:creationId xmlns:a16="http://schemas.microsoft.com/office/drawing/2014/main" id="{93E15FB7-A428-100F-7278-BDC903CE7A0A}"/>
                  </a:ext>
                </a:extLst>
              </p:cNvPr>
              <p:cNvSpPr/>
              <p:nvPr/>
            </p:nvSpPr>
            <p:spPr>
              <a:xfrm>
                <a:off x="8978020" y="2537609"/>
                <a:ext cx="438986" cy="408173"/>
              </a:xfrm>
              <a:prstGeom prst="rtTriangle">
                <a:avLst/>
              </a:prstGeom>
              <a:solidFill>
                <a:srgbClr val="4B6D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-50" normalizeH="0" baseline="0" noProof="0"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  <p:sp>
            <p:nvSpPr>
              <p:cNvPr id="81" name="직사각형 37">
                <a:extLst>
                  <a:ext uri="{FF2B5EF4-FFF2-40B4-BE49-F238E27FC236}">
                    <a16:creationId xmlns:a16="http://schemas.microsoft.com/office/drawing/2014/main" id="{27BAD740-FEF4-C18C-39F0-C6428128195A}"/>
                  </a:ext>
                </a:extLst>
              </p:cNvPr>
              <p:cNvSpPr/>
              <p:nvPr/>
            </p:nvSpPr>
            <p:spPr>
              <a:xfrm flipH="1">
                <a:off x="4400798" y="2669889"/>
                <a:ext cx="4577221" cy="275893"/>
              </a:xfrm>
              <a:prstGeom prst="rect">
                <a:avLst/>
              </a:prstGeom>
              <a:solidFill>
                <a:srgbClr val="4B6D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468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100" b="1" dirty="0">
                    <a:solidFill>
                      <a:schemeClr val="bg1"/>
                    </a:solidFill>
                  </a:rPr>
                  <a:t>주요 장점 및 강점</a:t>
                </a:r>
                <a:endParaRPr lang="en-US" altLang="ko-KR" sz="11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직각 삼각형 38">
                <a:extLst>
                  <a:ext uri="{FF2B5EF4-FFF2-40B4-BE49-F238E27FC236}">
                    <a16:creationId xmlns:a16="http://schemas.microsoft.com/office/drawing/2014/main" id="{F85DD751-C362-8ABA-B4BF-32E513A01122}"/>
                  </a:ext>
                </a:extLst>
              </p:cNvPr>
              <p:cNvSpPr/>
              <p:nvPr/>
            </p:nvSpPr>
            <p:spPr>
              <a:xfrm>
                <a:off x="4300632" y="2537609"/>
                <a:ext cx="438985" cy="408173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-5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</p:grpSp>
        <p:grpSp>
          <p:nvGrpSpPr>
            <p:cNvPr id="83" name="그룹 42">
              <a:extLst>
                <a:ext uri="{FF2B5EF4-FFF2-40B4-BE49-F238E27FC236}">
                  <a16:creationId xmlns:a16="http://schemas.microsoft.com/office/drawing/2014/main" id="{E6A67C14-4C80-1082-A580-91139C218A7C}"/>
                </a:ext>
              </a:extLst>
            </p:cNvPr>
            <p:cNvGrpSpPr/>
            <p:nvPr/>
          </p:nvGrpSpPr>
          <p:grpSpPr>
            <a:xfrm>
              <a:off x="3291631" y="2049258"/>
              <a:ext cx="2915914" cy="341806"/>
              <a:chOff x="-803063" y="4671716"/>
              <a:chExt cx="3784490" cy="408175"/>
            </a:xfrm>
          </p:grpSpPr>
          <p:sp>
            <p:nvSpPr>
              <p:cNvPr id="84" name="직사각형 39">
                <a:extLst>
                  <a:ext uri="{FF2B5EF4-FFF2-40B4-BE49-F238E27FC236}">
                    <a16:creationId xmlns:a16="http://schemas.microsoft.com/office/drawing/2014/main" id="{168CDD32-964F-2C97-90F6-6377E83BACA1}"/>
                  </a:ext>
                </a:extLst>
              </p:cNvPr>
              <p:cNvSpPr/>
              <p:nvPr/>
            </p:nvSpPr>
            <p:spPr>
              <a:xfrm flipH="1">
                <a:off x="-803063" y="4803998"/>
                <a:ext cx="3454595" cy="275893"/>
              </a:xfrm>
              <a:prstGeom prst="rect">
                <a:avLst/>
              </a:prstGeom>
              <a:solidFill>
                <a:srgbClr val="539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16000" rtlCol="0" anchor="ctr"/>
              <a:lstStyle/>
              <a:p>
                <a:pPr algn="ctr" defTabSz="914400" latinLnBrk="1">
                  <a:defRPr/>
                </a:pPr>
                <a:r>
                  <a:rPr lang="ko-KR" altLang="en-US" sz="1100" b="1" dirty="0">
                    <a:solidFill>
                      <a:schemeClr val="bg1"/>
                    </a:solidFill>
                  </a:rPr>
                  <a:t>주요 기능</a:t>
                </a:r>
                <a:endParaRPr lang="en-US" altLang="ko-KR" sz="11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직각 삼각형 40">
                <a:extLst>
                  <a:ext uri="{FF2B5EF4-FFF2-40B4-BE49-F238E27FC236}">
                    <a16:creationId xmlns:a16="http://schemas.microsoft.com/office/drawing/2014/main" id="{4694D687-80B3-F127-36A8-757FAFDB0B7C}"/>
                  </a:ext>
                </a:extLst>
              </p:cNvPr>
              <p:cNvSpPr/>
              <p:nvPr/>
            </p:nvSpPr>
            <p:spPr>
              <a:xfrm>
                <a:off x="2651532" y="4671716"/>
                <a:ext cx="329895" cy="408175"/>
              </a:xfrm>
              <a:prstGeom prst="rtTriangle">
                <a:avLst/>
              </a:prstGeom>
              <a:solidFill>
                <a:srgbClr val="539D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-5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</p:grpSp>
      </p:grpSp>
      <p:sp>
        <p:nvSpPr>
          <p:cNvPr id="108" name="사각형: 둥근 모서리 245">
            <a:extLst>
              <a:ext uri="{FF2B5EF4-FFF2-40B4-BE49-F238E27FC236}">
                <a16:creationId xmlns:a16="http://schemas.microsoft.com/office/drawing/2014/main" id="{CB012DC1-B5D6-F8C4-6B25-FBBD79394511}"/>
              </a:ext>
            </a:extLst>
          </p:cNvPr>
          <p:cNvSpPr/>
          <p:nvPr/>
        </p:nvSpPr>
        <p:spPr>
          <a:xfrm>
            <a:off x="3397419" y="2468135"/>
            <a:ext cx="2795143" cy="729139"/>
          </a:xfrm>
          <a:prstGeom prst="roundRect">
            <a:avLst>
              <a:gd name="adj" fmla="val 8797"/>
            </a:avLst>
          </a:prstGeom>
          <a:solidFill>
            <a:srgbClr val="75B1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800" tIns="29250" rIns="8280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ko-KR" altLang="en-US" b="1" dirty="0">
                <a:solidFill>
                  <a:schemeClr val="bg1"/>
                </a:solidFill>
              </a:rPr>
              <a:t>매출</a:t>
            </a:r>
            <a:r>
              <a:rPr lang="en-US" altLang="ko-KR" b="1" dirty="0">
                <a:solidFill>
                  <a:schemeClr val="bg1"/>
                </a:solidFill>
              </a:rPr>
              <a:t>·</a:t>
            </a:r>
            <a:r>
              <a:rPr lang="ko-KR" altLang="en-US" b="1" dirty="0">
                <a:solidFill>
                  <a:schemeClr val="bg1"/>
                </a:solidFill>
              </a:rPr>
              <a:t>정산 관리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기간별 매출 요약</a:t>
            </a:r>
            <a:r>
              <a:rPr lang="en-US" altLang="ko-KR" sz="800" spc="-30" dirty="0">
                <a:solidFill>
                  <a:schemeClr val="bg1"/>
                </a:solidFill>
              </a:rPr>
              <a:t>(</a:t>
            </a:r>
            <a:r>
              <a:rPr lang="ko-KR" altLang="en-US" sz="800" spc="-30" dirty="0">
                <a:solidFill>
                  <a:schemeClr val="bg1"/>
                </a:solidFill>
              </a:rPr>
              <a:t>목표 대비 실적</a:t>
            </a:r>
            <a:r>
              <a:rPr lang="en-US" altLang="ko-KR" sz="800" spc="-30" dirty="0">
                <a:solidFill>
                  <a:schemeClr val="bg1"/>
                </a:solidFill>
              </a:rPr>
              <a:t>, </a:t>
            </a:r>
            <a:r>
              <a:rPr lang="ko-KR" altLang="en-US" sz="800" spc="-30" dirty="0">
                <a:solidFill>
                  <a:schemeClr val="bg1"/>
                </a:solidFill>
              </a:rPr>
              <a:t>환불</a:t>
            </a:r>
            <a:r>
              <a:rPr lang="en-US" altLang="ko-KR" sz="800" spc="-30" dirty="0">
                <a:solidFill>
                  <a:schemeClr val="bg1"/>
                </a:solidFill>
              </a:rPr>
              <a:t>, </a:t>
            </a:r>
            <a:r>
              <a:rPr lang="ko-KR" altLang="en-US" sz="800" spc="-30" dirty="0">
                <a:solidFill>
                  <a:schemeClr val="bg1"/>
                </a:solidFill>
              </a:rPr>
              <a:t>수수료 등</a:t>
            </a:r>
            <a:r>
              <a:rPr lang="en-US" altLang="ko-KR" sz="800" spc="-30" dirty="0">
                <a:solidFill>
                  <a:schemeClr val="bg1"/>
                </a:solidFill>
              </a:rPr>
              <a:t>)</a:t>
            </a:r>
            <a:r>
              <a:rPr lang="en-US" altLang="ko-KR" sz="900" spc="-30" dirty="0">
                <a:solidFill>
                  <a:schemeClr val="bg1"/>
                </a:solidFill>
              </a:rPr>
              <a:t> </a:t>
            </a:r>
            <a:r>
              <a:rPr lang="ko-KR" altLang="en-US" sz="900" spc="-30" dirty="0">
                <a:solidFill>
                  <a:schemeClr val="bg1"/>
                </a:solidFill>
              </a:rPr>
              <a:t>자동 집계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파트너 </a:t>
            </a:r>
            <a:r>
              <a:rPr lang="ko-KR" altLang="en-US" sz="900" spc="-30" dirty="0" err="1">
                <a:solidFill>
                  <a:schemeClr val="bg1"/>
                </a:solidFill>
              </a:rPr>
              <a:t>강사별</a:t>
            </a:r>
            <a:r>
              <a:rPr lang="ko-KR" altLang="en-US" sz="900" spc="-30" dirty="0">
                <a:solidFill>
                  <a:schemeClr val="bg1"/>
                </a:solidFill>
              </a:rPr>
              <a:t> </a:t>
            </a:r>
            <a:r>
              <a:rPr lang="ko-KR" altLang="en-US" sz="900" spc="-30" dirty="0" err="1">
                <a:solidFill>
                  <a:schemeClr val="bg1"/>
                </a:solidFill>
              </a:rPr>
              <a:t>정산액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정산 대상 강의 자동 계산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월간</a:t>
            </a:r>
            <a:r>
              <a:rPr lang="en-US" altLang="ko-KR" sz="900" spc="-30" dirty="0">
                <a:solidFill>
                  <a:schemeClr val="bg1"/>
                </a:solidFill>
              </a:rPr>
              <a:t>/</a:t>
            </a:r>
            <a:r>
              <a:rPr lang="ko-KR" altLang="en-US" sz="900" spc="-30" dirty="0">
                <a:solidFill>
                  <a:schemeClr val="bg1"/>
                </a:solidFill>
              </a:rPr>
              <a:t>일간 실적 추이 제공</a:t>
            </a:r>
          </a:p>
        </p:txBody>
      </p:sp>
      <p:sp>
        <p:nvSpPr>
          <p:cNvPr id="116" name="사각형: 둥근 모서리 245">
            <a:extLst>
              <a:ext uri="{FF2B5EF4-FFF2-40B4-BE49-F238E27FC236}">
                <a16:creationId xmlns:a16="http://schemas.microsoft.com/office/drawing/2014/main" id="{19347E66-7352-1339-8F98-3A0576081DE3}"/>
              </a:ext>
            </a:extLst>
          </p:cNvPr>
          <p:cNvSpPr/>
          <p:nvPr/>
        </p:nvSpPr>
        <p:spPr>
          <a:xfrm>
            <a:off x="3397419" y="3266252"/>
            <a:ext cx="2795143" cy="729139"/>
          </a:xfrm>
          <a:prstGeom prst="roundRect">
            <a:avLst>
              <a:gd name="adj" fmla="val 8797"/>
            </a:avLst>
          </a:prstGeom>
          <a:solidFill>
            <a:srgbClr val="75B1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800" tIns="29250" rIns="8280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ko-KR" altLang="en-US" b="1" dirty="0">
                <a:solidFill>
                  <a:schemeClr val="bg1"/>
                </a:solidFill>
              </a:rPr>
              <a:t>주문</a:t>
            </a:r>
            <a:r>
              <a:rPr lang="en-US" altLang="ko-KR" b="1" dirty="0">
                <a:solidFill>
                  <a:schemeClr val="bg1"/>
                </a:solidFill>
              </a:rPr>
              <a:t>·</a:t>
            </a:r>
            <a:r>
              <a:rPr lang="ko-KR" altLang="en-US" b="1" dirty="0">
                <a:solidFill>
                  <a:schemeClr val="bg1"/>
                </a:solidFill>
              </a:rPr>
              <a:t>결제 관리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일자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결제수단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플랫폼별 주문 내역 자동 수집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환불 여부</a:t>
            </a:r>
            <a:r>
              <a:rPr lang="en-US" altLang="ko-KR" sz="900" spc="-30" dirty="0">
                <a:solidFill>
                  <a:schemeClr val="bg1"/>
                </a:solidFill>
              </a:rPr>
              <a:t>, PG/</a:t>
            </a:r>
            <a:r>
              <a:rPr lang="ko-KR" altLang="en-US" sz="900" spc="-30" dirty="0">
                <a:solidFill>
                  <a:schemeClr val="bg1"/>
                </a:solidFill>
              </a:rPr>
              <a:t>노출 수수료</a:t>
            </a:r>
            <a:r>
              <a:rPr lang="en-US" altLang="ko-KR" sz="900" spc="-30" dirty="0">
                <a:solidFill>
                  <a:schemeClr val="bg1"/>
                </a:solidFill>
              </a:rPr>
              <a:t>, </a:t>
            </a:r>
            <a:r>
              <a:rPr lang="ko-KR" altLang="en-US" sz="900" spc="-30" dirty="0">
                <a:solidFill>
                  <a:schemeClr val="bg1"/>
                </a:solidFill>
              </a:rPr>
              <a:t>실수령액 자동 산출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주문 건별 상세 이력 확인</a:t>
            </a:r>
          </a:p>
        </p:txBody>
      </p:sp>
      <p:sp>
        <p:nvSpPr>
          <p:cNvPr id="117" name="사각형: 둥근 모서리 245">
            <a:extLst>
              <a:ext uri="{FF2B5EF4-FFF2-40B4-BE49-F238E27FC236}">
                <a16:creationId xmlns:a16="http://schemas.microsoft.com/office/drawing/2014/main" id="{6E78DF58-0CC1-D6EF-8160-AB583820CE6E}"/>
              </a:ext>
            </a:extLst>
          </p:cNvPr>
          <p:cNvSpPr/>
          <p:nvPr/>
        </p:nvSpPr>
        <p:spPr>
          <a:xfrm>
            <a:off x="3397419" y="4064369"/>
            <a:ext cx="2795143" cy="729139"/>
          </a:xfrm>
          <a:prstGeom prst="roundRect">
            <a:avLst>
              <a:gd name="adj" fmla="val 8797"/>
            </a:avLst>
          </a:prstGeom>
          <a:solidFill>
            <a:srgbClr val="75B1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800" tIns="29250" rIns="8280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ko-KR" altLang="en-US" b="1" dirty="0">
                <a:solidFill>
                  <a:schemeClr val="bg1"/>
                </a:solidFill>
              </a:rPr>
              <a:t>계약</a:t>
            </a:r>
            <a:r>
              <a:rPr lang="en-US" altLang="ko-KR" b="1" dirty="0">
                <a:solidFill>
                  <a:schemeClr val="bg1"/>
                </a:solidFill>
              </a:rPr>
              <a:t>·</a:t>
            </a:r>
            <a:r>
              <a:rPr lang="ko-KR" altLang="en-US" b="1" dirty="0">
                <a:solidFill>
                  <a:schemeClr val="bg1"/>
                </a:solidFill>
              </a:rPr>
              <a:t>플랫폼 관리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 err="1">
                <a:solidFill>
                  <a:schemeClr val="bg1"/>
                </a:solidFill>
              </a:rPr>
              <a:t>강사별</a:t>
            </a:r>
            <a:r>
              <a:rPr lang="ko-KR" altLang="en-US" sz="900" spc="-30" dirty="0">
                <a:solidFill>
                  <a:schemeClr val="bg1"/>
                </a:solidFill>
              </a:rPr>
              <a:t> 계약 상태</a:t>
            </a:r>
            <a:r>
              <a:rPr lang="en-US" altLang="ko-KR" sz="800" spc="-30" dirty="0">
                <a:solidFill>
                  <a:schemeClr val="bg1"/>
                </a:solidFill>
              </a:rPr>
              <a:t>(</a:t>
            </a:r>
            <a:r>
              <a:rPr lang="ko-KR" altLang="en-US" sz="800" spc="-30" dirty="0">
                <a:solidFill>
                  <a:schemeClr val="bg1"/>
                </a:solidFill>
              </a:rPr>
              <a:t>계약완료</a:t>
            </a:r>
            <a:r>
              <a:rPr lang="en-US" altLang="ko-KR" sz="800" spc="-30" dirty="0">
                <a:solidFill>
                  <a:schemeClr val="bg1"/>
                </a:solidFill>
              </a:rPr>
              <a:t>/</a:t>
            </a:r>
            <a:r>
              <a:rPr lang="ko-KR" altLang="en-US" sz="800" spc="-30" dirty="0">
                <a:solidFill>
                  <a:schemeClr val="bg1"/>
                </a:solidFill>
              </a:rPr>
              <a:t>만료</a:t>
            </a:r>
            <a:r>
              <a:rPr lang="en-US" altLang="ko-KR" sz="800" spc="-30" dirty="0">
                <a:solidFill>
                  <a:schemeClr val="bg1"/>
                </a:solidFill>
              </a:rPr>
              <a:t>/</a:t>
            </a:r>
            <a:r>
              <a:rPr lang="ko-KR" altLang="en-US" sz="800" spc="-30" dirty="0">
                <a:solidFill>
                  <a:schemeClr val="bg1"/>
                </a:solidFill>
              </a:rPr>
              <a:t>해지</a:t>
            </a:r>
            <a:r>
              <a:rPr lang="en-US" altLang="ko-KR" sz="800" spc="-30" dirty="0">
                <a:solidFill>
                  <a:schemeClr val="bg1"/>
                </a:solidFill>
              </a:rPr>
              <a:t>)</a:t>
            </a:r>
            <a:r>
              <a:rPr lang="en-US" altLang="ko-KR" sz="900" spc="-30" dirty="0">
                <a:solidFill>
                  <a:schemeClr val="bg1"/>
                </a:solidFill>
              </a:rPr>
              <a:t> </a:t>
            </a:r>
            <a:r>
              <a:rPr lang="ko-KR" altLang="en-US" sz="900" spc="-30" dirty="0" err="1">
                <a:solidFill>
                  <a:schemeClr val="bg1"/>
                </a:solidFill>
              </a:rPr>
              <a:t>트래킹</a:t>
            </a:r>
            <a:endParaRPr lang="ko-KR" altLang="en-US" sz="900" spc="-30" dirty="0">
              <a:solidFill>
                <a:schemeClr val="bg1"/>
              </a:solidFill>
            </a:endParaRP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 err="1">
                <a:solidFill>
                  <a:schemeClr val="bg1"/>
                </a:solidFill>
              </a:rPr>
              <a:t>강사별</a:t>
            </a:r>
            <a:r>
              <a:rPr lang="ko-KR" altLang="en-US" sz="900" spc="-30" dirty="0">
                <a:solidFill>
                  <a:schemeClr val="bg1"/>
                </a:solidFill>
              </a:rPr>
              <a:t> 적용 수수료 설정 및 </a:t>
            </a:r>
            <a:r>
              <a:rPr lang="en-US" altLang="ko-KR" sz="900" spc="-30" dirty="0">
                <a:solidFill>
                  <a:schemeClr val="bg1"/>
                </a:solidFill>
              </a:rPr>
              <a:t>Fee </a:t>
            </a:r>
            <a:r>
              <a:rPr lang="ko-KR" altLang="en-US" sz="900" spc="-30" dirty="0">
                <a:solidFill>
                  <a:schemeClr val="bg1"/>
                </a:solidFill>
              </a:rPr>
              <a:t>구조 관리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플랫폼별 수수료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정산 주기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약정 조건 등록 및 변경 기능</a:t>
            </a:r>
          </a:p>
        </p:txBody>
      </p:sp>
      <p:sp>
        <p:nvSpPr>
          <p:cNvPr id="118" name="사각형: 둥근 모서리 245">
            <a:extLst>
              <a:ext uri="{FF2B5EF4-FFF2-40B4-BE49-F238E27FC236}">
                <a16:creationId xmlns:a16="http://schemas.microsoft.com/office/drawing/2014/main" id="{B7412787-1BD0-D479-9E05-E34173A9EDFB}"/>
              </a:ext>
            </a:extLst>
          </p:cNvPr>
          <p:cNvSpPr/>
          <p:nvPr/>
        </p:nvSpPr>
        <p:spPr>
          <a:xfrm>
            <a:off x="3397419" y="4862486"/>
            <a:ext cx="2795143" cy="729139"/>
          </a:xfrm>
          <a:prstGeom prst="roundRect">
            <a:avLst>
              <a:gd name="adj" fmla="val 8797"/>
            </a:avLst>
          </a:prstGeom>
          <a:solidFill>
            <a:srgbClr val="75B1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800" tIns="29250" rIns="8280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ko-KR" altLang="en-US" b="1" dirty="0">
                <a:solidFill>
                  <a:schemeClr val="bg1"/>
                </a:solidFill>
              </a:rPr>
              <a:t>성과 통계 관리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기간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플랫폼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 err="1">
                <a:solidFill>
                  <a:schemeClr val="bg1"/>
                </a:solidFill>
              </a:rPr>
              <a:t>강사별</a:t>
            </a:r>
            <a:r>
              <a:rPr lang="ko-KR" altLang="en-US" sz="900" spc="-30" dirty="0">
                <a:solidFill>
                  <a:schemeClr val="bg1"/>
                </a:solidFill>
              </a:rPr>
              <a:t> 매출 상세 데이터 분석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 err="1">
                <a:solidFill>
                  <a:schemeClr val="bg1"/>
                </a:solidFill>
              </a:rPr>
              <a:t>무료전환수</a:t>
            </a:r>
            <a:r>
              <a:rPr lang="en-US" altLang="ko-KR" sz="900" spc="-30" dirty="0">
                <a:solidFill>
                  <a:schemeClr val="bg1"/>
                </a:solidFill>
              </a:rPr>
              <a:t>, </a:t>
            </a:r>
            <a:r>
              <a:rPr lang="ko-KR" altLang="en-US" sz="900" spc="-30" dirty="0" err="1">
                <a:solidFill>
                  <a:schemeClr val="bg1"/>
                </a:solidFill>
              </a:rPr>
              <a:t>환불수</a:t>
            </a:r>
            <a:r>
              <a:rPr lang="en-US" altLang="ko-KR" sz="900" spc="-30" dirty="0">
                <a:solidFill>
                  <a:schemeClr val="bg1"/>
                </a:solidFill>
              </a:rPr>
              <a:t>, PG</a:t>
            </a:r>
            <a:r>
              <a:rPr lang="ko-KR" altLang="en-US" sz="900" spc="-30" dirty="0">
                <a:solidFill>
                  <a:schemeClr val="bg1"/>
                </a:solidFill>
              </a:rPr>
              <a:t>수수료</a:t>
            </a:r>
            <a:r>
              <a:rPr lang="en-US" altLang="ko-KR" sz="900" spc="-30" dirty="0">
                <a:solidFill>
                  <a:schemeClr val="bg1"/>
                </a:solidFill>
              </a:rPr>
              <a:t>, </a:t>
            </a:r>
            <a:r>
              <a:rPr lang="ko-KR" altLang="en-US" sz="900" spc="-30" dirty="0">
                <a:solidFill>
                  <a:schemeClr val="bg1"/>
                </a:solidFill>
              </a:rPr>
              <a:t>등 항목별 비용 자동 분류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강의별 매출 추이 및 </a:t>
            </a:r>
            <a:r>
              <a:rPr lang="ko-KR" altLang="en-US" sz="900" spc="-30" dirty="0" err="1">
                <a:solidFill>
                  <a:schemeClr val="bg1"/>
                </a:solidFill>
              </a:rPr>
              <a:t>전환률</a:t>
            </a:r>
            <a:r>
              <a:rPr lang="ko-KR" altLang="en-US" sz="900" spc="-30" dirty="0">
                <a:solidFill>
                  <a:schemeClr val="bg1"/>
                </a:solidFill>
              </a:rPr>
              <a:t>  분석</a:t>
            </a:r>
          </a:p>
        </p:txBody>
      </p:sp>
      <p:sp>
        <p:nvSpPr>
          <p:cNvPr id="122" name="사각형: 둥근 모서리 245">
            <a:extLst>
              <a:ext uri="{FF2B5EF4-FFF2-40B4-BE49-F238E27FC236}">
                <a16:creationId xmlns:a16="http://schemas.microsoft.com/office/drawing/2014/main" id="{10A06940-FA66-CE10-8868-709E86CFC98F}"/>
              </a:ext>
            </a:extLst>
          </p:cNvPr>
          <p:cNvSpPr/>
          <p:nvPr/>
        </p:nvSpPr>
        <p:spPr>
          <a:xfrm>
            <a:off x="6412788" y="2468135"/>
            <a:ext cx="2975106" cy="729139"/>
          </a:xfrm>
          <a:prstGeom prst="roundRect">
            <a:avLst>
              <a:gd name="adj" fmla="val 8797"/>
            </a:avLst>
          </a:prstGeom>
          <a:solidFill>
            <a:srgbClr val="6F8AE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800" tIns="29250" rIns="8280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ko-KR" altLang="en-US" b="1" dirty="0">
                <a:solidFill>
                  <a:schemeClr val="bg1"/>
                </a:solidFill>
              </a:rPr>
              <a:t>투명한 운영 및 정산</a:t>
            </a:r>
            <a:r>
              <a:rPr lang="en-US" altLang="ko-KR" b="1" dirty="0">
                <a:solidFill>
                  <a:schemeClr val="bg1"/>
                </a:solidFill>
              </a:rPr>
              <a:t>, </a:t>
            </a:r>
            <a:r>
              <a:rPr lang="ko-KR" altLang="en-US" b="1" dirty="0">
                <a:solidFill>
                  <a:schemeClr val="bg1"/>
                </a:solidFill>
              </a:rPr>
              <a:t>신뢰성 강화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86400" lvl="1" indent="-86400"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 err="1">
                <a:solidFill>
                  <a:schemeClr val="bg1"/>
                </a:solidFill>
              </a:rPr>
              <a:t>시스템노바</a:t>
            </a:r>
            <a:r>
              <a:rPr lang="ko-KR" altLang="en-US" sz="900" spc="-30" dirty="0">
                <a:solidFill>
                  <a:schemeClr val="bg1"/>
                </a:solidFill>
              </a:rPr>
              <a:t> </a:t>
            </a:r>
            <a:r>
              <a:rPr lang="en-US" altLang="ko-KR" sz="900" spc="-30" dirty="0">
                <a:solidFill>
                  <a:schemeClr val="bg1"/>
                </a:solidFill>
              </a:rPr>
              <a:t>- </a:t>
            </a:r>
            <a:r>
              <a:rPr lang="ko-KR" altLang="en-US" sz="900" spc="-30" dirty="0">
                <a:solidFill>
                  <a:schemeClr val="bg1"/>
                </a:solidFill>
              </a:rPr>
              <a:t>파트너사 모두가 정확하고 투명한 정산 체계 확보</a:t>
            </a:r>
            <a:r>
              <a:rPr lang="en-US" altLang="ko-KR" sz="900" spc="-30" dirty="0">
                <a:solidFill>
                  <a:schemeClr val="bg1"/>
                </a:solidFill>
              </a:rPr>
              <a:t> </a:t>
            </a:r>
            <a:r>
              <a:rPr lang="ko-KR" altLang="en-US" sz="900" spc="-30" dirty="0">
                <a:solidFill>
                  <a:schemeClr val="bg1"/>
                </a:solidFill>
              </a:rPr>
              <a:t>가능</a:t>
            </a:r>
            <a:r>
              <a:rPr lang="en-US" altLang="ko-KR" sz="900" spc="-30" dirty="0">
                <a:solidFill>
                  <a:schemeClr val="bg1"/>
                </a:solidFill>
              </a:rPr>
              <a:t>, </a:t>
            </a:r>
            <a:r>
              <a:rPr lang="ko-KR" altLang="en-US" sz="900" spc="-30" dirty="0">
                <a:solidFill>
                  <a:schemeClr val="bg1"/>
                </a:solidFill>
              </a:rPr>
              <a:t>정산 오류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누락</a:t>
            </a:r>
            <a:r>
              <a:rPr lang="en-US" altLang="ko-KR" sz="900" spc="-30" dirty="0">
                <a:solidFill>
                  <a:schemeClr val="bg1"/>
                </a:solidFill>
              </a:rPr>
              <a:t> </a:t>
            </a:r>
            <a:r>
              <a:rPr lang="ko-KR" altLang="en-US" sz="900" spc="-30" dirty="0">
                <a:solidFill>
                  <a:schemeClr val="bg1"/>
                </a:solidFill>
              </a:rPr>
              <a:t>위험 최소화하여</a:t>
            </a:r>
            <a:r>
              <a:rPr lang="en-US" altLang="ko-KR" sz="900" spc="-30" dirty="0">
                <a:solidFill>
                  <a:schemeClr val="bg1"/>
                </a:solidFill>
              </a:rPr>
              <a:t> </a:t>
            </a:r>
            <a:r>
              <a:rPr lang="ko-KR" altLang="en-US" sz="900" spc="-30" dirty="0">
                <a:solidFill>
                  <a:schemeClr val="bg1"/>
                </a:solidFill>
              </a:rPr>
              <a:t>시스템적 신뢰 구축 가능</a:t>
            </a:r>
          </a:p>
        </p:txBody>
      </p:sp>
      <p:sp>
        <p:nvSpPr>
          <p:cNvPr id="123" name="사각형: 둥근 모서리 245">
            <a:extLst>
              <a:ext uri="{FF2B5EF4-FFF2-40B4-BE49-F238E27FC236}">
                <a16:creationId xmlns:a16="http://schemas.microsoft.com/office/drawing/2014/main" id="{F9AC1AA9-C4B3-E849-F06F-5F718EFFA613}"/>
              </a:ext>
            </a:extLst>
          </p:cNvPr>
          <p:cNvSpPr/>
          <p:nvPr/>
        </p:nvSpPr>
        <p:spPr>
          <a:xfrm>
            <a:off x="6412788" y="3266252"/>
            <a:ext cx="2975106" cy="729139"/>
          </a:xfrm>
          <a:prstGeom prst="roundRect">
            <a:avLst>
              <a:gd name="adj" fmla="val 8797"/>
            </a:avLst>
          </a:prstGeom>
          <a:solidFill>
            <a:srgbClr val="6F8AE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800" tIns="29250" rIns="8280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ko-KR" altLang="en-US" b="1" dirty="0">
                <a:solidFill>
                  <a:schemeClr val="bg1"/>
                </a:solidFill>
              </a:rPr>
              <a:t>운영 효율성 극대화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강의 사업 운영의 </a:t>
            </a:r>
            <a:r>
              <a:rPr lang="en-US" altLang="ko-KR" sz="900" spc="-30" dirty="0">
                <a:solidFill>
                  <a:schemeClr val="bg1"/>
                </a:solidFill>
              </a:rPr>
              <a:t>A~Z</a:t>
            </a:r>
            <a:r>
              <a:rPr lang="ko-KR" altLang="en-US" sz="900" spc="-30" dirty="0">
                <a:solidFill>
                  <a:schemeClr val="bg1"/>
                </a:solidFill>
              </a:rPr>
              <a:t>를 </a:t>
            </a:r>
            <a:r>
              <a:rPr lang="en-US" altLang="ko-KR" sz="900" spc="-30" dirty="0">
                <a:solidFill>
                  <a:schemeClr val="bg1"/>
                </a:solidFill>
              </a:rPr>
              <a:t>ERP</a:t>
            </a:r>
            <a:r>
              <a:rPr lang="ko-KR" altLang="en-US" sz="900" spc="-30" dirty="0">
                <a:solidFill>
                  <a:schemeClr val="bg1"/>
                </a:solidFill>
              </a:rPr>
              <a:t>가 자동화해 운영 리소스 절감</a:t>
            </a:r>
            <a:r>
              <a:rPr lang="en-US" altLang="ko-KR" sz="900" spc="-30" dirty="0">
                <a:solidFill>
                  <a:schemeClr val="bg1"/>
                </a:solidFill>
              </a:rPr>
              <a:t>, </a:t>
            </a:r>
            <a:r>
              <a:rPr lang="ko-KR" altLang="en-US" sz="900" spc="-30" dirty="0">
                <a:solidFill>
                  <a:schemeClr val="bg1"/>
                </a:solidFill>
              </a:rPr>
              <a:t>수작업 오류 제거</a:t>
            </a:r>
            <a:r>
              <a:rPr lang="en-US" altLang="ko-KR" sz="900" spc="-30" dirty="0">
                <a:solidFill>
                  <a:schemeClr val="bg1"/>
                </a:solidFill>
              </a:rPr>
              <a:t>, </a:t>
            </a:r>
            <a:r>
              <a:rPr lang="ko-KR" altLang="en-US" sz="900" spc="-30" dirty="0">
                <a:solidFill>
                  <a:schemeClr val="bg1"/>
                </a:solidFill>
              </a:rPr>
              <a:t>빠른 의사결정이 가능</a:t>
            </a:r>
          </a:p>
        </p:txBody>
      </p:sp>
      <p:sp>
        <p:nvSpPr>
          <p:cNvPr id="124" name="사각형: 둥근 모서리 245">
            <a:extLst>
              <a:ext uri="{FF2B5EF4-FFF2-40B4-BE49-F238E27FC236}">
                <a16:creationId xmlns:a16="http://schemas.microsoft.com/office/drawing/2014/main" id="{FB2223EB-19EC-7FBD-495D-2726C3C2BFBA}"/>
              </a:ext>
            </a:extLst>
          </p:cNvPr>
          <p:cNvSpPr/>
          <p:nvPr/>
        </p:nvSpPr>
        <p:spPr>
          <a:xfrm>
            <a:off x="6412788" y="4064369"/>
            <a:ext cx="2975106" cy="729139"/>
          </a:xfrm>
          <a:prstGeom prst="roundRect">
            <a:avLst>
              <a:gd name="adj" fmla="val 8797"/>
            </a:avLst>
          </a:prstGeom>
          <a:solidFill>
            <a:srgbClr val="6F8AE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800" tIns="29250" rIns="8280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ko-KR" altLang="en-US" b="1" dirty="0">
                <a:solidFill>
                  <a:schemeClr val="bg1"/>
                </a:solidFill>
              </a:rPr>
              <a:t>데이터 기반 의사결정</a:t>
            </a: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 err="1">
                <a:solidFill>
                  <a:schemeClr val="bg1"/>
                </a:solidFill>
              </a:rPr>
              <a:t>전환률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 err="1">
                <a:solidFill>
                  <a:schemeClr val="bg1"/>
                </a:solidFill>
              </a:rPr>
              <a:t>환불율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매출 흐름 등을 실시간으로 파악해광고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세일즈 전략을 데이터에 기반해  유기적으로 조율하고 최적화가 가능</a:t>
            </a:r>
          </a:p>
        </p:txBody>
      </p:sp>
      <p:sp>
        <p:nvSpPr>
          <p:cNvPr id="125" name="사각형: 둥근 모서리 245">
            <a:extLst>
              <a:ext uri="{FF2B5EF4-FFF2-40B4-BE49-F238E27FC236}">
                <a16:creationId xmlns:a16="http://schemas.microsoft.com/office/drawing/2014/main" id="{AE34FC60-AEE5-73FF-1764-2F6859CB1AC6}"/>
              </a:ext>
            </a:extLst>
          </p:cNvPr>
          <p:cNvSpPr/>
          <p:nvPr/>
        </p:nvSpPr>
        <p:spPr>
          <a:xfrm>
            <a:off x="6412788" y="4862486"/>
            <a:ext cx="2975106" cy="729139"/>
          </a:xfrm>
          <a:prstGeom prst="roundRect">
            <a:avLst>
              <a:gd name="adj" fmla="val 8797"/>
            </a:avLst>
          </a:prstGeom>
          <a:solidFill>
            <a:srgbClr val="6F8AE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800" tIns="29250" rIns="82800" bIns="2925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ko-KR" altLang="en-US" b="1" dirty="0">
                <a:solidFill>
                  <a:schemeClr val="bg1"/>
                </a:solidFill>
              </a:rPr>
              <a:t>리스크 관리 및 컴플라이언스 강화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86400" lvl="1" indent="-86400">
              <a:buFont typeface="Wingdings" panose="05000000000000000000" pitchFamily="2" charset="2"/>
              <a:buChar char="§"/>
              <a:defRPr/>
            </a:pPr>
            <a:r>
              <a:rPr lang="ko-KR" altLang="en-US" sz="900" spc="-30" dirty="0">
                <a:solidFill>
                  <a:schemeClr val="bg1"/>
                </a:solidFill>
              </a:rPr>
              <a:t>계약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결제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정산</a:t>
            </a:r>
            <a:r>
              <a:rPr lang="en-US" altLang="ko-KR" sz="900" spc="-30" dirty="0">
                <a:solidFill>
                  <a:schemeClr val="bg1"/>
                </a:solidFill>
              </a:rPr>
              <a:t>·</a:t>
            </a:r>
            <a:r>
              <a:rPr lang="ko-KR" altLang="en-US" sz="900" spc="-30" dirty="0">
                <a:solidFill>
                  <a:schemeClr val="bg1"/>
                </a:solidFill>
              </a:rPr>
              <a:t>환불 등 민감한 항목들을 투명하고 일관된 기준으로 관리해  분쟁 리스크를 최소화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A0FA8C3-6980-0878-3037-41093122D1E9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 err="1">
                <a:solidFill>
                  <a:srgbClr val="3D3D3D"/>
                </a:solidFill>
              </a:rPr>
              <a:t>시스템노바는</a:t>
            </a:r>
            <a:r>
              <a:rPr lang="ko-KR" altLang="en-US" sz="1400" b="1" dirty="0">
                <a:solidFill>
                  <a:srgbClr val="3D3D3D"/>
                </a:solidFill>
              </a:rPr>
              <a:t> 자체 </a:t>
            </a:r>
            <a:r>
              <a:rPr lang="en-US" altLang="ko-KR" sz="1400" b="1" dirty="0">
                <a:solidFill>
                  <a:srgbClr val="3D3D3D"/>
                </a:solidFill>
              </a:rPr>
              <a:t>ERP </a:t>
            </a:r>
            <a:r>
              <a:rPr lang="ko-KR" altLang="en-US" sz="1400" b="1" dirty="0">
                <a:solidFill>
                  <a:srgbClr val="3D3D3D"/>
                </a:solidFill>
              </a:rPr>
              <a:t>기반으로 파트너사의 핵심 </a:t>
            </a:r>
            <a:r>
              <a:rPr lang="en-US" altLang="ko-KR" sz="1400" b="1" dirty="0">
                <a:solidFill>
                  <a:srgbClr val="3D3D3D"/>
                </a:solidFill>
              </a:rPr>
              <a:t>KPI</a:t>
            </a:r>
            <a:r>
              <a:rPr lang="ko-KR" altLang="en-US" sz="1400" b="1" dirty="0">
                <a:solidFill>
                  <a:srgbClr val="3D3D3D"/>
                </a:solidFill>
              </a:rPr>
              <a:t>를 통합 모니터링하고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투명한 정산</a:t>
            </a:r>
            <a:r>
              <a:rPr lang="en-US" altLang="ko-KR" sz="1400" b="1" dirty="0">
                <a:solidFill>
                  <a:srgbClr val="3D3D3D"/>
                </a:solidFill>
              </a:rPr>
              <a:t>·</a:t>
            </a:r>
            <a:r>
              <a:rPr lang="ko-KR" altLang="en-US" sz="1400" b="1" dirty="0">
                <a:solidFill>
                  <a:srgbClr val="3D3D3D"/>
                </a:solidFill>
              </a:rPr>
              <a:t>운영 체계를 구축해 파트너사와의 높은 신뢰기반을 구축하고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실적 데이터에 따라 적시에 최적의 솔루션을 제공해 파트너사의 지속적 성장을 지원하고 있습니다</a:t>
            </a:r>
          </a:p>
        </p:txBody>
      </p:sp>
    </p:spTree>
    <p:extLst>
      <p:ext uri="{BB962C8B-B14F-4D97-AF65-F5344CB8AC3E}">
        <p14:creationId xmlns:p14="http://schemas.microsoft.com/office/powerpoint/2010/main" val="30522679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D5A5-E4CE-BB64-EB05-F49CB256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직사각형 1121">
            <a:extLst>
              <a:ext uri="{FF2B5EF4-FFF2-40B4-BE49-F238E27FC236}">
                <a16:creationId xmlns:a16="http://schemas.microsoft.com/office/drawing/2014/main" id="{875315C7-3204-BF09-FFEF-7F3D35A69A7B}"/>
              </a:ext>
            </a:extLst>
          </p:cNvPr>
          <p:cNvSpPr/>
          <p:nvPr/>
        </p:nvSpPr>
        <p:spPr>
          <a:xfrm>
            <a:off x="5315783" y="3555737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20,384</a:t>
            </a:r>
            <a:r>
              <a:rPr lang="ko-KR" altLang="en-US" sz="1050" b="1" dirty="0">
                <a:solidFill>
                  <a:schemeClr val="bg1"/>
                </a:solidFill>
              </a:rPr>
              <a:t>명</a:t>
            </a:r>
            <a:endParaRPr lang="en-US" altLang="ko-KR" sz="500" b="1" dirty="0">
              <a:solidFill>
                <a:schemeClr val="bg1"/>
              </a:solidFill>
            </a:endParaRPr>
          </a:p>
        </p:txBody>
      </p:sp>
      <p:sp>
        <p:nvSpPr>
          <p:cNvPr id="136" name="직사각형 1121">
            <a:extLst>
              <a:ext uri="{FF2B5EF4-FFF2-40B4-BE49-F238E27FC236}">
                <a16:creationId xmlns:a16="http://schemas.microsoft.com/office/drawing/2014/main" id="{0FA061BC-9C93-099D-18AA-C70C52A75F8A}"/>
              </a:ext>
            </a:extLst>
          </p:cNvPr>
          <p:cNvSpPr/>
          <p:nvPr/>
        </p:nvSpPr>
        <p:spPr>
          <a:xfrm>
            <a:off x="6745148" y="3555737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2.0</a:t>
            </a:r>
            <a:r>
              <a:rPr lang="en-US" altLang="ko-KR" sz="1050" b="1" dirty="0">
                <a:solidFill>
                  <a:schemeClr val="bg1"/>
                </a:solidFill>
              </a:rPr>
              <a:t>%</a:t>
            </a:r>
            <a:endParaRPr lang="en-US" altLang="ko-KR" sz="500" b="1" dirty="0">
              <a:solidFill>
                <a:schemeClr val="bg1"/>
              </a:solidFill>
            </a:endParaRPr>
          </a:p>
        </p:txBody>
      </p:sp>
      <p:sp>
        <p:nvSpPr>
          <p:cNvPr id="141" name="직사각형 1121">
            <a:extLst>
              <a:ext uri="{FF2B5EF4-FFF2-40B4-BE49-F238E27FC236}">
                <a16:creationId xmlns:a16="http://schemas.microsoft.com/office/drawing/2014/main" id="{525DDA6A-871E-6B42-F62C-407D18C045D2}"/>
              </a:ext>
            </a:extLst>
          </p:cNvPr>
          <p:cNvSpPr/>
          <p:nvPr/>
        </p:nvSpPr>
        <p:spPr>
          <a:xfrm>
            <a:off x="5315783" y="4754875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utfit ExtraBold"/>
                <a:ea typeface="Pretendard ExtraBold"/>
                <a:cs typeface="+mn-cs"/>
              </a:rPr>
              <a:t>3,979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명</a:t>
            </a: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42" name="직사각형 1121">
            <a:extLst>
              <a:ext uri="{FF2B5EF4-FFF2-40B4-BE49-F238E27FC236}">
                <a16:creationId xmlns:a16="http://schemas.microsoft.com/office/drawing/2014/main" id="{8C80D1CF-4BD8-FB58-A7F7-2BB89042EBA7}"/>
              </a:ext>
            </a:extLst>
          </p:cNvPr>
          <p:cNvSpPr/>
          <p:nvPr/>
        </p:nvSpPr>
        <p:spPr>
          <a:xfrm>
            <a:off x="6745148" y="4754875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utfit ExtraBold"/>
                <a:ea typeface="Pretendard ExtraBold"/>
                <a:cs typeface="+mn-cs"/>
              </a:rPr>
              <a:t>8.1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%</a:t>
            </a: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43" name="직사각형 1121">
            <a:extLst>
              <a:ext uri="{FF2B5EF4-FFF2-40B4-BE49-F238E27FC236}">
                <a16:creationId xmlns:a16="http://schemas.microsoft.com/office/drawing/2014/main" id="{FC12CA52-EB7F-08B3-99E6-DAB87727D112}"/>
              </a:ext>
            </a:extLst>
          </p:cNvPr>
          <p:cNvSpPr/>
          <p:nvPr/>
        </p:nvSpPr>
        <p:spPr>
          <a:xfrm>
            <a:off x="5315783" y="2367099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110,645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명</a:t>
            </a: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44" name="직사각형 1121">
            <a:extLst>
              <a:ext uri="{FF2B5EF4-FFF2-40B4-BE49-F238E27FC236}">
                <a16:creationId xmlns:a16="http://schemas.microsoft.com/office/drawing/2014/main" id="{FA377FCD-7372-B267-47E3-F23C7F9E31FF}"/>
              </a:ext>
            </a:extLst>
          </p:cNvPr>
          <p:cNvSpPr/>
          <p:nvPr/>
        </p:nvSpPr>
        <p:spPr>
          <a:xfrm>
            <a:off x="6745148" y="2367099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2.2</a:t>
            </a:r>
            <a:r>
              <a:rPr lang="en-US" altLang="ko-KR" sz="1050" b="1" dirty="0">
                <a:solidFill>
                  <a:prstClr val="white"/>
                </a:solidFill>
              </a:rPr>
              <a:t>%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45" name="직사각형 1121">
            <a:extLst>
              <a:ext uri="{FF2B5EF4-FFF2-40B4-BE49-F238E27FC236}">
                <a16:creationId xmlns:a16="http://schemas.microsoft.com/office/drawing/2014/main" id="{640CDB6F-65DB-E459-81F1-17B94FB260A2}"/>
              </a:ext>
            </a:extLst>
          </p:cNvPr>
          <p:cNvSpPr/>
          <p:nvPr/>
        </p:nvSpPr>
        <p:spPr>
          <a:xfrm>
            <a:off x="5315783" y="2975089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11,662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명</a:t>
            </a: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46" name="직사각형 1121">
            <a:extLst>
              <a:ext uri="{FF2B5EF4-FFF2-40B4-BE49-F238E27FC236}">
                <a16:creationId xmlns:a16="http://schemas.microsoft.com/office/drawing/2014/main" id="{6681ED2B-8A60-A830-5AFA-2BF97A49EAAF}"/>
              </a:ext>
            </a:extLst>
          </p:cNvPr>
          <p:cNvSpPr/>
          <p:nvPr/>
        </p:nvSpPr>
        <p:spPr>
          <a:xfrm>
            <a:off x="6745148" y="2975089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5.2</a:t>
            </a:r>
            <a:r>
              <a:rPr lang="en-US" altLang="ko-KR" sz="1050" b="1" dirty="0">
                <a:solidFill>
                  <a:prstClr val="white"/>
                </a:solidFill>
              </a:rPr>
              <a:t>%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47" name="직사각형 1121">
            <a:extLst>
              <a:ext uri="{FF2B5EF4-FFF2-40B4-BE49-F238E27FC236}">
                <a16:creationId xmlns:a16="http://schemas.microsoft.com/office/drawing/2014/main" id="{7200A2BA-E459-A5C3-D052-D55B81C97D59}"/>
              </a:ext>
            </a:extLst>
          </p:cNvPr>
          <p:cNvSpPr/>
          <p:nvPr/>
        </p:nvSpPr>
        <p:spPr>
          <a:xfrm>
            <a:off x="5315783" y="4153010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8,189</a:t>
            </a:r>
            <a:r>
              <a:rPr lang="ko-KR" altLang="en-US" sz="1050" b="1" dirty="0">
                <a:solidFill>
                  <a:prstClr val="white"/>
                </a:solidFill>
              </a:rPr>
              <a:t>명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48" name="직사각형 1121">
            <a:extLst>
              <a:ext uri="{FF2B5EF4-FFF2-40B4-BE49-F238E27FC236}">
                <a16:creationId xmlns:a16="http://schemas.microsoft.com/office/drawing/2014/main" id="{DE343D71-2929-1470-5F4D-4B12074CD707}"/>
              </a:ext>
            </a:extLst>
          </p:cNvPr>
          <p:cNvSpPr/>
          <p:nvPr/>
        </p:nvSpPr>
        <p:spPr>
          <a:xfrm>
            <a:off x="6745148" y="4153010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4.5</a:t>
            </a:r>
            <a:r>
              <a:rPr lang="en-US" altLang="ko-KR" sz="1050" b="1" dirty="0">
                <a:solidFill>
                  <a:prstClr val="white"/>
                </a:solidFill>
              </a:rPr>
              <a:t>%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49" name="직사각형 1121">
            <a:extLst>
              <a:ext uri="{FF2B5EF4-FFF2-40B4-BE49-F238E27FC236}">
                <a16:creationId xmlns:a16="http://schemas.microsoft.com/office/drawing/2014/main" id="{D2F5F907-90BE-D727-303F-D2E247BE787D}"/>
              </a:ext>
            </a:extLst>
          </p:cNvPr>
          <p:cNvSpPr/>
          <p:nvPr/>
        </p:nvSpPr>
        <p:spPr>
          <a:xfrm>
            <a:off x="5315783" y="5341375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5,124</a:t>
            </a:r>
            <a:r>
              <a:rPr lang="ko-KR" altLang="en-US" sz="1050" b="1" dirty="0">
                <a:solidFill>
                  <a:prstClr val="white"/>
                </a:solidFill>
              </a:rPr>
              <a:t>명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50" name="직사각형 1121">
            <a:extLst>
              <a:ext uri="{FF2B5EF4-FFF2-40B4-BE49-F238E27FC236}">
                <a16:creationId xmlns:a16="http://schemas.microsoft.com/office/drawing/2014/main" id="{A925C4A7-C4AB-C982-C132-3BD48F1784AE}"/>
              </a:ext>
            </a:extLst>
          </p:cNvPr>
          <p:cNvSpPr/>
          <p:nvPr/>
        </p:nvSpPr>
        <p:spPr>
          <a:xfrm>
            <a:off x="6745148" y="5341375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2.6</a:t>
            </a:r>
            <a:r>
              <a:rPr lang="en-US" altLang="ko-KR" sz="1050" b="1" dirty="0">
                <a:solidFill>
                  <a:prstClr val="white"/>
                </a:solidFill>
              </a:rPr>
              <a:t>%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F29DEC5-F0CD-59EE-FE7F-51432AD1EF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구축 사례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62C7A-8C0A-3A37-4131-BED8133E46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336B15-5ABE-CF8B-E314-95A51CD413F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52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61BDC3-D477-17DE-176C-48ACB3D4DD1F}"/>
              </a:ext>
            </a:extLst>
          </p:cNvPr>
          <p:cNvSpPr/>
          <p:nvPr/>
        </p:nvSpPr>
        <p:spPr>
          <a:xfrm>
            <a:off x="452999" y="1700213"/>
            <a:ext cx="9000564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성공적 성과를 지속 창출 중인 파트너사 플랫폼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F1D608B-04A5-38E8-910D-E2FB8AAC862D}"/>
              </a:ext>
            </a:extLst>
          </p:cNvPr>
          <p:cNvCxnSpPr>
            <a:cxnSpLocks/>
          </p:cNvCxnSpPr>
          <p:nvPr/>
        </p:nvCxnSpPr>
        <p:spPr>
          <a:xfrm>
            <a:off x="1445690" y="2424449"/>
            <a:ext cx="0" cy="3606800"/>
          </a:xfrm>
          <a:prstGeom prst="straightConnector1">
            <a:avLst/>
          </a:prstGeom>
          <a:ln w="63500">
            <a:solidFill>
              <a:srgbClr val="5CCF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그룹 2117">
            <a:extLst>
              <a:ext uri="{FF2B5EF4-FFF2-40B4-BE49-F238E27FC236}">
                <a16:creationId xmlns:a16="http://schemas.microsoft.com/office/drawing/2014/main" id="{B33149CB-2E90-42A2-AB81-05843A8EE750}"/>
              </a:ext>
            </a:extLst>
          </p:cNvPr>
          <p:cNvGrpSpPr/>
          <p:nvPr/>
        </p:nvGrpSpPr>
        <p:grpSpPr>
          <a:xfrm>
            <a:off x="1338595" y="2530610"/>
            <a:ext cx="214189" cy="214189"/>
            <a:chOff x="5601827" y="3931752"/>
            <a:chExt cx="148216" cy="148216"/>
          </a:xfrm>
        </p:grpSpPr>
        <p:sp>
          <p:nvSpPr>
            <p:cNvPr id="13" name="Oval 39">
              <a:extLst>
                <a:ext uri="{FF2B5EF4-FFF2-40B4-BE49-F238E27FC236}">
                  <a16:creationId xmlns:a16="http://schemas.microsoft.com/office/drawing/2014/main" id="{44DE6402-8CCE-E96F-63EA-0D2454F13401}"/>
                </a:ext>
              </a:extLst>
            </p:cNvPr>
            <p:cNvSpPr/>
            <p:nvPr/>
          </p:nvSpPr>
          <p:spPr>
            <a:xfrm>
              <a:off x="5601827" y="3931752"/>
              <a:ext cx="148216" cy="148216"/>
            </a:xfrm>
            <a:prstGeom prst="ellipse">
              <a:avLst/>
            </a:prstGeom>
            <a:solidFill>
              <a:srgbClr val="5CCFA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54610" tIns="54610" rIns="54610" bIns="54610" rtlCol="0" anchor="ctr"/>
            <a:lstStyle/>
            <a:p>
              <a:pPr defTabSz="914400"/>
              <a:endParaRPr lang="en-GB" sz="15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" name="Oval 39">
              <a:extLst>
                <a:ext uri="{FF2B5EF4-FFF2-40B4-BE49-F238E27FC236}">
                  <a16:creationId xmlns:a16="http://schemas.microsoft.com/office/drawing/2014/main" id="{F2791A80-50B8-36C1-A785-1714B382DE12}"/>
                </a:ext>
              </a:extLst>
            </p:cNvPr>
            <p:cNvSpPr/>
            <p:nvPr/>
          </p:nvSpPr>
          <p:spPr>
            <a:xfrm>
              <a:off x="5642901" y="3972835"/>
              <a:ext cx="66049" cy="66049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00D4D66-AD50-086F-3F4A-2B8C67E1B38D}"/>
              </a:ext>
            </a:extLst>
          </p:cNvPr>
          <p:cNvSpPr txBox="1"/>
          <p:nvPr/>
        </p:nvSpPr>
        <p:spPr>
          <a:xfrm>
            <a:off x="470255" y="3760384"/>
            <a:ext cx="748009" cy="123684"/>
          </a:xfrm>
          <a:prstGeom prst="rect">
            <a:avLst/>
          </a:prstGeom>
          <a:noFill/>
        </p:spPr>
        <p:txBody>
          <a:bodyPr vert="horz" wrap="square" lIns="0" tIns="36000" rIns="0" bIns="36000" rtlCol="0" anchor="ctr" anchorCtr="0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200" b="1" dirty="0">
                <a:solidFill>
                  <a:srgbClr val="5CCFA0"/>
                </a:solidFill>
              </a:rPr>
              <a:t>’25.07.08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680EEF-5CE4-E514-A4D1-FBDC278A700C}"/>
              </a:ext>
            </a:extLst>
          </p:cNvPr>
          <p:cNvSpPr txBox="1"/>
          <p:nvPr/>
        </p:nvSpPr>
        <p:spPr>
          <a:xfrm>
            <a:off x="452438" y="2033848"/>
            <a:ext cx="1100346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론칭 일자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F5BE47-441C-8CD5-F493-33B763C4108D}"/>
              </a:ext>
            </a:extLst>
          </p:cNvPr>
          <p:cNvSpPr txBox="1"/>
          <p:nvPr/>
        </p:nvSpPr>
        <p:spPr>
          <a:xfrm>
            <a:off x="1676966" y="2033848"/>
            <a:ext cx="1800000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플랫폼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241FDC-D7EB-581A-CE31-550552E14F57}"/>
              </a:ext>
            </a:extLst>
          </p:cNvPr>
          <p:cNvSpPr txBox="1"/>
          <p:nvPr/>
        </p:nvSpPr>
        <p:spPr>
          <a:xfrm>
            <a:off x="3668978" y="2033848"/>
            <a:ext cx="1474522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계약 내용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BAC634-2B65-F545-4869-D319647E05B2}"/>
              </a:ext>
            </a:extLst>
          </p:cNvPr>
          <p:cNvSpPr txBox="1"/>
          <p:nvPr/>
        </p:nvSpPr>
        <p:spPr>
          <a:xfrm>
            <a:off x="5149921" y="1975575"/>
            <a:ext cx="1588220" cy="411257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Addressable </a:t>
            </a:r>
            <a:b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</a:b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Users</a:t>
            </a:r>
            <a:r>
              <a:rPr lang="en-US" altLang="ko-KR" sz="1100" baseline="300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1)</a:t>
            </a:r>
            <a:endParaRPr lang="ko-KR" altLang="en-US" sz="1100" baseline="300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6" name="직사각형 9">
            <a:extLst>
              <a:ext uri="{FF2B5EF4-FFF2-40B4-BE49-F238E27FC236}">
                <a16:creationId xmlns:a16="http://schemas.microsoft.com/office/drawing/2014/main" id="{23C8ABF9-CA5D-2E3F-2489-7DE1D292B304}"/>
              </a:ext>
            </a:extLst>
          </p:cNvPr>
          <p:cNvSpPr/>
          <p:nvPr/>
        </p:nvSpPr>
        <p:spPr bwMode="auto">
          <a:xfrm>
            <a:off x="3668978" y="3552226"/>
            <a:ext cx="1474520" cy="5400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71450" marR="0" lvl="1" indent="-171450" fontAlgn="auto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spc="-30" dirty="0">
                <a:solidFill>
                  <a:srgbClr val="3D3D3D"/>
                </a:solidFill>
              </a:rPr>
              <a:t>계약기간 </a:t>
            </a:r>
            <a:r>
              <a:rPr lang="en-US" altLang="ko-KR" sz="1000" spc="-30" dirty="0">
                <a:solidFill>
                  <a:srgbClr val="3D3D3D"/>
                </a:solidFill>
              </a:rPr>
              <a:t>:  2</a:t>
            </a:r>
            <a:r>
              <a:rPr lang="ko-KR" altLang="en-US" sz="1000" spc="-30" dirty="0">
                <a:solidFill>
                  <a:srgbClr val="3D3D3D"/>
                </a:solidFill>
              </a:rPr>
              <a:t>년</a:t>
            </a:r>
            <a:endParaRPr lang="en-US" altLang="ko-KR" sz="1000" spc="-30" dirty="0">
              <a:solidFill>
                <a:srgbClr val="3D3D3D"/>
              </a:solidFill>
            </a:endParaRPr>
          </a:p>
          <a:p>
            <a:pPr marL="171450" marR="0" lvl="1" indent="-171450" fontAlgn="auto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00" spc="-30" dirty="0">
                <a:solidFill>
                  <a:srgbClr val="3D3D3D"/>
                </a:solidFill>
              </a:rPr>
              <a:t>수수료율 </a:t>
            </a:r>
            <a:r>
              <a:rPr lang="en-US" altLang="ko-KR" sz="1000" spc="-30" dirty="0">
                <a:solidFill>
                  <a:srgbClr val="3D3D3D"/>
                </a:solidFill>
              </a:rPr>
              <a:t>:  16.5%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D70E17-0EF3-D530-47A3-F36A5B949509}"/>
              </a:ext>
            </a:extLst>
          </p:cNvPr>
          <p:cNvSpPr txBox="1"/>
          <p:nvPr/>
        </p:nvSpPr>
        <p:spPr>
          <a:xfrm>
            <a:off x="8157000" y="2033848"/>
            <a:ext cx="1296000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누적 매출액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1" name="직사각형 9">
            <a:extLst>
              <a:ext uri="{FF2B5EF4-FFF2-40B4-BE49-F238E27FC236}">
                <a16:creationId xmlns:a16="http://schemas.microsoft.com/office/drawing/2014/main" id="{7056661A-C704-CFF1-36A1-3A3B9BA79586}"/>
              </a:ext>
            </a:extLst>
          </p:cNvPr>
          <p:cNvSpPr/>
          <p:nvPr/>
        </p:nvSpPr>
        <p:spPr bwMode="auto">
          <a:xfrm>
            <a:off x="3668978" y="4756221"/>
            <a:ext cx="1474520" cy="5400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계약기간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2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년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수수료율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16.5%</a:t>
            </a:r>
          </a:p>
        </p:txBody>
      </p:sp>
      <p:sp>
        <p:nvSpPr>
          <p:cNvPr id="85" name="직사각형 9">
            <a:extLst>
              <a:ext uri="{FF2B5EF4-FFF2-40B4-BE49-F238E27FC236}">
                <a16:creationId xmlns:a16="http://schemas.microsoft.com/office/drawing/2014/main" id="{87E31F01-CAE2-444D-6FB5-3C5FCF304307}"/>
              </a:ext>
            </a:extLst>
          </p:cNvPr>
          <p:cNvSpPr/>
          <p:nvPr/>
        </p:nvSpPr>
        <p:spPr bwMode="auto">
          <a:xfrm>
            <a:off x="3668978" y="2367843"/>
            <a:ext cx="1474520" cy="5400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계약기간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2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년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수수료율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11.0%</a:t>
            </a:r>
          </a:p>
        </p:txBody>
      </p:sp>
      <p:sp>
        <p:nvSpPr>
          <p:cNvPr id="89" name="직사각형 9">
            <a:extLst>
              <a:ext uri="{FF2B5EF4-FFF2-40B4-BE49-F238E27FC236}">
                <a16:creationId xmlns:a16="http://schemas.microsoft.com/office/drawing/2014/main" id="{EA6729F7-848D-1B23-46FA-434B20A8D397}"/>
              </a:ext>
            </a:extLst>
          </p:cNvPr>
          <p:cNvSpPr/>
          <p:nvPr/>
        </p:nvSpPr>
        <p:spPr bwMode="auto">
          <a:xfrm>
            <a:off x="3668978" y="2982215"/>
            <a:ext cx="1474520" cy="5400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계약기간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2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년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수수료율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16.5%</a:t>
            </a:r>
          </a:p>
        </p:txBody>
      </p:sp>
      <p:sp>
        <p:nvSpPr>
          <p:cNvPr id="93" name="직사각형 9">
            <a:extLst>
              <a:ext uri="{FF2B5EF4-FFF2-40B4-BE49-F238E27FC236}">
                <a16:creationId xmlns:a16="http://schemas.microsoft.com/office/drawing/2014/main" id="{3F8BF4C8-5E87-52CC-9195-892ECDFFD819}"/>
              </a:ext>
            </a:extLst>
          </p:cNvPr>
          <p:cNvSpPr/>
          <p:nvPr/>
        </p:nvSpPr>
        <p:spPr bwMode="auto">
          <a:xfrm>
            <a:off x="3668978" y="4158898"/>
            <a:ext cx="1474520" cy="5400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계약기간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2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년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수수료율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11.0%</a:t>
            </a:r>
          </a:p>
        </p:txBody>
      </p:sp>
      <p:sp>
        <p:nvSpPr>
          <p:cNvPr id="97" name="직사각형 9">
            <a:extLst>
              <a:ext uri="{FF2B5EF4-FFF2-40B4-BE49-F238E27FC236}">
                <a16:creationId xmlns:a16="http://schemas.microsoft.com/office/drawing/2014/main" id="{644092F8-6BE7-C50C-7B0C-A46C18A3EDD4}"/>
              </a:ext>
            </a:extLst>
          </p:cNvPr>
          <p:cNvSpPr/>
          <p:nvPr/>
        </p:nvSpPr>
        <p:spPr bwMode="auto">
          <a:xfrm>
            <a:off x="3668978" y="5345251"/>
            <a:ext cx="1474520" cy="540000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  <a:effectLst/>
        </p:spPr>
        <p:txBody>
          <a:bodyPr vert="horz" wrap="square" lIns="72000" tIns="72000" rIns="72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계약기간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2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년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171450" marR="0" lvl="1" indent="-17145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수수료율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 16.5%</a:t>
            </a:r>
          </a:p>
        </p:txBody>
      </p:sp>
      <p:grpSp>
        <p:nvGrpSpPr>
          <p:cNvPr id="100" name="그룹 2117">
            <a:extLst>
              <a:ext uri="{FF2B5EF4-FFF2-40B4-BE49-F238E27FC236}">
                <a16:creationId xmlns:a16="http://schemas.microsoft.com/office/drawing/2014/main" id="{E5E19A63-AA0A-9437-5F01-6A9B8CA81F93}"/>
              </a:ext>
            </a:extLst>
          </p:cNvPr>
          <p:cNvGrpSpPr/>
          <p:nvPr/>
        </p:nvGrpSpPr>
        <p:grpSpPr>
          <a:xfrm>
            <a:off x="1338595" y="3137401"/>
            <a:ext cx="214189" cy="214189"/>
            <a:chOff x="5601827" y="3931752"/>
            <a:chExt cx="148216" cy="148216"/>
          </a:xfrm>
        </p:grpSpPr>
        <p:sp>
          <p:nvSpPr>
            <p:cNvPr id="101" name="Oval 39">
              <a:extLst>
                <a:ext uri="{FF2B5EF4-FFF2-40B4-BE49-F238E27FC236}">
                  <a16:creationId xmlns:a16="http://schemas.microsoft.com/office/drawing/2014/main" id="{4CC1B0BD-A62A-B8BD-3709-549287156755}"/>
                </a:ext>
              </a:extLst>
            </p:cNvPr>
            <p:cNvSpPr/>
            <p:nvPr/>
          </p:nvSpPr>
          <p:spPr>
            <a:xfrm>
              <a:off x="5601827" y="3931752"/>
              <a:ext cx="148216" cy="148216"/>
            </a:xfrm>
            <a:prstGeom prst="ellipse">
              <a:avLst/>
            </a:prstGeom>
            <a:solidFill>
              <a:srgbClr val="5CCFA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54610" tIns="54610" rIns="54610" bIns="54610" rtlCol="0" anchor="ctr"/>
            <a:lstStyle/>
            <a:p>
              <a:pPr defTabSz="914400"/>
              <a:endParaRPr lang="en-GB" sz="15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" name="Oval 39">
              <a:extLst>
                <a:ext uri="{FF2B5EF4-FFF2-40B4-BE49-F238E27FC236}">
                  <a16:creationId xmlns:a16="http://schemas.microsoft.com/office/drawing/2014/main" id="{E09E4221-234C-B8E9-BB95-7225A4147F79}"/>
                </a:ext>
              </a:extLst>
            </p:cNvPr>
            <p:cNvSpPr/>
            <p:nvPr/>
          </p:nvSpPr>
          <p:spPr>
            <a:xfrm>
              <a:off x="5642901" y="3972835"/>
              <a:ext cx="66049" cy="66049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DEC678C8-7416-0E29-C3B8-67C461338401}"/>
              </a:ext>
            </a:extLst>
          </p:cNvPr>
          <p:cNvSpPr txBox="1"/>
          <p:nvPr/>
        </p:nvSpPr>
        <p:spPr>
          <a:xfrm>
            <a:off x="470255" y="4964379"/>
            <a:ext cx="748009" cy="123684"/>
          </a:xfrm>
          <a:prstGeom prst="rect">
            <a:avLst/>
          </a:prstGeom>
          <a:noFill/>
        </p:spPr>
        <p:txBody>
          <a:bodyPr vert="horz" wrap="square" lIns="0" tIns="36000" rIns="0" bIns="36000" rtlCol="0" anchor="ctr" anchorCtr="0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200" b="1" dirty="0">
                <a:solidFill>
                  <a:srgbClr val="5CCFA0"/>
                </a:solidFill>
              </a:rPr>
              <a:t>’25.08.04</a:t>
            </a:r>
          </a:p>
        </p:txBody>
      </p:sp>
      <p:grpSp>
        <p:nvGrpSpPr>
          <p:cNvPr id="104" name="그룹 2117">
            <a:extLst>
              <a:ext uri="{FF2B5EF4-FFF2-40B4-BE49-F238E27FC236}">
                <a16:creationId xmlns:a16="http://schemas.microsoft.com/office/drawing/2014/main" id="{3E3C23EA-6DEF-9105-FA96-EC9365987969}"/>
              </a:ext>
            </a:extLst>
          </p:cNvPr>
          <p:cNvGrpSpPr/>
          <p:nvPr/>
        </p:nvGrpSpPr>
        <p:grpSpPr>
          <a:xfrm>
            <a:off x="1338595" y="3730639"/>
            <a:ext cx="214189" cy="214189"/>
            <a:chOff x="5601827" y="3931752"/>
            <a:chExt cx="148216" cy="148216"/>
          </a:xfrm>
        </p:grpSpPr>
        <p:sp>
          <p:nvSpPr>
            <p:cNvPr id="105" name="Oval 39">
              <a:extLst>
                <a:ext uri="{FF2B5EF4-FFF2-40B4-BE49-F238E27FC236}">
                  <a16:creationId xmlns:a16="http://schemas.microsoft.com/office/drawing/2014/main" id="{BC64DD7F-3593-0BF6-F6DF-F4D6A8831335}"/>
                </a:ext>
              </a:extLst>
            </p:cNvPr>
            <p:cNvSpPr/>
            <p:nvPr/>
          </p:nvSpPr>
          <p:spPr>
            <a:xfrm>
              <a:off x="5601827" y="3931752"/>
              <a:ext cx="148216" cy="148216"/>
            </a:xfrm>
            <a:prstGeom prst="ellipse">
              <a:avLst/>
            </a:prstGeom>
            <a:solidFill>
              <a:srgbClr val="5CCFA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54610" tIns="54610" rIns="54610" bIns="54610" rtlCol="0" anchor="ctr"/>
            <a:lstStyle/>
            <a:p>
              <a:pPr defTabSz="914400"/>
              <a:endParaRPr lang="en-GB" sz="15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Oval 39">
              <a:extLst>
                <a:ext uri="{FF2B5EF4-FFF2-40B4-BE49-F238E27FC236}">
                  <a16:creationId xmlns:a16="http://schemas.microsoft.com/office/drawing/2014/main" id="{0A4973C0-1509-7100-FC79-8362779A3A24}"/>
                </a:ext>
              </a:extLst>
            </p:cNvPr>
            <p:cNvSpPr/>
            <p:nvPr/>
          </p:nvSpPr>
          <p:spPr>
            <a:xfrm>
              <a:off x="5642901" y="3972835"/>
              <a:ext cx="66049" cy="66049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0E5E73EE-55DD-C308-701B-6579D4D366A1}"/>
              </a:ext>
            </a:extLst>
          </p:cNvPr>
          <p:cNvSpPr txBox="1"/>
          <p:nvPr/>
        </p:nvSpPr>
        <p:spPr>
          <a:xfrm>
            <a:off x="470255" y="2576001"/>
            <a:ext cx="748009" cy="123684"/>
          </a:xfrm>
          <a:prstGeom prst="rect">
            <a:avLst/>
          </a:prstGeom>
          <a:noFill/>
        </p:spPr>
        <p:txBody>
          <a:bodyPr vert="horz" wrap="square" lIns="0" tIns="36000" rIns="0" bIns="36000" rtlCol="0" anchor="ctr" anchorCtr="0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200" b="1" dirty="0">
                <a:solidFill>
                  <a:srgbClr val="5CCFA0"/>
                </a:solidFill>
              </a:rPr>
              <a:t>’25.05.13</a:t>
            </a:r>
          </a:p>
        </p:txBody>
      </p:sp>
      <p:grpSp>
        <p:nvGrpSpPr>
          <p:cNvPr id="108" name="그룹 2117">
            <a:extLst>
              <a:ext uri="{FF2B5EF4-FFF2-40B4-BE49-F238E27FC236}">
                <a16:creationId xmlns:a16="http://schemas.microsoft.com/office/drawing/2014/main" id="{C3DC4F25-5E36-FA52-1607-BC522E730A71}"/>
              </a:ext>
            </a:extLst>
          </p:cNvPr>
          <p:cNvGrpSpPr/>
          <p:nvPr/>
        </p:nvGrpSpPr>
        <p:grpSpPr>
          <a:xfrm>
            <a:off x="1338595" y="4323145"/>
            <a:ext cx="214189" cy="214189"/>
            <a:chOff x="5601827" y="3931752"/>
            <a:chExt cx="148216" cy="148216"/>
          </a:xfrm>
        </p:grpSpPr>
        <p:sp>
          <p:nvSpPr>
            <p:cNvPr id="109" name="Oval 39">
              <a:extLst>
                <a:ext uri="{FF2B5EF4-FFF2-40B4-BE49-F238E27FC236}">
                  <a16:creationId xmlns:a16="http://schemas.microsoft.com/office/drawing/2014/main" id="{CFDF60BE-6984-ED38-AEE4-1046493379EE}"/>
                </a:ext>
              </a:extLst>
            </p:cNvPr>
            <p:cNvSpPr/>
            <p:nvPr/>
          </p:nvSpPr>
          <p:spPr>
            <a:xfrm>
              <a:off x="5601827" y="3931752"/>
              <a:ext cx="148216" cy="148216"/>
            </a:xfrm>
            <a:prstGeom prst="ellipse">
              <a:avLst/>
            </a:prstGeom>
            <a:solidFill>
              <a:srgbClr val="5CCFA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54610" tIns="54610" rIns="54610" bIns="54610" rtlCol="0" anchor="ctr"/>
            <a:lstStyle/>
            <a:p>
              <a:pPr defTabSz="914400"/>
              <a:endParaRPr lang="en-GB" sz="15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" name="Oval 39">
              <a:extLst>
                <a:ext uri="{FF2B5EF4-FFF2-40B4-BE49-F238E27FC236}">
                  <a16:creationId xmlns:a16="http://schemas.microsoft.com/office/drawing/2014/main" id="{F9552874-79AB-63F4-BF0A-6F9678829DF0}"/>
                </a:ext>
              </a:extLst>
            </p:cNvPr>
            <p:cNvSpPr/>
            <p:nvPr/>
          </p:nvSpPr>
          <p:spPr>
            <a:xfrm>
              <a:off x="5642901" y="3972835"/>
              <a:ext cx="66049" cy="66049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AF670B1D-C389-B634-9184-8AFF1A9A75DD}"/>
              </a:ext>
            </a:extLst>
          </p:cNvPr>
          <p:cNvSpPr txBox="1"/>
          <p:nvPr/>
        </p:nvSpPr>
        <p:spPr>
          <a:xfrm>
            <a:off x="470255" y="3190373"/>
            <a:ext cx="748009" cy="123684"/>
          </a:xfrm>
          <a:prstGeom prst="rect">
            <a:avLst/>
          </a:prstGeom>
          <a:noFill/>
        </p:spPr>
        <p:txBody>
          <a:bodyPr vert="horz" wrap="square" lIns="0" tIns="36000" rIns="0" bIns="36000" rtlCol="0" anchor="ctr" anchorCtr="0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200" b="1" dirty="0">
                <a:solidFill>
                  <a:srgbClr val="5CCFA0"/>
                </a:solidFill>
              </a:rPr>
              <a:t>’25.06.26</a:t>
            </a:r>
          </a:p>
        </p:txBody>
      </p:sp>
      <p:grpSp>
        <p:nvGrpSpPr>
          <p:cNvPr id="112" name="그룹 2117">
            <a:extLst>
              <a:ext uri="{FF2B5EF4-FFF2-40B4-BE49-F238E27FC236}">
                <a16:creationId xmlns:a16="http://schemas.microsoft.com/office/drawing/2014/main" id="{06221603-8ECC-A777-3013-AD31B7565AA9}"/>
              </a:ext>
            </a:extLst>
          </p:cNvPr>
          <p:cNvGrpSpPr/>
          <p:nvPr/>
        </p:nvGrpSpPr>
        <p:grpSpPr>
          <a:xfrm>
            <a:off x="1338595" y="4915651"/>
            <a:ext cx="214189" cy="214189"/>
            <a:chOff x="5601827" y="3931752"/>
            <a:chExt cx="148216" cy="148216"/>
          </a:xfrm>
        </p:grpSpPr>
        <p:sp>
          <p:nvSpPr>
            <p:cNvPr id="113" name="Oval 39">
              <a:extLst>
                <a:ext uri="{FF2B5EF4-FFF2-40B4-BE49-F238E27FC236}">
                  <a16:creationId xmlns:a16="http://schemas.microsoft.com/office/drawing/2014/main" id="{E49AE0C4-E600-0DB2-1DB4-AAABCCB2B179}"/>
                </a:ext>
              </a:extLst>
            </p:cNvPr>
            <p:cNvSpPr/>
            <p:nvPr/>
          </p:nvSpPr>
          <p:spPr>
            <a:xfrm>
              <a:off x="5601827" y="3931752"/>
              <a:ext cx="148216" cy="148216"/>
            </a:xfrm>
            <a:prstGeom prst="ellipse">
              <a:avLst/>
            </a:prstGeom>
            <a:solidFill>
              <a:srgbClr val="5CCFA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54610" tIns="54610" rIns="54610" bIns="54610" rtlCol="0" anchor="ctr"/>
            <a:lstStyle/>
            <a:p>
              <a:pPr defTabSz="914400"/>
              <a:endParaRPr lang="en-GB" sz="15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" name="Oval 39">
              <a:extLst>
                <a:ext uri="{FF2B5EF4-FFF2-40B4-BE49-F238E27FC236}">
                  <a16:creationId xmlns:a16="http://schemas.microsoft.com/office/drawing/2014/main" id="{DF6B66C0-F703-BDFB-7D6C-FEFA9341F1E2}"/>
                </a:ext>
              </a:extLst>
            </p:cNvPr>
            <p:cNvSpPr/>
            <p:nvPr/>
          </p:nvSpPr>
          <p:spPr>
            <a:xfrm>
              <a:off x="5642901" y="3972835"/>
              <a:ext cx="66049" cy="66049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DA21780-FA3F-7540-5AE6-F7BD40F74490}"/>
              </a:ext>
            </a:extLst>
          </p:cNvPr>
          <p:cNvSpPr txBox="1"/>
          <p:nvPr/>
        </p:nvSpPr>
        <p:spPr>
          <a:xfrm>
            <a:off x="470255" y="4367056"/>
            <a:ext cx="748009" cy="123684"/>
          </a:xfrm>
          <a:prstGeom prst="rect">
            <a:avLst/>
          </a:prstGeom>
          <a:noFill/>
        </p:spPr>
        <p:txBody>
          <a:bodyPr vert="horz" wrap="square" lIns="0" tIns="36000" rIns="0" bIns="36000" rtlCol="0" anchor="ctr" anchorCtr="0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200" b="1" dirty="0">
                <a:solidFill>
                  <a:srgbClr val="5CCFA0"/>
                </a:solidFill>
              </a:rPr>
              <a:t>’25.07.09</a:t>
            </a:r>
          </a:p>
        </p:txBody>
      </p:sp>
      <p:grpSp>
        <p:nvGrpSpPr>
          <p:cNvPr id="116" name="그룹 2117">
            <a:extLst>
              <a:ext uri="{FF2B5EF4-FFF2-40B4-BE49-F238E27FC236}">
                <a16:creationId xmlns:a16="http://schemas.microsoft.com/office/drawing/2014/main" id="{1F1F4DDB-B58A-67ED-2E09-FA4854856795}"/>
              </a:ext>
            </a:extLst>
          </p:cNvPr>
          <p:cNvGrpSpPr/>
          <p:nvPr/>
        </p:nvGrpSpPr>
        <p:grpSpPr>
          <a:xfrm>
            <a:off x="1338595" y="5508157"/>
            <a:ext cx="214189" cy="214189"/>
            <a:chOff x="5601827" y="3931752"/>
            <a:chExt cx="148216" cy="148216"/>
          </a:xfrm>
        </p:grpSpPr>
        <p:sp>
          <p:nvSpPr>
            <p:cNvPr id="117" name="Oval 39">
              <a:extLst>
                <a:ext uri="{FF2B5EF4-FFF2-40B4-BE49-F238E27FC236}">
                  <a16:creationId xmlns:a16="http://schemas.microsoft.com/office/drawing/2014/main" id="{157BFE6B-463A-ADF6-154F-5F8ED9D8F979}"/>
                </a:ext>
              </a:extLst>
            </p:cNvPr>
            <p:cNvSpPr/>
            <p:nvPr/>
          </p:nvSpPr>
          <p:spPr>
            <a:xfrm>
              <a:off x="5601827" y="3931752"/>
              <a:ext cx="148216" cy="148216"/>
            </a:xfrm>
            <a:prstGeom prst="ellipse">
              <a:avLst/>
            </a:prstGeom>
            <a:solidFill>
              <a:srgbClr val="5CCFA0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lIns="54610" tIns="54610" rIns="54610" bIns="54610" rtlCol="0" anchor="ctr"/>
            <a:lstStyle/>
            <a:p>
              <a:pPr defTabSz="914400"/>
              <a:endParaRPr lang="en-GB" sz="1500" kern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" name="Oval 39">
              <a:extLst>
                <a:ext uri="{FF2B5EF4-FFF2-40B4-BE49-F238E27FC236}">
                  <a16:creationId xmlns:a16="http://schemas.microsoft.com/office/drawing/2014/main" id="{29148692-D8DB-CEE3-5984-3B899766E952}"/>
                </a:ext>
              </a:extLst>
            </p:cNvPr>
            <p:cNvSpPr/>
            <p:nvPr/>
          </p:nvSpPr>
          <p:spPr>
            <a:xfrm>
              <a:off x="5642901" y="3972835"/>
              <a:ext cx="66049" cy="66049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0" cap="none" spc="0" normalizeH="0" baseline="0" noProof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52D9F796-DECC-EE11-EA11-BED2AD88DB03}"/>
              </a:ext>
            </a:extLst>
          </p:cNvPr>
          <p:cNvSpPr txBox="1"/>
          <p:nvPr/>
        </p:nvSpPr>
        <p:spPr>
          <a:xfrm>
            <a:off x="470255" y="5553409"/>
            <a:ext cx="748009" cy="123684"/>
          </a:xfrm>
          <a:prstGeom prst="rect">
            <a:avLst/>
          </a:prstGeom>
          <a:noFill/>
        </p:spPr>
        <p:txBody>
          <a:bodyPr vert="horz" wrap="square" lIns="0" tIns="36000" rIns="0" bIns="36000" rtlCol="0" anchor="ctr" anchorCtr="0">
            <a:noAutofit/>
          </a:bodyPr>
          <a:lstStyle/>
          <a:p>
            <a:pPr algn="ctr" defTabSz="914400">
              <a:lnSpc>
                <a:spcPct val="110000"/>
              </a:lnSpc>
              <a:spcAft>
                <a:spcPts val="300"/>
              </a:spcAft>
            </a:pPr>
            <a:r>
              <a:rPr lang="en-US" altLang="ko-KR" sz="1200" b="1" dirty="0">
                <a:solidFill>
                  <a:srgbClr val="5CCFA0"/>
                </a:solidFill>
              </a:rPr>
              <a:t>’25.08.19</a:t>
            </a: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A017D7D3-2906-2234-CDF6-2E539524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833" y="4177939"/>
            <a:ext cx="1722265" cy="520960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C31CF994-7FEB-0519-86C0-505D251DDE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223" y="3609025"/>
            <a:ext cx="1553484" cy="410056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5FFE64B4-5123-61EB-C1AF-A48536662B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03438" y="4763630"/>
            <a:ext cx="1147054" cy="510854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D8BCEE69-B7F1-3483-F378-0905B1CBE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361" y="2386849"/>
            <a:ext cx="1297208" cy="506444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F1EF7D8E-E517-C99A-2203-1DDCE1CD7A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1518" y="2983364"/>
            <a:ext cx="596655" cy="511419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94CE86BD-D628-5830-3197-261FB352B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9846" y="5339537"/>
            <a:ext cx="1034239" cy="540000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98AF4E0A-78E4-2C28-6970-5180D157FC18}"/>
              </a:ext>
            </a:extLst>
          </p:cNvPr>
          <p:cNvSpPr txBox="1"/>
          <p:nvPr/>
        </p:nvSpPr>
        <p:spPr>
          <a:xfrm>
            <a:off x="2342429" y="3125587"/>
            <a:ext cx="104232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rgbClr val="802BF4"/>
                </a:solidFill>
                <a:latin typeface="+mj-ea"/>
                <a:ea typeface="+mj-ea"/>
              </a:rPr>
              <a:t>트렌더스클래스</a:t>
            </a:r>
            <a:endParaRPr lang="ko-KR" altLang="en-US" sz="12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rgbClr val="802BF4"/>
              </a:solidFill>
              <a:latin typeface="+mj-ea"/>
              <a:ea typeface="+mj-ea"/>
            </a:endParaRPr>
          </a:p>
        </p:txBody>
      </p:sp>
      <p:cxnSp>
        <p:nvCxnSpPr>
          <p:cNvPr id="128" name="Straight Connector 98">
            <a:extLst>
              <a:ext uri="{FF2B5EF4-FFF2-40B4-BE49-F238E27FC236}">
                <a16:creationId xmlns:a16="http://schemas.microsoft.com/office/drawing/2014/main" id="{9C066A42-1B4C-E418-06CD-16291562FBD3}"/>
              </a:ext>
            </a:extLst>
          </p:cNvPr>
          <p:cNvCxnSpPr>
            <a:cxnSpLocks/>
          </p:cNvCxnSpPr>
          <p:nvPr/>
        </p:nvCxnSpPr>
        <p:spPr>
          <a:xfrm>
            <a:off x="1533389" y="2942733"/>
            <a:ext cx="7920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</p:cxnSp>
      <p:cxnSp>
        <p:nvCxnSpPr>
          <p:cNvPr id="129" name="Straight Connector 98">
            <a:extLst>
              <a:ext uri="{FF2B5EF4-FFF2-40B4-BE49-F238E27FC236}">
                <a16:creationId xmlns:a16="http://schemas.microsoft.com/office/drawing/2014/main" id="{BA5E6B05-FCBC-630A-2DB2-296AFE46B743}"/>
              </a:ext>
            </a:extLst>
          </p:cNvPr>
          <p:cNvCxnSpPr>
            <a:cxnSpLocks/>
          </p:cNvCxnSpPr>
          <p:nvPr/>
        </p:nvCxnSpPr>
        <p:spPr>
          <a:xfrm>
            <a:off x="3551652" y="2386832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32" name="Straight Connector 98">
            <a:extLst>
              <a:ext uri="{FF2B5EF4-FFF2-40B4-BE49-F238E27FC236}">
                <a16:creationId xmlns:a16="http://schemas.microsoft.com/office/drawing/2014/main" id="{65F1E587-1E24-5FB6-2E1A-1B21655FA9F5}"/>
              </a:ext>
            </a:extLst>
          </p:cNvPr>
          <p:cNvCxnSpPr>
            <a:cxnSpLocks/>
          </p:cNvCxnSpPr>
          <p:nvPr/>
        </p:nvCxnSpPr>
        <p:spPr>
          <a:xfrm>
            <a:off x="1533389" y="3538144"/>
            <a:ext cx="7920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</p:cxnSp>
      <p:cxnSp>
        <p:nvCxnSpPr>
          <p:cNvPr id="133" name="Straight Connector 98">
            <a:extLst>
              <a:ext uri="{FF2B5EF4-FFF2-40B4-BE49-F238E27FC236}">
                <a16:creationId xmlns:a16="http://schemas.microsoft.com/office/drawing/2014/main" id="{AFABD3FE-A9D9-F459-2D55-20FC6636BACA}"/>
              </a:ext>
            </a:extLst>
          </p:cNvPr>
          <p:cNvCxnSpPr>
            <a:cxnSpLocks/>
          </p:cNvCxnSpPr>
          <p:nvPr/>
        </p:nvCxnSpPr>
        <p:spPr>
          <a:xfrm>
            <a:off x="1533389" y="4132917"/>
            <a:ext cx="7920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</p:cxnSp>
      <p:cxnSp>
        <p:nvCxnSpPr>
          <p:cNvPr id="134" name="Straight Connector 98">
            <a:extLst>
              <a:ext uri="{FF2B5EF4-FFF2-40B4-BE49-F238E27FC236}">
                <a16:creationId xmlns:a16="http://schemas.microsoft.com/office/drawing/2014/main" id="{0B7648E3-CC54-FCD2-EEE3-AFC581484E2C}"/>
              </a:ext>
            </a:extLst>
          </p:cNvPr>
          <p:cNvCxnSpPr>
            <a:cxnSpLocks/>
          </p:cNvCxnSpPr>
          <p:nvPr/>
        </p:nvCxnSpPr>
        <p:spPr>
          <a:xfrm>
            <a:off x="1533389" y="4725639"/>
            <a:ext cx="7920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</p:cxnSp>
      <p:cxnSp>
        <p:nvCxnSpPr>
          <p:cNvPr id="135" name="Straight Connector 98">
            <a:extLst>
              <a:ext uri="{FF2B5EF4-FFF2-40B4-BE49-F238E27FC236}">
                <a16:creationId xmlns:a16="http://schemas.microsoft.com/office/drawing/2014/main" id="{B436F2CB-F673-D051-D41B-D5FB71B66893}"/>
              </a:ext>
            </a:extLst>
          </p:cNvPr>
          <p:cNvCxnSpPr>
            <a:cxnSpLocks/>
          </p:cNvCxnSpPr>
          <p:nvPr/>
        </p:nvCxnSpPr>
        <p:spPr>
          <a:xfrm>
            <a:off x="1533389" y="5319384"/>
            <a:ext cx="7920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</p:cxnSp>
      <p:cxnSp>
        <p:nvCxnSpPr>
          <p:cNvPr id="151" name="Straight Connector 98">
            <a:extLst>
              <a:ext uri="{FF2B5EF4-FFF2-40B4-BE49-F238E27FC236}">
                <a16:creationId xmlns:a16="http://schemas.microsoft.com/office/drawing/2014/main" id="{AC5E6E31-3385-8254-5BE4-C5A078DEFFEA}"/>
              </a:ext>
            </a:extLst>
          </p:cNvPr>
          <p:cNvCxnSpPr>
            <a:cxnSpLocks/>
          </p:cNvCxnSpPr>
          <p:nvPr/>
        </p:nvCxnSpPr>
        <p:spPr>
          <a:xfrm>
            <a:off x="3551652" y="2988758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52" name="Straight Connector 98">
            <a:extLst>
              <a:ext uri="{FF2B5EF4-FFF2-40B4-BE49-F238E27FC236}">
                <a16:creationId xmlns:a16="http://schemas.microsoft.com/office/drawing/2014/main" id="{6F127B02-CEEB-3954-81DB-9A12522936F0}"/>
              </a:ext>
            </a:extLst>
          </p:cNvPr>
          <p:cNvCxnSpPr>
            <a:cxnSpLocks/>
          </p:cNvCxnSpPr>
          <p:nvPr/>
        </p:nvCxnSpPr>
        <p:spPr>
          <a:xfrm>
            <a:off x="3551652" y="3586739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53" name="Straight Connector 98">
            <a:extLst>
              <a:ext uri="{FF2B5EF4-FFF2-40B4-BE49-F238E27FC236}">
                <a16:creationId xmlns:a16="http://schemas.microsoft.com/office/drawing/2014/main" id="{3C5D03FE-B652-3668-9224-BE547B806E20}"/>
              </a:ext>
            </a:extLst>
          </p:cNvPr>
          <p:cNvCxnSpPr>
            <a:cxnSpLocks/>
          </p:cNvCxnSpPr>
          <p:nvPr/>
        </p:nvCxnSpPr>
        <p:spPr>
          <a:xfrm>
            <a:off x="3551652" y="4168122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54" name="Straight Connector 98">
            <a:extLst>
              <a:ext uri="{FF2B5EF4-FFF2-40B4-BE49-F238E27FC236}">
                <a16:creationId xmlns:a16="http://schemas.microsoft.com/office/drawing/2014/main" id="{58CD1A5A-3464-2701-66F7-7BDCC668F4AB}"/>
              </a:ext>
            </a:extLst>
          </p:cNvPr>
          <p:cNvCxnSpPr>
            <a:cxnSpLocks/>
          </p:cNvCxnSpPr>
          <p:nvPr/>
        </p:nvCxnSpPr>
        <p:spPr>
          <a:xfrm>
            <a:off x="3551652" y="4771786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55" name="Straight Connector 98">
            <a:extLst>
              <a:ext uri="{FF2B5EF4-FFF2-40B4-BE49-F238E27FC236}">
                <a16:creationId xmlns:a16="http://schemas.microsoft.com/office/drawing/2014/main" id="{39DED5B9-7183-5562-DA14-5354DCA9CAC8}"/>
              </a:ext>
            </a:extLst>
          </p:cNvPr>
          <p:cNvCxnSpPr>
            <a:cxnSpLocks/>
          </p:cNvCxnSpPr>
          <p:nvPr/>
        </p:nvCxnSpPr>
        <p:spPr>
          <a:xfrm>
            <a:off x="3551652" y="5375537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56" name="Straight Connector 98">
            <a:extLst>
              <a:ext uri="{FF2B5EF4-FFF2-40B4-BE49-F238E27FC236}">
                <a16:creationId xmlns:a16="http://schemas.microsoft.com/office/drawing/2014/main" id="{01E39B49-77B9-0829-ECF4-06CEDF44B665}"/>
              </a:ext>
            </a:extLst>
          </p:cNvPr>
          <p:cNvCxnSpPr>
            <a:cxnSpLocks/>
          </p:cNvCxnSpPr>
          <p:nvPr/>
        </p:nvCxnSpPr>
        <p:spPr>
          <a:xfrm>
            <a:off x="5210565" y="2386832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57" name="Straight Connector 98">
            <a:extLst>
              <a:ext uri="{FF2B5EF4-FFF2-40B4-BE49-F238E27FC236}">
                <a16:creationId xmlns:a16="http://schemas.microsoft.com/office/drawing/2014/main" id="{7D10E17E-C24E-36E7-760D-B2B05CCF450F}"/>
              </a:ext>
            </a:extLst>
          </p:cNvPr>
          <p:cNvCxnSpPr>
            <a:cxnSpLocks/>
          </p:cNvCxnSpPr>
          <p:nvPr/>
        </p:nvCxnSpPr>
        <p:spPr>
          <a:xfrm>
            <a:off x="5210565" y="2988758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58" name="Straight Connector 98">
            <a:extLst>
              <a:ext uri="{FF2B5EF4-FFF2-40B4-BE49-F238E27FC236}">
                <a16:creationId xmlns:a16="http://schemas.microsoft.com/office/drawing/2014/main" id="{C039D397-513B-3D64-E3B4-BF971DD813A3}"/>
              </a:ext>
            </a:extLst>
          </p:cNvPr>
          <p:cNvCxnSpPr>
            <a:cxnSpLocks/>
          </p:cNvCxnSpPr>
          <p:nvPr/>
        </p:nvCxnSpPr>
        <p:spPr>
          <a:xfrm>
            <a:off x="5210565" y="3586739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59" name="Straight Connector 98">
            <a:extLst>
              <a:ext uri="{FF2B5EF4-FFF2-40B4-BE49-F238E27FC236}">
                <a16:creationId xmlns:a16="http://schemas.microsoft.com/office/drawing/2014/main" id="{45E71CC1-F299-3B3D-2DC2-5EB1823ADDF3}"/>
              </a:ext>
            </a:extLst>
          </p:cNvPr>
          <p:cNvCxnSpPr>
            <a:cxnSpLocks/>
          </p:cNvCxnSpPr>
          <p:nvPr/>
        </p:nvCxnSpPr>
        <p:spPr>
          <a:xfrm>
            <a:off x="5210565" y="4168122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60" name="Straight Connector 98">
            <a:extLst>
              <a:ext uri="{FF2B5EF4-FFF2-40B4-BE49-F238E27FC236}">
                <a16:creationId xmlns:a16="http://schemas.microsoft.com/office/drawing/2014/main" id="{6405ADF7-704E-CF5B-BDC4-ACB20CB0BA76}"/>
              </a:ext>
            </a:extLst>
          </p:cNvPr>
          <p:cNvCxnSpPr>
            <a:cxnSpLocks/>
          </p:cNvCxnSpPr>
          <p:nvPr/>
        </p:nvCxnSpPr>
        <p:spPr>
          <a:xfrm>
            <a:off x="5210565" y="4771786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61" name="Straight Connector 98">
            <a:extLst>
              <a:ext uri="{FF2B5EF4-FFF2-40B4-BE49-F238E27FC236}">
                <a16:creationId xmlns:a16="http://schemas.microsoft.com/office/drawing/2014/main" id="{FB00198B-B295-10A3-F7F9-937F25436343}"/>
              </a:ext>
            </a:extLst>
          </p:cNvPr>
          <p:cNvCxnSpPr>
            <a:cxnSpLocks/>
          </p:cNvCxnSpPr>
          <p:nvPr/>
        </p:nvCxnSpPr>
        <p:spPr>
          <a:xfrm>
            <a:off x="5210565" y="5375537"/>
            <a:ext cx="0" cy="504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168" name="직사각형 1121">
            <a:extLst>
              <a:ext uri="{FF2B5EF4-FFF2-40B4-BE49-F238E27FC236}">
                <a16:creationId xmlns:a16="http://schemas.microsoft.com/office/drawing/2014/main" id="{ADD760C1-6EE1-F1C4-E1D4-F147F451E4BA}"/>
              </a:ext>
            </a:extLst>
          </p:cNvPr>
          <p:cNvSpPr/>
          <p:nvPr/>
        </p:nvSpPr>
        <p:spPr>
          <a:xfrm>
            <a:off x="8174513" y="3555737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+mj-lt"/>
                <a:ea typeface="+mj-ea"/>
              </a:rPr>
              <a:t>1,037</a:t>
            </a:r>
            <a:r>
              <a:rPr lang="ko-KR" altLang="en-US" sz="1050" b="1" dirty="0">
                <a:solidFill>
                  <a:schemeClr val="bg1"/>
                </a:solidFill>
              </a:rPr>
              <a:t>백만원</a:t>
            </a:r>
            <a:endParaRPr lang="en-US" altLang="ko-KR" sz="500" b="1" dirty="0">
              <a:solidFill>
                <a:schemeClr val="bg1"/>
              </a:solidFill>
            </a:endParaRPr>
          </a:p>
        </p:txBody>
      </p:sp>
      <p:sp>
        <p:nvSpPr>
          <p:cNvPr id="169" name="직사각형 1121">
            <a:extLst>
              <a:ext uri="{FF2B5EF4-FFF2-40B4-BE49-F238E27FC236}">
                <a16:creationId xmlns:a16="http://schemas.microsoft.com/office/drawing/2014/main" id="{BC40216C-8D6D-6AFC-782A-A3AB21F87A0B}"/>
              </a:ext>
            </a:extLst>
          </p:cNvPr>
          <p:cNvSpPr/>
          <p:nvPr/>
        </p:nvSpPr>
        <p:spPr>
          <a:xfrm>
            <a:off x="8174513" y="4754875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utfit ExtraBold"/>
                <a:ea typeface="Pretendard ExtraBold"/>
                <a:cs typeface="+mn-cs"/>
              </a:rPr>
              <a:t>1,360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백만원</a:t>
            </a: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0" name="직사각형 1121">
            <a:extLst>
              <a:ext uri="{FF2B5EF4-FFF2-40B4-BE49-F238E27FC236}">
                <a16:creationId xmlns:a16="http://schemas.microsoft.com/office/drawing/2014/main" id="{F04742AF-4B05-94B9-8EC6-8E959CB9F8C8}"/>
              </a:ext>
            </a:extLst>
          </p:cNvPr>
          <p:cNvSpPr/>
          <p:nvPr/>
        </p:nvSpPr>
        <p:spPr>
          <a:xfrm>
            <a:off x="8174513" y="2367099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7,252</a:t>
            </a:r>
            <a:r>
              <a:rPr lang="ko-KR" altLang="en-US" sz="1050" b="1" dirty="0">
                <a:solidFill>
                  <a:prstClr val="white"/>
                </a:solidFill>
              </a:rPr>
              <a:t>백만원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71" name="직사각형 1121">
            <a:extLst>
              <a:ext uri="{FF2B5EF4-FFF2-40B4-BE49-F238E27FC236}">
                <a16:creationId xmlns:a16="http://schemas.microsoft.com/office/drawing/2014/main" id="{FD720800-156F-DB82-F411-346B479DD4E6}"/>
              </a:ext>
            </a:extLst>
          </p:cNvPr>
          <p:cNvSpPr/>
          <p:nvPr/>
        </p:nvSpPr>
        <p:spPr>
          <a:xfrm>
            <a:off x="8174513" y="2975089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1,705</a:t>
            </a:r>
            <a:r>
              <a:rPr lang="ko-KR" altLang="en-US" sz="1050" b="1" dirty="0">
                <a:solidFill>
                  <a:prstClr val="white"/>
                </a:solidFill>
              </a:rPr>
              <a:t>백만원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72" name="직사각형 1121">
            <a:extLst>
              <a:ext uri="{FF2B5EF4-FFF2-40B4-BE49-F238E27FC236}">
                <a16:creationId xmlns:a16="http://schemas.microsoft.com/office/drawing/2014/main" id="{6FC21123-6894-4B07-5553-9198FB2A7B04}"/>
              </a:ext>
            </a:extLst>
          </p:cNvPr>
          <p:cNvSpPr/>
          <p:nvPr/>
        </p:nvSpPr>
        <p:spPr>
          <a:xfrm>
            <a:off x="8174513" y="4153010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1,072</a:t>
            </a:r>
            <a:r>
              <a:rPr lang="ko-KR" altLang="en-US" sz="1050" b="1" dirty="0">
                <a:solidFill>
                  <a:prstClr val="white"/>
                </a:solidFill>
              </a:rPr>
              <a:t>백만원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73" name="직사각형 1121">
            <a:extLst>
              <a:ext uri="{FF2B5EF4-FFF2-40B4-BE49-F238E27FC236}">
                <a16:creationId xmlns:a16="http://schemas.microsoft.com/office/drawing/2014/main" id="{46A47303-8374-D21B-FD49-FDABD639E029}"/>
              </a:ext>
            </a:extLst>
          </p:cNvPr>
          <p:cNvSpPr/>
          <p:nvPr/>
        </p:nvSpPr>
        <p:spPr>
          <a:xfrm>
            <a:off x="8174513" y="5341375"/>
            <a:ext cx="1296000" cy="540000"/>
          </a:xfrm>
          <a:prstGeom prst="rect">
            <a:avLst/>
          </a:prstGeom>
          <a:solidFill>
            <a:srgbClr val="539DFF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prstClr val="white"/>
                </a:solidFill>
                <a:latin typeface="Outfit ExtraBold"/>
                <a:ea typeface="Pretendard ExtraBold"/>
              </a:rPr>
              <a:t>389</a:t>
            </a:r>
            <a:r>
              <a:rPr lang="ko-KR" altLang="en-US" sz="1050" b="1" dirty="0">
                <a:solidFill>
                  <a:prstClr val="white"/>
                </a:solidFill>
              </a:rPr>
              <a:t>백만원</a:t>
            </a:r>
            <a:endParaRPr lang="en-US" altLang="ko-KR" sz="500" b="1" dirty="0">
              <a:solidFill>
                <a:prstClr val="white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5F63FDE1-7A89-2C75-AB4C-EB3C05BE553C}"/>
              </a:ext>
            </a:extLst>
          </p:cNvPr>
          <p:cNvSpPr txBox="1"/>
          <p:nvPr/>
        </p:nvSpPr>
        <p:spPr>
          <a:xfrm>
            <a:off x="5149921" y="2035958"/>
            <a:ext cx="1588220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                              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C2E6F93-1C8E-9ABA-E688-5EAF33D1D07E}"/>
              </a:ext>
            </a:extLst>
          </p:cNvPr>
          <p:cNvSpPr txBox="1"/>
          <p:nvPr/>
        </p:nvSpPr>
        <p:spPr>
          <a:xfrm>
            <a:off x="6754673" y="2033848"/>
            <a:ext cx="1296000" cy="2419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/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[ 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유료 </a:t>
            </a:r>
            <a:r>
              <a:rPr lang="ko-KR" altLang="en-US" sz="1100" dirty="0" err="1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전환율</a:t>
            </a:r>
            <a:r>
              <a:rPr lang="ko-KR" altLang="en-US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10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100" dirty="0">
              <a:ln>
                <a:solidFill>
                  <a:srgbClr val="D9D9D9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BDC757-C170-D93A-3C06-C33ADCDF5EFD}"/>
              </a:ext>
            </a:extLst>
          </p:cNvPr>
          <p:cNvSpPr txBox="1"/>
          <p:nvPr/>
        </p:nvSpPr>
        <p:spPr>
          <a:xfrm>
            <a:off x="453000" y="981075"/>
            <a:ext cx="8999999" cy="22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 err="1">
                <a:solidFill>
                  <a:srgbClr val="3D3D3D"/>
                </a:solidFill>
              </a:rPr>
              <a:t>시스템노바는</a:t>
            </a:r>
            <a:r>
              <a:rPr lang="ko-KR" altLang="en-US" sz="1400" b="1" dirty="0">
                <a:solidFill>
                  <a:srgbClr val="3D3D3D"/>
                </a:solidFill>
              </a:rPr>
              <a:t> 다양한 분야의 강의 플랫폼을 단기간에 성공적으로 구축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 err="1">
                <a:solidFill>
                  <a:srgbClr val="3D3D3D"/>
                </a:solidFill>
              </a:rPr>
              <a:t>안착시키고</a:t>
            </a:r>
            <a:r>
              <a:rPr lang="ko-KR" altLang="en-US" sz="1400" b="1" dirty="0">
                <a:solidFill>
                  <a:srgbClr val="3D3D3D"/>
                </a:solidFill>
              </a:rPr>
              <a:t>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4680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7D57-1DEB-C035-E6DE-FE582293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루, 일렉트릭 블루, 마조렐 블루, 코발트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8C9133-69BF-E437-0519-DFB2E36053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EEF8CC-CE8C-31A7-DB41-77D4A5A884C4}"/>
              </a:ext>
            </a:extLst>
          </p:cNvPr>
          <p:cNvSpPr txBox="1"/>
          <p:nvPr/>
        </p:nvSpPr>
        <p:spPr>
          <a:xfrm>
            <a:off x="452438" y="1386550"/>
            <a:ext cx="3064942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770C756-FB23-8D8A-BC03-185301DA8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63020"/>
              </p:ext>
            </p:extLst>
          </p:nvPr>
        </p:nvGraphicFramePr>
        <p:xfrm>
          <a:off x="344438" y="2080716"/>
          <a:ext cx="36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600" b="0" kern="120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600" b="0" kern="120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Investment Highlights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812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Market Opportunities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Business Overview</a:t>
                      </a:r>
                      <a:endParaRPr lang="ko-KR" altLang="en-US" sz="1600" b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05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cap="all" baseline="0" dirty="0">
                          <a:solidFill>
                            <a:srgbClr val="11244A"/>
                          </a:solidFill>
                          <a:latin typeface="+mj-lt"/>
                          <a:ea typeface="+mj-ea"/>
                        </a:rPr>
                        <a:t>Financial Summary</a:t>
                      </a:r>
                      <a:endParaRPr lang="ko-KR" altLang="en-US" sz="1600" b="0" cap="all" baseline="0" dirty="0">
                        <a:solidFill>
                          <a:srgbClr val="11244A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736481"/>
                  </a:ext>
                </a:extLst>
              </a:tr>
            </a:tbl>
          </a:graphicData>
        </a:graphic>
      </p:graphicFrame>
      <p:pic>
        <p:nvPicPr>
          <p:cNvPr id="2" name="그래픽 1">
            <a:extLst>
              <a:ext uri="{FF2B5EF4-FFF2-40B4-BE49-F238E27FC236}">
                <a16:creationId xmlns:a16="http://schemas.microsoft.com/office/drawing/2014/main" id="{3E391E71-A877-F461-DC67-AB6EC71C4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0908" y="549275"/>
            <a:ext cx="1642500" cy="252000"/>
          </a:xfrm>
          <a:prstGeom prst="rect">
            <a:avLst/>
          </a:prstGeom>
        </p:spPr>
      </p:pic>
      <p:grpSp>
        <p:nvGrpSpPr>
          <p:cNvPr id="7" name="그래픽 12">
            <a:extLst>
              <a:ext uri="{FF2B5EF4-FFF2-40B4-BE49-F238E27FC236}">
                <a16:creationId xmlns:a16="http://schemas.microsoft.com/office/drawing/2014/main" id="{4E425577-96EC-1BF7-E248-1A01C675365B}"/>
              </a:ext>
            </a:extLst>
          </p:cNvPr>
          <p:cNvGrpSpPr>
            <a:grpSpLocks noChangeAspect="1"/>
          </p:cNvGrpSpPr>
          <p:nvPr/>
        </p:nvGrpSpPr>
        <p:grpSpPr>
          <a:xfrm>
            <a:off x="452999" y="461630"/>
            <a:ext cx="1363661" cy="427290"/>
            <a:chOff x="1748076" y="1492704"/>
            <a:chExt cx="2780254" cy="871165"/>
          </a:xfrm>
          <a:solidFill>
            <a:schemeClr val="bg1"/>
          </a:solidFill>
        </p:grpSpPr>
        <p:sp>
          <p:nvSpPr>
            <p:cNvPr id="8" name="자유형: 도형 21">
              <a:extLst>
                <a:ext uri="{FF2B5EF4-FFF2-40B4-BE49-F238E27FC236}">
                  <a16:creationId xmlns:a16="http://schemas.microsoft.com/office/drawing/2014/main" id="{DE256596-0880-DD0C-AB74-5A2D3ED3923A}"/>
                </a:ext>
              </a:extLst>
            </p:cNvPr>
            <p:cNvSpPr/>
            <p:nvPr/>
          </p:nvSpPr>
          <p:spPr>
            <a:xfrm flipV="1">
              <a:off x="2956473" y="1542367"/>
              <a:ext cx="1551422" cy="303005"/>
            </a:xfrm>
            <a:custGeom>
              <a:avLst/>
              <a:gdLst>
                <a:gd name="connsiteX0" fmla="*/ 1551596 w 1551422"/>
                <a:gd name="connsiteY0" fmla="*/ 303014 h 303005"/>
                <a:gd name="connsiteX1" fmla="*/ 173 w 1551422"/>
                <a:gd name="connsiteY1" fmla="*/ 303014 h 303005"/>
                <a:gd name="connsiteX2" fmla="*/ 173 w 1551422"/>
                <a:gd name="connsiteY2" fmla="*/ 8 h 303005"/>
                <a:gd name="connsiteX3" fmla="*/ 1551596 w 1551422"/>
                <a:gd name="connsiteY3" fmla="*/ 8 h 30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1422" h="303005">
                  <a:moveTo>
                    <a:pt x="1551596" y="303014"/>
                  </a:moveTo>
                  <a:lnTo>
                    <a:pt x="173" y="303014"/>
                  </a:lnTo>
                  <a:lnTo>
                    <a:pt x="173" y="8"/>
                  </a:lnTo>
                  <a:lnTo>
                    <a:pt x="1551596" y="8"/>
                  </a:lnTo>
                  <a:close/>
                </a:path>
              </a:pathLst>
            </a:custGeom>
            <a:grpFill/>
            <a:ln w="60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" name="그래픽 12">
              <a:extLst>
                <a:ext uri="{FF2B5EF4-FFF2-40B4-BE49-F238E27FC236}">
                  <a16:creationId xmlns:a16="http://schemas.microsoft.com/office/drawing/2014/main" id="{491931E9-7B7A-127B-3802-0A2582E4CC94}"/>
                </a:ext>
              </a:extLst>
            </p:cNvPr>
            <p:cNvGrpSpPr/>
            <p:nvPr/>
          </p:nvGrpSpPr>
          <p:grpSpPr>
            <a:xfrm>
              <a:off x="1748076" y="1492704"/>
              <a:ext cx="2780254" cy="871165"/>
              <a:chOff x="1748076" y="1492704"/>
              <a:chExt cx="2780254" cy="871165"/>
            </a:xfrm>
            <a:grpFill/>
          </p:grpSpPr>
          <p:sp>
            <p:nvSpPr>
              <p:cNvPr id="10" name="자유형: 도형 26">
                <a:extLst>
                  <a:ext uri="{FF2B5EF4-FFF2-40B4-BE49-F238E27FC236}">
                    <a16:creationId xmlns:a16="http://schemas.microsoft.com/office/drawing/2014/main" id="{E2A85FC4-2AB4-7BE7-4870-DC62550C1E05}"/>
                  </a:ext>
                </a:extLst>
              </p:cNvPr>
              <p:cNvSpPr/>
              <p:nvPr/>
            </p:nvSpPr>
            <p:spPr>
              <a:xfrm flipV="1">
                <a:off x="1751153" y="1513324"/>
                <a:ext cx="258404" cy="360962"/>
              </a:xfrm>
              <a:custGeom>
                <a:avLst/>
                <a:gdLst>
                  <a:gd name="connsiteX0" fmla="*/ 113589 w 258404"/>
                  <a:gd name="connsiteY0" fmla="*/ 179798 h 360962"/>
                  <a:gd name="connsiteX1" fmla="*/ 82826 w 258404"/>
                  <a:gd name="connsiteY1" fmla="*/ 179798 h 360962"/>
                  <a:gd name="connsiteX2" fmla="*/ 82826 w 258404"/>
                  <a:gd name="connsiteY2" fmla="*/ 7014 h 360962"/>
                  <a:gd name="connsiteX3" fmla="*/ 105382 w 258404"/>
                  <a:gd name="connsiteY3" fmla="*/ 7014 h 360962"/>
                  <a:gd name="connsiteX4" fmla="*/ 201265 w 258404"/>
                  <a:gd name="connsiteY4" fmla="*/ 94177 h 360962"/>
                  <a:gd name="connsiteX5" fmla="*/ 113589 w 258404"/>
                  <a:gd name="connsiteY5" fmla="*/ 179798 h 360962"/>
                  <a:gd name="connsiteX6" fmla="*/ 82826 w 258404"/>
                  <a:gd name="connsiteY6" fmla="*/ 354638 h 360962"/>
                  <a:gd name="connsiteX7" fmla="*/ 82826 w 258404"/>
                  <a:gd name="connsiteY7" fmla="*/ 186461 h 360962"/>
                  <a:gd name="connsiteX8" fmla="*/ 113589 w 258404"/>
                  <a:gd name="connsiteY8" fmla="*/ 186461 h 360962"/>
                  <a:gd name="connsiteX9" fmla="*/ 179215 w 258404"/>
                  <a:gd name="connsiteY9" fmla="*/ 274137 h 360962"/>
                  <a:gd name="connsiteX10" fmla="*/ 105382 w 258404"/>
                  <a:gd name="connsiteY10" fmla="*/ 354638 h 360962"/>
                  <a:gd name="connsiteX11" fmla="*/ 102820 w 258404"/>
                  <a:gd name="connsiteY11" fmla="*/ 345 h 360962"/>
                  <a:gd name="connsiteX12" fmla="*/ 280 w 258404"/>
                  <a:gd name="connsiteY12" fmla="*/ 345 h 360962"/>
                  <a:gd name="connsiteX13" fmla="*/ 280 w 258404"/>
                  <a:gd name="connsiteY13" fmla="*/ 4957 h 360962"/>
                  <a:gd name="connsiteX14" fmla="*/ 30018 w 258404"/>
                  <a:gd name="connsiteY14" fmla="*/ 61871 h 360962"/>
                  <a:gd name="connsiteX15" fmla="*/ 30018 w 258404"/>
                  <a:gd name="connsiteY15" fmla="*/ 300800 h 360962"/>
                  <a:gd name="connsiteX16" fmla="*/ 280 w 258404"/>
                  <a:gd name="connsiteY16" fmla="*/ 356688 h 360962"/>
                  <a:gd name="connsiteX17" fmla="*/ 280 w 258404"/>
                  <a:gd name="connsiteY17" fmla="*/ 361307 h 360962"/>
                  <a:gd name="connsiteX18" fmla="*/ 102820 w 258404"/>
                  <a:gd name="connsiteY18" fmla="*/ 361307 h 360962"/>
                  <a:gd name="connsiteX19" fmla="*/ 234585 w 258404"/>
                  <a:gd name="connsiteY19" fmla="*/ 273631 h 360962"/>
                  <a:gd name="connsiteX20" fmla="*/ 148964 w 258404"/>
                  <a:gd name="connsiteY20" fmla="*/ 185442 h 360962"/>
                  <a:gd name="connsiteX21" fmla="*/ 258685 w 258404"/>
                  <a:gd name="connsiteY21" fmla="*/ 92121 h 360962"/>
                  <a:gd name="connsiteX22" fmla="*/ 102820 w 258404"/>
                  <a:gd name="connsiteY22" fmla="*/ 345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8404" h="360962">
                    <a:moveTo>
                      <a:pt x="113589" y="179798"/>
                    </a:moveTo>
                    <a:lnTo>
                      <a:pt x="82826" y="179798"/>
                    </a:lnTo>
                    <a:lnTo>
                      <a:pt x="82826" y="7014"/>
                    </a:lnTo>
                    <a:lnTo>
                      <a:pt x="105382" y="7014"/>
                    </a:lnTo>
                    <a:cubicBezTo>
                      <a:pt x="154608" y="7014"/>
                      <a:pt x="201265" y="5989"/>
                      <a:pt x="201265" y="94177"/>
                    </a:cubicBezTo>
                    <a:cubicBezTo>
                      <a:pt x="201265" y="177235"/>
                      <a:pt x="151527" y="179798"/>
                      <a:pt x="113589" y="179798"/>
                    </a:cubicBezTo>
                    <a:moveTo>
                      <a:pt x="82826" y="354638"/>
                    </a:moveTo>
                    <a:lnTo>
                      <a:pt x="82826" y="186461"/>
                    </a:lnTo>
                    <a:lnTo>
                      <a:pt x="113589" y="186461"/>
                    </a:lnTo>
                    <a:cubicBezTo>
                      <a:pt x="145377" y="186461"/>
                      <a:pt x="179215" y="196204"/>
                      <a:pt x="179215" y="274137"/>
                    </a:cubicBezTo>
                    <a:cubicBezTo>
                      <a:pt x="179215" y="349507"/>
                      <a:pt x="136664" y="354638"/>
                      <a:pt x="105382" y="354638"/>
                    </a:cubicBezTo>
                    <a:close/>
                    <a:moveTo>
                      <a:pt x="102820" y="345"/>
                    </a:moveTo>
                    <a:lnTo>
                      <a:pt x="280" y="345"/>
                    </a:lnTo>
                    <a:lnTo>
                      <a:pt x="280" y="4957"/>
                    </a:lnTo>
                    <a:cubicBezTo>
                      <a:pt x="22325" y="4957"/>
                      <a:pt x="30018" y="27008"/>
                      <a:pt x="30018" y="61871"/>
                    </a:cubicBezTo>
                    <a:lnTo>
                      <a:pt x="30018" y="300800"/>
                    </a:lnTo>
                    <a:cubicBezTo>
                      <a:pt x="30018" y="332588"/>
                      <a:pt x="22837" y="356688"/>
                      <a:pt x="280" y="356688"/>
                    </a:cubicBezTo>
                    <a:lnTo>
                      <a:pt x="280" y="361307"/>
                    </a:lnTo>
                    <a:lnTo>
                      <a:pt x="102820" y="361307"/>
                    </a:lnTo>
                    <a:cubicBezTo>
                      <a:pt x="174090" y="361307"/>
                      <a:pt x="234585" y="357201"/>
                      <a:pt x="234585" y="273631"/>
                    </a:cubicBezTo>
                    <a:cubicBezTo>
                      <a:pt x="234585" y="193642"/>
                      <a:pt x="159221" y="185442"/>
                      <a:pt x="148964" y="185442"/>
                    </a:cubicBezTo>
                    <a:cubicBezTo>
                      <a:pt x="182290" y="185442"/>
                      <a:pt x="258685" y="178779"/>
                      <a:pt x="258685" y="92121"/>
                    </a:cubicBezTo>
                    <a:cubicBezTo>
                      <a:pt x="258685" y="2913"/>
                      <a:pt x="191527" y="345"/>
                      <a:pt x="102820" y="345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27">
                <a:extLst>
                  <a:ext uri="{FF2B5EF4-FFF2-40B4-BE49-F238E27FC236}">
                    <a16:creationId xmlns:a16="http://schemas.microsoft.com/office/drawing/2014/main" id="{F981E659-CAEA-CEFD-C42A-ED0D76B6AEAD}"/>
                  </a:ext>
                </a:extLst>
              </p:cNvPr>
              <p:cNvSpPr/>
              <p:nvPr/>
            </p:nvSpPr>
            <p:spPr>
              <a:xfrm flipV="1">
                <a:off x="2091574" y="1492704"/>
                <a:ext cx="324112" cy="386382"/>
              </a:xfrm>
              <a:custGeom>
                <a:avLst/>
                <a:gdLst>
                  <a:gd name="connsiteX0" fmla="*/ 99962 w 324112"/>
                  <a:gd name="connsiteY0" fmla="*/ 281518 h 386382"/>
                  <a:gd name="connsiteX1" fmla="*/ 134548 w 324112"/>
                  <a:gd name="connsiteY1" fmla="*/ 228704 h 386382"/>
                  <a:gd name="connsiteX2" fmla="*/ 168151 w 324112"/>
                  <a:gd name="connsiteY2" fmla="*/ 359450 h 386382"/>
                  <a:gd name="connsiteX3" fmla="*/ 112142 w 324112"/>
                  <a:gd name="connsiteY3" fmla="*/ 374319 h 386382"/>
                  <a:gd name="connsiteX4" fmla="*/ 99962 w 324112"/>
                  <a:gd name="connsiteY4" fmla="*/ 281518 h 386382"/>
                  <a:gd name="connsiteX5" fmla="*/ 180807 w 324112"/>
                  <a:gd name="connsiteY5" fmla="*/ 76945 h 386382"/>
                  <a:gd name="connsiteX6" fmla="*/ 99962 w 324112"/>
                  <a:gd name="connsiteY6" fmla="*/ 199997 h 386382"/>
                  <a:gd name="connsiteX7" fmla="*/ 72696 w 324112"/>
                  <a:gd name="connsiteY7" fmla="*/ 182047 h 386382"/>
                  <a:gd name="connsiteX8" fmla="*/ 58575 w 324112"/>
                  <a:gd name="connsiteY8" fmla="*/ 53870 h 386382"/>
                  <a:gd name="connsiteX9" fmla="*/ 180807 w 324112"/>
                  <a:gd name="connsiteY9" fmla="*/ 76945 h 386382"/>
                  <a:gd name="connsiteX10" fmla="*/ 324468 w 324112"/>
                  <a:gd name="connsiteY10" fmla="*/ 56945 h 386382"/>
                  <a:gd name="connsiteX11" fmla="*/ 274802 w 324112"/>
                  <a:gd name="connsiteY11" fmla="*/ 550 h 386382"/>
                  <a:gd name="connsiteX12" fmla="*/ 213927 w 324112"/>
                  <a:gd name="connsiteY12" fmla="*/ 26182 h 386382"/>
                  <a:gd name="connsiteX13" fmla="*/ 185679 w 324112"/>
                  <a:gd name="connsiteY13" fmla="*/ 70789 h 386382"/>
                  <a:gd name="connsiteX14" fmla="*/ 19617 w 324112"/>
                  <a:gd name="connsiteY14" fmla="*/ 34901 h 386382"/>
                  <a:gd name="connsiteX15" fmla="*/ 68795 w 324112"/>
                  <a:gd name="connsiteY15" fmla="*/ 188203 h 386382"/>
                  <a:gd name="connsiteX16" fmla="*/ 96073 w 324112"/>
                  <a:gd name="connsiteY16" fmla="*/ 205635 h 386382"/>
                  <a:gd name="connsiteX17" fmla="*/ 71725 w 324112"/>
                  <a:gd name="connsiteY17" fmla="*/ 243573 h 386382"/>
                  <a:gd name="connsiteX18" fmla="*/ 103857 w 324112"/>
                  <a:gd name="connsiteY18" fmla="*/ 385088 h 386382"/>
                  <a:gd name="connsiteX19" fmla="*/ 173993 w 324112"/>
                  <a:gd name="connsiteY19" fmla="*/ 364069 h 386382"/>
                  <a:gd name="connsiteX20" fmla="*/ 138437 w 324112"/>
                  <a:gd name="connsiteY20" fmla="*/ 222554 h 386382"/>
                  <a:gd name="connsiteX21" fmla="*/ 203701 w 324112"/>
                  <a:gd name="connsiteY21" fmla="*/ 121040 h 386382"/>
                  <a:gd name="connsiteX22" fmla="*/ 261646 w 324112"/>
                  <a:gd name="connsiteY22" fmla="*/ 181535 h 386382"/>
                  <a:gd name="connsiteX23" fmla="*/ 291842 w 324112"/>
                  <a:gd name="connsiteY23" fmla="*/ 175897 h 386382"/>
                  <a:gd name="connsiteX24" fmla="*/ 294278 w 324112"/>
                  <a:gd name="connsiteY24" fmla="*/ 139490 h 386382"/>
                  <a:gd name="connsiteX25" fmla="*/ 259216 w 324112"/>
                  <a:gd name="connsiteY25" fmla="*/ 136421 h 386382"/>
                  <a:gd name="connsiteX26" fmla="*/ 250931 w 324112"/>
                  <a:gd name="connsiteY26" fmla="*/ 153853 h 386382"/>
                  <a:gd name="connsiteX27" fmla="*/ 207590 w 324112"/>
                  <a:gd name="connsiteY27" fmla="*/ 115396 h 386382"/>
                  <a:gd name="connsiteX28" fmla="*/ 246059 w 324112"/>
                  <a:gd name="connsiteY28" fmla="*/ 56945 h 386382"/>
                  <a:gd name="connsiteX29" fmla="*/ 285028 w 324112"/>
                  <a:gd name="connsiteY29" fmla="*/ 32845 h 386382"/>
                  <a:gd name="connsiteX30" fmla="*/ 318137 w 324112"/>
                  <a:gd name="connsiteY30" fmla="*/ 56945 h 38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24112" h="386382">
                    <a:moveTo>
                      <a:pt x="99962" y="281518"/>
                    </a:moveTo>
                    <a:lnTo>
                      <a:pt x="134548" y="228704"/>
                    </a:lnTo>
                    <a:cubicBezTo>
                      <a:pt x="199318" y="271774"/>
                      <a:pt x="192010" y="328175"/>
                      <a:pt x="168151" y="359450"/>
                    </a:cubicBezTo>
                    <a:cubicBezTo>
                      <a:pt x="154023" y="374832"/>
                      <a:pt x="131623" y="382013"/>
                      <a:pt x="112142" y="374319"/>
                    </a:cubicBezTo>
                    <a:cubicBezTo>
                      <a:pt x="82446" y="362525"/>
                      <a:pt x="76591" y="317924"/>
                      <a:pt x="99962" y="281518"/>
                    </a:cubicBezTo>
                    <a:moveTo>
                      <a:pt x="180807" y="76945"/>
                    </a:moveTo>
                    <a:lnTo>
                      <a:pt x="99962" y="199997"/>
                    </a:lnTo>
                    <a:lnTo>
                      <a:pt x="72696" y="182047"/>
                    </a:lnTo>
                    <a:cubicBezTo>
                      <a:pt x="44459" y="161540"/>
                      <a:pt x="16699" y="106165"/>
                      <a:pt x="58575" y="53870"/>
                    </a:cubicBezTo>
                    <a:cubicBezTo>
                      <a:pt x="88771" y="15932"/>
                      <a:pt x="155971" y="16957"/>
                      <a:pt x="180807" y="76945"/>
                    </a:cubicBezTo>
                    <a:moveTo>
                      <a:pt x="324468" y="56945"/>
                    </a:moveTo>
                    <a:cubicBezTo>
                      <a:pt x="323980" y="19519"/>
                      <a:pt x="297202" y="2594"/>
                      <a:pt x="274802" y="550"/>
                    </a:cubicBezTo>
                    <a:cubicBezTo>
                      <a:pt x="274802" y="550"/>
                      <a:pt x="232921" y="-3556"/>
                      <a:pt x="213927" y="26182"/>
                    </a:cubicBezTo>
                    <a:lnTo>
                      <a:pt x="185679" y="70789"/>
                    </a:lnTo>
                    <a:cubicBezTo>
                      <a:pt x="168639" y="12338"/>
                      <a:pt x="70742" y="-33807"/>
                      <a:pt x="19617" y="34901"/>
                    </a:cubicBezTo>
                    <a:cubicBezTo>
                      <a:pt x="-31031" y="103096"/>
                      <a:pt x="29844" y="164616"/>
                      <a:pt x="68795" y="188203"/>
                    </a:cubicBezTo>
                    <a:lnTo>
                      <a:pt x="96073" y="205635"/>
                    </a:lnTo>
                    <a:lnTo>
                      <a:pt x="71725" y="243573"/>
                    </a:lnTo>
                    <a:cubicBezTo>
                      <a:pt x="23513" y="312281"/>
                      <a:pt x="49325" y="374832"/>
                      <a:pt x="103857" y="385088"/>
                    </a:cubicBezTo>
                    <a:cubicBezTo>
                      <a:pt x="135518" y="390726"/>
                      <a:pt x="159378" y="381500"/>
                      <a:pt x="173993" y="364069"/>
                    </a:cubicBezTo>
                    <a:cubicBezTo>
                      <a:pt x="194934" y="338937"/>
                      <a:pt x="213433" y="275874"/>
                      <a:pt x="138437" y="222554"/>
                    </a:cubicBezTo>
                    <a:lnTo>
                      <a:pt x="203701" y="121040"/>
                    </a:lnTo>
                    <a:cubicBezTo>
                      <a:pt x="222200" y="169228"/>
                      <a:pt x="248983" y="178460"/>
                      <a:pt x="261646" y="181535"/>
                    </a:cubicBezTo>
                    <a:cubicBezTo>
                      <a:pt x="271383" y="183591"/>
                      <a:pt x="283557" y="183072"/>
                      <a:pt x="291842" y="175897"/>
                    </a:cubicBezTo>
                    <a:cubicBezTo>
                      <a:pt x="301091" y="168203"/>
                      <a:pt x="304498" y="151284"/>
                      <a:pt x="294278" y="139490"/>
                    </a:cubicBezTo>
                    <a:cubicBezTo>
                      <a:pt x="285505" y="128727"/>
                      <a:pt x="269918" y="127184"/>
                      <a:pt x="259216" y="136421"/>
                    </a:cubicBezTo>
                    <a:cubicBezTo>
                      <a:pt x="253367" y="141546"/>
                      <a:pt x="251419" y="146671"/>
                      <a:pt x="250931" y="153853"/>
                    </a:cubicBezTo>
                    <a:cubicBezTo>
                      <a:pt x="250931" y="165128"/>
                      <a:pt x="220741" y="156928"/>
                      <a:pt x="207590" y="115396"/>
                    </a:cubicBezTo>
                    <a:lnTo>
                      <a:pt x="246059" y="56945"/>
                    </a:lnTo>
                    <a:cubicBezTo>
                      <a:pt x="261646" y="33363"/>
                      <a:pt x="285028" y="32845"/>
                      <a:pt x="285028" y="32845"/>
                    </a:cubicBezTo>
                    <a:cubicBezTo>
                      <a:pt x="300120" y="32845"/>
                      <a:pt x="315701" y="39001"/>
                      <a:pt x="318137" y="56945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29">
                <a:extLst>
                  <a:ext uri="{FF2B5EF4-FFF2-40B4-BE49-F238E27FC236}">
                    <a16:creationId xmlns:a16="http://schemas.microsoft.com/office/drawing/2014/main" id="{91333D26-D04B-B5E1-F96C-4170FA876D67}"/>
                  </a:ext>
                </a:extLst>
              </p:cNvPr>
              <p:cNvSpPr/>
              <p:nvPr/>
            </p:nvSpPr>
            <p:spPr>
              <a:xfrm flipV="1">
                <a:off x="2427647" y="1513327"/>
                <a:ext cx="343018" cy="360956"/>
              </a:xfrm>
              <a:custGeom>
                <a:avLst/>
                <a:gdLst>
                  <a:gd name="connsiteX0" fmla="*/ 343489 w 343018"/>
                  <a:gd name="connsiteY0" fmla="*/ 361331 h 360956"/>
                  <a:gd name="connsiteX1" fmla="*/ 343489 w 343018"/>
                  <a:gd name="connsiteY1" fmla="*/ 354662 h 360956"/>
                  <a:gd name="connsiteX2" fmla="*/ 237862 w 343018"/>
                  <a:gd name="connsiteY2" fmla="*/ 241867 h 360956"/>
                  <a:gd name="connsiteX3" fmla="*/ 198899 w 343018"/>
                  <a:gd name="connsiteY3" fmla="*/ 161371 h 360956"/>
                  <a:gd name="connsiteX4" fmla="*/ 198899 w 343018"/>
                  <a:gd name="connsiteY4" fmla="*/ 57801 h 360956"/>
                  <a:gd name="connsiteX5" fmla="*/ 237349 w 343018"/>
                  <a:gd name="connsiteY5" fmla="*/ 7044 h 360956"/>
                  <a:gd name="connsiteX6" fmla="*/ 237349 w 343018"/>
                  <a:gd name="connsiteY6" fmla="*/ 375 h 360956"/>
                  <a:gd name="connsiteX7" fmla="*/ 112241 w 343018"/>
                  <a:gd name="connsiteY7" fmla="*/ 375 h 360956"/>
                  <a:gd name="connsiteX8" fmla="*/ 112241 w 343018"/>
                  <a:gd name="connsiteY8" fmla="*/ 7044 h 360956"/>
                  <a:gd name="connsiteX9" fmla="*/ 150698 w 343018"/>
                  <a:gd name="connsiteY9" fmla="*/ 57801 h 360956"/>
                  <a:gd name="connsiteX10" fmla="*/ 150698 w 343018"/>
                  <a:gd name="connsiteY10" fmla="*/ 148034 h 360956"/>
                  <a:gd name="connsiteX11" fmla="*/ 54309 w 343018"/>
                  <a:gd name="connsiteY11" fmla="*/ 315186 h 360956"/>
                  <a:gd name="connsiteX12" fmla="*/ 471 w 343018"/>
                  <a:gd name="connsiteY12" fmla="*/ 355175 h 360956"/>
                  <a:gd name="connsiteX13" fmla="*/ 471 w 343018"/>
                  <a:gd name="connsiteY13" fmla="*/ 361331 h 360956"/>
                  <a:gd name="connsiteX14" fmla="*/ 132247 w 343018"/>
                  <a:gd name="connsiteY14" fmla="*/ 361331 h 360956"/>
                  <a:gd name="connsiteX15" fmla="*/ 132247 w 343018"/>
                  <a:gd name="connsiteY15" fmla="*/ 355175 h 360956"/>
                  <a:gd name="connsiteX16" fmla="*/ 120448 w 343018"/>
                  <a:gd name="connsiteY16" fmla="*/ 297242 h 360956"/>
                  <a:gd name="connsiteX17" fmla="*/ 195824 w 343018"/>
                  <a:gd name="connsiteY17" fmla="*/ 169572 h 360956"/>
                  <a:gd name="connsiteX18" fmla="*/ 234787 w 343018"/>
                  <a:gd name="connsiteY18" fmla="*/ 249554 h 360956"/>
                  <a:gd name="connsiteX19" fmla="*/ 211718 w 343018"/>
                  <a:gd name="connsiteY19" fmla="*/ 354662 h 360956"/>
                  <a:gd name="connsiteX20" fmla="*/ 211718 w 343018"/>
                  <a:gd name="connsiteY20" fmla="*/ 361331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3018" h="360956">
                    <a:moveTo>
                      <a:pt x="343489" y="361331"/>
                    </a:moveTo>
                    <a:lnTo>
                      <a:pt x="343489" y="354662"/>
                    </a:lnTo>
                    <a:cubicBezTo>
                      <a:pt x="321444" y="354662"/>
                      <a:pt x="294775" y="354662"/>
                      <a:pt x="237862" y="241867"/>
                    </a:cubicBezTo>
                    <a:lnTo>
                      <a:pt x="198899" y="161371"/>
                    </a:lnTo>
                    <a:lnTo>
                      <a:pt x="198899" y="57801"/>
                    </a:lnTo>
                    <a:cubicBezTo>
                      <a:pt x="198899" y="16269"/>
                      <a:pt x="215818" y="7044"/>
                      <a:pt x="237349" y="7044"/>
                    </a:cubicBezTo>
                    <a:lnTo>
                      <a:pt x="237349" y="375"/>
                    </a:lnTo>
                    <a:lnTo>
                      <a:pt x="112241" y="375"/>
                    </a:lnTo>
                    <a:lnTo>
                      <a:pt x="112241" y="7044"/>
                    </a:lnTo>
                    <a:cubicBezTo>
                      <a:pt x="133785" y="7044"/>
                      <a:pt x="150698" y="16269"/>
                      <a:pt x="150698" y="57801"/>
                    </a:cubicBezTo>
                    <a:lnTo>
                      <a:pt x="150698" y="148034"/>
                    </a:lnTo>
                    <a:cubicBezTo>
                      <a:pt x="75334" y="281342"/>
                      <a:pt x="54309" y="315186"/>
                      <a:pt x="54309" y="315186"/>
                    </a:cubicBezTo>
                    <a:cubicBezTo>
                      <a:pt x="31246" y="354156"/>
                      <a:pt x="17402" y="354156"/>
                      <a:pt x="471" y="355175"/>
                    </a:cubicBezTo>
                    <a:lnTo>
                      <a:pt x="471" y="361331"/>
                    </a:lnTo>
                    <a:lnTo>
                      <a:pt x="132247" y="361331"/>
                    </a:lnTo>
                    <a:lnTo>
                      <a:pt x="132247" y="355175"/>
                    </a:lnTo>
                    <a:cubicBezTo>
                      <a:pt x="117885" y="355175"/>
                      <a:pt x="85596" y="356200"/>
                      <a:pt x="120448" y="297242"/>
                    </a:cubicBezTo>
                    <a:lnTo>
                      <a:pt x="195824" y="169572"/>
                    </a:lnTo>
                    <a:lnTo>
                      <a:pt x="234787" y="249554"/>
                    </a:lnTo>
                    <a:cubicBezTo>
                      <a:pt x="252224" y="284936"/>
                      <a:pt x="280931" y="354662"/>
                      <a:pt x="211718" y="354662"/>
                    </a:cubicBezTo>
                    <a:lnTo>
                      <a:pt x="211718" y="361331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30">
                <a:extLst>
                  <a:ext uri="{FF2B5EF4-FFF2-40B4-BE49-F238E27FC236}">
                    <a16:creationId xmlns:a16="http://schemas.microsoft.com/office/drawing/2014/main" id="{25BC9782-4DBB-FEF6-1369-D9591AAFC99A}"/>
                  </a:ext>
                </a:extLst>
              </p:cNvPr>
              <p:cNvSpPr/>
              <p:nvPr/>
            </p:nvSpPr>
            <p:spPr>
              <a:xfrm flipV="1">
                <a:off x="1748076" y="1998302"/>
                <a:ext cx="263535" cy="360956"/>
              </a:xfrm>
              <a:custGeom>
                <a:avLst/>
                <a:gdLst>
                  <a:gd name="connsiteX0" fmla="*/ 94103 w 263535"/>
                  <a:gd name="connsiteY0" fmla="*/ 161445 h 360956"/>
                  <a:gd name="connsiteX1" fmla="*/ 207930 w 263535"/>
                  <a:gd name="connsiteY1" fmla="*/ 257835 h 360956"/>
                  <a:gd name="connsiteX2" fmla="*/ 94103 w 263535"/>
                  <a:gd name="connsiteY2" fmla="*/ 354742 h 360956"/>
                  <a:gd name="connsiteX3" fmla="*/ 84878 w 263535"/>
                  <a:gd name="connsiteY3" fmla="*/ 354742 h 360956"/>
                  <a:gd name="connsiteX4" fmla="*/ 84878 w 263535"/>
                  <a:gd name="connsiteY4" fmla="*/ 161445 h 360956"/>
                  <a:gd name="connsiteX5" fmla="*/ 84878 w 263535"/>
                  <a:gd name="connsiteY5" fmla="*/ 70688 h 360956"/>
                  <a:gd name="connsiteX6" fmla="*/ 135629 w 263535"/>
                  <a:gd name="connsiteY6" fmla="*/ 7118 h 360956"/>
                  <a:gd name="connsiteX7" fmla="*/ 135629 w 263535"/>
                  <a:gd name="connsiteY7" fmla="*/ 449 h 360956"/>
                  <a:gd name="connsiteX8" fmla="*/ 277 w 263535"/>
                  <a:gd name="connsiteY8" fmla="*/ 449 h 360956"/>
                  <a:gd name="connsiteX9" fmla="*/ 277 w 263535"/>
                  <a:gd name="connsiteY9" fmla="*/ 7118 h 360956"/>
                  <a:gd name="connsiteX10" fmla="*/ 34115 w 263535"/>
                  <a:gd name="connsiteY10" fmla="*/ 69150 h 360956"/>
                  <a:gd name="connsiteX11" fmla="*/ 34115 w 263535"/>
                  <a:gd name="connsiteY11" fmla="*/ 306542 h 360956"/>
                  <a:gd name="connsiteX12" fmla="*/ 1302 w 263535"/>
                  <a:gd name="connsiteY12" fmla="*/ 354742 h 360956"/>
                  <a:gd name="connsiteX13" fmla="*/ 1302 w 263535"/>
                  <a:gd name="connsiteY13" fmla="*/ 361405 h 360956"/>
                  <a:gd name="connsiteX14" fmla="*/ 94103 w 263535"/>
                  <a:gd name="connsiteY14" fmla="*/ 361405 h 360956"/>
                  <a:gd name="connsiteX15" fmla="*/ 263813 w 263535"/>
                  <a:gd name="connsiteY15" fmla="*/ 257835 h 360956"/>
                  <a:gd name="connsiteX16" fmla="*/ 94103 w 263535"/>
                  <a:gd name="connsiteY16" fmla="*/ 154783 h 360956"/>
                  <a:gd name="connsiteX17" fmla="*/ 84878 w 263535"/>
                  <a:gd name="connsiteY17" fmla="*/ 154783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3535" h="360956">
                    <a:moveTo>
                      <a:pt x="94103" y="161445"/>
                    </a:moveTo>
                    <a:cubicBezTo>
                      <a:pt x="156660" y="161445"/>
                      <a:pt x="207930" y="162983"/>
                      <a:pt x="207930" y="257835"/>
                    </a:cubicBezTo>
                    <a:cubicBezTo>
                      <a:pt x="207930" y="355261"/>
                      <a:pt x="154092" y="354742"/>
                      <a:pt x="94103" y="354742"/>
                    </a:cubicBezTo>
                    <a:lnTo>
                      <a:pt x="84878" y="354742"/>
                    </a:lnTo>
                    <a:lnTo>
                      <a:pt x="84878" y="161445"/>
                    </a:lnTo>
                    <a:close/>
                    <a:moveTo>
                      <a:pt x="84878" y="70688"/>
                    </a:moveTo>
                    <a:cubicBezTo>
                      <a:pt x="84878" y="9162"/>
                      <a:pt x="103329" y="7118"/>
                      <a:pt x="135629" y="7118"/>
                    </a:cubicBezTo>
                    <a:lnTo>
                      <a:pt x="135629" y="449"/>
                    </a:lnTo>
                    <a:lnTo>
                      <a:pt x="277" y="449"/>
                    </a:lnTo>
                    <a:lnTo>
                      <a:pt x="277" y="7118"/>
                    </a:lnTo>
                    <a:cubicBezTo>
                      <a:pt x="25396" y="7118"/>
                      <a:pt x="34115" y="20449"/>
                      <a:pt x="34115" y="69150"/>
                    </a:cubicBezTo>
                    <a:lnTo>
                      <a:pt x="34115" y="306542"/>
                    </a:lnTo>
                    <a:cubicBezTo>
                      <a:pt x="34115" y="341923"/>
                      <a:pt x="26934" y="354742"/>
                      <a:pt x="1302" y="354742"/>
                    </a:cubicBezTo>
                    <a:lnTo>
                      <a:pt x="1302" y="361405"/>
                    </a:lnTo>
                    <a:lnTo>
                      <a:pt x="94103" y="361405"/>
                    </a:lnTo>
                    <a:cubicBezTo>
                      <a:pt x="196130" y="361405"/>
                      <a:pt x="263813" y="349099"/>
                      <a:pt x="263813" y="257835"/>
                    </a:cubicBezTo>
                    <a:cubicBezTo>
                      <a:pt x="263813" y="167089"/>
                      <a:pt x="196130" y="154783"/>
                      <a:pt x="94103" y="154783"/>
                    </a:cubicBezTo>
                    <a:lnTo>
                      <a:pt x="84878" y="154783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31">
                <a:extLst>
                  <a:ext uri="{FF2B5EF4-FFF2-40B4-BE49-F238E27FC236}">
                    <a16:creationId xmlns:a16="http://schemas.microsoft.com/office/drawing/2014/main" id="{1196B249-74EE-3935-3A45-7794273B8EC4}"/>
                  </a:ext>
                </a:extLst>
              </p:cNvPr>
              <p:cNvSpPr/>
              <p:nvPr/>
            </p:nvSpPr>
            <p:spPr>
              <a:xfrm flipV="1">
                <a:off x="2031586" y="1998298"/>
                <a:ext cx="336343" cy="360962"/>
              </a:xfrm>
              <a:custGeom>
                <a:avLst/>
                <a:gdLst>
                  <a:gd name="connsiteX0" fmla="*/ 210577 w 336343"/>
                  <a:gd name="connsiteY0" fmla="*/ 116324 h 360962"/>
                  <a:gd name="connsiteX1" fmla="*/ 143401 w 336343"/>
                  <a:gd name="connsiteY1" fmla="*/ 286540 h 360962"/>
                  <a:gd name="connsiteX2" fmla="*/ 81368 w 336343"/>
                  <a:gd name="connsiteY2" fmla="*/ 116324 h 360962"/>
                  <a:gd name="connsiteX3" fmla="*/ 336704 w 336343"/>
                  <a:gd name="connsiteY3" fmla="*/ 442 h 360962"/>
                  <a:gd name="connsiteX4" fmla="*/ 219796 w 336343"/>
                  <a:gd name="connsiteY4" fmla="*/ 442 h 360962"/>
                  <a:gd name="connsiteX5" fmla="*/ 219796 w 336343"/>
                  <a:gd name="connsiteY5" fmla="*/ 7116 h 360962"/>
                  <a:gd name="connsiteX6" fmla="*/ 230565 w 336343"/>
                  <a:gd name="connsiteY6" fmla="*/ 65049 h 360962"/>
                  <a:gd name="connsiteX7" fmla="*/ 212627 w 336343"/>
                  <a:gd name="connsiteY7" fmla="*/ 109656 h 360962"/>
                  <a:gd name="connsiteX8" fmla="*/ 79825 w 336343"/>
                  <a:gd name="connsiteY8" fmla="*/ 109656 h 360962"/>
                  <a:gd name="connsiteX9" fmla="*/ 114700 w 336343"/>
                  <a:gd name="connsiteY9" fmla="*/ 7116 h 360962"/>
                  <a:gd name="connsiteX10" fmla="*/ 114700 w 336343"/>
                  <a:gd name="connsiteY10" fmla="*/ 442 h 360962"/>
                  <a:gd name="connsiteX11" fmla="*/ 361 w 336343"/>
                  <a:gd name="connsiteY11" fmla="*/ 442 h 360962"/>
                  <a:gd name="connsiteX12" fmla="*/ 361 w 336343"/>
                  <a:gd name="connsiteY12" fmla="*/ 7116 h 360962"/>
                  <a:gd name="connsiteX13" fmla="*/ 77268 w 336343"/>
                  <a:gd name="connsiteY13" fmla="*/ 128112 h 360962"/>
                  <a:gd name="connsiteX14" fmla="*/ 162889 w 336343"/>
                  <a:gd name="connsiteY14" fmla="*/ 361404 h 360962"/>
                  <a:gd name="connsiteX15" fmla="*/ 168520 w 336343"/>
                  <a:gd name="connsiteY15" fmla="*/ 361404 h 360962"/>
                  <a:gd name="connsiteX16" fmla="*/ 294660 w 336343"/>
                  <a:gd name="connsiteY16" fmla="*/ 48636 h 360962"/>
                  <a:gd name="connsiteX17" fmla="*/ 336704 w 336343"/>
                  <a:gd name="connsiteY17" fmla="*/ 7116 h 360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6343" h="360962">
                    <a:moveTo>
                      <a:pt x="210577" y="116324"/>
                    </a:moveTo>
                    <a:lnTo>
                      <a:pt x="143401" y="286540"/>
                    </a:lnTo>
                    <a:lnTo>
                      <a:pt x="81368" y="116324"/>
                    </a:lnTo>
                    <a:close/>
                    <a:moveTo>
                      <a:pt x="336704" y="442"/>
                    </a:moveTo>
                    <a:lnTo>
                      <a:pt x="219796" y="442"/>
                    </a:lnTo>
                    <a:lnTo>
                      <a:pt x="219796" y="7116"/>
                    </a:lnTo>
                    <a:cubicBezTo>
                      <a:pt x="247484" y="7116"/>
                      <a:pt x="242359" y="36330"/>
                      <a:pt x="230565" y="65049"/>
                    </a:cubicBezTo>
                    <a:lnTo>
                      <a:pt x="212627" y="109656"/>
                    </a:lnTo>
                    <a:lnTo>
                      <a:pt x="79825" y="109656"/>
                    </a:lnTo>
                    <a:cubicBezTo>
                      <a:pt x="65987" y="68636"/>
                      <a:pt x="43430" y="5060"/>
                      <a:pt x="114700" y="7116"/>
                    </a:cubicBezTo>
                    <a:lnTo>
                      <a:pt x="114700" y="442"/>
                    </a:lnTo>
                    <a:lnTo>
                      <a:pt x="361" y="442"/>
                    </a:lnTo>
                    <a:lnTo>
                      <a:pt x="361" y="7116"/>
                    </a:lnTo>
                    <a:cubicBezTo>
                      <a:pt x="19842" y="7623"/>
                      <a:pt x="32661" y="9679"/>
                      <a:pt x="77268" y="128112"/>
                    </a:cubicBezTo>
                    <a:lnTo>
                      <a:pt x="162889" y="361404"/>
                    </a:lnTo>
                    <a:lnTo>
                      <a:pt x="168520" y="361404"/>
                    </a:lnTo>
                    <a:cubicBezTo>
                      <a:pt x="231077" y="210664"/>
                      <a:pt x="294660" y="48636"/>
                      <a:pt x="294660" y="48636"/>
                    </a:cubicBezTo>
                    <a:cubicBezTo>
                      <a:pt x="311585" y="7623"/>
                      <a:pt x="322347" y="8141"/>
                      <a:pt x="336704" y="711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32">
                <a:extLst>
                  <a:ext uri="{FF2B5EF4-FFF2-40B4-BE49-F238E27FC236}">
                    <a16:creationId xmlns:a16="http://schemas.microsoft.com/office/drawing/2014/main" id="{43ADBC8A-5822-6B02-26A3-19D4A5B37785}"/>
                  </a:ext>
                </a:extLst>
              </p:cNvPr>
              <p:cNvSpPr/>
              <p:nvPr/>
            </p:nvSpPr>
            <p:spPr>
              <a:xfrm flipV="1">
                <a:off x="2424299" y="1998303"/>
                <a:ext cx="311736" cy="360956"/>
              </a:xfrm>
              <a:custGeom>
                <a:avLst/>
                <a:gdLst>
                  <a:gd name="connsiteX0" fmla="*/ 98361 w 311736"/>
                  <a:gd name="connsiteY0" fmla="*/ 354774 h 360956"/>
                  <a:gd name="connsiteX1" fmla="*/ 82461 w 311736"/>
                  <a:gd name="connsiteY1" fmla="*/ 354774 h 360956"/>
                  <a:gd name="connsiteX2" fmla="*/ 82461 w 311736"/>
                  <a:gd name="connsiteY2" fmla="*/ 172759 h 360956"/>
                  <a:gd name="connsiteX3" fmla="*/ 98361 w 311736"/>
                  <a:gd name="connsiteY3" fmla="*/ 172759 h 360956"/>
                  <a:gd name="connsiteX4" fmla="*/ 200388 w 311736"/>
                  <a:gd name="connsiteY4" fmla="*/ 263504 h 360956"/>
                  <a:gd name="connsiteX5" fmla="*/ 98361 w 311736"/>
                  <a:gd name="connsiteY5" fmla="*/ 354774 h 360956"/>
                  <a:gd name="connsiteX6" fmla="*/ 312165 w 311736"/>
                  <a:gd name="connsiteY6" fmla="*/ 481 h 360956"/>
                  <a:gd name="connsiteX7" fmla="*/ 273189 w 311736"/>
                  <a:gd name="connsiteY7" fmla="*/ 481 h 360956"/>
                  <a:gd name="connsiteX8" fmla="*/ 186037 w 311736"/>
                  <a:gd name="connsiteY8" fmla="*/ 112258 h 360956"/>
                  <a:gd name="connsiteX9" fmla="*/ 106561 w 311736"/>
                  <a:gd name="connsiteY9" fmla="*/ 166090 h 360956"/>
                  <a:gd name="connsiteX10" fmla="*/ 82461 w 311736"/>
                  <a:gd name="connsiteY10" fmla="*/ 166090 h 360956"/>
                  <a:gd name="connsiteX11" fmla="*/ 82461 w 311736"/>
                  <a:gd name="connsiteY11" fmla="*/ 53807 h 360956"/>
                  <a:gd name="connsiteX12" fmla="*/ 115280 w 311736"/>
                  <a:gd name="connsiteY12" fmla="*/ 7156 h 360956"/>
                  <a:gd name="connsiteX13" fmla="*/ 115280 w 311736"/>
                  <a:gd name="connsiteY13" fmla="*/ 481 h 360956"/>
                  <a:gd name="connsiteX14" fmla="*/ 428 w 311736"/>
                  <a:gd name="connsiteY14" fmla="*/ 481 h 360956"/>
                  <a:gd name="connsiteX15" fmla="*/ 428 w 311736"/>
                  <a:gd name="connsiteY15" fmla="*/ 7156 h 360956"/>
                  <a:gd name="connsiteX16" fmla="*/ 32210 w 311736"/>
                  <a:gd name="connsiteY16" fmla="*/ 60470 h 360956"/>
                  <a:gd name="connsiteX17" fmla="*/ 32210 w 311736"/>
                  <a:gd name="connsiteY17" fmla="*/ 315811 h 360956"/>
                  <a:gd name="connsiteX18" fmla="*/ 428 w 311736"/>
                  <a:gd name="connsiteY18" fmla="*/ 354774 h 360956"/>
                  <a:gd name="connsiteX19" fmla="*/ 428 w 311736"/>
                  <a:gd name="connsiteY19" fmla="*/ 361437 h 360956"/>
                  <a:gd name="connsiteX20" fmla="*/ 98361 w 311736"/>
                  <a:gd name="connsiteY20" fmla="*/ 361437 h 360956"/>
                  <a:gd name="connsiteX21" fmla="*/ 256777 w 311736"/>
                  <a:gd name="connsiteY21" fmla="*/ 263504 h 360956"/>
                  <a:gd name="connsiteX22" fmla="*/ 161425 w 311736"/>
                  <a:gd name="connsiteY22" fmla="*/ 169684 h 360956"/>
                  <a:gd name="connsiteX23" fmla="*/ 257301 w 311736"/>
                  <a:gd name="connsiteY23" fmla="*/ 52269 h 360956"/>
                  <a:gd name="connsiteX24" fmla="*/ 312165 w 311736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6" h="360956">
                    <a:moveTo>
                      <a:pt x="98361" y="354774"/>
                    </a:moveTo>
                    <a:lnTo>
                      <a:pt x="82461" y="354774"/>
                    </a:lnTo>
                    <a:lnTo>
                      <a:pt x="82461" y="172759"/>
                    </a:lnTo>
                    <a:lnTo>
                      <a:pt x="98361" y="172759"/>
                    </a:lnTo>
                    <a:cubicBezTo>
                      <a:pt x="156293" y="172759"/>
                      <a:pt x="200388" y="172252"/>
                      <a:pt x="200388" y="263504"/>
                    </a:cubicBezTo>
                    <a:cubicBezTo>
                      <a:pt x="200388" y="356831"/>
                      <a:pt x="153224" y="354774"/>
                      <a:pt x="98361" y="354774"/>
                    </a:cubicBezTo>
                    <a:moveTo>
                      <a:pt x="312165" y="481"/>
                    </a:moveTo>
                    <a:lnTo>
                      <a:pt x="273189" y="481"/>
                    </a:lnTo>
                    <a:cubicBezTo>
                      <a:pt x="207557" y="481"/>
                      <a:pt x="215257" y="994"/>
                      <a:pt x="186037" y="112258"/>
                    </a:cubicBezTo>
                    <a:cubicBezTo>
                      <a:pt x="171669" y="166090"/>
                      <a:pt x="119887" y="166090"/>
                      <a:pt x="106561" y="166090"/>
                    </a:cubicBezTo>
                    <a:lnTo>
                      <a:pt x="82461" y="166090"/>
                    </a:lnTo>
                    <a:lnTo>
                      <a:pt x="82461" y="53807"/>
                    </a:lnTo>
                    <a:cubicBezTo>
                      <a:pt x="82461" y="18431"/>
                      <a:pt x="93742" y="7156"/>
                      <a:pt x="115280" y="7156"/>
                    </a:cubicBezTo>
                    <a:lnTo>
                      <a:pt x="115280" y="481"/>
                    </a:lnTo>
                    <a:lnTo>
                      <a:pt x="428" y="481"/>
                    </a:lnTo>
                    <a:lnTo>
                      <a:pt x="428" y="7156"/>
                    </a:lnTo>
                    <a:cubicBezTo>
                      <a:pt x="22479" y="7156"/>
                      <a:pt x="32210" y="17406"/>
                      <a:pt x="32210" y="60470"/>
                    </a:cubicBezTo>
                    <a:lnTo>
                      <a:pt x="32210" y="315811"/>
                    </a:lnTo>
                    <a:cubicBezTo>
                      <a:pt x="32210" y="347599"/>
                      <a:pt x="22985" y="354774"/>
                      <a:pt x="428" y="354774"/>
                    </a:cubicBezTo>
                    <a:lnTo>
                      <a:pt x="428" y="361437"/>
                    </a:lnTo>
                    <a:lnTo>
                      <a:pt x="98361" y="361437"/>
                    </a:lnTo>
                    <a:cubicBezTo>
                      <a:pt x="200388" y="361437"/>
                      <a:pt x="256777" y="349131"/>
                      <a:pt x="256777" y="263504"/>
                    </a:cubicBezTo>
                    <a:cubicBezTo>
                      <a:pt x="256777" y="193778"/>
                      <a:pt x="216801" y="173265"/>
                      <a:pt x="161425" y="169684"/>
                    </a:cubicBezTo>
                    <a:cubicBezTo>
                      <a:pt x="195257" y="168146"/>
                      <a:pt x="230638" y="164553"/>
                      <a:pt x="257301" y="52269"/>
                    </a:cubicBezTo>
                    <a:cubicBezTo>
                      <a:pt x="266533" y="13300"/>
                      <a:pt x="298833" y="8181"/>
                      <a:pt x="312165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33">
                <a:extLst>
                  <a:ext uri="{FF2B5EF4-FFF2-40B4-BE49-F238E27FC236}">
                    <a16:creationId xmlns:a16="http://schemas.microsoft.com/office/drawing/2014/main" id="{3C106BE2-721D-E021-104C-C0B16A5024EC}"/>
                  </a:ext>
                </a:extLst>
              </p:cNvPr>
              <p:cNvSpPr/>
              <p:nvPr/>
            </p:nvSpPr>
            <p:spPr>
              <a:xfrm flipV="1">
                <a:off x="2770871" y="1998301"/>
                <a:ext cx="313786" cy="360956"/>
              </a:xfrm>
              <a:custGeom>
                <a:avLst/>
                <a:gdLst>
                  <a:gd name="connsiteX0" fmla="*/ 314327 w 313786"/>
                  <a:gd name="connsiteY0" fmla="*/ 361438 h 360956"/>
                  <a:gd name="connsiteX1" fmla="*/ 314327 w 313786"/>
                  <a:gd name="connsiteY1" fmla="*/ 271199 h 360956"/>
                  <a:gd name="connsiteX2" fmla="*/ 307671 w 313786"/>
                  <a:gd name="connsiteY2" fmla="*/ 271199 h 360956"/>
                  <a:gd name="connsiteX3" fmla="*/ 212813 w 313786"/>
                  <a:gd name="connsiteY3" fmla="*/ 354776 h 360956"/>
                  <a:gd name="connsiteX4" fmla="*/ 182556 w 313786"/>
                  <a:gd name="connsiteY4" fmla="*/ 354776 h 360956"/>
                  <a:gd name="connsiteX5" fmla="*/ 182556 w 313786"/>
                  <a:gd name="connsiteY5" fmla="*/ 50214 h 360956"/>
                  <a:gd name="connsiteX6" fmla="*/ 219988 w 313786"/>
                  <a:gd name="connsiteY6" fmla="*/ 7151 h 360956"/>
                  <a:gd name="connsiteX7" fmla="*/ 219988 w 313786"/>
                  <a:gd name="connsiteY7" fmla="*/ 482 h 360956"/>
                  <a:gd name="connsiteX8" fmla="*/ 94886 w 313786"/>
                  <a:gd name="connsiteY8" fmla="*/ 482 h 360956"/>
                  <a:gd name="connsiteX9" fmla="*/ 94886 w 313786"/>
                  <a:gd name="connsiteY9" fmla="*/ 7151 h 360956"/>
                  <a:gd name="connsiteX10" fmla="*/ 131799 w 313786"/>
                  <a:gd name="connsiteY10" fmla="*/ 50214 h 360956"/>
                  <a:gd name="connsiteX11" fmla="*/ 131799 w 313786"/>
                  <a:gd name="connsiteY11" fmla="*/ 354776 h 360956"/>
                  <a:gd name="connsiteX12" fmla="*/ 101549 w 313786"/>
                  <a:gd name="connsiteY12" fmla="*/ 354776 h 360956"/>
                  <a:gd name="connsiteX13" fmla="*/ 7209 w 313786"/>
                  <a:gd name="connsiteY13" fmla="*/ 271199 h 360956"/>
                  <a:gd name="connsiteX14" fmla="*/ 541 w 313786"/>
                  <a:gd name="connsiteY14" fmla="*/ 271199 h 360956"/>
                  <a:gd name="connsiteX15" fmla="*/ 541 w 313786"/>
                  <a:gd name="connsiteY15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3786" h="360956">
                    <a:moveTo>
                      <a:pt x="314327" y="361438"/>
                    </a:moveTo>
                    <a:lnTo>
                      <a:pt x="314327" y="271199"/>
                    </a:lnTo>
                    <a:lnTo>
                      <a:pt x="307671" y="271199"/>
                    </a:lnTo>
                    <a:cubicBezTo>
                      <a:pt x="305614" y="353751"/>
                      <a:pt x="219988" y="354776"/>
                      <a:pt x="212813" y="354776"/>
                    </a:cubicBezTo>
                    <a:lnTo>
                      <a:pt x="182556" y="354776"/>
                    </a:lnTo>
                    <a:lnTo>
                      <a:pt x="182556" y="50214"/>
                    </a:lnTo>
                    <a:cubicBezTo>
                      <a:pt x="182556" y="16376"/>
                      <a:pt x="198456" y="7151"/>
                      <a:pt x="219988" y="7151"/>
                    </a:cubicBezTo>
                    <a:lnTo>
                      <a:pt x="219988" y="482"/>
                    </a:lnTo>
                    <a:lnTo>
                      <a:pt x="94886" y="482"/>
                    </a:lnTo>
                    <a:lnTo>
                      <a:pt x="94886" y="7151"/>
                    </a:lnTo>
                    <a:cubicBezTo>
                      <a:pt x="116424" y="7151"/>
                      <a:pt x="131799" y="16376"/>
                      <a:pt x="131799" y="50214"/>
                    </a:cubicBezTo>
                    <a:lnTo>
                      <a:pt x="131799" y="354776"/>
                    </a:lnTo>
                    <a:lnTo>
                      <a:pt x="101549" y="354776"/>
                    </a:lnTo>
                    <a:cubicBezTo>
                      <a:pt x="85649" y="354776"/>
                      <a:pt x="9266" y="353751"/>
                      <a:pt x="7209" y="271199"/>
                    </a:cubicBezTo>
                    <a:lnTo>
                      <a:pt x="541" y="271199"/>
                    </a:lnTo>
                    <a:lnTo>
                      <a:pt x="541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34">
                <a:extLst>
                  <a:ext uri="{FF2B5EF4-FFF2-40B4-BE49-F238E27FC236}">
                    <a16:creationId xmlns:a16="http://schemas.microsoft.com/office/drawing/2014/main" id="{3255B71A-B5B4-C911-033A-B0C2CD2AAB14}"/>
                  </a:ext>
                </a:extLst>
              </p:cNvPr>
              <p:cNvSpPr/>
              <p:nvPr/>
            </p:nvSpPr>
            <p:spPr>
              <a:xfrm flipV="1">
                <a:off x="3131802" y="1998301"/>
                <a:ext cx="395813" cy="360956"/>
              </a:xfrm>
              <a:custGeom>
                <a:avLst/>
                <a:gdLst>
                  <a:gd name="connsiteX0" fmla="*/ 396450 w 395813"/>
                  <a:gd name="connsiteY0" fmla="*/ 361438 h 360956"/>
                  <a:gd name="connsiteX1" fmla="*/ 396450 w 395813"/>
                  <a:gd name="connsiteY1" fmla="*/ 355288 h 360956"/>
                  <a:gd name="connsiteX2" fmla="*/ 323654 w 395813"/>
                  <a:gd name="connsiteY2" fmla="*/ 233773 h 360956"/>
                  <a:gd name="connsiteX3" fmla="*/ 323654 w 395813"/>
                  <a:gd name="connsiteY3" fmla="*/ 482 h 360956"/>
                  <a:gd name="connsiteX4" fmla="*/ 307248 w 395813"/>
                  <a:gd name="connsiteY4" fmla="*/ 482 h 360956"/>
                  <a:gd name="connsiteX5" fmla="*/ 89332 w 395813"/>
                  <a:gd name="connsiteY5" fmla="*/ 281456 h 360956"/>
                  <a:gd name="connsiteX6" fmla="*/ 89332 w 395813"/>
                  <a:gd name="connsiteY6" fmla="*/ 128665 h 360956"/>
                  <a:gd name="connsiteX7" fmla="*/ 156508 w 395813"/>
                  <a:gd name="connsiteY7" fmla="*/ 7151 h 360956"/>
                  <a:gd name="connsiteX8" fmla="*/ 156508 w 395813"/>
                  <a:gd name="connsiteY8" fmla="*/ 482 h 360956"/>
                  <a:gd name="connsiteX9" fmla="*/ 8324 w 395813"/>
                  <a:gd name="connsiteY9" fmla="*/ 482 h 360956"/>
                  <a:gd name="connsiteX10" fmla="*/ 8324 w 395813"/>
                  <a:gd name="connsiteY10" fmla="*/ 7151 h 360956"/>
                  <a:gd name="connsiteX11" fmla="*/ 82675 w 395813"/>
                  <a:gd name="connsiteY11" fmla="*/ 128665 h 360956"/>
                  <a:gd name="connsiteX12" fmla="*/ 82675 w 395813"/>
                  <a:gd name="connsiteY12" fmla="*/ 289143 h 360956"/>
                  <a:gd name="connsiteX13" fmla="*/ 61650 w 395813"/>
                  <a:gd name="connsiteY13" fmla="*/ 316319 h 360956"/>
                  <a:gd name="connsiteX14" fmla="*/ 636 w 395813"/>
                  <a:gd name="connsiteY14" fmla="*/ 355288 h 360956"/>
                  <a:gd name="connsiteX15" fmla="*/ 636 w 395813"/>
                  <a:gd name="connsiteY15" fmla="*/ 361438 h 360956"/>
                  <a:gd name="connsiteX16" fmla="*/ 95488 w 395813"/>
                  <a:gd name="connsiteY16" fmla="*/ 361438 h 360956"/>
                  <a:gd name="connsiteX17" fmla="*/ 316979 w 395813"/>
                  <a:gd name="connsiteY17" fmla="*/ 75346 h 360956"/>
                  <a:gd name="connsiteX18" fmla="*/ 316979 w 395813"/>
                  <a:gd name="connsiteY18" fmla="*/ 233773 h 360956"/>
                  <a:gd name="connsiteX19" fmla="*/ 249822 w 395813"/>
                  <a:gd name="connsiteY19" fmla="*/ 355288 h 360956"/>
                  <a:gd name="connsiteX20" fmla="*/ 249822 w 395813"/>
                  <a:gd name="connsiteY20" fmla="*/ 361438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5813" h="360956">
                    <a:moveTo>
                      <a:pt x="396450" y="361438"/>
                    </a:moveTo>
                    <a:lnTo>
                      <a:pt x="396450" y="355288"/>
                    </a:lnTo>
                    <a:cubicBezTo>
                      <a:pt x="322111" y="355288"/>
                      <a:pt x="323654" y="281456"/>
                      <a:pt x="323654" y="233773"/>
                    </a:cubicBezTo>
                    <a:lnTo>
                      <a:pt x="323654" y="482"/>
                    </a:lnTo>
                    <a:lnTo>
                      <a:pt x="307248" y="482"/>
                    </a:lnTo>
                    <a:lnTo>
                      <a:pt x="89332" y="281456"/>
                    </a:lnTo>
                    <a:lnTo>
                      <a:pt x="89332" y="128665"/>
                    </a:lnTo>
                    <a:cubicBezTo>
                      <a:pt x="89332" y="83546"/>
                      <a:pt x="89332" y="7151"/>
                      <a:pt x="156508" y="7151"/>
                    </a:cubicBezTo>
                    <a:lnTo>
                      <a:pt x="156508" y="482"/>
                    </a:lnTo>
                    <a:lnTo>
                      <a:pt x="8324" y="482"/>
                    </a:lnTo>
                    <a:lnTo>
                      <a:pt x="8324" y="7151"/>
                    </a:lnTo>
                    <a:cubicBezTo>
                      <a:pt x="82675" y="7151"/>
                      <a:pt x="82675" y="82515"/>
                      <a:pt x="82675" y="128665"/>
                    </a:cubicBezTo>
                    <a:lnTo>
                      <a:pt x="82675" y="289143"/>
                    </a:lnTo>
                    <a:lnTo>
                      <a:pt x="61650" y="316319"/>
                    </a:lnTo>
                    <a:cubicBezTo>
                      <a:pt x="28837" y="357332"/>
                      <a:pt x="13968" y="354263"/>
                      <a:pt x="636" y="355288"/>
                    </a:cubicBezTo>
                    <a:lnTo>
                      <a:pt x="636" y="361438"/>
                    </a:lnTo>
                    <a:lnTo>
                      <a:pt x="95488" y="361438"/>
                    </a:lnTo>
                    <a:lnTo>
                      <a:pt x="316979" y="75346"/>
                    </a:lnTo>
                    <a:lnTo>
                      <a:pt x="316979" y="233773"/>
                    </a:lnTo>
                    <a:cubicBezTo>
                      <a:pt x="316979" y="281456"/>
                      <a:pt x="317498" y="355288"/>
                      <a:pt x="249822" y="355288"/>
                    </a:cubicBezTo>
                    <a:lnTo>
                      <a:pt x="249822" y="36143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35">
                <a:extLst>
                  <a:ext uri="{FF2B5EF4-FFF2-40B4-BE49-F238E27FC236}">
                    <a16:creationId xmlns:a16="http://schemas.microsoft.com/office/drawing/2014/main" id="{D091042B-F288-2309-EC29-CF690012A1BB}"/>
                  </a:ext>
                </a:extLst>
              </p:cNvPr>
              <p:cNvSpPr/>
              <p:nvPr/>
            </p:nvSpPr>
            <p:spPr>
              <a:xfrm flipV="1">
                <a:off x="3587578" y="1998299"/>
                <a:ext cx="257892" cy="360956"/>
              </a:xfrm>
              <a:custGeom>
                <a:avLst/>
                <a:gdLst>
                  <a:gd name="connsiteX0" fmla="*/ 258603 w 257892"/>
                  <a:gd name="connsiteY0" fmla="*/ 107086 h 360956"/>
                  <a:gd name="connsiteX1" fmla="*/ 258603 w 257892"/>
                  <a:gd name="connsiteY1" fmla="*/ 440 h 360956"/>
                  <a:gd name="connsiteX2" fmla="*/ 711 w 257892"/>
                  <a:gd name="connsiteY2" fmla="*/ 440 h 360956"/>
                  <a:gd name="connsiteX3" fmla="*/ 711 w 257892"/>
                  <a:gd name="connsiteY3" fmla="*/ 7109 h 360956"/>
                  <a:gd name="connsiteX4" fmla="*/ 28392 w 257892"/>
                  <a:gd name="connsiteY4" fmla="*/ 60429 h 360956"/>
                  <a:gd name="connsiteX5" fmla="*/ 28392 w 257892"/>
                  <a:gd name="connsiteY5" fmla="*/ 306533 h 360956"/>
                  <a:gd name="connsiteX6" fmla="*/ 711 w 257892"/>
                  <a:gd name="connsiteY6" fmla="*/ 354727 h 360956"/>
                  <a:gd name="connsiteX7" fmla="*/ 711 w 257892"/>
                  <a:gd name="connsiteY7" fmla="*/ 361396 h 360956"/>
                  <a:gd name="connsiteX8" fmla="*/ 251946 w 257892"/>
                  <a:gd name="connsiteY8" fmla="*/ 361396 h 360956"/>
                  <a:gd name="connsiteX9" fmla="*/ 251946 w 257892"/>
                  <a:gd name="connsiteY9" fmla="*/ 269101 h 360956"/>
                  <a:gd name="connsiteX10" fmla="*/ 245283 w 257892"/>
                  <a:gd name="connsiteY10" fmla="*/ 269101 h 360956"/>
                  <a:gd name="connsiteX11" fmla="*/ 108900 w 257892"/>
                  <a:gd name="connsiteY11" fmla="*/ 354727 h 360956"/>
                  <a:gd name="connsiteX12" fmla="*/ 81212 w 257892"/>
                  <a:gd name="connsiteY12" fmla="*/ 354727 h 360956"/>
                  <a:gd name="connsiteX13" fmla="*/ 81212 w 257892"/>
                  <a:gd name="connsiteY13" fmla="*/ 186049 h 360956"/>
                  <a:gd name="connsiteX14" fmla="*/ 114531 w 257892"/>
                  <a:gd name="connsiteY14" fmla="*/ 186049 h 360956"/>
                  <a:gd name="connsiteX15" fmla="*/ 185295 w 257892"/>
                  <a:gd name="connsiteY15" fmla="*/ 237831 h 360956"/>
                  <a:gd name="connsiteX16" fmla="*/ 191951 w 257892"/>
                  <a:gd name="connsiteY16" fmla="*/ 237831 h 360956"/>
                  <a:gd name="connsiteX17" fmla="*/ 191951 w 257892"/>
                  <a:gd name="connsiteY17" fmla="*/ 127592 h 360956"/>
                  <a:gd name="connsiteX18" fmla="*/ 185295 w 257892"/>
                  <a:gd name="connsiteY18" fmla="*/ 127592 h 360956"/>
                  <a:gd name="connsiteX19" fmla="*/ 114531 w 257892"/>
                  <a:gd name="connsiteY19" fmla="*/ 179380 h 360956"/>
                  <a:gd name="connsiteX20" fmla="*/ 81212 w 257892"/>
                  <a:gd name="connsiteY20" fmla="*/ 179380 h 360956"/>
                  <a:gd name="connsiteX21" fmla="*/ 81212 w 257892"/>
                  <a:gd name="connsiteY21" fmla="*/ 7109 h 360956"/>
                  <a:gd name="connsiteX22" fmla="*/ 104787 w 257892"/>
                  <a:gd name="connsiteY22" fmla="*/ 7109 h 360956"/>
                  <a:gd name="connsiteX23" fmla="*/ 251946 w 257892"/>
                  <a:gd name="connsiteY23" fmla="*/ 10708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7892" h="360956">
                    <a:moveTo>
                      <a:pt x="258603" y="107086"/>
                    </a:moveTo>
                    <a:lnTo>
                      <a:pt x="258603" y="440"/>
                    </a:lnTo>
                    <a:lnTo>
                      <a:pt x="711" y="440"/>
                    </a:lnTo>
                    <a:lnTo>
                      <a:pt x="711" y="7109"/>
                    </a:lnTo>
                    <a:cubicBezTo>
                      <a:pt x="22242" y="7109"/>
                      <a:pt x="28392" y="25559"/>
                      <a:pt x="28392" y="60429"/>
                    </a:cubicBezTo>
                    <a:lnTo>
                      <a:pt x="28392" y="306533"/>
                    </a:lnTo>
                    <a:cubicBezTo>
                      <a:pt x="28392" y="338327"/>
                      <a:pt x="23267" y="354727"/>
                      <a:pt x="711" y="354727"/>
                    </a:cubicBezTo>
                    <a:lnTo>
                      <a:pt x="711" y="361396"/>
                    </a:lnTo>
                    <a:lnTo>
                      <a:pt x="251946" y="361396"/>
                    </a:lnTo>
                    <a:lnTo>
                      <a:pt x="251946" y="269101"/>
                    </a:lnTo>
                    <a:lnTo>
                      <a:pt x="245283" y="269101"/>
                    </a:lnTo>
                    <a:cubicBezTo>
                      <a:pt x="239121" y="353702"/>
                      <a:pt x="150426" y="354727"/>
                      <a:pt x="108900" y="354727"/>
                    </a:cubicBezTo>
                    <a:lnTo>
                      <a:pt x="81212" y="354727"/>
                    </a:lnTo>
                    <a:lnTo>
                      <a:pt x="81212" y="186049"/>
                    </a:lnTo>
                    <a:lnTo>
                      <a:pt x="114531" y="186049"/>
                    </a:lnTo>
                    <a:cubicBezTo>
                      <a:pt x="128375" y="186049"/>
                      <a:pt x="182726" y="186049"/>
                      <a:pt x="185295" y="237831"/>
                    </a:cubicBezTo>
                    <a:lnTo>
                      <a:pt x="191951" y="237831"/>
                    </a:lnTo>
                    <a:lnTo>
                      <a:pt x="191951" y="127592"/>
                    </a:lnTo>
                    <a:lnTo>
                      <a:pt x="185295" y="127592"/>
                    </a:lnTo>
                    <a:cubicBezTo>
                      <a:pt x="182726" y="178862"/>
                      <a:pt x="127344" y="179380"/>
                      <a:pt x="114531" y="179380"/>
                    </a:cubicBezTo>
                    <a:lnTo>
                      <a:pt x="81212" y="179380"/>
                    </a:lnTo>
                    <a:lnTo>
                      <a:pt x="81212" y="7109"/>
                    </a:lnTo>
                    <a:lnTo>
                      <a:pt x="104787" y="7109"/>
                    </a:lnTo>
                    <a:cubicBezTo>
                      <a:pt x="150426" y="7109"/>
                      <a:pt x="241171" y="4540"/>
                      <a:pt x="251946" y="10708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36">
                <a:extLst>
                  <a:ext uri="{FF2B5EF4-FFF2-40B4-BE49-F238E27FC236}">
                    <a16:creationId xmlns:a16="http://schemas.microsoft.com/office/drawing/2014/main" id="{EAB40F2A-4B87-0B52-B1B8-61CA8552A4A0}"/>
                  </a:ext>
                </a:extLst>
              </p:cNvPr>
              <p:cNvSpPr/>
              <p:nvPr/>
            </p:nvSpPr>
            <p:spPr>
              <a:xfrm flipV="1">
                <a:off x="3923379" y="1998303"/>
                <a:ext cx="311730" cy="360956"/>
              </a:xfrm>
              <a:custGeom>
                <a:avLst/>
                <a:gdLst>
                  <a:gd name="connsiteX0" fmla="*/ 98693 w 311730"/>
                  <a:gd name="connsiteY0" fmla="*/ 354774 h 360956"/>
                  <a:gd name="connsiteX1" fmla="*/ 82792 w 311730"/>
                  <a:gd name="connsiteY1" fmla="*/ 354774 h 360956"/>
                  <a:gd name="connsiteX2" fmla="*/ 82792 w 311730"/>
                  <a:gd name="connsiteY2" fmla="*/ 172759 h 360956"/>
                  <a:gd name="connsiteX3" fmla="*/ 98693 w 311730"/>
                  <a:gd name="connsiteY3" fmla="*/ 172759 h 360956"/>
                  <a:gd name="connsiteX4" fmla="*/ 200719 w 311730"/>
                  <a:gd name="connsiteY4" fmla="*/ 263504 h 360956"/>
                  <a:gd name="connsiteX5" fmla="*/ 98693 w 311730"/>
                  <a:gd name="connsiteY5" fmla="*/ 354774 h 360956"/>
                  <a:gd name="connsiteX6" fmla="*/ 312490 w 311730"/>
                  <a:gd name="connsiteY6" fmla="*/ 481 h 360956"/>
                  <a:gd name="connsiteX7" fmla="*/ 273527 w 311730"/>
                  <a:gd name="connsiteY7" fmla="*/ 481 h 360956"/>
                  <a:gd name="connsiteX8" fmla="*/ 186363 w 311730"/>
                  <a:gd name="connsiteY8" fmla="*/ 112258 h 360956"/>
                  <a:gd name="connsiteX9" fmla="*/ 106893 w 311730"/>
                  <a:gd name="connsiteY9" fmla="*/ 166090 h 360956"/>
                  <a:gd name="connsiteX10" fmla="*/ 82792 w 311730"/>
                  <a:gd name="connsiteY10" fmla="*/ 166090 h 360956"/>
                  <a:gd name="connsiteX11" fmla="*/ 82792 w 311730"/>
                  <a:gd name="connsiteY11" fmla="*/ 53807 h 360956"/>
                  <a:gd name="connsiteX12" fmla="*/ 115612 w 311730"/>
                  <a:gd name="connsiteY12" fmla="*/ 7156 h 360956"/>
                  <a:gd name="connsiteX13" fmla="*/ 115612 w 311730"/>
                  <a:gd name="connsiteY13" fmla="*/ 481 h 360956"/>
                  <a:gd name="connsiteX14" fmla="*/ 760 w 311730"/>
                  <a:gd name="connsiteY14" fmla="*/ 481 h 360956"/>
                  <a:gd name="connsiteX15" fmla="*/ 760 w 311730"/>
                  <a:gd name="connsiteY15" fmla="*/ 7156 h 360956"/>
                  <a:gd name="connsiteX16" fmla="*/ 32548 w 311730"/>
                  <a:gd name="connsiteY16" fmla="*/ 60470 h 360956"/>
                  <a:gd name="connsiteX17" fmla="*/ 32548 w 311730"/>
                  <a:gd name="connsiteY17" fmla="*/ 315811 h 360956"/>
                  <a:gd name="connsiteX18" fmla="*/ 760 w 311730"/>
                  <a:gd name="connsiteY18" fmla="*/ 354774 h 360956"/>
                  <a:gd name="connsiteX19" fmla="*/ 760 w 311730"/>
                  <a:gd name="connsiteY19" fmla="*/ 361437 h 360956"/>
                  <a:gd name="connsiteX20" fmla="*/ 98693 w 311730"/>
                  <a:gd name="connsiteY20" fmla="*/ 361437 h 360956"/>
                  <a:gd name="connsiteX21" fmla="*/ 257120 w 311730"/>
                  <a:gd name="connsiteY21" fmla="*/ 263504 h 360956"/>
                  <a:gd name="connsiteX22" fmla="*/ 161756 w 311730"/>
                  <a:gd name="connsiteY22" fmla="*/ 169684 h 360956"/>
                  <a:gd name="connsiteX23" fmla="*/ 257627 w 311730"/>
                  <a:gd name="connsiteY23" fmla="*/ 52269 h 360956"/>
                  <a:gd name="connsiteX24" fmla="*/ 312490 w 311730"/>
                  <a:gd name="connsiteY24" fmla="*/ 7156 h 36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1730" h="360956">
                    <a:moveTo>
                      <a:pt x="98693" y="354774"/>
                    </a:moveTo>
                    <a:lnTo>
                      <a:pt x="82792" y="354774"/>
                    </a:lnTo>
                    <a:lnTo>
                      <a:pt x="82792" y="172759"/>
                    </a:lnTo>
                    <a:lnTo>
                      <a:pt x="98693" y="172759"/>
                    </a:lnTo>
                    <a:cubicBezTo>
                      <a:pt x="156625" y="172759"/>
                      <a:pt x="200719" y="172252"/>
                      <a:pt x="200719" y="263504"/>
                    </a:cubicBezTo>
                    <a:cubicBezTo>
                      <a:pt x="200719" y="356831"/>
                      <a:pt x="153550" y="354774"/>
                      <a:pt x="98693" y="354774"/>
                    </a:cubicBezTo>
                    <a:moveTo>
                      <a:pt x="312490" y="481"/>
                    </a:moveTo>
                    <a:lnTo>
                      <a:pt x="273527" y="481"/>
                    </a:lnTo>
                    <a:cubicBezTo>
                      <a:pt x="207901" y="481"/>
                      <a:pt x="215594" y="994"/>
                      <a:pt x="186363" y="112258"/>
                    </a:cubicBezTo>
                    <a:cubicBezTo>
                      <a:pt x="172012" y="166090"/>
                      <a:pt x="120224" y="166090"/>
                      <a:pt x="106893" y="166090"/>
                    </a:cubicBezTo>
                    <a:lnTo>
                      <a:pt x="82792" y="166090"/>
                    </a:lnTo>
                    <a:lnTo>
                      <a:pt x="82792" y="53807"/>
                    </a:lnTo>
                    <a:cubicBezTo>
                      <a:pt x="82792" y="18431"/>
                      <a:pt x="94068" y="7156"/>
                      <a:pt x="115612" y="7156"/>
                    </a:cubicBezTo>
                    <a:lnTo>
                      <a:pt x="115612" y="481"/>
                    </a:lnTo>
                    <a:lnTo>
                      <a:pt x="760" y="481"/>
                    </a:lnTo>
                    <a:lnTo>
                      <a:pt x="760" y="7156"/>
                    </a:lnTo>
                    <a:cubicBezTo>
                      <a:pt x="22804" y="7156"/>
                      <a:pt x="32548" y="17406"/>
                      <a:pt x="32548" y="60470"/>
                    </a:cubicBezTo>
                    <a:lnTo>
                      <a:pt x="32548" y="315811"/>
                    </a:lnTo>
                    <a:cubicBezTo>
                      <a:pt x="32548" y="347599"/>
                      <a:pt x="23316" y="354774"/>
                      <a:pt x="760" y="354774"/>
                    </a:cubicBezTo>
                    <a:lnTo>
                      <a:pt x="760" y="361437"/>
                    </a:lnTo>
                    <a:lnTo>
                      <a:pt x="98693" y="361437"/>
                    </a:lnTo>
                    <a:cubicBezTo>
                      <a:pt x="200719" y="361437"/>
                      <a:pt x="257120" y="349131"/>
                      <a:pt x="257120" y="263504"/>
                    </a:cubicBezTo>
                    <a:cubicBezTo>
                      <a:pt x="257120" y="193778"/>
                      <a:pt x="217126" y="173265"/>
                      <a:pt x="161756" y="169684"/>
                    </a:cubicBezTo>
                    <a:cubicBezTo>
                      <a:pt x="195588" y="168146"/>
                      <a:pt x="230964" y="164553"/>
                      <a:pt x="257627" y="52269"/>
                    </a:cubicBezTo>
                    <a:cubicBezTo>
                      <a:pt x="266870" y="13300"/>
                      <a:pt x="299159" y="8181"/>
                      <a:pt x="312490" y="7156"/>
                    </a:cubicBez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37">
                <a:extLst>
                  <a:ext uri="{FF2B5EF4-FFF2-40B4-BE49-F238E27FC236}">
                    <a16:creationId xmlns:a16="http://schemas.microsoft.com/office/drawing/2014/main" id="{8DDCEC9B-BD0B-1C7C-7F20-2FFC56A6570B}"/>
                  </a:ext>
                </a:extLst>
              </p:cNvPr>
              <p:cNvSpPr/>
              <p:nvPr/>
            </p:nvSpPr>
            <p:spPr>
              <a:xfrm flipV="1">
                <a:off x="4285907" y="1993688"/>
                <a:ext cx="242423" cy="370181"/>
              </a:xfrm>
              <a:custGeom>
                <a:avLst/>
                <a:gdLst>
                  <a:gd name="connsiteX0" fmla="*/ 128442 w 242423"/>
                  <a:gd name="connsiteY0" fmla="*/ 422 h 370181"/>
                  <a:gd name="connsiteX1" fmla="*/ 6421 w 242423"/>
                  <a:gd name="connsiteY1" fmla="*/ 29135 h 370181"/>
                  <a:gd name="connsiteX2" fmla="*/ 6421 w 242423"/>
                  <a:gd name="connsiteY2" fmla="*/ 127580 h 370181"/>
                  <a:gd name="connsiteX3" fmla="*/ 12566 w 242423"/>
                  <a:gd name="connsiteY3" fmla="*/ 127580 h 370181"/>
                  <a:gd name="connsiteX4" fmla="*/ 128442 w 242423"/>
                  <a:gd name="connsiteY4" fmla="*/ 7084 h 370181"/>
                  <a:gd name="connsiteX5" fmla="*/ 156649 w 242423"/>
                  <a:gd name="connsiteY5" fmla="*/ 136293 h 370181"/>
                  <a:gd name="connsiteX6" fmla="*/ 71535 w 242423"/>
                  <a:gd name="connsiteY6" fmla="*/ 191150 h 370181"/>
                  <a:gd name="connsiteX7" fmla="*/ 15647 w 242423"/>
                  <a:gd name="connsiteY7" fmla="*/ 330615 h 370181"/>
                  <a:gd name="connsiteX8" fmla="*/ 112030 w 242423"/>
                  <a:gd name="connsiteY8" fmla="*/ 370603 h 370181"/>
                  <a:gd name="connsiteX9" fmla="*/ 229444 w 242423"/>
                  <a:gd name="connsiteY9" fmla="*/ 346503 h 370181"/>
                  <a:gd name="connsiteX10" fmla="*/ 229444 w 242423"/>
                  <a:gd name="connsiteY10" fmla="*/ 260370 h 370181"/>
                  <a:gd name="connsiteX11" fmla="*/ 222275 w 242423"/>
                  <a:gd name="connsiteY11" fmla="*/ 260370 h 370181"/>
                  <a:gd name="connsiteX12" fmla="*/ 112030 w 242423"/>
                  <a:gd name="connsiteY12" fmla="*/ 363934 h 370181"/>
                  <a:gd name="connsiteX13" fmla="*/ 92042 w 242423"/>
                  <a:gd name="connsiteY13" fmla="*/ 242426 h 370181"/>
                  <a:gd name="connsiteX14" fmla="*/ 176637 w 242423"/>
                  <a:gd name="connsiteY14" fmla="*/ 186537 h 370181"/>
                  <a:gd name="connsiteX15" fmla="*/ 229969 w 242423"/>
                  <a:gd name="connsiteY15" fmla="*/ 42466 h 370181"/>
                  <a:gd name="connsiteX16" fmla="*/ 128442 w 242423"/>
                  <a:gd name="connsiteY16" fmla="*/ 422 h 37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2423" h="370181">
                    <a:moveTo>
                      <a:pt x="128442" y="422"/>
                    </a:moveTo>
                    <a:cubicBezTo>
                      <a:pt x="44872" y="422"/>
                      <a:pt x="6421" y="29135"/>
                      <a:pt x="6421" y="29135"/>
                    </a:cubicBezTo>
                    <a:lnTo>
                      <a:pt x="6421" y="127580"/>
                    </a:lnTo>
                    <a:lnTo>
                      <a:pt x="12566" y="127580"/>
                    </a:lnTo>
                    <a:cubicBezTo>
                      <a:pt x="18209" y="65023"/>
                      <a:pt x="41285" y="7084"/>
                      <a:pt x="128442" y="7084"/>
                    </a:cubicBezTo>
                    <a:cubicBezTo>
                      <a:pt x="206381" y="7084"/>
                      <a:pt x="216637" y="93736"/>
                      <a:pt x="156649" y="136293"/>
                    </a:cubicBezTo>
                    <a:lnTo>
                      <a:pt x="71535" y="191150"/>
                    </a:lnTo>
                    <a:cubicBezTo>
                      <a:pt x="22822" y="223450"/>
                      <a:pt x="-23829" y="270114"/>
                      <a:pt x="15647" y="330615"/>
                    </a:cubicBezTo>
                    <a:cubicBezTo>
                      <a:pt x="15647" y="330615"/>
                      <a:pt x="40766" y="370603"/>
                      <a:pt x="112030" y="370603"/>
                    </a:cubicBezTo>
                    <a:cubicBezTo>
                      <a:pt x="186381" y="370603"/>
                      <a:pt x="229444" y="346503"/>
                      <a:pt x="229444" y="346503"/>
                    </a:cubicBezTo>
                    <a:lnTo>
                      <a:pt x="229444" y="260370"/>
                    </a:lnTo>
                    <a:lnTo>
                      <a:pt x="222275" y="260370"/>
                    </a:lnTo>
                    <a:cubicBezTo>
                      <a:pt x="217656" y="310614"/>
                      <a:pt x="197662" y="363934"/>
                      <a:pt x="112030" y="363934"/>
                    </a:cubicBezTo>
                    <a:cubicBezTo>
                      <a:pt x="56666" y="363934"/>
                      <a:pt x="14622" y="292670"/>
                      <a:pt x="92042" y="242426"/>
                    </a:cubicBezTo>
                    <a:lnTo>
                      <a:pt x="176637" y="186537"/>
                    </a:lnTo>
                    <a:cubicBezTo>
                      <a:pt x="245344" y="141424"/>
                      <a:pt x="256620" y="84504"/>
                      <a:pt x="229969" y="42466"/>
                    </a:cubicBezTo>
                    <a:cubicBezTo>
                      <a:pt x="229969" y="42466"/>
                      <a:pt x="207925" y="422"/>
                      <a:pt x="128442" y="422"/>
                    </a:cubicBezTo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9923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430B5-588C-6645-D604-1D8E9FD4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6E67446-6B2D-FC50-3B75-AA0E2FD71B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Business Plan Overview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8DB2C-8A18-6EC5-1D24-141CA3D8D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</a:t>
            </a:r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사업계획은 </a:t>
            </a:r>
            <a:r>
              <a:rPr lang="en-US" altLang="ko-KR" dirty="0"/>
              <a:t>TITAN</a:t>
            </a:r>
            <a:r>
              <a:rPr lang="ko-KR" altLang="en-US" dirty="0"/>
              <a:t>이 현재 기획 </a:t>
            </a:r>
            <a:r>
              <a:rPr lang="en-US" altLang="ko-KR" dirty="0"/>
              <a:t>· </a:t>
            </a:r>
            <a:r>
              <a:rPr lang="ko-KR" altLang="en-US" dirty="0"/>
              <a:t>개발 및 시범 추진 중인 </a:t>
            </a:r>
            <a:r>
              <a:rPr lang="en-US" altLang="ko-KR" dirty="0"/>
              <a:t>AI </a:t>
            </a:r>
            <a:r>
              <a:rPr lang="ko-KR" altLang="en-US" dirty="0"/>
              <a:t>기술</a:t>
            </a:r>
            <a:r>
              <a:rPr lang="en-US" altLang="ko-KR" dirty="0"/>
              <a:t> </a:t>
            </a:r>
            <a:r>
              <a:rPr lang="ko-KR" altLang="en-US" dirty="0"/>
              <a:t>기반 해외 사업 및 저가형 구독 콘텐츠 사업의 예상 실적은 반영하지 않은 사업계획입니다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B954BC-D483-51E3-AAA6-ED9F25869B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54</a:t>
            </a:fld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86F4D8-0BF9-ED1A-69E2-5D9A3F39C9C3}"/>
              </a:ext>
            </a:extLst>
          </p:cNvPr>
          <p:cNvSpPr/>
          <p:nvPr/>
        </p:nvSpPr>
        <p:spPr>
          <a:xfrm>
            <a:off x="453000" y="1196975"/>
            <a:ext cx="8999998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TITAN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5</a:t>
            </a:r>
            <a:r>
              <a:rPr lang="ko-KR" altLang="en-US" sz="1200" b="1" dirty="0">
                <a:solidFill>
                  <a:schemeClr val="bg1"/>
                </a:solidFill>
              </a:rPr>
              <a:t>개년 사업계획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588F6-8B98-25EE-E42A-D76066BC4700}"/>
              </a:ext>
            </a:extLst>
          </p:cNvPr>
          <p:cNvSpPr txBox="1"/>
          <p:nvPr/>
        </p:nvSpPr>
        <p:spPr>
          <a:xfrm>
            <a:off x="8764741" y="1277753"/>
            <a:ext cx="688257" cy="126445"/>
          </a:xfrm>
          <a:prstGeom prst="rect">
            <a:avLst/>
          </a:prstGeom>
          <a:noFill/>
        </p:spPr>
        <p:txBody>
          <a:bodyPr wrap="non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억원</a:t>
            </a:r>
            <a:r>
              <a:rPr lang="en-US" altLang="ko-KR" sz="800" dirty="0">
                <a:solidFill>
                  <a:schemeClr val="bg1"/>
                </a:solidFill>
              </a:rPr>
              <a:t>, %)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45813931-C934-DE73-0CB8-68D163AAB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6111138"/>
              </p:ext>
            </p:extLst>
          </p:nvPr>
        </p:nvGraphicFramePr>
        <p:xfrm>
          <a:off x="345000" y="1701788"/>
          <a:ext cx="9216000" cy="4138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571427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D19F1E-31A5-6454-C523-CEF789F9CE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 dirty="0"/>
              <a:t>Business Plan - KPI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E103E6-8DFF-2E66-681D-32FBEE4D91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</a:t>
            </a:r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사업계획은 </a:t>
            </a:r>
            <a:r>
              <a:rPr lang="en-US" altLang="ko-KR" dirty="0"/>
              <a:t>TITAN</a:t>
            </a:r>
            <a:r>
              <a:rPr lang="ko-KR" altLang="en-US" dirty="0"/>
              <a:t>이 현재 기획 </a:t>
            </a:r>
            <a:r>
              <a:rPr lang="en-US" altLang="ko-KR" dirty="0"/>
              <a:t>· </a:t>
            </a:r>
            <a:r>
              <a:rPr lang="ko-KR" altLang="en-US" dirty="0"/>
              <a:t>개발 및 시범 추진 중인 </a:t>
            </a:r>
            <a:r>
              <a:rPr lang="en-US" altLang="ko-KR" dirty="0"/>
              <a:t>AI </a:t>
            </a:r>
            <a:r>
              <a:rPr lang="ko-KR" altLang="en-US" dirty="0"/>
              <a:t>기술</a:t>
            </a:r>
            <a:r>
              <a:rPr lang="en-US" altLang="ko-KR" dirty="0"/>
              <a:t> </a:t>
            </a:r>
            <a:r>
              <a:rPr lang="ko-KR" altLang="en-US" dirty="0"/>
              <a:t>기반 해외 사업 및 저가형 구독 콘텐츠 사업의 예상 실적은 반영하지 않은 사업계획입니다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8F98C2-D471-93F1-3B32-0345CEEB28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55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A2D112-F476-9D88-4A94-91BA66E4E89A}"/>
              </a:ext>
            </a:extLst>
          </p:cNvPr>
          <p:cNvSpPr/>
          <p:nvPr/>
        </p:nvSpPr>
        <p:spPr>
          <a:xfrm>
            <a:off x="453000" y="1196975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5</a:t>
            </a:r>
            <a:r>
              <a:rPr lang="ko-KR" altLang="en-US" sz="1200" b="1" dirty="0">
                <a:solidFill>
                  <a:schemeClr val="bg1"/>
                </a:solidFill>
              </a:rPr>
              <a:t>개년 강의 판매 계획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F4D255-2FB7-43EA-6074-7405C84E373D}"/>
              </a:ext>
            </a:extLst>
          </p:cNvPr>
          <p:cNvSpPr/>
          <p:nvPr/>
        </p:nvSpPr>
        <p:spPr>
          <a:xfrm>
            <a:off x="5061000" y="1196975"/>
            <a:ext cx="4392000" cy="288000"/>
          </a:xfrm>
          <a:prstGeom prst="rect">
            <a:avLst/>
          </a:prstGeom>
          <a:solidFill>
            <a:srgbClr val="1124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5</a:t>
            </a:r>
            <a:r>
              <a:rPr lang="ko-KR" altLang="en-US" sz="1200" b="1" dirty="0">
                <a:solidFill>
                  <a:schemeClr val="bg1"/>
                </a:solidFill>
              </a:rPr>
              <a:t>개년 플랫폼 구축 계획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E3A5A-FF48-434B-E5E4-C7F3466D0A96}"/>
              </a:ext>
            </a:extLst>
          </p:cNvPr>
          <p:cNvSpPr txBox="1"/>
          <p:nvPr/>
        </p:nvSpPr>
        <p:spPr>
          <a:xfrm>
            <a:off x="8993971" y="1277753"/>
            <a:ext cx="459027" cy="126445"/>
          </a:xfrm>
          <a:prstGeom prst="rect">
            <a:avLst/>
          </a:prstGeom>
          <a:noFill/>
        </p:spPr>
        <p:txBody>
          <a:bodyPr wrap="non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개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FDE78-FC34-02E1-C251-9DC8AD581C3F}"/>
              </a:ext>
            </a:extLst>
          </p:cNvPr>
          <p:cNvSpPr txBox="1"/>
          <p:nvPr/>
        </p:nvSpPr>
        <p:spPr>
          <a:xfrm>
            <a:off x="4385973" y="1277753"/>
            <a:ext cx="459027" cy="126445"/>
          </a:xfrm>
          <a:prstGeom prst="rect">
            <a:avLst/>
          </a:prstGeom>
          <a:noFill/>
        </p:spPr>
        <p:txBody>
          <a:bodyPr wrap="none" lIns="0" tIns="0" rIns="72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개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6C1E0BFA-BF06-46F6-DB36-4DDE8479F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7186310"/>
              </p:ext>
            </p:extLst>
          </p:nvPr>
        </p:nvGraphicFramePr>
        <p:xfrm>
          <a:off x="345000" y="1701788"/>
          <a:ext cx="4608000" cy="4138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72B6B77E-4869-0C1C-0BCA-8AC3372DD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9597522"/>
              </p:ext>
            </p:extLst>
          </p:nvPr>
        </p:nvGraphicFramePr>
        <p:xfrm>
          <a:off x="4953000" y="1701788"/>
          <a:ext cx="4608000" cy="4138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01639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5429AFF-7056-C6B1-986C-04C391B8D3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Pro-Forma Consolidated PL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9F945E-BC75-E848-9169-ECE2468071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</a:t>
            </a:r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사업계획은 </a:t>
            </a:r>
            <a:r>
              <a:rPr lang="en-US" altLang="ko-KR" dirty="0"/>
              <a:t>TITAN</a:t>
            </a:r>
            <a:r>
              <a:rPr lang="ko-KR" altLang="en-US" dirty="0"/>
              <a:t>이 현재 기획 </a:t>
            </a:r>
            <a:r>
              <a:rPr lang="en-US" altLang="ko-KR" dirty="0"/>
              <a:t>· </a:t>
            </a:r>
            <a:r>
              <a:rPr lang="ko-KR" altLang="en-US" dirty="0"/>
              <a:t>개발 및 시범 추진 중인 </a:t>
            </a:r>
            <a:r>
              <a:rPr lang="en-US" altLang="ko-KR" dirty="0"/>
              <a:t>AI </a:t>
            </a:r>
            <a:r>
              <a:rPr lang="ko-KR" altLang="en-US" dirty="0"/>
              <a:t>기술</a:t>
            </a:r>
            <a:r>
              <a:rPr lang="en-US" altLang="ko-KR" dirty="0"/>
              <a:t> </a:t>
            </a:r>
            <a:r>
              <a:rPr lang="ko-KR" altLang="en-US" dirty="0"/>
              <a:t>기반 해외 사업 및 저가형 구독 콘텐츠 사업의 예상 실적은 반영하지 않은 사업계획입니다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8605C-0422-C619-F6A0-B4BD7E06DB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56</a:t>
            </a:fld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909BEA-401F-E20B-6C26-DECE38A24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005725"/>
              </p:ext>
            </p:extLst>
          </p:nvPr>
        </p:nvGraphicFramePr>
        <p:xfrm>
          <a:off x="453000" y="1196975"/>
          <a:ext cx="9000000" cy="385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>
                  <a:extLst>
                    <a:ext uri="{9D8B030D-6E8A-4147-A177-3AD203B41FA5}">
                      <a16:colId xmlns:a16="http://schemas.microsoft.com/office/drawing/2014/main" val="393245496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6621417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8096179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1153317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15448689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83936657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429184059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79331101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875228885"/>
                    </a:ext>
                  </a:extLst>
                </a:gridCol>
              </a:tblGrid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</a:rPr>
                        <a:t>단위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</a:rPr>
                        <a:t>백만원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2024A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2025 H1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2025E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2026F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2027F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2028F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2029F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2030F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030696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매출액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11,223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33,393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77,324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93,270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103,535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114,632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126,062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138,122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641789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>
                        <a:tabLst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강의매출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11,192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33,174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74,754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86,073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94,109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102,708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111,408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120,468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411070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솔루션매출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-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219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2,571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7,196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9,426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11,924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14,654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17,654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527243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기타매출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-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-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-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-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-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-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-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757777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영업비용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9,195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24,316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54,467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57,987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60,125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65,467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70,872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76,519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128322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인건비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665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989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2,795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5,598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6,114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6,663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7,206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7,774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607802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변동비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7,603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21,864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48,716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49,381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50,966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55,711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60,527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65,556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001385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고정비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927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1,463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2,956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3,008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3,045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3,094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3,140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3,188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057750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영업이익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2,028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9,077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22,857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35,283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43,410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49,165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55,189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61,604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81284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1" dirty="0">
                          <a:solidFill>
                            <a:srgbClr val="539DFF"/>
                          </a:solidFill>
                        </a:rPr>
                        <a:t>영업이익률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18%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27%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30%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38%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42%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43%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44%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45%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50831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당기순이익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1,063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8,806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15,405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25,971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31,954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36,190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40,624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45,344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00274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1" dirty="0" err="1">
                          <a:solidFill>
                            <a:srgbClr val="539DFF"/>
                          </a:solidFill>
                        </a:rPr>
                        <a:t>당기순이익률</a:t>
                      </a:r>
                      <a:endParaRPr lang="ko-KR" altLang="en-US" sz="1000" b="0" i="1" dirty="0">
                        <a:solidFill>
                          <a:srgbClr val="539DFF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26%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20%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28%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31%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32%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32%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550064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감가상각비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128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139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144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130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46004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EBITDA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2,156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9,134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22,996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35,427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43,540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49,282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55,296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61,699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338641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1" dirty="0">
                          <a:solidFill>
                            <a:srgbClr val="539DFF"/>
                          </a:solidFill>
                        </a:rPr>
                        <a:t>EBITDA</a:t>
                      </a:r>
                      <a:r>
                        <a:rPr lang="ko-KR" altLang="en-US" sz="1000" b="0" i="1" dirty="0">
                          <a:solidFill>
                            <a:srgbClr val="539DFF"/>
                          </a:solidFill>
                        </a:rPr>
                        <a:t>율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19%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27%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30%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38%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42%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43%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44%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1" u="none" strike="noStrike" dirty="0">
                          <a:solidFill>
                            <a:srgbClr val="539DFF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45%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71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702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74BCF64-7E82-0540-40DB-66F4ABCDEB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Pro-Forma Consolidated BS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563F5A-0F58-6125-388D-3342191DB8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 </a:t>
            </a:r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사업계획은 </a:t>
            </a:r>
            <a:r>
              <a:rPr lang="en-US" altLang="ko-KR" dirty="0"/>
              <a:t>TITAN</a:t>
            </a:r>
            <a:r>
              <a:rPr lang="ko-KR" altLang="en-US" dirty="0"/>
              <a:t>이 현재 기획 </a:t>
            </a:r>
            <a:r>
              <a:rPr lang="en-US" altLang="ko-KR" dirty="0"/>
              <a:t>· </a:t>
            </a:r>
            <a:r>
              <a:rPr lang="ko-KR" altLang="en-US" dirty="0"/>
              <a:t>개발 및 시범 추진 중인 </a:t>
            </a:r>
            <a:r>
              <a:rPr lang="en-US" altLang="ko-KR" dirty="0"/>
              <a:t>AI </a:t>
            </a:r>
            <a:r>
              <a:rPr lang="ko-KR" altLang="en-US" dirty="0"/>
              <a:t>기술</a:t>
            </a:r>
            <a:r>
              <a:rPr lang="en-US" altLang="ko-KR" dirty="0"/>
              <a:t> </a:t>
            </a:r>
            <a:r>
              <a:rPr lang="ko-KR" altLang="en-US" dirty="0"/>
              <a:t>기반 해외 사업 및 저가형 구독 콘텐츠 사업의 예상 실적은 반영하지 않은 사업계획입니다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C5C1EA-E412-07D9-B6F0-3F8B9B89B1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57</a:t>
            </a:fld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498032F-3E15-5416-F6B1-4AF79B68C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25437"/>
              </p:ext>
            </p:extLst>
          </p:nvPr>
        </p:nvGraphicFramePr>
        <p:xfrm>
          <a:off x="453000" y="1196975"/>
          <a:ext cx="9000000" cy="4572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>
                  <a:extLst>
                    <a:ext uri="{9D8B030D-6E8A-4147-A177-3AD203B41FA5}">
                      <a16:colId xmlns:a16="http://schemas.microsoft.com/office/drawing/2014/main" val="393245496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6621417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8096179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01153317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15448689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839366570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4291840593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79331101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875228885"/>
                    </a:ext>
                  </a:extLst>
                </a:gridCol>
              </a:tblGrid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</a:rPr>
                        <a:t>단위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</a:rPr>
                        <a:t>백만원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2024A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2025 H1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2025E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2026F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2027F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2028F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2029F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2030F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2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030696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유동자산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3,394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15,473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23,214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42,605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59,587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77,109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95,871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115,971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641789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현금및현금성자산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1,162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3,777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12,537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30,526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46,755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63,289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81,037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100,069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990195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운전자산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1,641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8,175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7,156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8,558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9,310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10,298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11,313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12,381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961778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기타유동자산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591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3,521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3,521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3,521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3,521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3,521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3,521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3,521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875930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비유동자산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1,137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1,856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1,849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1,828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1,810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1,797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1,790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1,780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411070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유무형자산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987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1,081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1,074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1,052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1,035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1,014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1,005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954155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기타비유동자산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17059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자산총계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4,531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17,329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25,064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44,433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61,397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78,906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97,660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117,751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527243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유동부채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1,204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6,467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7,267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7,842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8,227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9,013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9,811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10,644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757777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단기차입금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622380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운전부채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438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5,876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6,675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7,250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7,635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8,421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9,219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10,051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626192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미지급법인세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597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309789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기타유동부채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155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141580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비유동부채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575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612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1,184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1,632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2,122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2,651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3,221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128322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장기차입금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241587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marL="180975" indent="0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기타비유동부채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231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642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1,090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1,580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2,109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2,679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619224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부채총계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1,779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7,079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8,040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9,026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9,859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11,135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12,462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13,865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00274"/>
                  </a:ext>
                </a:extLst>
              </a:tr>
              <a:tr h="2406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자본총계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2,752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10,251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17,024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D3D3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35,407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51,538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67,771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85,198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</a:rPr>
                        <a:t>103,886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71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302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5DB5C98-7D49-CD7D-7152-0A9E971C81E8}"/>
              </a:ext>
            </a:extLst>
          </p:cNvPr>
          <p:cNvSpPr txBox="1"/>
          <p:nvPr/>
        </p:nvSpPr>
        <p:spPr>
          <a:xfrm>
            <a:off x="452438" y="1089025"/>
            <a:ext cx="1747273" cy="19043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+mj-lt"/>
                <a:ea typeface="+mj-ea"/>
              </a:rPr>
              <a:t>CONTACT &amp; LOCATION</a:t>
            </a:r>
            <a:endParaRPr lang="ko-KR" altLang="en-US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5AF7A7-ED16-4FF9-2854-81CAD19FA8D0}"/>
              </a:ext>
            </a:extLst>
          </p:cNvPr>
          <p:cNvSpPr txBox="1"/>
          <p:nvPr/>
        </p:nvSpPr>
        <p:spPr>
          <a:xfrm>
            <a:off x="452438" y="1449387"/>
            <a:ext cx="2508700" cy="71474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80000">
              <a:lnSpc>
                <a:spcPct val="11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+mj-lt"/>
                <a:ea typeface="+mj-ea"/>
              </a:rPr>
              <a:t>BNY PARTNERS</a:t>
            </a:r>
          </a:p>
          <a:p>
            <a:pPr algn="l" defTabSz="180000">
              <a:lnSpc>
                <a:spcPct val="110000"/>
              </a:lnSpc>
              <a:spcAft>
                <a:spcPts val="900"/>
              </a:spcAft>
            </a:pPr>
            <a:endParaRPr lang="en-US" altLang="ko-KR" sz="900" b="1" dirty="0">
              <a:solidFill>
                <a:schemeClr val="bg1"/>
              </a:solidFill>
              <a:latin typeface="+mj-lt"/>
              <a:ea typeface="+mj-ea"/>
            </a:endParaRPr>
          </a:p>
          <a:p>
            <a:pPr algn="l" defTabSz="180000">
              <a:lnSpc>
                <a:spcPct val="110000"/>
              </a:lnSpc>
            </a:pPr>
            <a:r>
              <a:rPr lang="ko-KR" altLang="en-US" sz="900" b="1" dirty="0">
                <a:solidFill>
                  <a:schemeClr val="bg1"/>
                </a:solidFill>
              </a:rPr>
              <a:t>윤 종 규</a:t>
            </a:r>
            <a:r>
              <a:rPr lang="ko-KR" altLang="en-US" sz="900" dirty="0">
                <a:solidFill>
                  <a:schemeClr val="bg1"/>
                </a:solidFill>
              </a:rPr>
              <a:t>  대표</a:t>
            </a:r>
            <a:r>
              <a:rPr lang="en-US" altLang="ko-KR" sz="900" dirty="0">
                <a:solidFill>
                  <a:schemeClr val="bg1"/>
                </a:solidFill>
              </a:rPr>
              <a:t>		john.jk.yoon@bnypartners.com</a:t>
            </a:r>
          </a:p>
          <a:p>
            <a:pPr algn="l" defTabSz="180000">
              <a:lnSpc>
                <a:spcPct val="110000"/>
              </a:lnSpc>
              <a:spcAft>
                <a:spcPts val="300"/>
              </a:spcAft>
            </a:pPr>
            <a:r>
              <a:rPr lang="en-US" altLang="ko-KR" sz="900" dirty="0">
                <a:solidFill>
                  <a:schemeClr val="bg1"/>
                </a:solidFill>
              </a:rPr>
              <a:t>					010 4880 1057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6D18D-D00A-C363-D0D3-25EBCC83C397}"/>
              </a:ext>
            </a:extLst>
          </p:cNvPr>
          <p:cNvSpPr txBox="1"/>
          <p:nvPr/>
        </p:nvSpPr>
        <p:spPr>
          <a:xfrm>
            <a:off x="452438" y="6166442"/>
            <a:ext cx="3948197" cy="11067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80000">
              <a:lnSpc>
                <a:spcPct val="110000"/>
              </a:lnSpc>
            </a:pPr>
            <a:r>
              <a:rPr lang="en-US" altLang="ko-KR" sz="700" dirty="0">
                <a:solidFill>
                  <a:schemeClr val="bg1"/>
                </a:solidFill>
              </a:rPr>
              <a:t>Copyright 2025 BNY Partners &amp; SL Partners, Attorneys at Law. All rights reserved. Printed in Korea.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CCD15-532F-3294-E67F-39C1C7DCA113}"/>
              </a:ext>
            </a:extLst>
          </p:cNvPr>
          <p:cNvSpPr txBox="1"/>
          <p:nvPr/>
        </p:nvSpPr>
        <p:spPr>
          <a:xfrm>
            <a:off x="452438" y="2924781"/>
            <a:ext cx="1569340" cy="71167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80000">
              <a:lnSpc>
                <a:spcPct val="110000"/>
              </a:lnSpc>
              <a:spcAft>
                <a:spcPts val="1200"/>
              </a:spcAft>
            </a:pPr>
            <a:r>
              <a:rPr lang="en-US" altLang="ko-KR" sz="1100" dirty="0">
                <a:solidFill>
                  <a:schemeClr val="bg1"/>
                </a:solidFill>
                <a:latin typeface="+mj-lt"/>
                <a:ea typeface="+mj-ea"/>
              </a:rPr>
              <a:t>bnypartners.com</a:t>
            </a:r>
          </a:p>
          <a:p>
            <a:pPr algn="l" defTabSz="180000">
              <a:lnSpc>
                <a:spcPct val="110000"/>
              </a:lnSpc>
              <a:spcAft>
                <a:spcPts val="600"/>
              </a:spcAft>
            </a:pPr>
            <a:r>
              <a:rPr lang="ko-KR" altLang="en-US" sz="900" b="1" dirty="0">
                <a:solidFill>
                  <a:schemeClr val="bg1"/>
                </a:solidFill>
              </a:rPr>
              <a:t>주식회사 </a:t>
            </a:r>
            <a:r>
              <a:rPr lang="ko-KR" altLang="en-US" sz="900" b="1" dirty="0" err="1">
                <a:solidFill>
                  <a:schemeClr val="bg1"/>
                </a:solidFill>
              </a:rPr>
              <a:t>비앤와이파트너스</a:t>
            </a:r>
            <a:endParaRPr lang="en-US" altLang="ko-KR" sz="900" b="1" dirty="0">
              <a:solidFill>
                <a:schemeClr val="bg1"/>
              </a:solidFill>
            </a:endParaRPr>
          </a:p>
          <a:p>
            <a:pPr algn="l" defTabSz="180000">
              <a:lnSpc>
                <a:spcPct val="110000"/>
              </a:lnSpc>
              <a:spcAft>
                <a:spcPts val="300"/>
              </a:spcAft>
            </a:pPr>
            <a:r>
              <a:rPr lang="ko-KR" altLang="en-US" sz="900" dirty="0">
                <a:solidFill>
                  <a:schemeClr val="bg1"/>
                </a:solidFill>
              </a:rPr>
              <a:t>서울특별시 영등포구 </a:t>
            </a:r>
            <a:r>
              <a:rPr lang="ko-KR" altLang="en-US" sz="900" dirty="0" err="1">
                <a:solidFill>
                  <a:schemeClr val="bg1"/>
                </a:solidFill>
              </a:rPr>
              <a:t>선유로</a:t>
            </a:r>
            <a:r>
              <a:rPr lang="en-US" altLang="ko-KR" sz="900" dirty="0">
                <a:solidFill>
                  <a:schemeClr val="bg1"/>
                </a:solidFill>
              </a:rPr>
              <a:t>9</a:t>
            </a:r>
            <a:r>
              <a:rPr lang="ko-KR" altLang="en-US" sz="900" dirty="0">
                <a:solidFill>
                  <a:schemeClr val="bg1"/>
                </a:solidFill>
              </a:rPr>
              <a:t>길 </a:t>
            </a:r>
            <a:r>
              <a:rPr lang="en-US" altLang="ko-KR" sz="900" dirty="0">
                <a:solidFill>
                  <a:schemeClr val="bg1"/>
                </a:solidFill>
              </a:rPr>
              <a:t>10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186EF6A-B33F-418B-118E-C83E3345715F}"/>
              </a:ext>
            </a:extLst>
          </p:cNvPr>
          <p:cNvGrpSpPr>
            <a:grpSpLocks noChangeAspect="1"/>
          </p:cNvGrpSpPr>
          <p:nvPr/>
        </p:nvGrpSpPr>
        <p:grpSpPr>
          <a:xfrm>
            <a:off x="452999" y="568310"/>
            <a:ext cx="1946459" cy="252000"/>
            <a:chOff x="452999" y="461630"/>
            <a:chExt cx="3300409" cy="42729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103E0E98-9666-6CA9-8E77-882912D30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10908" y="549275"/>
              <a:ext cx="1642500" cy="252000"/>
            </a:xfrm>
            <a:prstGeom prst="rect">
              <a:avLst/>
            </a:prstGeom>
          </p:spPr>
        </p:pic>
        <p:grpSp>
          <p:nvGrpSpPr>
            <p:cNvPr id="5" name="그래픽 12">
              <a:extLst>
                <a:ext uri="{FF2B5EF4-FFF2-40B4-BE49-F238E27FC236}">
                  <a16:creationId xmlns:a16="http://schemas.microsoft.com/office/drawing/2014/main" id="{9E6E372C-CC75-B188-F63A-9C523A18187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2999" y="461630"/>
              <a:ext cx="1363661" cy="427290"/>
              <a:chOff x="1748076" y="1492704"/>
              <a:chExt cx="2780254" cy="871165"/>
            </a:xfrm>
            <a:solidFill>
              <a:schemeClr val="bg1"/>
            </a:solidFill>
          </p:grpSpPr>
          <p:sp>
            <p:nvSpPr>
              <p:cNvPr id="6" name="자유형: 도형 21">
                <a:extLst>
                  <a:ext uri="{FF2B5EF4-FFF2-40B4-BE49-F238E27FC236}">
                    <a16:creationId xmlns:a16="http://schemas.microsoft.com/office/drawing/2014/main" id="{C8EBE60E-A83C-4354-28DE-7171CBDE636C}"/>
                  </a:ext>
                </a:extLst>
              </p:cNvPr>
              <p:cNvSpPr/>
              <p:nvPr/>
            </p:nvSpPr>
            <p:spPr>
              <a:xfrm flipV="1">
                <a:off x="2956473" y="1542367"/>
                <a:ext cx="1551422" cy="303005"/>
              </a:xfrm>
              <a:custGeom>
                <a:avLst/>
                <a:gdLst>
                  <a:gd name="connsiteX0" fmla="*/ 1551596 w 1551422"/>
                  <a:gd name="connsiteY0" fmla="*/ 303014 h 303005"/>
                  <a:gd name="connsiteX1" fmla="*/ 173 w 1551422"/>
                  <a:gd name="connsiteY1" fmla="*/ 303014 h 303005"/>
                  <a:gd name="connsiteX2" fmla="*/ 173 w 1551422"/>
                  <a:gd name="connsiteY2" fmla="*/ 8 h 303005"/>
                  <a:gd name="connsiteX3" fmla="*/ 1551596 w 1551422"/>
                  <a:gd name="connsiteY3" fmla="*/ 8 h 303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1422" h="303005">
                    <a:moveTo>
                      <a:pt x="1551596" y="303014"/>
                    </a:moveTo>
                    <a:lnTo>
                      <a:pt x="173" y="303014"/>
                    </a:lnTo>
                    <a:lnTo>
                      <a:pt x="173" y="8"/>
                    </a:lnTo>
                    <a:lnTo>
                      <a:pt x="1551596" y="8"/>
                    </a:lnTo>
                    <a:close/>
                  </a:path>
                </a:pathLst>
              </a:custGeom>
              <a:grpFill/>
              <a:ln w="60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" name="그래픽 12">
                <a:extLst>
                  <a:ext uri="{FF2B5EF4-FFF2-40B4-BE49-F238E27FC236}">
                    <a16:creationId xmlns:a16="http://schemas.microsoft.com/office/drawing/2014/main" id="{2F0BC315-F0BD-6FFA-3EB6-2330D5E09211}"/>
                  </a:ext>
                </a:extLst>
              </p:cNvPr>
              <p:cNvGrpSpPr/>
              <p:nvPr/>
            </p:nvGrpSpPr>
            <p:grpSpPr>
              <a:xfrm>
                <a:off x="1748076" y="1492704"/>
                <a:ext cx="2780254" cy="871165"/>
                <a:chOff x="1748076" y="1492704"/>
                <a:chExt cx="2780254" cy="871165"/>
              </a:xfrm>
              <a:grpFill/>
            </p:grpSpPr>
            <p:sp>
              <p:nvSpPr>
                <p:cNvPr id="8" name="자유형: 도형 26">
                  <a:extLst>
                    <a:ext uri="{FF2B5EF4-FFF2-40B4-BE49-F238E27FC236}">
                      <a16:creationId xmlns:a16="http://schemas.microsoft.com/office/drawing/2014/main" id="{1119EE98-38A1-4FD4-7BF0-C323030EA3AD}"/>
                    </a:ext>
                  </a:extLst>
                </p:cNvPr>
                <p:cNvSpPr/>
                <p:nvPr/>
              </p:nvSpPr>
              <p:spPr>
                <a:xfrm flipV="1">
                  <a:off x="1751153" y="1513324"/>
                  <a:ext cx="258404" cy="360962"/>
                </a:xfrm>
                <a:custGeom>
                  <a:avLst/>
                  <a:gdLst>
                    <a:gd name="connsiteX0" fmla="*/ 113589 w 258404"/>
                    <a:gd name="connsiteY0" fmla="*/ 179798 h 360962"/>
                    <a:gd name="connsiteX1" fmla="*/ 82826 w 258404"/>
                    <a:gd name="connsiteY1" fmla="*/ 179798 h 360962"/>
                    <a:gd name="connsiteX2" fmla="*/ 82826 w 258404"/>
                    <a:gd name="connsiteY2" fmla="*/ 7014 h 360962"/>
                    <a:gd name="connsiteX3" fmla="*/ 105382 w 258404"/>
                    <a:gd name="connsiteY3" fmla="*/ 7014 h 360962"/>
                    <a:gd name="connsiteX4" fmla="*/ 201265 w 258404"/>
                    <a:gd name="connsiteY4" fmla="*/ 94177 h 360962"/>
                    <a:gd name="connsiteX5" fmla="*/ 113589 w 258404"/>
                    <a:gd name="connsiteY5" fmla="*/ 179798 h 360962"/>
                    <a:gd name="connsiteX6" fmla="*/ 82826 w 258404"/>
                    <a:gd name="connsiteY6" fmla="*/ 354638 h 360962"/>
                    <a:gd name="connsiteX7" fmla="*/ 82826 w 258404"/>
                    <a:gd name="connsiteY7" fmla="*/ 186461 h 360962"/>
                    <a:gd name="connsiteX8" fmla="*/ 113589 w 258404"/>
                    <a:gd name="connsiteY8" fmla="*/ 186461 h 360962"/>
                    <a:gd name="connsiteX9" fmla="*/ 179215 w 258404"/>
                    <a:gd name="connsiteY9" fmla="*/ 274137 h 360962"/>
                    <a:gd name="connsiteX10" fmla="*/ 105382 w 258404"/>
                    <a:gd name="connsiteY10" fmla="*/ 354638 h 360962"/>
                    <a:gd name="connsiteX11" fmla="*/ 102820 w 258404"/>
                    <a:gd name="connsiteY11" fmla="*/ 345 h 360962"/>
                    <a:gd name="connsiteX12" fmla="*/ 280 w 258404"/>
                    <a:gd name="connsiteY12" fmla="*/ 345 h 360962"/>
                    <a:gd name="connsiteX13" fmla="*/ 280 w 258404"/>
                    <a:gd name="connsiteY13" fmla="*/ 4957 h 360962"/>
                    <a:gd name="connsiteX14" fmla="*/ 30018 w 258404"/>
                    <a:gd name="connsiteY14" fmla="*/ 61871 h 360962"/>
                    <a:gd name="connsiteX15" fmla="*/ 30018 w 258404"/>
                    <a:gd name="connsiteY15" fmla="*/ 300800 h 360962"/>
                    <a:gd name="connsiteX16" fmla="*/ 280 w 258404"/>
                    <a:gd name="connsiteY16" fmla="*/ 356688 h 360962"/>
                    <a:gd name="connsiteX17" fmla="*/ 280 w 258404"/>
                    <a:gd name="connsiteY17" fmla="*/ 361307 h 360962"/>
                    <a:gd name="connsiteX18" fmla="*/ 102820 w 258404"/>
                    <a:gd name="connsiteY18" fmla="*/ 361307 h 360962"/>
                    <a:gd name="connsiteX19" fmla="*/ 234585 w 258404"/>
                    <a:gd name="connsiteY19" fmla="*/ 273631 h 360962"/>
                    <a:gd name="connsiteX20" fmla="*/ 148964 w 258404"/>
                    <a:gd name="connsiteY20" fmla="*/ 185442 h 360962"/>
                    <a:gd name="connsiteX21" fmla="*/ 258685 w 258404"/>
                    <a:gd name="connsiteY21" fmla="*/ 92121 h 360962"/>
                    <a:gd name="connsiteX22" fmla="*/ 102820 w 258404"/>
                    <a:gd name="connsiteY22" fmla="*/ 345 h 360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58404" h="360962">
                      <a:moveTo>
                        <a:pt x="113589" y="179798"/>
                      </a:moveTo>
                      <a:lnTo>
                        <a:pt x="82826" y="179798"/>
                      </a:lnTo>
                      <a:lnTo>
                        <a:pt x="82826" y="7014"/>
                      </a:lnTo>
                      <a:lnTo>
                        <a:pt x="105382" y="7014"/>
                      </a:lnTo>
                      <a:cubicBezTo>
                        <a:pt x="154608" y="7014"/>
                        <a:pt x="201265" y="5989"/>
                        <a:pt x="201265" y="94177"/>
                      </a:cubicBezTo>
                      <a:cubicBezTo>
                        <a:pt x="201265" y="177235"/>
                        <a:pt x="151527" y="179798"/>
                        <a:pt x="113589" y="179798"/>
                      </a:cubicBezTo>
                      <a:moveTo>
                        <a:pt x="82826" y="354638"/>
                      </a:moveTo>
                      <a:lnTo>
                        <a:pt x="82826" y="186461"/>
                      </a:lnTo>
                      <a:lnTo>
                        <a:pt x="113589" y="186461"/>
                      </a:lnTo>
                      <a:cubicBezTo>
                        <a:pt x="145377" y="186461"/>
                        <a:pt x="179215" y="196204"/>
                        <a:pt x="179215" y="274137"/>
                      </a:cubicBezTo>
                      <a:cubicBezTo>
                        <a:pt x="179215" y="349507"/>
                        <a:pt x="136664" y="354638"/>
                        <a:pt x="105382" y="354638"/>
                      </a:cubicBezTo>
                      <a:close/>
                      <a:moveTo>
                        <a:pt x="102820" y="345"/>
                      </a:moveTo>
                      <a:lnTo>
                        <a:pt x="280" y="345"/>
                      </a:lnTo>
                      <a:lnTo>
                        <a:pt x="280" y="4957"/>
                      </a:lnTo>
                      <a:cubicBezTo>
                        <a:pt x="22325" y="4957"/>
                        <a:pt x="30018" y="27008"/>
                        <a:pt x="30018" y="61871"/>
                      </a:cubicBezTo>
                      <a:lnTo>
                        <a:pt x="30018" y="300800"/>
                      </a:lnTo>
                      <a:cubicBezTo>
                        <a:pt x="30018" y="332588"/>
                        <a:pt x="22837" y="356688"/>
                        <a:pt x="280" y="356688"/>
                      </a:cubicBezTo>
                      <a:lnTo>
                        <a:pt x="280" y="361307"/>
                      </a:lnTo>
                      <a:lnTo>
                        <a:pt x="102820" y="361307"/>
                      </a:lnTo>
                      <a:cubicBezTo>
                        <a:pt x="174090" y="361307"/>
                        <a:pt x="234585" y="357201"/>
                        <a:pt x="234585" y="273631"/>
                      </a:cubicBezTo>
                      <a:cubicBezTo>
                        <a:pt x="234585" y="193642"/>
                        <a:pt x="159221" y="185442"/>
                        <a:pt x="148964" y="185442"/>
                      </a:cubicBezTo>
                      <a:cubicBezTo>
                        <a:pt x="182290" y="185442"/>
                        <a:pt x="258685" y="178779"/>
                        <a:pt x="258685" y="92121"/>
                      </a:cubicBezTo>
                      <a:cubicBezTo>
                        <a:pt x="258685" y="2913"/>
                        <a:pt x="191527" y="345"/>
                        <a:pt x="102820" y="345"/>
                      </a:cubicBezTo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9" name="자유형: 도형 27">
                  <a:extLst>
                    <a:ext uri="{FF2B5EF4-FFF2-40B4-BE49-F238E27FC236}">
                      <a16:creationId xmlns:a16="http://schemas.microsoft.com/office/drawing/2014/main" id="{12F2EC95-335D-2A6F-CD0E-2C43596F9B29}"/>
                    </a:ext>
                  </a:extLst>
                </p:cNvPr>
                <p:cNvSpPr/>
                <p:nvPr/>
              </p:nvSpPr>
              <p:spPr>
                <a:xfrm flipV="1">
                  <a:off x="2091574" y="1492704"/>
                  <a:ext cx="324112" cy="386382"/>
                </a:xfrm>
                <a:custGeom>
                  <a:avLst/>
                  <a:gdLst>
                    <a:gd name="connsiteX0" fmla="*/ 99962 w 324112"/>
                    <a:gd name="connsiteY0" fmla="*/ 281518 h 386382"/>
                    <a:gd name="connsiteX1" fmla="*/ 134548 w 324112"/>
                    <a:gd name="connsiteY1" fmla="*/ 228704 h 386382"/>
                    <a:gd name="connsiteX2" fmla="*/ 168151 w 324112"/>
                    <a:gd name="connsiteY2" fmla="*/ 359450 h 386382"/>
                    <a:gd name="connsiteX3" fmla="*/ 112142 w 324112"/>
                    <a:gd name="connsiteY3" fmla="*/ 374319 h 386382"/>
                    <a:gd name="connsiteX4" fmla="*/ 99962 w 324112"/>
                    <a:gd name="connsiteY4" fmla="*/ 281518 h 386382"/>
                    <a:gd name="connsiteX5" fmla="*/ 180807 w 324112"/>
                    <a:gd name="connsiteY5" fmla="*/ 76945 h 386382"/>
                    <a:gd name="connsiteX6" fmla="*/ 99962 w 324112"/>
                    <a:gd name="connsiteY6" fmla="*/ 199997 h 386382"/>
                    <a:gd name="connsiteX7" fmla="*/ 72696 w 324112"/>
                    <a:gd name="connsiteY7" fmla="*/ 182047 h 386382"/>
                    <a:gd name="connsiteX8" fmla="*/ 58575 w 324112"/>
                    <a:gd name="connsiteY8" fmla="*/ 53870 h 386382"/>
                    <a:gd name="connsiteX9" fmla="*/ 180807 w 324112"/>
                    <a:gd name="connsiteY9" fmla="*/ 76945 h 386382"/>
                    <a:gd name="connsiteX10" fmla="*/ 324468 w 324112"/>
                    <a:gd name="connsiteY10" fmla="*/ 56945 h 386382"/>
                    <a:gd name="connsiteX11" fmla="*/ 274802 w 324112"/>
                    <a:gd name="connsiteY11" fmla="*/ 550 h 386382"/>
                    <a:gd name="connsiteX12" fmla="*/ 213927 w 324112"/>
                    <a:gd name="connsiteY12" fmla="*/ 26182 h 386382"/>
                    <a:gd name="connsiteX13" fmla="*/ 185679 w 324112"/>
                    <a:gd name="connsiteY13" fmla="*/ 70789 h 386382"/>
                    <a:gd name="connsiteX14" fmla="*/ 19617 w 324112"/>
                    <a:gd name="connsiteY14" fmla="*/ 34901 h 386382"/>
                    <a:gd name="connsiteX15" fmla="*/ 68795 w 324112"/>
                    <a:gd name="connsiteY15" fmla="*/ 188203 h 386382"/>
                    <a:gd name="connsiteX16" fmla="*/ 96073 w 324112"/>
                    <a:gd name="connsiteY16" fmla="*/ 205635 h 386382"/>
                    <a:gd name="connsiteX17" fmla="*/ 71725 w 324112"/>
                    <a:gd name="connsiteY17" fmla="*/ 243573 h 386382"/>
                    <a:gd name="connsiteX18" fmla="*/ 103857 w 324112"/>
                    <a:gd name="connsiteY18" fmla="*/ 385088 h 386382"/>
                    <a:gd name="connsiteX19" fmla="*/ 173993 w 324112"/>
                    <a:gd name="connsiteY19" fmla="*/ 364069 h 386382"/>
                    <a:gd name="connsiteX20" fmla="*/ 138437 w 324112"/>
                    <a:gd name="connsiteY20" fmla="*/ 222554 h 386382"/>
                    <a:gd name="connsiteX21" fmla="*/ 203701 w 324112"/>
                    <a:gd name="connsiteY21" fmla="*/ 121040 h 386382"/>
                    <a:gd name="connsiteX22" fmla="*/ 261646 w 324112"/>
                    <a:gd name="connsiteY22" fmla="*/ 181535 h 386382"/>
                    <a:gd name="connsiteX23" fmla="*/ 291842 w 324112"/>
                    <a:gd name="connsiteY23" fmla="*/ 175897 h 386382"/>
                    <a:gd name="connsiteX24" fmla="*/ 294278 w 324112"/>
                    <a:gd name="connsiteY24" fmla="*/ 139490 h 386382"/>
                    <a:gd name="connsiteX25" fmla="*/ 259216 w 324112"/>
                    <a:gd name="connsiteY25" fmla="*/ 136421 h 386382"/>
                    <a:gd name="connsiteX26" fmla="*/ 250931 w 324112"/>
                    <a:gd name="connsiteY26" fmla="*/ 153853 h 386382"/>
                    <a:gd name="connsiteX27" fmla="*/ 207590 w 324112"/>
                    <a:gd name="connsiteY27" fmla="*/ 115396 h 386382"/>
                    <a:gd name="connsiteX28" fmla="*/ 246059 w 324112"/>
                    <a:gd name="connsiteY28" fmla="*/ 56945 h 386382"/>
                    <a:gd name="connsiteX29" fmla="*/ 285028 w 324112"/>
                    <a:gd name="connsiteY29" fmla="*/ 32845 h 386382"/>
                    <a:gd name="connsiteX30" fmla="*/ 318137 w 324112"/>
                    <a:gd name="connsiteY30" fmla="*/ 56945 h 386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324112" h="386382">
                      <a:moveTo>
                        <a:pt x="99962" y="281518"/>
                      </a:moveTo>
                      <a:lnTo>
                        <a:pt x="134548" y="228704"/>
                      </a:lnTo>
                      <a:cubicBezTo>
                        <a:pt x="199318" y="271774"/>
                        <a:pt x="192010" y="328175"/>
                        <a:pt x="168151" y="359450"/>
                      </a:cubicBezTo>
                      <a:cubicBezTo>
                        <a:pt x="154023" y="374832"/>
                        <a:pt x="131623" y="382013"/>
                        <a:pt x="112142" y="374319"/>
                      </a:cubicBezTo>
                      <a:cubicBezTo>
                        <a:pt x="82446" y="362525"/>
                        <a:pt x="76591" y="317924"/>
                        <a:pt x="99962" y="281518"/>
                      </a:cubicBezTo>
                      <a:moveTo>
                        <a:pt x="180807" y="76945"/>
                      </a:moveTo>
                      <a:lnTo>
                        <a:pt x="99962" y="199997"/>
                      </a:lnTo>
                      <a:lnTo>
                        <a:pt x="72696" y="182047"/>
                      </a:lnTo>
                      <a:cubicBezTo>
                        <a:pt x="44459" y="161540"/>
                        <a:pt x="16699" y="106165"/>
                        <a:pt x="58575" y="53870"/>
                      </a:cubicBezTo>
                      <a:cubicBezTo>
                        <a:pt x="88771" y="15932"/>
                        <a:pt x="155971" y="16957"/>
                        <a:pt x="180807" y="76945"/>
                      </a:cubicBezTo>
                      <a:moveTo>
                        <a:pt x="324468" y="56945"/>
                      </a:moveTo>
                      <a:cubicBezTo>
                        <a:pt x="323980" y="19519"/>
                        <a:pt x="297202" y="2594"/>
                        <a:pt x="274802" y="550"/>
                      </a:cubicBezTo>
                      <a:cubicBezTo>
                        <a:pt x="274802" y="550"/>
                        <a:pt x="232921" y="-3556"/>
                        <a:pt x="213927" y="26182"/>
                      </a:cubicBezTo>
                      <a:lnTo>
                        <a:pt x="185679" y="70789"/>
                      </a:lnTo>
                      <a:cubicBezTo>
                        <a:pt x="168639" y="12338"/>
                        <a:pt x="70742" y="-33807"/>
                        <a:pt x="19617" y="34901"/>
                      </a:cubicBezTo>
                      <a:cubicBezTo>
                        <a:pt x="-31031" y="103096"/>
                        <a:pt x="29844" y="164616"/>
                        <a:pt x="68795" y="188203"/>
                      </a:cubicBezTo>
                      <a:lnTo>
                        <a:pt x="96073" y="205635"/>
                      </a:lnTo>
                      <a:lnTo>
                        <a:pt x="71725" y="243573"/>
                      </a:lnTo>
                      <a:cubicBezTo>
                        <a:pt x="23513" y="312281"/>
                        <a:pt x="49325" y="374832"/>
                        <a:pt x="103857" y="385088"/>
                      </a:cubicBezTo>
                      <a:cubicBezTo>
                        <a:pt x="135518" y="390726"/>
                        <a:pt x="159378" y="381500"/>
                        <a:pt x="173993" y="364069"/>
                      </a:cubicBezTo>
                      <a:cubicBezTo>
                        <a:pt x="194934" y="338937"/>
                        <a:pt x="213433" y="275874"/>
                        <a:pt x="138437" y="222554"/>
                      </a:cubicBezTo>
                      <a:lnTo>
                        <a:pt x="203701" y="121040"/>
                      </a:lnTo>
                      <a:cubicBezTo>
                        <a:pt x="222200" y="169228"/>
                        <a:pt x="248983" y="178460"/>
                        <a:pt x="261646" y="181535"/>
                      </a:cubicBezTo>
                      <a:cubicBezTo>
                        <a:pt x="271383" y="183591"/>
                        <a:pt x="283557" y="183072"/>
                        <a:pt x="291842" y="175897"/>
                      </a:cubicBezTo>
                      <a:cubicBezTo>
                        <a:pt x="301091" y="168203"/>
                        <a:pt x="304498" y="151284"/>
                        <a:pt x="294278" y="139490"/>
                      </a:cubicBezTo>
                      <a:cubicBezTo>
                        <a:pt x="285505" y="128727"/>
                        <a:pt x="269918" y="127184"/>
                        <a:pt x="259216" y="136421"/>
                      </a:cubicBezTo>
                      <a:cubicBezTo>
                        <a:pt x="253367" y="141546"/>
                        <a:pt x="251419" y="146671"/>
                        <a:pt x="250931" y="153853"/>
                      </a:cubicBezTo>
                      <a:cubicBezTo>
                        <a:pt x="250931" y="165128"/>
                        <a:pt x="220741" y="156928"/>
                        <a:pt x="207590" y="115396"/>
                      </a:cubicBezTo>
                      <a:lnTo>
                        <a:pt x="246059" y="56945"/>
                      </a:lnTo>
                      <a:cubicBezTo>
                        <a:pt x="261646" y="33363"/>
                        <a:pt x="285028" y="32845"/>
                        <a:pt x="285028" y="32845"/>
                      </a:cubicBezTo>
                      <a:cubicBezTo>
                        <a:pt x="300120" y="32845"/>
                        <a:pt x="315701" y="39001"/>
                        <a:pt x="318137" y="56945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0" name="자유형: 도형 29">
                  <a:extLst>
                    <a:ext uri="{FF2B5EF4-FFF2-40B4-BE49-F238E27FC236}">
                      <a16:creationId xmlns:a16="http://schemas.microsoft.com/office/drawing/2014/main" id="{29D68C9E-9903-760C-434F-85C45B9537CF}"/>
                    </a:ext>
                  </a:extLst>
                </p:cNvPr>
                <p:cNvSpPr/>
                <p:nvPr/>
              </p:nvSpPr>
              <p:spPr>
                <a:xfrm flipV="1">
                  <a:off x="2427647" y="1513327"/>
                  <a:ext cx="343018" cy="360956"/>
                </a:xfrm>
                <a:custGeom>
                  <a:avLst/>
                  <a:gdLst>
                    <a:gd name="connsiteX0" fmla="*/ 343489 w 343018"/>
                    <a:gd name="connsiteY0" fmla="*/ 361331 h 360956"/>
                    <a:gd name="connsiteX1" fmla="*/ 343489 w 343018"/>
                    <a:gd name="connsiteY1" fmla="*/ 354662 h 360956"/>
                    <a:gd name="connsiteX2" fmla="*/ 237862 w 343018"/>
                    <a:gd name="connsiteY2" fmla="*/ 241867 h 360956"/>
                    <a:gd name="connsiteX3" fmla="*/ 198899 w 343018"/>
                    <a:gd name="connsiteY3" fmla="*/ 161371 h 360956"/>
                    <a:gd name="connsiteX4" fmla="*/ 198899 w 343018"/>
                    <a:gd name="connsiteY4" fmla="*/ 57801 h 360956"/>
                    <a:gd name="connsiteX5" fmla="*/ 237349 w 343018"/>
                    <a:gd name="connsiteY5" fmla="*/ 7044 h 360956"/>
                    <a:gd name="connsiteX6" fmla="*/ 237349 w 343018"/>
                    <a:gd name="connsiteY6" fmla="*/ 375 h 360956"/>
                    <a:gd name="connsiteX7" fmla="*/ 112241 w 343018"/>
                    <a:gd name="connsiteY7" fmla="*/ 375 h 360956"/>
                    <a:gd name="connsiteX8" fmla="*/ 112241 w 343018"/>
                    <a:gd name="connsiteY8" fmla="*/ 7044 h 360956"/>
                    <a:gd name="connsiteX9" fmla="*/ 150698 w 343018"/>
                    <a:gd name="connsiteY9" fmla="*/ 57801 h 360956"/>
                    <a:gd name="connsiteX10" fmla="*/ 150698 w 343018"/>
                    <a:gd name="connsiteY10" fmla="*/ 148034 h 360956"/>
                    <a:gd name="connsiteX11" fmla="*/ 54309 w 343018"/>
                    <a:gd name="connsiteY11" fmla="*/ 315186 h 360956"/>
                    <a:gd name="connsiteX12" fmla="*/ 471 w 343018"/>
                    <a:gd name="connsiteY12" fmla="*/ 355175 h 360956"/>
                    <a:gd name="connsiteX13" fmla="*/ 471 w 343018"/>
                    <a:gd name="connsiteY13" fmla="*/ 361331 h 360956"/>
                    <a:gd name="connsiteX14" fmla="*/ 132247 w 343018"/>
                    <a:gd name="connsiteY14" fmla="*/ 361331 h 360956"/>
                    <a:gd name="connsiteX15" fmla="*/ 132247 w 343018"/>
                    <a:gd name="connsiteY15" fmla="*/ 355175 h 360956"/>
                    <a:gd name="connsiteX16" fmla="*/ 120448 w 343018"/>
                    <a:gd name="connsiteY16" fmla="*/ 297242 h 360956"/>
                    <a:gd name="connsiteX17" fmla="*/ 195824 w 343018"/>
                    <a:gd name="connsiteY17" fmla="*/ 169572 h 360956"/>
                    <a:gd name="connsiteX18" fmla="*/ 234787 w 343018"/>
                    <a:gd name="connsiteY18" fmla="*/ 249554 h 360956"/>
                    <a:gd name="connsiteX19" fmla="*/ 211718 w 343018"/>
                    <a:gd name="connsiteY19" fmla="*/ 354662 h 360956"/>
                    <a:gd name="connsiteX20" fmla="*/ 211718 w 343018"/>
                    <a:gd name="connsiteY20" fmla="*/ 361331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3018" h="360956">
                      <a:moveTo>
                        <a:pt x="343489" y="361331"/>
                      </a:moveTo>
                      <a:lnTo>
                        <a:pt x="343489" y="354662"/>
                      </a:lnTo>
                      <a:cubicBezTo>
                        <a:pt x="321444" y="354662"/>
                        <a:pt x="294775" y="354662"/>
                        <a:pt x="237862" y="241867"/>
                      </a:cubicBezTo>
                      <a:lnTo>
                        <a:pt x="198899" y="161371"/>
                      </a:lnTo>
                      <a:lnTo>
                        <a:pt x="198899" y="57801"/>
                      </a:lnTo>
                      <a:cubicBezTo>
                        <a:pt x="198899" y="16269"/>
                        <a:pt x="215818" y="7044"/>
                        <a:pt x="237349" y="7044"/>
                      </a:cubicBezTo>
                      <a:lnTo>
                        <a:pt x="237349" y="375"/>
                      </a:lnTo>
                      <a:lnTo>
                        <a:pt x="112241" y="375"/>
                      </a:lnTo>
                      <a:lnTo>
                        <a:pt x="112241" y="7044"/>
                      </a:lnTo>
                      <a:cubicBezTo>
                        <a:pt x="133785" y="7044"/>
                        <a:pt x="150698" y="16269"/>
                        <a:pt x="150698" y="57801"/>
                      </a:cubicBezTo>
                      <a:lnTo>
                        <a:pt x="150698" y="148034"/>
                      </a:lnTo>
                      <a:cubicBezTo>
                        <a:pt x="75334" y="281342"/>
                        <a:pt x="54309" y="315186"/>
                        <a:pt x="54309" y="315186"/>
                      </a:cubicBezTo>
                      <a:cubicBezTo>
                        <a:pt x="31246" y="354156"/>
                        <a:pt x="17402" y="354156"/>
                        <a:pt x="471" y="355175"/>
                      </a:cubicBezTo>
                      <a:lnTo>
                        <a:pt x="471" y="361331"/>
                      </a:lnTo>
                      <a:lnTo>
                        <a:pt x="132247" y="361331"/>
                      </a:lnTo>
                      <a:lnTo>
                        <a:pt x="132247" y="355175"/>
                      </a:lnTo>
                      <a:cubicBezTo>
                        <a:pt x="117885" y="355175"/>
                        <a:pt x="85596" y="356200"/>
                        <a:pt x="120448" y="297242"/>
                      </a:cubicBezTo>
                      <a:lnTo>
                        <a:pt x="195824" y="169572"/>
                      </a:lnTo>
                      <a:lnTo>
                        <a:pt x="234787" y="249554"/>
                      </a:lnTo>
                      <a:cubicBezTo>
                        <a:pt x="252224" y="284936"/>
                        <a:pt x="280931" y="354662"/>
                        <a:pt x="211718" y="354662"/>
                      </a:cubicBezTo>
                      <a:lnTo>
                        <a:pt x="211718" y="361331"/>
                      </a:ln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" name="자유형: 도형 30">
                  <a:extLst>
                    <a:ext uri="{FF2B5EF4-FFF2-40B4-BE49-F238E27FC236}">
                      <a16:creationId xmlns:a16="http://schemas.microsoft.com/office/drawing/2014/main" id="{31D3CCCC-5913-D677-4146-0BB6295E990C}"/>
                    </a:ext>
                  </a:extLst>
                </p:cNvPr>
                <p:cNvSpPr/>
                <p:nvPr/>
              </p:nvSpPr>
              <p:spPr>
                <a:xfrm flipV="1">
                  <a:off x="1748076" y="1998302"/>
                  <a:ext cx="263535" cy="360956"/>
                </a:xfrm>
                <a:custGeom>
                  <a:avLst/>
                  <a:gdLst>
                    <a:gd name="connsiteX0" fmla="*/ 94103 w 263535"/>
                    <a:gd name="connsiteY0" fmla="*/ 161445 h 360956"/>
                    <a:gd name="connsiteX1" fmla="*/ 207930 w 263535"/>
                    <a:gd name="connsiteY1" fmla="*/ 257835 h 360956"/>
                    <a:gd name="connsiteX2" fmla="*/ 94103 w 263535"/>
                    <a:gd name="connsiteY2" fmla="*/ 354742 h 360956"/>
                    <a:gd name="connsiteX3" fmla="*/ 84878 w 263535"/>
                    <a:gd name="connsiteY3" fmla="*/ 354742 h 360956"/>
                    <a:gd name="connsiteX4" fmla="*/ 84878 w 263535"/>
                    <a:gd name="connsiteY4" fmla="*/ 161445 h 360956"/>
                    <a:gd name="connsiteX5" fmla="*/ 84878 w 263535"/>
                    <a:gd name="connsiteY5" fmla="*/ 70688 h 360956"/>
                    <a:gd name="connsiteX6" fmla="*/ 135629 w 263535"/>
                    <a:gd name="connsiteY6" fmla="*/ 7118 h 360956"/>
                    <a:gd name="connsiteX7" fmla="*/ 135629 w 263535"/>
                    <a:gd name="connsiteY7" fmla="*/ 449 h 360956"/>
                    <a:gd name="connsiteX8" fmla="*/ 277 w 263535"/>
                    <a:gd name="connsiteY8" fmla="*/ 449 h 360956"/>
                    <a:gd name="connsiteX9" fmla="*/ 277 w 263535"/>
                    <a:gd name="connsiteY9" fmla="*/ 7118 h 360956"/>
                    <a:gd name="connsiteX10" fmla="*/ 34115 w 263535"/>
                    <a:gd name="connsiteY10" fmla="*/ 69150 h 360956"/>
                    <a:gd name="connsiteX11" fmla="*/ 34115 w 263535"/>
                    <a:gd name="connsiteY11" fmla="*/ 306542 h 360956"/>
                    <a:gd name="connsiteX12" fmla="*/ 1302 w 263535"/>
                    <a:gd name="connsiteY12" fmla="*/ 354742 h 360956"/>
                    <a:gd name="connsiteX13" fmla="*/ 1302 w 263535"/>
                    <a:gd name="connsiteY13" fmla="*/ 361405 h 360956"/>
                    <a:gd name="connsiteX14" fmla="*/ 94103 w 263535"/>
                    <a:gd name="connsiteY14" fmla="*/ 361405 h 360956"/>
                    <a:gd name="connsiteX15" fmla="*/ 263813 w 263535"/>
                    <a:gd name="connsiteY15" fmla="*/ 257835 h 360956"/>
                    <a:gd name="connsiteX16" fmla="*/ 94103 w 263535"/>
                    <a:gd name="connsiteY16" fmla="*/ 154783 h 360956"/>
                    <a:gd name="connsiteX17" fmla="*/ 84878 w 263535"/>
                    <a:gd name="connsiteY17" fmla="*/ 154783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3535" h="360956">
                      <a:moveTo>
                        <a:pt x="94103" y="161445"/>
                      </a:moveTo>
                      <a:cubicBezTo>
                        <a:pt x="156660" y="161445"/>
                        <a:pt x="207930" y="162983"/>
                        <a:pt x="207930" y="257835"/>
                      </a:cubicBezTo>
                      <a:cubicBezTo>
                        <a:pt x="207930" y="355261"/>
                        <a:pt x="154092" y="354742"/>
                        <a:pt x="94103" y="354742"/>
                      </a:cubicBezTo>
                      <a:lnTo>
                        <a:pt x="84878" y="354742"/>
                      </a:lnTo>
                      <a:lnTo>
                        <a:pt x="84878" y="161445"/>
                      </a:lnTo>
                      <a:close/>
                      <a:moveTo>
                        <a:pt x="84878" y="70688"/>
                      </a:moveTo>
                      <a:cubicBezTo>
                        <a:pt x="84878" y="9162"/>
                        <a:pt x="103329" y="7118"/>
                        <a:pt x="135629" y="7118"/>
                      </a:cubicBezTo>
                      <a:lnTo>
                        <a:pt x="135629" y="449"/>
                      </a:lnTo>
                      <a:lnTo>
                        <a:pt x="277" y="449"/>
                      </a:lnTo>
                      <a:lnTo>
                        <a:pt x="277" y="7118"/>
                      </a:lnTo>
                      <a:cubicBezTo>
                        <a:pt x="25396" y="7118"/>
                        <a:pt x="34115" y="20449"/>
                        <a:pt x="34115" y="69150"/>
                      </a:cubicBezTo>
                      <a:lnTo>
                        <a:pt x="34115" y="306542"/>
                      </a:lnTo>
                      <a:cubicBezTo>
                        <a:pt x="34115" y="341923"/>
                        <a:pt x="26934" y="354742"/>
                        <a:pt x="1302" y="354742"/>
                      </a:cubicBezTo>
                      <a:lnTo>
                        <a:pt x="1302" y="361405"/>
                      </a:lnTo>
                      <a:lnTo>
                        <a:pt x="94103" y="361405"/>
                      </a:lnTo>
                      <a:cubicBezTo>
                        <a:pt x="196130" y="361405"/>
                        <a:pt x="263813" y="349099"/>
                        <a:pt x="263813" y="257835"/>
                      </a:cubicBezTo>
                      <a:cubicBezTo>
                        <a:pt x="263813" y="167089"/>
                        <a:pt x="196130" y="154783"/>
                        <a:pt x="94103" y="154783"/>
                      </a:cubicBezTo>
                      <a:lnTo>
                        <a:pt x="84878" y="154783"/>
                      </a:ln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3" name="자유형: 도형 31">
                  <a:extLst>
                    <a:ext uri="{FF2B5EF4-FFF2-40B4-BE49-F238E27FC236}">
                      <a16:creationId xmlns:a16="http://schemas.microsoft.com/office/drawing/2014/main" id="{220093A6-D2DB-31F0-173A-83C28EEEC7A5}"/>
                    </a:ext>
                  </a:extLst>
                </p:cNvPr>
                <p:cNvSpPr/>
                <p:nvPr/>
              </p:nvSpPr>
              <p:spPr>
                <a:xfrm flipV="1">
                  <a:off x="2031586" y="1998298"/>
                  <a:ext cx="336343" cy="360962"/>
                </a:xfrm>
                <a:custGeom>
                  <a:avLst/>
                  <a:gdLst>
                    <a:gd name="connsiteX0" fmla="*/ 210577 w 336343"/>
                    <a:gd name="connsiteY0" fmla="*/ 116324 h 360962"/>
                    <a:gd name="connsiteX1" fmla="*/ 143401 w 336343"/>
                    <a:gd name="connsiteY1" fmla="*/ 286540 h 360962"/>
                    <a:gd name="connsiteX2" fmla="*/ 81368 w 336343"/>
                    <a:gd name="connsiteY2" fmla="*/ 116324 h 360962"/>
                    <a:gd name="connsiteX3" fmla="*/ 336704 w 336343"/>
                    <a:gd name="connsiteY3" fmla="*/ 442 h 360962"/>
                    <a:gd name="connsiteX4" fmla="*/ 219796 w 336343"/>
                    <a:gd name="connsiteY4" fmla="*/ 442 h 360962"/>
                    <a:gd name="connsiteX5" fmla="*/ 219796 w 336343"/>
                    <a:gd name="connsiteY5" fmla="*/ 7116 h 360962"/>
                    <a:gd name="connsiteX6" fmla="*/ 230565 w 336343"/>
                    <a:gd name="connsiteY6" fmla="*/ 65049 h 360962"/>
                    <a:gd name="connsiteX7" fmla="*/ 212627 w 336343"/>
                    <a:gd name="connsiteY7" fmla="*/ 109656 h 360962"/>
                    <a:gd name="connsiteX8" fmla="*/ 79825 w 336343"/>
                    <a:gd name="connsiteY8" fmla="*/ 109656 h 360962"/>
                    <a:gd name="connsiteX9" fmla="*/ 114700 w 336343"/>
                    <a:gd name="connsiteY9" fmla="*/ 7116 h 360962"/>
                    <a:gd name="connsiteX10" fmla="*/ 114700 w 336343"/>
                    <a:gd name="connsiteY10" fmla="*/ 442 h 360962"/>
                    <a:gd name="connsiteX11" fmla="*/ 361 w 336343"/>
                    <a:gd name="connsiteY11" fmla="*/ 442 h 360962"/>
                    <a:gd name="connsiteX12" fmla="*/ 361 w 336343"/>
                    <a:gd name="connsiteY12" fmla="*/ 7116 h 360962"/>
                    <a:gd name="connsiteX13" fmla="*/ 77268 w 336343"/>
                    <a:gd name="connsiteY13" fmla="*/ 128112 h 360962"/>
                    <a:gd name="connsiteX14" fmla="*/ 162889 w 336343"/>
                    <a:gd name="connsiteY14" fmla="*/ 361404 h 360962"/>
                    <a:gd name="connsiteX15" fmla="*/ 168520 w 336343"/>
                    <a:gd name="connsiteY15" fmla="*/ 361404 h 360962"/>
                    <a:gd name="connsiteX16" fmla="*/ 294660 w 336343"/>
                    <a:gd name="connsiteY16" fmla="*/ 48636 h 360962"/>
                    <a:gd name="connsiteX17" fmla="*/ 336704 w 336343"/>
                    <a:gd name="connsiteY17" fmla="*/ 7116 h 360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36343" h="360962">
                      <a:moveTo>
                        <a:pt x="210577" y="116324"/>
                      </a:moveTo>
                      <a:lnTo>
                        <a:pt x="143401" y="286540"/>
                      </a:lnTo>
                      <a:lnTo>
                        <a:pt x="81368" y="116324"/>
                      </a:lnTo>
                      <a:close/>
                      <a:moveTo>
                        <a:pt x="336704" y="442"/>
                      </a:moveTo>
                      <a:lnTo>
                        <a:pt x="219796" y="442"/>
                      </a:lnTo>
                      <a:lnTo>
                        <a:pt x="219796" y="7116"/>
                      </a:lnTo>
                      <a:cubicBezTo>
                        <a:pt x="247484" y="7116"/>
                        <a:pt x="242359" y="36330"/>
                        <a:pt x="230565" y="65049"/>
                      </a:cubicBezTo>
                      <a:lnTo>
                        <a:pt x="212627" y="109656"/>
                      </a:lnTo>
                      <a:lnTo>
                        <a:pt x="79825" y="109656"/>
                      </a:lnTo>
                      <a:cubicBezTo>
                        <a:pt x="65987" y="68636"/>
                        <a:pt x="43430" y="5060"/>
                        <a:pt x="114700" y="7116"/>
                      </a:cubicBezTo>
                      <a:lnTo>
                        <a:pt x="114700" y="442"/>
                      </a:lnTo>
                      <a:lnTo>
                        <a:pt x="361" y="442"/>
                      </a:lnTo>
                      <a:lnTo>
                        <a:pt x="361" y="7116"/>
                      </a:lnTo>
                      <a:cubicBezTo>
                        <a:pt x="19842" y="7623"/>
                        <a:pt x="32661" y="9679"/>
                        <a:pt x="77268" y="128112"/>
                      </a:cubicBezTo>
                      <a:lnTo>
                        <a:pt x="162889" y="361404"/>
                      </a:lnTo>
                      <a:lnTo>
                        <a:pt x="168520" y="361404"/>
                      </a:lnTo>
                      <a:cubicBezTo>
                        <a:pt x="231077" y="210664"/>
                        <a:pt x="294660" y="48636"/>
                        <a:pt x="294660" y="48636"/>
                      </a:cubicBezTo>
                      <a:cubicBezTo>
                        <a:pt x="311585" y="7623"/>
                        <a:pt x="322347" y="8141"/>
                        <a:pt x="336704" y="7116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4" name="자유형: 도형 32">
                  <a:extLst>
                    <a:ext uri="{FF2B5EF4-FFF2-40B4-BE49-F238E27FC236}">
                      <a16:creationId xmlns:a16="http://schemas.microsoft.com/office/drawing/2014/main" id="{6562484D-5653-8625-2C79-5C72492C4935}"/>
                    </a:ext>
                  </a:extLst>
                </p:cNvPr>
                <p:cNvSpPr/>
                <p:nvPr/>
              </p:nvSpPr>
              <p:spPr>
                <a:xfrm flipV="1">
                  <a:off x="2424299" y="1998303"/>
                  <a:ext cx="311736" cy="360956"/>
                </a:xfrm>
                <a:custGeom>
                  <a:avLst/>
                  <a:gdLst>
                    <a:gd name="connsiteX0" fmla="*/ 98361 w 311736"/>
                    <a:gd name="connsiteY0" fmla="*/ 354774 h 360956"/>
                    <a:gd name="connsiteX1" fmla="*/ 82461 w 311736"/>
                    <a:gd name="connsiteY1" fmla="*/ 354774 h 360956"/>
                    <a:gd name="connsiteX2" fmla="*/ 82461 w 311736"/>
                    <a:gd name="connsiteY2" fmla="*/ 172759 h 360956"/>
                    <a:gd name="connsiteX3" fmla="*/ 98361 w 311736"/>
                    <a:gd name="connsiteY3" fmla="*/ 172759 h 360956"/>
                    <a:gd name="connsiteX4" fmla="*/ 200388 w 311736"/>
                    <a:gd name="connsiteY4" fmla="*/ 263504 h 360956"/>
                    <a:gd name="connsiteX5" fmla="*/ 98361 w 311736"/>
                    <a:gd name="connsiteY5" fmla="*/ 354774 h 360956"/>
                    <a:gd name="connsiteX6" fmla="*/ 312165 w 311736"/>
                    <a:gd name="connsiteY6" fmla="*/ 481 h 360956"/>
                    <a:gd name="connsiteX7" fmla="*/ 273189 w 311736"/>
                    <a:gd name="connsiteY7" fmla="*/ 481 h 360956"/>
                    <a:gd name="connsiteX8" fmla="*/ 186037 w 311736"/>
                    <a:gd name="connsiteY8" fmla="*/ 112258 h 360956"/>
                    <a:gd name="connsiteX9" fmla="*/ 106561 w 311736"/>
                    <a:gd name="connsiteY9" fmla="*/ 166090 h 360956"/>
                    <a:gd name="connsiteX10" fmla="*/ 82461 w 311736"/>
                    <a:gd name="connsiteY10" fmla="*/ 166090 h 360956"/>
                    <a:gd name="connsiteX11" fmla="*/ 82461 w 311736"/>
                    <a:gd name="connsiteY11" fmla="*/ 53807 h 360956"/>
                    <a:gd name="connsiteX12" fmla="*/ 115280 w 311736"/>
                    <a:gd name="connsiteY12" fmla="*/ 7156 h 360956"/>
                    <a:gd name="connsiteX13" fmla="*/ 115280 w 311736"/>
                    <a:gd name="connsiteY13" fmla="*/ 481 h 360956"/>
                    <a:gd name="connsiteX14" fmla="*/ 428 w 311736"/>
                    <a:gd name="connsiteY14" fmla="*/ 481 h 360956"/>
                    <a:gd name="connsiteX15" fmla="*/ 428 w 311736"/>
                    <a:gd name="connsiteY15" fmla="*/ 7156 h 360956"/>
                    <a:gd name="connsiteX16" fmla="*/ 32210 w 311736"/>
                    <a:gd name="connsiteY16" fmla="*/ 60470 h 360956"/>
                    <a:gd name="connsiteX17" fmla="*/ 32210 w 311736"/>
                    <a:gd name="connsiteY17" fmla="*/ 315811 h 360956"/>
                    <a:gd name="connsiteX18" fmla="*/ 428 w 311736"/>
                    <a:gd name="connsiteY18" fmla="*/ 354774 h 360956"/>
                    <a:gd name="connsiteX19" fmla="*/ 428 w 311736"/>
                    <a:gd name="connsiteY19" fmla="*/ 361437 h 360956"/>
                    <a:gd name="connsiteX20" fmla="*/ 98361 w 311736"/>
                    <a:gd name="connsiteY20" fmla="*/ 361437 h 360956"/>
                    <a:gd name="connsiteX21" fmla="*/ 256777 w 311736"/>
                    <a:gd name="connsiteY21" fmla="*/ 263504 h 360956"/>
                    <a:gd name="connsiteX22" fmla="*/ 161425 w 311736"/>
                    <a:gd name="connsiteY22" fmla="*/ 169684 h 360956"/>
                    <a:gd name="connsiteX23" fmla="*/ 257301 w 311736"/>
                    <a:gd name="connsiteY23" fmla="*/ 52269 h 360956"/>
                    <a:gd name="connsiteX24" fmla="*/ 312165 w 311736"/>
                    <a:gd name="connsiteY24" fmla="*/ 7156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11736" h="360956">
                      <a:moveTo>
                        <a:pt x="98361" y="354774"/>
                      </a:moveTo>
                      <a:lnTo>
                        <a:pt x="82461" y="354774"/>
                      </a:lnTo>
                      <a:lnTo>
                        <a:pt x="82461" y="172759"/>
                      </a:lnTo>
                      <a:lnTo>
                        <a:pt x="98361" y="172759"/>
                      </a:lnTo>
                      <a:cubicBezTo>
                        <a:pt x="156293" y="172759"/>
                        <a:pt x="200388" y="172252"/>
                        <a:pt x="200388" y="263504"/>
                      </a:cubicBezTo>
                      <a:cubicBezTo>
                        <a:pt x="200388" y="356831"/>
                        <a:pt x="153224" y="354774"/>
                        <a:pt x="98361" y="354774"/>
                      </a:cubicBezTo>
                      <a:moveTo>
                        <a:pt x="312165" y="481"/>
                      </a:moveTo>
                      <a:lnTo>
                        <a:pt x="273189" y="481"/>
                      </a:lnTo>
                      <a:cubicBezTo>
                        <a:pt x="207557" y="481"/>
                        <a:pt x="215257" y="994"/>
                        <a:pt x="186037" y="112258"/>
                      </a:cubicBezTo>
                      <a:cubicBezTo>
                        <a:pt x="171669" y="166090"/>
                        <a:pt x="119887" y="166090"/>
                        <a:pt x="106561" y="166090"/>
                      </a:cubicBezTo>
                      <a:lnTo>
                        <a:pt x="82461" y="166090"/>
                      </a:lnTo>
                      <a:lnTo>
                        <a:pt x="82461" y="53807"/>
                      </a:lnTo>
                      <a:cubicBezTo>
                        <a:pt x="82461" y="18431"/>
                        <a:pt x="93742" y="7156"/>
                        <a:pt x="115280" y="7156"/>
                      </a:cubicBezTo>
                      <a:lnTo>
                        <a:pt x="115280" y="481"/>
                      </a:lnTo>
                      <a:lnTo>
                        <a:pt x="428" y="481"/>
                      </a:lnTo>
                      <a:lnTo>
                        <a:pt x="428" y="7156"/>
                      </a:lnTo>
                      <a:cubicBezTo>
                        <a:pt x="22479" y="7156"/>
                        <a:pt x="32210" y="17406"/>
                        <a:pt x="32210" y="60470"/>
                      </a:cubicBezTo>
                      <a:lnTo>
                        <a:pt x="32210" y="315811"/>
                      </a:lnTo>
                      <a:cubicBezTo>
                        <a:pt x="32210" y="347599"/>
                        <a:pt x="22985" y="354774"/>
                        <a:pt x="428" y="354774"/>
                      </a:cubicBezTo>
                      <a:lnTo>
                        <a:pt x="428" y="361437"/>
                      </a:lnTo>
                      <a:lnTo>
                        <a:pt x="98361" y="361437"/>
                      </a:lnTo>
                      <a:cubicBezTo>
                        <a:pt x="200388" y="361437"/>
                        <a:pt x="256777" y="349131"/>
                        <a:pt x="256777" y="263504"/>
                      </a:cubicBezTo>
                      <a:cubicBezTo>
                        <a:pt x="256777" y="193778"/>
                        <a:pt x="216801" y="173265"/>
                        <a:pt x="161425" y="169684"/>
                      </a:cubicBezTo>
                      <a:cubicBezTo>
                        <a:pt x="195257" y="168146"/>
                        <a:pt x="230638" y="164553"/>
                        <a:pt x="257301" y="52269"/>
                      </a:cubicBezTo>
                      <a:cubicBezTo>
                        <a:pt x="266533" y="13300"/>
                        <a:pt x="298833" y="8181"/>
                        <a:pt x="312165" y="7156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6" name="자유형: 도형 33">
                  <a:extLst>
                    <a:ext uri="{FF2B5EF4-FFF2-40B4-BE49-F238E27FC236}">
                      <a16:creationId xmlns:a16="http://schemas.microsoft.com/office/drawing/2014/main" id="{8F48C7B6-CC23-27F2-9C1D-CCF4EA1C8F79}"/>
                    </a:ext>
                  </a:extLst>
                </p:cNvPr>
                <p:cNvSpPr/>
                <p:nvPr/>
              </p:nvSpPr>
              <p:spPr>
                <a:xfrm flipV="1">
                  <a:off x="2770871" y="1998301"/>
                  <a:ext cx="313786" cy="360956"/>
                </a:xfrm>
                <a:custGeom>
                  <a:avLst/>
                  <a:gdLst>
                    <a:gd name="connsiteX0" fmla="*/ 314327 w 313786"/>
                    <a:gd name="connsiteY0" fmla="*/ 361438 h 360956"/>
                    <a:gd name="connsiteX1" fmla="*/ 314327 w 313786"/>
                    <a:gd name="connsiteY1" fmla="*/ 271199 h 360956"/>
                    <a:gd name="connsiteX2" fmla="*/ 307671 w 313786"/>
                    <a:gd name="connsiteY2" fmla="*/ 271199 h 360956"/>
                    <a:gd name="connsiteX3" fmla="*/ 212813 w 313786"/>
                    <a:gd name="connsiteY3" fmla="*/ 354776 h 360956"/>
                    <a:gd name="connsiteX4" fmla="*/ 182556 w 313786"/>
                    <a:gd name="connsiteY4" fmla="*/ 354776 h 360956"/>
                    <a:gd name="connsiteX5" fmla="*/ 182556 w 313786"/>
                    <a:gd name="connsiteY5" fmla="*/ 50214 h 360956"/>
                    <a:gd name="connsiteX6" fmla="*/ 219988 w 313786"/>
                    <a:gd name="connsiteY6" fmla="*/ 7151 h 360956"/>
                    <a:gd name="connsiteX7" fmla="*/ 219988 w 313786"/>
                    <a:gd name="connsiteY7" fmla="*/ 482 h 360956"/>
                    <a:gd name="connsiteX8" fmla="*/ 94886 w 313786"/>
                    <a:gd name="connsiteY8" fmla="*/ 482 h 360956"/>
                    <a:gd name="connsiteX9" fmla="*/ 94886 w 313786"/>
                    <a:gd name="connsiteY9" fmla="*/ 7151 h 360956"/>
                    <a:gd name="connsiteX10" fmla="*/ 131799 w 313786"/>
                    <a:gd name="connsiteY10" fmla="*/ 50214 h 360956"/>
                    <a:gd name="connsiteX11" fmla="*/ 131799 w 313786"/>
                    <a:gd name="connsiteY11" fmla="*/ 354776 h 360956"/>
                    <a:gd name="connsiteX12" fmla="*/ 101549 w 313786"/>
                    <a:gd name="connsiteY12" fmla="*/ 354776 h 360956"/>
                    <a:gd name="connsiteX13" fmla="*/ 7209 w 313786"/>
                    <a:gd name="connsiteY13" fmla="*/ 271199 h 360956"/>
                    <a:gd name="connsiteX14" fmla="*/ 541 w 313786"/>
                    <a:gd name="connsiteY14" fmla="*/ 271199 h 360956"/>
                    <a:gd name="connsiteX15" fmla="*/ 541 w 313786"/>
                    <a:gd name="connsiteY15" fmla="*/ 361438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13786" h="360956">
                      <a:moveTo>
                        <a:pt x="314327" y="361438"/>
                      </a:moveTo>
                      <a:lnTo>
                        <a:pt x="314327" y="271199"/>
                      </a:lnTo>
                      <a:lnTo>
                        <a:pt x="307671" y="271199"/>
                      </a:lnTo>
                      <a:cubicBezTo>
                        <a:pt x="305614" y="353751"/>
                        <a:pt x="219988" y="354776"/>
                        <a:pt x="212813" y="354776"/>
                      </a:cubicBezTo>
                      <a:lnTo>
                        <a:pt x="182556" y="354776"/>
                      </a:lnTo>
                      <a:lnTo>
                        <a:pt x="182556" y="50214"/>
                      </a:lnTo>
                      <a:cubicBezTo>
                        <a:pt x="182556" y="16376"/>
                        <a:pt x="198456" y="7151"/>
                        <a:pt x="219988" y="7151"/>
                      </a:cubicBezTo>
                      <a:lnTo>
                        <a:pt x="219988" y="482"/>
                      </a:lnTo>
                      <a:lnTo>
                        <a:pt x="94886" y="482"/>
                      </a:lnTo>
                      <a:lnTo>
                        <a:pt x="94886" y="7151"/>
                      </a:lnTo>
                      <a:cubicBezTo>
                        <a:pt x="116424" y="7151"/>
                        <a:pt x="131799" y="16376"/>
                        <a:pt x="131799" y="50214"/>
                      </a:cubicBezTo>
                      <a:lnTo>
                        <a:pt x="131799" y="354776"/>
                      </a:lnTo>
                      <a:lnTo>
                        <a:pt x="101549" y="354776"/>
                      </a:lnTo>
                      <a:cubicBezTo>
                        <a:pt x="85649" y="354776"/>
                        <a:pt x="9266" y="353751"/>
                        <a:pt x="7209" y="271199"/>
                      </a:cubicBezTo>
                      <a:lnTo>
                        <a:pt x="541" y="271199"/>
                      </a:lnTo>
                      <a:lnTo>
                        <a:pt x="541" y="361438"/>
                      </a:ln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9" name="자유형: 도형 34">
                  <a:extLst>
                    <a:ext uri="{FF2B5EF4-FFF2-40B4-BE49-F238E27FC236}">
                      <a16:creationId xmlns:a16="http://schemas.microsoft.com/office/drawing/2014/main" id="{E64BC0B7-60E7-3F86-4E3D-F5A65DE37AC9}"/>
                    </a:ext>
                  </a:extLst>
                </p:cNvPr>
                <p:cNvSpPr/>
                <p:nvPr/>
              </p:nvSpPr>
              <p:spPr>
                <a:xfrm flipV="1">
                  <a:off x="3131802" y="1998301"/>
                  <a:ext cx="395813" cy="360956"/>
                </a:xfrm>
                <a:custGeom>
                  <a:avLst/>
                  <a:gdLst>
                    <a:gd name="connsiteX0" fmla="*/ 396450 w 395813"/>
                    <a:gd name="connsiteY0" fmla="*/ 361438 h 360956"/>
                    <a:gd name="connsiteX1" fmla="*/ 396450 w 395813"/>
                    <a:gd name="connsiteY1" fmla="*/ 355288 h 360956"/>
                    <a:gd name="connsiteX2" fmla="*/ 323654 w 395813"/>
                    <a:gd name="connsiteY2" fmla="*/ 233773 h 360956"/>
                    <a:gd name="connsiteX3" fmla="*/ 323654 w 395813"/>
                    <a:gd name="connsiteY3" fmla="*/ 482 h 360956"/>
                    <a:gd name="connsiteX4" fmla="*/ 307248 w 395813"/>
                    <a:gd name="connsiteY4" fmla="*/ 482 h 360956"/>
                    <a:gd name="connsiteX5" fmla="*/ 89332 w 395813"/>
                    <a:gd name="connsiteY5" fmla="*/ 281456 h 360956"/>
                    <a:gd name="connsiteX6" fmla="*/ 89332 w 395813"/>
                    <a:gd name="connsiteY6" fmla="*/ 128665 h 360956"/>
                    <a:gd name="connsiteX7" fmla="*/ 156508 w 395813"/>
                    <a:gd name="connsiteY7" fmla="*/ 7151 h 360956"/>
                    <a:gd name="connsiteX8" fmla="*/ 156508 w 395813"/>
                    <a:gd name="connsiteY8" fmla="*/ 482 h 360956"/>
                    <a:gd name="connsiteX9" fmla="*/ 8324 w 395813"/>
                    <a:gd name="connsiteY9" fmla="*/ 482 h 360956"/>
                    <a:gd name="connsiteX10" fmla="*/ 8324 w 395813"/>
                    <a:gd name="connsiteY10" fmla="*/ 7151 h 360956"/>
                    <a:gd name="connsiteX11" fmla="*/ 82675 w 395813"/>
                    <a:gd name="connsiteY11" fmla="*/ 128665 h 360956"/>
                    <a:gd name="connsiteX12" fmla="*/ 82675 w 395813"/>
                    <a:gd name="connsiteY12" fmla="*/ 289143 h 360956"/>
                    <a:gd name="connsiteX13" fmla="*/ 61650 w 395813"/>
                    <a:gd name="connsiteY13" fmla="*/ 316319 h 360956"/>
                    <a:gd name="connsiteX14" fmla="*/ 636 w 395813"/>
                    <a:gd name="connsiteY14" fmla="*/ 355288 h 360956"/>
                    <a:gd name="connsiteX15" fmla="*/ 636 w 395813"/>
                    <a:gd name="connsiteY15" fmla="*/ 361438 h 360956"/>
                    <a:gd name="connsiteX16" fmla="*/ 95488 w 395813"/>
                    <a:gd name="connsiteY16" fmla="*/ 361438 h 360956"/>
                    <a:gd name="connsiteX17" fmla="*/ 316979 w 395813"/>
                    <a:gd name="connsiteY17" fmla="*/ 75346 h 360956"/>
                    <a:gd name="connsiteX18" fmla="*/ 316979 w 395813"/>
                    <a:gd name="connsiteY18" fmla="*/ 233773 h 360956"/>
                    <a:gd name="connsiteX19" fmla="*/ 249822 w 395813"/>
                    <a:gd name="connsiteY19" fmla="*/ 355288 h 360956"/>
                    <a:gd name="connsiteX20" fmla="*/ 249822 w 395813"/>
                    <a:gd name="connsiteY20" fmla="*/ 361438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95813" h="360956">
                      <a:moveTo>
                        <a:pt x="396450" y="361438"/>
                      </a:moveTo>
                      <a:lnTo>
                        <a:pt x="396450" y="355288"/>
                      </a:lnTo>
                      <a:cubicBezTo>
                        <a:pt x="322111" y="355288"/>
                        <a:pt x="323654" y="281456"/>
                        <a:pt x="323654" y="233773"/>
                      </a:cubicBezTo>
                      <a:lnTo>
                        <a:pt x="323654" y="482"/>
                      </a:lnTo>
                      <a:lnTo>
                        <a:pt x="307248" y="482"/>
                      </a:lnTo>
                      <a:lnTo>
                        <a:pt x="89332" y="281456"/>
                      </a:lnTo>
                      <a:lnTo>
                        <a:pt x="89332" y="128665"/>
                      </a:lnTo>
                      <a:cubicBezTo>
                        <a:pt x="89332" y="83546"/>
                        <a:pt x="89332" y="7151"/>
                        <a:pt x="156508" y="7151"/>
                      </a:cubicBezTo>
                      <a:lnTo>
                        <a:pt x="156508" y="482"/>
                      </a:lnTo>
                      <a:lnTo>
                        <a:pt x="8324" y="482"/>
                      </a:lnTo>
                      <a:lnTo>
                        <a:pt x="8324" y="7151"/>
                      </a:lnTo>
                      <a:cubicBezTo>
                        <a:pt x="82675" y="7151"/>
                        <a:pt x="82675" y="82515"/>
                        <a:pt x="82675" y="128665"/>
                      </a:cubicBezTo>
                      <a:lnTo>
                        <a:pt x="82675" y="289143"/>
                      </a:lnTo>
                      <a:lnTo>
                        <a:pt x="61650" y="316319"/>
                      </a:lnTo>
                      <a:cubicBezTo>
                        <a:pt x="28837" y="357332"/>
                        <a:pt x="13968" y="354263"/>
                        <a:pt x="636" y="355288"/>
                      </a:cubicBezTo>
                      <a:lnTo>
                        <a:pt x="636" y="361438"/>
                      </a:lnTo>
                      <a:lnTo>
                        <a:pt x="95488" y="361438"/>
                      </a:lnTo>
                      <a:lnTo>
                        <a:pt x="316979" y="75346"/>
                      </a:lnTo>
                      <a:lnTo>
                        <a:pt x="316979" y="233773"/>
                      </a:lnTo>
                      <a:cubicBezTo>
                        <a:pt x="316979" y="281456"/>
                        <a:pt x="317498" y="355288"/>
                        <a:pt x="249822" y="355288"/>
                      </a:cubicBezTo>
                      <a:lnTo>
                        <a:pt x="249822" y="361438"/>
                      </a:ln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1" name="자유형: 도형 35">
                  <a:extLst>
                    <a:ext uri="{FF2B5EF4-FFF2-40B4-BE49-F238E27FC236}">
                      <a16:creationId xmlns:a16="http://schemas.microsoft.com/office/drawing/2014/main" id="{4D92C51A-7DE5-03F7-8320-E50199063F8B}"/>
                    </a:ext>
                  </a:extLst>
                </p:cNvPr>
                <p:cNvSpPr/>
                <p:nvPr/>
              </p:nvSpPr>
              <p:spPr>
                <a:xfrm flipV="1">
                  <a:off x="3587578" y="1998299"/>
                  <a:ext cx="257892" cy="360956"/>
                </a:xfrm>
                <a:custGeom>
                  <a:avLst/>
                  <a:gdLst>
                    <a:gd name="connsiteX0" fmla="*/ 258603 w 257892"/>
                    <a:gd name="connsiteY0" fmla="*/ 107086 h 360956"/>
                    <a:gd name="connsiteX1" fmla="*/ 258603 w 257892"/>
                    <a:gd name="connsiteY1" fmla="*/ 440 h 360956"/>
                    <a:gd name="connsiteX2" fmla="*/ 711 w 257892"/>
                    <a:gd name="connsiteY2" fmla="*/ 440 h 360956"/>
                    <a:gd name="connsiteX3" fmla="*/ 711 w 257892"/>
                    <a:gd name="connsiteY3" fmla="*/ 7109 h 360956"/>
                    <a:gd name="connsiteX4" fmla="*/ 28392 w 257892"/>
                    <a:gd name="connsiteY4" fmla="*/ 60429 h 360956"/>
                    <a:gd name="connsiteX5" fmla="*/ 28392 w 257892"/>
                    <a:gd name="connsiteY5" fmla="*/ 306533 h 360956"/>
                    <a:gd name="connsiteX6" fmla="*/ 711 w 257892"/>
                    <a:gd name="connsiteY6" fmla="*/ 354727 h 360956"/>
                    <a:gd name="connsiteX7" fmla="*/ 711 w 257892"/>
                    <a:gd name="connsiteY7" fmla="*/ 361396 h 360956"/>
                    <a:gd name="connsiteX8" fmla="*/ 251946 w 257892"/>
                    <a:gd name="connsiteY8" fmla="*/ 361396 h 360956"/>
                    <a:gd name="connsiteX9" fmla="*/ 251946 w 257892"/>
                    <a:gd name="connsiteY9" fmla="*/ 269101 h 360956"/>
                    <a:gd name="connsiteX10" fmla="*/ 245283 w 257892"/>
                    <a:gd name="connsiteY10" fmla="*/ 269101 h 360956"/>
                    <a:gd name="connsiteX11" fmla="*/ 108900 w 257892"/>
                    <a:gd name="connsiteY11" fmla="*/ 354727 h 360956"/>
                    <a:gd name="connsiteX12" fmla="*/ 81212 w 257892"/>
                    <a:gd name="connsiteY12" fmla="*/ 354727 h 360956"/>
                    <a:gd name="connsiteX13" fmla="*/ 81212 w 257892"/>
                    <a:gd name="connsiteY13" fmla="*/ 186049 h 360956"/>
                    <a:gd name="connsiteX14" fmla="*/ 114531 w 257892"/>
                    <a:gd name="connsiteY14" fmla="*/ 186049 h 360956"/>
                    <a:gd name="connsiteX15" fmla="*/ 185295 w 257892"/>
                    <a:gd name="connsiteY15" fmla="*/ 237831 h 360956"/>
                    <a:gd name="connsiteX16" fmla="*/ 191951 w 257892"/>
                    <a:gd name="connsiteY16" fmla="*/ 237831 h 360956"/>
                    <a:gd name="connsiteX17" fmla="*/ 191951 w 257892"/>
                    <a:gd name="connsiteY17" fmla="*/ 127592 h 360956"/>
                    <a:gd name="connsiteX18" fmla="*/ 185295 w 257892"/>
                    <a:gd name="connsiteY18" fmla="*/ 127592 h 360956"/>
                    <a:gd name="connsiteX19" fmla="*/ 114531 w 257892"/>
                    <a:gd name="connsiteY19" fmla="*/ 179380 h 360956"/>
                    <a:gd name="connsiteX20" fmla="*/ 81212 w 257892"/>
                    <a:gd name="connsiteY20" fmla="*/ 179380 h 360956"/>
                    <a:gd name="connsiteX21" fmla="*/ 81212 w 257892"/>
                    <a:gd name="connsiteY21" fmla="*/ 7109 h 360956"/>
                    <a:gd name="connsiteX22" fmla="*/ 104787 w 257892"/>
                    <a:gd name="connsiteY22" fmla="*/ 7109 h 360956"/>
                    <a:gd name="connsiteX23" fmla="*/ 251946 w 257892"/>
                    <a:gd name="connsiteY23" fmla="*/ 107086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57892" h="360956">
                      <a:moveTo>
                        <a:pt x="258603" y="107086"/>
                      </a:moveTo>
                      <a:lnTo>
                        <a:pt x="258603" y="440"/>
                      </a:lnTo>
                      <a:lnTo>
                        <a:pt x="711" y="440"/>
                      </a:lnTo>
                      <a:lnTo>
                        <a:pt x="711" y="7109"/>
                      </a:lnTo>
                      <a:cubicBezTo>
                        <a:pt x="22242" y="7109"/>
                        <a:pt x="28392" y="25559"/>
                        <a:pt x="28392" y="60429"/>
                      </a:cubicBezTo>
                      <a:lnTo>
                        <a:pt x="28392" y="306533"/>
                      </a:lnTo>
                      <a:cubicBezTo>
                        <a:pt x="28392" y="338327"/>
                        <a:pt x="23267" y="354727"/>
                        <a:pt x="711" y="354727"/>
                      </a:cubicBezTo>
                      <a:lnTo>
                        <a:pt x="711" y="361396"/>
                      </a:lnTo>
                      <a:lnTo>
                        <a:pt x="251946" y="361396"/>
                      </a:lnTo>
                      <a:lnTo>
                        <a:pt x="251946" y="269101"/>
                      </a:lnTo>
                      <a:lnTo>
                        <a:pt x="245283" y="269101"/>
                      </a:lnTo>
                      <a:cubicBezTo>
                        <a:pt x="239121" y="353702"/>
                        <a:pt x="150426" y="354727"/>
                        <a:pt x="108900" y="354727"/>
                      </a:cubicBezTo>
                      <a:lnTo>
                        <a:pt x="81212" y="354727"/>
                      </a:lnTo>
                      <a:lnTo>
                        <a:pt x="81212" y="186049"/>
                      </a:lnTo>
                      <a:lnTo>
                        <a:pt x="114531" y="186049"/>
                      </a:lnTo>
                      <a:cubicBezTo>
                        <a:pt x="128375" y="186049"/>
                        <a:pt x="182726" y="186049"/>
                        <a:pt x="185295" y="237831"/>
                      </a:cubicBezTo>
                      <a:lnTo>
                        <a:pt x="191951" y="237831"/>
                      </a:lnTo>
                      <a:lnTo>
                        <a:pt x="191951" y="127592"/>
                      </a:lnTo>
                      <a:lnTo>
                        <a:pt x="185295" y="127592"/>
                      </a:lnTo>
                      <a:cubicBezTo>
                        <a:pt x="182726" y="178862"/>
                        <a:pt x="127344" y="179380"/>
                        <a:pt x="114531" y="179380"/>
                      </a:cubicBezTo>
                      <a:lnTo>
                        <a:pt x="81212" y="179380"/>
                      </a:lnTo>
                      <a:lnTo>
                        <a:pt x="81212" y="7109"/>
                      </a:lnTo>
                      <a:lnTo>
                        <a:pt x="104787" y="7109"/>
                      </a:lnTo>
                      <a:cubicBezTo>
                        <a:pt x="150426" y="7109"/>
                        <a:pt x="241171" y="4540"/>
                        <a:pt x="251946" y="107086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2" name="자유형: 도형 36">
                  <a:extLst>
                    <a:ext uri="{FF2B5EF4-FFF2-40B4-BE49-F238E27FC236}">
                      <a16:creationId xmlns:a16="http://schemas.microsoft.com/office/drawing/2014/main" id="{B8BCEDA1-F9C7-6968-B9DB-2292FDA995A6}"/>
                    </a:ext>
                  </a:extLst>
                </p:cNvPr>
                <p:cNvSpPr/>
                <p:nvPr/>
              </p:nvSpPr>
              <p:spPr>
                <a:xfrm flipV="1">
                  <a:off x="3923379" y="1998303"/>
                  <a:ext cx="311730" cy="360956"/>
                </a:xfrm>
                <a:custGeom>
                  <a:avLst/>
                  <a:gdLst>
                    <a:gd name="connsiteX0" fmla="*/ 98693 w 311730"/>
                    <a:gd name="connsiteY0" fmla="*/ 354774 h 360956"/>
                    <a:gd name="connsiteX1" fmla="*/ 82792 w 311730"/>
                    <a:gd name="connsiteY1" fmla="*/ 354774 h 360956"/>
                    <a:gd name="connsiteX2" fmla="*/ 82792 w 311730"/>
                    <a:gd name="connsiteY2" fmla="*/ 172759 h 360956"/>
                    <a:gd name="connsiteX3" fmla="*/ 98693 w 311730"/>
                    <a:gd name="connsiteY3" fmla="*/ 172759 h 360956"/>
                    <a:gd name="connsiteX4" fmla="*/ 200719 w 311730"/>
                    <a:gd name="connsiteY4" fmla="*/ 263504 h 360956"/>
                    <a:gd name="connsiteX5" fmla="*/ 98693 w 311730"/>
                    <a:gd name="connsiteY5" fmla="*/ 354774 h 360956"/>
                    <a:gd name="connsiteX6" fmla="*/ 312490 w 311730"/>
                    <a:gd name="connsiteY6" fmla="*/ 481 h 360956"/>
                    <a:gd name="connsiteX7" fmla="*/ 273527 w 311730"/>
                    <a:gd name="connsiteY7" fmla="*/ 481 h 360956"/>
                    <a:gd name="connsiteX8" fmla="*/ 186363 w 311730"/>
                    <a:gd name="connsiteY8" fmla="*/ 112258 h 360956"/>
                    <a:gd name="connsiteX9" fmla="*/ 106893 w 311730"/>
                    <a:gd name="connsiteY9" fmla="*/ 166090 h 360956"/>
                    <a:gd name="connsiteX10" fmla="*/ 82792 w 311730"/>
                    <a:gd name="connsiteY10" fmla="*/ 166090 h 360956"/>
                    <a:gd name="connsiteX11" fmla="*/ 82792 w 311730"/>
                    <a:gd name="connsiteY11" fmla="*/ 53807 h 360956"/>
                    <a:gd name="connsiteX12" fmla="*/ 115612 w 311730"/>
                    <a:gd name="connsiteY12" fmla="*/ 7156 h 360956"/>
                    <a:gd name="connsiteX13" fmla="*/ 115612 w 311730"/>
                    <a:gd name="connsiteY13" fmla="*/ 481 h 360956"/>
                    <a:gd name="connsiteX14" fmla="*/ 760 w 311730"/>
                    <a:gd name="connsiteY14" fmla="*/ 481 h 360956"/>
                    <a:gd name="connsiteX15" fmla="*/ 760 w 311730"/>
                    <a:gd name="connsiteY15" fmla="*/ 7156 h 360956"/>
                    <a:gd name="connsiteX16" fmla="*/ 32548 w 311730"/>
                    <a:gd name="connsiteY16" fmla="*/ 60470 h 360956"/>
                    <a:gd name="connsiteX17" fmla="*/ 32548 w 311730"/>
                    <a:gd name="connsiteY17" fmla="*/ 315811 h 360956"/>
                    <a:gd name="connsiteX18" fmla="*/ 760 w 311730"/>
                    <a:gd name="connsiteY18" fmla="*/ 354774 h 360956"/>
                    <a:gd name="connsiteX19" fmla="*/ 760 w 311730"/>
                    <a:gd name="connsiteY19" fmla="*/ 361437 h 360956"/>
                    <a:gd name="connsiteX20" fmla="*/ 98693 w 311730"/>
                    <a:gd name="connsiteY20" fmla="*/ 361437 h 360956"/>
                    <a:gd name="connsiteX21" fmla="*/ 257120 w 311730"/>
                    <a:gd name="connsiteY21" fmla="*/ 263504 h 360956"/>
                    <a:gd name="connsiteX22" fmla="*/ 161756 w 311730"/>
                    <a:gd name="connsiteY22" fmla="*/ 169684 h 360956"/>
                    <a:gd name="connsiteX23" fmla="*/ 257627 w 311730"/>
                    <a:gd name="connsiteY23" fmla="*/ 52269 h 360956"/>
                    <a:gd name="connsiteX24" fmla="*/ 312490 w 311730"/>
                    <a:gd name="connsiteY24" fmla="*/ 7156 h 3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11730" h="360956">
                      <a:moveTo>
                        <a:pt x="98693" y="354774"/>
                      </a:moveTo>
                      <a:lnTo>
                        <a:pt x="82792" y="354774"/>
                      </a:lnTo>
                      <a:lnTo>
                        <a:pt x="82792" y="172759"/>
                      </a:lnTo>
                      <a:lnTo>
                        <a:pt x="98693" y="172759"/>
                      </a:lnTo>
                      <a:cubicBezTo>
                        <a:pt x="156625" y="172759"/>
                        <a:pt x="200719" y="172252"/>
                        <a:pt x="200719" y="263504"/>
                      </a:cubicBezTo>
                      <a:cubicBezTo>
                        <a:pt x="200719" y="356831"/>
                        <a:pt x="153550" y="354774"/>
                        <a:pt x="98693" y="354774"/>
                      </a:cubicBezTo>
                      <a:moveTo>
                        <a:pt x="312490" y="481"/>
                      </a:moveTo>
                      <a:lnTo>
                        <a:pt x="273527" y="481"/>
                      </a:lnTo>
                      <a:cubicBezTo>
                        <a:pt x="207901" y="481"/>
                        <a:pt x="215594" y="994"/>
                        <a:pt x="186363" y="112258"/>
                      </a:cubicBezTo>
                      <a:cubicBezTo>
                        <a:pt x="172012" y="166090"/>
                        <a:pt x="120224" y="166090"/>
                        <a:pt x="106893" y="166090"/>
                      </a:cubicBezTo>
                      <a:lnTo>
                        <a:pt x="82792" y="166090"/>
                      </a:lnTo>
                      <a:lnTo>
                        <a:pt x="82792" y="53807"/>
                      </a:lnTo>
                      <a:cubicBezTo>
                        <a:pt x="82792" y="18431"/>
                        <a:pt x="94068" y="7156"/>
                        <a:pt x="115612" y="7156"/>
                      </a:cubicBezTo>
                      <a:lnTo>
                        <a:pt x="115612" y="481"/>
                      </a:lnTo>
                      <a:lnTo>
                        <a:pt x="760" y="481"/>
                      </a:lnTo>
                      <a:lnTo>
                        <a:pt x="760" y="7156"/>
                      </a:lnTo>
                      <a:cubicBezTo>
                        <a:pt x="22804" y="7156"/>
                        <a:pt x="32548" y="17406"/>
                        <a:pt x="32548" y="60470"/>
                      </a:cubicBezTo>
                      <a:lnTo>
                        <a:pt x="32548" y="315811"/>
                      </a:lnTo>
                      <a:cubicBezTo>
                        <a:pt x="32548" y="347599"/>
                        <a:pt x="23316" y="354774"/>
                        <a:pt x="760" y="354774"/>
                      </a:cubicBezTo>
                      <a:lnTo>
                        <a:pt x="760" y="361437"/>
                      </a:lnTo>
                      <a:lnTo>
                        <a:pt x="98693" y="361437"/>
                      </a:lnTo>
                      <a:cubicBezTo>
                        <a:pt x="200719" y="361437"/>
                        <a:pt x="257120" y="349131"/>
                        <a:pt x="257120" y="263504"/>
                      </a:cubicBezTo>
                      <a:cubicBezTo>
                        <a:pt x="257120" y="193778"/>
                        <a:pt x="217126" y="173265"/>
                        <a:pt x="161756" y="169684"/>
                      </a:cubicBezTo>
                      <a:cubicBezTo>
                        <a:pt x="195588" y="168146"/>
                        <a:pt x="230964" y="164553"/>
                        <a:pt x="257627" y="52269"/>
                      </a:cubicBezTo>
                      <a:cubicBezTo>
                        <a:pt x="266870" y="13300"/>
                        <a:pt x="299159" y="8181"/>
                        <a:pt x="312490" y="7156"/>
                      </a:cubicBezTo>
                      <a:close/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3" name="자유형: 도형 37">
                  <a:extLst>
                    <a:ext uri="{FF2B5EF4-FFF2-40B4-BE49-F238E27FC236}">
                      <a16:creationId xmlns:a16="http://schemas.microsoft.com/office/drawing/2014/main" id="{737DA06F-436E-83FD-F4FA-B29559769484}"/>
                    </a:ext>
                  </a:extLst>
                </p:cNvPr>
                <p:cNvSpPr/>
                <p:nvPr/>
              </p:nvSpPr>
              <p:spPr>
                <a:xfrm flipV="1">
                  <a:off x="4285907" y="1993688"/>
                  <a:ext cx="242423" cy="370181"/>
                </a:xfrm>
                <a:custGeom>
                  <a:avLst/>
                  <a:gdLst>
                    <a:gd name="connsiteX0" fmla="*/ 128442 w 242423"/>
                    <a:gd name="connsiteY0" fmla="*/ 422 h 370181"/>
                    <a:gd name="connsiteX1" fmla="*/ 6421 w 242423"/>
                    <a:gd name="connsiteY1" fmla="*/ 29135 h 370181"/>
                    <a:gd name="connsiteX2" fmla="*/ 6421 w 242423"/>
                    <a:gd name="connsiteY2" fmla="*/ 127580 h 370181"/>
                    <a:gd name="connsiteX3" fmla="*/ 12566 w 242423"/>
                    <a:gd name="connsiteY3" fmla="*/ 127580 h 370181"/>
                    <a:gd name="connsiteX4" fmla="*/ 128442 w 242423"/>
                    <a:gd name="connsiteY4" fmla="*/ 7084 h 370181"/>
                    <a:gd name="connsiteX5" fmla="*/ 156649 w 242423"/>
                    <a:gd name="connsiteY5" fmla="*/ 136293 h 370181"/>
                    <a:gd name="connsiteX6" fmla="*/ 71535 w 242423"/>
                    <a:gd name="connsiteY6" fmla="*/ 191150 h 370181"/>
                    <a:gd name="connsiteX7" fmla="*/ 15647 w 242423"/>
                    <a:gd name="connsiteY7" fmla="*/ 330615 h 370181"/>
                    <a:gd name="connsiteX8" fmla="*/ 112030 w 242423"/>
                    <a:gd name="connsiteY8" fmla="*/ 370603 h 370181"/>
                    <a:gd name="connsiteX9" fmla="*/ 229444 w 242423"/>
                    <a:gd name="connsiteY9" fmla="*/ 346503 h 370181"/>
                    <a:gd name="connsiteX10" fmla="*/ 229444 w 242423"/>
                    <a:gd name="connsiteY10" fmla="*/ 260370 h 370181"/>
                    <a:gd name="connsiteX11" fmla="*/ 222275 w 242423"/>
                    <a:gd name="connsiteY11" fmla="*/ 260370 h 370181"/>
                    <a:gd name="connsiteX12" fmla="*/ 112030 w 242423"/>
                    <a:gd name="connsiteY12" fmla="*/ 363934 h 370181"/>
                    <a:gd name="connsiteX13" fmla="*/ 92042 w 242423"/>
                    <a:gd name="connsiteY13" fmla="*/ 242426 h 370181"/>
                    <a:gd name="connsiteX14" fmla="*/ 176637 w 242423"/>
                    <a:gd name="connsiteY14" fmla="*/ 186537 h 370181"/>
                    <a:gd name="connsiteX15" fmla="*/ 229969 w 242423"/>
                    <a:gd name="connsiteY15" fmla="*/ 42466 h 370181"/>
                    <a:gd name="connsiteX16" fmla="*/ 128442 w 242423"/>
                    <a:gd name="connsiteY16" fmla="*/ 422 h 370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2423" h="370181">
                      <a:moveTo>
                        <a:pt x="128442" y="422"/>
                      </a:moveTo>
                      <a:cubicBezTo>
                        <a:pt x="44872" y="422"/>
                        <a:pt x="6421" y="29135"/>
                        <a:pt x="6421" y="29135"/>
                      </a:cubicBezTo>
                      <a:lnTo>
                        <a:pt x="6421" y="127580"/>
                      </a:lnTo>
                      <a:lnTo>
                        <a:pt x="12566" y="127580"/>
                      </a:lnTo>
                      <a:cubicBezTo>
                        <a:pt x="18209" y="65023"/>
                        <a:pt x="41285" y="7084"/>
                        <a:pt x="128442" y="7084"/>
                      </a:cubicBezTo>
                      <a:cubicBezTo>
                        <a:pt x="206381" y="7084"/>
                        <a:pt x="216637" y="93736"/>
                        <a:pt x="156649" y="136293"/>
                      </a:cubicBezTo>
                      <a:lnTo>
                        <a:pt x="71535" y="191150"/>
                      </a:lnTo>
                      <a:cubicBezTo>
                        <a:pt x="22822" y="223450"/>
                        <a:pt x="-23829" y="270114"/>
                        <a:pt x="15647" y="330615"/>
                      </a:cubicBezTo>
                      <a:cubicBezTo>
                        <a:pt x="15647" y="330615"/>
                        <a:pt x="40766" y="370603"/>
                        <a:pt x="112030" y="370603"/>
                      </a:cubicBezTo>
                      <a:cubicBezTo>
                        <a:pt x="186381" y="370603"/>
                        <a:pt x="229444" y="346503"/>
                        <a:pt x="229444" y="346503"/>
                      </a:cubicBezTo>
                      <a:lnTo>
                        <a:pt x="229444" y="260370"/>
                      </a:lnTo>
                      <a:lnTo>
                        <a:pt x="222275" y="260370"/>
                      </a:lnTo>
                      <a:cubicBezTo>
                        <a:pt x="217656" y="310614"/>
                        <a:pt x="197662" y="363934"/>
                        <a:pt x="112030" y="363934"/>
                      </a:cubicBezTo>
                      <a:cubicBezTo>
                        <a:pt x="56666" y="363934"/>
                        <a:pt x="14622" y="292670"/>
                        <a:pt x="92042" y="242426"/>
                      </a:cubicBezTo>
                      <a:lnTo>
                        <a:pt x="176637" y="186537"/>
                      </a:lnTo>
                      <a:cubicBezTo>
                        <a:pt x="245344" y="141424"/>
                        <a:pt x="256620" y="84504"/>
                        <a:pt x="229969" y="42466"/>
                      </a:cubicBezTo>
                      <a:cubicBezTo>
                        <a:pt x="229969" y="42466"/>
                        <a:pt x="207925" y="422"/>
                        <a:pt x="128442" y="422"/>
                      </a:cubicBezTo>
                    </a:path>
                  </a:pathLst>
                </a:custGeom>
                <a:grpFill/>
                <a:ln w="602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92C9F52-29CA-7E98-5D6F-9157F80CDB0A}"/>
              </a:ext>
            </a:extLst>
          </p:cNvPr>
          <p:cNvSpPr txBox="1"/>
          <p:nvPr/>
        </p:nvSpPr>
        <p:spPr>
          <a:xfrm>
            <a:off x="3468174" y="1449387"/>
            <a:ext cx="1934825" cy="105791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80000">
              <a:lnSpc>
                <a:spcPct val="11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+mj-lt"/>
                <a:ea typeface="+mj-ea"/>
              </a:rPr>
              <a:t>SL PARTNERS</a:t>
            </a:r>
          </a:p>
          <a:p>
            <a:pPr algn="l" defTabSz="180000">
              <a:lnSpc>
                <a:spcPct val="110000"/>
              </a:lnSpc>
              <a:spcAft>
                <a:spcPts val="900"/>
              </a:spcAft>
            </a:pPr>
            <a:r>
              <a:rPr lang="en-US" altLang="ko-KR" sz="900" b="1" dirty="0">
                <a:solidFill>
                  <a:schemeClr val="bg1"/>
                </a:solidFill>
                <a:latin typeface="+mj-lt"/>
                <a:ea typeface="+mj-ea"/>
              </a:rPr>
              <a:t>DEAL ADVISORY GROUP</a:t>
            </a:r>
          </a:p>
          <a:p>
            <a:pPr algn="l" defTabSz="180000">
              <a:lnSpc>
                <a:spcPct val="110000"/>
              </a:lnSpc>
            </a:pPr>
            <a:r>
              <a:rPr lang="ko-KR" altLang="en-US" sz="900" b="1" dirty="0">
                <a:solidFill>
                  <a:schemeClr val="bg1"/>
                </a:solidFill>
              </a:rPr>
              <a:t>김 양 태</a:t>
            </a:r>
            <a:r>
              <a:rPr lang="ko-KR" altLang="en-US" sz="900" dirty="0">
                <a:solidFill>
                  <a:schemeClr val="bg1"/>
                </a:solidFill>
              </a:rPr>
              <a:t>  전무</a:t>
            </a:r>
            <a:r>
              <a:rPr lang="en-US" altLang="ko-KR" sz="900" dirty="0">
                <a:solidFill>
                  <a:schemeClr val="bg1"/>
                </a:solidFill>
              </a:rPr>
              <a:t>		ytkim@slpartners.kr</a:t>
            </a:r>
          </a:p>
          <a:p>
            <a:pPr algn="l" defTabSz="180000">
              <a:lnSpc>
                <a:spcPct val="110000"/>
              </a:lnSpc>
              <a:spcAft>
                <a:spcPts val="300"/>
              </a:spcAft>
            </a:pPr>
            <a:r>
              <a:rPr lang="en-US" altLang="ko-KR" sz="900" dirty="0">
                <a:solidFill>
                  <a:schemeClr val="bg1"/>
                </a:solidFill>
              </a:rPr>
              <a:t>					010 5895 9114</a:t>
            </a:r>
          </a:p>
          <a:p>
            <a:pPr algn="l" defTabSz="180000">
              <a:lnSpc>
                <a:spcPct val="110000"/>
              </a:lnSpc>
            </a:pPr>
            <a:r>
              <a:rPr lang="ko-KR" altLang="en-US" sz="900" b="1" dirty="0">
                <a:solidFill>
                  <a:schemeClr val="bg1"/>
                </a:solidFill>
              </a:rPr>
              <a:t>조 우 상</a:t>
            </a:r>
            <a:r>
              <a:rPr lang="ko-KR" altLang="en-US" sz="900" dirty="0">
                <a:solidFill>
                  <a:schemeClr val="bg1"/>
                </a:solidFill>
              </a:rPr>
              <a:t>  이사</a:t>
            </a:r>
            <a:r>
              <a:rPr lang="en-US" altLang="ko-KR" sz="900" dirty="0">
                <a:solidFill>
                  <a:schemeClr val="bg1"/>
                </a:solidFill>
              </a:rPr>
              <a:t>		wsjo@slpartners.kr</a:t>
            </a:r>
          </a:p>
          <a:p>
            <a:pPr algn="l" defTabSz="180000">
              <a:lnSpc>
                <a:spcPct val="110000"/>
              </a:lnSpc>
              <a:spcAft>
                <a:spcPts val="300"/>
              </a:spcAft>
            </a:pPr>
            <a:r>
              <a:rPr lang="en-US" altLang="ko-KR" sz="900" dirty="0">
                <a:solidFill>
                  <a:schemeClr val="bg1"/>
                </a:solidFill>
              </a:rPr>
              <a:t>					010 9488 7324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3E8264-DF6D-1363-4A52-9A206FDD6285}"/>
              </a:ext>
            </a:extLst>
          </p:cNvPr>
          <p:cNvSpPr txBox="1"/>
          <p:nvPr/>
        </p:nvSpPr>
        <p:spPr>
          <a:xfrm>
            <a:off x="3468174" y="2924781"/>
            <a:ext cx="1670329" cy="71167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180000">
              <a:lnSpc>
                <a:spcPct val="110000"/>
              </a:lnSpc>
              <a:spcAft>
                <a:spcPts val="1200"/>
              </a:spcAft>
            </a:pPr>
            <a:r>
              <a:rPr lang="en-US" altLang="ko-KR" sz="1100" dirty="0">
                <a:solidFill>
                  <a:schemeClr val="bg1"/>
                </a:solidFill>
                <a:latin typeface="+mj-lt"/>
                <a:ea typeface="+mj-ea"/>
              </a:rPr>
              <a:t>slpartners.kr</a:t>
            </a:r>
          </a:p>
          <a:p>
            <a:pPr algn="l" defTabSz="180000">
              <a:lnSpc>
                <a:spcPct val="110000"/>
              </a:lnSpc>
              <a:spcAft>
                <a:spcPts val="600"/>
              </a:spcAft>
            </a:pPr>
            <a:r>
              <a:rPr lang="ko-KR" altLang="en-US" sz="900" b="1" dirty="0">
                <a:solidFill>
                  <a:schemeClr val="bg1"/>
                </a:solidFill>
              </a:rPr>
              <a:t>법무법인 </a:t>
            </a:r>
            <a:r>
              <a:rPr lang="ko-KR" altLang="en-US" sz="900" b="1" dirty="0" err="1">
                <a:solidFill>
                  <a:schemeClr val="bg1"/>
                </a:solidFill>
              </a:rPr>
              <a:t>에스엘파트너스</a:t>
            </a:r>
            <a:endParaRPr lang="en-US" altLang="ko-KR" sz="900" b="1" dirty="0">
              <a:solidFill>
                <a:schemeClr val="bg1"/>
              </a:solidFill>
            </a:endParaRPr>
          </a:p>
          <a:p>
            <a:pPr algn="l" defTabSz="180000">
              <a:lnSpc>
                <a:spcPct val="110000"/>
              </a:lnSpc>
              <a:spcAft>
                <a:spcPts val="300"/>
              </a:spcAft>
            </a:pPr>
            <a:r>
              <a:rPr lang="ko-KR" altLang="en-US" sz="900" dirty="0">
                <a:solidFill>
                  <a:schemeClr val="bg1"/>
                </a:solidFill>
              </a:rPr>
              <a:t>서울특별시 서초구 </a:t>
            </a:r>
            <a:r>
              <a:rPr lang="ko-KR" altLang="en-US" sz="900" dirty="0" err="1">
                <a:solidFill>
                  <a:schemeClr val="bg1"/>
                </a:solidFill>
              </a:rPr>
              <a:t>신반포로</a:t>
            </a:r>
            <a:r>
              <a:rPr lang="ko-KR" altLang="en-US" sz="900" dirty="0">
                <a:solidFill>
                  <a:schemeClr val="bg1"/>
                </a:solidFill>
              </a:rPr>
              <a:t> </a:t>
            </a:r>
            <a:r>
              <a:rPr lang="en-US" altLang="ko-KR" sz="900" dirty="0">
                <a:solidFill>
                  <a:schemeClr val="bg1"/>
                </a:solidFill>
              </a:rPr>
              <a:t>43</a:t>
            </a:r>
            <a:r>
              <a:rPr lang="ko-KR" altLang="en-US" sz="900" dirty="0">
                <a:solidFill>
                  <a:schemeClr val="bg1"/>
                </a:solidFill>
              </a:rPr>
              <a:t>길 </a:t>
            </a:r>
            <a:r>
              <a:rPr lang="en-US" altLang="ko-KR" sz="900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363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L Template">
      <a:majorFont>
        <a:latin typeface="Outfit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AEF"/>
        </a:solidFill>
        <a:ln>
          <a:noFill/>
        </a:ln>
      </a:spPr>
      <a:bodyPr lIns="0" tIns="0" rIns="0" bIns="0" rtlCol="0" anchor="ctr"/>
      <a:lstStyle>
        <a:defPPr algn="ctr">
          <a:defRPr sz="1200" dirty="0">
            <a:solidFill>
              <a:srgbClr val="3D3D3D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3D3D3D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900" dirty="0" smtClean="0">
            <a:solidFill>
              <a:srgbClr val="3D3D3D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107721</TotalTime>
  <Words>11513</Words>
  <Application>Microsoft Office PowerPoint</Application>
  <PresentationFormat>A4 용지(210x297mm)</PresentationFormat>
  <Paragraphs>2048</Paragraphs>
  <Slides>59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72" baseType="lpstr">
      <vt:lpstr>KoPub돋움체 Bold</vt:lpstr>
      <vt:lpstr>KoPub돋움체 Medium</vt:lpstr>
      <vt:lpstr>Pretendard</vt:lpstr>
      <vt:lpstr>Univers for KPMG</vt:lpstr>
      <vt:lpstr>맑은 고딕</vt:lpstr>
      <vt:lpstr>Arial</vt:lpstr>
      <vt:lpstr>Calibri</vt:lpstr>
      <vt:lpstr>Outfit</vt:lpstr>
      <vt:lpstr>Outfit ExtraBold</vt:lpstr>
      <vt:lpstr>Outfit Medium</vt:lpstr>
      <vt:lpstr>Roboto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WooSang</dc:creator>
  <cp:lastModifiedBy>Kim, Ui-chan (KR/Deal Adv1)</cp:lastModifiedBy>
  <cp:revision>482</cp:revision>
  <cp:lastPrinted>2025-05-07T07:28:52Z</cp:lastPrinted>
  <dcterms:created xsi:type="dcterms:W3CDTF">2025-05-07T02:47:43Z</dcterms:created>
  <dcterms:modified xsi:type="dcterms:W3CDTF">2025-12-01T09:12:03Z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