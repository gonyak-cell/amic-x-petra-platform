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410" r:id="rId2"/>
    <p:sldId id="484" r:id="rId3"/>
    <p:sldId id="488" r:id="rId4"/>
    <p:sldId id="486" r:id="rId5"/>
    <p:sldId id="480" r:id="rId6"/>
    <p:sldId id="487" r:id="rId7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2" pos="5955" userDrawn="1">
          <p15:clr>
            <a:srgbClr val="A4A3A4"/>
          </p15:clr>
        </p15:guide>
        <p15:guide id="15" orient="horz" pos="3748" userDrawn="1">
          <p15:clr>
            <a:srgbClr val="A4A3A4"/>
          </p15:clr>
        </p15:guide>
        <p15:guide id="18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260"/>
    <a:srgbClr val="1C8F57"/>
    <a:srgbClr val="E6FDD6"/>
    <a:srgbClr val="0F3A32"/>
    <a:srgbClr val="F2F2F2"/>
    <a:srgbClr val="FF3838"/>
    <a:srgbClr val="6A6A6A"/>
    <a:srgbClr val="A3E96B"/>
    <a:srgbClr val="FFECEC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75" autoAdjust="0"/>
    <p:restoredTop sz="97384" autoAdjust="0"/>
  </p:normalViewPr>
  <p:slideViewPr>
    <p:cSldViewPr snapToGrid="0" showGuides="1">
      <p:cViewPr varScale="1">
        <p:scale>
          <a:sx n="113" d="100"/>
          <a:sy n="113" d="100"/>
        </p:scale>
        <p:origin x="240" y="324"/>
      </p:cViewPr>
      <p:guideLst>
        <p:guide pos="5955"/>
        <p:guide orient="horz" pos="3748"/>
        <p:guide orient="horz" pos="93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12D9F9-0D73-FA9C-9567-0D2EDC03F2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C3307-0AD4-BB88-7BEB-A583A8AF2E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B6DD3-10D0-4E94-9B57-485DC69B4E9D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6F0FCC-8CED-378C-8460-87FCC68F3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0BFFF3-C18E-475B-3D21-266D273E39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BFF77-EDF0-439C-A29E-838A93E02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377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7BD4-412C-4036-BA3A-F77995BB0B9D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B846C-C851-40D6-90BA-1F97CB71F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3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암초, 어둠, 야외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290648-4A35-8FE1-E072-FF4D31F96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8" b="58305"/>
          <a:stretch>
            <a:fillRect/>
          </a:stretch>
        </p:blipFill>
        <p:spPr>
          <a:xfrm>
            <a:off x="0" y="0"/>
            <a:ext cx="990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PG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26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orient="horz" pos="3748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none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75163" y="6020725"/>
            <a:ext cx="6845837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993F8B13-CA41-9FF3-CEB3-9890383AC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74725"/>
            <a:ext cx="1362163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916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107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/Ander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none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58425" y="6020725"/>
            <a:ext cx="6062575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573DDD-4F45-9398-6499-D7269C1377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3000" y="6056725"/>
            <a:ext cx="2253425" cy="198000"/>
            <a:chOff x="623889" y="598933"/>
            <a:chExt cx="8448818" cy="742366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14CBB4AF-4B62-C23D-1FEF-2929F5B52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75515" y="657299"/>
              <a:ext cx="3597192" cy="684000"/>
            </a:xfrm>
            <a:prstGeom prst="rect">
              <a:avLst/>
            </a:prstGeom>
          </p:spPr>
        </p:pic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7EC1F7B2-C3E5-42D9-50BF-71B37DC6A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3889" y="598933"/>
              <a:ext cx="4851626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82862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>
          <p15:clr>
            <a:srgbClr val="FBAE40"/>
          </p15:clr>
        </p15:guide>
        <p15:guide id="3" orient="horz" pos="3748">
          <p15:clr>
            <a:srgbClr val="FBAE40"/>
          </p15:clr>
        </p15:guide>
        <p15:guide id="5" orient="horz" pos="618">
          <p15:clr>
            <a:srgbClr val="FBAE40"/>
          </p15:clr>
        </p15:guide>
        <p15:guide id="6" orient="horz" pos="107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>
            <a:extLst>
              <a:ext uri="{FF2B5EF4-FFF2-40B4-BE49-F238E27FC236}">
                <a16:creationId xmlns:a16="http://schemas.microsoft.com/office/drawing/2014/main" id="{DC2C7A55-5541-E072-FACF-5B951038D15E}"/>
              </a:ext>
            </a:extLst>
          </p:cNvPr>
          <p:cNvGrpSpPr/>
          <p:nvPr userDrawn="1"/>
        </p:nvGrpSpPr>
        <p:grpSpPr>
          <a:xfrm>
            <a:off x="-1332000" y="0"/>
            <a:ext cx="1260000" cy="5147998"/>
            <a:chOff x="-1332000" y="251999"/>
            <a:chExt cx="1260000" cy="5147998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A9B4B0E-E4CB-BEB4-725A-783E0C8E451B}"/>
                </a:ext>
              </a:extLst>
            </p:cNvPr>
            <p:cNvGrpSpPr/>
            <p:nvPr userDrawn="1"/>
          </p:nvGrpSpPr>
          <p:grpSpPr>
            <a:xfrm>
              <a:off x="-1332000" y="251999"/>
              <a:ext cx="1260000" cy="1440000"/>
              <a:chOff x="-1332000" y="251999"/>
              <a:chExt cx="1260000" cy="144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FBDDD21-17AA-9039-4C59-66C46717204B}"/>
                  </a:ext>
                </a:extLst>
              </p:cNvPr>
              <p:cNvSpPr/>
              <p:nvPr userDrawn="1"/>
            </p:nvSpPr>
            <p:spPr>
              <a:xfrm>
                <a:off x="-1332000" y="251999"/>
                <a:ext cx="1260000" cy="576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Signature Green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AA68D9-0007-1137-8E9E-65F8F249E8B3}"/>
                  </a:ext>
                </a:extLst>
              </p:cNvPr>
              <p:cNvSpPr/>
              <p:nvPr userDrawn="1"/>
            </p:nvSpPr>
            <p:spPr>
              <a:xfrm>
                <a:off x="-1332000" y="1115999"/>
                <a:ext cx="1260000" cy="576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Green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D47E68C-019C-8A2F-492D-27B9D3AF84EE}"/>
                  </a:ext>
                </a:extLst>
              </p:cNvPr>
              <p:cNvSpPr/>
              <p:nvPr userDrawn="1"/>
            </p:nvSpPr>
            <p:spPr>
              <a:xfrm>
                <a:off x="-1332000" y="827999"/>
                <a:ext cx="252000" cy="288000"/>
              </a:xfrm>
              <a:prstGeom prst="rect">
                <a:avLst/>
              </a:prstGeom>
              <a:solidFill>
                <a:srgbClr val="E6FD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60D7CC4-4A15-5FED-68A7-1993F1727F1B}"/>
                  </a:ext>
                </a:extLst>
              </p:cNvPr>
              <p:cNvSpPr/>
              <p:nvPr userDrawn="1"/>
            </p:nvSpPr>
            <p:spPr>
              <a:xfrm>
                <a:off x="-828000" y="827999"/>
                <a:ext cx="252000" cy="288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1388674-7E06-90B3-8CC9-C5FBE25B5A8D}"/>
                  </a:ext>
                </a:extLst>
              </p:cNvPr>
              <p:cNvSpPr/>
              <p:nvPr userDrawn="1"/>
            </p:nvSpPr>
            <p:spPr>
              <a:xfrm>
                <a:off x="-576000" y="827999"/>
                <a:ext cx="252000" cy="288000"/>
              </a:xfrm>
              <a:prstGeom prst="rect">
                <a:avLst/>
              </a:prstGeom>
              <a:solidFill>
                <a:srgbClr val="1C8F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E15722A-1E25-70E9-8E06-B675AE8E502C}"/>
                  </a:ext>
                </a:extLst>
              </p:cNvPr>
              <p:cNvSpPr/>
              <p:nvPr userDrawn="1"/>
            </p:nvSpPr>
            <p:spPr>
              <a:xfrm>
                <a:off x="-324000" y="827999"/>
                <a:ext cx="252000" cy="288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CA4CDF29-3C6C-C492-9A89-838C3E6FCC2A}"/>
                  </a:ext>
                </a:extLst>
              </p:cNvPr>
              <p:cNvSpPr/>
              <p:nvPr userDrawn="1"/>
            </p:nvSpPr>
            <p:spPr>
              <a:xfrm>
                <a:off x="-1080000" y="827999"/>
                <a:ext cx="252000" cy="288000"/>
              </a:xfrm>
              <a:prstGeom prst="rect">
                <a:avLst/>
              </a:prstGeom>
              <a:solidFill>
                <a:srgbClr val="A3E9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D6BC0DD-AA10-0C54-2348-EEC86A9525F4}"/>
                </a:ext>
              </a:extLst>
            </p:cNvPr>
            <p:cNvGrpSpPr/>
            <p:nvPr userDrawn="1"/>
          </p:nvGrpSpPr>
          <p:grpSpPr>
            <a:xfrm>
              <a:off x="-1332000" y="1871998"/>
              <a:ext cx="1260000" cy="1440000"/>
              <a:chOff x="-1332000" y="1799999"/>
              <a:chExt cx="1260000" cy="1440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EBFBD1D-995E-1E73-010F-50D3B0E83929}"/>
                  </a:ext>
                </a:extLst>
              </p:cNvPr>
              <p:cNvSpPr/>
              <p:nvPr userDrawn="1"/>
            </p:nvSpPr>
            <p:spPr>
              <a:xfrm>
                <a:off x="-1332000" y="1799999"/>
                <a:ext cx="1260000" cy="576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Dark Gray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Text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40A180-6C32-2570-A740-930E8D9B706B}"/>
                  </a:ext>
                </a:extLst>
              </p:cNvPr>
              <p:cNvSpPr/>
              <p:nvPr userDrawn="1"/>
            </p:nvSpPr>
            <p:spPr>
              <a:xfrm>
                <a:off x="-1332000" y="2663999"/>
                <a:ext cx="1260000" cy="576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Mid Gray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Line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409EDCF-481E-435E-718F-1CC9D7D51B2F}"/>
                  </a:ext>
                </a:extLst>
              </p:cNvPr>
              <p:cNvSpPr/>
              <p:nvPr userDrawn="1"/>
            </p:nvSpPr>
            <p:spPr>
              <a:xfrm>
                <a:off x="-1332000" y="2375999"/>
                <a:ext cx="252000" cy="288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B6F4259-DC9C-A7E1-E051-7D220EC304A7}"/>
                  </a:ext>
                </a:extLst>
              </p:cNvPr>
              <p:cNvSpPr/>
              <p:nvPr userDrawn="1"/>
            </p:nvSpPr>
            <p:spPr>
              <a:xfrm>
                <a:off x="-828000" y="2375999"/>
                <a:ext cx="252000" cy="288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3781F1C-B0CE-957D-45AE-27111159DD3D}"/>
                  </a:ext>
                </a:extLst>
              </p:cNvPr>
              <p:cNvSpPr/>
              <p:nvPr userDrawn="1"/>
            </p:nvSpPr>
            <p:spPr>
              <a:xfrm>
                <a:off x="-576000" y="2375999"/>
                <a:ext cx="252000" cy="288000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8F6B58C-2C33-8060-3265-CAEA9C07CF35}"/>
                  </a:ext>
                </a:extLst>
              </p:cNvPr>
              <p:cNvSpPr/>
              <p:nvPr userDrawn="1"/>
            </p:nvSpPr>
            <p:spPr>
              <a:xfrm>
                <a:off x="-324000" y="2375999"/>
                <a:ext cx="252000" cy="288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5F1958F-E80E-E3AB-0F20-4F04A89ED80C}"/>
                  </a:ext>
                </a:extLst>
              </p:cNvPr>
              <p:cNvSpPr/>
              <p:nvPr userDrawn="1"/>
            </p:nvSpPr>
            <p:spPr>
              <a:xfrm>
                <a:off x="-1080000" y="2375999"/>
                <a:ext cx="252000" cy="288000"/>
              </a:xfrm>
              <a:prstGeom prst="rect">
                <a:avLst/>
              </a:prstGeom>
              <a:solidFill>
                <a:srgbClr val="B0B0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DF573A2-D377-75AA-94BE-1431A1250DA9}"/>
                </a:ext>
              </a:extLst>
            </p:cNvPr>
            <p:cNvGrpSpPr/>
            <p:nvPr userDrawn="1"/>
          </p:nvGrpSpPr>
          <p:grpSpPr>
            <a:xfrm>
              <a:off x="-1332000" y="3491998"/>
              <a:ext cx="1260000" cy="864000"/>
              <a:chOff x="-1332000" y="3491998"/>
              <a:chExt cx="1260000" cy="864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33F5513E-EA52-4A9E-918D-65D6DA5AC603}"/>
                  </a:ext>
                </a:extLst>
              </p:cNvPr>
              <p:cNvSpPr/>
              <p:nvPr userDrawn="1"/>
            </p:nvSpPr>
            <p:spPr>
              <a:xfrm>
                <a:off x="-1332000" y="3491998"/>
                <a:ext cx="1260000" cy="576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Red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FE9F0A4-6AFC-6162-CD7E-F91270632D24}"/>
                  </a:ext>
                </a:extLst>
              </p:cNvPr>
              <p:cNvSpPr/>
              <p:nvPr userDrawn="1"/>
            </p:nvSpPr>
            <p:spPr>
              <a:xfrm>
                <a:off x="-1332000" y="4067998"/>
                <a:ext cx="252000" cy="288000"/>
              </a:xfrm>
              <a:prstGeom prst="rect">
                <a:avLst/>
              </a:prstGeom>
              <a:solidFill>
                <a:srgbClr val="FFEC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D16E1DD-6F4F-B14D-0CC9-A41731A6DAFD}"/>
                  </a:ext>
                </a:extLst>
              </p:cNvPr>
              <p:cNvSpPr/>
              <p:nvPr userDrawn="1"/>
            </p:nvSpPr>
            <p:spPr>
              <a:xfrm>
                <a:off x="-828000" y="4067998"/>
                <a:ext cx="252000" cy="288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46F6BF42-34B7-D0AE-EAF4-6AB933B7626F}"/>
                  </a:ext>
                </a:extLst>
              </p:cNvPr>
              <p:cNvSpPr/>
              <p:nvPr userDrawn="1"/>
            </p:nvSpPr>
            <p:spPr>
              <a:xfrm>
                <a:off x="-576000" y="4067998"/>
                <a:ext cx="252000" cy="288000"/>
              </a:xfrm>
              <a:prstGeom prst="rect">
                <a:avLst/>
              </a:prstGeom>
              <a:solidFill>
                <a:srgbClr val="CC1E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ED8F846-327B-E64A-6409-91C0320EFC7F}"/>
                  </a:ext>
                </a:extLst>
              </p:cNvPr>
              <p:cNvSpPr/>
              <p:nvPr userDrawn="1"/>
            </p:nvSpPr>
            <p:spPr>
              <a:xfrm>
                <a:off x="-324000" y="4067998"/>
                <a:ext cx="252000" cy="288000"/>
              </a:xfrm>
              <a:prstGeom prst="rect">
                <a:avLst/>
              </a:prstGeom>
              <a:solidFill>
                <a:srgbClr val="7A0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524FD4E0-95A7-9B35-3797-F2C2D9AF4CB6}"/>
                  </a:ext>
                </a:extLst>
              </p:cNvPr>
              <p:cNvSpPr/>
              <p:nvPr userDrawn="1"/>
            </p:nvSpPr>
            <p:spPr>
              <a:xfrm>
                <a:off x="-1080000" y="4067998"/>
                <a:ext cx="252000" cy="288000"/>
              </a:xfrm>
              <a:prstGeom prst="rect">
                <a:avLst/>
              </a:prstGeom>
              <a:solidFill>
                <a:srgbClr val="FF9A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E5F24E7A-A3A7-8789-C4C3-1072BFA9257E}"/>
                </a:ext>
              </a:extLst>
            </p:cNvPr>
            <p:cNvGrpSpPr/>
            <p:nvPr userDrawn="1"/>
          </p:nvGrpSpPr>
          <p:grpSpPr>
            <a:xfrm>
              <a:off x="-1332000" y="4535997"/>
              <a:ext cx="1260000" cy="864000"/>
              <a:chOff x="-1332000" y="4535997"/>
              <a:chExt cx="1260000" cy="86400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D2C58AB-90B4-524A-B1DC-F11DD04CC494}"/>
                  </a:ext>
                </a:extLst>
              </p:cNvPr>
              <p:cNvSpPr/>
              <p:nvPr userDrawn="1"/>
            </p:nvSpPr>
            <p:spPr>
              <a:xfrm>
                <a:off x="-1332000" y="4535997"/>
                <a:ext cx="1260000" cy="576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Blue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9D6648-E04D-845B-4453-383C1FB3568D}"/>
                  </a:ext>
                </a:extLst>
              </p:cNvPr>
              <p:cNvSpPr/>
              <p:nvPr userDrawn="1"/>
            </p:nvSpPr>
            <p:spPr>
              <a:xfrm>
                <a:off x="-1332000" y="5111997"/>
                <a:ext cx="252000" cy="288000"/>
              </a:xfrm>
              <a:prstGeom prst="rect">
                <a:avLst/>
              </a:prstGeom>
              <a:solidFill>
                <a:srgbClr val="E3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ED123F4-424D-20D0-1DEB-41A5B1D56E22}"/>
                  </a:ext>
                </a:extLst>
              </p:cNvPr>
              <p:cNvSpPr/>
              <p:nvPr userDrawn="1"/>
            </p:nvSpPr>
            <p:spPr>
              <a:xfrm>
                <a:off x="-828000" y="5111997"/>
                <a:ext cx="252000" cy="288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583118E-ED62-931B-5F6B-35471B66C178}"/>
                  </a:ext>
                </a:extLst>
              </p:cNvPr>
              <p:cNvSpPr/>
              <p:nvPr userDrawn="1"/>
            </p:nvSpPr>
            <p:spPr>
              <a:xfrm>
                <a:off x="-576000" y="5111997"/>
                <a:ext cx="252000" cy="288000"/>
              </a:xfrm>
              <a:prstGeom prst="rect">
                <a:avLst/>
              </a:prstGeom>
              <a:solidFill>
                <a:srgbClr val="166A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F1FFE7F6-E2AD-5437-E63B-51D62A7FB2B5}"/>
                  </a:ext>
                </a:extLst>
              </p:cNvPr>
              <p:cNvSpPr/>
              <p:nvPr userDrawn="1"/>
            </p:nvSpPr>
            <p:spPr>
              <a:xfrm>
                <a:off x="-324000" y="5111997"/>
                <a:ext cx="252000" cy="288000"/>
              </a:xfrm>
              <a:prstGeom prst="rect">
                <a:avLst/>
              </a:prstGeom>
              <a:solidFill>
                <a:srgbClr val="0831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B515338-9C5D-CEAA-95E3-1C1186B69108}"/>
                  </a:ext>
                </a:extLst>
              </p:cNvPr>
              <p:cNvSpPr/>
              <p:nvPr userDrawn="1"/>
            </p:nvSpPr>
            <p:spPr>
              <a:xfrm>
                <a:off x="-1080000" y="5111997"/>
                <a:ext cx="252000" cy="288000"/>
              </a:xfrm>
              <a:prstGeom prst="rect">
                <a:avLst/>
              </a:prstGeom>
              <a:solidFill>
                <a:srgbClr val="8AC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7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1" r:id="rId2"/>
    <p:sldLayoutId id="2147483669" r:id="rId3"/>
    <p:sldLayoutId id="2147483668" r:id="rId4"/>
    <p:sldLayoutId id="214748367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pos="5955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990BFB-7BA5-FB4A-9A92-976181A75BB0}"/>
              </a:ext>
            </a:extLst>
          </p:cNvPr>
          <p:cNvSpPr txBox="1"/>
          <p:nvPr/>
        </p:nvSpPr>
        <p:spPr>
          <a:xfrm>
            <a:off x="7514969" y="685766"/>
            <a:ext cx="1938031" cy="15901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  <a:latin typeface="+mj-lt"/>
                <a:ea typeface="+mj-ea"/>
              </a:rPr>
              <a:t>Strictly Private &amp; 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2D4F5B-7215-AC37-69C3-D84C6BA481DD}"/>
              </a:ext>
            </a:extLst>
          </p:cNvPr>
          <p:cNvSpPr txBox="1"/>
          <p:nvPr/>
        </p:nvSpPr>
        <p:spPr>
          <a:xfrm>
            <a:off x="452438" y="4592197"/>
            <a:ext cx="1215076" cy="2215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1600" spc="-50" dirty="0">
                <a:solidFill>
                  <a:schemeClr val="bg1"/>
                </a:solidFill>
                <a:latin typeface="SUIT Medium" pitchFamily="50" charset="-127"/>
                <a:ea typeface="SUIT Medium" pitchFamily="50" charset="-127"/>
              </a:rPr>
              <a:t>January 2025</a:t>
            </a:r>
            <a:endParaRPr lang="ko-KR" altLang="en-US" sz="1600" spc="-50" dirty="0">
              <a:solidFill>
                <a:schemeClr val="bg1"/>
              </a:solidFill>
              <a:latin typeface="SUIT Medium" pitchFamily="50" charset="-127"/>
              <a:ea typeface="SUIT Medium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910C79C1-EDBE-55FD-A146-AFBF6F6B2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99" y="549275"/>
            <a:ext cx="2459748" cy="43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6B93FF-DFAE-51FB-D297-9BBC5A745890}"/>
              </a:ext>
            </a:extLst>
          </p:cNvPr>
          <p:cNvSpPr txBox="1"/>
          <p:nvPr/>
        </p:nvSpPr>
        <p:spPr>
          <a:xfrm>
            <a:off x="452438" y="3484400"/>
            <a:ext cx="4097275" cy="3323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2400" spc="-50" dirty="0">
                <a:solidFill>
                  <a:schemeClr val="bg1"/>
                </a:solidFill>
                <a:latin typeface="SUIT Medium" pitchFamily="50" charset="-127"/>
                <a:ea typeface="SUIT Medium" pitchFamily="50" charset="-127"/>
              </a:rPr>
              <a:t>Transaction Structure Analysis</a:t>
            </a:r>
            <a:endParaRPr lang="ko-KR" altLang="en-US" sz="2400" spc="-50" dirty="0">
              <a:solidFill>
                <a:schemeClr val="bg1"/>
              </a:solidFill>
              <a:latin typeface="SUIT Medium" pitchFamily="50" charset="-127"/>
              <a:ea typeface="SUIT Medium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7964E-2A31-9D61-EAEC-028EFE7B9613}"/>
              </a:ext>
            </a:extLst>
          </p:cNvPr>
          <p:cNvSpPr txBox="1"/>
          <p:nvPr/>
        </p:nvSpPr>
        <p:spPr>
          <a:xfrm>
            <a:off x="452438" y="2930402"/>
            <a:ext cx="5119991" cy="5539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4000" spc="-50" dirty="0">
                <a:solidFill>
                  <a:schemeClr val="bg1"/>
                </a:solidFill>
                <a:latin typeface="+mj-lt"/>
                <a:ea typeface="+mj-ea"/>
              </a:rPr>
              <a:t>DISCUSSION MEMO</a:t>
            </a:r>
          </a:p>
        </p:txBody>
      </p:sp>
    </p:spTree>
    <p:extLst>
      <p:ext uri="{BB962C8B-B14F-4D97-AF65-F5344CB8AC3E}">
        <p14:creationId xmlns:p14="http://schemas.microsoft.com/office/powerpoint/2010/main" val="182635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A1A93C2-E152-2DAA-BC1C-E396801AB2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ko-KR" altLang="en-US" dirty="0"/>
              <a:t>본 거래 구조 설계를 위한 고려사항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E8D6CF-66FA-C1F7-7312-809B656B25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49035E-ED96-354F-CD44-1C23DFD1FA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2809F0-5829-EDA8-0E7D-DD03202741D6}"/>
              </a:ext>
            </a:extLst>
          </p:cNvPr>
          <p:cNvSpPr/>
          <p:nvPr/>
        </p:nvSpPr>
        <p:spPr>
          <a:xfrm>
            <a:off x="452438" y="1196975"/>
            <a:ext cx="4320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본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거래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핵심 전제 조건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C289EA-B19A-E72D-66A4-E1CC023EA409}"/>
              </a:ext>
            </a:extLst>
          </p:cNvPr>
          <p:cNvSpPr/>
          <p:nvPr/>
        </p:nvSpPr>
        <p:spPr>
          <a:xfrm>
            <a:off x="5132438" y="1196975"/>
            <a:ext cx="4320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해당 사항 반영한 구조 설계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17B728D-35CE-138B-A0D8-D62E9D9474F7}"/>
              </a:ext>
            </a:extLst>
          </p:cNvPr>
          <p:cNvGrpSpPr/>
          <p:nvPr/>
        </p:nvGrpSpPr>
        <p:grpSpPr>
          <a:xfrm>
            <a:off x="452438" y="1664974"/>
            <a:ext cx="9000000" cy="4031998"/>
            <a:chOff x="452438" y="1700213"/>
            <a:chExt cx="9000000" cy="4031998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7E8BEF1-341B-2564-5F8A-3DB46FDAB74B}"/>
                </a:ext>
              </a:extLst>
            </p:cNvPr>
            <p:cNvSpPr/>
            <p:nvPr/>
          </p:nvSpPr>
          <p:spPr>
            <a:xfrm>
              <a:off x="452438" y="1700213"/>
              <a:ext cx="4320000" cy="1008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pPr>
                <a:spcBef>
                  <a:spcPts val="300"/>
                </a:spcBef>
                <a:spcAft>
                  <a:spcPts val="400"/>
                </a:spcAft>
              </a:pPr>
              <a:r>
                <a:rPr lang="ko-KR" altLang="en-US" sz="1200" b="1" dirty="0">
                  <a:solidFill>
                    <a:schemeClr val="tx1"/>
                  </a:solidFill>
                </a:rPr>
                <a:t>최소 자금으로 최대 지분 확보</a:t>
              </a:r>
              <a:endParaRPr lang="en-US" altLang="ko-KR" sz="1200" b="1" dirty="0">
                <a:solidFill>
                  <a:schemeClr val="tx1"/>
                </a:solidFill>
              </a:endParaRP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ko-KR" altLang="en-US" sz="1000" dirty="0" err="1">
                  <a:solidFill>
                    <a:schemeClr val="tx1"/>
                  </a:solidFill>
                </a:rPr>
                <a:t>주주별</a:t>
              </a:r>
              <a:r>
                <a:rPr lang="ko-KR" altLang="en-US" sz="1000" dirty="0">
                  <a:solidFill>
                    <a:schemeClr val="tx1"/>
                  </a:solidFill>
                </a:rPr>
                <a:t> 개별 거래를 통해 매입가 최소화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ko-KR" altLang="en-US" sz="1000" dirty="0">
                  <a:solidFill>
                    <a:schemeClr val="tx1"/>
                  </a:solidFill>
                </a:rPr>
                <a:t>최대주주 지위를 확보하되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주주총회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보통결의</a:t>
              </a:r>
              <a:r>
                <a:rPr lang="en-US" altLang="ko-KR" sz="800" dirty="0">
                  <a:solidFill>
                    <a:schemeClr val="tx1"/>
                  </a:solidFill>
                </a:rPr>
                <a:t>(51%)</a:t>
              </a:r>
              <a:r>
                <a:rPr lang="en-US" altLang="ko-KR" sz="1000" dirty="0">
                  <a:solidFill>
                    <a:schemeClr val="tx1"/>
                  </a:solidFill>
                </a:rPr>
                <a:t> ·</a:t>
              </a:r>
              <a:r>
                <a:rPr lang="ko-KR" altLang="en-US" sz="1000" dirty="0">
                  <a:solidFill>
                    <a:schemeClr val="tx1"/>
                  </a:solidFill>
                </a:rPr>
                <a:t> 특별결의</a:t>
              </a:r>
              <a:r>
                <a:rPr lang="en-US" altLang="ko-KR" sz="800" dirty="0">
                  <a:solidFill>
                    <a:schemeClr val="tx1"/>
                  </a:solidFill>
                </a:rPr>
                <a:t>(67%)</a:t>
              </a:r>
              <a:r>
                <a:rPr lang="en-US" altLang="ko-KR" sz="1000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</a:rPr>
                <a:t>요건을 고려하여 최대수준의 지분 확보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E7AC4DF-34A9-16AD-00B6-34E6D7363131}"/>
                </a:ext>
              </a:extLst>
            </p:cNvPr>
            <p:cNvSpPr/>
            <p:nvPr/>
          </p:nvSpPr>
          <p:spPr>
            <a:xfrm>
              <a:off x="452438" y="2816212"/>
              <a:ext cx="4320000" cy="900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pPr>
                <a:spcBef>
                  <a:spcPts val="300"/>
                </a:spcBef>
                <a:spcAft>
                  <a:spcPts val="400"/>
                </a:spcAft>
              </a:pPr>
              <a:r>
                <a:rPr lang="ko-KR" altLang="en-US" sz="1200" b="1" dirty="0">
                  <a:solidFill>
                    <a:schemeClr val="tx1"/>
                  </a:solidFill>
                </a:rPr>
                <a:t>경영 권리를 침해 받거나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, IPO/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상환 부담 최소화</a:t>
              </a:r>
              <a:endParaRPr lang="en-US" altLang="ko-KR" sz="1200" b="1" dirty="0">
                <a:solidFill>
                  <a:schemeClr val="tx1"/>
                </a:solidFill>
              </a:endParaRP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ko-KR" altLang="en-US" sz="1000" dirty="0">
                  <a:solidFill>
                    <a:schemeClr val="tx1"/>
                  </a:solidFill>
                </a:rPr>
                <a:t>경영 사전 동의사항 최소화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이사회 침해 조항 최소화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en-US" altLang="ko-KR" sz="1000" dirty="0">
                  <a:solidFill>
                    <a:schemeClr val="tx1"/>
                  </a:solidFill>
                </a:rPr>
                <a:t>IPO/ </a:t>
              </a:r>
              <a:r>
                <a:rPr lang="ko-KR" altLang="en-US" sz="1000" dirty="0">
                  <a:solidFill>
                    <a:schemeClr val="tx1"/>
                  </a:solidFill>
                </a:rPr>
                <a:t>상환 부담 최소화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779FDC-2A32-203D-1C08-761B2D288FAC}"/>
                </a:ext>
              </a:extLst>
            </p:cNvPr>
            <p:cNvSpPr/>
            <p:nvPr/>
          </p:nvSpPr>
          <p:spPr>
            <a:xfrm>
              <a:off x="452438" y="3824212"/>
              <a:ext cx="4320000" cy="900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pPr>
                <a:spcBef>
                  <a:spcPts val="300"/>
                </a:spcBef>
                <a:spcAft>
                  <a:spcPts val="400"/>
                </a:spcAft>
              </a:pPr>
              <a:r>
                <a:rPr lang="ko-KR" altLang="en-US" sz="1200" b="1" dirty="0">
                  <a:solidFill>
                    <a:schemeClr val="tx1"/>
                  </a:solidFill>
                </a:rPr>
                <a:t>향후 안정적인 성장과 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PMI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ko-KR" altLang="en-US" sz="1000" dirty="0">
                  <a:solidFill>
                    <a:schemeClr val="tx1"/>
                  </a:solidFill>
                </a:rPr>
                <a:t>일정 수준의 신주 투자 필요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ko-KR" altLang="en-US" sz="1000" dirty="0">
                  <a:solidFill>
                    <a:schemeClr val="tx1"/>
                  </a:solidFill>
                </a:rPr>
                <a:t>실사 과정에서 </a:t>
              </a:r>
              <a:r>
                <a:rPr lang="en-US" altLang="ko-KR" sz="1000" dirty="0">
                  <a:solidFill>
                    <a:schemeClr val="tx1"/>
                  </a:solidFill>
                </a:rPr>
                <a:t>Carve-out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부분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조직 효율화 부분 파악 필요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98B2513-F4B9-3F17-FEF1-CE74EC5FC42C}"/>
                </a:ext>
              </a:extLst>
            </p:cNvPr>
            <p:cNvSpPr/>
            <p:nvPr/>
          </p:nvSpPr>
          <p:spPr>
            <a:xfrm>
              <a:off x="5132438" y="1700213"/>
              <a:ext cx="4320000" cy="1008000"/>
            </a:xfrm>
            <a:prstGeom prst="rect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pPr>
                <a:spcBef>
                  <a:spcPts val="300"/>
                </a:spcBef>
                <a:spcAft>
                  <a:spcPts val="400"/>
                </a:spcAft>
              </a:pPr>
              <a:r>
                <a:rPr lang="ko-KR" altLang="en-US" sz="1200" b="1" dirty="0">
                  <a:solidFill>
                    <a:schemeClr val="bg1"/>
                  </a:solidFill>
                </a:rPr>
                <a:t>개별 </a:t>
              </a:r>
              <a:r>
                <a:rPr lang="ko-KR" altLang="en-US" sz="1200" b="1" dirty="0" err="1">
                  <a:solidFill>
                    <a:schemeClr val="bg1"/>
                  </a:solidFill>
                </a:rPr>
                <a:t>주주별</a:t>
              </a:r>
              <a:r>
                <a:rPr lang="ko-KR" altLang="en-US" sz="1200" b="1" dirty="0">
                  <a:solidFill>
                    <a:schemeClr val="bg1"/>
                  </a:solidFill>
                </a:rPr>
                <a:t> 매입가 차등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, </a:t>
              </a:r>
              <a:r>
                <a:rPr lang="ko-KR" altLang="en-US" sz="1200" b="1" dirty="0">
                  <a:solidFill>
                    <a:schemeClr val="bg1"/>
                  </a:solidFill>
                </a:rPr>
                <a:t>대주주 지분은 성과 연동</a:t>
              </a:r>
              <a:endParaRPr lang="en-US" altLang="ko-KR" sz="1200" b="1" dirty="0">
                <a:solidFill>
                  <a:schemeClr val="bg1"/>
                </a:solidFill>
              </a:endParaRP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en-US" altLang="ko-KR" sz="1000" dirty="0">
                  <a:solidFill>
                    <a:schemeClr val="bg1"/>
                  </a:solidFill>
                </a:rPr>
                <a:t>FI </a:t>
              </a:r>
              <a:r>
                <a:rPr lang="ko-KR" altLang="en-US" sz="1000" dirty="0">
                  <a:solidFill>
                    <a:schemeClr val="bg1"/>
                  </a:solidFill>
                </a:rPr>
                <a:t>주주들의 최소요구수익률 분석을 통한 협상 진행</a:t>
              </a:r>
              <a:endParaRPr lang="en-US" altLang="ko-KR" sz="1000" b="1" u="sng" dirty="0">
                <a:solidFill>
                  <a:schemeClr val="bg1"/>
                </a:solidFill>
              </a:endParaRP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ko-KR" altLang="en-US" sz="1000" dirty="0">
                  <a:solidFill>
                    <a:schemeClr val="bg1"/>
                  </a:solidFill>
                </a:rPr>
                <a:t>대주주 지분은 본 건 거래에 포함시키지 않고</a:t>
              </a:r>
              <a:r>
                <a:rPr lang="en-US" altLang="ko-KR" sz="1000" dirty="0">
                  <a:solidFill>
                    <a:schemeClr val="bg1"/>
                  </a:solidFill>
                </a:rPr>
                <a:t>, Call-option </a:t>
              </a:r>
              <a:r>
                <a:rPr lang="ko-KR" altLang="en-US" sz="1000" dirty="0">
                  <a:solidFill>
                    <a:schemeClr val="bg1"/>
                  </a:solidFill>
                </a:rPr>
                <a:t>구조로 성과 연동</a:t>
              </a:r>
              <a:endParaRPr lang="en-US" altLang="ko-KR" sz="1000" b="1" u="sng" dirty="0">
                <a:solidFill>
                  <a:schemeClr val="bg1"/>
                </a:solidFill>
              </a:endParaRPr>
            </a:p>
          </p:txBody>
        </p:sp>
        <p:sp>
          <p:nvSpPr>
            <p:cNvPr id="13" name="이등변 삼각형 12">
              <a:extLst>
                <a:ext uri="{FF2B5EF4-FFF2-40B4-BE49-F238E27FC236}">
                  <a16:creationId xmlns:a16="http://schemas.microsoft.com/office/drawing/2014/main" id="{B5E0E852-0C2F-CF0E-EB07-D6D0F3FD7BE5}"/>
                </a:ext>
              </a:extLst>
            </p:cNvPr>
            <p:cNvSpPr/>
            <p:nvPr/>
          </p:nvSpPr>
          <p:spPr>
            <a:xfrm rot="5400000">
              <a:off x="4736438" y="2132213"/>
              <a:ext cx="432000" cy="144000"/>
            </a:xfrm>
            <a:prstGeom prst="triangl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FCC675D-32F2-9EB9-368A-420267B96103}"/>
                </a:ext>
              </a:extLst>
            </p:cNvPr>
            <p:cNvSpPr/>
            <p:nvPr/>
          </p:nvSpPr>
          <p:spPr>
            <a:xfrm>
              <a:off x="5132438" y="2816212"/>
              <a:ext cx="4320000" cy="900000"/>
            </a:xfrm>
            <a:prstGeom prst="rect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pPr>
                <a:spcBef>
                  <a:spcPts val="300"/>
                </a:spcBef>
                <a:spcAft>
                  <a:spcPts val="400"/>
                </a:spcAft>
              </a:pPr>
              <a:r>
                <a:rPr lang="en-US" altLang="ko-KR" sz="1200" b="1" dirty="0">
                  <a:solidFill>
                    <a:schemeClr val="bg1"/>
                  </a:solidFill>
                </a:rPr>
                <a:t>RCPS, CB </a:t>
              </a:r>
              <a:r>
                <a:rPr lang="ko-KR" altLang="en-US" sz="1200" b="1" dirty="0">
                  <a:solidFill>
                    <a:schemeClr val="bg1"/>
                  </a:solidFill>
                </a:rPr>
                <a:t>전액 인수 목표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ko-KR" altLang="en-US" sz="1000" dirty="0">
                  <a:solidFill>
                    <a:schemeClr val="bg1"/>
                  </a:solidFill>
                </a:rPr>
                <a:t>우선순위 구분에 따른 </a:t>
              </a:r>
              <a:r>
                <a:rPr lang="en-US" altLang="ko-KR" sz="1000" dirty="0">
                  <a:solidFill>
                    <a:schemeClr val="bg1"/>
                  </a:solidFill>
                </a:rPr>
                <a:t>RCPS, CB </a:t>
              </a:r>
              <a:r>
                <a:rPr lang="ko-KR" altLang="en-US" sz="1000" dirty="0">
                  <a:solidFill>
                    <a:schemeClr val="bg1"/>
                  </a:solidFill>
                </a:rPr>
                <a:t>전액 인수</a:t>
              </a:r>
              <a:endParaRPr lang="en-US" altLang="ko-KR" sz="1000" dirty="0">
                <a:solidFill>
                  <a:schemeClr val="bg1"/>
                </a:solidFill>
              </a:endParaRP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en-US" altLang="ko-KR" sz="1000" dirty="0">
                  <a:solidFill>
                    <a:schemeClr val="bg1"/>
                  </a:solidFill>
                </a:rPr>
                <a:t>FI</a:t>
              </a:r>
              <a:r>
                <a:rPr lang="ko-KR" altLang="en-US" sz="1000" dirty="0">
                  <a:solidFill>
                    <a:schemeClr val="bg1"/>
                  </a:solidFill>
                </a:rPr>
                <a:t> 주주들의 협상은 기존 대주주가 진행</a:t>
              </a:r>
              <a:endParaRPr lang="en-US" altLang="ko-KR" sz="1000" dirty="0">
                <a:solidFill>
                  <a:schemeClr val="bg1"/>
                </a:solidFill>
              </a:endParaRPr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828AA59E-18B3-9D08-F503-BE3FBE144938}"/>
                </a:ext>
              </a:extLst>
            </p:cNvPr>
            <p:cNvSpPr/>
            <p:nvPr/>
          </p:nvSpPr>
          <p:spPr>
            <a:xfrm rot="5400000">
              <a:off x="4736438" y="3194212"/>
              <a:ext cx="432000" cy="144000"/>
            </a:xfrm>
            <a:prstGeom prst="triangl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6731230-0994-622C-4A69-BF6E39E228D3}"/>
                </a:ext>
              </a:extLst>
            </p:cNvPr>
            <p:cNvSpPr/>
            <p:nvPr/>
          </p:nvSpPr>
          <p:spPr>
            <a:xfrm>
              <a:off x="5132438" y="3824212"/>
              <a:ext cx="4320000" cy="900000"/>
            </a:xfrm>
            <a:prstGeom prst="rect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pPr>
                <a:spcBef>
                  <a:spcPts val="300"/>
                </a:spcBef>
                <a:spcAft>
                  <a:spcPts val="400"/>
                </a:spcAft>
              </a:pPr>
              <a:r>
                <a:rPr lang="ko-KR" altLang="en-US" sz="1200" b="1" dirty="0">
                  <a:solidFill>
                    <a:schemeClr val="bg1"/>
                  </a:solidFill>
                </a:rPr>
                <a:t>신주 투자 동시 진행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ko-KR" altLang="en-US" sz="1000" dirty="0">
                  <a:solidFill>
                    <a:schemeClr val="bg1"/>
                  </a:solidFill>
                </a:rPr>
                <a:t>안정적인 성장을 위한 신주 투자 동시 진행</a:t>
              </a:r>
              <a:endParaRPr lang="en-US" altLang="ko-KR" sz="1000" dirty="0">
                <a:solidFill>
                  <a:schemeClr val="bg1"/>
                </a:solidFill>
              </a:endParaRPr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A3732C4C-2FA4-02D0-0A6E-C9BA6FE8F4C6}"/>
                </a:ext>
              </a:extLst>
            </p:cNvPr>
            <p:cNvSpPr/>
            <p:nvPr/>
          </p:nvSpPr>
          <p:spPr>
            <a:xfrm rot="5400000">
              <a:off x="4736438" y="4202212"/>
              <a:ext cx="432000" cy="144000"/>
            </a:xfrm>
            <a:prstGeom prst="triangl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A819A82-57F5-B38A-F51B-8A17CD9E36F2}"/>
                </a:ext>
              </a:extLst>
            </p:cNvPr>
            <p:cNvSpPr/>
            <p:nvPr/>
          </p:nvSpPr>
          <p:spPr>
            <a:xfrm>
              <a:off x="452438" y="4832211"/>
              <a:ext cx="4320000" cy="900000"/>
            </a:xfrm>
            <a:prstGeom prst="rect">
              <a:avLst/>
            </a:prstGeom>
            <a:solidFill>
              <a:srgbClr val="E6FDD6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pPr>
                <a:spcBef>
                  <a:spcPts val="300"/>
                </a:spcBef>
                <a:spcAft>
                  <a:spcPts val="400"/>
                </a:spcAft>
              </a:pPr>
              <a:r>
                <a:rPr lang="ko-KR" altLang="en-US" sz="1200" b="1" dirty="0">
                  <a:solidFill>
                    <a:schemeClr val="tx1"/>
                  </a:solidFill>
                </a:rPr>
                <a:t>핵심 인력 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Retention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ko-KR" altLang="en-US" sz="1000" dirty="0">
                  <a:solidFill>
                    <a:schemeClr val="tx1"/>
                  </a:solidFill>
                </a:rPr>
                <a:t>실사를 통한 </a:t>
              </a:r>
              <a:r>
                <a:rPr lang="en-US" altLang="ko-KR" sz="1000" dirty="0">
                  <a:solidFill>
                    <a:schemeClr val="tx1"/>
                  </a:solidFill>
                </a:rPr>
                <a:t>Key-Man 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파악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en-US" altLang="ko-KR" sz="1000" dirty="0">
                  <a:solidFill>
                    <a:schemeClr val="tx1"/>
                  </a:solidFill>
                </a:rPr>
                <a:t>Key-Man Retention </a:t>
              </a:r>
              <a:r>
                <a:rPr lang="ko-KR" altLang="en-US" sz="1000" dirty="0">
                  <a:solidFill>
                    <a:schemeClr val="tx1"/>
                  </a:solidFill>
                </a:rPr>
                <a:t>방안 구축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1E9C0FC-2C60-7D56-BD36-FF0B257767C2}"/>
                </a:ext>
              </a:extLst>
            </p:cNvPr>
            <p:cNvSpPr/>
            <p:nvPr/>
          </p:nvSpPr>
          <p:spPr>
            <a:xfrm>
              <a:off x="5132438" y="4832211"/>
              <a:ext cx="4320000" cy="900000"/>
            </a:xfrm>
            <a:prstGeom prst="rect">
              <a:avLst/>
            </a:prstGeom>
            <a:solidFill>
              <a:srgbClr val="26C260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0" rIns="0" bIns="0" rtlCol="0" anchor="ctr"/>
            <a:lstStyle/>
            <a:p>
              <a:pPr>
                <a:spcBef>
                  <a:spcPts val="300"/>
                </a:spcBef>
                <a:spcAft>
                  <a:spcPts val="400"/>
                </a:spcAft>
              </a:pPr>
              <a:r>
                <a:rPr lang="en-US" altLang="ko-KR" sz="1200" b="1" dirty="0">
                  <a:solidFill>
                    <a:schemeClr val="bg1"/>
                  </a:solidFill>
                </a:rPr>
                <a:t>Key-Man Retention </a:t>
              </a:r>
              <a:r>
                <a:rPr lang="ko-KR" altLang="en-US" sz="1200" b="1" dirty="0">
                  <a:solidFill>
                    <a:schemeClr val="bg1"/>
                  </a:solidFill>
                </a:rPr>
                <a:t>반영</a:t>
              </a:r>
            </a:p>
            <a:p>
              <a:pPr marL="171450" indent="-171450">
                <a:spcBef>
                  <a:spcPts val="300"/>
                </a:spcBef>
                <a:buFont typeface="Wingdings" panose="05000000000000000000" pitchFamily="2" charset="2"/>
                <a:buChar char="ü"/>
              </a:pPr>
              <a:r>
                <a:rPr lang="en-US" altLang="ko-KR" sz="1000" dirty="0">
                  <a:solidFill>
                    <a:schemeClr val="bg1"/>
                  </a:solidFill>
                </a:rPr>
                <a:t>Key-Man</a:t>
              </a:r>
              <a:r>
                <a:rPr lang="ko-KR" altLang="en-US" sz="1000" dirty="0">
                  <a:solidFill>
                    <a:schemeClr val="bg1"/>
                  </a:solidFill>
                </a:rPr>
                <a:t>에 대한 각종 </a:t>
              </a:r>
              <a:r>
                <a:rPr lang="ko-KR" altLang="en-US" sz="1000" dirty="0" err="1">
                  <a:solidFill>
                    <a:schemeClr val="bg1"/>
                  </a:solidFill>
                </a:rPr>
                <a:t>유인책</a:t>
              </a:r>
              <a:r>
                <a:rPr lang="ko-KR" altLang="en-US" sz="1000" dirty="0">
                  <a:solidFill>
                    <a:schemeClr val="bg1"/>
                  </a:solidFill>
                </a:rPr>
                <a:t> 반영</a:t>
              </a:r>
              <a:endParaRPr lang="en-US" altLang="ko-KR" sz="1000" dirty="0">
                <a:solidFill>
                  <a:schemeClr val="bg1"/>
                </a:solidFill>
              </a:endParaRPr>
            </a:p>
          </p:txBody>
        </p:sp>
        <p:sp>
          <p:nvSpPr>
            <p:cNvPr id="18" name="이등변 삼각형 17">
              <a:extLst>
                <a:ext uri="{FF2B5EF4-FFF2-40B4-BE49-F238E27FC236}">
                  <a16:creationId xmlns:a16="http://schemas.microsoft.com/office/drawing/2014/main" id="{FE785694-CE97-F66B-65DB-8DAF208570D8}"/>
                </a:ext>
              </a:extLst>
            </p:cNvPr>
            <p:cNvSpPr/>
            <p:nvPr/>
          </p:nvSpPr>
          <p:spPr>
            <a:xfrm rot="5400000">
              <a:off x="4736438" y="5210211"/>
              <a:ext cx="432000" cy="144000"/>
            </a:xfrm>
            <a:prstGeom prst="triangle">
              <a:avLst/>
            </a:prstGeom>
            <a:solidFill>
              <a:srgbClr val="1C8F5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6460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615065F-A626-BF7F-CF45-71D5C605E1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구주 매입 대상 선정 및 전략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5C398B-0F85-AEF5-FDAA-4AA0912221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D2FFB3-0505-C949-D6CD-FAA4849263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27D201-BCB6-5798-1C89-4E385E599EF4}"/>
              </a:ext>
            </a:extLst>
          </p:cNvPr>
          <p:cNvSpPr/>
          <p:nvPr/>
        </p:nvSpPr>
        <p:spPr>
          <a:xfrm>
            <a:off x="452999" y="1202064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구주 </a:t>
            </a:r>
            <a:r>
              <a:rPr lang="en-US" altLang="ko-KR" sz="1200" b="1" dirty="0">
                <a:solidFill>
                  <a:schemeClr val="bg1"/>
                </a:solidFill>
              </a:rPr>
              <a:t>Class </a:t>
            </a:r>
            <a:r>
              <a:rPr lang="ko-KR" altLang="en-US" sz="1200" b="1" dirty="0">
                <a:solidFill>
                  <a:schemeClr val="bg1"/>
                </a:solidFill>
              </a:rPr>
              <a:t>별 매입 순위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010F66-031F-A2CE-D269-045CDD8FBF83}"/>
              </a:ext>
            </a:extLst>
          </p:cNvPr>
          <p:cNvSpPr/>
          <p:nvPr/>
        </p:nvSpPr>
        <p:spPr>
          <a:xfrm>
            <a:off x="453000" y="1670064"/>
            <a:ext cx="1656000" cy="1800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0" rIns="72000" bIns="252000" rtlCol="0" anchor="t">
            <a:noAutofit/>
          </a:bodyPr>
          <a:lstStyle/>
          <a:p>
            <a:pPr algn="ctr">
              <a:spcBef>
                <a:spcPts val="300"/>
              </a:spcBef>
            </a:pPr>
            <a:r>
              <a:rPr lang="en-US" altLang="ko-KR" sz="1000" dirty="0">
                <a:solidFill>
                  <a:srgbClr val="0F3A32"/>
                </a:solidFill>
              </a:rPr>
              <a:t>1</a:t>
            </a:r>
            <a:r>
              <a:rPr lang="ko-KR" altLang="en-US" sz="1000" dirty="0">
                <a:solidFill>
                  <a:srgbClr val="0F3A32"/>
                </a:solidFill>
              </a:rPr>
              <a:t>순위</a:t>
            </a:r>
            <a:endParaRPr lang="en-US" altLang="ko-KR" sz="1000" dirty="0">
              <a:solidFill>
                <a:srgbClr val="0F3A32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rgbClr val="0F3A32"/>
                </a:solidFill>
              </a:rPr>
              <a:t>시리즈 </a:t>
            </a:r>
            <a:r>
              <a:rPr lang="en-US" altLang="ko-KR" sz="1200" b="1" dirty="0">
                <a:solidFill>
                  <a:srgbClr val="0F3A32"/>
                </a:solidFill>
              </a:rPr>
              <a:t>A</a:t>
            </a:r>
          </a:p>
          <a:p>
            <a:pPr algn="ctr">
              <a:spcBef>
                <a:spcPts val="300"/>
              </a:spcBef>
              <a:spcAft>
                <a:spcPts val="600"/>
              </a:spcAft>
            </a:pPr>
            <a:r>
              <a:rPr lang="en-US" altLang="ko-KR" sz="1000" dirty="0">
                <a:solidFill>
                  <a:srgbClr val="0F3A32"/>
                </a:solidFill>
              </a:rPr>
              <a:t>RCPS</a:t>
            </a:r>
            <a:r>
              <a:rPr lang="ko-KR" altLang="en-US" sz="1000" dirty="0">
                <a:solidFill>
                  <a:srgbClr val="0F3A32"/>
                </a:solidFill>
              </a:rPr>
              <a:t> 및 </a:t>
            </a:r>
            <a:r>
              <a:rPr lang="en-US" altLang="ko-KR" sz="1000" dirty="0">
                <a:solidFill>
                  <a:srgbClr val="0F3A32"/>
                </a:solidFill>
              </a:rPr>
              <a:t>CB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RCPS: </a:t>
            </a:r>
            <a:r>
              <a:rPr lang="ko-KR" altLang="en-US" sz="1000" dirty="0">
                <a:solidFill>
                  <a:schemeClr val="tx1"/>
                </a:solidFill>
              </a:rPr>
              <a:t>상환가능시기 도래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CB: </a:t>
            </a:r>
            <a:r>
              <a:rPr lang="ko-KR" altLang="en-US" sz="1000" dirty="0">
                <a:solidFill>
                  <a:schemeClr val="tx1"/>
                </a:solidFill>
              </a:rPr>
              <a:t>만기도래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135CCD-93D9-9BF3-20C9-D0F2113C2B45}"/>
              </a:ext>
            </a:extLst>
          </p:cNvPr>
          <p:cNvSpPr/>
          <p:nvPr/>
        </p:nvSpPr>
        <p:spPr>
          <a:xfrm>
            <a:off x="2289000" y="1670064"/>
            <a:ext cx="1656000" cy="1800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0" rIns="72000" bIns="0" rtlCol="0" anchor="t"/>
          <a:lstStyle/>
          <a:p>
            <a:pPr algn="ctr">
              <a:spcBef>
                <a:spcPts val="300"/>
              </a:spcBef>
            </a:pPr>
            <a:r>
              <a:rPr lang="en-US" altLang="ko-KR" sz="1000" dirty="0">
                <a:solidFill>
                  <a:srgbClr val="0F3A32"/>
                </a:solidFill>
              </a:rPr>
              <a:t>2</a:t>
            </a:r>
            <a:r>
              <a:rPr lang="ko-KR" altLang="en-US" sz="1000" dirty="0">
                <a:solidFill>
                  <a:srgbClr val="0F3A32"/>
                </a:solidFill>
              </a:rPr>
              <a:t>순위</a:t>
            </a:r>
            <a:endParaRPr lang="en-US" altLang="ko-KR" sz="1000" dirty="0">
              <a:solidFill>
                <a:srgbClr val="0F3A32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rgbClr val="0F3A32"/>
                </a:solidFill>
              </a:rPr>
              <a:t>시리즈 </a:t>
            </a:r>
            <a:r>
              <a:rPr lang="en-US" altLang="ko-KR" sz="1200" b="1" dirty="0">
                <a:solidFill>
                  <a:srgbClr val="0F3A32"/>
                </a:solidFill>
              </a:rPr>
              <a:t>B</a:t>
            </a:r>
          </a:p>
          <a:p>
            <a:pPr algn="ctr">
              <a:spcBef>
                <a:spcPts val="300"/>
              </a:spcBef>
              <a:spcAft>
                <a:spcPts val="600"/>
              </a:spcAft>
            </a:pPr>
            <a:r>
              <a:rPr lang="en-US" altLang="ko-KR" sz="1000" dirty="0">
                <a:solidFill>
                  <a:srgbClr val="0F3A32"/>
                </a:solidFill>
              </a:rPr>
              <a:t>RCPS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RCPS: </a:t>
            </a:r>
            <a:r>
              <a:rPr lang="ko-KR" altLang="en-US" sz="1000" dirty="0">
                <a:solidFill>
                  <a:schemeClr val="tx1"/>
                </a:solidFill>
              </a:rPr>
              <a:t>투자 후 약 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년 경과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7CA1D2-0743-E669-A951-6B07ED7A3F44}"/>
              </a:ext>
            </a:extLst>
          </p:cNvPr>
          <p:cNvSpPr/>
          <p:nvPr/>
        </p:nvSpPr>
        <p:spPr>
          <a:xfrm>
            <a:off x="4125000" y="1670064"/>
            <a:ext cx="1656000" cy="1800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0" rIns="72000" bIns="0" rtlCol="0" anchor="t"/>
          <a:lstStyle/>
          <a:p>
            <a:pPr algn="ctr">
              <a:spcBef>
                <a:spcPts val="300"/>
              </a:spcBef>
            </a:pPr>
            <a:r>
              <a:rPr lang="en-US" altLang="ko-KR" sz="1000" dirty="0">
                <a:solidFill>
                  <a:srgbClr val="0F3A32"/>
                </a:solidFill>
              </a:rPr>
              <a:t>3</a:t>
            </a:r>
            <a:r>
              <a:rPr lang="ko-KR" altLang="en-US" sz="1000" dirty="0">
                <a:solidFill>
                  <a:srgbClr val="0F3A32"/>
                </a:solidFill>
              </a:rPr>
              <a:t>순위</a:t>
            </a:r>
            <a:endParaRPr lang="en-US" altLang="ko-KR" sz="1000" dirty="0">
              <a:solidFill>
                <a:srgbClr val="0F3A32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rgbClr val="0F3A32"/>
                </a:solidFill>
              </a:rPr>
              <a:t>시리즈 </a:t>
            </a:r>
            <a:r>
              <a:rPr lang="en-US" altLang="ko-KR" sz="1200" b="1" dirty="0">
                <a:solidFill>
                  <a:srgbClr val="0F3A32"/>
                </a:solidFill>
              </a:rPr>
              <a:t>C</a:t>
            </a:r>
          </a:p>
          <a:p>
            <a:pPr algn="ctr">
              <a:spcBef>
                <a:spcPts val="300"/>
              </a:spcBef>
              <a:spcAft>
                <a:spcPts val="600"/>
              </a:spcAft>
            </a:pPr>
            <a:r>
              <a:rPr lang="en-US" altLang="ko-KR" sz="1000" dirty="0">
                <a:solidFill>
                  <a:srgbClr val="0F3A32"/>
                </a:solidFill>
              </a:rPr>
              <a:t>RCPS </a:t>
            </a:r>
            <a:r>
              <a:rPr lang="ko-KR" altLang="en-US" sz="1000" dirty="0">
                <a:solidFill>
                  <a:srgbClr val="0F3A32"/>
                </a:solidFill>
              </a:rPr>
              <a:t>및 </a:t>
            </a:r>
            <a:r>
              <a:rPr lang="en-US" altLang="ko-KR" sz="1000" dirty="0">
                <a:solidFill>
                  <a:srgbClr val="0F3A32"/>
                </a:solidFill>
              </a:rPr>
              <a:t>CB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RCPS · CB: 2025</a:t>
            </a:r>
            <a:r>
              <a:rPr lang="ko-KR" altLang="en-US" sz="1000" dirty="0">
                <a:solidFill>
                  <a:schemeClr val="tx1"/>
                </a:solidFill>
              </a:rPr>
              <a:t>년 발행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16829B-E4CF-6E8C-2211-B9C299EEA6B3}"/>
              </a:ext>
            </a:extLst>
          </p:cNvPr>
          <p:cNvSpPr/>
          <p:nvPr/>
        </p:nvSpPr>
        <p:spPr>
          <a:xfrm>
            <a:off x="5961000" y="1670064"/>
            <a:ext cx="1656000" cy="1800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0" rIns="72000" bIns="0" rtlCol="0" anchor="t"/>
          <a:lstStyle/>
          <a:p>
            <a:pPr algn="ctr">
              <a:spcBef>
                <a:spcPts val="300"/>
              </a:spcBef>
            </a:pPr>
            <a:r>
              <a:rPr lang="en-US" altLang="ko-KR" sz="1000" dirty="0">
                <a:solidFill>
                  <a:srgbClr val="0F3A32"/>
                </a:solidFill>
              </a:rPr>
              <a:t>4</a:t>
            </a:r>
            <a:r>
              <a:rPr lang="ko-KR" altLang="en-US" sz="1000" dirty="0">
                <a:solidFill>
                  <a:srgbClr val="0F3A32"/>
                </a:solidFill>
              </a:rPr>
              <a:t>순위</a:t>
            </a:r>
            <a:endParaRPr lang="en-US" altLang="ko-KR" sz="1000" dirty="0">
              <a:solidFill>
                <a:srgbClr val="0F3A32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rgbClr val="0F3A32"/>
                </a:solidFill>
              </a:rPr>
              <a:t>최대주주</a:t>
            </a:r>
            <a:endParaRPr lang="en-US" altLang="ko-KR" sz="1200" b="1" dirty="0">
              <a:solidFill>
                <a:srgbClr val="0F3A32"/>
              </a:solidFill>
            </a:endParaRPr>
          </a:p>
          <a:p>
            <a:pPr algn="ctr">
              <a:spcBef>
                <a:spcPts val="300"/>
              </a:spcBef>
              <a:spcAft>
                <a:spcPts val="600"/>
              </a:spcAft>
            </a:pPr>
            <a:r>
              <a:rPr lang="ko-KR" altLang="en-US" sz="1000" dirty="0" err="1">
                <a:solidFill>
                  <a:srgbClr val="0F3A32"/>
                </a:solidFill>
              </a:rPr>
              <a:t>보통주</a:t>
            </a:r>
            <a:endParaRPr lang="en-US" altLang="ko-KR" sz="1000" dirty="0">
              <a:solidFill>
                <a:srgbClr val="0F3A32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경영권 지분으로 일정부분 매입 필요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0D4C9A-5AE1-F216-007B-C1973C4DE44E}"/>
              </a:ext>
            </a:extLst>
          </p:cNvPr>
          <p:cNvSpPr/>
          <p:nvPr/>
        </p:nvSpPr>
        <p:spPr>
          <a:xfrm>
            <a:off x="7797000" y="1670064"/>
            <a:ext cx="1656000" cy="1800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0" rIns="72000" bIns="0" rtlCol="0" anchor="t"/>
          <a:lstStyle/>
          <a:p>
            <a:pPr algn="ctr">
              <a:spcBef>
                <a:spcPts val="300"/>
              </a:spcBef>
            </a:pPr>
            <a:r>
              <a:rPr lang="en-US" altLang="ko-KR" sz="1000" dirty="0">
                <a:solidFill>
                  <a:srgbClr val="0F3A32"/>
                </a:solidFill>
              </a:rPr>
              <a:t>5</a:t>
            </a:r>
            <a:r>
              <a:rPr lang="ko-KR" altLang="en-US" sz="1000" dirty="0">
                <a:solidFill>
                  <a:srgbClr val="0F3A32"/>
                </a:solidFill>
              </a:rPr>
              <a:t>순위</a:t>
            </a:r>
            <a:endParaRPr lang="en-US" altLang="ko-KR" sz="1000" dirty="0">
              <a:solidFill>
                <a:srgbClr val="0F3A32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ko-KR" altLang="en-US" sz="1200" b="1" dirty="0">
                <a:solidFill>
                  <a:srgbClr val="0F3A32"/>
                </a:solidFill>
              </a:rPr>
              <a:t>시리즈 </a:t>
            </a:r>
            <a:r>
              <a:rPr lang="en-US" altLang="ko-KR" sz="1200" b="1" dirty="0">
                <a:solidFill>
                  <a:srgbClr val="0F3A32"/>
                </a:solidFill>
              </a:rPr>
              <a:t>C · </a:t>
            </a:r>
            <a:r>
              <a:rPr lang="ko-KR" altLang="en-US" sz="1200" b="1" dirty="0">
                <a:solidFill>
                  <a:srgbClr val="0F3A32"/>
                </a:solidFill>
              </a:rPr>
              <a:t>기타주주</a:t>
            </a:r>
            <a:endParaRPr lang="en-US" altLang="ko-KR" sz="1200" b="1" dirty="0">
              <a:solidFill>
                <a:srgbClr val="0F3A32"/>
              </a:solidFill>
            </a:endParaRPr>
          </a:p>
          <a:p>
            <a:pPr algn="ctr">
              <a:spcBef>
                <a:spcPts val="300"/>
              </a:spcBef>
              <a:spcAft>
                <a:spcPts val="600"/>
              </a:spcAft>
            </a:pPr>
            <a:r>
              <a:rPr lang="ko-KR" altLang="en-US" sz="1000" dirty="0" err="1">
                <a:solidFill>
                  <a:srgbClr val="0F3A32"/>
                </a:solidFill>
              </a:rPr>
              <a:t>보통주</a:t>
            </a:r>
            <a:endParaRPr lang="en-US" altLang="ko-KR" sz="1000" dirty="0">
              <a:solidFill>
                <a:srgbClr val="0F3A32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시리즈 </a:t>
            </a:r>
            <a:r>
              <a:rPr lang="en-US" altLang="ko-KR" sz="1000" dirty="0">
                <a:solidFill>
                  <a:schemeClr val="tx1"/>
                </a:solidFill>
              </a:rPr>
              <a:t>C </a:t>
            </a:r>
            <a:r>
              <a:rPr lang="ko-KR" altLang="en-US" sz="1000" dirty="0">
                <a:solidFill>
                  <a:schemeClr val="tx1"/>
                </a:solidFill>
              </a:rPr>
              <a:t>투자자 및 기타주주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임직원 등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의 </a:t>
            </a:r>
            <a:r>
              <a:rPr lang="ko-KR" altLang="en-US" sz="1000" dirty="0" err="1">
                <a:solidFill>
                  <a:schemeClr val="tx1"/>
                </a:solidFill>
              </a:rPr>
              <a:t>보통주</a:t>
            </a:r>
            <a:r>
              <a:rPr lang="ko-KR" altLang="en-US" sz="1000" dirty="0">
                <a:solidFill>
                  <a:schemeClr val="tx1"/>
                </a:solidFill>
              </a:rPr>
              <a:t> 지분은 매입하지 않아도 무방</a:t>
            </a:r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9B1DE127-021A-CE8C-67C3-5A225B6774F5}"/>
              </a:ext>
            </a:extLst>
          </p:cNvPr>
          <p:cNvSpPr/>
          <p:nvPr/>
        </p:nvSpPr>
        <p:spPr>
          <a:xfrm rot="5400000">
            <a:off x="1983000" y="2516064"/>
            <a:ext cx="432000" cy="108000"/>
          </a:xfrm>
          <a:prstGeom prst="triangle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4607BE67-A4A5-C3B9-8632-63BEB4BCAB25}"/>
              </a:ext>
            </a:extLst>
          </p:cNvPr>
          <p:cNvSpPr/>
          <p:nvPr/>
        </p:nvSpPr>
        <p:spPr>
          <a:xfrm rot="5400000">
            <a:off x="3819000" y="2516064"/>
            <a:ext cx="432000" cy="108000"/>
          </a:xfrm>
          <a:prstGeom prst="triangle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7D7F00EB-B53E-92B5-70F3-57B9D0338E7F}"/>
              </a:ext>
            </a:extLst>
          </p:cNvPr>
          <p:cNvSpPr/>
          <p:nvPr/>
        </p:nvSpPr>
        <p:spPr>
          <a:xfrm rot="5400000">
            <a:off x="7491000" y="2516064"/>
            <a:ext cx="432000" cy="108000"/>
          </a:xfrm>
          <a:prstGeom prst="triangle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B4825E1-F0C1-6A83-FDAD-F43B1B242C56}"/>
              </a:ext>
            </a:extLst>
          </p:cNvPr>
          <p:cNvSpPr/>
          <p:nvPr/>
        </p:nvSpPr>
        <p:spPr>
          <a:xfrm>
            <a:off x="452999" y="3860212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>
                <a:solidFill>
                  <a:schemeClr val="bg1"/>
                </a:solidFill>
              </a:rPr>
              <a:t>구주 매입 전략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CDCA753-1382-02A7-77DB-D749FC0F3A8D}"/>
              </a:ext>
            </a:extLst>
          </p:cNvPr>
          <p:cNvSpPr/>
          <p:nvPr/>
        </p:nvSpPr>
        <p:spPr>
          <a:xfrm>
            <a:off x="452999" y="4328212"/>
            <a:ext cx="9000000" cy="1296000"/>
          </a:xfrm>
          <a:prstGeom prst="rect">
            <a:avLst/>
          </a:prstGeom>
          <a:solidFill>
            <a:srgbClr val="26C2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80000" indent="-1800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b="1" dirty="0">
                <a:solidFill>
                  <a:schemeClr val="bg1"/>
                </a:solidFill>
              </a:rPr>
              <a:t>대주주 지분도 동시 인수하는 경우</a:t>
            </a:r>
            <a:r>
              <a:rPr lang="en-US" altLang="ko-KR" sz="1200" b="1" dirty="0">
                <a:solidFill>
                  <a:schemeClr val="bg1"/>
                </a:solidFill>
              </a:rPr>
              <a:t>, 1~3</a:t>
            </a:r>
            <a:r>
              <a:rPr lang="ko-KR" altLang="en-US" sz="1200" b="1" dirty="0">
                <a:solidFill>
                  <a:schemeClr val="bg1"/>
                </a:solidFill>
              </a:rPr>
              <a:t>순위 투자자들은 </a:t>
            </a:r>
            <a:r>
              <a:rPr lang="en-US" altLang="ko-KR" sz="1200" b="1" dirty="0">
                <a:solidFill>
                  <a:schemeClr val="bg1"/>
                </a:solidFill>
              </a:rPr>
              <a:t>Tag-Along </a:t>
            </a:r>
            <a:r>
              <a:rPr lang="ko-KR" altLang="en-US" sz="1200" b="1" dirty="0">
                <a:solidFill>
                  <a:schemeClr val="bg1"/>
                </a:solidFill>
              </a:rPr>
              <a:t>권한으로 동일 단가 매도 가능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</a:p>
          <a:p>
            <a:pPr marL="432000" indent="-252000">
              <a:spcAft>
                <a:spcPts val="600"/>
              </a:spcAft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bg1"/>
                </a:solidFill>
              </a:rPr>
              <a:t>대주주가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동의하는 경우</a:t>
            </a:r>
            <a:r>
              <a:rPr lang="en-US" altLang="ko-KR" sz="1200" b="1" dirty="0">
                <a:solidFill>
                  <a:schemeClr val="bg1"/>
                </a:solidFill>
              </a:rPr>
              <a:t>, 1~3</a:t>
            </a:r>
            <a:r>
              <a:rPr lang="ko-KR" altLang="en-US" sz="1200" b="1" dirty="0">
                <a:solidFill>
                  <a:schemeClr val="bg1"/>
                </a:solidFill>
              </a:rPr>
              <a:t>순위 투자자 지분을 우선 매입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432000" indent="-252000"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bg1"/>
                </a:solidFill>
              </a:rPr>
              <a:t>대주주가 동의하지 않는 경우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대주주 지분 일부와 </a:t>
            </a:r>
            <a:r>
              <a:rPr lang="en-US" altLang="ko-KR" sz="1200" b="1" dirty="0">
                <a:solidFill>
                  <a:schemeClr val="bg1"/>
                </a:solidFill>
              </a:rPr>
              <a:t>CB </a:t>
            </a:r>
            <a:r>
              <a:rPr lang="ko-KR" altLang="en-US" sz="1200" b="1" dirty="0">
                <a:solidFill>
                  <a:schemeClr val="bg1"/>
                </a:solidFill>
              </a:rPr>
              <a:t>전량 </a:t>
            </a:r>
            <a:r>
              <a:rPr lang="en-US" altLang="ko-KR" sz="1200" b="1" dirty="0">
                <a:solidFill>
                  <a:schemeClr val="bg1"/>
                </a:solidFill>
              </a:rPr>
              <a:t>· RCPS </a:t>
            </a:r>
            <a:r>
              <a:rPr lang="ko-KR" altLang="en-US" sz="1200" b="1" dirty="0">
                <a:solidFill>
                  <a:schemeClr val="bg1"/>
                </a:solidFill>
              </a:rPr>
              <a:t>일부 지분을 매입하되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잔여 투자자 지분은 전환우선주로 변경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432000">
              <a:spcAft>
                <a:spcPts val="600"/>
              </a:spcAft>
            </a:pPr>
            <a:r>
              <a:rPr lang="en-US" altLang="ko-KR" sz="1000" dirty="0">
                <a:solidFill>
                  <a:schemeClr val="bg1"/>
                </a:solidFill>
              </a:rPr>
              <a:t>(M&amp;A </a:t>
            </a:r>
            <a:r>
              <a:rPr lang="ko-KR" altLang="en-US" sz="1000" dirty="0">
                <a:solidFill>
                  <a:schemeClr val="bg1"/>
                </a:solidFill>
              </a:rPr>
              <a:t>· 투자업계 </a:t>
            </a:r>
            <a:r>
              <a:rPr lang="en-US" altLang="ko-KR" sz="1000" dirty="0">
                <a:solidFill>
                  <a:schemeClr val="bg1"/>
                </a:solidFill>
              </a:rPr>
              <a:t>Practice</a:t>
            </a:r>
            <a:r>
              <a:rPr lang="ko-KR" altLang="en-US" sz="1000" dirty="0">
                <a:solidFill>
                  <a:schemeClr val="bg1"/>
                </a:solidFill>
              </a:rPr>
              <a:t>로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약 </a:t>
            </a:r>
            <a:r>
              <a:rPr lang="en-US" altLang="ko-KR" sz="1000" dirty="0">
                <a:solidFill>
                  <a:schemeClr val="bg1"/>
                </a:solidFill>
              </a:rPr>
              <a:t>50% </a:t>
            </a:r>
            <a:r>
              <a:rPr lang="ko-KR" altLang="en-US" sz="1000" dirty="0">
                <a:solidFill>
                  <a:schemeClr val="bg1"/>
                </a:solidFill>
              </a:rPr>
              <a:t>매입 시 변경 해주는 경우가 많음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43AA27B-0728-7114-1492-700A818CE8A8}"/>
              </a:ext>
            </a:extLst>
          </p:cNvPr>
          <p:cNvSpPr/>
          <p:nvPr/>
        </p:nvSpPr>
        <p:spPr>
          <a:xfrm>
            <a:off x="381000" y="1598064"/>
            <a:ext cx="5472000" cy="2016000"/>
          </a:xfrm>
          <a:prstGeom prst="rect">
            <a:avLst/>
          </a:prstGeom>
          <a:noFill/>
          <a:ln w="19050">
            <a:solidFill>
              <a:srgbClr val="26C2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63331276-E436-7D75-B19F-2BC7D2E9956F}"/>
              </a:ext>
            </a:extLst>
          </p:cNvPr>
          <p:cNvSpPr/>
          <p:nvPr/>
        </p:nvSpPr>
        <p:spPr>
          <a:xfrm rot="5400000">
            <a:off x="5655000" y="2516064"/>
            <a:ext cx="432000" cy="108000"/>
          </a:xfrm>
          <a:prstGeom prst="triangle">
            <a:avLst/>
          </a:prstGeom>
          <a:solidFill>
            <a:srgbClr val="1C8F5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E5C73C-6DD1-B89C-F954-33EED7F55222}"/>
              </a:ext>
            </a:extLst>
          </p:cNvPr>
          <p:cNvSpPr txBox="1"/>
          <p:nvPr/>
        </p:nvSpPr>
        <p:spPr>
          <a:xfrm>
            <a:off x="2694041" y="3521448"/>
            <a:ext cx="845919" cy="189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72000" tIns="0" rIns="7200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200" b="1" dirty="0">
                <a:solidFill>
                  <a:srgbClr val="1C8F57"/>
                </a:solidFill>
              </a:rPr>
              <a:t>투자자 지분</a:t>
            </a:r>
          </a:p>
        </p:txBody>
      </p:sp>
    </p:spTree>
    <p:extLst>
      <p:ext uri="{BB962C8B-B14F-4D97-AF65-F5344CB8AC3E}">
        <p14:creationId xmlns:p14="http://schemas.microsoft.com/office/powerpoint/2010/main" val="102932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906D8-3005-4A5A-A083-041A15CA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775AE704-7EDC-69B9-F741-0DD88FD7FB08}"/>
              </a:ext>
            </a:extLst>
          </p:cNvPr>
          <p:cNvSpPr/>
          <p:nvPr/>
        </p:nvSpPr>
        <p:spPr>
          <a:xfrm>
            <a:off x="453000" y="4639927"/>
            <a:ext cx="6192000" cy="270000"/>
          </a:xfrm>
          <a:prstGeom prst="rect">
            <a:avLst/>
          </a:prstGeom>
          <a:solidFill>
            <a:srgbClr val="E6FDD6"/>
          </a:solidFill>
          <a:ln w="19050">
            <a:solidFill>
              <a:srgbClr val="1C8F5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2D204C-B5CF-D144-3C39-D905B9A3DE39}"/>
              </a:ext>
            </a:extLst>
          </p:cNvPr>
          <p:cNvSpPr/>
          <p:nvPr/>
        </p:nvSpPr>
        <p:spPr>
          <a:xfrm>
            <a:off x="452999" y="1939832"/>
            <a:ext cx="6192000" cy="2700000"/>
          </a:xfrm>
          <a:prstGeom prst="rect">
            <a:avLst/>
          </a:prstGeom>
          <a:solidFill>
            <a:srgbClr val="E6FDD6"/>
          </a:solidFill>
          <a:ln w="19050">
            <a:solidFill>
              <a:srgbClr val="1C8F5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528BB27-EA70-2D5C-559D-D27A4B15D4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000" y="549275"/>
            <a:ext cx="9000000" cy="430887"/>
          </a:xfrm>
        </p:spPr>
        <p:txBody>
          <a:bodyPr/>
          <a:lstStyle/>
          <a:p>
            <a:r>
              <a:rPr lang="ko-KR" altLang="en-US" dirty="0"/>
              <a:t>매입가액 및 투자금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05791C-FA52-2009-BC23-EFE91F2714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8A7763-33A7-19CA-3F8E-FAFAF8DFEB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893625-8DEA-2A08-7D9C-D3552856B25A}"/>
              </a:ext>
            </a:extLst>
          </p:cNvPr>
          <p:cNvSpPr/>
          <p:nvPr/>
        </p:nvSpPr>
        <p:spPr>
          <a:xfrm>
            <a:off x="452999" y="1202064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시리즈 투자자 보유 구주 매입가액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案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006AFAA-19B9-D908-964C-896E78617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208043"/>
              </p:ext>
            </p:extLst>
          </p:nvPr>
        </p:nvGraphicFramePr>
        <p:xfrm>
          <a:off x="452999" y="1664974"/>
          <a:ext cx="6192001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1">
                  <a:extLst>
                    <a:ext uri="{9D8B030D-6E8A-4147-A177-3AD203B41FA5}">
                      <a16:colId xmlns:a16="http://schemas.microsoft.com/office/drawing/2014/main" val="334672569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364506686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82305783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7948085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4269154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7364346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28370666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78585103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601210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종류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baseline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주주명</a:t>
                      </a:r>
                      <a:endParaRPr lang="ko-KR" altLang="en-US" sz="800" b="1" baseline="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주식수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지분율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대상주식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투자원금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매입가액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매입 </a:t>
                      </a:r>
                      <a:r>
                        <a:rPr lang="en-US" altLang="ko-KR" sz="800" b="1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IRR</a:t>
                      </a:r>
                      <a:endParaRPr lang="ko-KR" altLang="en-US" sz="800" b="1" baseline="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12505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A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RCPS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케이클라비스</a:t>
                      </a:r>
                      <a:r>
                        <a:rPr lang="ko-KR" altLang="en-US" sz="800" b="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메타 </a:t>
                      </a:r>
                      <a:r>
                        <a:rPr lang="ko-KR" altLang="en-US" sz="800" b="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세컨더리펀드</a:t>
                      </a:r>
                      <a:r>
                        <a:rPr lang="ko-KR" altLang="en-US" sz="800" b="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800" b="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제일호</a:t>
                      </a:r>
                      <a:endParaRPr lang="ko-KR" altLang="en-US" sz="800" b="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250,000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7.0%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250,000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1,952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6.0%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76768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CB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케이클라비스</a:t>
                      </a:r>
                      <a:r>
                        <a:rPr lang="ko-KR" altLang="en-US" sz="8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메타 </a:t>
                      </a:r>
                      <a:r>
                        <a:rPr lang="ko-KR" altLang="en-US" sz="800" b="0" kern="120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세컨더리펀드</a:t>
                      </a:r>
                      <a:r>
                        <a:rPr lang="ko-KR" altLang="en-US" sz="8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제일호</a:t>
                      </a:r>
                      <a:endParaRPr lang="ko-KR" altLang="en-US" sz="800" b="0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250,000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7.0%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250,000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1,791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4.0%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85589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B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RCPS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나우</a:t>
                      </a: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K-</a:t>
                      </a:r>
                      <a:r>
                        <a:rPr lang="ko-KR" altLang="en-US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문화</a:t>
                      </a: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M&amp;A</a:t>
                      </a:r>
                      <a:r>
                        <a:rPr lang="ko-KR" altLang="en-US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투자펀드</a:t>
                      </a: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호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405,010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11.3%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405,010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5,400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6,046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6.0%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3004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B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RCPS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퀀텀</a:t>
                      </a:r>
                      <a:r>
                        <a:rPr lang="ko-KR" altLang="en-US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</a:t>
                      </a:r>
                      <a:r>
                        <a:rPr lang="ko-KR" altLang="en-US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호 </a:t>
                      </a:r>
                      <a:r>
                        <a:rPr lang="ko-KR" altLang="en-US" sz="8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딥테크펀드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150,003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4.2%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150,003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2,284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6.0%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93083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B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RCPS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메타세컨더리</a:t>
                      </a:r>
                      <a:r>
                        <a:rPr lang="ko-KR" altLang="en-US" sz="8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kern="120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제이호</a:t>
                      </a:r>
                      <a:r>
                        <a:rPr lang="ko-KR" altLang="en-US" sz="8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사모투자 합자회사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127,503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3.6%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127,503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1,700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1,903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6.0%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68288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B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RCPS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유니온기술금융투자조합</a:t>
                      </a: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호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67,500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1.9%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67,500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900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1,028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6.0%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50189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RCPS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스톤브릿지신성장</a:t>
                      </a: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4.0 </a:t>
                      </a:r>
                      <a:r>
                        <a:rPr lang="ko-KR" altLang="en-US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투자조합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100,000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2.8%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100,000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1,571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6.0%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94933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RCPS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캡스톤</a:t>
                      </a:r>
                      <a:r>
                        <a:rPr lang="ko-KR" altLang="en-US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스케일업 투자조합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66,667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1.9%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66,667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1,039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6.0%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13023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RCPS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스타셋</a:t>
                      </a:r>
                      <a:r>
                        <a:rPr lang="ko-KR" altLang="en-US" sz="8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8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b="0" kern="1200" spc="-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호 창업벤처전문 </a:t>
                      </a:r>
                      <a:r>
                        <a:rPr lang="ko-KR" altLang="en-US" sz="800" b="0" kern="1200" spc="-5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사모투자합자회사</a:t>
                      </a:r>
                      <a:endParaRPr lang="ko-KR" altLang="en-US" sz="800" b="0" kern="1200" spc="-5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33,333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0.9%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33,333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520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6.0%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7908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CB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태광실업</a:t>
                      </a:r>
                      <a:endParaRPr lang="ko-KR" altLang="en-US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100,000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2.8%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100,000</a:t>
                      </a: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1,534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u="none" strike="noStrike" dirty="0">
                          <a:effectLst/>
                        </a:rPr>
                        <a:t>4.0%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44702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최대주주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보통주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이승호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1,384,244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38.7%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16908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시리즈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보통주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나우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K-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문화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M&amp;A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투자펀드</a:t>
                      </a: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호 외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165,346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4.6%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12515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기타주주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보통주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임직원 외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480,750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13.4%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8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baseline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60713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합계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3,580,356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100%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1,550,016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17,500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19,668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46303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026736-98BE-2F38-ABFE-4F095E642992}"/>
              </a:ext>
            </a:extLst>
          </p:cNvPr>
          <p:cNvSpPr/>
          <p:nvPr/>
        </p:nvSpPr>
        <p:spPr>
          <a:xfrm>
            <a:off x="6933563" y="1664974"/>
            <a:ext cx="2520000" cy="1440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</a:pPr>
            <a:r>
              <a:rPr lang="ko-KR" altLang="en-US" sz="1200" b="1" dirty="0">
                <a:solidFill>
                  <a:schemeClr val="tx1"/>
                </a:solidFill>
              </a:rPr>
              <a:t>시리즈 투자자 보유 지분 매입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200" b="1" dirty="0">
                <a:solidFill>
                  <a:schemeClr val="tx1"/>
                </a:solidFill>
              </a:rPr>
              <a:t>거래금액</a:t>
            </a:r>
            <a:r>
              <a:rPr lang="en-US" altLang="ko-KR" sz="1200" b="1" dirty="0">
                <a:solidFill>
                  <a:schemeClr val="tx1"/>
                </a:solidFill>
              </a:rPr>
              <a:t> 196</a:t>
            </a:r>
            <a:r>
              <a:rPr lang="ko-KR" altLang="en-US" sz="1200" b="1" dirty="0">
                <a:solidFill>
                  <a:schemeClr val="tx1"/>
                </a:solidFill>
              </a:rPr>
              <a:t>억원 </a:t>
            </a:r>
            <a:r>
              <a:rPr lang="en-US" altLang="ko-KR" sz="1200" b="1" dirty="0">
                <a:solidFill>
                  <a:schemeClr val="tx1"/>
                </a:solidFill>
              </a:rPr>
              <a:t>/ 43% </a:t>
            </a:r>
            <a:r>
              <a:rPr lang="ko-KR" altLang="en-US" sz="1200" b="1" dirty="0">
                <a:solidFill>
                  <a:schemeClr val="tx1"/>
                </a:solidFill>
              </a:rPr>
              <a:t>지분 확보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시리즈 투자자별 최소 요구수익률 적용 시 </a:t>
            </a:r>
            <a:r>
              <a:rPr lang="en-US" altLang="ko-KR" sz="1000" dirty="0">
                <a:solidFill>
                  <a:schemeClr val="tx1"/>
                </a:solidFill>
              </a:rPr>
              <a:t>196</a:t>
            </a:r>
            <a:r>
              <a:rPr lang="ko-KR" altLang="en-US" sz="1000" dirty="0">
                <a:solidFill>
                  <a:schemeClr val="tx1"/>
                </a:solidFill>
              </a:rPr>
              <a:t>억원 산출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8775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RCPS 6%, CB 4% </a:t>
            </a:r>
            <a:r>
              <a:rPr lang="ko-KR" altLang="en-US" sz="1000" dirty="0">
                <a:solidFill>
                  <a:schemeClr val="tx1"/>
                </a:solidFill>
              </a:rPr>
              <a:t>적용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주당 평균 </a:t>
            </a:r>
            <a:r>
              <a:rPr lang="en-US" altLang="ko-KR" sz="1000" dirty="0">
                <a:solidFill>
                  <a:schemeClr val="tx1"/>
                </a:solidFill>
              </a:rPr>
              <a:t>12,689</a:t>
            </a:r>
            <a:r>
              <a:rPr lang="ko-KR" altLang="en-US" sz="1000" dirty="0">
                <a:solidFill>
                  <a:schemeClr val="tx1"/>
                </a:solidFill>
              </a:rPr>
              <a:t>원 </a:t>
            </a:r>
            <a:r>
              <a:rPr lang="en-US" altLang="ko-KR" sz="1000" dirty="0">
                <a:solidFill>
                  <a:schemeClr val="tx1"/>
                </a:solidFill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</a:rPr>
              <a:t>전체 </a:t>
            </a:r>
            <a:r>
              <a:rPr lang="en-US" altLang="ko-KR" sz="1000" dirty="0">
                <a:solidFill>
                  <a:schemeClr val="tx1"/>
                </a:solidFill>
              </a:rPr>
              <a:t>Vale 454</a:t>
            </a:r>
            <a:r>
              <a:rPr lang="ko-KR" altLang="en-US" sz="1000" dirty="0">
                <a:solidFill>
                  <a:schemeClr val="tx1"/>
                </a:solidFill>
              </a:rPr>
              <a:t>억원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74639DB9-B79A-956E-AEBA-4D97736947E5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6644999" y="2384974"/>
            <a:ext cx="288564" cy="904858"/>
          </a:xfrm>
          <a:prstGeom prst="bentConnector3">
            <a:avLst>
              <a:gd name="adj1" fmla="val 50000"/>
            </a:avLst>
          </a:prstGeom>
          <a:ln w="19050">
            <a:solidFill>
              <a:srgbClr val="1C8F57"/>
            </a:solidFill>
            <a:prstDash val="dash"/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207A06-4EBA-53A4-372C-A33A8425CA5D}"/>
              </a:ext>
            </a:extLst>
          </p:cNvPr>
          <p:cNvSpPr/>
          <p:nvPr/>
        </p:nvSpPr>
        <p:spPr>
          <a:xfrm>
            <a:off x="6933563" y="3221974"/>
            <a:ext cx="2520000" cy="1296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</a:pPr>
            <a:r>
              <a:rPr lang="ko-KR" altLang="en-US" sz="1200" b="1" dirty="0">
                <a:solidFill>
                  <a:schemeClr val="tx1"/>
                </a:solidFill>
              </a:rPr>
              <a:t>대상회사 신주 투자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200" b="1" dirty="0">
                <a:solidFill>
                  <a:schemeClr val="tx1"/>
                </a:solidFill>
              </a:rPr>
              <a:t>투자금액</a:t>
            </a:r>
            <a:r>
              <a:rPr lang="en-US" altLang="ko-KR" sz="1200" b="1" dirty="0">
                <a:solidFill>
                  <a:schemeClr val="tx1"/>
                </a:solidFill>
              </a:rPr>
              <a:t> 30</a:t>
            </a:r>
            <a:r>
              <a:rPr lang="ko-KR" altLang="en-US" sz="1200" b="1" dirty="0">
                <a:solidFill>
                  <a:schemeClr val="tx1"/>
                </a:solidFill>
              </a:rPr>
              <a:t>억원 </a:t>
            </a:r>
            <a:r>
              <a:rPr lang="en-US" altLang="ko-KR" sz="1200" b="1" dirty="0">
                <a:solidFill>
                  <a:schemeClr val="tx1"/>
                </a:solidFill>
              </a:rPr>
              <a:t>/ 6% </a:t>
            </a:r>
            <a:r>
              <a:rPr lang="ko-KR" altLang="en-US" sz="1200" b="1" dirty="0">
                <a:solidFill>
                  <a:schemeClr val="tx1"/>
                </a:solidFill>
              </a:rPr>
              <a:t>추가지분 확보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향후 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년간 영업 </a:t>
            </a:r>
            <a:r>
              <a:rPr lang="en-US" altLang="ko-KR" sz="1000" dirty="0">
                <a:solidFill>
                  <a:schemeClr val="tx1"/>
                </a:solidFill>
              </a:rPr>
              <a:t>Cash</a:t>
            </a:r>
            <a:r>
              <a:rPr lang="ko-KR" altLang="en-US" sz="1000" dirty="0">
                <a:solidFill>
                  <a:schemeClr val="tx1"/>
                </a:solidFill>
              </a:rPr>
              <a:t>를 고려한 신주 투자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358775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Value</a:t>
            </a:r>
            <a:r>
              <a:rPr lang="ko-KR" altLang="en-US" sz="1000" dirty="0">
                <a:solidFill>
                  <a:schemeClr val="tx1"/>
                </a:solidFill>
              </a:rPr>
              <a:t>는 구주 인수금액과 동일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신주 투자로 약 </a:t>
            </a:r>
            <a:r>
              <a:rPr lang="en-US" altLang="ko-KR" sz="1000" dirty="0">
                <a:solidFill>
                  <a:schemeClr val="tx1"/>
                </a:solidFill>
              </a:rPr>
              <a:t>47% </a:t>
            </a:r>
            <a:r>
              <a:rPr lang="ko-KR" altLang="en-US" sz="1000" dirty="0">
                <a:solidFill>
                  <a:schemeClr val="tx1"/>
                </a:solidFill>
              </a:rPr>
              <a:t>지분 확보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9F9094F-D16E-4EBE-D8A2-46AAF20B130D}"/>
              </a:ext>
            </a:extLst>
          </p:cNvPr>
          <p:cNvSpPr/>
          <p:nvPr/>
        </p:nvSpPr>
        <p:spPr>
          <a:xfrm>
            <a:off x="6933563" y="4634974"/>
            <a:ext cx="2520000" cy="1080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</a:pPr>
            <a:r>
              <a:rPr lang="ko-KR" altLang="en-US" sz="1200" b="1" dirty="0">
                <a:solidFill>
                  <a:schemeClr val="tx1"/>
                </a:solidFill>
              </a:rPr>
              <a:t>최대주주 </a:t>
            </a:r>
            <a:r>
              <a:rPr lang="en-US" altLang="ko-KR" sz="1200" b="1" dirty="0">
                <a:solidFill>
                  <a:schemeClr val="tx1"/>
                </a:solidFill>
              </a:rPr>
              <a:t>Call Option</a:t>
            </a:r>
          </a:p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en-US" altLang="ko-KR" sz="1200" b="1" dirty="0">
                <a:solidFill>
                  <a:schemeClr val="tx1"/>
                </a:solidFill>
              </a:rPr>
              <a:t>50</a:t>
            </a:r>
            <a:r>
              <a:rPr lang="ko-KR" altLang="en-US" sz="1200" b="1" dirty="0">
                <a:solidFill>
                  <a:schemeClr val="tx1"/>
                </a:solidFill>
              </a:rPr>
              <a:t>억원 규모 </a:t>
            </a:r>
            <a:r>
              <a:rPr lang="en-US" altLang="ko-KR" sz="1200" b="1" dirty="0">
                <a:solidFill>
                  <a:schemeClr val="tx1"/>
                </a:solidFill>
              </a:rPr>
              <a:t>/ 10% </a:t>
            </a:r>
            <a:r>
              <a:rPr lang="ko-KR" altLang="en-US" sz="1200" b="1" dirty="0">
                <a:solidFill>
                  <a:schemeClr val="tx1"/>
                </a:solidFill>
              </a:rPr>
              <a:t>추가지분 확보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Call Option </a:t>
            </a:r>
            <a:r>
              <a:rPr lang="ko-KR" altLang="en-US" sz="1000" dirty="0">
                <a:solidFill>
                  <a:schemeClr val="tx1"/>
                </a:solidFill>
              </a:rPr>
              <a:t>행사가격은 성과에 따른 차등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최대주주의 본 거래 유인 제공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6B3ECD-A44E-C7A5-ADB5-77CDC7C3C0D4}"/>
              </a:ext>
            </a:extLst>
          </p:cNvPr>
          <p:cNvSpPr txBox="1"/>
          <p:nvPr/>
        </p:nvSpPr>
        <p:spPr>
          <a:xfrm>
            <a:off x="4032226" y="1282842"/>
            <a:ext cx="812773" cy="126445"/>
          </a:xfrm>
          <a:prstGeom prst="rect">
            <a:avLst/>
          </a:prstGeom>
          <a:noFill/>
        </p:spPr>
        <p:txBody>
          <a:bodyPr wrap="none" lIns="0" tIns="0" rIns="108000" bIns="0" rtlCol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주</a:t>
            </a:r>
            <a:r>
              <a:rPr lang="en-US" altLang="ko-KR" sz="800" dirty="0">
                <a:solidFill>
                  <a:schemeClr val="bg1"/>
                </a:solidFill>
              </a:rPr>
              <a:t>, </a:t>
            </a:r>
            <a:r>
              <a:rPr lang="ko-KR" altLang="en-US" sz="800" dirty="0">
                <a:solidFill>
                  <a:schemeClr val="bg1"/>
                </a:solidFill>
              </a:rPr>
              <a:t>백만원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50A5DFF4-35AD-6C39-B798-E707F3F93D47}"/>
              </a:ext>
            </a:extLst>
          </p:cNvPr>
          <p:cNvCxnSpPr>
            <a:cxnSpLocks/>
            <a:stCxn id="28" idx="3"/>
            <a:endCxn id="25" idx="1"/>
          </p:cNvCxnSpPr>
          <p:nvPr/>
        </p:nvCxnSpPr>
        <p:spPr>
          <a:xfrm>
            <a:off x="6645000" y="4774927"/>
            <a:ext cx="288563" cy="400047"/>
          </a:xfrm>
          <a:prstGeom prst="bentConnector3">
            <a:avLst>
              <a:gd name="adj1" fmla="val 50000"/>
            </a:avLst>
          </a:prstGeom>
          <a:ln w="19050">
            <a:solidFill>
              <a:srgbClr val="1C8F57"/>
            </a:solidFill>
            <a:prstDash val="dash"/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5189FDF-F03F-173A-EB08-B3E9533D96CF}"/>
              </a:ext>
            </a:extLst>
          </p:cNvPr>
          <p:cNvGrpSpPr/>
          <p:nvPr/>
        </p:nvGrpSpPr>
        <p:grpSpPr>
          <a:xfrm>
            <a:off x="8050092" y="3020003"/>
            <a:ext cx="286942" cy="286942"/>
            <a:chOff x="4278630" y="-160020"/>
            <a:chExt cx="286942" cy="286942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C299004-6907-4086-E4E6-560D129F2442}"/>
                </a:ext>
              </a:extLst>
            </p:cNvPr>
            <p:cNvSpPr/>
            <p:nvPr/>
          </p:nvSpPr>
          <p:spPr>
            <a:xfrm>
              <a:off x="4278630" y="-160020"/>
              <a:ext cx="286942" cy="286942"/>
            </a:xfrm>
            <a:prstGeom prst="ellipse">
              <a:avLst/>
            </a:prstGeom>
            <a:solidFill>
              <a:srgbClr val="1C8F57"/>
            </a:solidFill>
            <a:ln w="6350">
              <a:solidFill>
                <a:srgbClr val="1C8F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8" name="더하기 기호 37">
              <a:extLst>
                <a:ext uri="{FF2B5EF4-FFF2-40B4-BE49-F238E27FC236}">
                  <a16:creationId xmlns:a16="http://schemas.microsoft.com/office/drawing/2014/main" id="{282EB235-D0E6-6196-7CAC-1D37ABD4F77A}"/>
                </a:ext>
              </a:extLst>
            </p:cNvPr>
            <p:cNvSpPr/>
            <p:nvPr/>
          </p:nvSpPr>
          <p:spPr>
            <a:xfrm>
              <a:off x="4314101" y="-124549"/>
              <a:ext cx="216000" cy="216000"/>
            </a:xfrm>
            <a:prstGeom prst="mathPlus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163F807-6E71-A7F7-88B1-69E7532938B0}"/>
              </a:ext>
            </a:extLst>
          </p:cNvPr>
          <p:cNvGrpSpPr/>
          <p:nvPr/>
        </p:nvGrpSpPr>
        <p:grpSpPr>
          <a:xfrm>
            <a:off x="8050092" y="4433003"/>
            <a:ext cx="286942" cy="286942"/>
            <a:chOff x="4278630" y="-160020"/>
            <a:chExt cx="286942" cy="286942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7347D93-3AB5-A52A-D7EA-9348D0CB4901}"/>
                </a:ext>
              </a:extLst>
            </p:cNvPr>
            <p:cNvSpPr/>
            <p:nvPr/>
          </p:nvSpPr>
          <p:spPr>
            <a:xfrm>
              <a:off x="4278630" y="-160020"/>
              <a:ext cx="286942" cy="286942"/>
            </a:xfrm>
            <a:prstGeom prst="ellipse">
              <a:avLst/>
            </a:prstGeom>
            <a:solidFill>
              <a:srgbClr val="1C8F57"/>
            </a:solidFill>
            <a:ln w="6350">
              <a:solidFill>
                <a:srgbClr val="1C8F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1" name="더하기 기호 40">
              <a:extLst>
                <a:ext uri="{FF2B5EF4-FFF2-40B4-BE49-F238E27FC236}">
                  <a16:creationId xmlns:a16="http://schemas.microsoft.com/office/drawing/2014/main" id="{6277E186-151E-5F78-9BB3-AC2B8AFF0F10}"/>
                </a:ext>
              </a:extLst>
            </p:cNvPr>
            <p:cNvSpPr/>
            <p:nvPr/>
          </p:nvSpPr>
          <p:spPr>
            <a:xfrm>
              <a:off x="4314101" y="-124549"/>
              <a:ext cx="216000" cy="216000"/>
            </a:xfrm>
            <a:prstGeom prst="mathPlus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8873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086E998-29B8-A2C4-6C8B-49FEE17E51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 err="1"/>
              <a:t>주주별</a:t>
            </a:r>
            <a:r>
              <a:rPr lang="ko-KR" altLang="en-US" dirty="0"/>
              <a:t> 거래가액 차등에 따른 </a:t>
            </a:r>
            <a:r>
              <a:rPr lang="ko-KR" altLang="en-US" dirty="0" err="1"/>
              <a:t>법률</a:t>
            </a:r>
            <a:r>
              <a:rPr lang="ko-KR" altLang="en-US" dirty="0" err="1">
                <a:latin typeface="SUITE Heavy" pitchFamily="50" charset="-127"/>
                <a:ea typeface="SUITE Heavy" pitchFamily="50" charset="-127"/>
              </a:rPr>
              <a:t>∙세무</a:t>
            </a:r>
            <a:r>
              <a:rPr lang="ko-KR" altLang="en-US" dirty="0">
                <a:latin typeface="SUITE Heavy" pitchFamily="50" charset="-127"/>
                <a:ea typeface="SUITE Heavy" pitchFamily="50" charset="-127"/>
              </a:rPr>
              <a:t> 의견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665803-4978-7931-6C1B-76618DD883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25717C-DE74-4339-D58E-19319C0785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</a:t>
            </a:fld>
            <a:endParaRPr 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698E347-3CC9-7CED-C9D3-B13B8A450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006562"/>
              </p:ext>
            </p:extLst>
          </p:nvPr>
        </p:nvGraphicFramePr>
        <p:xfrm>
          <a:off x="453000" y="1202064"/>
          <a:ext cx="9000000" cy="3220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643582576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90262212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407163084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결론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세부 의견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9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법률 의견</a:t>
                      </a: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법적인 문제 없음</a:t>
                      </a: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본건과 같은 비상장회사 구주를 ‘특정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인수자’가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매입하는 구조에서는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단가 차등 자체는 자본시장법 규정을 포함한 법률상 직접적으로 문제 되는 경우는 없음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다만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기존 투자자가 ‘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투자조합’인데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조합원 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(=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자연인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법인 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인 이상인 경우에는 그 자체로 자본시장법상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에 해당하여 증권신고서 제출 의무가 발생할 수 있음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단 이는 절차적인 문제이며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이자체로 딜이 중단될 만한 사유에는 해당하지 아니함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).</a:t>
                      </a: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본격적인 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진행시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투자조합인 투자자에 대하여 조합원수가 총합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인이 넘지 않는지 검토가 필요함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37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세무 의견</a:t>
                      </a: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시리즈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투자자보다 저가양도한 투자자는 저가양도한 부분에 대해 기부금으로 의제 될 가능성이 있긴 하나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과세 가능성은 현저히 낮음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유진이엔티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 입장에서는 세무상 이슈 없음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비특수관계인 간의 거래라 하더라도 정당한 사유 없이 시가와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30%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이상 차이 나는 가액으로 거래할 경우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해당 차액은 기부금으로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의제되어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매도인에게 과세될 수 있음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본건은 최근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Series C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발행가보다 낮은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Series A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단가로 거래되므로 저가 양도에 해당한다는 지적을 피하기는 어려움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그러나 본건은 ① 인수자와 기존 투자자가 비특수관계인으로서 이해관계가 일치하지 않는 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②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거래가액이 투자계약상 보장된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IRR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및 상환청구권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행사가액을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반영한 수준인 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③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가격 차등을 두지 않을 경우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M&amp;A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성사 및 투자 회수가 불가능하다는 경영상 불가피성을 종합할 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저가 거래에 대한 정당한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사유소명은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충분히 가능함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대법원 역시 비상장법인 인수 목적 등 합리적 사유가 있는 경우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시가와의 괴리를 인정한 사례가 있음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대법원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2010. 2. 25.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선고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2007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두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9839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판결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).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193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24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E7754-1E4A-C5BD-E044-FFFDD0B2C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C529FF6-80E3-7D1F-07D8-94371F8A0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Key Man Retention </a:t>
            </a:r>
            <a:r>
              <a:rPr lang="ko-KR" altLang="en-US" dirty="0"/>
              <a:t>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6E2D87-9CE3-B31F-5A25-E3E959B838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7A6542-0F57-1C46-7B50-7477C2084C1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</a:t>
            </a:fld>
            <a:endParaRPr 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FBB355C-9637-5E2F-52BC-105BC1ACC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297904"/>
              </p:ext>
            </p:extLst>
          </p:nvPr>
        </p:nvGraphicFramePr>
        <p:xfrm>
          <a:off x="453000" y="1202064"/>
          <a:ext cx="9000000" cy="3411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3643582576"/>
                    </a:ext>
                  </a:extLst>
                </a:gridCol>
                <a:gridCol w="7200000">
                  <a:extLst>
                    <a:ext uri="{9D8B030D-6E8A-4147-A177-3AD203B41FA5}">
                      <a16:colId xmlns:a16="http://schemas.microsoft.com/office/drawing/2014/main" val="407163084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세부 의견</a:t>
                      </a:r>
                    </a:p>
                  </a:txBody>
                  <a:tcPr marL="72000" marR="72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9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최대주주</a:t>
                      </a: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최대주주의 경우 본 거래에 따른 주주간계약 체결을 통해 적정한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Retention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및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Incentive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구조 적용 가능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358775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Call Option -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일정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기간 내 경영성과에 따른 최대주주 보유 지분 매입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단가 조정을 통한 동기부여 가능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358775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경업금지 조항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퇴사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경업 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위약벌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및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또는 손해배상 조항을 통해 제한 가능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37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기타 핵심인력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대법원 판례에 따라 경업금지약정이 존재하더라도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그것이 근로자의 직업선택의 자유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근로권을 과도하게 제한하거나 자유경쟁을 지나치게 제한하면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즉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그에 상응하는 보상이 주어지지 않으면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민법 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 위반으로 무효가 될 수 있음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대법원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2006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마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1303).</a:t>
                      </a: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일반적으로 유효성이 인정되는 경업금지약정도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1-2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수준임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따라서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직원에게 “퇴직 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4~5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경업금지”를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계약만으로 관철하는 것은 국내 판례 흐름상 고위 핵심인력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영업양도 수준이 아닌 이상 무효 가능성이 높음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따라서 아래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개 이상을 결합해 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4~5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년” 효과를 확보해야 할 것임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indent="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M&amp;A Stay Bonus 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근속보너스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) – 12/24/36/48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개월 마일스톤 분할지급</a:t>
                      </a: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근속 및 경업금지 대가임을 명시</a:t>
                      </a: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퇴사 시 전액 환수를 규정하면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근로기준법 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 위반 논란 있음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일정 기간 내 퇴사 시 이를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월할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돌려주기로 한 약정은 유효하다는 대법원 판례 有</a:t>
                      </a: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대상직원이 구주를 보유한 경우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구주 매입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+ Lock-up / Reverse Vesting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으로 바인딩</a:t>
                      </a: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대상직원이 이미 보유한 구주를 매수할 경우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주식양수도계약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(SPA) +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경업금지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비유인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비밀유지 조항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②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퇴사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경업 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위약벌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지급 구조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직업의 자유를 제한하는 개념이 아니라 구주 매입에 대한 거래조건 개념으로 접근</a:t>
                      </a:r>
                    </a:p>
                  </a:txBody>
                  <a:tcPr marL="72000" marR="72000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193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187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AMIC_PETRA">
      <a:dk1>
        <a:srgbClr val="2A2A2A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SUITE Heavy"/>
        <a:ea typeface="SUITE Heavy"/>
        <a:cs typeface=""/>
      </a:majorFont>
      <a:minorFont>
        <a:latin typeface="Pretendard"/>
        <a:ea typeface="Pretendar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F1FF"/>
        </a:solidFill>
        <a:ln w="6350">
          <a:solidFill>
            <a:srgbClr val="6A6A6A"/>
          </a:solidFill>
        </a:ln>
      </a:spPr>
      <a:bodyPr lIns="0" tIns="0" rIns="0" bIns="0" rtlCol="0" anchor="ctr"/>
      <a:lstStyle>
        <a:defPPr algn="ctr"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6A6A6A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31641</TotalTime>
  <Words>1157</Words>
  <Application>Microsoft Office PowerPoint</Application>
  <PresentationFormat>A4 용지(210x297mm)</PresentationFormat>
  <Paragraphs>231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Pretendard</vt:lpstr>
      <vt:lpstr>SUIT Medium</vt:lpstr>
      <vt:lpstr>SUITE Heavy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WooSang</dc:creator>
  <cp:lastModifiedBy>Woosang Jo</cp:lastModifiedBy>
  <cp:revision>696</cp:revision>
  <cp:lastPrinted>2025-12-22T07:04:28Z</cp:lastPrinted>
  <dcterms:created xsi:type="dcterms:W3CDTF">2025-05-07T02:47:43Z</dcterms:created>
  <dcterms:modified xsi:type="dcterms:W3CDTF">2026-01-16T07:15:48Z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2025-05-07T02:47:43Z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98aec3aa-eeb3-4a62-8855-86f648c2b350</vt:lpwstr>
  </property>
  <property fmtid="{D5CDD505-2E9C-101B-9397-08002B2CF9AE}" pid="7" name="MSIP_Label_defa4170-0d19-0005-0004-bc88714345d2_ActionId">
    <vt:lpwstr>32e90476-9ae9-4ff3-95c1-e213571716bc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