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notesMasterIdLst>
    <p:notesMasterId r:id="rId38"/>
  </p:notesMasterIdLst>
  <p:sldIdLst>
    <p:sldId id="288" r:id="rId2"/>
    <p:sldId id="322" r:id="rId3"/>
    <p:sldId id="384" r:id="rId4"/>
    <p:sldId id="396" r:id="rId5"/>
    <p:sldId id="386" r:id="rId6"/>
    <p:sldId id="399" r:id="rId7"/>
    <p:sldId id="401" r:id="rId8"/>
    <p:sldId id="400" r:id="rId9"/>
    <p:sldId id="404" r:id="rId10"/>
    <p:sldId id="405" r:id="rId11"/>
    <p:sldId id="403" r:id="rId12"/>
    <p:sldId id="402" r:id="rId13"/>
    <p:sldId id="387" r:id="rId14"/>
    <p:sldId id="407" r:id="rId15"/>
    <p:sldId id="408" r:id="rId16"/>
    <p:sldId id="422" r:id="rId17"/>
    <p:sldId id="423" r:id="rId18"/>
    <p:sldId id="388" r:id="rId19"/>
    <p:sldId id="409" r:id="rId20"/>
    <p:sldId id="427" r:id="rId21"/>
    <p:sldId id="428" r:id="rId22"/>
    <p:sldId id="429" r:id="rId23"/>
    <p:sldId id="430" r:id="rId24"/>
    <p:sldId id="426" r:id="rId25"/>
    <p:sldId id="389" r:id="rId26"/>
    <p:sldId id="415" r:id="rId27"/>
    <p:sldId id="417" r:id="rId28"/>
    <p:sldId id="416" r:id="rId29"/>
    <p:sldId id="424" r:id="rId30"/>
    <p:sldId id="390" r:id="rId31"/>
    <p:sldId id="425" r:id="rId32"/>
    <p:sldId id="418" r:id="rId33"/>
    <p:sldId id="420" r:id="rId34"/>
    <p:sldId id="391" r:id="rId35"/>
    <p:sldId id="421" r:id="rId36"/>
    <p:sldId id="282" r:id="rId37"/>
  </p:sldIdLst>
  <p:sldSz cx="9906000" cy="6858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1" orient="horz" pos="3634" userDrawn="1">
          <p15:clr>
            <a:srgbClr val="A4A3A4"/>
          </p15:clr>
        </p15:guide>
        <p15:guide id="12" pos="2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F3FF"/>
    <a:srgbClr val="11244A"/>
    <a:srgbClr val="B2DAFF"/>
    <a:srgbClr val="3D3D3D"/>
    <a:srgbClr val="539DFF"/>
    <a:srgbClr val="E0E0E0"/>
    <a:srgbClr val="9B5BFF"/>
    <a:srgbClr val="2A5FA3"/>
    <a:srgbClr val="F25353"/>
    <a:srgbClr val="5CCF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93" autoAdjust="0"/>
    <p:restoredTop sz="97384" autoAdjust="0"/>
  </p:normalViewPr>
  <p:slideViewPr>
    <p:cSldViewPr snapToGrid="0" showGuides="1">
      <p:cViewPr>
        <p:scale>
          <a:sx n="75" d="100"/>
          <a:sy n="75" d="100"/>
        </p:scale>
        <p:origin x="1186" y="638"/>
      </p:cViewPr>
      <p:guideLst>
        <p:guide orient="horz" pos="3634"/>
        <p:guide pos="285"/>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rgbClr val="539DFF"/>
            </a:solidFill>
            <a:ln>
              <a:noFill/>
            </a:ln>
            <a:effectLst/>
          </c:spPr>
          <c:invertIfNegative val="0"/>
          <c:dPt>
            <c:idx val="0"/>
            <c:invertIfNegative val="0"/>
            <c:bubble3D val="0"/>
            <c:spPr>
              <a:solidFill>
                <a:srgbClr val="539DFF"/>
              </a:solidFill>
              <a:ln>
                <a:noFill/>
              </a:ln>
              <a:effectLst/>
            </c:spPr>
            <c:extLst>
              <c:ext xmlns:c16="http://schemas.microsoft.com/office/drawing/2014/chart" uri="{C3380CC4-5D6E-409C-BE32-E72D297353CC}">
                <c16:uniqueId val="{00000003-A025-4025-B7A0-2E9E298B1A9A}"/>
              </c:ext>
            </c:extLst>
          </c:dPt>
          <c:dPt>
            <c:idx val="1"/>
            <c:invertIfNegative val="0"/>
            <c:bubble3D val="0"/>
            <c:spPr>
              <a:solidFill>
                <a:srgbClr val="B2DAFF"/>
              </a:solidFill>
              <a:ln>
                <a:noFill/>
              </a:ln>
              <a:effectLst/>
            </c:spPr>
            <c:extLst>
              <c:ext xmlns:c16="http://schemas.microsoft.com/office/drawing/2014/chart" uri="{C3380CC4-5D6E-409C-BE32-E72D297353CC}">
                <c16:uniqueId val="{00000002-4085-415E-8155-08C661CC2390}"/>
              </c:ext>
            </c:extLst>
          </c:dPt>
          <c:dPt>
            <c:idx val="2"/>
            <c:invertIfNegative val="0"/>
            <c:bubble3D val="0"/>
            <c:spPr>
              <a:solidFill>
                <a:srgbClr val="B2DAFF"/>
              </a:solidFill>
              <a:ln>
                <a:noFill/>
              </a:ln>
              <a:effectLst/>
            </c:spPr>
            <c:extLst>
              <c:ext xmlns:c16="http://schemas.microsoft.com/office/drawing/2014/chart" uri="{C3380CC4-5D6E-409C-BE32-E72D297353CC}">
                <c16:uniqueId val="{00000003-4085-415E-8155-08C661CC2390}"/>
              </c:ext>
            </c:extLst>
          </c:dPt>
          <c:dPt>
            <c:idx val="3"/>
            <c:invertIfNegative val="0"/>
            <c:bubble3D val="0"/>
            <c:spPr>
              <a:solidFill>
                <a:srgbClr val="B2DAFF"/>
              </a:solidFill>
              <a:ln>
                <a:noFill/>
              </a:ln>
              <a:effectLst/>
            </c:spPr>
            <c:extLst>
              <c:ext xmlns:c16="http://schemas.microsoft.com/office/drawing/2014/chart" uri="{C3380CC4-5D6E-409C-BE32-E72D297353CC}">
                <c16:uniqueId val="{00000004-4085-415E-8155-08C661CC2390}"/>
              </c:ext>
            </c:extLst>
          </c:dPt>
          <c:dPt>
            <c:idx val="4"/>
            <c:invertIfNegative val="0"/>
            <c:bubble3D val="0"/>
            <c:spPr>
              <a:solidFill>
                <a:srgbClr val="E6F3FF"/>
              </a:solidFill>
              <a:ln>
                <a:noFill/>
              </a:ln>
              <a:effectLst/>
            </c:spPr>
            <c:extLst>
              <c:ext xmlns:c16="http://schemas.microsoft.com/office/drawing/2014/chart" uri="{C3380CC4-5D6E-409C-BE32-E72D297353CC}">
                <c16:uniqueId val="{00000005-4085-415E-8155-08C661CC2390}"/>
              </c:ext>
            </c:extLst>
          </c:dPt>
          <c:dPt>
            <c:idx val="5"/>
            <c:invertIfNegative val="0"/>
            <c:bubble3D val="0"/>
            <c:spPr>
              <a:solidFill>
                <a:srgbClr val="E6F3FF"/>
              </a:solidFill>
              <a:ln>
                <a:noFill/>
              </a:ln>
              <a:effectLst/>
            </c:spPr>
            <c:extLst>
              <c:ext xmlns:c16="http://schemas.microsoft.com/office/drawing/2014/chart" uri="{C3380CC4-5D6E-409C-BE32-E72D297353CC}">
                <c16:uniqueId val="{00000006-4085-415E-8155-08C661CC2390}"/>
              </c:ext>
            </c:extLst>
          </c:dPt>
          <c:dLbls>
            <c:dLbl>
              <c:idx val="0"/>
              <c:tx>
                <c:rich>
                  <a:bodyPr/>
                  <a:lstStyle/>
                  <a:p>
                    <a:r>
                      <a:rPr lang="en-US" altLang="ko-KR" dirty="0"/>
                      <a:t>$40M</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025-4025-B7A0-2E9E298B1A9A}"/>
                </c:ext>
              </c:extLst>
            </c:dLbl>
            <c:numFmt formatCode="&quot;$&quot;0.0&quot;B&quot;" sourceLinked="0"/>
            <c:spPr>
              <a:solidFill>
                <a:schemeClr val="bg1"/>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K Bio</c:v>
                </c:pt>
                <c:pt idx="1">
                  <c:v>89bio</c:v>
                </c:pt>
                <c:pt idx="2">
                  <c:v>Viking</c:v>
                </c:pt>
                <c:pt idx="3">
                  <c:v>Akero</c:v>
                </c:pt>
                <c:pt idx="4">
                  <c:v>CG Oncology</c:v>
                </c:pt>
                <c:pt idx="5">
                  <c:v>Arrowhead</c:v>
                </c:pt>
              </c:strCache>
            </c:strRef>
          </c:cat>
          <c:val>
            <c:numRef>
              <c:f>Sheet1!$B$2:$B$7</c:f>
              <c:numCache>
                <c:formatCode>#,##0.0;\(#,##0.0\);"-"</c:formatCode>
                <c:ptCount val="6"/>
                <c:pt idx="0">
                  <c:v>0.04</c:v>
                </c:pt>
                <c:pt idx="1">
                  <c:v>2.4</c:v>
                </c:pt>
                <c:pt idx="2">
                  <c:v>2.7</c:v>
                </c:pt>
                <c:pt idx="3">
                  <c:v>3.4</c:v>
                </c:pt>
                <c:pt idx="4">
                  <c:v>2</c:v>
                </c:pt>
                <c:pt idx="5">
                  <c:v>2.4</c:v>
                </c:pt>
              </c:numCache>
            </c:numRef>
          </c:val>
          <c:extLst>
            <c:ext xmlns:c16="http://schemas.microsoft.com/office/drawing/2014/chart" uri="{C3380CC4-5D6E-409C-BE32-E72D297353CC}">
              <c16:uniqueId val="{00000000-A025-4025-B7A0-2E9E298B1A9A}"/>
            </c:ext>
          </c:extLst>
        </c:ser>
        <c:dLbls>
          <c:showLegendKey val="0"/>
          <c:showVal val="0"/>
          <c:showCatName val="0"/>
          <c:showSerName val="0"/>
          <c:showPercent val="0"/>
          <c:showBubbleSize val="0"/>
        </c:dLbls>
        <c:gapWidth val="100"/>
        <c:axId val="1856228191"/>
        <c:axId val="732886111"/>
      </c:barChart>
      <c:catAx>
        <c:axId val="1856228191"/>
        <c:scaling>
          <c:orientation val="minMax"/>
        </c:scaling>
        <c:delete val="0"/>
        <c:axPos val="b"/>
        <c:numFmt formatCode="General" sourceLinked="1"/>
        <c:majorTickMark val="none"/>
        <c:minorTickMark val="none"/>
        <c:tickLblPos val="nextTo"/>
        <c:spPr>
          <a:noFill/>
          <a:ln w="9525" cap="flat" cmpd="sng" algn="ctr">
            <a:solidFill>
              <a:srgbClr val="3D3D3D"/>
            </a:solidFill>
            <a:round/>
          </a:ln>
          <a:effectLst/>
        </c:spPr>
        <c:txPr>
          <a:bodyPr rot="-60000000" spcFirstLastPara="1" vertOverflow="ellipsis" vert="horz" wrap="square" anchor="ctr" anchorCtr="1"/>
          <a:lstStyle/>
          <a:p>
            <a:pPr>
              <a:defRPr sz="1000" b="1" i="0" u="none" strike="noStrike" kern="1200" baseline="0">
                <a:solidFill>
                  <a:srgbClr val="3D3D3D"/>
                </a:solidFill>
                <a:latin typeface="+mn-lt"/>
                <a:ea typeface="+mn-ea"/>
                <a:cs typeface="+mn-cs"/>
              </a:defRPr>
            </a:pPr>
            <a:endParaRPr lang="ko-KR"/>
          </a:p>
        </c:txPr>
        <c:crossAx val="732886111"/>
        <c:crosses val="autoZero"/>
        <c:auto val="1"/>
        <c:lblAlgn val="ctr"/>
        <c:lblOffset val="100"/>
        <c:noMultiLvlLbl val="0"/>
      </c:catAx>
      <c:valAx>
        <c:axId val="732886111"/>
        <c:scaling>
          <c:orientation val="minMax"/>
          <c:max val="4"/>
          <c:min val="0"/>
        </c:scaling>
        <c:delete val="0"/>
        <c:axPos val="l"/>
        <c:numFmt formatCode="#,##0.0;\(#,##0.0\);&quot;-&quot;"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ko-KR"/>
          </a:p>
        </c:txPr>
        <c:crossAx val="18562281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accent1"/>
            </a:solidFill>
            <a:ln>
              <a:noFill/>
            </a:ln>
            <a:effectLst/>
          </c:spPr>
          <c:invertIfNegative val="0"/>
          <c:dPt>
            <c:idx val="0"/>
            <c:invertIfNegative val="0"/>
            <c:bubble3D val="0"/>
            <c:spPr>
              <a:solidFill>
                <a:srgbClr val="B2DAFF"/>
              </a:solidFill>
              <a:ln>
                <a:noFill/>
              </a:ln>
              <a:effectLst/>
            </c:spPr>
            <c:extLst>
              <c:ext xmlns:c16="http://schemas.microsoft.com/office/drawing/2014/chart" uri="{C3380CC4-5D6E-409C-BE32-E72D297353CC}">
                <c16:uniqueId val="{00000003-E583-4766-AED6-1597BF069A73}"/>
              </c:ext>
            </c:extLst>
          </c:dPt>
          <c:dPt>
            <c:idx val="1"/>
            <c:invertIfNegative val="0"/>
            <c:bubble3D val="0"/>
            <c:spPr>
              <a:solidFill>
                <a:srgbClr val="539DFF"/>
              </a:solidFill>
              <a:ln>
                <a:noFill/>
              </a:ln>
              <a:effectLst/>
            </c:spPr>
            <c:extLst>
              <c:ext xmlns:c16="http://schemas.microsoft.com/office/drawing/2014/chart" uri="{C3380CC4-5D6E-409C-BE32-E72D297353CC}">
                <c16:uniqueId val="{00000004-E583-4766-AED6-1597BF069A73}"/>
              </c:ext>
            </c:extLst>
          </c:dPt>
          <c:dLbls>
            <c:numFmt formatCode="&quot;$&quot;0.0&quot;B&quot;"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3D3D3D"/>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2024</c:v>
                </c:pt>
                <c:pt idx="1">
                  <c:v>2035</c:v>
                </c:pt>
              </c:numCache>
            </c:numRef>
          </c:cat>
          <c:val>
            <c:numRef>
              <c:f>Sheet1!$B$2:$B$3</c:f>
              <c:numCache>
                <c:formatCode>General</c:formatCode>
                <c:ptCount val="2"/>
                <c:pt idx="0">
                  <c:v>2.6</c:v>
                </c:pt>
                <c:pt idx="1">
                  <c:v>21.3</c:v>
                </c:pt>
              </c:numCache>
            </c:numRef>
          </c:val>
          <c:extLst>
            <c:ext xmlns:c16="http://schemas.microsoft.com/office/drawing/2014/chart" uri="{C3380CC4-5D6E-409C-BE32-E72D297353CC}">
              <c16:uniqueId val="{00000000-E583-4766-AED6-1597BF069A73}"/>
            </c:ext>
          </c:extLst>
        </c:ser>
        <c:dLbls>
          <c:showLegendKey val="0"/>
          <c:showVal val="0"/>
          <c:showCatName val="0"/>
          <c:showSerName val="0"/>
          <c:showPercent val="0"/>
          <c:showBubbleSize val="0"/>
        </c:dLbls>
        <c:gapWidth val="100"/>
        <c:overlap val="-27"/>
        <c:axId val="1606916720"/>
        <c:axId val="1606915280"/>
      </c:barChart>
      <c:catAx>
        <c:axId val="1606916720"/>
        <c:scaling>
          <c:orientation val="minMax"/>
        </c:scaling>
        <c:delete val="0"/>
        <c:axPos val="b"/>
        <c:numFmt formatCode="General" sourceLinked="1"/>
        <c:majorTickMark val="none"/>
        <c:minorTickMark val="none"/>
        <c:tickLblPos val="nextTo"/>
        <c:spPr>
          <a:noFill/>
          <a:ln w="9525" cap="flat" cmpd="sng" algn="ctr">
            <a:solidFill>
              <a:srgbClr val="3D3D3D"/>
            </a:solidFill>
            <a:round/>
          </a:ln>
          <a:effectLst/>
        </c:spPr>
        <c:txPr>
          <a:bodyPr rot="-60000000" spcFirstLastPara="1" vertOverflow="ellipsis" vert="horz" wrap="square" anchor="ctr" anchorCtr="1"/>
          <a:lstStyle/>
          <a:p>
            <a:pPr>
              <a:defRPr sz="1000" b="1" i="0" u="none" strike="noStrike" kern="1200" baseline="0">
                <a:solidFill>
                  <a:srgbClr val="3D3D3D"/>
                </a:solidFill>
                <a:latin typeface="+mn-lt"/>
                <a:ea typeface="+mn-ea"/>
                <a:cs typeface="+mn-cs"/>
              </a:defRPr>
            </a:pPr>
            <a:endParaRPr lang="ko-KR"/>
          </a:p>
        </c:txPr>
        <c:crossAx val="1606915280"/>
        <c:crosses val="autoZero"/>
        <c:auto val="1"/>
        <c:lblAlgn val="ctr"/>
        <c:lblOffset val="100"/>
        <c:noMultiLvlLbl val="0"/>
      </c:catAx>
      <c:valAx>
        <c:axId val="16069152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ko-KR"/>
          </a:p>
        </c:txPr>
        <c:crossAx val="16069167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accent1"/>
            </a:solidFill>
            <a:ln>
              <a:noFill/>
            </a:ln>
            <a:effectLst/>
          </c:spPr>
          <c:invertIfNegative val="0"/>
          <c:dPt>
            <c:idx val="0"/>
            <c:invertIfNegative val="0"/>
            <c:bubble3D val="0"/>
            <c:spPr>
              <a:solidFill>
                <a:srgbClr val="B2DAFF"/>
              </a:solidFill>
              <a:ln>
                <a:noFill/>
              </a:ln>
              <a:effectLst/>
            </c:spPr>
            <c:extLst>
              <c:ext xmlns:c16="http://schemas.microsoft.com/office/drawing/2014/chart" uri="{C3380CC4-5D6E-409C-BE32-E72D297353CC}">
                <c16:uniqueId val="{00000001-F0F0-4CDA-AB83-FE4FD351E995}"/>
              </c:ext>
            </c:extLst>
          </c:dPt>
          <c:dPt>
            <c:idx val="1"/>
            <c:invertIfNegative val="0"/>
            <c:bubble3D val="0"/>
            <c:spPr>
              <a:solidFill>
                <a:srgbClr val="539DFF"/>
              </a:solidFill>
              <a:ln>
                <a:noFill/>
              </a:ln>
              <a:effectLst/>
            </c:spPr>
            <c:extLst>
              <c:ext xmlns:c16="http://schemas.microsoft.com/office/drawing/2014/chart" uri="{C3380CC4-5D6E-409C-BE32-E72D297353CC}">
                <c16:uniqueId val="{00000003-F0F0-4CDA-AB83-FE4FD351E995}"/>
              </c:ext>
            </c:extLst>
          </c:dPt>
          <c:dLbls>
            <c:numFmt formatCode="&quot;$&quot;0.0&quot;B&quot;"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3D3D3D"/>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2024</c:v>
                </c:pt>
                <c:pt idx="1">
                  <c:v>2035</c:v>
                </c:pt>
              </c:numCache>
            </c:numRef>
          </c:cat>
          <c:val>
            <c:numRef>
              <c:f>Sheet1!$B$2:$B$3</c:f>
              <c:numCache>
                <c:formatCode>General</c:formatCode>
                <c:ptCount val="2"/>
                <c:pt idx="0">
                  <c:v>2.8</c:v>
                </c:pt>
                <c:pt idx="1">
                  <c:v>6.8</c:v>
                </c:pt>
              </c:numCache>
            </c:numRef>
          </c:val>
          <c:extLst>
            <c:ext xmlns:c16="http://schemas.microsoft.com/office/drawing/2014/chart" uri="{C3380CC4-5D6E-409C-BE32-E72D297353CC}">
              <c16:uniqueId val="{00000004-F0F0-4CDA-AB83-FE4FD351E995}"/>
            </c:ext>
          </c:extLst>
        </c:ser>
        <c:dLbls>
          <c:showLegendKey val="0"/>
          <c:showVal val="0"/>
          <c:showCatName val="0"/>
          <c:showSerName val="0"/>
          <c:showPercent val="0"/>
          <c:showBubbleSize val="0"/>
        </c:dLbls>
        <c:gapWidth val="100"/>
        <c:overlap val="-27"/>
        <c:axId val="1606916720"/>
        <c:axId val="1606915280"/>
      </c:barChart>
      <c:catAx>
        <c:axId val="1606916720"/>
        <c:scaling>
          <c:orientation val="minMax"/>
        </c:scaling>
        <c:delete val="0"/>
        <c:axPos val="b"/>
        <c:numFmt formatCode="General" sourceLinked="1"/>
        <c:majorTickMark val="none"/>
        <c:minorTickMark val="none"/>
        <c:tickLblPos val="nextTo"/>
        <c:spPr>
          <a:noFill/>
          <a:ln w="9525" cap="flat" cmpd="sng" algn="ctr">
            <a:solidFill>
              <a:srgbClr val="3D3D3D"/>
            </a:solidFill>
            <a:round/>
          </a:ln>
          <a:effectLst/>
        </c:spPr>
        <c:txPr>
          <a:bodyPr rot="-60000000" spcFirstLastPara="1" vertOverflow="ellipsis" vert="horz" wrap="square" anchor="ctr" anchorCtr="1"/>
          <a:lstStyle/>
          <a:p>
            <a:pPr>
              <a:defRPr sz="1000" b="1" i="0" u="none" strike="noStrike" kern="1200" baseline="0">
                <a:solidFill>
                  <a:srgbClr val="3D3D3D"/>
                </a:solidFill>
                <a:latin typeface="+mn-lt"/>
                <a:ea typeface="+mn-ea"/>
                <a:cs typeface="+mn-cs"/>
              </a:defRPr>
            </a:pPr>
            <a:endParaRPr lang="ko-KR"/>
          </a:p>
        </c:txPr>
        <c:crossAx val="1606915280"/>
        <c:crosses val="autoZero"/>
        <c:auto val="1"/>
        <c:lblAlgn val="ctr"/>
        <c:lblOffset val="100"/>
        <c:noMultiLvlLbl val="0"/>
      </c:catAx>
      <c:valAx>
        <c:axId val="16069152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ko-KR"/>
          </a:p>
        </c:txPr>
        <c:crossAx val="16069167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accent1"/>
            </a:solidFill>
            <a:ln>
              <a:noFill/>
            </a:ln>
            <a:effectLst/>
          </c:spPr>
          <c:invertIfNegative val="0"/>
          <c:dPt>
            <c:idx val="0"/>
            <c:invertIfNegative val="0"/>
            <c:bubble3D val="0"/>
            <c:spPr>
              <a:solidFill>
                <a:srgbClr val="B2DAFF"/>
              </a:solidFill>
              <a:ln>
                <a:noFill/>
              </a:ln>
              <a:effectLst/>
            </c:spPr>
            <c:extLst>
              <c:ext xmlns:c16="http://schemas.microsoft.com/office/drawing/2014/chart" uri="{C3380CC4-5D6E-409C-BE32-E72D297353CC}">
                <c16:uniqueId val="{00000001-E277-4C03-82ED-7C92ACDFFCE0}"/>
              </c:ext>
            </c:extLst>
          </c:dPt>
          <c:dPt>
            <c:idx val="1"/>
            <c:invertIfNegative val="0"/>
            <c:bubble3D val="0"/>
            <c:spPr>
              <a:solidFill>
                <a:srgbClr val="539DFF"/>
              </a:solidFill>
              <a:ln>
                <a:noFill/>
              </a:ln>
              <a:effectLst/>
            </c:spPr>
            <c:extLst>
              <c:ext xmlns:c16="http://schemas.microsoft.com/office/drawing/2014/chart" uri="{C3380CC4-5D6E-409C-BE32-E72D297353CC}">
                <c16:uniqueId val="{00000003-E277-4C03-82ED-7C92ACDFFCE0}"/>
              </c:ext>
            </c:extLst>
          </c:dPt>
          <c:dLbls>
            <c:numFmt formatCode="&quot;$&quot;0.0&quot;B&quot;"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3D3D3D"/>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2024</c:v>
                </c:pt>
                <c:pt idx="1">
                  <c:v>2034</c:v>
                </c:pt>
              </c:numCache>
            </c:numRef>
          </c:cat>
          <c:val>
            <c:numRef>
              <c:f>Sheet1!$B$2:$B$3</c:f>
              <c:numCache>
                <c:formatCode>General</c:formatCode>
                <c:ptCount val="2"/>
                <c:pt idx="0">
                  <c:v>2.5</c:v>
                </c:pt>
                <c:pt idx="1">
                  <c:v>4.0999999999999996</c:v>
                </c:pt>
              </c:numCache>
            </c:numRef>
          </c:val>
          <c:extLst>
            <c:ext xmlns:c16="http://schemas.microsoft.com/office/drawing/2014/chart" uri="{C3380CC4-5D6E-409C-BE32-E72D297353CC}">
              <c16:uniqueId val="{00000004-E277-4C03-82ED-7C92ACDFFCE0}"/>
            </c:ext>
          </c:extLst>
        </c:ser>
        <c:dLbls>
          <c:showLegendKey val="0"/>
          <c:showVal val="0"/>
          <c:showCatName val="0"/>
          <c:showSerName val="0"/>
          <c:showPercent val="0"/>
          <c:showBubbleSize val="0"/>
        </c:dLbls>
        <c:gapWidth val="100"/>
        <c:overlap val="-27"/>
        <c:axId val="1606916720"/>
        <c:axId val="1606915280"/>
      </c:barChart>
      <c:catAx>
        <c:axId val="1606916720"/>
        <c:scaling>
          <c:orientation val="minMax"/>
        </c:scaling>
        <c:delete val="0"/>
        <c:axPos val="b"/>
        <c:numFmt formatCode="General" sourceLinked="1"/>
        <c:majorTickMark val="none"/>
        <c:minorTickMark val="none"/>
        <c:tickLblPos val="nextTo"/>
        <c:spPr>
          <a:noFill/>
          <a:ln w="9525" cap="flat" cmpd="sng" algn="ctr">
            <a:solidFill>
              <a:srgbClr val="3D3D3D"/>
            </a:solidFill>
            <a:round/>
          </a:ln>
          <a:effectLst/>
        </c:spPr>
        <c:txPr>
          <a:bodyPr rot="-60000000" spcFirstLastPara="1" vertOverflow="ellipsis" vert="horz" wrap="square" anchor="ctr" anchorCtr="1"/>
          <a:lstStyle/>
          <a:p>
            <a:pPr>
              <a:defRPr sz="1000" b="1" i="0" u="none" strike="noStrike" kern="1200" baseline="0">
                <a:solidFill>
                  <a:srgbClr val="3D3D3D"/>
                </a:solidFill>
                <a:latin typeface="+mn-lt"/>
                <a:ea typeface="+mn-ea"/>
                <a:cs typeface="+mn-cs"/>
              </a:defRPr>
            </a:pPr>
            <a:endParaRPr lang="ko-KR"/>
          </a:p>
        </c:txPr>
        <c:crossAx val="1606915280"/>
        <c:crosses val="autoZero"/>
        <c:auto val="1"/>
        <c:lblAlgn val="ctr"/>
        <c:lblOffset val="100"/>
        <c:noMultiLvlLbl val="0"/>
      </c:catAx>
      <c:valAx>
        <c:axId val="16069152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ko-KR"/>
          </a:p>
        </c:txPr>
        <c:crossAx val="16069167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accent1"/>
            </a:solidFill>
            <a:ln>
              <a:noFill/>
            </a:ln>
            <a:effectLst/>
          </c:spPr>
          <c:invertIfNegative val="0"/>
          <c:dPt>
            <c:idx val="0"/>
            <c:invertIfNegative val="0"/>
            <c:bubble3D val="0"/>
            <c:spPr>
              <a:solidFill>
                <a:srgbClr val="B2DAFF"/>
              </a:solidFill>
              <a:ln>
                <a:noFill/>
              </a:ln>
              <a:effectLst/>
            </c:spPr>
            <c:extLst>
              <c:ext xmlns:c16="http://schemas.microsoft.com/office/drawing/2014/chart" uri="{C3380CC4-5D6E-409C-BE32-E72D297353CC}">
                <c16:uniqueId val="{00000001-3892-4FB8-BF5C-DAC703EACA50}"/>
              </c:ext>
            </c:extLst>
          </c:dPt>
          <c:dPt>
            <c:idx val="1"/>
            <c:invertIfNegative val="0"/>
            <c:bubble3D val="0"/>
            <c:spPr>
              <a:solidFill>
                <a:srgbClr val="539DFF"/>
              </a:solidFill>
              <a:ln>
                <a:noFill/>
              </a:ln>
              <a:effectLst/>
            </c:spPr>
            <c:extLst>
              <c:ext xmlns:c16="http://schemas.microsoft.com/office/drawing/2014/chart" uri="{C3380CC4-5D6E-409C-BE32-E72D297353CC}">
                <c16:uniqueId val="{00000003-3892-4FB8-BF5C-DAC703EACA50}"/>
              </c:ext>
            </c:extLst>
          </c:dPt>
          <c:dLbls>
            <c:numFmt formatCode="&quot;$&quot;0.0&quot;B&quot;"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3D3D3D"/>
                    </a:solidFill>
                    <a:latin typeface="+mn-lt"/>
                    <a:ea typeface="+mn-ea"/>
                    <a:cs typeface="+mn-cs"/>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c:f>
              <c:numCache>
                <c:formatCode>General</c:formatCode>
                <c:ptCount val="2"/>
                <c:pt idx="0">
                  <c:v>2024</c:v>
                </c:pt>
                <c:pt idx="1">
                  <c:v>2030</c:v>
                </c:pt>
              </c:numCache>
            </c:numRef>
          </c:cat>
          <c:val>
            <c:numRef>
              <c:f>Sheet1!$B$2:$B$3</c:f>
              <c:numCache>
                <c:formatCode>General</c:formatCode>
                <c:ptCount val="2"/>
                <c:pt idx="0">
                  <c:v>5.2</c:v>
                </c:pt>
                <c:pt idx="1">
                  <c:v>13.6</c:v>
                </c:pt>
              </c:numCache>
            </c:numRef>
          </c:val>
          <c:extLst>
            <c:ext xmlns:c16="http://schemas.microsoft.com/office/drawing/2014/chart" uri="{C3380CC4-5D6E-409C-BE32-E72D297353CC}">
              <c16:uniqueId val="{00000004-3892-4FB8-BF5C-DAC703EACA50}"/>
            </c:ext>
          </c:extLst>
        </c:ser>
        <c:dLbls>
          <c:showLegendKey val="0"/>
          <c:showVal val="0"/>
          <c:showCatName val="0"/>
          <c:showSerName val="0"/>
          <c:showPercent val="0"/>
          <c:showBubbleSize val="0"/>
        </c:dLbls>
        <c:gapWidth val="100"/>
        <c:overlap val="-27"/>
        <c:axId val="1606916720"/>
        <c:axId val="1606915280"/>
      </c:barChart>
      <c:catAx>
        <c:axId val="1606916720"/>
        <c:scaling>
          <c:orientation val="minMax"/>
        </c:scaling>
        <c:delete val="0"/>
        <c:axPos val="b"/>
        <c:numFmt formatCode="General" sourceLinked="1"/>
        <c:majorTickMark val="none"/>
        <c:minorTickMark val="none"/>
        <c:tickLblPos val="nextTo"/>
        <c:spPr>
          <a:noFill/>
          <a:ln w="9525" cap="flat" cmpd="sng" algn="ctr">
            <a:solidFill>
              <a:srgbClr val="3D3D3D"/>
            </a:solidFill>
            <a:round/>
          </a:ln>
          <a:effectLst/>
        </c:spPr>
        <c:txPr>
          <a:bodyPr rot="-60000000" spcFirstLastPara="1" vertOverflow="ellipsis" vert="horz" wrap="square" anchor="ctr" anchorCtr="1"/>
          <a:lstStyle/>
          <a:p>
            <a:pPr>
              <a:defRPr sz="1000" b="1" i="0" u="none" strike="noStrike" kern="1200" baseline="0">
                <a:solidFill>
                  <a:srgbClr val="3D3D3D"/>
                </a:solidFill>
                <a:latin typeface="+mn-lt"/>
                <a:ea typeface="+mn-ea"/>
                <a:cs typeface="+mn-cs"/>
              </a:defRPr>
            </a:pPr>
            <a:endParaRPr lang="ko-KR"/>
          </a:p>
        </c:txPr>
        <c:crossAx val="1606915280"/>
        <c:crosses val="autoZero"/>
        <c:auto val="1"/>
        <c:lblAlgn val="ctr"/>
        <c:lblOffset val="100"/>
        <c:noMultiLvlLbl val="0"/>
      </c:catAx>
      <c:valAx>
        <c:axId val="16069152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ko-KR"/>
          </a:p>
        </c:txPr>
        <c:crossAx val="16069167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4317BD4-412C-4036-BA3A-F77995BB0B9D}" type="datetimeFigureOut">
              <a:rPr lang="ko-KR" altLang="en-US" smtClean="0"/>
              <a:t>2025-12-07</a:t>
            </a:fld>
            <a:endParaRPr lang="ko-KR" altLang="en-US"/>
          </a:p>
        </p:txBody>
      </p:sp>
      <p:sp>
        <p:nvSpPr>
          <p:cNvPr id="4" name="슬라이드 이미지 개체 틀 3"/>
          <p:cNvSpPr>
            <a:spLocks noGrp="1" noRot="1" noChangeAspect="1"/>
          </p:cNvSpPr>
          <p:nvPr>
            <p:ph type="sldImg" idx="2"/>
          </p:nvPr>
        </p:nvSpPr>
        <p:spPr>
          <a:xfrm>
            <a:off x="981075" y="1241425"/>
            <a:ext cx="4835525" cy="334962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724B846C-C851-40D6-90BA-1F97CB71F599}" type="slidenum">
              <a:rPr lang="ko-KR" altLang="en-US" smtClean="0"/>
              <a:t>‹#›</a:t>
            </a:fld>
            <a:endParaRPr lang="ko-KR" altLang="en-US"/>
          </a:p>
        </p:txBody>
      </p:sp>
    </p:spTree>
    <p:extLst>
      <p:ext uri="{BB962C8B-B14F-4D97-AF65-F5344CB8AC3E}">
        <p14:creationId xmlns:p14="http://schemas.microsoft.com/office/powerpoint/2010/main" val="100179389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6386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PJT">
    <p:bg>
      <p:bgPr>
        <a:gradFill>
          <a:gsLst>
            <a:gs pos="0">
              <a:srgbClr val="11244A"/>
            </a:gs>
            <a:gs pos="50000">
              <a:srgbClr val="0D1B3D"/>
            </a:gs>
            <a:gs pos="100000">
              <a:srgbClr val="080F28"/>
            </a:gs>
          </a:gsLst>
          <a:lin ang="5400000" scaled="1"/>
        </a:gradFill>
        <a:effectLst/>
      </p:bgPr>
    </p:bg>
    <p:spTree>
      <p:nvGrpSpPr>
        <p:cNvPr id="1" name=""/>
        <p:cNvGrpSpPr/>
        <p:nvPr/>
      </p:nvGrpSpPr>
      <p:grpSpPr>
        <a:xfrm>
          <a:off x="0" y="0"/>
          <a:ext cx="0" cy="0"/>
          <a:chOff x="0" y="0"/>
          <a:chExt cx="0" cy="0"/>
        </a:xfrm>
      </p:grpSpPr>
      <p:pic>
        <p:nvPicPr>
          <p:cNvPr id="10" name="그림 9" descr="현미경, 과학 기기, 광학 기기, 실내이(가) 표시된 사진&#10;&#10;AI 생성 콘텐츠는 정확하지 않을 수 있습니다.">
            <a:extLst>
              <a:ext uri="{FF2B5EF4-FFF2-40B4-BE49-F238E27FC236}">
                <a16:creationId xmlns:a16="http://schemas.microsoft.com/office/drawing/2014/main" id="{04091529-FF9A-E26E-443D-9F3CFE9857AD}"/>
              </a:ext>
            </a:extLst>
          </p:cNvPr>
          <p:cNvPicPr>
            <a:picLocks noChangeAspect="1"/>
          </p:cNvPicPr>
          <p:nvPr userDrawn="1"/>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3" name="텍스트 개체 틀 5">
            <a:extLst>
              <a:ext uri="{FF2B5EF4-FFF2-40B4-BE49-F238E27FC236}">
                <a16:creationId xmlns:a16="http://schemas.microsoft.com/office/drawing/2014/main" id="{BCEDB82C-5CDE-3824-9E20-37C9C040C2E8}"/>
              </a:ext>
            </a:extLst>
          </p:cNvPr>
          <p:cNvSpPr>
            <a:spLocks noGrp="1"/>
          </p:cNvSpPr>
          <p:nvPr userDrawn="1">
            <p:ph type="body" sz="quarter" idx="10" hasCustomPrompt="1"/>
          </p:nvPr>
        </p:nvSpPr>
        <p:spPr>
          <a:xfrm>
            <a:off x="453000" y="1557273"/>
            <a:ext cx="4500000" cy="1538883"/>
          </a:xfrm>
          <a:prstGeom prst="rect">
            <a:avLst/>
          </a:prstGeom>
        </p:spPr>
        <p:txBody>
          <a:bodyPr wrap="square" lIns="0" tIns="0" rIns="0" bIns="0" anchor="t">
            <a:spAutoFit/>
          </a:bodyPr>
          <a:lstStyle>
            <a:lvl1pPr marL="0" indent="0">
              <a:lnSpc>
                <a:spcPts val="6000"/>
              </a:lnSpc>
              <a:spcBef>
                <a:spcPts val="0"/>
              </a:spcBef>
              <a:buNone/>
              <a:defRPr sz="6000" baseline="0">
                <a:solidFill>
                  <a:schemeClr val="bg1"/>
                </a:solidFill>
                <a:latin typeface="+mj-lt"/>
                <a:ea typeface="+mj-ea"/>
              </a:defRPr>
            </a:lvl1pPr>
          </a:lstStyle>
          <a:p>
            <a:pPr lvl="0"/>
            <a:r>
              <a:rPr lang="en-US" altLang="ko-KR" dirty="0"/>
              <a:t>PROJECT NAME</a:t>
            </a:r>
            <a:endParaRPr lang="ko-KR" altLang="en-US" dirty="0"/>
          </a:p>
        </p:txBody>
      </p:sp>
      <p:sp>
        <p:nvSpPr>
          <p:cNvPr id="4" name="텍스트 개체 틀 5">
            <a:extLst>
              <a:ext uri="{FF2B5EF4-FFF2-40B4-BE49-F238E27FC236}">
                <a16:creationId xmlns:a16="http://schemas.microsoft.com/office/drawing/2014/main" id="{10A51583-5D5A-9874-1C67-A37B491F3581}"/>
              </a:ext>
            </a:extLst>
          </p:cNvPr>
          <p:cNvSpPr>
            <a:spLocks noGrp="1"/>
          </p:cNvSpPr>
          <p:nvPr userDrawn="1">
            <p:ph type="body" sz="quarter" idx="11" hasCustomPrompt="1"/>
          </p:nvPr>
        </p:nvSpPr>
        <p:spPr>
          <a:xfrm>
            <a:off x="452999" y="3393271"/>
            <a:ext cx="4499999" cy="230832"/>
          </a:xfrm>
          <a:prstGeom prst="rect">
            <a:avLst/>
          </a:prstGeom>
        </p:spPr>
        <p:txBody>
          <a:bodyPr wrap="square" lIns="0" tIns="0" rIns="0" bIns="0" anchor="t">
            <a:noAutofit/>
          </a:bodyPr>
          <a:lstStyle>
            <a:lvl1pPr marL="0" indent="0">
              <a:lnSpc>
                <a:spcPts val="1800"/>
              </a:lnSpc>
              <a:spcBef>
                <a:spcPts val="0"/>
              </a:spcBef>
              <a:buNone/>
              <a:defRPr sz="1800" b="1" baseline="0">
                <a:solidFill>
                  <a:schemeClr val="bg1"/>
                </a:solidFill>
                <a:latin typeface="Outfit" pitchFamily="2" charset="0"/>
              </a:defRPr>
            </a:lvl1pPr>
          </a:lstStyle>
          <a:p>
            <a:pPr lvl="0"/>
            <a:r>
              <a:rPr lang="en-US" altLang="ko-KR" dirty="0"/>
              <a:t>DOCUMENT TITLE</a:t>
            </a:r>
            <a:endParaRPr lang="ko-KR" altLang="en-US" dirty="0"/>
          </a:p>
        </p:txBody>
      </p:sp>
      <p:sp>
        <p:nvSpPr>
          <p:cNvPr id="13" name="텍스트 개체 틀 5">
            <a:extLst>
              <a:ext uri="{FF2B5EF4-FFF2-40B4-BE49-F238E27FC236}">
                <a16:creationId xmlns:a16="http://schemas.microsoft.com/office/drawing/2014/main" id="{1D2C79E0-29D0-555B-FD05-AECECFE3E325}"/>
              </a:ext>
            </a:extLst>
          </p:cNvPr>
          <p:cNvSpPr>
            <a:spLocks noGrp="1"/>
          </p:cNvSpPr>
          <p:nvPr userDrawn="1">
            <p:ph type="body" sz="quarter" idx="12" hasCustomPrompt="1"/>
          </p:nvPr>
        </p:nvSpPr>
        <p:spPr>
          <a:xfrm>
            <a:off x="452999" y="5663661"/>
            <a:ext cx="4499999" cy="141064"/>
          </a:xfrm>
          <a:prstGeom prst="rect">
            <a:avLst/>
          </a:prstGeom>
        </p:spPr>
        <p:txBody>
          <a:bodyPr wrap="square" lIns="0" tIns="0" rIns="0" bIns="0" anchor="t">
            <a:spAutoFit/>
          </a:bodyPr>
          <a:lstStyle>
            <a:lvl1pPr marL="0" indent="0">
              <a:lnSpc>
                <a:spcPts val="1100"/>
              </a:lnSpc>
              <a:spcBef>
                <a:spcPts val="0"/>
              </a:spcBef>
              <a:buNone/>
              <a:defRPr sz="1100" baseline="0">
                <a:solidFill>
                  <a:schemeClr val="bg1"/>
                </a:solidFill>
                <a:latin typeface="Outfit" pitchFamily="2" charset="0"/>
              </a:defRPr>
            </a:lvl1pPr>
          </a:lstStyle>
          <a:p>
            <a:pPr lvl="0"/>
            <a:r>
              <a:rPr lang="en-US" altLang="ko-KR" dirty="0"/>
              <a:t>Other notes if needed</a:t>
            </a:r>
            <a:endParaRPr lang="ko-KR" altLang="en-US" dirty="0"/>
          </a:p>
        </p:txBody>
      </p:sp>
      <p:sp>
        <p:nvSpPr>
          <p:cNvPr id="14" name="텍스트 개체 틀 5">
            <a:extLst>
              <a:ext uri="{FF2B5EF4-FFF2-40B4-BE49-F238E27FC236}">
                <a16:creationId xmlns:a16="http://schemas.microsoft.com/office/drawing/2014/main" id="{9D59C383-36D9-B176-223D-926B9E6F479A}"/>
              </a:ext>
            </a:extLst>
          </p:cNvPr>
          <p:cNvSpPr>
            <a:spLocks noGrp="1"/>
          </p:cNvSpPr>
          <p:nvPr userDrawn="1">
            <p:ph type="body" sz="quarter" idx="13" hasCustomPrompt="1"/>
          </p:nvPr>
        </p:nvSpPr>
        <p:spPr>
          <a:xfrm>
            <a:off x="452999" y="3666439"/>
            <a:ext cx="4499999" cy="230832"/>
          </a:xfrm>
          <a:prstGeom prst="rect">
            <a:avLst/>
          </a:prstGeom>
        </p:spPr>
        <p:txBody>
          <a:bodyPr wrap="square" lIns="0" tIns="0" rIns="0" bIns="0" anchor="t">
            <a:noAutofit/>
          </a:bodyPr>
          <a:lstStyle>
            <a:lvl1pPr marL="0" indent="0">
              <a:lnSpc>
                <a:spcPts val="1800"/>
              </a:lnSpc>
              <a:spcBef>
                <a:spcPts val="0"/>
              </a:spcBef>
              <a:buNone/>
              <a:defRPr sz="1800" baseline="0">
                <a:solidFill>
                  <a:schemeClr val="bg1"/>
                </a:solidFill>
                <a:latin typeface="Outfit Medium" pitchFamily="2" charset="0"/>
              </a:defRPr>
            </a:lvl1pPr>
          </a:lstStyle>
          <a:p>
            <a:pPr lvl="0"/>
            <a:r>
              <a:rPr lang="en-US" altLang="ko-KR" dirty="0"/>
              <a:t>Month Year</a:t>
            </a:r>
            <a:endParaRPr lang="ko-KR" altLang="en-US" dirty="0"/>
          </a:p>
        </p:txBody>
      </p:sp>
    </p:spTree>
    <p:extLst>
      <p:ext uri="{BB962C8B-B14F-4D97-AF65-F5344CB8AC3E}">
        <p14:creationId xmlns:p14="http://schemas.microsoft.com/office/powerpoint/2010/main" val="942275017"/>
      </p:ext>
    </p:extLst>
  </p:cSld>
  <p:clrMapOvr>
    <a:masterClrMapping/>
  </p:clrMapOvr>
  <p:extLst>
    <p:ext uri="{DCECCB84-F9BA-43D5-87BE-67443E8EF086}">
      <p15:sldGuideLst xmlns:p15="http://schemas.microsoft.com/office/powerpoint/2012/main">
        <p15:guide id="1"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p:spTree>
      <p:nvGrpSpPr>
        <p:cNvPr id="1" name=""/>
        <p:cNvGrpSpPr/>
        <p:nvPr/>
      </p:nvGrpSpPr>
      <p:grpSpPr>
        <a:xfrm>
          <a:off x="0" y="0"/>
          <a:ext cx="0" cy="0"/>
          <a:chOff x="0" y="0"/>
          <a:chExt cx="0" cy="0"/>
        </a:xfrm>
      </p:grpSpPr>
      <p:sp>
        <p:nvSpPr>
          <p:cNvPr id="3" name="텍스트 개체 틀 6">
            <a:extLst>
              <a:ext uri="{FF2B5EF4-FFF2-40B4-BE49-F238E27FC236}">
                <a16:creationId xmlns:a16="http://schemas.microsoft.com/office/drawing/2014/main" id="{0B4FD9E0-5AC5-F0E3-DE1A-246AD9F4CC7E}"/>
              </a:ext>
            </a:extLst>
          </p:cNvPr>
          <p:cNvSpPr>
            <a:spLocks noGrp="1"/>
          </p:cNvSpPr>
          <p:nvPr>
            <p:ph type="body" sz="quarter" idx="11" hasCustomPrompt="1"/>
          </p:nvPr>
        </p:nvSpPr>
        <p:spPr>
          <a:xfrm>
            <a:off x="453000" y="549275"/>
            <a:ext cx="9000000" cy="430887"/>
          </a:xfrm>
          <a:prstGeom prst="rect">
            <a:avLst/>
          </a:prstGeom>
        </p:spPr>
        <p:txBody>
          <a:bodyPr lIns="0" tIns="0" rIns="0" bIns="0">
            <a:noAutofit/>
          </a:bodyPr>
          <a:lstStyle>
            <a:lvl1pPr marL="0" indent="0">
              <a:lnSpc>
                <a:spcPct val="100000"/>
              </a:lnSpc>
              <a:spcBef>
                <a:spcPts val="0"/>
              </a:spcBef>
              <a:buNone/>
              <a:defRPr sz="1600" baseline="0">
                <a:solidFill>
                  <a:srgbClr val="3D3D3D"/>
                </a:solidFill>
                <a:latin typeface="+mj-lt"/>
                <a:ea typeface="+mj-ea"/>
              </a:defRPr>
            </a:lvl1pPr>
          </a:lstStyle>
          <a:p>
            <a:pPr lvl="0"/>
            <a:r>
              <a:rPr lang="en-US" altLang="ko-KR" dirty="0"/>
              <a:t>Page Title</a:t>
            </a:r>
            <a:endParaRPr lang="ko-KR" altLang="en-US" dirty="0"/>
          </a:p>
        </p:txBody>
      </p:sp>
      <p:sp>
        <p:nvSpPr>
          <p:cNvPr id="7" name="텍스트 개체 틀 12">
            <a:extLst>
              <a:ext uri="{FF2B5EF4-FFF2-40B4-BE49-F238E27FC236}">
                <a16:creationId xmlns:a16="http://schemas.microsoft.com/office/drawing/2014/main" id="{1BE9C345-FBCC-E1A7-EB5D-A1BCA98A6A32}"/>
              </a:ext>
            </a:extLst>
          </p:cNvPr>
          <p:cNvSpPr>
            <a:spLocks noGrp="1"/>
          </p:cNvSpPr>
          <p:nvPr>
            <p:ph type="body" sz="quarter" idx="12" hasCustomPrompt="1"/>
          </p:nvPr>
        </p:nvSpPr>
        <p:spPr>
          <a:xfrm>
            <a:off x="1712999" y="6020725"/>
            <a:ext cx="7092000" cy="288000"/>
          </a:xfrm>
          <a:prstGeom prst="rect">
            <a:avLst/>
          </a:prstGeom>
        </p:spPr>
        <p:txBody>
          <a:bodyPr wrap="square" lIns="0" tIns="0" rIns="0" bIns="0" anchor="ctr">
            <a:noAutofit/>
          </a:bodyPr>
          <a:lstStyle>
            <a:lvl1pPr marL="0" indent="0">
              <a:buNone/>
              <a:defRPr sz="800">
                <a:solidFill>
                  <a:srgbClr val="A2AECF"/>
                </a:solidFill>
              </a:defRPr>
            </a:lvl1pPr>
            <a:lvl5pPr>
              <a:defRPr/>
            </a:lvl5pPr>
          </a:lstStyle>
          <a:p>
            <a:pPr lvl="0"/>
            <a:r>
              <a:rPr lang="en-US" altLang="ko-KR" dirty="0"/>
              <a:t>Footnote Box</a:t>
            </a:r>
            <a:endParaRPr lang="ko-KR" altLang="en-US" dirty="0"/>
          </a:p>
        </p:txBody>
      </p:sp>
      <p:grpSp>
        <p:nvGrpSpPr>
          <p:cNvPr id="10" name="그룹 9">
            <a:extLst>
              <a:ext uri="{FF2B5EF4-FFF2-40B4-BE49-F238E27FC236}">
                <a16:creationId xmlns:a16="http://schemas.microsoft.com/office/drawing/2014/main" id="{20EEF51B-712E-FB61-E81C-47A644460F67}"/>
              </a:ext>
            </a:extLst>
          </p:cNvPr>
          <p:cNvGrpSpPr/>
          <p:nvPr userDrawn="1"/>
        </p:nvGrpSpPr>
        <p:grpSpPr>
          <a:xfrm>
            <a:off x="8982184" y="6056725"/>
            <a:ext cx="152853" cy="216000"/>
            <a:chOff x="11025858" y="6056725"/>
            <a:chExt cx="152853" cy="216000"/>
          </a:xfrm>
        </p:grpSpPr>
        <p:sp>
          <p:nvSpPr>
            <p:cNvPr id="5" name="TextBox 4">
              <a:extLst>
                <a:ext uri="{FF2B5EF4-FFF2-40B4-BE49-F238E27FC236}">
                  <a16:creationId xmlns:a16="http://schemas.microsoft.com/office/drawing/2014/main" id="{07625B83-7EB8-D2A5-0B70-8C84B20FFD9C}"/>
                </a:ext>
              </a:extLst>
            </p:cNvPr>
            <p:cNvSpPr txBox="1"/>
            <p:nvPr userDrawn="1"/>
          </p:nvSpPr>
          <p:spPr>
            <a:xfrm>
              <a:off x="11025858" y="6087781"/>
              <a:ext cx="152853" cy="153888"/>
            </a:xfrm>
            <a:prstGeom prst="rect">
              <a:avLst/>
            </a:prstGeom>
            <a:noFill/>
          </p:spPr>
          <p:txBody>
            <a:bodyPr wrap="none" lIns="0" tIns="0" rIns="72000" bIns="0" rtlCol="0" anchor="ctr">
              <a:spAutoFit/>
            </a:bodyPr>
            <a:lstStyle/>
            <a:p>
              <a:pPr algn="l"/>
              <a:r>
                <a:rPr lang="en-US" altLang="ko-KR" sz="1000" b="1" dirty="0">
                  <a:solidFill>
                    <a:srgbClr val="11244A"/>
                  </a:solidFill>
                  <a:latin typeface="Pretendard" panose="02000503000000020004" pitchFamily="50" charset="-127"/>
                  <a:ea typeface="Pretendard" panose="02000503000000020004" pitchFamily="50" charset="-127"/>
                  <a:cs typeface="Pretendard" panose="02000503000000020004" pitchFamily="50" charset="-127"/>
                </a:rPr>
                <a:t>P</a:t>
              </a:r>
              <a:endParaRPr lang="ko-KR" altLang="en-US" sz="1000" b="1" dirty="0">
                <a:solidFill>
                  <a:srgbClr val="11244A"/>
                </a:solidFill>
                <a:latin typeface="Pretendard" panose="02000503000000020004" pitchFamily="50" charset="-127"/>
                <a:ea typeface="Pretendard" panose="02000503000000020004" pitchFamily="50" charset="-127"/>
                <a:cs typeface="Pretendard" panose="02000503000000020004" pitchFamily="50" charset="-127"/>
              </a:endParaRPr>
            </a:p>
          </p:txBody>
        </p:sp>
        <p:cxnSp>
          <p:nvCxnSpPr>
            <p:cNvPr id="6" name="직선 연결선 5">
              <a:extLst>
                <a:ext uri="{FF2B5EF4-FFF2-40B4-BE49-F238E27FC236}">
                  <a16:creationId xmlns:a16="http://schemas.microsoft.com/office/drawing/2014/main" id="{B4A5E917-85BF-9F05-0D16-AFDC22952A2E}"/>
                </a:ext>
              </a:extLst>
            </p:cNvPr>
            <p:cNvCxnSpPr>
              <a:cxnSpLocks/>
            </p:cNvCxnSpPr>
            <p:nvPr userDrawn="1"/>
          </p:nvCxnSpPr>
          <p:spPr>
            <a:xfrm>
              <a:off x="11178711" y="6056725"/>
              <a:ext cx="0" cy="216000"/>
            </a:xfrm>
            <a:prstGeom prst="line">
              <a:avLst/>
            </a:prstGeom>
            <a:ln w="12700">
              <a:solidFill>
                <a:srgbClr val="539DFF"/>
              </a:solidFill>
            </a:ln>
          </p:spPr>
          <p:style>
            <a:lnRef idx="2">
              <a:schemeClr val="accent1"/>
            </a:lnRef>
            <a:fillRef idx="0">
              <a:schemeClr val="accent1"/>
            </a:fillRef>
            <a:effectRef idx="1">
              <a:schemeClr val="accent1"/>
            </a:effectRef>
            <a:fontRef idx="minor">
              <a:schemeClr val="tx1"/>
            </a:fontRef>
          </p:style>
        </p:cxnSp>
      </p:grpSp>
      <p:sp>
        <p:nvSpPr>
          <p:cNvPr id="11" name="슬라이드 번호 개체 틀 5">
            <a:extLst>
              <a:ext uri="{FF2B5EF4-FFF2-40B4-BE49-F238E27FC236}">
                <a16:creationId xmlns:a16="http://schemas.microsoft.com/office/drawing/2014/main" id="{EBACC888-D2EC-7094-B366-60B6782248E2}"/>
              </a:ext>
            </a:extLst>
          </p:cNvPr>
          <p:cNvSpPr>
            <a:spLocks noGrp="1"/>
          </p:cNvSpPr>
          <p:nvPr>
            <p:ph type="sldNum" sz="quarter" idx="13"/>
          </p:nvPr>
        </p:nvSpPr>
        <p:spPr>
          <a:xfrm>
            <a:off x="9135037" y="6087781"/>
            <a:ext cx="330040" cy="153888"/>
          </a:xfrm>
          <a:prstGeom prst="rect">
            <a:avLst/>
          </a:prstGeom>
        </p:spPr>
        <p:txBody>
          <a:bodyPr vert="horz" wrap="square" lIns="72000" tIns="0" rIns="0" bIns="0" rtlCol="0" anchor="ctr">
            <a:spAutoFit/>
          </a:bodyPr>
          <a:lstStyle>
            <a:lvl1pPr>
              <a:defRPr lang="ko-KR" altLang="en-US" sz="1000" b="1" smtClean="0">
                <a:solidFill>
                  <a:srgbClr val="11244A"/>
                </a:solidFill>
              </a:defRPr>
            </a:lvl1pPr>
          </a:lstStyle>
          <a:p>
            <a:fld id="{C053318C-A610-4AA5-9FF7-26630BAA1E31}" type="slidenum">
              <a:rPr lang="en-US" altLang="ko-KR" smtClean="0"/>
              <a:pPr/>
              <a:t>‹#›</a:t>
            </a:fld>
            <a:endParaRPr lang="en-US" dirty="0"/>
          </a:p>
        </p:txBody>
      </p:sp>
      <p:pic>
        <p:nvPicPr>
          <p:cNvPr id="2" name="그래픽 1">
            <a:extLst>
              <a:ext uri="{FF2B5EF4-FFF2-40B4-BE49-F238E27FC236}">
                <a16:creationId xmlns:a16="http://schemas.microsoft.com/office/drawing/2014/main" id="{8D21EC67-E132-8AA9-31FB-DD573A2652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2999" y="6088112"/>
            <a:ext cx="1152000" cy="153226"/>
          </a:xfrm>
          <a:prstGeom prst="rect">
            <a:avLst/>
          </a:prstGeom>
        </p:spPr>
      </p:pic>
    </p:spTree>
    <p:extLst>
      <p:ext uri="{BB962C8B-B14F-4D97-AF65-F5344CB8AC3E}">
        <p14:creationId xmlns:p14="http://schemas.microsoft.com/office/powerpoint/2010/main" val="1460859161"/>
      </p:ext>
    </p:extLst>
  </p:cSld>
  <p:clrMapOvr>
    <a:masterClrMapping/>
  </p:clrMapOvr>
  <p:hf hdr="0" ftr="0" dt="0"/>
  <p:extLst>
    <p:ext uri="{DCECCB84-F9BA-43D5-87BE-67443E8EF086}">
      <p15:sldGuideLst xmlns:p15="http://schemas.microsoft.com/office/powerpoint/2012/main">
        <p15:guide id="1" orient="horz" pos="618" userDrawn="1">
          <p15:clr>
            <a:srgbClr val="FBAE40"/>
          </p15:clr>
        </p15:guide>
        <p15:guide id="2" orient="horz" pos="845" userDrawn="1">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NEW">
    <p:spTree>
      <p:nvGrpSpPr>
        <p:cNvPr id="1" name=""/>
        <p:cNvGrpSpPr/>
        <p:nvPr/>
      </p:nvGrpSpPr>
      <p:grpSpPr>
        <a:xfrm>
          <a:off x="0" y="0"/>
          <a:ext cx="0" cy="0"/>
          <a:chOff x="0" y="0"/>
          <a:chExt cx="0" cy="0"/>
        </a:xfrm>
      </p:grpSpPr>
      <p:sp>
        <p:nvSpPr>
          <p:cNvPr id="3" name="텍스트 개체 틀 6">
            <a:extLst>
              <a:ext uri="{FF2B5EF4-FFF2-40B4-BE49-F238E27FC236}">
                <a16:creationId xmlns:a16="http://schemas.microsoft.com/office/drawing/2014/main" id="{0B4FD9E0-5AC5-F0E3-DE1A-246AD9F4CC7E}"/>
              </a:ext>
            </a:extLst>
          </p:cNvPr>
          <p:cNvSpPr>
            <a:spLocks noGrp="1"/>
          </p:cNvSpPr>
          <p:nvPr>
            <p:ph type="body" sz="quarter" idx="11" hasCustomPrompt="1"/>
          </p:nvPr>
        </p:nvSpPr>
        <p:spPr>
          <a:xfrm>
            <a:off x="453000" y="549275"/>
            <a:ext cx="9000000" cy="430887"/>
          </a:xfrm>
          <a:prstGeom prst="rect">
            <a:avLst/>
          </a:prstGeom>
        </p:spPr>
        <p:txBody>
          <a:bodyPr lIns="0" tIns="0" rIns="0" bIns="0">
            <a:noAutofit/>
          </a:bodyPr>
          <a:lstStyle>
            <a:lvl1pPr marL="0" indent="0">
              <a:lnSpc>
                <a:spcPct val="100000"/>
              </a:lnSpc>
              <a:spcBef>
                <a:spcPts val="0"/>
              </a:spcBef>
              <a:buNone/>
              <a:defRPr sz="2400" cap="all" baseline="0">
                <a:solidFill>
                  <a:srgbClr val="11244A"/>
                </a:solidFill>
                <a:latin typeface="+mj-lt"/>
                <a:ea typeface="+mj-ea"/>
              </a:defRPr>
            </a:lvl1pPr>
          </a:lstStyle>
          <a:p>
            <a:pPr lvl="0"/>
            <a:r>
              <a:rPr lang="en-US" altLang="ko-KR" dirty="0"/>
              <a:t>Page Title</a:t>
            </a:r>
            <a:endParaRPr lang="ko-KR" altLang="en-US" dirty="0"/>
          </a:p>
        </p:txBody>
      </p:sp>
      <p:sp>
        <p:nvSpPr>
          <p:cNvPr id="7" name="텍스트 개체 틀 12">
            <a:extLst>
              <a:ext uri="{FF2B5EF4-FFF2-40B4-BE49-F238E27FC236}">
                <a16:creationId xmlns:a16="http://schemas.microsoft.com/office/drawing/2014/main" id="{1BE9C345-FBCC-E1A7-EB5D-A1BCA98A6A32}"/>
              </a:ext>
            </a:extLst>
          </p:cNvPr>
          <p:cNvSpPr>
            <a:spLocks noGrp="1"/>
          </p:cNvSpPr>
          <p:nvPr>
            <p:ph type="body" sz="quarter" idx="12" hasCustomPrompt="1"/>
          </p:nvPr>
        </p:nvSpPr>
        <p:spPr>
          <a:xfrm>
            <a:off x="1712999" y="6020725"/>
            <a:ext cx="7092000" cy="288000"/>
          </a:xfrm>
          <a:prstGeom prst="rect">
            <a:avLst/>
          </a:prstGeom>
        </p:spPr>
        <p:txBody>
          <a:bodyPr wrap="square" lIns="0" tIns="0" rIns="0" bIns="0" anchor="ctr">
            <a:noAutofit/>
          </a:bodyPr>
          <a:lstStyle>
            <a:lvl1pPr marL="0" indent="0">
              <a:buNone/>
              <a:defRPr sz="800">
                <a:solidFill>
                  <a:srgbClr val="3D3D3D"/>
                </a:solidFill>
              </a:defRPr>
            </a:lvl1pPr>
            <a:lvl5pPr>
              <a:defRPr/>
            </a:lvl5pPr>
          </a:lstStyle>
          <a:p>
            <a:pPr lvl="0"/>
            <a:r>
              <a:rPr lang="en-US" altLang="ko-KR" dirty="0"/>
              <a:t>Footnote Box</a:t>
            </a:r>
            <a:endParaRPr lang="ko-KR" altLang="en-US" dirty="0"/>
          </a:p>
        </p:txBody>
      </p:sp>
      <p:grpSp>
        <p:nvGrpSpPr>
          <p:cNvPr id="10" name="그룹 9">
            <a:extLst>
              <a:ext uri="{FF2B5EF4-FFF2-40B4-BE49-F238E27FC236}">
                <a16:creationId xmlns:a16="http://schemas.microsoft.com/office/drawing/2014/main" id="{20EEF51B-712E-FB61-E81C-47A644460F67}"/>
              </a:ext>
            </a:extLst>
          </p:cNvPr>
          <p:cNvGrpSpPr/>
          <p:nvPr userDrawn="1"/>
        </p:nvGrpSpPr>
        <p:grpSpPr>
          <a:xfrm>
            <a:off x="9132224" y="6056725"/>
            <a:ext cx="152853" cy="216000"/>
            <a:chOff x="11025858" y="6056725"/>
            <a:chExt cx="152853" cy="216000"/>
          </a:xfrm>
        </p:grpSpPr>
        <p:sp>
          <p:nvSpPr>
            <p:cNvPr id="5" name="TextBox 4">
              <a:extLst>
                <a:ext uri="{FF2B5EF4-FFF2-40B4-BE49-F238E27FC236}">
                  <a16:creationId xmlns:a16="http://schemas.microsoft.com/office/drawing/2014/main" id="{07625B83-7EB8-D2A5-0B70-8C84B20FFD9C}"/>
                </a:ext>
              </a:extLst>
            </p:cNvPr>
            <p:cNvSpPr txBox="1"/>
            <p:nvPr userDrawn="1"/>
          </p:nvSpPr>
          <p:spPr>
            <a:xfrm>
              <a:off x="11025858" y="6087781"/>
              <a:ext cx="152853" cy="153888"/>
            </a:xfrm>
            <a:prstGeom prst="rect">
              <a:avLst/>
            </a:prstGeom>
            <a:noFill/>
          </p:spPr>
          <p:txBody>
            <a:bodyPr wrap="none" lIns="0" tIns="0" rIns="72000" bIns="0" rtlCol="0" anchor="ctr">
              <a:spAutoFit/>
            </a:bodyPr>
            <a:lstStyle/>
            <a:p>
              <a:pPr algn="l"/>
              <a:r>
                <a:rPr lang="en-US" altLang="ko-KR" sz="1000" b="1" dirty="0">
                  <a:solidFill>
                    <a:srgbClr val="11244A"/>
                  </a:solidFill>
                  <a:latin typeface="Pretendard" panose="02000503000000020004" pitchFamily="50" charset="-127"/>
                  <a:ea typeface="Pretendard" panose="02000503000000020004" pitchFamily="50" charset="-127"/>
                  <a:cs typeface="Pretendard" panose="02000503000000020004" pitchFamily="50" charset="-127"/>
                </a:rPr>
                <a:t>P</a:t>
              </a:r>
              <a:endParaRPr lang="ko-KR" altLang="en-US" sz="1000" b="1" dirty="0">
                <a:solidFill>
                  <a:srgbClr val="11244A"/>
                </a:solidFill>
                <a:latin typeface="Pretendard" panose="02000503000000020004" pitchFamily="50" charset="-127"/>
                <a:ea typeface="Pretendard" panose="02000503000000020004" pitchFamily="50" charset="-127"/>
                <a:cs typeface="Pretendard" panose="02000503000000020004" pitchFamily="50" charset="-127"/>
              </a:endParaRPr>
            </a:p>
          </p:txBody>
        </p:sp>
        <p:cxnSp>
          <p:nvCxnSpPr>
            <p:cNvPr id="6" name="직선 연결선 5">
              <a:extLst>
                <a:ext uri="{FF2B5EF4-FFF2-40B4-BE49-F238E27FC236}">
                  <a16:creationId xmlns:a16="http://schemas.microsoft.com/office/drawing/2014/main" id="{B4A5E917-85BF-9F05-0D16-AFDC22952A2E}"/>
                </a:ext>
              </a:extLst>
            </p:cNvPr>
            <p:cNvCxnSpPr>
              <a:cxnSpLocks/>
            </p:cNvCxnSpPr>
            <p:nvPr userDrawn="1"/>
          </p:nvCxnSpPr>
          <p:spPr>
            <a:xfrm>
              <a:off x="11162837" y="6056725"/>
              <a:ext cx="0" cy="216000"/>
            </a:xfrm>
            <a:prstGeom prst="line">
              <a:avLst/>
            </a:prstGeom>
            <a:ln w="12700">
              <a:solidFill>
                <a:srgbClr val="539DFF"/>
              </a:solidFill>
            </a:ln>
          </p:spPr>
          <p:style>
            <a:lnRef idx="2">
              <a:schemeClr val="accent1"/>
            </a:lnRef>
            <a:fillRef idx="0">
              <a:schemeClr val="accent1"/>
            </a:fillRef>
            <a:effectRef idx="1">
              <a:schemeClr val="accent1"/>
            </a:effectRef>
            <a:fontRef idx="minor">
              <a:schemeClr val="tx1"/>
            </a:fontRef>
          </p:style>
        </p:cxnSp>
      </p:grpSp>
      <p:sp>
        <p:nvSpPr>
          <p:cNvPr id="11" name="슬라이드 번호 개체 틀 5">
            <a:extLst>
              <a:ext uri="{FF2B5EF4-FFF2-40B4-BE49-F238E27FC236}">
                <a16:creationId xmlns:a16="http://schemas.microsoft.com/office/drawing/2014/main" id="{EBACC888-D2EC-7094-B366-60B6782248E2}"/>
              </a:ext>
            </a:extLst>
          </p:cNvPr>
          <p:cNvSpPr>
            <a:spLocks noGrp="1"/>
          </p:cNvSpPr>
          <p:nvPr>
            <p:ph type="sldNum" sz="quarter" idx="13"/>
          </p:nvPr>
        </p:nvSpPr>
        <p:spPr>
          <a:xfrm>
            <a:off x="9135037" y="6087781"/>
            <a:ext cx="330040" cy="153888"/>
          </a:xfrm>
          <a:prstGeom prst="rect">
            <a:avLst/>
          </a:prstGeom>
        </p:spPr>
        <p:txBody>
          <a:bodyPr vert="horz" wrap="square" lIns="72000" tIns="0" rIns="0" bIns="0" rtlCol="0" anchor="ctr">
            <a:spAutoFit/>
          </a:bodyPr>
          <a:lstStyle>
            <a:lvl1pPr algn="r">
              <a:defRPr lang="ko-KR" altLang="en-US" sz="1000" b="1" smtClean="0">
                <a:solidFill>
                  <a:srgbClr val="11244A"/>
                </a:solidFill>
              </a:defRPr>
            </a:lvl1pPr>
          </a:lstStyle>
          <a:p>
            <a:fld id="{C053318C-A610-4AA5-9FF7-26630BAA1E31}" type="slidenum">
              <a:rPr lang="en-US" altLang="ko-KR" smtClean="0"/>
              <a:pPr/>
              <a:t>‹#›</a:t>
            </a:fld>
            <a:endParaRPr lang="en-US" dirty="0"/>
          </a:p>
        </p:txBody>
      </p:sp>
      <p:pic>
        <p:nvPicPr>
          <p:cNvPr id="13" name="그래픽 12">
            <a:extLst>
              <a:ext uri="{FF2B5EF4-FFF2-40B4-BE49-F238E27FC236}">
                <a16:creationId xmlns:a16="http://schemas.microsoft.com/office/drawing/2014/main" id="{13166FFA-15A6-AAB0-CCC1-AD9419D52D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2999" y="6088112"/>
            <a:ext cx="1152000" cy="153226"/>
          </a:xfrm>
          <a:prstGeom prst="rect">
            <a:avLst/>
          </a:prstGeom>
        </p:spPr>
      </p:pic>
    </p:spTree>
    <p:extLst>
      <p:ext uri="{BB962C8B-B14F-4D97-AF65-F5344CB8AC3E}">
        <p14:creationId xmlns:p14="http://schemas.microsoft.com/office/powerpoint/2010/main" val="1025691695"/>
      </p:ext>
    </p:extLst>
  </p:cSld>
  <p:clrMapOvr>
    <a:masterClrMapping/>
  </p:clrMapOvr>
  <p:hf hdr="0" ftr="0" dt="0"/>
  <p:extLst>
    <p:ext uri="{DCECCB84-F9BA-43D5-87BE-67443E8EF086}">
      <p15:sldGuideLst xmlns:p15="http://schemas.microsoft.com/office/powerpoint/2012/main">
        <p15:guide id="2" orient="horz" pos="754" userDrawn="1">
          <p15:clr>
            <a:srgbClr val="FBAE40"/>
          </p15:clr>
        </p15:guide>
        <p15:guide id="3" orient="horz" pos="3634">
          <p15:clr>
            <a:srgbClr val="FBAE40"/>
          </p15:clr>
        </p15:guide>
        <p15:guide id="5" orient="horz" pos="618" userDrawn="1">
          <p15:clr>
            <a:srgbClr val="FBAE40"/>
          </p15:clr>
        </p15:guide>
        <p15:guide id="6" orient="horz" pos="1071"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0FBDDD21-17AA-9039-4C59-66C46717204B}"/>
              </a:ext>
            </a:extLst>
          </p:cNvPr>
          <p:cNvSpPr/>
          <p:nvPr userDrawn="1"/>
        </p:nvSpPr>
        <p:spPr>
          <a:xfrm>
            <a:off x="-1332000" y="251999"/>
            <a:ext cx="1260000" cy="576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chemeClr val="bg1"/>
                </a:solidFill>
              </a:rPr>
              <a:t>SL Navy</a:t>
            </a:r>
          </a:p>
          <a:p>
            <a:pPr algn="l"/>
            <a:r>
              <a:rPr lang="en-US" altLang="ko-KR" sz="800" b="0" dirty="0">
                <a:solidFill>
                  <a:schemeClr val="bg1"/>
                </a:solidFill>
              </a:rPr>
              <a:t>Primary Color</a:t>
            </a:r>
            <a:endParaRPr lang="ko-KR" altLang="en-US" sz="800" dirty="0">
              <a:solidFill>
                <a:schemeClr val="bg1"/>
              </a:solidFill>
            </a:endParaRPr>
          </a:p>
        </p:txBody>
      </p:sp>
      <p:sp>
        <p:nvSpPr>
          <p:cNvPr id="8" name="직사각형 7">
            <a:extLst>
              <a:ext uri="{FF2B5EF4-FFF2-40B4-BE49-F238E27FC236}">
                <a16:creationId xmlns:a16="http://schemas.microsoft.com/office/drawing/2014/main" id="{5BAA68D9-0007-1137-8E9E-65F8F249E8B3}"/>
              </a:ext>
            </a:extLst>
          </p:cNvPr>
          <p:cNvSpPr/>
          <p:nvPr userDrawn="1"/>
        </p:nvSpPr>
        <p:spPr>
          <a:xfrm>
            <a:off x="-1332000" y="1115999"/>
            <a:ext cx="1260000" cy="576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chemeClr val="bg1"/>
                </a:solidFill>
              </a:rPr>
              <a:t>SL Blue</a:t>
            </a:r>
          </a:p>
          <a:p>
            <a:pPr algn="l"/>
            <a:r>
              <a:rPr lang="en-US" altLang="ko-KR" sz="800" dirty="0">
                <a:solidFill>
                  <a:schemeClr val="bg1"/>
                </a:solidFill>
              </a:rPr>
              <a:t>Primary Color</a:t>
            </a:r>
            <a:endParaRPr lang="ko-KR" altLang="en-US" sz="800" dirty="0">
              <a:solidFill>
                <a:schemeClr val="bg1"/>
              </a:solidFill>
            </a:endParaRPr>
          </a:p>
        </p:txBody>
      </p:sp>
      <p:sp>
        <p:nvSpPr>
          <p:cNvPr id="9" name="직사각형 8">
            <a:extLst>
              <a:ext uri="{FF2B5EF4-FFF2-40B4-BE49-F238E27FC236}">
                <a16:creationId xmlns:a16="http://schemas.microsoft.com/office/drawing/2014/main" id="{E02FC22C-2810-F1BA-C8D4-DEF04431332F}"/>
              </a:ext>
            </a:extLst>
          </p:cNvPr>
          <p:cNvSpPr/>
          <p:nvPr userDrawn="1"/>
        </p:nvSpPr>
        <p:spPr>
          <a:xfrm>
            <a:off x="-1332000" y="1799999"/>
            <a:ext cx="1260000" cy="432000"/>
          </a:xfrm>
          <a:prstGeom prst="rect">
            <a:avLst/>
          </a:prstGeom>
          <a:solidFill>
            <a:srgbClr val="3D3D3D"/>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chemeClr val="bg1"/>
                </a:solidFill>
              </a:rPr>
              <a:t>Dark Gray</a:t>
            </a:r>
          </a:p>
          <a:p>
            <a:pPr algn="l"/>
            <a:r>
              <a:rPr lang="en-US" altLang="ko-KR" sz="800" b="0" dirty="0">
                <a:solidFill>
                  <a:schemeClr val="bg1"/>
                </a:solidFill>
              </a:rPr>
              <a:t>Text &amp; Line Color</a:t>
            </a:r>
            <a:endParaRPr lang="en-US" altLang="ko-KR" sz="1000" b="0" dirty="0">
              <a:solidFill>
                <a:schemeClr val="bg1"/>
              </a:solidFill>
            </a:endParaRPr>
          </a:p>
        </p:txBody>
      </p:sp>
      <p:sp>
        <p:nvSpPr>
          <p:cNvPr id="10" name="직사각형 9">
            <a:extLst>
              <a:ext uri="{FF2B5EF4-FFF2-40B4-BE49-F238E27FC236}">
                <a16:creationId xmlns:a16="http://schemas.microsoft.com/office/drawing/2014/main" id="{ED47E68C-019C-8A2F-492D-27B9D3AF84EE}"/>
              </a:ext>
            </a:extLst>
          </p:cNvPr>
          <p:cNvSpPr/>
          <p:nvPr userDrawn="1"/>
        </p:nvSpPr>
        <p:spPr>
          <a:xfrm>
            <a:off x="-1332000" y="827999"/>
            <a:ext cx="180000" cy="288000"/>
          </a:xfrm>
          <a:prstGeom prst="rect">
            <a:avLst/>
          </a:prstGeom>
          <a:solidFill>
            <a:srgbClr val="F3F9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11" name="직사각형 10">
            <a:extLst>
              <a:ext uri="{FF2B5EF4-FFF2-40B4-BE49-F238E27FC236}">
                <a16:creationId xmlns:a16="http://schemas.microsoft.com/office/drawing/2014/main" id="{760D7CC4-4A15-5FED-68A7-1993F1727F1B}"/>
              </a:ext>
            </a:extLst>
          </p:cNvPr>
          <p:cNvSpPr/>
          <p:nvPr userDrawn="1"/>
        </p:nvSpPr>
        <p:spPr>
          <a:xfrm>
            <a:off x="-972000" y="827999"/>
            <a:ext cx="180000" cy="288000"/>
          </a:xfrm>
          <a:prstGeom prst="rect">
            <a:avLst/>
          </a:prstGeom>
          <a:solidFill>
            <a:srgbClr val="B2DA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12" name="직사각형 11">
            <a:extLst>
              <a:ext uri="{FF2B5EF4-FFF2-40B4-BE49-F238E27FC236}">
                <a16:creationId xmlns:a16="http://schemas.microsoft.com/office/drawing/2014/main" id="{31388674-7E06-90B3-8CC9-C5FBE25B5A8D}"/>
              </a:ext>
            </a:extLst>
          </p:cNvPr>
          <p:cNvSpPr/>
          <p:nvPr userDrawn="1"/>
        </p:nvSpPr>
        <p:spPr>
          <a:xfrm>
            <a:off x="-792000" y="827999"/>
            <a:ext cx="180000" cy="288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13" name="직사각형 12">
            <a:extLst>
              <a:ext uri="{FF2B5EF4-FFF2-40B4-BE49-F238E27FC236}">
                <a16:creationId xmlns:a16="http://schemas.microsoft.com/office/drawing/2014/main" id="{2E15722A-1E25-70E9-8E06-B675AE8E502C}"/>
              </a:ext>
            </a:extLst>
          </p:cNvPr>
          <p:cNvSpPr/>
          <p:nvPr userDrawn="1"/>
        </p:nvSpPr>
        <p:spPr>
          <a:xfrm>
            <a:off x="-612000" y="827999"/>
            <a:ext cx="180000" cy="288000"/>
          </a:xfrm>
          <a:prstGeom prst="rect">
            <a:avLst/>
          </a:prstGeom>
          <a:solidFill>
            <a:srgbClr val="2A5FA3"/>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14" name="직사각형 13">
            <a:extLst>
              <a:ext uri="{FF2B5EF4-FFF2-40B4-BE49-F238E27FC236}">
                <a16:creationId xmlns:a16="http://schemas.microsoft.com/office/drawing/2014/main" id="{9E451712-90F2-1377-28A0-8AC3D5F92DCF}"/>
              </a:ext>
            </a:extLst>
          </p:cNvPr>
          <p:cNvSpPr/>
          <p:nvPr userDrawn="1"/>
        </p:nvSpPr>
        <p:spPr>
          <a:xfrm>
            <a:off x="-252000" y="827999"/>
            <a:ext cx="180000" cy="288000"/>
          </a:xfrm>
          <a:prstGeom prst="rect">
            <a:avLst/>
          </a:prstGeom>
          <a:solidFill>
            <a:srgbClr val="0A1A39"/>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15" name="직사각형 14">
            <a:extLst>
              <a:ext uri="{FF2B5EF4-FFF2-40B4-BE49-F238E27FC236}">
                <a16:creationId xmlns:a16="http://schemas.microsoft.com/office/drawing/2014/main" id="{90BE180D-370B-57C1-BB19-B98463DF7833}"/>
              </a:ext>
            </a:extLst>
          </p:cNvPr>
          <p:cNvSpPr/>
          <p:nvPr userDrawn="1"/>
        </p:nvSpPr>
        <p:spPr>
          <a:xfrm>
            <a:off x="-1332000" y="3203998"/>
            <a:ext cx="1260000" cy="432000"/>
          </a:xfrm>
          <a:prstGeom prst="rect">
            <a:avLst/>
          </a:prstGeom>
          <a:solidFill>
            <a:srgbClr val="F25353"/>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chemeClr val="bg1"/>
                </a:solidFill>
              </a:rPr>
              <a:t>SL Red</a:t>
            </a:r>
          </a:p>
          <a:p>
            <a:pPr algn="l"/>
            <a:r>
              <a:rPr lang="en-US" altLang="ko-KR" sz="1000" dirty="0">
                <a:solidFill>
                  <a:schemeClr val="bg1"/>
                </a:solidFill>
              </a:rPr>
              <a:t>Highlight Color</a:t>
            </a:r>
            <a:endParaRPr lang="ko-KR" altLang="en-US" sz="1000" dirty="0">
              <a:solidFill>
                <a:schemeClr val="bg1"/>
              </a:solidFill>
            </a:endParaRPr>
          </a:p>
        </p:txBody>
      </p:sp>
      <p:sp>
        <p:nvSpPr>
          <p:cNvPr id="16" name="직사각형 15">
            <a:extLst>
              <a:ext uri="{FF2B5EF4-FFF2-40B4-BE49-F238E27FC236}">
                <a16:creationId xmlns:a16="http://schemas.microsoft.com/office/drawing/2014/main" id="{30F8C987-CC30-7CDE-D969-DE27DBA1423D}"/>
              </a:ext>
            </a:extLst>
          </p:cNvPr>
          <p:cNvSpPr/>
          <p:nvPr userDrawn="1"/>
        </p:nvSpPr>
        <p:spPr>
          <a:xfrm>
            <a:off x="-1332000" y="2663998"/>
            <a:ext cx="1260000" cy="432000"/>
          </a:xfrm>
          <a:prstGeom prst="rect">
            <a:avLst/>
          </a:prstGeom>
          <a:solidFill>
            <a:srgbClr val="F8F8F8"/>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rgbClr val="3D3D3D"/>
                </a:solidFill>
              </a:rPr>
              <a:t>Light Gray</a:t>
            </a:r>
          </a:p>
          <a:p>
            <a:pPr algn="l"/>
            <a:r>
              <a:rPr lang="en-US" altLang="ko-KR" sz="800" b="0" dirty="0">
                <a:solidFill>
                  <a:srgbClr val="3D3D3D"/>
                </a:solidFill>
              </a:rPr>
              <a:t>Light Shade</a:t>
            </a:r>
            <a:endParaRPr lang="en-US" altLang="ko-KR" sz="1000" b="0" dirty="0">
              <a:solidFill>
                <a:srgbClr val="3D3D3D"/>
              </a:solidFill>
            </a:endParaRPr>
          </a:p>
        </p:txBody>
      </p:sp>
      <p:sp>
        <p:nvSpPr>
          <p:cNvPr id="17" name="직사각형 16">
            <a:extLst>
              <a:ext uri="{FF2B5EF4-FFF2-40B4-BE49-F238E27FC236}">
                <a16:creationId xmlns:a16="http://schemas.microsoft.com/office/drawing/2014/main" id="{AE3A8D03-80FC-9D99-6EFF-4D2B1BC7141F}"/>
              </a:ext>
            </a:extLst>
          </p:cNvPr>
          <p:cNvSpPr/>
          <p:nvPr userDrawn="1"/>
        </p:nvSpPr>
        <p:spPr>
          <a:xfrm>
            <a:off x="-1332000" y="3743997"/>
            <a:ext cx="1260000" cy="432000"/>
          </a:xfrm>
          <a:prstGeom prst="rect">
            <a:avLst/>
          </a:prstGeom>
          <a:solidFill>
            <a:srgbClr val="5CCFA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chemeClr val="bg1"/>
                </a:solidFill>
              </a:rPr>
              <a:t>SL Green</a:t>
            </a:r>
          </a:p>
          <a:p>
            <a:pPr algn="l"/>
            <a:r>
              <a:rPr lang="en-US" altLang="ko-KR" sz="1000" dirty="0">
                <a:solidFill>
                  <a:schemeClr val="bg1"/>
                </a:solidFill>
              </a:rPr>
              <a:t>Secondary Color</a:t>
            </a:r>
            <a:endParaRPr lang="ko-KR" altLang="en-US" sz="1000" dirty="0">
              <a:solidFill>
                <a:schemeClr val="bg1"/>
              </a:solidFill>
            </a:endParaRPr>
          </a:p>
        </p:txBody>
      </p:sp>
      <p:sp>
        <p:nvSpPr>
          <p:cNvPr id="18" name="직사각형 17">
            <a:extLst>
              <a:ext uri="{FF2B5EF4-FFF2-40B4-BE49-F238E27FC236}">
                <a16:creationId xmlns:a16="http://schemas.microsoft.com/office/drawing/2014/main" id="{650D05B1-2BE2-7723-C8F2-AC65F977EFA6}"/>
              </a:ext>
            </a:extLst>
          </p:cNvPr>
          <p:cNvSpPr/>
          <p:nvPr userDrawn="1"/>
        </p:nvSpPr>
        <p:spPr>
          <a:xfrm>
            <a:off x="-1332000" y="4175997"/>
            <a:ext cx="252000" cy="216000"/>
          </a:xfrm>
          <a:prstGeom prst="rect">
            <a:avLst/>
          </a:prstGeom>
          <a:solidFill>
            <a:srgbClr val="E3FAE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19" name="직사각형 18">
            <a:extLst>
              <a:ext uri="{FF2B5EF4-FFF2-40B4-BE49-F238E27FC236}">
                <a16:creationId xmlns:a16="http://schemas.microsoft.com/office/drawing/2014/main" id="{111C75F9-A18F-3210-B093-347FB007620A}"/>
              </a:ext>
            </a:extLst>
          </p:cNvPr>
          <p:cNvSpPr/>
          <p:nvPr userDrawn="1"/>
        </p:nvSpPr>
        <p:spPr>
          <a:xfrm>
            <a:off x="-1080000" y="4175997"/>
            <a:ext cx="252000" cy="216000"/>
          </a:xfrm>
          <a:prstGeom prst="rect">
            <a:avLst/>
          </a:prstGeom>
          <a:solidFill>
            <a:srgbClr val="B8F3D3"/>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0" name="직사각형 19">
            <a:extLst>
              <a:ext uri="{FF2B5EF4-FFF2-40B4-BE49-F238E27FC236}">
                <a16:creationId xmlns:a16="http://schemas.microsoft.com/office/drawing/2014/main" id="{A4BFA9E0-641C-31EF-5C53-659762773C68}"/>
              </a:ext>
            </a:extLst>
          </p:cNvPr>
          <p:cNvSpPr/>
          <p:nvPr userDrawn="1"/>
        </p:nvSpPr>
        <p:spPr>
          <a:xfrm>
            <a:off x="-828000" y="4175997"/>
            <a:ext cx="252000" cy="216000"/>
          </a:xfrm>
          <a:prstGeom prst="rect">
            <a:avLst/>
          </a:prstGeom>
          <a:solidFill>
            <a:srgbClr val="5CCFA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1" name="직사각형 20">
            <a:extLst>
              <a:ext uri="{FF2B5EF4-FFF2-40B4-BE49-F238E27FC236}">
                <a16:creationId xmlns:a16="http://schemas.microsoft.com/office/drawing/2014/main" id="{9040CE9E-8DA7-1230-0600-0FA3A4457B27}"/>
              </a:ext>
            </a:extLst>
          </p:cNvPr>
          <p:cNvSpPr/>
          <p:nvPr userDrawn="1"/>
        </p:nvSpPr>
        <p:spPr>
          <a:xfrm>
            <a:off x="-576000" y="4175997"/>
            <a:ext cx="252000" cy="216000"/>
          </a:xfrm>
          <a:prstGeom prst="rect">
            <a:avLst/>
          </a:prstGeom>
          <a:solidFill>
            <a:srgbClr val="2EA37E"/>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2" name="직사각형 21">
            <a:extLst>
              <a:ext uri="{FF2B5EF4-FFF2-40B4-BE49-F238E27FC236}">
                <a16:creationId xmlns:a16="http://schemas.microsoft.com/office/drawing/2014/main" id="{8DCB029C-10CE-0BBC-FD7B-55E4604C0F19}"/>
              </a:ext>
            </a:extLst>
          </p:cNvPr>
          <p:cNvSpPr/>
          <p:nvPr userDrawn="1"/>
        </p:nvSpPr>
        <p:spPr>
          <a:xfrm>
            <a:off x="-324000" y="4175997"/>
            <a:ext cx="252000" cy="216000"/>
          </a:xfrm>
          <a:prstGeom prst="rect">
            <a:avLst/>
          </a:prstGeom>
          <a:solidFill>
            <a:srgbClr val="1E8A6C"/>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3" name="직사각형 22">
            <a:extLst>
              <a:ext uri="{FF2B5EF4-FFF2-40B4-BE49-F238E27FC236}">
                <a16:creationId xmlns:a16="http://schemas.microsoft.com/office/drawing/2014/main" id="{71D08EB1-4ADD-7D0A-182B-904BADABF5A7}"/>
              </a:ext>
            </a:extLst>
          </p:cNvPr>
          <p:cNvSpPr/>
          <p:nvPr userDrawn="1"/>
        </p:nvSpPr>
        <p:spPr>
          <a:xfrm>
            <a:off x="-1332000" y="4499996"/>
            <a:ext cx="1260000" cy="432000"/>
          </a:xfrm>
          <a:prstGeom prst="rect">
            <a:avLst/>
          </a:prstGeom>
          <a:solidFill>
            <a:srgbClr val="9B5B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chemeClr val="bg1"/>
                </a:solidFill>
              </a:rPr>
              <a:t>SL Purple</a:t>
            </a:r>
          </a:p>
          <a:p>
            <a:pPr algn="l"/>
            <a:r>
              <a:rPr lang="en-US" altLang="ko-KR" sz="1000" dirty="0">
                <a:solidFill>
                  <a:schemeClr val="bg1"/>
                </a:solidFill>
              </a:rPr>
              <a:t>Tertiary Color</a:t>
            </a:r>
            <a:endParaRPr lang="ko-KR" altLang="en-US" sz="1000" dirty="0">
              <a:solidFill>
                <a:schemeClr val="bg1"/>
              </a:solidFill>
            </a:endParaRPr>
          </a:p>
        </p:txBody>
      </p:sp>
      <p:sp>
        <p:nvSpPr>
          <p:cNvPr id="24" name="직사각형 23">
            <a:extLst>
              <a:ext uri="{FF2B5EF4-FFF2-40B4-BE49-F238E27FC236}">
                <a16:creationId xmlns:a16="http://schemas.microsoft.com/office/drawing/2014/main" id="{C09A1103-7437-A1E2-7CDA-20BAA7C0854B}"/>
              </a:ext>
            </a:extLst>
          </p:cNvPr>
          <p:cNvSpPr/>
          <p:nvPr userDrawn="1"/>
        </p:nvSpPr>
        <p:spPr>
          <a:xfrm>
            <a:off x="-1332000" y="4931996"/>
            <a:ext cx="252000" cy="216000"/>
          </a:xfrm>
          <a:prstGeom prst="rect">
            <a:avLst/>
          </a:prstGeom>
          <a:solidFill>
            <a:srgbClr val="F1E6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5" name="직사각형 24">
            <a:extLst>
              <a:ext uri="{FF2B5EF4-FFF2-40B4-BE49-F238E27FC236}">
                <a16:creationId xmlns:a16="http://schemas.microsoft.com/office/drawing/2014/main" id="{AFFD6B7A-B408-96EE-B932-21551F6E5600}"/>
              </a:ext>
            </a:extLst>
          </p:cNvPr>
          <p:cNvSpPr/>
          <p:nvPr userDrawn="1"/>
        </p:nvSpPr>
        <p:spPr>
          <a:xfrm>
            <a:off x="-1080000" y="4931996"/>
            <a:ext cx="252000" cy="216000"/>
          </a:xfrm>
          <a:prstGeom prst="rect">
            <a:avLst/>
          </a:prstGeom>
          <a:solidFill>
            <a:srgbClr val="D3B2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6" name="직사각형 25">
            <a:extLst>
              <a:ext uri="{FF2B5EF4-FFF2-40B4-BE49-F238E27FC236}">
                <a16:creationId xmlns:a16="http://schemas.microsoft.com/office/drawing/2014/main" id="{2BABE8E7-3D66-2DC4-EF99-6D8C45486161}"/>
              </a:ext>
            </a:extLst>
          </p:cNvPr>
          <p:cNvSpPr/>
          <p:nvPr userDrawn="1"/>
        </p:nvSpPr>
        <p:spPr>
          <a:xfrm>
            <a:off x="-828000" y="4931996"/>
            <a:ext cx="252000" cy="216000"/>
          </a:xfrm>
          <a:prstGeom prst="rect">
            <a:avLst/>
          </a:prstGeom>
          <a:solidFill>
            <a:srgbClr val="9B5B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7" name="직사각형 26">
            <a:extLst>
              <a:ext uri="{FF2B5EF4-FFF2-40B4-BE49-F238E27FC236}">
                <a16:creationId xmlns:a16="http://schemas.microsoft.com/office/drawing/2014/main" id="{6EF3B8F1-CA0C-E0C0-BF4F-23726D228BBD}"/>
              </a:ext>
            </a:extLst>
          </p:cNvPr>
          <p:cNvSpPr/>
          <p:nvPr userDrawn="1"/>
        </p:nvSpPr>
        <p:spPr>
          <a:xfrm>
            <a:off x="-576000" y="4931996"/>
            <a:ext cx="252000" cy="216000"/>
          </a:xfrm>
          <a:prstGeom prst="rect">
            <a:avLst/>
          </a:prstGeom>
          <a:solidFill>
            <a:srgbClr val="7839D9"/>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8" name="직사각형 27">
            <a:extLst>
              <a:ext uri="{FF2B5EF4-FFF2-40B4-BE49-F238E27FC236}">
                <a16:creationId xmlns:a16="http://schemas.microsoft.com/office/drawing/2014/main" id="{67468F99-45C4-A2AA-D07F-FBF756BA4181}"/>
              </a:ext>
            </a:extLst>
          </p:cNvPr>
          <p:cNvSpPr/>
          <p:nvPr userDrawn="1"/>
        </p:nvSpPr>
        <p:spPr>
          <a:xfrm>
            <a:off x="-324000" y="4931996"/>
            <a:ext cx="252000" cy="216000"/>
          </a:xfrm>
          <a:prstGeom prst="rect">
            <a:avLst/>
          </a:prstGeom>
          <a:solidFill>
            <a:srgbClr val="5A28AD"/>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29" name="직사각형 28">
            <a:extLst>
              <a:ext uri="{FF2B5EF4-FFF2-40B4-BE49-F238E27FC236}">
                <a16:creationId xmlns:a16="http://schemas.microsoft.com/office/drawing/2014/main" id="{CA4CDF29-3C6C-C492-9A89-838C3E6FCC2A}"/>
              </a:ext>
            </a:extLst>
          </p:cNvPr>
          <p:cNvSpPr/>
          <p:nvPr userDrawn="1"/>
        </p:nvSpPr>
        <p:spPr>
          <a:xfrm>
            <a:off x="-1152000" y="827999"/>
            <a:ext cx="180000" cy="288000"/>
          </a:xfrm>
          <a:prstGeom prst="rect">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30" name="직사각형 29">
            <a:extLst>
              <a:ext uri="{FF2B5EF4-FFF2-40B4-BE49-F238E27FC236}">
                <a16:creationId xmlns:a16="http://schemas.microsoft.com/office/drawing/2014/main" id="{1A7837CB-A1A0-BC95-1AF7-BB4B520BB235}"/>
              </a:ext>
            </a:extLst>
          </p:cNvPr>
          <p:cNvSpPr/>
          <p:nvPr userDrawn="1"/>
        </p:nvSpPr>
        <p:spPr>
          <a:xfrm>
            <a:off x="-432000" y="827999"/>
            <a:ext cx="18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endParaRPr lang="ko-KR" altLang="en-US" sz="1000" dirty="0">
              <a:solidFill>
                <a:schemeClr val="bg1"/>
              </a:solidFill>
            </a:endParaRPr>
          </a:p>
        </p:txBody>
      </p:sp>
      <p:sp>
        <p:nvSpPr>
          <p:cNvPr id="31" name="TextBox 30">
            <a:extLst>
              <a:ext uri="{FF2B5EF4-FFF2-40B4-BE49-F238E27FC236}">
                <a16:creationId xmlns:a16="http://schemas.microsoft.com/office/drawing/2014/main" id="{823CB71C-BE6A-7B12-895B-50C46ABE3CC9}"/>
              </a:ext>
            </a:extLst>
          </p:cNvPr>
          <p:cNvSpPr txBox="1"/>
          <p:nvPr userDrawn="1"/>
        </p:nvSpPr>
        <p:spPr>
          <a:xfrm>
            <a:off x="-1332000" y="0"/>
            <a:ext cx="865622" cy="184666"/>
          </a:xfrm>
          <a:prstGeom prst="rect">
            <a:avLst/>
          </a:prstGeom>
          <a:noFill/>
        </p:spPr>
        <p:txBody>
          <a:bodyPr wrap="none" lIns="0" tIns="0" rIns="0" bIns="0" rtlCol="0">
            <a:spAutoFit/>
          </a:bodyPr>
          <a:lstStyle/>
          <a:p>
            <a:r>
              <a:rPr lang="en-US" altLang="ko-KR" sz="1200" b="1" dirty="0"/>
              <a:t>Main Colors</a:t>
            </a:r>
            <a:endParaRPr lang="ko-KR" altLang="en-US" sz="1200" b="1" dirty="0"/>
          </a:p>
        </p:txBody>
      </p:sp>
      <p:sp>
        <p:nvSpPr>
          <p:cNvPr id="32" name="직사각형 31">
            <a:extLst>
              <a:ext uri="{FF2B5EF4-FFF2-40B4-BE49-F238E27FC236}">
                <a16:creationId xmlns:a16="http://schemas.microsoft.com/office/drawing/2014/main" id="{0D36124D-DE2E-9924-BBCA-944BA34C1A9B}"/>
              </a:ext>
            </a:extLst>
          </p:cNvPr>
          <p:cNvSpPr/>
          <p:nvPr userDrawn="1"/>
        </p:nvSpPr>
        <p:spPr>
          <a:xfrm>
            <a:off x="-1332000" y="2231999"/>
            <a:ext cx="1260000" cy="432000"/>
          </a:xfrm>
          <a:prstGeom prst="rect">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rgbClr val="3D3D3D"/>
                </a:solidFill>
              </a:rPr>
              <a:t>Gray</a:t>
            </a:r>
          </a:p>
          <a:p>
            <a:pPr algn="l"/>
            <a:r>
              <a:rPr lang="en-US" altLang="ko-KR" sz="800" b="0" dirty="0">
                <a:solidFill>
                  <a:srgbClr val="3D3D3D"/>
                </a:solidFill>
              </a:rPr>
              <a:t>Neutral Shade</a:t>
            </a:r>
            <a:endParaRPr lang="en-US" altLang="ko-KR" sz="1000" b="0" dirty="0">
              <a:solidFill>
                <a:srgbClr val="3D3D3D"/>
              </a:solidFill>
            </a:endParaRPr>
          </a:p>
        </p:txBody>
      </p:sp>
      <p:sp>
        <p:nvSpPr>
          <p:cNvPr id="2" name="직사각형 1">
            <a:extLst>
              <a:ext uri="{FF2B5EF4-FFF2-40B4-BE49-F238E27FC236}">
                <a16:creationId xmlns:a16="http://schemas.microsoft.com/office/drawing/2014/main" id="{2AA3BEE7-56E8-3FBE-01F0-110FB574D1F2}"/>
              </a:ext>
            </a:extLst>
          </p:cNvPr>
          <p:cNvSpPr/>
          <p:nvPr userDrawn="1"/>
        </p:nvSpPr>
        <p:spPr>
          <a:xfrm>
            <a:off x="-1332000" y="5454001"/>
            <a:ext cx="1260000" cy="576000"/>
          </a:xfrm>
          <a:prstGeom prst="rect">
            <a:avLst/>
          </a:prstGeom>
          <a:solidFill>
            <a:srgbClr val="A38458"/>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0" rIns="0" bIns="0" rtlCol="0" anchor="ctr"/>
          <a:lstStyle/>
          <a:p>
            <a:pPr algn="l"/>
            <a:r>
              <a:rPr lang="en-US" altLang="ko-KR" sz="1000" b="1" dirty="0">
                <a:solidFill>
                  <a:schemeClr val="bg1"/>
                </a:solidFill>
              </a:rPr>
              <a:t>Bloomsbury Gold</a:t>
            </a:r>
          </a:p>
          <a:p>
            <a:pPr algn="l"/>
            <a:r>
              <a:rPr lang="en-US" altLang="ko-KR" sz="800" b="0" dirty="0">
                <a:solidFill>
                  <a:schemeClr val="bg1"/>
                </a:solidFill>
              </a:rPr>
              <a:t>Target Co Color</a:t>
            </a:r>
            <a:endParaRPr lang="ko-KR" altLang="en-US" sz="800" dirty="0">
              <a:solidFill>
                <a:schemeClr val="bg1"/>
              </a:solidFill>
            </a:endParaRPr>
          </a:p>
        </p:txBody>
      </p:sp>
    </p:spTree>
    <p:extLst>
      <p:ext uri="{BB962C8B-B14F-4D97-AF65-F5344CB8AC3E}">
        <p14:creationId xmlns:p14="http://schemas.microsoft.com/office/powerpoint/2010/main" val="3568572272"/>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665" r:id="rId3"/>
    <p:sldLayoutId id="2147483668" r:id="rId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6" userDrawn="1">
          <p15:clr>
            <a:srgbClr val="F26B43"/>
          </p15:clr>
        </p15:guide>
        <p15:guide id="2" pos="285" userDrawn="1">
          <p15:clr>
            <a:srgbClr val="F26B43"/>
          </p15:clr>
        </p15:guide>
        <p15:guide id="3" pos="5955" userDrawn="1">
          <p15:clr>
            <a:srgbClr val="F26B43"/>
          </p15:clr>
        </p15:guide>
        <p15:guide id="4"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EE64C957-2178-8993-DB06-7A675B101B73}"/>
              </a:ext>
            </a:extLst>
          </p:cNvPr>
          <p:cNvSpPr>
            <a:spLocks noGrp="1"/>
          </p:cNvSpPr>
          <p:nvPr>
            <p:ph type="body" sz="quarter" idx="10"/>
          </p:nvPr>
        </p:nvSpPr>
        <p:spPr>
          <a:xfrm>
            <a:off x="453000" y="1557273"/>
            <a:ext cx="4500000" cy="1538883"/>
          </a:xfrm>
        </p:spPr>
        <p:txBody>
          <a:bodyPr/>
          <a:lstStyle/>
          <a:p>
            <a:r>
              <a:rPr lang="en-US" altLang="ko-KR" dirty="0"/>
              <a:t>PROJECT</a:t>
            </a:r>
          </a:p>
          <a:p>
            <a:r>
              <a:rPr lang="en-US" altLang="ko-KR" dirty="0"/>
              <a:t>GENESIS</a:t>
            </a:r>
            <a:endParaRPr lang="ko-KR" altLang="en-US" dirty="0"/>
          </a:p>
        </p:txBody>
      </p:sp>
      <p:sp>
        <p:nvSpPr>
          <p:cNvPr id="3" name="텍스트 개체 틀 2">
            <a:extLst>
              <a:ext uri="{FF2B5EF4-FFF2-40B4-BE49-F238E27FC236}">
                <a16:creationId xmlns:a16="http://schemas.microsoft.com/office/drawing/2014/main" id="{8824D956-86AF-3237-C2B8-EFAD6644673E}"/>
              </a:ext>
            </a:extLst>
          </p:cNvPr>
          <p:cNvSpPr>
            <a:spLocks noGrp="1"/>
          </p:cNvSpPr>
          <p:nvPr>
            <p:ph type="body" sz="quarter" idx="11"/>
          </p:nvPr>
        </p:nvSpPr>
        <p:spPr/>
        <p:txBody>
          <a:bodyPr/>
          <a:lstStyle/>
          <a:p>
            <a:r>
              <a:rPr lang="en-US" altLang="ko-KR" dirty="0"/>
              <a:t>INFORMATION MEMORANDUM</a:t>
            </a:r>
            <a:endParaRPr lang="ko-KR" altLang="en-US" dirty="0"/>
          </a:p>
        </p:txBody>
      </p:sp>
      <p:sp>
        <p:nvSpPr>
          <p:cNvPr id="4" name="텍스트 개체 틀 3">
            <a:extLst>
              <a:ext uri="{FF2B5EF4-FFF2-40B4-BE49-F238E27FC236}">
                <a16:creationId xmlns:a16="http://schemas.microsoft.com/office/drawing/2014/main" id="{81090FD3-74D1-B64D-A0DD-6B1AC0C4661E}"/>
              </a:ext>
            </a:extLst>
          </p:cNvPr>
          <p:cNvSpPr>
            <a:spLocks noGrp="1"/>
          </p:cNvSpPr>
          <p:nvPr>
            <p:ph type="body" sz="quarter" idx="12"/>
          </p:nvPr>
        </p:nvSpPr>
        <p:spPr/>
        <p:txBody>
          <a:bodyPr/>
          <a:lstStyle/>
          <a:p>
            <a:r>
              <a:rPr lang="en-US" altLang="ko-KR" dirty="0"/>
              <a:t>Strictly Private &amp; Confidential</a:t>
            </a:r>
            <a:endParaRPr lang="ko-KR" altLang="en-US" dirty="0"/>
          </a:p>
        </p:txBody>
      </p:sp>
      <p:sp>
        <p:nvSpPr>
          <p:cNvPr id="5" name="텍스트 개체 틀 4">
            <a:extLst>
              <a:ext uri="{FF2B5EF4-FFF2-40B4-BE49-F238E27FC236}">
                <a16:creationId xmlns:a16="http://schemas.microsoft.com/office/drawing/2014/main" id="{3373299C-09E5-DF1F-BF8B-63A90771B7AC}"/>
              </a:ext>
            </a:extLst>
          </p:cNvPr>
          <p:cNvSpPr>
            <a:spLocks noGrp="1"/>
          </p:cNvSpPr>
          <p:nvPr>
            <p:ph type="body" sz="quarter" idx="13"/>
          </p:nvPr>
        </p:nvSpPr>
        <p:spPr/>
        <p:txBody>
          <a:bodyPr/>
          <a:lstStyle/>
          <a:p>
            <a:r>
              <a:rPr lang="en-US" altLang="ko-KR" dirty="0"/>
              <a:t>December 2025</a:t>
            </a:r>
            <a:endParaRPr lang="ko-KR" altLang="en-US" dirty="0"/>
          </a:p>
        </p:txBody>
      </p:sp>
      <p:pic>
        <p:nvPicPr>
          <p:cNvPr id="9" name="그래픽 8">
            <a:extLst>
              <a:ext uri="{FF2B5EF4-FFF2-40B4-BE49-F238E27FC236}">
                <a16:creationId xmlns:a16="http://schemas.microsoft.com/office/drawing/2014/main" id="{B707CADD-3CB9-15E2-7044-B3FF549AA70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2999" y="549275"/>
            <a:ext cx="1353293" cy="180000"/>
          </a:xfrm>
          <a:prstGeom prst="rect">
            <a:avLst/>
          </a:prstGeom>
        </p:spPr>
      </p:pic>
    </p:spTree>
    <p:extLst>
      <p:ext uri="{BB962C8B-B14F-4D97-AF65-F5344CB8AC3E}">
        <p14:creationId xmlns:p14="http://schemas.microsoft.com/office/powerpoint/2010/main" val="1767363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6CD2-1AF6-E9DC-DB55-3239C0F040A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F82CC181-2F1D-9271-CD74-199AF88DDB57}"/>
              </a:ext>
            </a:extLst>
          </p:cNvPr>
          <p:cNvGrpSpPr/>
          <p:nvPr/>
        </p:nvGrpSpPr>
        <p:grpSpPr>
          <a:xfrm>
            <a:off x="0" y="0"/>
            <a:ext cx="9906001" cy="6858000"/>
            <a:chOff x="0" y="0"/>
            <a:chExt cx="9906001" cy="6858000"/>
          </a:xfrm>
        </p:grpSpPr>
        <p:pic>
          <p:nvPicPr>
            <p:cNvPr id="3" name="그림 2" descr="현미경, 과학 기기, 광학 기기, 실내이(가) 표시된 사진&#10;&#10;AI 생성 콘텐츠는 정확하지 않을 수 있습니다.">
              <a:extLst>
                <a:ext uri="{FF2B5EF4-FFF2-40B4-BE49-F238E27FC236}">
                  <a16:creationId xmlns:a16="http://schemas.microsoft.com/office/drawing/2014/main" id="{4F342930-C3C9-1146-58B4-391F64D010E0}"/>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12" name="직사각형 11">
              <a:extLst>
                <a:ext uri="{FF2B5EF4-FFF2-40B4-BE49-F238E27FC236}">
                  <a16:creationId xmlns:a16="http://schemas.microsoft.com/office/drawing/2014/main" id="{39906E26-ABFC-FFD6-A96D-D05A7FB5A72E}"/>
                </a:ext>
              </a:extLst>
            </p:cNvPr>
            <p:cNvSpPr/>
            <p:nvPr/>
          </p:nvSpPr>
          <p:spPr>
            <a:xfrm>
              <a:off x="0" y="0"/>
              <a:ext cx="9906000" cy="6858000"/>
            </a:xfrm>
            <a:prstGeom prst="rect">
              <a:avLst/>
            </a:prstGeom>
            <a:gradFill flip="none" rotWithShape="1">
              <a:gsLst>
                <a:gs pos="0">
                  <a:schemeClr val="tx1"/>
                </a:gs>
                <a:gs pos="100000">
                  <a:schemeClr val="tx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grpSp>
      <p:sp>
        <p:nvSpPr>
          <p:cNvPr id="5" name="TextBox 4">
            <a:extLst>
              <a:ext uri="{FF2B5EF4-FFF2-40B4-BE49-F238E27FC236}">
                <a16:creationId xmlns:a16="http://schemas.microsoft.com/office/drawing/2014/main" id="{F92A9648-F665-E22A-F99E-C8E1BCA208F3}"/>
              </a:ext>
            </a:extLst>
          </p:cNvPr>
          <p:cNvSpPr txBox="1"/>
          <p:nvPr/>
        </p:nvSpPr>
        <p:spPr>
          <a:xfrm>
            <a:off x="452438" y="549275"/>
            <a:ext cx="1415452" cy="285656"/>
          </a:xfrm>
          <a:prstGeom prst="rect">
            <a:avLst/>
          </a:prstGeom>
          <a:noFill/>
        </p:spPr>
        <p:txBody>
          <a:bodyPr wrap="none" lIns="0" tIns="0" rIns="0" bIns="0" rtlCol="0">
            <a:spAutoFit/>
          </a:bodyPr>
          <a:lstStyle/>
          <a:p>
            <a:pPr algn="l">
              <a:lnSpc>
                <a:spcPct val="110000"/>
              </a:lnSpc>
            </a:pPr>
            <a:r>
              <a:rPr lang="en-US" altLang="ko-KR" dirty="0">
                <a:solidFill>
                  <a:schemeClr val="bg1"/>
                </a:solidFill>
                <a:latin typeface="+mj-lt"/>
                <a:ea typeface="+mj-ea"/>
              </a:rPr>
              <a:t>DISCLAIMER</a:t>
            </a:r>
            <a:endParaRPr lang="ko-KR" altLang="en-US" dirty="0">
              <a:solidFill>
                <a:schemeClr val="bg1"/>
              </a:solidFill>
              <a:latin typeface="+mj-lt"/>
              <a:ea typeface="+mj-ea"/>
            </a:endParaRPr>
          </a:p>
        </p:txBody>
      </p:sp>
      <p:sp>
        <p:nvSpPr>
          <p:cNvPr id="8" name="TextBox 7">
            <a:extLst>
              <a:ext uri="{FF2B5EF4-FFF2-40B4-BE49-F238E27FC236}">
                <a16:creationId xmlns:a16="http://schemas.microsoft.com/office/drawing/2014/main" id="{5DB2D9A4-D288-A149-DBA9-58C5DB7325DF}"/>
              </a:ext>
            </a:extLst>
          </p:cNvPr>
          <p:cNvSpPr txBox="1"/>
          <p:nvPr/>
        </p:nvSpPr>
        <p:spPr>
          <a:xfrm>
            <a:off x="452999" y="1089025"/>
            <a:ext cx="4392000" cy="4117794"/>
          </a:xfrm>
          <a:prstGeom prst="rect">
            <a:avLst/>
          </a:prstGeom>
          <a:noFill/>
        </p:spPr>
        <p:txBody>
          <a:bodyPr wrap="square" lIns="0" tIns="0" rIns="0" bIns="0" rtlCol="0">
            <a:spAutoFit/>
          </a:bodyPr>
          <a:lstStyle/>
          <a:p>
            <a:pPr algn="just">
              <a:lnSpc>
                <a:spcPct val="125000"/>
              </a:lnSpc>
              <a:spcAft>
                <a:spcPts val="600"/>
              </a:spcAft>
            </a:pPr>
            <a:r>
              <a:rPr lang="en-US" altLang="ko-KR" sz="900" spc="-50" dirty="0">
                <a:solidFill>
                  <a:schemeClr val="bg1"/>
                </a:solidFill>
              </a:rPr>
              <a:t>This Information Memorandum (the “IM”) is provided solely for informational purposes to assist potential investors in evaluating a possible investment in NK Therapeutics Corp. (the “Company”). This IM does not constitute an offer to sell, or a solicitation of an offer to buy, any securities, nor does it purport to provide legal, accounting, tax, or other professional advice.</a:t>
            </a:r>
          </a:p>
          <a:p>
            <a:pPr algn="just">
              <a:lnSpc>
                <a:spcPct val="125000"/>
              </a:lnSpc>
              <a:spcAft>
                <a:spcPts val="600"/>
              </a:spcAft>
            </a:pPr>
            <a:r>
              <a:rPr lang="en-US" altLang="ko-KR" sz="900" spc="-50" dirty="0">
                <a:solidFill>
                  <a:schemeClr val="bg1"/>
                </a:solidFill>
              </a:rPr>
              <a:t>The information contained in this IM has been prepared based on materials believed to be reliable. However, the Company makes no representation or warranty, express or implied, as to the accuracy, completeness, or timeliness of the information contained herein, and assumes no liability for any errors or omissions.</a:t>
            </a:r>
          </a:p>
          <a:p>
            <a:pPr algn="just">
              <a:lnSpc>
                <a:spcPct val="125000"/>
              </a:lnSpc>
              <a:spcAft>
                <a:spcPts val="600"/>
              </a:spcAft>
            </a:pPr>
            <a:r>
              <a:rPr lang="en-US" altLang="ko-KR" sz="900" spc="-50" dirty="0">
                <a:solidFill>
                  <a:schemeClr val="bg1"/>
                </a:solidFill>
              </a:rPr>
              <a:t>This IM includes forward-looking statements, including projections, forecasts, and development plans, which are subject to risks, uncertainties, and assumptions. Actual results may differ materially from those expressed or implied. Recipients should not place undue reliance on such forward-looking statements and are urged to conduct their own independent investigation and analysis, and to seek advice from their own legal, accounting, tax, and other professional advisors.</a:t>
            </a:r>
          </a:p>
          <a:p>
            <a:pPr algn="just">
              <a:lnSpc>
                <a:spcPct val="125000"/>
              </a:lnSpc>
              <a:spcAft>
                <a:spcPts val="600"/>
              </a:spcAft>
            </a:pPr>
            <a:r>
              <a:rPr lang="en-US" altLang="ko-KR" sz="900" spc="-50" dirty="0">
                <a:solidFill>
                  <a:schemeClr val="bg1"/>
                </a:solidFill>
              </a:rPr>
              <a:t>This IM is confidential and is being provided on a limited basis to potential investors who have agreed to maintain confidentiality. No portion of this IM may be reproduced, distributed, or disclosed to any third party without the prior written consent of the Company, except to the recipient’s professional advisors who are bound by obligations of confidentiality.</a:t>
            </a:r>
          </a:p>
          <a:p>
            <a:pPr algn="just">
              <a:lnSpc>
                <a:spcPct val="125000"/>
              </a:lnSpc>
              <a:spcAft>
                <a:spcPts val="600"/>
              </a:spcAft>
            </a:pPr>
            <a:r>
              <a:rPr lang="en-US" altLang="ko-KR" sz="900" spc="-50" dirty="0">
                <a:solidFill>
                  <a:schemeClr val="bg1"/>
                </a:solidFill>
              </a:rPr>
              <a:t>The information contained in this IM is subject to change without notice, and the Company undertakes no obligation to update or correct any information herein.</a:t>
            </a:r>
          </a:p>
          <a:p>
            <a:pPr algn="just">
              <a:lnSpc>
                <a:spcPct val="125000"/>
              </a:lnSpc>
              <a:spcAft>
                <a:spcPts val="600"/>
              </a:spcAft>
            </a:pPr>
            <a:r>
              <a:rPr lang="en-US" altLang="ko-KR" sz="900" spc="-30" dirty="0">
                <a:solidFill>
                  <a:schemeClr val="bg1"/>
                </a:solidFill>
              </a:rPr>
              <a:t>December 2025</a:t>
            </a:r>
          </a:p>
          <a:p>
            <a:pPr algn="just">
              <a:lnSpc>
                <a:spcPct val="125000"/>
              </a:lnSpc>
              <a:spcAft>
                <a:spcPts val="600"/>
              </a:spcAft>
            </a:pPr>
            <a:r>
              <a:rPr lang="en-US" altLang="ko-KR" sz="1100" dirty="0">
                <a:solidFill>
                  <a:schemeClr val="bg1"/>
                </a:solidFill>
                <a:latin typeface="+mj-lt"/>
                <a:ea typeface="+mj-ea"/>
              </a:rPr>
              <a:t>NK Therapeutics Corp.</a:t>
            </a:r>
            <a:endParaRPr lang="ko-KR" altLang="en-US" sz="1100" dirty="0">
              <a:solidFill>
                <a:schemeClr val="bg1"/>
              </a:solidFill>
              <a:latin typeface="+mj-lt"/>
              <a:ea typeface="+mj-ea"/>
            </a:endParaRPr>
          </a:p>
        </p:txBody>
      </p:sp>
      <p:sp>
        <p:nvSpPr>
          <p:cNvPr id="6" name="텍스트 개체 틀 3">
            <a:extLst>
              <a:ext uri="{FF2B5EF4-FFF2-40B4-BE49-F238E27FC236}">
                <a16:creationId xmlns:a16="http://schemas.microsoft.com/office/drawing/2014/main" id="{3B4FA31A-3CE0-F218-0699-D255568E6242}"/>
              </a:ext>
            </a:extLst>
          </p:cNvPr>
          <p:cNvSpPr txBox="1">
            <a:spLocks/>
          </p:cNvSpPr>
          <p:nvPr/>
        </p:nvSpPr>
        <p:spPr>
          <a:xfrm>
            <a:off x="452999" y="6174329"/>
            <a:ext cx="4499999" cy="134396"/>
          </a:xfrm>
          <a:prstGeom prst="rect">
            <a:avLst/>
          </a:prstGeom>
        </p:spPr>
        <p:txBody>
          <a:bodyPr wrap="square" lIns="0" tIns="0" rIns="0" bIns="0" anchor="b">
            <a:spAutoFit/>
          </a:bodyPr>
          <a:lstStyle>
            <a:lvl1pPr indent="0" defTabSz="914400" latinLnBrk="1">
              <a:lnSpc>
                <a:spcPts val="1100"/>
              </a:lnSpc>
              <a:spcBef>
                <a:spcPts val="0"/>
              </a:spcBef>
              <a:buFont typeface="Arial" panose="020B0604020202020204" pitchFamily="34" charset="0"/>
              <a:buNone/>
              <a:defRPr sz="1100" baseline="0">
                <a:solidFill>
                  <a:schemeClr val="bg1"/>
                </a:solidFill>
                <a:latin typeface="Outfit" pitchFamily="2"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800" dirty="0"/>
              <a:t>Strictly Private &amp; Confidential</a:t>
            </a:r>
            <a:endParaRPr lang="ko-KR" altLang="en-US" sz="800" dirty="0"/>
          </a:p>
        </p:txBody>
      </p:sp>
    </p:spTree>
    <p:extLst>
      <p:ext uri="{BB962C8B-B14F-4D97-AF65-F5344CB8AC3E}">
        <p14:creationId xmlns:p14="http://schemas.microsoft.com/office/powerpoint/2010/main" val="4210722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57E6-ED04-20A0-CD65-CD9EFB43D0DD}"/>
            </a:ext>
          </a:extLst>
        </p:cNvPr>
        <p:cNvGrpSpPr/>
        <p:nvPr/>
      </p:nvGrpSpPr>
      <p:grpSpPr>
        <a:xfrm>
          <a:off x="0" y="0"/>
          <a:ext cx="0" cy="0"/>
          <a:chOff x="0" y="0"/>
          <a:chExt cx="0" cy="0"/>
        </a:xfrm>
      </p:grpSpPr>
      <p:pic>
        <p:nvPicPr>
          <p:cNvPr id="9" name="그림 8" descr="현미경, 과학 기기, 광학 기기, 실내이(가) 표시된 사진&#10;&#10;AI 생성 콘텐츠는 정확하지 않을 수 있습니다.">
            <a:extLst>
              <a:ext uri="{FF2B5EF4-FFF2-40B4-BE49-F238E27FC236}">
                <a16:creationId xmlns:a16="http://schemas.microsoft.com/office/drawing/2014/main" id="{7AEC7103-3CC9-142F-D582-533D2B7D308B}"/>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5" name="TextBox 4">
            <a:extLst>
              <a:ext uri="{FF2B5EF4-FFF2-40B4-BE49-F238E27FC236}">
                <a16:creationId xmlns:a16="http://schemas.microsoft.com/office/drawing/2014/main" id="{72FB7D98-7B01-0EBC-C78D-93371BC217D5}"/>
              </a:ext>
            </a:extLst>
          </p:cNvPr>
          <p:cNvSpPr txBox="1"/>
          <p:nvPr/>
        </p:nvSpPr>
        <p:spPr>
          <a:xfrm>
            <a:off x="452438" y="1140037"/>
            <a:ext cx="3247684" cy="380938"/>
          </a:xfrm>
          <a:prstGeom prst="rect">
            <a:avLst/>
          </a:prstGeom>
          <a:noFill/>
        </p:spPr>
        <p:txBody>
          <a:bodyPr wrap="none" lIns="0" tIns="0" rIns="0" bIns="0" rtlCol="0">
            <a:spAutoFit/>
          </a:bodyPr>
          <a:lstStyle/>
          <a:p>
            <a:pPr algn="l">
              <a:lnSpc>
                <a:spcPct val="110000"/>
              </a:lnSpc>
            </a:pPr>
            <a:r>
              <a:rPr lang="en-US" altLang="ko-KR" sz="2400" dirty="0">
                <a:solidFill>
                  <a:schemeClr val="bg1"/>
                </a:solidFill>
                <a:latin typeface="+mj-lt"/>
                <a:ea typeface="+mj-ea"/>
              </a:rPr>
              <a:t>TABLE OF CONTENTS</a:t>
            </a:r>
            <a:endParaRPr lang="ko-KR" altLang="en-US" sz="2400" dirty="0">
              <a:solidFill>
                <a:schemeClr val="bg1"/>
              </a:solidFill>
              <a:latin typeface="+mj-lt"/>
              <a:ea typeface="+mj-ea"/>
            </a:endParaRPr>
          </a:p>
        </p:txBody>
      </p:sp>
      <p:sp>
        <p:nvSpPr>
          <p:cNvPr id="15" name="텍스트 개체 틀 3">
            <a:extLst>
              <a:ext uri="{FF2B5EF4-FFF2-40B4-BE49-F238E27FC236}">
                <a16:creationId xmlns:a16="http://schemas.microsoft.com/office/drawing/2014/main" id="{B62C4F48-E3BF-AC27-5DFE-FB70A89A6F2D}"/>
              </a:ext>
            </a:extLst>
          </p:cNvPr>
          <p:cNvSpPr txBox="1">
            <a:spLocks/>
          </p:cNvSpPr>
          <p:nvPr/>
        </p:nvSpPr>
        <p:spPr>
          <a:xfrm>
            <a:off x="452999" y="6174329"/>
            <a:ext cx="4499999" cy="134396"/>
          </a:xfrm>
          <a:prstGeom prst="rect">
            <a:avLst/>
          </a:prstGeom>
        </p:spPr>
        <p:txBody>
          <a:bodyPr wrap="square" lIns="0" tIns="0" rIns="0" bIns="0" anchor="b">
            <a:spAutoFit/>
          </a:bodyPr>
          <a:lstStyle>
            <a:lvl1pPr indent="0" defTabSz="914400" latinLnBrk="1">
              <a:lnSpc>
                <a:spcPts val="1100"/>
              </a:lnSpc>
              <a:spcBef>
                <a:spcPts val="0"/>
              </a:spcBef>
              <a:buFont typeface="Arial" panose="020B0604020202020204" pitchFamily="34" charset="0"/>
              <a:buNone/>
              <a:defRPr sz="1100" baseline="0">
                <a:solidFill>
                  <a:schemeClr val="bg1"/>
                </a:solidFill>
                <a:latin typeface="Outfit" pitchFamily="2"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800" dirty="0"/>
              <a:t>Strictly Private &amp; Confidential</a:t>
            </a:r>
            <a:endParaRPr lang="ko-KR" altLang="en-US" sz="800" dirty="0"/>
          </a:p>
        </p:txBody>
      </p:sp>
      <p:graphicFrame>
        <p:nvGraphicFramePr>
          <p:cNvPr id="6" name="표 5">
            <a:extLst>
              <a:ext uri="{FF2B5EF4-FFF2-40B4-BE49-F238E27FC236}">
                <a16:creationId xmlns:a16="http://schemas.microsoft.com/office/drawing/2014/main" id="{CA5F2A13-EB62-FC42-3D09-DCB2627D13DD}"/>
              </a:ext>
            </a:extLst>
          </p:cNvPr>
          <p:cNvGraphicFramePr>
            <a:graphicFrameLocks noGrp="1"/>
          </p:cNvGraphicFramePr>
          <p:nvPr>
            <p:extLst>
              <p:ext uri="{D42A27DB-BD31-4B8C-83A1-F6EECF244321}">
                <p14:modId xmlns:p14="http://schemas.microsoft.com/office/powerpoint/2010/main" val="1655700245"/>
              </p:ext>
            </p:extLst>
          </p:nvPr>
        </p:nvGraphicFramePr>
        <p:xfrm>
          <a:off x="344438" y="1880975"/>
          <a:ext cx="3528000" cy="3024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150886525"/>
                    </a:ext>
                  </a:extLst>
                </a:gridCol>
                <a:gridCol w="2988000">
                  <a:extLst>
                    <a:ext uri="{9D8B030D-6E8A-4147-A177-3AD203B41FA5}">
                      <a16:colId xmlns:a16="http://schemas.microsoft.com/office/drawing/2014/main" val="4148028095"/>
                    </a:ext>
                  </a:extLst>
                </a:gridCol>
              </a:tblGrid>
              <a:tr h="432000">
                <a:tc>
                  <a:txBody>
                    <a:bodyPr/>
                    <a:lstStyle/>
                    <a:p>
                      <a:pPr marL="0" algn="l" defTabSz="914400" rtl="0" eaLnBrk="1" latinLnBrk="1" hangingPunct="1"/>
                      <a:r>
                        <a:rPr lang="en-US" altLang="ko-KR" sz="1600" b="0" kern="1200" cap="none" baseline="0" dirty="0">
                          <a:solidFill>
                            <a:srgbClr val="11244A"/>
                          </a:solidFill>
                          <a:latin typeface="+mj-lt"/>
                          <a:ea typeface="+mj-ea"/>
                          <a:cs typeface="+mn-cs"/>
                        </a:rPr>
                        <a:t>01</a:t>
                      </a:r>
                      <a:endParaRPr lang="ko-KR" altLang="en-US" sz="1600" b="0" kern="1200" cap="none" baseline="0" dirty="0">
                        <a:solidFill>
                          <a:srgbClr val="11244A"/>
                        </a:solidFill>
                        <a:latin typeface="+mj-lt"/>
                        <a:ea typeface="+mj-ea"/>
                        <a:cs typeface="+mn-cs"/>
                      </a:endParaRPr>
                    </a:p>
                  </a:txBody>
                  <a:tcPr marL="10800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1" hangingPunct="1"/>
                      <a:r>
                        <a:rPr lang="en-US" altLang="ko-KR" sz="1600" b="0" kern="1200" cap="all" spc="-30" baseline="0" dirty="0">
                          <a:solidFill>
                            <a:srgbClr val="11244A"/>
                          </a:solidFill>
                          <a:latin typeface="+mj-lt"/>
                          <a:ea typeface="+mj-ea"/>
                          <a:cs typeface="+mn-cs"/>
                        </a:rPr>
                        <a:t>Executive Summary</a:t>
                      </a:r>
                      <a:endParaRPr lang="ko-KR" altLang="en-US" sz="1600" b="0" kern="1200" cap="all" spc="-30" baseline="0" dirty="0">
                        <a:solidFill>
                          <a:srgbClr val="11244A"/>
                        </a:solidFill>
                        <a:latin typeface="+mj-lt"/>
                        <a:ea typeface="+mj-ea"/>
                        <a:cs typeface="+mn-cs"/>
                      </a:endParaRPr>
                    </a:p>
                  </a:txBody>
                  <a:tcPr marL="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49133"/>
                  </a:ext>
                </a:extLst>
              </a:tr>
              <a:tr h="432000">
                <a:tc>
                  <a:txBody>
                    <a:bodyPr/>
                    <a:lstStyle/>
                    <a:p>
                      <a:pPr latinLnBrk="1"/>
                      <a:r>
                        <a:rPr lang="en-US" altLang="ko-KR" sz="1600" b="0" baseline="0" dirty="0">
                          <a:solidFill>
                            <a:schemeClr val="bg1"/>
                          </a:solidFill>
                          <a:latin typeface="+mj-lt"/>
                          <a:ea typeface="+mj-ea"/>
                        </a:rPr>
                        <a:t>02</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Investment Highlights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606132"/>
                  </a:ext>
                </a:extLst>
              </a:tr>
              <a:tr h="432000">
                <a:tc>
                  <a:txBody>
                    <a:bodyPr/>
                    <a:lstStyle/>
                    <a:p>
                      <a:pPr latinLnBrk="1"/>
                      <a:r>
                        <a:rPr lang="en-US" altLang="ko-KR" sz="1600" b="0" baseline="0" dirty="0">
                          <a:solidFill>
                            <a:schemeClr val="bg1"/>
                          </a:solidFill>
                          <a:latin typeface="+mj-lt"/>
                          <a:ea typeface="+mj-ea"/>
                        </a:rPr>
                        <a:t>03</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Market Landscape &amp; Outlook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492459"/>
                  </a:ext>
                </a:extLst>
              </a:tr>
              <a:tr h="432000">
                <a:tc>
                  <a:txBody>
                    <a:bodyPr/>
                    <a:lstStyle/>
                    <a:p>
                      <a:pPr latinLnBrk="1"/>
                      <a:r>
                        <a:rPr lang="en-US" altLang="ko-KR" sz="1600" b="0" baseline="0" dirty="0">
                          <a:solidFill>
                            <a:schemeClr val="bg1"/>
                          </a:solidFill>
                          <a:latin typeface="+mj-lt"/>
                          <a:ea typeface="+mj-ea"/>
                        </a:rPr>
                        <a:t>04</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Pipeline &amp; Technology</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0736481"/>
                  </a:ext>
                </a:extLst>
              </a:tr>
              <a:tr h="432000">
                <a:tc>
                  <a:txBody>
                    <a:bodyPr/>
                    <a:lstStyle/>
                    <a:p>
                      <a:pPr latinLnBrk="1"/>
                      <a:r>
                        <a:rPr lang="en-US" altLang="ko-KR" sz="1600" b="0" baseline="0" dirty="0">
                          <a:solidFill>
                            <a:schemeClr val="bg1"/>
                          </a:solidFill>
                          <a:latin typeface="+mj-lt"/>
                          <a:ea typeface="+mj-ea"/>
                        </a:rPr>
                        <a:t>05</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Valuation &amp; Benchmark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775710"/>
                  </a:ext>
                </a:extLst>
              </a:tr>
              <a:tr h="432000">
                <a:tc>
                  <a:txBody>
                    <a:bodyPr/>
                    <a:lstStyle/>
                    <a:p>
                      <a:pPr latinLnBrk="1"/>
                      <a:r>
                        <a:rPr lang="en-US" altLang="ko-KR" sz="1600" b="0" baseline="0" dirty="0">
                          <a:solidFill>
                            <a:schemeClr val="bg1"/>
                          </a:solidFill>
                          <a:latin typeface="+mj-lt"/>
                          <a:ea typeface="+mj-ea"/>
                        </a:rPr>
                        <a:t>06</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Exit Pathway &amp; Execution</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362669"/>
                  </a:ext>
                </a:extLst>
              </a:tr>
              <a:tr h="432000">
                <a:tc>
                  <a:txBody>
                    <a:bodyPr/>
                    <a:lstStyle/>
                    <a:p>
                      <a:pPr latinLnBrk="1"/>
                      <a:r>
                        <a:rPr lang="en-US" altLang="ko-KR" sz="1600" b="0" baseline="0" dirty="0">
                          <a:solidFill>
                            <a:schemeClr val="bg1"/>
                          </a:solidFill>
                          <a:latin typeface="+mj-lt"/>
                          <a:ea typeface="+mj-ea"/>
                        </a:rPr>
                        <a:t>07</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Key Investment Terms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39227777"/>
                  </a:ext>
                </a:extLst>
              </a:tr>
            </a:tbl>
          </a:graphicData>
        </a:graphic>
      </p:graphicFrame>
      <p:pic>
        <p:nvPicPr>
          <p:cNvPr id="2" name="그래픽 1">
            <a:extLst>
              <a:ext uri="{FF2B5EF4-FFF2-40B4-BE49-F238E27FC236}">
                <a16:creationId xmlns:a16="http://schemas.microsoft.com/office/drawing/2014/main" id="{112C8888-26DA-C637-E7FF-B76C2D3C73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2999" y="549275"/>
            <a:ext cx="1353293" cy="180000"/>
          </a:xfrm>
          <a:prstGeom prst="rect">
            <a:avLst/>
          </a:prstGeom>
        </p:spPr>
      </p:pic>
    </p:spTree>
    <p:extLst>
      <p:ext uri="{BB962C8B-B14F-4D97-AF65-F5344CB8AC3E}">
        <p14:creationId xmlns:p14="http://schemas.microsoft.com/office/powerpoint/2010/main" val="1957339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8CBFD-7F2D-0DA8-C1C4-1DC175701B22}"/>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F7C7C73-2878-601E-9E1F-72BB6814C0BC}"/>
              </a:ext>
            </a:extLst>
          </p:cNvPr>
          <p:cNvSpPr>
            <a:spLocks noGrp="1"/>
          </p:cNvSpPr>
          <p:nvPr>
            <p:ph type="body" sz="quarter" idx="11"/>
          </p:nvPr>
        </p:nvSpPr>
        <p:spPr/>
        <p:txBody>
          <a:bodyPr/>
          <a:lstStyle/>
          <a:p>
            <a:r>
              <a:rPr lang="en-US" altLang="ko-KR" dirty="0"/>
              <a:t>Transaction Overview</a:t>
            </a:r>
            <a:endParaRPr lang="ko-KR" altLang="en-US" dirty="0"/>
          </a:p>
        </p:txBody>
      </p:sp>
      <p:sp>
        <p:nvSpPr>
          <p:cNvPr id="3" name="텍스트 개체 틀 2">
            <a:extLst>
              <a:ext uri="{FF2B5EF4-FFF2-40B4-BE49-F238E27FC236}">
                <a16:creationId xmlns:a16="http://schemas.microsoft.com/office/drawing/2014/main" id="{3E4225BB-75EA-C940-750E-1CFA38C7631E}"/>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3C09E25-7A1F-8667-0BCE-6664F17147C8}"/>
              </a:ext>
            </a:extLst>
          </p:cNvPr>
          <p:cNvSpPr>
            <a:spLocks noGrp="1"/>
          </p:cNvSpPr>
          <p:nvPr>
            <p:ph type="sldNum" sz="quarter" idx="13"/>
          </p:nvPr>
        </p:nvSpPr>
        <p:spPr/>
        <p:txBody>
          <a:bodyPr/>
          <a:lstStyle/>
          <a:p>
            <a:fld id="{C053318C-A610-4AA5-9FF7-26630BAA1E31}" type="slidenum">
              <a:rPr lang="en-US" altLang="ko-KR" smtClean="0"/>
              <a:pPr/>
              <a:t>3</a:t>
            </a:fld>
            <a:endParaRPr lang="en-US" dirty="0"/>
          </a:p>
        </p:txBody>
      </p:sp>
      <p:sp>
        <p:nvSpPr>
          <p:cNvPr id="8" name="TextBox 7">
            <a:extLst>
              <a:ext uri="{FF2B5EF4-FFF2-40B4-BE49-F238E27FC236}">
                <a16:creationId xmlns:a16="http://schemas.microsoft.com/office/drawing/2014/main" id="{E84B29D1-E842-BEEC-16B3-B4A2164EBD01}"/>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NK THERAPEUTICS CORP. (“NKTx”) invites new investors to participate in a $20 million private placement to secure ownership in Future Medicine and Curigin and support a direct NASDAQ listing.</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CA2F08DE-32BD-40D2-E0EE-8815320F4CEF}"/>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Contemplated Structure</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7AB2A69F-E2E5-6F8D-5016-62A12A558F2C}"/>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Transaction Summary &amp; Use of Proceeds</a:t>
            </a:r>
            <a:endParaRPr lang="ko-KR" altLang="en-US" sz="1200" b="1" dirty="0">
              <a:solidFill>
                <a:schemeClr val="bg1"/>
              </a:solidFill>
            </a:endParaRPr>
          </a:p>
        </p:txBody>
      </p:sp>
      <p:sp>
        <p:nvSpPr>
          <p:cNvPr id="11" name="직사각형 10">
            <a:extLst>
              <a:ext uri="{FF2B5EF4-FFF2-40B4-BE49-F238E27FC236}">
                <a16:creationId xmlns:a16="http://schemas.microsoft.com/office/drawing/2014/main" id="{41A5C572-6CEC-3BCE-8C89-5894AC98B80B}"/>
              </a:ext>
            </a:extLst>
          </p:cNvPr>
          <p:cNvSpPr/>
          <p:nvPr/>
        </p:nvSpPr>
        <p:spPr>
          <a:xfrm>
            <a:off x="1353000" y="2168525"/>
            <a:ext cx="1152000" cy="576000"/>
          </a:xfrm>
          <a:prstGeom prst="rect">
            <a:avLst/>
          </a:prstGeom>
          <a:solidFill>
            <a:srgbClr val="2A5FA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bg1"/>
                </a:solidFill>
              </a:rPr>
              <a:t>NKTx</a:t>
            </a:r>
          </a:p>
          <a:p>
            <a:pPr algn="ctr"/>
            <a:r>
              <a:rPr lang="en-US" altLang="ko-KR" sz="1200" b="1" dirty="0">
                <a:solidFill>
                  <a:schemeClr val="bg1"/>
                </a:solidFill>
              </a:rPr>
              <a:t>Founders</a:t>
            </a:r>
            <a:endParaRPr lang="ko-KR" altLang="en-US" sz="1200" b="1" dirty="0">
              <a:solidFill>
                <a:schemeClr val="bg1"/>
              </a:solidFill>
            </a:endParaRPr>
          </a:p>
        </p:txBody>
      </p:sp>
      <p:sp>
        <p:nvSpPr>
          <p:cNvPr id="14" name="직사각형 13">
            <a:extLst>
              <a:ext uri="{FF2B5EF4-FFF2-40B4-BE49-F238E27FC236}">
                <a16:creationId xmlns:a16="http://schemas.microsoft.com/office/drawing/2014/main" id="{A7C67921-99D0-D7A5-284F-D9F28EFD29D7}"/>
              </a:ext>
            </a:extLst>
          </p:cNvPr>
          <p:cNvSpPr/>
          <p:nvPr/>
        </p:nvSpPr>
        <p:spPr>
          <a:xfrm>
            <a:off x="1353000" y="3410525"/>
            <a:ext cx="1152000" cy="576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bg1"/>
                </a:solidFill>
              </a:rPr>
              <a:t>NK</a:t>
            </a:r>
          </a:p>
          <a:p>
            <a:pPr algn="ctr"/>
            <a:r>
              <a:rPr lang="en-US" altLang="ko-KR" sz="1200" b="1" spc="-50" dirty="0">
                <a:solidFill>
                  <a:schemeClr val="bg1"/>
                </a:solidFill>
              </a:rPr>
              <a:t>THERAPEUTICS</a:t>
            </a:r>
            <a:endParaRPr lang="ko-KR" altLang="en-US" sz="1200" b="1" spc="-50" dirty="0">
              <a:solidFill>
                <a:schemeClr val="bg1"/>
              </a:solidFill>
            </a:endParaRPr>
          </a:p>
        </p:txBody>
      </p:sp>
      <p:sp>
        <p:nvSpPr>
          <p:cNvPr id="15" name="직사각형 14">
            <a:extLst>
              <a:ext uri="{FF2B5EF4-FFF2-40B4-BE49-F238E27FC236}">
                <a16:creationId xmlns:a16="http://schemas.microsoft.com/office/drawing/2014/main" id="{4E973D41-E199-9792-0F54-EF42C6DDFC3A}"/>
              </a:ext>
            </a:extLst>
          </p:cNvPr>
          <p:cNvSpPr/>
          <p:nvPr/>
        </p:nvSpPr>
        <p:spPr>
          <a:xfrm>
            <a:off x="633000" y="4652525"/>
            <a:ext cx="1152000" cy="576000"/>
          </a:xfrm>
          <a:prstGeom prst="rect">
            <a:avLst/>
          </a:prstGeom>
          <a:solidFill>
            <a:schemeClr val="bg1"/>
          </a:solidFill>
          <a:ln>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rgbClr val="3D3D3D"/>
                </a:solidFill>
              </a:rPr>
              <a:t>Future</a:t>
            </a:r>
          </a:p>
          <a:p>
            <a:pPr algn="ctr"/>
            <a:r>
              <a:rPr lang="en-US" altLang="ko-KR" sz="1200" b="1" dirty="0">
                <a:solidFill>
                  <a:srgbClr val="3D3D3D"/>
                </a:solidFill>
              </a:rPr>
              <a:t>Medicine</a:t>
            </a:r>
            <a:endParaRPr lang="ko-KR" altLang="en-US" sz="1200" b="1" dirty="0">
              <a:solidFill>
                <a:srgbClr val="3D3D3D"/>
              </a:solidFill>
            </a:endParaRPr>
          </a:p>
        </p:txBody>
      </p:sp>
      <p:sp>
        <p:nvSpPr>
          <p:cNvPr id="16" name="직사각형 15">
            <a:extLst>
              <a:ext uri="{FF2B5EF4-FFF2-40B4-BE49-F238E27FC236}">
                <a16:creationId xmlns:a16="http://schemas.microsoft.com/office/drawing/2014/main" id="{2F98BD51-5914-E6CF-9BBB-660DE85E721A}"/>
              </a:ext>
            </a:extLst>
          </p:cNvPr>
          <p:cNvSpPr/>
          <p:nvPr/>
        </p:nvSpPr>
        <p:spPr>
          <a:xfrm>
            <a:off x="2073000" y="4652525"/>
            <a:ext cx="1152000" cy="576000"/>
          </a:xfrm>
          <a:prstGeom prst="rect">
            <a:avLst/>
          </a:prstGeom>
          <a:solidFill>
            <a:schemeClr val="bg1"/>
          </a:solidFill>
          <a:ln>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rgbClr val="3D3D3D"/>
                </a:solidFill>
              </a:rPr>
              <a:t>Curigin</a:t>
            </a:r>
            <a:endParaRPr lang="ko-KR" altLang="en-US" sz="1200" b="1" dirty="0">
              <a:solidFill>
                <a:srgbClr val="3D3D3D"/>
              </a:solidFill>
            </a:endParaRPr>
          </a:p>
        </p:txBody>
      </p:sp>
      <p:sp>
        <p:nvSpPr>
          <p:cNvPr id="17" name="직사각형 16">
            <a:extLst>
              <a:ext uri="{FF2B5EF4-FFF2-40B4-BE49-F238E27FC236}">
                <a16:creationId xmlns:a16="http://schemas.microsoft.com/office/drawing/2014/main" id="{9257EB58-67D0-8B59-A15E-4E384EE8A164}"/>
              </a:ext>
            </a:extLst>
          </p:cNvPr>
          <p:cNvSpPr/>
          <p:nvPr/>
        </p:nvSpPr>
        <p:spPr>
          <a:xfrm>
            <a:off x="3513000" y="3410525"/>
            <a:ext cx="1152000" cy="576000"/>
          </a:xfrm>
          <a:prstGeom prst="rect">
            <a:avLst/>
          </a:prstGeom>
          <a:solidFill>
            <a:srgbClr val="9B5B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bg1"/>
                </a:solidFill>
              </a:rPr>
              <a:t>NEW</a:t>
            </a:r>
          </a:p>
          <a:p>
            <a:pPr algn="ctr"/>
            <a:r>
              <a:rPr lang="en-US" altLang="ko-KR" sz="1200" b="1" dirty="0">
                <a:solidFill>
                  <a:schemeClr val="bg1"/>
                </a:solidFill>
              </a:rPr>
              <a:t>INVESTORS</a:t>
            </a:r>
            <a:endParaRPr lang="ko-KR" altLang="en-US" sz="1200" b="1" dirty="0">
              <a:solidFill>
                <a:schemeClr val="bg1"/>
              </a:solidFill>
            </a:endParaRPr>
          </a:p>
        </p:txBody>
      </p:sp>
      <p:cxnSp>
        <p:nvCxnSpPr>
          <p:cNvPr id="28" name="연결선: 꺾임 27">
            <a:extLst>
              <a:ext uri="{FF2B5EF4-FFF2-40B4-BE49-F238E27FC236}">
                <a16:creationId xmlns:a16="http://schemas.microsoft.com/office/drawing/2014/main" id="{EC375CA2-A496-76FE-F205-6D2563C94B06}"/>
              </a:ext>
            </a:extLst>
          </p:cNvPr>
          <p:cNvCxnSpPr>
            <a:cxnSpLocks/>
            <a:stCxn id="14" idx="2"/>
            <a:endCxn id="15" idx="0"/>
          </p:cNvCxnSpPr>
          <p:nvPr/>
        </p:nvCxnSpPr>
        <p:spPr>
          <a:xfrm rot="5400000">
            <a:off x="1236000" y="3959525"/>
            <a:ext cx="666000" cy="720000"/>
          </a:xfrm>
          <a:prstGeom prst="bentConnector3">
            <a:avLst/>
          </a:prstGeom>
          <a:ln w="6350">
            <a:solidFill>
              <a:srgbClr val="3D3D3D"/>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 name="연결선: 꺾임 29">
            <a:extLst>
              <a:ext uri="{FF2B5EF4-FFF2-40B4-BE49-F238E27FC236}">
                <a16:creationId xmlns:a16="http://schemas.microsoft.com/office/drawing/2014/main" id="{D68DF49B-301A-9167-401A-132AB937AE13}"/>
              </a:ext>
            </a:extLst>
          </p:cNvPr>
          <p:cNvCxnSpPr>
            <a:cxnSpLocks/>
            <a:stCxn id="14" idx="2"/>
            <a:endCxn id="16" idx="0"/>
          </p:cNvCxnSpPr>
          <p:nvPr/>
        </p:nvCxnSpPr>
        <p:spPr>
          <a:xfrm rot="16200000" flipH="1">
            <a:off x="1956000" y="3959525"/>
            <a:ext cx="666000" cy="720000"/>
          </a:xfrm>
          <a:prstGeom prst="bentConnector3">
            <a:avLst/>
          </a:prstGeom>
          <a:ln w="6350">
            <a:solidFill>
              <a:srgbClr val="3D3D3D"/>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2" name="직선 화살표 연결선 31">
            <a:extLst>
              <a:ext uri="{FF2B5EF4-FFF2-40B4-BE49-F238E27FC236}">
                <a16:creationId xmlns:a16="http://schemas.microsoft.com/office/drawing/2014/main" id="{1E148C24-45CC-B5ED-3C02-347F30866D8D}"/>
              </a:ext>
            </a:extLst>
          </p:cNvPr>
          <p:cNvCxnSpPr>
            <a:stCxn id="17" idx="1"/>
            <a:endCxn id="14" idx="3"/>
          </p:cNvCxnSpPr>
          <p:nvPr/>
        </p:nvCxnSpPr>
        <p:spPr>
          <a:xfrm flipH="1">
            <a:off x="2505000" y="3698525"/>
            <a:ext cx="1008000" cy="0"/>
          </a:xfrm>
          <a:prstGeom prst="straightConnector1">
            <a:avLst/>
          </a:prstGeom>
          <a:ln w="19050">
            <a:solidFill>
              <a:srgbClr val="9B5BF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84761B11-D4CB-FA38-39C9-E23D2471AF29}"/>
              </a:ext>
            </a:extLst>
          </p:cNvPr>
          <p:cNvSpPr txBox="1"/>
          <p:nvPr/>
        </p:nvSpPr>
        <p:spPr>
          <a:xfrm>
            <a:off x="2666758" y="3777556"/>
            <a:ext cx="684483" cy="327334"/>
          </a:xfrm>
          <a:prstGeom prst="rect">
            <a:avLst/>
          </a:prstGeom>
          <a:noFill/>
        </p:spPr>
        <p:txBody>
          <a:bodyPr wrap="none" lIns="0" tIns="0" rIns="0" bIns="0" rtlCol="0">
            <a:spAutoFit/>
          </a:bodyPr>
          <a:lstStyle/>
          <a:p>
            <a:pPr algn="ctr">
              <a:lnSpc>
                <a:spcPct val="110000"/>
              </a:lnSpc>
            </a:pPr>
            <a:r>
              <a:rPr lang="en-US" altLang="ko-KR" sz="1000" b="1" dirty="0">
                <a:solidFill>
                  <a:srgbClr val="9B5BFF"/>
                </a:solidFill>
              </a:rPr>
              <a:t>$20 Million</a:t>
            </a:r>
          </a:p>
          <a:p>
            <a:pPr algn="ctr">
              <a:lnSpc>
                <a:spcPct val="110000"/>
              </a:lnSpc>
            </a:pPr>
            <a:r>
              <a:rPr lang="en-US" altLang="ko-KR" sz="1000" b="1" dirty="0">
                <a:solidFill>
                  <a:srgbClr val="9B5BFF"/>
                </a:solidFill>
              </a:rPr>
              <a:t>Investment</a:t>
            </a:r>
            <a:endParaRPr lang="ko-KR" altLang="en-US" sz="1000" b="1" dirty="0">
              <a:solidFill>
                <a:srgbClr val="9B5BFF"/>
              </a:solidFill>
            </a:endParaRPr>
          </a:p>
        </p:txBody>
      </p:sp>
      <p:sp>
        <p:nvSpPr>
          <p:cNvPr id="34" name="TextBox 33">
            <a:extLst>
              <a:ext uri="{FF2B5EF4-FFF2-40B4-BE49-F238E27FC236}">
                <a16:creationId xmlns:a16="http://schemas.microsoft.com/office/drawing/2014/main" id="{2FDE3E44-5755-DB4E-B91C-6E50CE07E3BD}"/>
              </a:ext>
            </a:extLst>
          </p:cNvPr>
          <p:cNvSpPr txBox="1"/>
          <p:nvPr/>
        </p:nvSpPr>
        <p:spPr>
          <a:xfrm>
            <a:off x="1209000" y="4404595"/>
            <a:ext cx="352711" cy="158057"/>
          </a:xfrm>
          <a:prstGeom prst="rect">
            <a:avLst/>
          </a:prstGeom>
          <a:noFill/>
        </p:spPr>
        <p:txBody>
          <a:bodyPr wrap="none" lIns="108000" tIns="0" rIns="0" bIns="0" rtlCol="0">
            <a:spAutoFit/>
          </a:bodyPr>
          <a:lstStyle/>
          <a:p>
            <a:pPr algn="l">
              <a:lnSpc>
                <a:spcPct val="110000"/>
              </a:lnSpc>
            </a:pPr>
            <a:r>
              <a:rPr lang="en-US" altLang="ko-KR" sz="1000" dirty="0">
                <a:solidFill>
                  <a:srgbClr val="3D3D3D"/>
                </a:solidFill>
              </a:rPr>
              <a:t>51%</a:t>
            </a:r>
            <a:endParaRPr lang="ko-KR" altLang="en-US" sz="1000" dirty="0">
              <a:solidFill>
                <a:srgbClr val="3D3D3D"/>
              </a:solidFill>
            </a:endParaRPr>
          </a:p>
        </p:txBody>
      </p:sp>
      <p:sp>
        <p:nvSpPr>
          <p:cNvPr id="35" name="TextBox 34">
            <a:extLst>
              <a:ext uri="{FF2B5EF4-FFF2-40B4-BE49-F238E27FC236}">
                <a16:creationId xmlns:a16="http://schemas.microsoft.com/office/drawing/2014/main" id="{7E2FC7AE-ACF4-4253-9654-25EABD7EF06F}"/>
              </a:ext>
            </a:extLst>
          </p:cNvPr>
          <p:cNvSpPr txBox="1"/>
          <p:nvPr/>
        </p:nvSpPr>
        <p:spPr>
          <a:xfrm>
            <a:off x="2649000" y="4345123"/>
            <a:ext cx="1053224" cy="276999"/>
          </a:xfrm>
          <a:prstGeom prst="rect">
            <a:avLst/>
          </a:prstGeom>
          <a:noFill/>
        </p:spPr>
        <p:txBody>
          <a:bodyPr wrap="none" lIns="108000" tIns="0" rIns="0" bIns="0" rtlCol="0">
            <a:spAutoFit/>
          </a:bodyPr>
          <a:lstStyle/>
          <a:p>
            <a:pPr algn="l"/>
            <a:r>
              <a:rPr lang="en-US" altLang="ko-KR" sz="1000" dirty="0">
                <a:solidFill>
                  <a:srgbClr val="3D3D3D"/>
                </a:solidFill>
              </a:rPr>
              <a:t>19%</a:t>
            </a:r>
          </a:p>
          <a:p>
            <a:pPr algn="l"/>
            <a:r>
              <a:rPr lang="en-US" altLang="ko-KR" sz="800" dirty="0">
                <a:solidFill>
                  <a:srgbClr val="3D3D3D"/>
                </a:solidFill>
              </a:rPr>
              <a:t>(100% Post-listing)*</a:t>
            </a:r>
            <a:endParaRPr lang="ko-KR" altLang="en-US" sz="800" dirty="0">
              <a:solidFill>
                <a:srgbClr val="3D3D3D"/>
              </a:solidFill>
            </a:endParaRPr>
          </a:p>
        </p:txBody>
      </p:sp>
      <p:sp>
        <p:nvSpPr>
          <p:cNvPr id="40" name="TextBox 39">
            <a:extLst>
              <a:ext uri="{FF2B5EF4-FFF2-40B4-BE49-F238E27FC236}">
                <a16:creationId xmlns:a16="http://schemas.microsoft.com/office/drawing/2014/main" id="{02D0674E-ADC4-56D2-18CF-717F23D12B10}"/>
              </a:ext>
            </a:extLst>
          </p:cNvPr>
          <p:cNvSpPr txBox="1"/>
          <p:nvPr/>
        </p:nvSpPr>
        <p:spPr>
          <a:xfrm>
            <a:off x="1928999" y="2998497"/>
            <a:ext cx="429655" cy="158057"/>
          </a:xfrm>
          <a:prstGeom prst="rect">
            <a:avLst/>
          </a:prstGeom>
          <a:noFill/>
        </p:spPr>
        <p:txBody>
          <a:bodyPr wrap="none" lIns="108000" tIns="0" rIns="0" bIns="0" rtlCol="0">
            <a:spAutoFit/>
          </a:bodyPr>
          <a:lstStyle/>
          <a:p>
            <a:pPr algn="l">
              <a:lnSpc>
                <a:spcPct val="110000"/>
              </a:lnSpc>
            </a:pPr>
            <a:r>
              <a:rPr lang="en-US" altLang="ko-KR" sz="1000">
                <a:solidFill>
                  <a:srgbClr val="3D3D3D"/>
                </a:solidFill>
              </a:rPr>
              <a:t>100%</a:t>
            </a:r>
            <a:endParaRPr lang="ko-KR" altLang="en-US" sz="1000" dirty="0">
              <a:solidFill>
                <a:srgbClr val="3D3D3D"/>
              </a:solidFill>
            </a:endParaRPr>
          </a:p>
        </p:txBody>
      </p:sp>
      <p:graphicFrame>
        <p:nvGraphicFramePr>
          <p:cNvPr id="44" name="표 43">
            <a:extLst>
              <a:ext uri="{FF2B5EF4-FFF2-40B4-BE49-F238E27FC236}">
                <a16:creationId xmlns:a16="http://schemas.microsoft.com/office/drawing/2014/main" id="{22F6C076-2FF8-5F6A-CCA9-9D0ED30DD5D3}"/>
              </a:ext>
            </a:extLst>
          </p:cNvPr>
          <p:cNvGraphicFramePr>
            <a:graphicFrameLocks noGrp="1"/>
          </p:cNvGraphicFramePr>
          <p:nvPr>
            <p:extLst>
              <p:ext uri="{D42A27DB-BD31-4B8C-83A1-F6EECF244321}">
                <p14:modId xmlns:p14="http://schemas.microsoft.com/office/powerpoint/2010/main" val="3878281502"/>
              </p:ext>
            </p:extLst>
          </p:nvPr>
        </p:nvGraphicFramePr>
        <p:xfrm>
          <a:off x="5061000" y="2168525"/>
          <a:ext cx="4392000" cy="1152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905467451"/>
                    </a:ext>
                  </a:extLst>
                </a:gridCol>
                <a:gridCol w="2952000">
                  <a:extLst>
                    <a:ext uri="{9D8B030D-6E8A-4147-A177-3AD203B41FA5}">
                      <a16:colId xmlns:a16="http://schemas.microsoft.com/office/drawing/2014/main" val="2648872957"/>
                    </a:ext>
                  </a:extLst>
                </a:gridCol>
              </a:tblGrid>
              <a:tr h="288000">
                <a:tc>
                  <a:txBody>
                    <a:bodyPr/>
                    <a:lstStyle/>
                    <a:p>
                      <a:pPr latinLnBrk="1">
                        <a:lnSpc>
                          <a:spcPct val="110000"/>
                        </a:lnSpc>
                        <a:spcAft>
                          <a:spcPts val="300"/>
                        </a:spcAft>
                      </a:pPr>
                      <a:r>
                        <a:rPr lang="en-US" altLang="ko-KR" sz="1000" b="1" dirty="0">
                          <a:solidFill>
                            <a:schemeClr val="bg1"/>
                          </a:solidFill>
                        </a:rPr>
                        <a:t>Investment</a:t>
                      </a:r>
                      <a:r>
                        <a:rPr lang="ko-KR" altLang="en-US" sz="1000" b="1" dirty="0">
                          <a:solidFill>
                            <a:schemeClr val="bg1"/>
                          </a:solidFill>
                        </a:rPr>
                        <a:t> </a:t>
                      </a:r>
                      <a:r>
                        <a:rPr lang="en-US" altLang="ko-KR" sz="1000" b="1" dirty="0">
                          <a:solidFill>
                            <a:schemeClr val="bg1"/>
                          </a:solidFill>
                        </a:rPr>
                        <a:t>target</a:t>
                      </a: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1" dirty="0">
                          <a:solidFill>
                            <a:srgbClr val="3D3D3D"/>
                          </a:solidFill>
                        </a:rPr>
                        <a:t>NK Therapeutics Corp.</a:t>
                      </a:r>
                      <a:r>
                        <a:rPr lang="en-US" altLang="ko-KR" sz="1000" b="0" dirty="0">
                          <a:solidFill>
                            <a:srgbClr val="3D3D3D"/>
                          </a:solidFill>
                        </a:rPr>
                        <a:t> </a:t>
                      </a:r>
                      <a:r>
                        <a:rPr lang="en-US" altLang="ko-KR" sz="800" b="0" dirty="0">
                          <a:solidFill>
                            <a:srgbClr val="3D3D3D"/>
                          </a:solidFill>
                        </a:rPr>
                        <a:t>(USA entity)</a:t>
                      </a:r>
                      <a:endParaRPr lang="ko-KR" altLang="en-US" sz="1000" b="0" dirty="0">
                        <a:solidFill>
                          <a:srgbClr val="3D3D3D"/>
                        </a:solidFill>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3019101"/>
                  </a:ext>
                </a:extLst>
              </a:tr>
              <a:tr h="288000">
                <a:tc>
                  <a:txBody>
                    <a:bodyPr/>
                    <a:lstStyle/>
                    <a:p>
                      <a:pPr latinLnBrk="1">
                        <a:lnSpc>
                          <a:spcPct val="110000"/>
                        </a:lnSpc>
                        <a:spcAft>
                          <a:spcPts val="300"/>
                        </a:spcAft>
                      </a:pPr>
                      <a:r>
                        <a:rPr lang="en-US" altLang="ko-KR" sz="1000" b="1" dirty="0">
                          <a:solidFill>
                            <a:schemeClr val="bg1"/>
                          </a:solidFill>
                        </a:rPr>
                        <a:t>Securities issued</a:t>
                      </a: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0" dirty="0">
                          <a:solidFill>
                            <a:srgbClr val="3D3D3D"/>
                          </a:solidFill>
                        </a:rPr>
                        <a:t>Redeemable Convertible Preferred Stock </a:t>
                      </a:r>
                      <a:r>
                        <a:rPr lang="en-US" altLang="ko-KR" sz="800" b="0" dirty="0">
                          <a:solidFill>
                            <a:srgbClr val="3D3D3D"/>
                          </a:solidFill>
                        </a:rPr>
                        <a:t>(“RCPS”)</a:t>
                      </a:r>
                      <a:endParaRPr lang="ko-KR" altLang="en-US" sz="1000" b="0" dirty="0">
                        <a:solidFill>
                          <a:srgbClr val="3D3D3D"/>
                        </a:solidFill>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2327229"/>
                  </a:ext>
                </a:extLst>
              </a:tr>
              <a:tr h="288000">
                <a:tc>
                  <a:txBody>
                    <a:bodyPr/>
                    <a:lstStyle/>
                    <a:p>
                      <a:pPr latinLnBrk="1">
                        <a:lnSpc>
                          <a:spcPct val="110000"/>
                        </a:lnSpc>
                        <a:spcAft>
                          <a:spcPts val="300"/>
                        </a:spcAft>
                      </a:pPr>
                      <a:r>
                        <a:rPr lang="en-US" altLang="ko-KR" sz="1000" b="1" dirty="0">
                          <a:solidFill>
                            <a:schemeClr val="bg1"/>
                          </a:solidFill>
                        </a:rPr>
                        <a:t>Proposed amount</a:t>
                      </a:r>
                      <a:endParaRPr lang="ko-KR" altLang="en-US" sz="1000" b="1" dirty="0">
                        <a:solidFill>
                          <a:schemeClr val="bg1"/>
                        </a:solidFill>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1" dirty="0">
                          <a:solidFill>
                            <a:srgbClr val="3D3D3D"/>
                          </a:solidFill>
                        </a:rPr>
                        <a:t>$20 million</a:t>
                      </a:r>
                      <a:endParaRPr lang="ko-KR" altLang="en-US" sz="1000" b="1" dirty="0">
                        <a:solidFill>
                          <a:srgbClr val="3D3D3D"/>
                        </a:solidFill>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4605038"/>
                  </a:ext>
                </a:extLst>
              </a:tr>
              <a:tr h="288000">
                <a:tc>
                  <a:txBody>
                    <a:bodyPr/>
                    <a:lstStyle/>
                    <a:p>
                      <a:pPr latinLnBrk="1">
                        <a:lnSpc>
                          <a:spcPct val="110000"/>
                        </a:lnSpc>
                        <a:spcAft>
                          <a:spcPts val="300"/>
                        </a:spcAft>
                      </a:pPr>
                      <a:r>
                        <a:rPr lang="en-US" altLang="ko-KR" sz="1000" b="1" dirty="0">
                          <a:solidFill>
                            <a:schemeClr val="bg1"/>
                          </a:solidFill>
                        </a:rPr>
                        <a:t>Pre-money valuation</a:t>
                      </a:r>
                      <a:endParaRPr lang="ko-KR" altLang="en-US" sz="1000" b="1" dirty="0">
                        <a:solidFill>
                          <a:schemeClr val="bg1"/>
                        </a:solidFill>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0" dirty="0">
                          <a:solidFill>
                            <a:srgbClr val="3D3D3D"/>
                          </a:solidFill>
                        </a:rPr>
                        <a:t>$40 million</a:t>
                      </a:r>
                      <a:endParaRPr lang="ko-KR" altLang="en-US" sz="1000" b="0" dirty="0">
                        <a:solidFill>
                          <a:srgbClr val="3D3D3D"/>
                        </a:solidFill>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0360265"/>
                  </a:ext>
                </a:extLst>
              </a:tr>
            </a:tbl>
          </a:graphicData>
        </a:graphic>
      </p:graphicFrame>
      <p:graphicFrame>
        <p:nvGraphicFramePr>
          <p:cNvPr id="47" name="표 46">
            <a:extLst>
              <a:ext uri="{FF2B5EF4-FFF2-40B4-BE49-F238E27FC236}">
                <a16:creationId xmlns:a16="http://schemas.microsoft.com/office/drawing/2014/main" id="{82FF9D0F-00E5-03BD-64ED-87653893767C}"/>
              </a:ext>
            </a:extLst>
          </p:cNvPr>
          <p:cNvGraphicFramePr>
            <a:graphicFrameLocks noGrp="1"/>
          </p:cNvGraphicFramePr>
          <p:nvPr>
            <p:extLst>
              <p:ext uri="{D42A27DB-BD31-4B8C-83A1-F6EECF244321}">
                <p14:modId xmlns:p14="http://schemas.microsoft.com/office/powerpoint/2010/main" val="3577695644"/>
              </p:ext>
            </p:extLst>
          </p:nvPr>
        </p:nvGraphicFramePr>
        <p:xfrm>
          <a:off x="5061000" y="3500525"/>
          <a:ext cx="4392000" cy="1728000"/>
        </p:xfrm>
        <a:graphic>
          <a:graphicData uri="http://schemas.openxmlformats.org/drawingml/2006/table">
            <a:tbl>
              <a:tblPr firstRow="1" bandRow="1">
                <a:tableStyleId>{5C22544A-7EE6-4342-B048-85BDC9FD1C3A}</a:tableStyleId>
              </a:tblPr>
              <a:tblGrid>
                <a:gridCol w="3672000">
                  <a:extLst>
                    <a:ext uri="{9D8B030D-6E8A-4147-A177-3AD203B41FA5}">
                      <a16:colId xmlns:a16="http://schemas.microsoft.com/office/drawing/2014/main" val="1714411536"/>
                    </a:ext>
                  </a:extLst>
                </a:gridCol>
                <a:gridCol w="720000">
                  <a:extLst>
                    <a:ext uri="{9D8B030D-6E8A-4147-A177-3AD203B41FA5}">
                      <a16:colId xmlns:a16="http://schemas.microsoft.com/office/drawing/2014/main" val="3002544791"/>
                    </a:ext>
                  </a:extLst>
                </a:gridCol>
              </a:tblGrid>
              <a:tr h="288000">
                <a:tc gridSpan="2">
                  <a:txBody>
                    <a:bodyPr/>
                    <a:lstStyle/>
                    <a:p>
                      <a:pPr latinLnBrk="1"/>
                      <a:r>
                        <a:rPr lang="en-US" altLang="ko-KR" sz="1000" b="1" dirty="0">
                          <a:solidFill>
                            <a:schemeClr val="bg1"/>
                          </a:solidFill>
                        </a:rPr>
                        <a:t>Use of Proceeds</a:t>
                      </a:r>
                      <a:endParaRPr lang="ko-KR" altLang="en-US" sz="1000" b="1" dirty="0">
                        <a:solidFill>
                          <a:schemeClr val="bg1"/>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solidFill>
                      <a:srgbClr val="539DFF"/>
                    </a:solidFill>
                  </a:tcPr>
                </a:tc>
                <a:tc hMerge="1">
                  <a:txBody>
                    <a:bodyPr/>
                    <a:lstStyle/>
                    <a:p>
                      <a:pPr latinLnBrk="1"/>
                      <a:endParaRPr lang="ko-KR" altLang="en-US" sz="1000" dirty="0">
                        <a:solidFill>
                          <a:srgbClr val="3D3D3D"/>
                        </a:solidFill>
                      </a:endParaRPr>
                    </a:p>
                  </a:txBody>
                  <a:tcPr marL="72000" marR="72000" marT="72000" marB="72000" anchor="ct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noFill/>
                  </a:tcPr>
                </a:tc>
                <a:extLst>
                  <a:ext uri="{0D108BD9-81ED-4DB2-BD59-A6C34878D82A}">
                    <a16:rowId xmlns:a16="http://schemas.microsoft.com/office/drawing/2014/main" val="1540530462"/>
                  </a:ext>
                </a:extLst>
              </a:tr>
              <a:tr h="288000">
                <a:tc>
                  <a:txBody>
                    <a:bodyPr/>
                    <a:lstStyle/>
                    <a:p>
                      <a:pPr latinLnBrk="1"/>
                      <a:r>
                        <a:rPr lang="en-US" altLang="ko-KR" sz="1000" dirty="0">
                          <a:solidFill>
                            <a:srgbClr val="3D3D3D"/>
                          </a:solidFill>
                        </a:rPr>
                        <a:t>Acquisition of controlling stake (51%) in Future Medicine</a:t>
                      </a: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$10M</a:t>
                      </a:r>
                      <a:endParaRPr lang="ko-KR" altLang="en-US" sz="1000"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375868"/>
                  </a:ext>
                </a:extLst>
              </a:tr>
              <a:tr h="288000">
                <a:tc>
                  <a:txBody>
                    <a:bodyPr/>
                    <a:lstStyle/>
                    <a:p>
                      <a:pPr latinLnBrk="1"/>
                      <a:r>
                        <a:rPr lang="en-US" altLang="ko-KR" sz="1000" dirty="0">
                          <a:solidFill>
                            <a:srgbClr val="3D3D3D"/>
                          </a:solidFill>
                        </a:rPr>
                        <a:t>Acquisition of minority stake (19%) in Curigin*</a:t>
                      </a:r>
                      <a:endParaRPr lang="ko-KR" altLang="en-US" sz="1000"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$2.8M</a:t>
                      </a:r>
                      <a:endParaRPr lang="ko-KR" altLang="en-US" sz="1000"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2825157"/>
                  </a:ext>
                </a:extLst>
              </a:tr>
              <a:tr h="288000">
                <a:tc>
                  <a:txBody>
                    <a:bodyPr/>
                    <a:lstStyle/>
                    <a:p>
                      <a:pPr latinLnBrk="1"/>
                      <a:r>
                        <a:rPr lang="en-US" altLang="ko-KR" sz="1000" dirty="0">
                          <a:solidFill>
                            <a:srgbClr val="3D3D3D"/>
                          </a:solidFill>
                        </a:rPr>
                        <a:t>NASDAQ listing expenses</a:t>
                      </a:r>
                      <a:endParaRPr lang="ko-KR" altLang="en-US" sz="1000"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$3.7M</a:t>
                      </a:r>
                      <a:endParaRPr lang="ko-KR" altLang="en-US" sz="1000"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6864379"/>
                  </a:ext>
                </a:extLst>
              </a:tr>
              <a:tr h="288000">
                <a:tc>
                  <a:txBody>
                    <a:bodyPr/>
                    <a:lstStyle/>
                    <a:p>
                      <a:pPr latinLnBrk="1"/>
                      <a:r>
                        <a:rPr lang="en-US" altLang="ko-KR" sz="1000" dirty="0">
                          <a:solidFill>
                            <a:srgbClr val="3D3D3D"/>
                          </a:solidFill>
                        </a:rPr>
                        <a:t>General operating expenses</a:t>
                      </a:r>
                      <a:endParaRPr lang="ko-KR" altLang="en-US" sz="1000"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$3.5M</a:t>
                      </a:r>
                      <a:endParaRPr lang="ko-KR" altLang="en-US" sz="1000"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7902825"/>
                  </a:ext>
                </a:extLst>
              </a:tr>
              <a:tr h="288000">
                <a:tc>
                  <a:txBody>
                    <a:bodyPr/>
                    <a:lstStyle/>
                    <a:p>
                      <a:pPr latinLnBrk="1"/>
                      <a:r>
                        <a:rPr lang="en-US" altLang="ko-KR" sz="1000" b="1" dirty="0">
                          <a:solidFill>
                            <a:srgbClr val="3D3D3D"/>
                          </a:solidFill>
                        </a:rPr>
                        <a:t>Total</a:t>
                      </a:r>
                      <a:endParaRPr lang="ko-KR" altLang="en-US" sz="1000" b="1"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$20M</a:t>
                      </a:r>
                      <a:endParaRPr lang="ko-KR" altLang="en-US" sz="1000" b="1" dirty="0">
                        <a:solidFill>
                          <a:srgbClr val="3D3D3D"/>
                        </a:solidFill>
                      </a:endParaRPr>
                    </a:p>
                  </a:txBody>
                  <a:tcPr marL="72000" marR="72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395800"/>
                  </a:ext>
                </a:extLst>
              </a:tr>
            </a:tbl>
          </a:graphicData>
        </a:graphic>
      </p:graphicFrame>
      <p:sp>
        <p:nvSpPr>
          <p:cNvPr id="50" name="TextBox 49">
            <a:extLst>
              <a:ext uri="{FF2B5EF4-FFF2-40B4-BE49-F238E27FC236}">
                <a16:creationId xmlns:a16="http://schemas.microsoft.com/office/drawing/2014/main" id="{CD2FA7E3-C2E9-504E-C2E8-96D6F771F9A7}"/>
              </a:ext>
            </a:extLst>
          </p:cNvPr>
          <p:cNvSpPr txBox="1"/>
          <p:nvPr/>
        </p:nvSpPr>
        <p:spPr>
          <a:xfrm>
            <a:off x="5061000" y="5345302"/>
            <a:ext cx="3545842" cy="126445"/>
          </a:xfrm>
          <a:prstGeom prst="rect">
            <a:avLst/>
          </a:prstGeom>
          <a:noFill/>
        </p:spPr>
        <p:txBody>
          <a:bodyPr wrap="none" lIns="0" tIns="0" rIns="0" bIns="0" rtlCol="0">
            <a:spAutoFit/>
          </a:bodyPr>
          <a:lstStyle/>
          <a:p>
            <a:pPr algn="l">
              <a:lnSpc>
                <a:spcPct val="110000"/>
              </a:lnSpc>
            </a:pPr>
            <a:r>
              <a:rPr lang="en-US" altLang="ko-KR" sz="800" dirty="0">
                <a:solidFill>
                  <a:srgbClr val="3D3D3D"/>
                </a:solidFill>
              </a:rPr>
              <a:t>* Remaining 81% in Curigin will be acquired through a stock swap after listing.</a:t>
            </a:r>
            <a:endParaRPr lang="ko-KR" altLang="en-US" sz="800" dirty="0">
              <a:solidFill>
                <a:srgbClr val="3D3D3D"/>
              </a:solidFill>
            </a:endParaRPr>
          </a:p>
        </p:txBody>
      </p:sp>
      <p:cxnSp>
        <p:nvCxnSpPr>
          <p:cNvPr id="6" name="직선 연결선 5">
            <a:extLst>
              <a:ext uri="{FF2B5EF4-FFF2-40B4-BE49-F238E27FC236}">
                <a16:creationId xmlns:a16="http://schemas.microsoft.com/office/drawing/2014/main" id="{F0159ED0-40EE-4EB8-271A-4B6A8C97FFC5}"/>
              </a:ext>
            </a:extLst>
          </p:cNvPr>
          <p:cNvCxnSpPr>
            <a:stCxn id="11" idx="2"/>
            <a:endCxn id="14" idx="0"/>
          </p:cNvCxnSpPr>
          <p:nvPr/>
        </p:nvCxnSpPr>
        <p:spPr>
          <a:xfrm>
            <a:off x="1929000" y="2744525"/>
            <a:ext cx="0" cy="666000"/>
          </a:xfrm>
          <a:prstGeom prst="line">
            <a:avLst/>
          </a:prstGeom>
          <a:ln w="6350">
            <a:solidFill>
              <a:srgbClr val="3D3D3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340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1B27-C94D-FBFF-BB33-C4351806E9CA}"/>
            </a:ext>
          </a:extLst>
        </p:cNvPr>
        <p:cNvGrpSpPr/>
        <p:nvPr/>
      </p:nvGrpSpPr>
      <p:grpSpPr>
        <a:xfrm>
          <a:off x="0" y="0"/>
          <a:ext cx="0" cy="0"/>
          <a:chOff x="0" y="0"/>
          <a:chExt cx="0" cy="0"/>
        </a:xfrm>
      </p:grpSpPr>
      <p:pic>
        <p:nvPicPr>
          <p:cNvPr id="9" name="그림 8" descr="현미경, 과학 기기, 광학 기기, 실내이(가) 표시된 사진&#10;&#10;AI 생성 콘텐츠는 정확하지 않을 수 있습니다.">
            <a:extLst>
              <a:ext uri="{FF2B5EF4-FFF2-40B4-BE49-F238E27FC236}">
                <a16:creationId xmlns:a16="http://schemas.microsoft.com/office/drawing/2014/main" id="{0C7FFAF1-8300-8589-0191-C1EC0903F79C}"/>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5" name="TextBox 4">
            <a:extLst>
              <a:ext uri="{FF2B5EF4-FFF2-40B4-BE49-F238E27FC236}">
                <a16:creationId xmlns:a16="http://schemas.microsoft.com/office/drawing/2014/main" id="{A176F293-9865-3701-2B6C-67ADDDDD1FF3}"/>
              </a:ext>
            </a:extLst>
          </p:cNvPr>
          <p:cNvSpPr txBox="1"/>
          <p:nvPr/>
        </p:nvSpPr>
        <p:spPr>
          <a:xfrm>
            <a:off x="452438" y="1140037"/>
            <a:ext cx="3247684" cy="380938"/>
          </a:xfrm>
          <a:prstGeom prst="rect">
            <a:avLst/>
          </a:prstGeom>
          <a:noFill/>
        </p:spPr>
        <p:txBody>
          <a:bodyPr wrap="none" lIns="0" tIns="0" rIns="0" bIns="0" rtlCol="0">
            <a:spAutoFit/>
          </a:bodyPr>
          <a:lstStyle/>
          <a:p>
            <a:pPr algn="l">
              <a:lnSpc>
                <a:spcPct val="110000"/>
              </a:lnSpc>
            </a:pPr>
            <a:r>
              <a:rPr lang="en-US" altLang="ko-KR" sz="2400" dirty="0">
                <a:solidFill>
                  <a:schemeClr val="bg1"/>
                </a:solidFill>
                <a:latin typeface="+mj-lt"/>
                <a:ea typeface="+mj-ea"/>
              </a:rPr>
              <a:t>TABLE OF CONTENTS</a:t>
            </a:r>
            <a:endParaRPr lang="ko-KR" altLang="en-US" sz="2400" dirty="0">
              <a:solidFill>
                <a:schemeClr val="bg1"/>
              </a:solidFill>
              <a:latin typeface="+mj-lt"/>
              <a:ea typeface="+mj-ea"/>
            </a:endParaRPr>
          </a:p>
        </p:txBody>
      </p:sp>
      <p:sp>
        <p:nvSpPr>
          <p:cNvPr id="15" name="텍스트 개체 틀 3">
            <a:extLst>
              <a:ext uri="{FF2B5EF4-FFF2-40B4-BE49-F238E27FC236}">
                <a16:creationId xmlns:a16="http://schemas.microsoft.com/office/drawing/2014/main" id="{5481D6C2-2401-5B4E-4785-63172657CF9B}"/>
              </a:ext>
            </a:extLst>
          </p:cNvPr>
          <p:cNvSpPr txBox="1">
            <a:spLocks/>
          </p:cNvSpPr>
          <p:nvPr/>
        </p:nvSpPr>
        <p:spPr>
          <a:xfrm>
            <a:off x="452999" y="6174329"/>
            <a:ext cx="4499999" cy="134396"/>
          </a:xfrm>
          <a:prstGeom prst="rect">
            <a:avLst/>
          </a:prstGeom>
        </p:spPr>
        <p:txBody>
          <a:bodyPr wrap="square" lIns="0" tIns="0" rIns="0" bIns="0" anchor="b">
            <a:spAutoFit/>
          </a:bodyPr>
          <a:lstStyle>
            <a:lvl1pPr indent="0" defTabSz="914400" latinLnBrk="1">
              <a:lnSpc>
                <a:spcPts val="1100"/>
              </a:lnSpc>
              <a:spcBef>
                <a:spcPts val="0"/>
              </a:spcBef>
              <a:buFont typeface="Arial" panose="020B0604020202020204" pitchFamily="34" charset="0"/>
              <a:buNone/>
              <a:defRPr sz="1100" baseline="0">
                <a:solidFill>
                  <a:schemeClr val="bg1"/>
                </a:solidFill>
                <a:latin typeface="Outfit" pitchFamily="2"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800" dirty="0"/>
              <a:t>Strictly Private &amp; Confidential</a:t>
            </a:r>
            <a:endParaRPr lang="ko-KR" altLang="en-US" sz="800" dirty="0"/>
          </a:p>
        </p:txBody>
      </p:sp>
      <p:graphicFrame>
        <p:nvGraphicFramePr>
          <p:cNvPr id="6" name="표 5">
            <a:extLst>
              <a:ext uri="{FF2B5EF4-FFF2-40B4-BE49-F238E27FC236}">
                <a16:creationId xmlns:a16="http://schemas.microsoft.com/office/drawing/2014/main" id="{9EF6C8C4-312D-3FF7-3460-81F0877F729A}"/>
              </a:ext>
            </a:extLst>
          </p:cNvPr>
          <p:cNvGraphicFramePr>
            <a:graphicFrameLocks noGrp="1"/>
          </p:cNvGraphicFramePr>
          <p:nvPr>
            <p:extLst>
              <p:ext uri="{D42A27DB-BD31-4B8C-83A1-F6EECF244321}">
                <p14:modId xmlns:p14="http://schemas.microsoft.com/office/powerpoint/2010/main" val="534390680"/>
              </p:ext>
            </p:extLst>
          </p:nvPr>
        </p:nvGraphicFramePr>
        <p:xfrm>
          <a:off x="344438" y="1880975"/>
          <a:ext cx="3528000" cy="3024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150886525"/>
                    </a:ext>
                  </a:extLst>
                </a:gridCol>
                <a:gridCol w="2988000">
                  <a:extLst>
                    <a:ext uri="{9D8B030D-6E8A-4147-A177-3AD203B41FA5}">
                      <a16:colId xmlns:a16="http://schemas.microsoft.com/office/drawing/2014/main" val="4148028095"/>
                    </a:ext>
                  </a:extLst>
                </a:gridCol>
              </a:tblGrid>
              <a:tr h="432000">
                <a:tc>
                  <a:txBody>
                    <a:bodyPr/>
                    <a:lstStyle/>
                    <a:p>
                      <a:pPr marL="0" algn="l" defTabSz="914400" rtl="0" eaLnBrk="1" latinLnBrk="1" hangingPunct="1"/>
                      <a:r>
                        <a:rPr lang="en-US" altLang="ko-KR" sz="1600" b="0" kern="1200" cap="none" baseline="0" dirty="0">
                          <a:solidFill>
                            <a:schemeClr val="bg1"/>
                          </a:solidFill>
                          <a:latin typeface="+mj-lt"/>
                          <a:ea typeface="+mj-ea"/>
                          <a:cs typeface="+mn-cs"/>
                        </a:rPr>
                        <a:t>01</a:t>
                      </a:r>
                      <a:endParaRPr lang="ko-KR" altLang="en-US" sz="1600" b="0" kern="1200" cap="none" baseline="0" dirty="0">
                        <a:solidFill>
                          <a:schemeClr val="bg1"/>
                        </a:solidFill>
                        <a:latin typeface="+mj-lt"/>
                        <a:ea typeface="+mj-ea"/>
                        <a:cs typeface="+mn-cs"/>
                      </a:endParaRPr>
                    </a:p>
                  </a:txBody>
                  <a:tcPr marL="10800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1" hangingPunct="1"/>
                      <a:r>
                        <a:rPr lang="en-US" altLang="ko-KR" sz="1600" b="0" kern="1200" cap="none" spc="-30" baseline="0" dirty="0">
                          <a:solidFill>
                            <a:schemeClr val="bg1"/>
                          </a:solidFill>
                          <a:latin typeface="+mj-lt"/>
                          <a:ea typeface="+mj-ea"/>
                          <a:cs typeface="+mn-cs"/>
                        </a:rPr>
                        <a:t>Executive Summary</a:t>
                      </a:r>
                      <a:endParaRPr lang="ko-KR" altLang="en-US" sz="1600" b="0" kern="1200" cap="none" spc="-30" baseline="0" dirty="0">
                        <a:solidFill>
                          <a:schemeClr val="bg1"/>
                        </a:solidFill>
                        <a:latin typeface="+mj-lt"/>
                        <a:ea typeface="+mj-ea"/>
                        <a:cs typeface="+mn-cs"/>
                      </a:endParaRPr>
                    </a:p>
                  </a:txBody>
                  <a:tcPr marL="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49133"/>
                  </a:ext>
                </a:extLst>
              </a:tr>
              <a:tr h="432000">
                <a:tc>
                  <a:txBody>
                    <a:bodyPr/>
                    <a:lstStyle/>
                    <a:p>
                      <a:pPr latinLnBrk="1"/>
                      <a:r>
                        <a:rPr lang="en-US" altLang="ko-KR" sz="1600" b="0" baseline="0" dirty="0">
                          <a:solidFill>
                            <a:srgbClr val="11244A"/>
                          </a:solidFill>
                          <a:latin typeface="+mj-lt"/>
                          <a:ea typeface="+mj-ea"/>
                        </a:rPr>
                        <a:t>02</a:t>
                      </a:r>
                      <a:endParaRPr lang="ko-KR" altLang="en-US" sz="1600" b="0" baseline="0" dirty="0">
                        <a:solidFill>
                          <a:srgbClr val="11244A"/>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en-US" altLang="ko-KR" sz="1600" b="0" cap="all" spc="-30" baseline="0" dirty="0">
                          <a:solidFill>
                            <a:srgbClr val="11244A"/>
                          </a:solidFill>
                          <a:latin typeface="+mj-lt"/>
                          <a:ea typeface="+mj-ea"/>
                        </a:rPr>
                        <a:t>Investment Highlights</a:t>
                      </a:r>
                      <a:endParaRPr lang="ko-KR" altLang="en-US" sz="1600" b="0" cap="all" spc="-30" baseline="0" dirty="0">
                        <a:solidFill>
                          <a:srgbClr val="11244A"/>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4606132"/>
                  </a:ext>
                </a:extLst>
              </a:tr>
              <a:tr h="432000">
                <a:tc>
                  <a:txBody>
                    <a:bodyPr/>
                    <a:lstStyle/>
                    <a:p>
                      <a:pPr latinLnBrk="1"/>
                      <a:r>
                        <a:rPr lang="en-US" altLang="ko-KR" sz="1600" b="0" baseline="0" dirty="0">
                          <a:solidFill>
                            <a:schemeClr val="bg1"/>
                          </a:solidFill>
                          <a:latin typeface="+mj-lt"/>
                          <a:ea typeface="+mj-ea"/>
                        </a:rPr>
                        <a:t>03</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Market Landscape &amp; Outlook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492459"/>
                  </a:ext>
                </a:extLst>
              </a:tr>
              <a:tr h="432000">
                <a:tc>
                  <a:txBody>
                    <a:bodyPr/>
                    <a:lstStyle/>
                    <a:p>
                      <a:pPr latinLnBrk="1"/>
                      <a:r>
                        <a:rPr lang="en-US" altLang="ko-KR" sz="1600" b="0" baseline="0" dirty="0">
                          <a:solidFill>
                            <a:schemeClr val="bg1"/>
                          </a:solidFill>
                          <a:latin typeface="+mj-lt"/>
                          <a:ea typeface="+mj-ea"/>
                        </a:rPr>
                        <a:t>04</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Pipeline &amp; Technology</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0736481"/>
                  </a:ext>
                </a:extLst>
              </a:tr>
              <a:tr h="432000">
                <a:tc>
                  <a:txBody>
                    <a:bodyPr/>
                    <a:lstStyle/>
                    <a:p>
                      <a:pPr latinLnBrk="1"/>
                      <a:r>
                        <a:rPr lang="en-US" altLang="ko-KR" sz="1600" b="0" baseline="0" dirty="0">
                          <a:solidFill>
                            <a:schemeClr val="bg1"/>
                          </a:solidFill>
                          <a:latin typeface="+mj-lt"/>
                          <a:ea typeface="+mj-ea"/>
                        </a:rPr>
                        <a:t>05</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Valuation &amp; Benchmark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775710"/>
                  </a:ext>
                </a:extLst>
              </a:tr>
              <a:tr h="432000">
                <a:tc>
                  <a:txBody>
                    <a:bodyPr/>
                    <a:lstStyle/>
                    <a:p>
                      <a:pPr latinLnBrk="1"/>
                      <a:r>
                        <a:rPr lang="en-US" altLang="ko-KR" sz="1600" b="0" baseline="0" dirty="0">
                          <a:solidFill>
                            <a:schemeClr val="bg1"/>
                          </a:solidFill>
                          <a:latin typeface="+mj-lt"/>
                          <a:ea typeface="+mj-ea"/>
                        </a:rPr>
                        <a:t>06</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Exit Pathway &amp; Execution</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362669"/>
                  </a:ext>
                </a:extLst>
              </a:tr>
              <a:tr h="432000">
                <a:tc>
                  <a:txBody>
                    <a:bodyPr/>
                    <a:lstStyle/>
                    <a:p>
                      <a:pPr latinLnBrk="1"/>
                      <a:r>
                        <a:rPr lang="en-US" altLang="ko-KR" sz="1600" b="0" baseline="0" dirty="0">
                          <a:solidFill>
                            <a:schemeClr val="bg1"/>
                          </a:solidFill>
                          <a:latin typeface="+mj-lt"/>
                          <a:ea typeface="+mj-ea"/>
                        </a:rPr>
                        <a:t>07</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Key Investment Terms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39227777"/>
                  </a:ext>
                </a:extLst>
              </a:tr>
            </a:tbl>
          </a:graphicData>
        </a:graphic>
      </p:graphicFrame>
      <p:pic>
        <p:nvPicPr>
          <p:cNvPr id="2" name="그래픽 1">
            <a:extLst>
              <a:ext uri="{FF2B5EF4-FFF2-40B4-BE49-F238E27FC236}">
                <a16:creationId xmlns:a16="http://schemas.microsoft.com/office/drawing/2014/main" id="{15653C57-5F66-A7A5-DF82-057969C581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2999" y="549275"/>
            <a:ext cx="1353293" cy="180000"/>
          </a:xfrm>
          <a:prstGeom prst="rect">
            <a:avLst/>
          </a:prstGeom>
        </p:spPr>
      </p:pic>
    </p:spTree>
    <p:extLst>
      <p:ext uri="{BB962C8B-B14F-4D97-AF65-F5344CB8AC3E}">
        <p14:creationId xmlns:p14="http://schemas.microsoft.com/office/powerpoint/2010/main" val="1946876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A668D-2A3F-6270-EE3A-6477FB7F49DA}"/>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E78904E5-199B-163E-5F51-079FA125061D}"/>
              </a:ext>
            </a:extLst>
          </p:cNvPr>
          <p:cNvSpPr>
            <a:spLocks noGrp="1"/>
          </p:cNvSpPr>
          <p:nvPr>
            <p:ph type="body" sz="quarter" idx="11"/>
          </p:nvPr>
        </p:nvSpPr>
        <p:spPr/>
        <p:txBody>
          <a:bodyPr/>
          <a:lstStyle/>
          <a:p>
            <a:r>
              <a:rPr lang="en-US" altLang="ko-KR" dirty="0"/>
              <a:t>Investment Highlights</a:t>
            </a:r>
            <a:endParaRPr lang="ko-KR" altLang="en-US" dirty="0"/>
          </a:p>
        </p:txBody>
      </p:sp>
      <p:sp>
        <p:nvSpPr>
          <p:cNvPr id="3" name="텍스트 개체 틀 2">
            <a:extLst>
              <a:ext uri="{FF2B5EF4-FFF2-40B4-BE49-F238E27FC236}">
                <a16:creationId xmlns:a16="http://schemas.microsoft.com/office/drawing/2014/main" id="{973F5786-C6EE-114F-EBCD-B549532610A4}"/>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FDBF068-85BC-6F67-8B75-287B639C419E}"/>
              </a:ext>
            </a:extLst>
          </p:cNvPr>
          <p:cNvSpPr>
            <a:spLocks noGrp="1"/>
          </p:cNvSpPr>
          <p:nvPr>
            <p:ph type="sldNum" sz="quarter" idx="13"/>
          </p:nvPr>
        </p:nvSpPr>
        <p:spPr/>
        <p:txBody>
          <a:bodyPr/>
          <a:lstStyle/>
          <a:p>
            <a:fld id="{C053318C-A610-4AA5-9FF7-26630BAA1E31}" type="slidenum">
              <a:rPr lang="en-US" altLang="ko-KR" smtClean="0"/>
              <a:pPr/>
              <a:t>5</a:t>
            </a:fld>
            <a:endParaRPr lang="en-US" dirty="0"/>
          </a:p>
        </p:txBody>
      </p:sp>
      <p:sp>
        <p:nvSpPr>
          <p:cNvPr id="8" name="TextBox 7">
            <a:extLst>
              <a:ext uri="{FF2B5EF4-FFF2-40B4-BE49-F238E27FC236}">
                <a16:creationId xmlns:a16="http://schemas.microsoft.com/office/drawing/2014/main" id="{B0FA4504-22E4-E3C4-D77C-CF8A55F96355}"/>
              </a:ext>
            </a:extLst>
          </p:cNvPr>
          <p:cNvSpPr txBox="1"/>
          <p:nvPr/>
        </p:nvSpPr>
        <p:spPr>
          <a:xfrm>
            <a:off x="453000" y="981075"/>
            <a:ext cx="8999999" cy="221279"/>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NKTx offers a high-upside clinical entry point with a defined path to liquidity.</a:t>
            </a:r>
            <a:endParaRPr lang="ko-KR" altLang="en-US" sz="1400" b="1" dirty="0">
              <a:solidFill>
                <a:srgbClr val="3D3D3D"/>
              </a:solidFill>
            </a:endParaRPr>
          </a:p>
        </p:txBody>
      </p:sp>
      <p:grpSp>
        <p:nvGrpSpPr>
          <p:cNvPr id="27" name="그룹 26">
            <a:extLst>
              <a:ext uri="{FF2B5EF4-FFF2-40B4-BE49-F238E27FC236}">
                <a16:creationId xmlns:a16="http://schemas.microsoft.com/office/drawing/2014/main" id="{08E234D3-6AE9-FCF1-8374-8A958ED7D762}"/>
              </a:ext>
            </a:extLst>
          </p:cNvPr>
          <p:cNvGrpSpPr/>
          <p:nvPr/>
        </p:nvGrpSpPr>
        <p:grpSpPr>
          <a:xfrm>
            <a:off x="453000" y="1700213"/>
            <a:ext cx="7087881" cy="648000"/>
            <a:chOff x="452438" y="1700213"/>
            <a:chExt cx="7087881" cy="648000"/>
          </a:xfrm>
        </p:grpSpPr>
        <p:sp>
          <p:nvSpPr>
            <p:cNvPr id="12" name="직사각형 11">
              <a:extLst>
                <a:ext uri="{FF2B5EF4-FFF2-40B4-BE49-F238E27FC236}">
                  <a16:creationId xmlns:a16="http://schemas.microsoft.com/office/drawing/2014/main" id="{16F4598B-430A-DFD5-CD29-495C720AA87A}"/>
                </a:ext>
              </a:extLst>
            </p:cNvPr>
            <p:cNvSpPr/>
            <p:nvPr/>
          </p:nvSpPr>
          <p:spPr>
            <a:xfrm>
              <a:off x="452438" y="1700213"/>
              <a:ext cx="648000" cy="648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2000" dirty="0">
                  <a:solidFill>
                    <a:schemeClr val="bg1"/>
                  </a:solidFill>
                  <a:latin typeface="+mj-lt"/>
                  <a:ea typeface="+mj-ea"/>
                </a:rPr>
                <a:t>01</a:t>
              </a:r>
              <a:endParaRPr lang="ko-KR" altLang="en-US" sz="2000" dirty="0">
                <a:solidFill>
                  <a:schemeClr val="bg1"/>
                </a:solidFill>
                <a:latin typeface="+mj-lt"/>
                <a:ea typeface="+mj-ea"/>
              </a:endParaRPr>
            </a:p>
          </p:txBody>
        </p:sp>
        <p:sp>
          <p:nvSpPr>
            <p:cNvPr id="17" name="TextBox 16">
              <a:extLst>
                <a:ext uri="{FF2B5EF4-FFF2-40B4-BE49-F238E27FC236}">
                  <a16:creationId xmlns:a16="http://schemas.microsoft.com/office/drawing/2014/main" id="{E41B7B5F-B9B2-5C30-A04F-1F7383609E4F}"/>
                </a:ext>
              </a:extLst>
            </p:cNvPr>
            <p:cNvSpPr txBox="1"/>
            <p:nvPr/>
          </p:nvSpPr>
          <p:spPr>
            <a:xfrm>
              <a:off x="1100438" y="1726247"/>
              <a:ext cx="6439881" cy="595932"/>
            </a:xfrm>
            <a:prstGeom prst="rect">
              <a:avLst/>
            </a:prstGeom>
            <a:noFill/>
          </p:spPr>
          <p:txBody>
            <a:bodyPr wrap="none" lIns="180000" tIns="0" rIns="0" bIns="0" rtlCol="0">
              <a:spAutoFit/>
            </a:bodyPr>
            <a:lstStyle/>
            <a:p>
              <a:pPr algn="l">
                <a:lnSpc>
                  <a:spcPct val="110000"/>
                </a:lnSpc>
              </a:pPr>
              <a:r>
                <a:rPr lang="en-US" altLang="ko-KR" sz="1200" cap="all" dirty="0">
                  <a:solidFill>
                    <a:srgbClr val="11244A"/>
                  </a:solidFill>
                  <a:latin typeface="+mj-lt"/>
                  <a:ea typeface="+mj-ea"/>
                </a:rPr>
                <a:t>Large Global Unmet Needs with Strong Market Upside</a:t>
              </a:r>
            </a:p>
            <a:p>
              <a:pPr marL="171450" indent="-171450" algn="l">
                <a:lnSpc>
                  <a:spcPct val="110000"/>
                </a:lnSpc>
                <a:buFont typeface="Wingdings" panose="05000000000000000000" pitchFamily="2" charset="2"/>
                <a:buChar char="§"/>
              </a:pPr>
              <a:r>
                <a:rPr lang="en-US" altLang="ko-KR" sz="1200" dirty="0">
                  <a:solidFill>
                    <a:srgbClr val="3D3D3D"/>
                  </a:solidFill>
                </a:rPr>
                <a:t>High unmet demand across MASH, obesity, oncology and dyslipidemia</a:t>
              </a:r>
            </a:p>
            <a:p>
              <a:pPr marL="171450" indent="-171450" algn="l">
                <a:lnSpc>
                  <a:spcPct val="110000"/>
                </a:lnSpc>
                <a:buFont typeface="Wingdings" panose="05000000000000000000" pitchFamily="2" charset="2"/>
                <a:buChar char="§"/>
              </a:pPr>
              <a:r>
                <a:rPr lang="en-US" altLang="ko-KR" sz="1200" dirty="0">
                  <a:solidFill>
                    <a:srgbClr val="3D3D3D"/>
                  </a:solidFill>
                </a:rPr>
                <a:t>Growing treatment relevance driven by aging population and chronic disease prevalence</a:t>
              </a:r>
            </a:p>
          </p:txBody>
        </p:sp>
      </p:grpSp>
      <p:grpSp>
        <p:nvGrpSpPr>
          <p:cNvPr id="26" name="그룹 25">
            <a:extLst>
              <a:ext uri="{FF2B5EF4-FFF2-40B4-BE49-F238E27FC236}">
                <a16:creationId xmlns:a16="http://schemas.microsoft.com/office/drawing/2014/main" id="{B50CF7F3-5A54-09FC-F632-F22075DDB005}"/>
              </a:ext>
            </a:extLst>
          </p:cNvPr>
          <p:cNvGrpSpPr/>
          <p:nvPr/>
        </p:nvGrpSpPr>
        <p:grpSpPr>
          <a:xfrm>
            <a:off x="779571" y="2600213"/>
            <a:ext cx="8075331" cy="825099"/>
            <a:chOff x="668438" y="2510213"/>
            <a:chExt cx="8075331" cy="825099"/>
          </a:xfrm>
        </p:grpSpPr>
        <p:sp>
          <p:nvSpPr>
            <p:cNvPr id="13" name="직사각형 12">
              <a:extLst>
                <a:ext uri="{FF2B5EF4-FFF2-40B4-BE49-F238E27FC236}">
                  <a16:creationId xmlns:a16="http://schemas.microsoft.com/office/drawing/2014/main" id="{5B1D0CEE-DBFC-C627-46D6-AE5F6AA90C81}"/>
                </a:ext>
              </a:extLst>
            </p:cNvPr>
            <p:cNvSpPr/>
            <p:nvPr/>
          </p:nvSpPr>
          <p:spPr>
            <a:xfrm>
              <a:off x="668438" y="2510213"/>
              <a:ext cx="648000" cy="648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2000" dirty="0">
                  <a:solidFill>
                    <a:schemeClr val="bg1"/>
                  </a:solidFill>
                  <a:latin typeface="+mj-lt"/>
                  <a:ea typeface="+mj-ea"/>
                </a:rPr>
                <a:t>02</a:t>
              </a:r>
              <a:endParaRPr lang="ko-KR" altLang="en-US" sz="2000" dirty="0">
                <a:solidFill>
                  <a:schemeClr val="bg1"/>
                </a:solidFill>
                <a:latin typeface="+mj-lt"/>
                <a:ea typeface="+mj-ea"/>
              </a:endParaRPr>
            </a:p>
          </p:txBody>
        </p:sp>
        <p:sp>
          <p:nvSpPr>
            <p:cNvPr id="19" name="TextBox 18">
              <a:extLst>
                <a:ext uri="{FF2B5EF4-FFF2-40B4-BE49-F238E27FC236}">
                  <a16:creationId xmlns:a16="http://schemas.microsoft.com/office/drawing/2014/main" id="{E9F7778F-B29B-316A-27E3-D203D9752735}"/>
                </a:ext>
              </a:extLst>
            </p:cNvPr>
            <p:cNvSpPr txBox="1"/>
            <p:nvPr/>
          </p:nvSpPr>
          <p:spPr>
            <a:xfrm>
              <a:off x="1316438" y="2536247"/>
              <a:ext cx="7427331" cy="799065"/>
            </a:xfrm>
            <a:prstGeom prst="rect">
              <a:avLst/>
            </a:prstGeom>
            <a:noFill/>
          </p:spPr>
          <p:txBody>
            <a:bodyPr wrap="none" lIns="180000" tIns="0" rIns="0" bIns="0" rtlCol="0">
              <a:spAutoFit/>
            </a:bodyPr>
            <a:lstStyle/>
            <a:p>
              <a:pPr algn="l">
                <a:lnSpc>
                  <a:spcPct val="110000"/>
                </a:lnSpc>
              </a:pPr>
              <a:r>
                <a:rPr lang="en-US" altLang="ko-KR" sz="1200" cap="all" dirty="0">
                  <a:solidFill>
                    <a:srgbClr val="11244A"/>
                  </a:solidFill>
                  <a:latin typeface="+mj-lt"/>
                  <a:ea typeface="+mj-ea"/>
                </a:rPr>
                <a:t>Future Medicine and Curigin Form a Complementary Next-Gen Pipeline</a:t>
              </a:r>
            </a:p>
            <a:p>
              <a:pPr marL="171450" indent="-171450" algn="l">
                <a:lnSpc>
                  <a:spcPct val="110000"/>
                </a:lnSpc>
                <a:buFont typeface="Wingdings" panose="05000000000000000000" pitchFamily="2" charset="2"/>
                <a:buChar char="§"/>
              </a:pPr>
              <a:r>
                <a:rPr lang="en-US" altLang="ko-KR" sz="1200" dirty="0">
                  <a:solidFill>
                    <a:srgbClr val="3D3D3D"/>
                  </a:solidFill>
                </a:rPr>
                <a:t>Future Medicine advancing small-molecule assets with clinical validation signals</a:t>
              </a:r>
            </a:p>
            <a:p>
              <a:pPr marL="171450" indent="-171450" algn="l">
                <a:lnSpc>
                  <a:spcPct val="110000"/>
                </a:lnSpc>
                <a:buFont typeface="Wingdings" panose="05000000000000000000" pitchFamily="2" charset="2"/>
                <a:buChar char="§"/>
              </a:pPr>
              <a:r>
                <a:rPr lang="en-US" altLang="ko-KR" sz="1200" dirty="0">
                  <a:solidFill>
                    <a:srgbClr val="3D3D3D"/>
                  </a:solidFill>
                </a:rPr>
                <a:t>Curigin enabling next-generation modality expansion via bispecific RNAi and oncolytic virus technology</a:t>
              </a:r>
            </a:p>
            <a:p>
              <a:pPr marL="171450" indent="-171450" algn="l">
                <a:lnSpc>
                  <a:spcPct val="110000"/>
                </a:lnSpc>
                <a:buFont typeface="Wingdings" panose="05000000000000000000" pitchFamily="2" charset="2"/>
                <a:buChar char="§"/>
              </a:pPr>
              <a:r>
                <a:rPr lang="en-US" altLang="ko-KR" sz="1200" dirty="0">
                  <a:solidFill>
                    <a:srgbClr val="3D3D3D"/>
                  </a:solidFill>
                </a:rPr>
                <a:t>Combined platform broadens partnerships optionality and future monetization paths</a:t>
              </a:r>
            </a:p>
          </p:txBody>
        </p:sp>
      </p:grpSp>
      <p:grpSp>
        <p:nvGrpSpPr>
          <p:cNvPr id="29" name="그룹 28">
            <a:extLst>
              <a:ext uri="{FF2B5EF4-FFF2-40B4-BE49-F238E27FC236}">
                <a16:creationId xmlns:a16="http://schemas.microsoft.com/office/drawing/2014/main" id="{86BACAEB-5180-0D11-E494-461AF36FE4FD}"/>
              </a:ext>
            </a:extLst>
          </p:cNvPr>
          <p:cNvGrpSpPr/>
          <p:nvPr/>
        </p:nvGrpSpPr>
        <p:grpSpPr>
          <a:xfrm>
            <a:off x="1101000" y="3677311"/>
            <a:ext cx="7283448" cy="1548000"/>
            <a:chOff x="1101000" y="3669986"/>
            <a:chExt cx="7283448" cy="1548000"/>
          </a:xfrm>
        </p:grpSpPr>
        <p:grpSp>
          <p:nvGrpSpPr>
            <p:cNvPr id="25" name="그룹 24">
              <a:extLst>
                <a:ext uri="{FF2B5EF4-FFF2-40B4-BE49-F238E27FC236}">
                  <a16:creationId xmlns:a16="http://schemas.microsoft.com/office/drawing/2014/main" id="{C3D20B84-91E6-88DD-E574-3E2CF29A029B}"/>
                </a:ext>
              </a:extLst>
            </p:cNvPr>
            <p:cNvGrpSpPr/>
            <p:nvPr/>
          </p:nvGrpSpPr>
          <p:grpSpPr>
            <a:xfrm>
              <a:off x="1101000" y="3669986"/>
              <a:ext cx="7283448" cy="648000"/>
              <a:chOff x="884438" y="3320213"/>
              <a:chExt cx="7283448" cy="648000"/>
            </a:xfrm>
          </p:grpSpPr>
          <p:sp>
            <p:nvSpPr>
              <p:cNvPr id="14" name="직사각형 13">
                <a:extLst>
                  <a:ext uri="{FF2B5EF4-FFF2-40B4-BE49-F238E27FC236}">
                    <a16:creationId xmlns:a16="http://schemas.microsoft.com/office/drawing/2014/main" id="{34B1DC16-9FCF-4698-347C-3F8CE047DD3F}"/>
                  </a:ext>
                </a:extLst>
              </p:cNvPr>
              <p:cNvSpPr/>
              <p:nvPr/>
            </p:nvSpPr>
            <p:spPr>
              <a:xfrm>
                <a:off x="884438" y="3320213"/>
                <a:ext cx="648000" cy="648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2000" dirty="0">
                    <a:solidFill>
                      <a:schemeClr val="bg1"/>
                    </a:solidFill>
                    <a:latin typeface="+mj-lt"/>
                    <a:ea typeface="+mj-ea"/>
                  </a:rPr>
                  <a:t>03</a:t>
                </a:r>
                <a:endParaRPr lang="ko-KR" altLang="en-US" sz="2000" dirty="0">
                  <a:solidFill>
                    <a:schemeClr val="bg1"/>
                  </a:solidFill>
                  <a:latin typeface="+mj-lt"/>
                  <a:ea typeface="+mj-ea"/>
                </a:endParaRPr>
              </a:p>
            </p:txBody>
          </p:sp>
          <p:sp>
            <p:nvSpPr>
              <p:cNvPr id="20" name="TextBox 19">
                <a:extLst>
                  <a:ext uri="{FF2B5EF4-FFF2-40B4-BE49-F238E27FC236}">
                    <a16:creationId xmlns:a16="http://schemas.microsoft.com/office/drawing/2014/main" id="{C4B41AA0-13F6-D98E-1EFA-0B0361E3DEAB}"/>
                  </a:ext>
                </a:extLst>
              </p:cNvPr>
              <p:cNvSpPr txBox="1"/>
              <p:nvPr/>
            </p:nvSpPr>
            <p:spPr>
              <a:xfrm>
                <a:off x="1532438" y="3346247"/>
                <a:ext cx="6635448" cy="595932"/>
              </a:xfrm>
              <a:prstGeom prst="rect">
                <a:avLst/>
              </a:prstGeom>
              <a:noFill/>
            </p:spPr>
            <p:txBody>
              <a:bodyPr wrap="none" lIns="180000" tIns="0" rIns="0" bIns="0" rtlCol="0">
                <a:spAutoFit/>
              </a:bodyPr>
              <a:lstStyle/>
              <a:p>
                <a:pPr algn="l">
                  <a:lnSpc>
                    <a:spcPct val="110000"/>
                  </a:lnSpc>
                </a:pPr>
                <a:r>
                  <a:rPr lang="en-US" altLang="ko-KR" sz="1200" cap="all" dirty="0">
                    <a:solidFill>
                      <a:srgbClr val="11244A"/>
                    </a:solidFill>
                    <a:latin typeface="+mj-lt"/>
                    <a:ea typeface="+mj-ea"/>
                  </a:rPr>
                  <a:t>Attractive entry valuation with Clear re-rating Potential</a:t>
                </a:r>
              </a:p>
              <a:p>
                <a:pPr marL="171450" indent="-171450" algn="l">
                  <a:lnSpc>
                    <a:spcPct val="110000"/>
                  </a:lnSpc>
                  <a:buFont typeface="Wingdings" panose="05000000000000000000" pitchFamily="2" charset="2"/>
                  <a:buChar char="§"/>
                </a:pPr>
                <a:r>
                  <a:rPr lang="en-US" altLang="ko-KR" sz="1200" dirty="0">
                    <a:solidFill>
                      <a:srgbClr val="3D3D3D"/>
                    </a:solidFill>
                  </a:rPr>
                  <a:t>Pre-money valuation positioned below comparable clinical-stage peers</a:t>
                </a:r>
              </a:p>
              <a:p>
                <a:pPr marL="171450" indent="-171450" algn="l">
                  <a:lnSpc>
                    <a:spcPct val="110000"/>
                  </a:lnSpc>
                  <a:buFont typeface="Wingdings" panose="05000000000000000000" pitchFamily="2" charset="2"/>
                  <a:buChar char="§"/>
                </a:pPr>
                <a:r>
                  <a:rPr lang="en-US" altLang="ko-KR" sz="1200" dirty="0">
                    <a:solidFill>
                      <a:srgbClr val="3D3D3D"/>
                    </a:solidFill>
                  </a:rPr>
                  <a:t>Value uplift expected through integration, pipeline advancement and future listing exposure</a:t>
                </a:r>
              </a:p>
            </p:txBody>
          </p:sp>
        </p:grpSp>
        <p:grpSp>
          <p:nvGrpSpPr>
            <p:cNvPr id="24" name="그룹 23">
              <a:extLst>
                <a:ext uri="{FF2B5EF4-FFF2-40B4-BE49-F238E27FC236}">
                  <a16:creationId xmlns:a16="http://schemas.microsoft.com/office/drawing/2014/main" id="{1F5FBCE7-DD05-73FA-1620-12FB884499E6}"/>
                </a:ext>
              </a:extLst>
            </p:cNvPr>
            <p:cNvGrpSpPr/>
            <p:nvPr/>
          </p:nvGrpSpPr>
          <p:grpSpPr>
            <a:xfrm>
              <a:off x="1425000" y="4569986"/>
              <a:ext cx="5815097" cy="648000"/>
              <a:chOff x="1100438" y="4130213"/>
              <a:chExt cx="5815097" cy="648000"/>
            </a:xfrm>
          </p:grpSpPr>
          <p:sp>
            <p:nvSpPr>
              <p:cNvPr id="15" name="직사각형 14">
                <a:extLst>
                  <a:ext uri="{FF2B5EF4-FFF2-40B4-BE49-F238E27FC236}">
                    <a16:creationId xmlns:a16="http://schemas.microsoft.com/office/drawing/2014/main" id="{C9607EA5-AD2E-BE23-CC0E-F090E8D2C824}"/>
                  </a:ext>
                </a:extLst>
              </p:cNvPr>
              <p:cNvSpPr/>
              <p:nvPr/>
            </p:nvSpPr>
            <p:spPr>
              <a:xfrm>
                <a:off x="1100438" y="4130213"/>
                <a:ext cx="648000" cy="648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2000" dirty="0">
                    <a:solidFill>
                      <a:schemeClr val="bg1"/>
                    </a:solidFill>
                    <a:latin typeface="+mj-lt"/>
                    <a:ea typeface="+mj-ea"/>
                  </a:rPr>
                  <a:t>04</a:t>
                </a:r>
                <a:endParaRPr lang="ko-KR" altLang="en-US" sz="2000" dirty="0">
                  <a:solidFill>
                    <a:schemeClr val="bg1"/>
                  </a:solidFill>
                  <a:latin typeface="+mj-lt"/>
                  <a:ea typeface="+mj-ea"/>
                </a:endParaRPr>
              </a:p>
            </p:txBody>
          </p:sp>
          <p:sp>
            <p:nvSpPr>
              <p:cNvPr id="21" name="TextBox 20">
                <a:extLst>
                  <a:ext uri="{FF2B5EF4-FFF2-40B4-BE49-F238E27FC236}">
                    <a16:creationId xmlns:a16="http://schemas.microsoft.com/office/drawing/2014/main" id="{5D037B19-66BE-1D33-5CDB-4F618D2B1EF0}"/>
                  </a:ext>
                </a:extLst>
              </p:cNvPr>
              <p:cNvSpPr txBox="1"/>
              <p:nvPr/>
            </p:nvSpPr>
            <p:spPr>
              <a:xfrm>
                <a:off x="1748438" y="4156247"/>
                <a:ext cx="5167097" cy="595932"/>
              </a:xfrm>
              <a:prstGeom prst="rect">
                <a:avLst/>
              </a:prstGeom>
              <a:noFill/>
            </p:spPr>
            <p:txBody>
              <a:bodyPr wrap="none" lIns="180000" tIns="0" rIns="0" bIns="0" rtlCol="0">
                <a:spAutoFit/>
              </a:bodyPr>
              <a:lstStyle/>
              <a:p>
                <a:pPr algn="l">
                  <a:lnSpc>
                    <a:spcPct val="110000"/>
                  </a:lnSpc>
                </a:pPr>
                <a:r>
                  <a:rPr lang="en-US" altLang="ko-KR" sz="1200" cap="all" dirty="0">
                    <a:solidFill>
                      <a:srgbClr val="11244A"/>
                    </a:solidFill>
                    <a:latin typeface="+mj-lt"/>
                    <a:ea typeface="+mj-ea"/>
                  </a:rPr>
                  <a:t>Execution Capability with Clear Path to NASDAQ Listing</a:t>
                </a:r>
              </a:p>
              <a:p>
                <a:pPr marL="171450" indent="-171450" algn="l">
                  <a:lnSpc>
                    <a:spcPct val="110000"/>
                  </a:lnSpc>
                  <a:buFont typeface="Wingdings" panose="05000000000000000000" pitchFamily="2" charset="2"/>
                  <a:buChar char="§"/>
                </a:pPr>
                <a:r>
                  <a:rPr lang="en-US" altLang="ko-KR" sz="1200" dirty="0">
                    <a:solidFill>
                      <a:srgbClr val="3D3D3D"/>
                    </a:solidFill>
                  </a:rPr>
                  <a:t>Teams with direct experience taking a company to NASDAQ</a:t>
                </a:r>
              </a:p>
              <a:p>
                <a:pPr marL="171450" indent="-171450" algn="l">
                  <a:lnSpc>
                    <a:spcPct val="110000"/>
                  </a:lnSpc>
                  <a:buFont typeface="Wingdings" panose="05000000000000000000" pitchFamily="2" charset="2"/>
                  <a:buChar char="§"/>
                </a:pPr>
                <a:r>
                  <a:rPr lang="en-US" altLang="ko-KR" sz="1200" dirty="0">
                    <a:solidFill>
                      <a:srgbClr val="3D3D3D"/>
                    </a:solidFill>
                  </a:rPr>
                  <a:t>Visible IND and milestone roadmap enabling valuation inflection timing</a:t>
                </a:r>
              </a:p>
            </p:txBody>
          </p:sp>
        </p:grpSp>
      </p:grpSp>
    </p:spTree>
    <p:extLst>
      <p:ext uri="{BB962C8B-B14F-4D97-AF65-F5344CB8AC3E}">
        <p14:creationId xmlns:p14="http://schemas.microsoft.com/office/powerpoint/2010/main" val="3886066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43136-2D5D-3984-B13D-96AE5E6E586D}"/>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1F99E8F-B2B6-3F18-ED5E-39248E2CE51C}"/>
              </a:ext>
            </a:extLst>
          </p:cNvPr>
          <p:cNvSpPr>
            <a:spLocks noGrp="1"/>
          </p:cNvSpPr>
          <p:nvPr>
            <p:ph type="body" sz="quarter" idx="11"/>
          </p:nvPr>
        </p:nvSpPr>
        <p:spPr/>
        <p:txBody>
          <a:bodyPr/>
          <a:lstStyle/>
          <a:p>
            <a:r>
              <a:rPr lang="en-US" altLang="ko-KR" dirty="0"/>
              <a:t>Large Unmet Needs with </a:t>
            </a:r>
            <a:r>
              <a:rPr lang="en-US" altLang="ko-KR"/>
              <a:t>Strong Market Upside</a:t>
            </a:r>
            <a:endParaRPr lang="ko-KR" altLang="en-US" dirty="0"/>
          </a:p>
        </p:txBody>
      </p:sp>
      <p:sp>
        <p:nvSpPr>
          <p:cNvPr id="3" name="텍스트 개체 틀 2">
            <a:extLst>
              <a:ext uri="{FF2B5EF4-FFF2-40B4-BE49-F238E27FC236}">
                <a16:creationId xmlns:a16="http://schemas.microsoft.com/office/drawing/2014/main" id="{A1C368B1-F9B4-4908-C449-4D026DDF63A4}"/>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137AD78-387F-FBA3-F790-6CA395B1A8CD}"/>
              </a:ext>
            </a:extLst>
          </p:cNvPr>
          <p:cNvSpPr>
            <a:spLocks noGrp="1"/>
          </p:cNvSpPr>
          <p:nvPr>
            <p:ph type="sldNum" sz="quarter" idx="13"/>
          </p:nvPr>
        </p:nvSpPr>
        <p:spPr/>
        <p:txBody>
          <a:bodyPr/>
          <a:lstStyle/>
          <a:p>
            <a:fld id="{C053318C-A610-4AA5-9FF7-26630BAA1E31}" type="slidenum">
              <a:rPr lang="en-US" altLang="ko-KR" smtClean="0"/>
              <a:pPr/>
              <a:t>6</a:t>
            </a:fld>
            <a:endParaRPr lang="en-US" dirty="0"/>
          </a:p>
        </p:txBody>
      </p:sp>
      <p:sp>
        <p:nvSpPr>
          <p:cNvPr id="8" name="TextBox 7">
            <a:extLst>
              <a:ext uri="{FF2B5EF4-FFF2-40B4-BE49-F238E27FC236}">
                <a16:creationId xmlns:a16="http://schemas.microsoft.com/office/drawing/2014/main" id="{AE0AE103-A719-0F07-4966-7002C2F19C88}"/>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Major chronic diseases still lack effective treatments, creating meaningful upside for new entrants with differentiated solutions.</a:t>
            </a:r>
            <a:endParaRPr lang="ko-KR" altLang="en-US" sz="1400" b="1" dirty="0">
              <a:solidFill>
                <a:srgbClr val="3D3D3D"/>
              </a:solidFill>
            </a:endParaRPr>
          </a:p>
        </p:txBody>
      </p:sp>
      <p:sp>
        <p:nvSpPr>
          <p:cNvPr id="16" name="직사각형 15">
            <a:extLst>
              <a:ext uri="{FF2B5EF4-FFF2-40B4-BE49-F238E27FC236}">
                <a16:creationId xmlns:a16="http://schemas.microsoft.com/office/drawing/2014/main" id="{6B4C50F5-50B6-576B-A4A4-36C7FC78D23B}"/>
              </a:ext>
            </a:extLst>
          </p:cNvPr>
          <p:cNvSpPr/>
          <p:nvPr/>
        </p:nvSpPr>
        <p:spPr>
          <a:xfrm>
            <a:off x="453000" y="1700213"/>
            <a:ext cx="180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bg1"/>
                </a:solidFill>
              </a:rPr>
              <a:t>Areas</a:t>
            </a:r>
            <a:endParaRPr lang="ko-KR" altLang="en-US" sz="1200" b="1" dirty="0">
              <a:solidFill>
                <a:schemeClr val="bg1"/>
              </a:solidFill>
            </a:endParaRPr>
          </a:p>
        </p:txBody>
      </p:sp>
      <p:sp>
        <p:nvSpPr>
          <p:cNvPr id="17" name="직사각형 16">
            <a:extLst>
              <a:ext uri="{FF2B5EF4-FFF2-40B4-BE49-F238E27FC236}">
                <a16:creationId xmlns:a16="http://schemas.microsoft.com/office/drawing/2014/main" id="{7DDA4304-3FF7-B50D-8FF8-E09068044828}"/>
              </a:ext>
            </a:extLst>
          </p:cNvPr>
          <p:cNvSpPr/>
          <p:nvPr/>
        </p:nvSpPr>
        <p:spPr>
          <a:xfrm>
            <a:off x="2433000" y="1700213"/>
            <a:ext cx="342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bg1"/>
                </a:solidFill>
              </a:rPr>
              <a:t>Unmet Needs</a:t>
            </a:r>
            <a:endParaRPr lang="ko-KR" altLang="en-US" sz="1200" b="1" dirty="0">
              <a:solidFill>
                <a:schemeClr val="bg1"/>
              </a:solidFill>
            </a:endParaRPr>
          </a:p>
        </p:txBody>
      </p:sp>
      <p:sp>
        <p:nvSpPr>
          <p:cNvPr id="18" name="직사각형 17">
            <a:extLst>
              <a:ext uri="{FF2B5EF4-FFF2-40B4-BE49-F238E27FC236}">
                <a16:creationId xmlns:a16="http://schemas.microsoft.com/office/drawing/2014/main" id="{7CBF8326-16E3-0A39-7F95-62D76B9A1829}"/>
              </a:ext>
            </a:extLst>
          </p:cNvPr>
          <p:cNvSpPr/>
          <p:nvPr/>
        </p:nvSpPr>
        <p:spPr>
          <a:xfrm>
            <a:off x="6033000" y="1700213"/>
            <a:ext cx="342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200" b="1" dirty="0">
                <a:solidFill>
                  <a:schemeClr val="bg1"/>
                </a:solidFill>
              </a:rPr>
              <a:t>Upside Opportunity</a:t>
            </a:r>
            <a:endParaRPr lang="ko-KR" altLang="en-US" sz="1200" b="1" dirty="0">
              <a:solidFill>
                <a:schemeClr val="bg1"/>
              </a:solidFill>
            </a:endParaRPr>
          </a:p>
        </p:txBody>
      </p:sp>
      <p:sp>
        <p:nvSpPr>
          <p:cNvPr id="19" name="직사각형 18">
            <a:extLst>
              <a:ext uri="{FF2B5EF4-FFF2-40B4-BE49-F238E27FC236}">
                <a16:creationId xmlns:a16="http://schemas.microsoft.com/office/drawing/2014/main" id="{D55905C0-2C45-5799-2D2A-698CE760ECD9}"/>
              </a:ext>
            </a:extLst>
          </p:cNvPr>
          <p:cNvSpPr/>
          <p:nvPr/>
        </p:nvSpPr>
        <p:spPr>
          <a:xfrm>
            <a:off x="453000" y="2096212"/>
            <a:ext cx="1800000" cy="864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MASH</a:t>
            </a:r>
          </a:p>
          <a:p>
            <a:r>
              <a:rPr lang="en-US" altLang="ko-KR" sz="1000" dirty="0">
                <a:solidFill>
                  <a:schemeClr val="bg1"/>
                </a:solidFill>
              </a:rPr>
              <a:t>Metabolic liver disorder</a:t>
            </a:r>
          </a:p>
        </p:txBody>
      </p:sp>
      <p:sp>
        <p:nvSpPr>
          <p:cNvPr id="21" name="직사각형 20">
            <a:extLst>
              <a:ext uri="{FF2B5EF4-FFF2-40B4-BE49-F238E27FC236}">
                <a16:creationId xmlns:a16="http://schemas.microsoft.com/office/drawing/2014/main" id="{9397BF14-5E6A-7FD3-4FE7-1ECAB87F6CF9}"/>
              </a:ext>
            </a:extLst>
          </p:cNvPr>
          <p:cNvSpPr/>
          <p:nvPr/>
        </p:nvSpPr>
        <p:spPr>
          <a:xfrm>
            <a:off x="2432999" y="2096212"/>
            <a:ext cx="3419999" cy="864000"/>
          </a:xfrm>
          <a:prstGeom prst="rect">
            <a:avLst/>
          </a:prstGeom>
          <a:solidFill>
            <a:schemeClr val="bg1"/>
          </a:solidFill>
          <a:ln w="6350">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171450" indent="-171450">
              <a:buFont typeface="Wingdings" panose="05000000000000000000" pitchFamily="2" charset="2"/>
              <a:buChar char="§"/>
            </a:pPr>
            <a:r>
              <a:rPr lang="en-US" altLang="ko-KR" sz="1000" spc="-40" dirty="0">
                <a:solidFill>
                  <a:srgbClr val="3D3D3D"/>
                </a:solidFill>
              </a:rPr>
              <a:t>No approved oral small-molecule addressing core pathways</a:t>
            </a:r>
          </a:p>
          <a:p>
            <a:pPr marL="171450" indent="-171450">
              <a:buFont typeface="Wingdings" panose="05000000000000000000" pitchFamily="2" charset="2"/>
              <a:buChar char="§"/>
            </a:pPr>
            <a:r>
              <a:rPr lang="en-US" altLang="ko-KR" sz="1000" dirty="0">
                <a:solidFill>
                  <a:srgbClr val="3D3D3D"/>
                </a:solidFill>
              </a:rPr>
              <a:t>Mixed clinical outcomes and slow progress</a:t>
            </a:r>
          </a:p>
          <a:p>
            <a:pPr marL="171450" indent="-171450">
              <a:buFont typeface="Wingdings" panose="05000000000000000000" pitchFamily="2" charset="2"/>
              <a:buChar char="§"/>
            </a:pPr>
            <a:r>
              <a:rPr lang="en-US" altLang="ko-KR" sz="1000" dirty="0">
                <a:solidFill>
                  <a:srgbClr val="3D3D3D"/>
                </a:solidFill>
              </a:rPr>
              <a:t>Growing patient population with metabolic syndrome</a:t>
            </a:r>
            <a:endParaRPr lang="ko-KR" altLang="en-US" sz="1000" dirty="0">
              <a:solidFill>
                <a:srgbClr val="3D3D3D"/>
              </a:solidFill>
            </a:endParaRPr>
          </a:p>
        </p:txBody>
      </p:sp>
      <p:sp>
        <p:nvSpPr>
          <p:cNvPr id="23" name="직사각형 22">
            <a:extLst>
              <a:ext uri="{FF2B5EF4-FFF2-40B4-BE49-F238E27FC236}">
                <a16:creationId xmlns:a16="http://schemas.microsoft.com/office/drawing/2014/main" id="{D69B634F-C8E3-58BE-D942-ACC59B8701EE}"/>
              </a:ext>
            </a:extLst>
          </p:cNvPr>
          <p:cNvSpPr/>
          <p:nvPr/>
        </p:nvSpPr>
        <p:spPr>
          <a:xfrm>
            <a:off x="6033001" y="2096212"/>
            <a:ext cx="3419999" cy="864000"/>
          </a:xfrm>
          <a:prstGeom prst="rect">
            <a:avLst/>
          </a:prstGeom>
          <a:solidFill>
            <a:schemeClr val="bg1"/>
          </a:solidFill>
          <a:ln w="6350">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171450" indent="-171450">
              <a:buFont typeface="Wingdings" panose="05000000000000000000" pitchFamily="2" charset="2"/>
              <a:buChar char="§"/>
            </a:pPr>
            <a:r>
              <a:rPr lang="en-US" altLang="ko-KR" sz="1000" dirty="0">
                <a:solidFill>
                  <a:srgbClr val="3D3D3D"/>
                </a:solidFill>
              </a:rPr>
              <a:t>Large chronic-disease treatment demand</a:t>
            </a:r>
          </a:p>
          <a:p>
            <a:pPr marL="171450" indent="-171450">
              <a:buFont typeface="Wingdings" panose="05000000000000000000" pitchFamily="2" charset="2"/>
              <a:buChar char="§"/>
            </a:pPr>
            <a:r>
              <a:rPr lang="en-US" altLang="ko-KR" sz="1000" dirty="0">
                <a:solidFill>
                  <a:srgbClr val="3D3D3D"/>
                </a:solidFill>
              </a:rPr>
              <a:t>Potential for first- and best-in-class positioning</a:t>
            </a:r>
          </a:p>
          <a:p>
            <a:pPr marL="171450" indent="-171450">
              <a:buFont typeface="Wingdings" panose="05000000000000000000" pitchFamily="2" charset="2"/>
              <a:buChar char="§"/>
            </a:pPr>
            <a:r>
              <a:rPr lang="en-US" altLang="ko-KR" sz="1000" dirty="0">
                <a:solidFill>
                  <a:srgbClr val="3D3D3D"/>
                </a:solidFill>
              </a:rPr>
              <a:t>Strong licensing and partnering economics</a:t>
            </a:r>
            <a:endParaRPr lang="ko-KR" altLang="en-US" sz="1000" dirty="0">
              <a:solidFill>
                <a:srgbClr val="3D3D3D"/>
              </a:solidFill>
            </a:endParaRPr>
          </a:p>
        </p:txBody>
      </p:sp>
      <p:sp>
        <p:nvSpPr>
          <p:cNvPr id="25" name="직사각형 24">
            <a:extLst>
              <a:ext uri="{FF2B5EF4-FFF2-40B4-BE49-F238E27FC236}">
                <a16:creationId xmlns:a16="http://schemas.microsoft.com/office/drawing/2014/main" id="{7726A5B4-BE13-D8B9-E192-AD9E0504EB69}"/>
              </a:ext>
            </a:extLst>
          </p:cNvPr>
          <p:cNvSpPr/>
          <p:nvPr/>
        </p:nvSpPr>
        <p:spPr>
          <a:xfrm>
            <a:off x="453000" y="3056316"/>
            <a:ext cx="1800000" cy="864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Obesity</a:t>
            </a:r>
          </a:p>
          <a:p>
            <a:r>
              <a:rPr lang="en-US" altLang="ko-KR" sz="1000" dirty="0">
                <a:solidFill>
                  <a:schemeClr val="bg1"/>
                </a:solidFill>
              </a:rPr>
              <a:t>Weight-related metabolic disease</a:t>
            </a:r>
          </a:p>
        </p:txBody>
      </p:sp>
      <p:sp>
        <p:nvSpPr>
          <p:cNvPr id="26" name="직사각형 25">
            <a:extLst>
              <a:ext uri="{FF2B5EF4-FFF2-40B4-BE49-F238E27FC236}">
                <a16:creationId xmlns:a16="http://schemas.microsoft.com/office/drawing/2014/main" id="{71EC19A2-992E-79DA-A7F9-E9A02DD9B898}"/>
              </a:ext>
            </a:extLst>
          </p:cNvPr>
          <p:cNvSpPr/>
          <p:nvPr/>
        </p:nvSpPr>
        <p:spPr>
          <a:xfrm>
            <a:off x="2432999" y="3056316"/>
            <a:ext cx="3419999" cy="864000"/>
          </a:xfrm>
          <a:prstGeom prst="rect">
            <a:avLst/>
          </a:prstGeom>
          <a:solidFill>
            <a:schemeClr val="bg1"/>
          </a:solidFill>
          <a:ln w="6350">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171450" indent="-171450">
              <a:buFont typeface="Wingdings" panose="05000000000000000000" pitchFamily="2" charset="2"/>
              <a:buChar char="§"/>
            </a:pPr>
            <a:r>
              <a:rPr lang="en-US" altLang="ko-KR" sz="1000" dirty="0">
                <a:solidFill>
                  <a:srgbClr val="3D3D3D"/>
                </a:solidFill>
              </a:rPr>
              <a:t>GLP-1 dominates but cost and side-effects persist</a:t>
            </a:r>
          </a:p>
          <a:p>
            <a:pPr marL="171450" indent="-171450">
              <a:buFont typeface="Wingdings" panose="05000000000000000000" pitchFamily="2" charset="2"/>
              <a:buChar char="§"/>
            </a:pPr>
            <a:r>
              <a:rPr lang="en-US" altLang="ko-KR" sz="1000" dirty="0">
                <a:solidFill>
                  <a:srgbClr val="3D3D3D"/>
                </a:solidFill>
              </a:rPr>
              <a:t>Need for combination and adjunctive solutions</a:t>
            </a:r>
          </a:p>
          <a:p>
            <a:pPr marL="171450" indent="-171450">
              <a:buFont typeface="Wingdings" panose="05000000000000000000" pitchFamily="2" charset="2"/>
              <a:buChar char="§"/>
            </a:pPr>
            <a:r>
              <a:rPr lang="en-US" altLang="ko-KR" sz="1000" dirty="0">
                <a:solidFill>
                  <a:srgbClr val="3D3D3D"/>
                </a:solidFill>
              </a:rPr>
              <a:t>Requires long-term continuous dosing</a:t>
            </a:r>
            <a:endParaRPr lang="ko-KR" altLang="en-US" sz="1000" dirty="0">
              <a:solidFill>
                <a:srgbClr val="3D3D3D"/>
              </a:solidFill>
            </a:endParaRPr>
          </a:p>
        </p:txBody>
      </p:sp>
      <p:sp>
        <p:nvSpPr>
          <p:cNvPr id="27" name="직사각형 26">
            <a:extLst>
              <a:ext uri="{FF2B5EF4-FFF2-40B4-BE49-F238E27FC236}">
                <a16:creationId xmlns:a16="http://schemas.microsoft.com/office/drawing/2014/main" id="{FECC3B42-0391-9D5E-3440-9CB899BEEDAB}"/>
              </a:ext>
            </a:extLst>
          </p:cNvPr>
          <p:cNvSpPr/>
          <p:nvPr/>
        </p:nvSpPr>
        <p:spPr>
          <a:xfrm>
            <a:off x="6033001" y="3056316"/>
            <a:ext cx="3419999" cy="864000"/>
          </a:xfrm>
          <a:prstGeom prst="rect">
            <a:avLst/>
          </a:prstGeom>
          <a:solidFill>
            <a:schemeClr val="bg1"/>
          </a:solidFill>
          <a:ln w="6350">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171450" indent="-171450">
              <a:buFont typeface="Wingdings" panose="05000000000000000000" pitchFamily="2" charset="2"/>
              <a:buChar char="§"/>
            </a:pPr>
            <a:r>
              <a:rPr lang="en-US" altLang="ko-KR" sz="1000" dirty="0">
                <a:solidFill>
                  <a:srgbClr val="3D3D3D"/>
                </a:solidFill>
              </a:rPr>
              <a:t>Adjunct &amp; alternative therapy market open</a:t>
            </a:r>
          </a:p>
          <a:p>
            <a:pPr marL="171450" indent="-171450">
              <a:buFont typeface="Wingdings" panose="05000000000000000000" pitchFamily="2" charset="2"/>
              <a:buChar char="§"/>
            </a:pPr>
            <a:r>
              <a:rPr lang="en-US" altLang="ko-KR" sz="1000" dirty="0">
                <a:solidFill>
                  <a:srgbClr val="3D3D3D"/>
                </a:solidFill>
              </a:rPr>
              <a:t>Strong commercial pull if efficacy validated</a:t>
            </a:r>
          </a:p>
          <a:p>
            <a:pPr marL="171450" indent="-171450">
              <a:buFont typeface="Wingdings" panose="05000000000000000000" pitchFamily="2" charset="2"/>
              <a:buChar char="§"/>
            </a:pPr>
            <a:r>
              <a:rPr lang="en-US" altLang="ko-KR" sz="1000" dirty="0">
                <a:solidFill>
                  <a:srgbClr val="3D3D3D"/>
                </a:solidFill>
              </a:rPr>
              <a:t>Expansion into dyslipidemia and metabolic cluster</a:t>
            </a:r>
            <a:endParaRPr lang="ko-KR" altLang="en-US" sz="1000" dirty="0">
              <a:solidFill>
                <a:srgbClr val="3D3D3D"/>
              </a:solidFill>
            </a:endParaRPr>
          </a:p>
        </p:txBody>
      </p:sp>
      <p:sp>
        <p:nvSpPr>
          <p:cNvPr id="28" name="직사각형 27">
            <a:extLst>
              <a:ext uri="{FF2B5EF4-FFF2-40B4-BE49-F238E27FC236}">
                <a16:creationId xmlns:a16="http://schemas.microsoft.com/office/drawing/2014/main" id="{A3505E33-230F-9F52-E026-DF48349D5C3F}"/>
              </a:ext>
            </a:extLst>
          </p:cNvPr>
          <p:cNvSpPr/>
          <p:nvPr/>
        </p:nvSpPr>
        <p:spPr>
          <a:xfrm>
            <a:off x="453000" y="4016420"/>
            <a:ext cx="1800000" cy="864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Oncology</a:t>
            </a:r>
          </a:p>
          <a:p>
            <a:r>
              <a:rPr lang="en-US" altLang="ko-KR" sz="1000" dirty="0">
                <a:solidFill>
                  <a:schemeClr val="bg1"/>
                </a:solidFill>
              </a:rPr>
              <a:t>Resistant and recurrent</a:t>
            </a:r>
          </a:p>
          <a:p>
            <a:r>
              <a:rPr lang="en-US" altLang="ko-KR" sz="1000" dirty="0">
                <a:solidFill>
                  <a:schemeClr val="bg1"/>
                </a:solidFill>
              </a:rPr>
              <a:t>solid tumors</a:t>
            </a:r>
          </a:p>
        </p:txBody>
      </p:sp>
      <p:sp>
        <p:nvSpPr>
          <p:cNvPr id="29" name="직사각형 28">
            <a:extLst>
              <a:ext uri="{FF2B5EF4-FFF2-40B4-BE49-F238E27FC236}">
                <a16:creationId xmlns:a16="http://schemas.microsoft.com/office/drawing/2014/main" id="{21140D78-E65E-E1D7-AEA8-2BCB260F16DB}"/>
              </a:ext>
            </a:extLst>
          </p:cNvPr>
          <p:cNvSpPr/>
          <p:nvPr/>
        </p:nvSpPr>
        <p:spPr>
          <a:xfrm>
            <a:off x="2432999" y="4016420"/>
            <a:ext cx="3419999" cy="864000"/>
          </a:xfrm>
          <a:prstGeom prst="rect">
            <a:avLst/>
          </a:prstGeom>
          <a:solidFill>
            <a:schemeClr val="bg1"/>
          </a:solidFill>
          <a:ln w="6350">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171450" indent="-171450">
              <a:buFont typeface="Wingdings" panose="05000000000000000000" pitchFamily="2" charset="2"/>
              <a:buChar char="§"/>
            </a:pPr>
            <a:r>
              <a:rPr lang="en-US" altLang="ko-KR" sz="1000" dirty="0">
                <a:solidFill>
                  <a:srgbClr val="3D3D3D"/>
                </a:solidFill>
              </a:rPr>
              <a:t>Resistance and recurrence common</a:t>
            </a:r>
          </a:p>
          <a:p>
            <a:pPr marL="171450" indent="-171450">
              <a:buFont typeface="Wingdings" panose="05000000000000000000" pitchFamily="2" charset="2"/>
              <a:buChar char="§"/>
            </a:pPr>
            <a:r>
              <a:rPr lang="en-US" altLang="ko-KR" sz="1000" dirty="0">
                <a:solidFill>
                  <a:srgbClr val="3D3D3D"/>
                </a:solidFill>
              </a:rPr>
              <a:t>Gene-delivery challenges</a:t>
            </a:r>
          </a:p>
          <a:p>
            <a:pPr marL="171450" indent="-171450">
              <a:buFont typeface="Wingdings" panose="05000000000000000000" pitchFamily="2" charset="2"/>
              <a:buChar char="§"/>
            </a:pPr>
            <a:r>
              <a:rPr lang="en-US" altLang="ko-KR" sz="1000" dirty="0">
                <a:solidFill>
                  <a:srgbClr val="3D3D3D"/>
                </a:solidFill>
              </a:rPr>
              <a:t>Limited immuno-oncology success rate</a:t>
            </a:r>
            <a:endParaRPr lang="ko-KR" altLang="en-US" sz="1000" dirty="0">
              <a:solidFill>
                <a:srgbClr val="3D3D3D"/>
              </a:solidFill>
            </a:endParaRPr>
          </a:p>
        </p:txBody>
      </p:sp>
      <p:sp>
        <p:nvSpPr>
          <p:cNvPr id="30" name="직사각형 29">
            <a:extLst>
              <a:ext uri="{FF2B5EF4-FFF2-40B4-BE49-F238E27FC236}">
                <a16:creationId xmlns:a16="http://schemas.microsoft.com/office/drawing/2014/main" id="{B0D03D52-3EB7-6929-4AAC-A57CBA8E5994}"/>
              </a:ext>
            </a:extLst>
          </p:cNvPr>
          <p:cNvSpPr/>
          <p:nvPr/>
        </p:nvSpPr>
        <p:spPr>
          <a:xfrm>
            <a:off x="6033001" y="4016420"/>
            <a:ext cx="3419999" cy="864000"/>
          </a:xfrm>
          <a:prstGeom prst="rect">
            <a:avLst/>
          </a:prstGeom>
          <a:solidFill>
            <a:schemeClr val="bg1"/>
          </a:solidFill>
          <a:ln w="6350">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171450" indent="-171450">
              <a:buFont typeface="Wingdings" panose="05000000000000000000" pitchFamily="2" charset="2"/>
              <a:buChar char="§"/>
            </a:pPr>
            <a:r>
              <a:rPr lang="en-US" altLang="ko-KR" sz="1000" dirty="0">
                <a:solidFill>
                  <a:srgbClr val="3D3D3D"/>
                </a:solidFill>
              </a:rPr>
              <a:t>Next-gen modality opens new oncology paths</a:t>
            </a:r>
          </a:p>
          <a:p>
            <a:pPr marL="171450" indent="-171450">
              <a:buFont typeface="Wingdings" panose="05000000000000000000" pitchFamily="2" charset="2"/>
              <a:buChar char="§"/>
            </a:pPr>
            <a:r>
              <a:rPr lang="en-US" altLang="ko-KR" sz="1000" dirty="0">
                <a:solidFill>
                  <a:srgbClr val="3D3D3D"/>
                </a:solidFill>
              </a:rPr>
              <a:t>High big-pharma partnering interest</a:t>
            </a:r>
          </a:p>
          <a:p>
            <a:pPr marL="171450" indent="-171450">
              <a:buFont typeface="Wingdings" panose="05000000000000000000" pitchFamily="2" charset="2"/>
              <a:buChar char="§"/>
            </a:pPr>
            <a:r>
              <a:rPr lang="en-US" altLang="ko-KR" sz="1000" dirty="0">
                <a:solidFill>
                  <a:srgbClr val="3D3D3D"/>
                </a:solidFill>
              </a:rPr>
              <a:t>Clinical signals can trigger valuation uplift</a:t>
            </a:r>
            <a:endParaRPr lang="ko-KR" altLang="en-US" sz="1000" dirty="0">
              <a:solidFill>
                <a:srgbClr val="3D3D3D"/>
              </a:solidFill>
            </a:endParaRPr>
          </a:p>
        </p:txBody>
      </p:sp>
      <p:sp>
        <p:nvSpPr>
          <p:cNvPr id="31" name="직사각형 30">
            <a:extLst>
              <a:ext uri="{FF2B5EF4-FFF2-40B4-BE49-F238E27FC236}">
                <a16:creationId xmlns:a16="http://schemas.microsoft.com/office/drawing/2014/main" id="{B1664BBB-6658-6947-6E5D-B0FF4269380C}"/>
              </a:ext>
            </a:extLst>
          </p:cNvPr>
          <p:cNvSpPr/>
          <p:nvPr/>
        </p:nvSpPr>
        <p:spPr>
          <a:xfrm>
            <a:off x="453000" y="4976525"/>
            <a:ext cx="1800000" cy="720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Dyslipidemia</a:t>
            </a:r>
          </a:p>
          <a:p>
            <a:r>
              <a:rPr lang="en-US" altLang="ko-KR" sz="1000" dirty="0">
                <a:solidFill>
                  <a:schemeClr val="bg1"/>
                </a:solidFill>
              </a:rPr>
              <a:t>Abnormal lipid</a:t>
            </a:r>
          </a:p>
          <a:p>
            <a:r>
              <a:rPr lang="en-US" altLang="ko-KR" sz="1000" dirty="0">
                <a:solidFill>
                  <a:schemeClr val="bg1"/>
                </a:solidFill>
              </a:rPr>
              <a:t>&amp; cholesterol levels</a:t>
            </a:r>
          </a:p>
        </p:txBody>
      </p:sp>
      <p:sp>
        <p:nvSpPr>
          <p:cNvPr id="32" name="직사각형 31">
            <a:extLst>
              <a:ext uri="{FF2B5EF4-FFF2-40B4-BE49-F238E27FC236}">
                <a16:creationId xmlns:a16="http://schemas.microsoft.com/office/drawing/2014/main" id="{147367D6-25FB-014B-809A-458F38B07F4A}"/>
              </a:ext>
            </a:extLst>
          </p:cNvPr>
          <p:cNvSpPr/>
          <p:nvPr/>
        </p:nvSpPr>
        <p:spPr>
          <a:xfrm>
            <a:off x="2432999" y="4976525"/>
            <a:ext cx="3419999" cy="720000"/>
          </a:xfrm>
          <a:prstGeom prst="rect">
            <a:avLst/>
          </a:prstGeom>
          <a:solidFill>
            <a:schemeClr val="bg1"/>
          </a:solidFill>
          <a:ln w="6350">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171450" indent="-171450">
              <a:buFont typeface="Wingdings" panose="05000000000000000000" pitchFamily="2" charset="2"/>
              <a:buChar char="§"/>
            </a:pPr>
            <a:r>
              <a:rPr lang="en-US" altLang="ko-KR" sz="1000" dirty="0">
                <a:solidFill>
                  <a:srgbClr val="3D3D3D"/>
                </a:solidFill>
              </a:rPr>
              <a:t>Statins intolerance and subpopulations unmet</a:t>
            </a:r>
          </a:p>
          <a:p>
            <a:pPr marL="171450" indent="-171450">
              <a:buFont typeface="Wingdings" panose="05000000000000000000" pitchFamily="2" charset="2"/>
              <a:buChar char="§"/>
            </a:pPr>
            <a:r>
              <a:rPr lang="en-US" altLang="ko-KR" sz="1000" dirty="0">
                <a:solidFill>
                  <a:srgbClr val="3D3D3D"/>
                </a:solidFill>
              </a:rPr>
              <a:t>Cardiovascular risk still high</a:t>
            </a:r>
            <a:endParaRPr lang="ko-KR" altLang="en-US" sz="1000" dirty="0">
              <a:solidFill>
                <a:srgbClr val="3D3D3D"/>
              </a:solidFill>
            </a:endParaRPr>
          </a:p>
        </p:txBody>
      </p:sp>
      <p:sp>
        <p:nvSpPr>
          <p:cNvPr id="33" name="직사각형 32">
            <a:extLst>
              <a:ext uri="{FF2B5EF4-FFF2-40B4-BE49-F238E27FC236}">
                <a16:creationId xmlns:a16="http://schemas.microsoft.com/office/drawing/2014/main" id="{8D11EF8E-36AF-1C11-44E3-4E6DC91DCC97}"/>
              </a:ext>
            </a:extLst>
          </p:cNvPr>
          <p:cNvSpPr/>
          <p:nvPr/>
        </p:nvSpPr>
        <p:spPr>
          <a:xfrm>
            <a:off x="6033001" y="4976525"/>
            <a:ext cx="3419999" cy="720000"/>
          </a:xfrm>
          <a:prstGeom prst="rect">
            <a:avLst/>
          </a:prstGeom>
          <a:solidFill>
            <a:schemeClr val="bg1"/>
          </a:solidFill>
          <a:ln w="6350">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pPr marL="171450" indent="-171450">
              <a:buFont typeface="Wingdings" panose="05000000000000000000" pitchFamily="2" charset="2"/>
              <a:buChar char="§"/>
            </a:pPr>
            <a:r>
              <a:rPr lang="en-US" altLang="ko-KR" sz="1000" dirty="0">
                <a:solidFill>
                  <a:srgbClr val="3D3D3D"/>
                </a:solidFill>
              </a:rPr>
              <a:t>Large chronic market</a:t>
            </a:r>
          </a:p>
          <a:p>
            <a:pPr marL="171450" indent="-171450">
              <a:buFont typeface="Wingdings" panose="05000000000000000000" pitchFamily="2" charset="2"/>
              <a:buChar char="§"/>
            </a:pPr>
            <a:r>
              <a:rPr lang="en-US" altLang="ko-KR" sz="1000" dirty="0">
                <a:solidFill>
                  <a:srgbClr val="3D3D3D"/>
                </a:solidFill>
              </a:rPr>
              <a:t>Combination therapy potential</a:t>
            </a:r>
            <a:endParaRPr lang="ko-KR" altLang="en-US" sz="1000" dirty="0">
              <a:solidFill>
                <a:srgbClr val="3D3D3D"/>
              </a:solidFill>
            </a:endParaRPr>
          </a:p>
        </p:txBody>
      </p:sp>
    </p:spTree>
    <p:extLst>
      <p:ext uri="{BB962C8B-B14F-4D97-AF65-F5344CB8AC3E}">
        <p14:creationId xmlns:p14="http://schemas.microsoft.com/office/powerpoint/2010/main" val="1250494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0CE0E-083C-F4DA-867D-ED36AB87D0A4}"/>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47450CEB-B2D9-E4E8-34DB-D4E35DF34096}"/>
              </a:ext>
            </a:extLst>
          </p:cNvPr>
          <p:cNvSpPr>
            <a:spLocks noGrp="1"/>
          </p:cNvSpPr>
          <p:nvPr>
            <p:ph type="body" sz="quarter" idx="11"/>
          </p:nvPr>
        </p:nvSpPr>
        <p:spPr/>
        <p:txBody>
          <a:bodyPr/>
          <a:lstStyle/>
          <a:p>
            <a:r>
              <a:rPr lang="en-US" altLang="ko-KR" dirty="0"/>
              <a:t>Complementary Dual-Modality Pipeline</a:t>
            </a:r>
            <a:endParaRPr lang="ko-KR" altLang="en-US" dirty="0"/>
          </a:p>
        </p:txBody>
      </p:sp>
      <p:sp>
        <p:nvSpPr>
          <p:cNvPr id="3" name="텍스트 개체 틀 2">
            <a:extLst>
              <a:ext uri="{FF2B5EF4-FFF2-40B4-BE49-F238E27FC236}">
                <a16:creationId xmlns:a16="http://schemas.microsoft.com/office/drawing/2014/main" id="{FCE309C5-9507-F6D8-A490-2BE99EA81D45}"/>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B976D1C-4721-461D-6B14-740F5A4A2580}"/>
              </a:ext>
            </a:extLst>
          </p:cNvPr>
          <p:cNvSpPr>
            <a:spLocks noGrp="1"/>
          </p:cNvSpPr>
          <p:nvPr>
            <p:ph type="sldNum" sz="quarter" idx="13"/>
          </p:nvPr>
        </p:nvSpPr>
        <p:spPr/>
        <p:txBody>
          <a:bodyPr/>
          <a:lstStyle/>
          <a:p>
            <a:fld id="{C053318C-A610-4AA5-9FF7-26630BAA1E31}" type="slidenum">
              <a:rPr lang="en-US" altLang="ko-KR" smtClean="0"/>
              <a:pPr/>
              <a:t>7</a:t>
            </a:fld>
            <a:endParaRPr lang="en-US" dirty="0"/>
          </a:p>
        </p:txBody>
      </p:sp>
      <p:sp>
        <p:nvSpPr>
          <p:cNvPr id="8" name="TextBox 7">
            <a:extLst>
              <a:ext uri="{FF2B5EF4-FFF2-40B4-BE49-F238E27FC236}">
                <a16:creationId xmlns:a16="http://schemas.microsoft.com/office/drawing/2014/main" id="{4820C06C-1C85-2600-2EA3-F25C860FF2F8}"/>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Future Medicine and Curigin together establish a multi-modality pipeline that expands </a:t>
            </a:r>
            <a:r>
              <a:rPr lang="en-US" altLang="ko-KR" sz="1400" b="1" dirty="0" err="1">
                <a:solidFill>
                  <a:srgbClr val="3D3D3D"/>
                </a:solidFill>
              </a:rPr>
              <a:t>NKTx’s</a:t>
            </a:r>
            <a:r>
              <a:rPr lang="en-US" altLang="ko-KR" sz="1400" b="1" dirty="0">
                <a:solidFill>
                  <a:srgbClr val="3D3D3D"/>
                </a:solidFill>
              </a:rPr>
              <a:t> growth potential in metabolic disease and oncology.</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16FFB1DC-EE59-4C71-2C03-B5F9B39C0CA8}"/>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Combined Value Formula</a:t>
            </a:r>
            <a:endParaRPr lang="ko-KR" altLang="en-US" sz="1200" b="1" dirty="0">
              <a:solidFill>
                <a:schemeClr val="bg1"/>
              </a:solidFill>
            </a:endParaRPr>
          </a:p>
        </p:txBody>
      </p:sp>
      <p:sp>
        <p:nvSpPr>
          <p:cNvPr id="11" name="직사각형 10">
            <a:extLst>
              <a:ext uri="{FF2B5EF4-FFF2-40B4-BE49-F238E27FC236}">
                <a16:creationId xmlns:a16="http://schemas.microsoft.com/office/drawing/2014/main" id="{CFBDBBBC-596D-E238-AC9A-38277E594A0E}"/>
              </a:ext>
            </a:extLst>
          </p:cNvPr>
          <p:cNvSpPr/>
          <p:nvPr/>
        </p:nvSpPr>
        <p:spPr>
          <a:xfrm>
            <a:off x="453000" y="2168525"/>
            <a:ext cx="2700000" cy="2520000"/>
          </a:xfrm>
          <a:prstGeom prst="rect">
            <a:avLst/>
          </a:prstGeom>
          <a:solidFill>
            <a:schemeClr val="bg1"/>
          </a:solidFill>
          <a:ln>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80000" tIns="0" rIns="180000" bIns="0" rtlCol="0" anchor="ctr"/>
          <a:lstStyle/>
          <a:p>
            <a:pPr algn="ctr">
              <a:spcAft>
                <a:spcPts val="600"/>
              </a:spcAft>
            </a:pPr>
            <a:r>
              <a:rPr lang="en-US" altLang="ko-KR" sz="1200" b="1" dirty="0">
                <a:solidFill>
                  <a:srgbClr val="11244A"/>
                </a:solidFill>
              </a:rPr>
              <a:t>FUTURE MEDICINE</a:t>
            </a:r>
          </a:p>
          <a:p>
            <a:pPr algn="ctr"/>
            <a:r>
              <a:rPr lang="en-US" altLang="ko-KR" sz="1000" i="1" dirty="0">
                <a:solidFill>
                  <a:srgbClr val="3D3D3D"/>
                </a:solidFill>
              </a:rPr>
              <a:t>Small-Molecule Pipeline</a:t>
            </a:r>
          </a:p>
          <a:p>
            <a:pPr algn="ctr">
              <a:spcAft>
                <a:spcPts val="1200"/>
              </a:spcAft>
            </a:pPr>
            <a:r>
              <a:rPr lang="en-US" altLang="ko-KR" sz="1000" i="1" dirty="0">
                <a:solidFill>
                  <a:srgbClr val="3D3D3D"/>
                </a:solidFill>
              </a:rPr>
              <a:t>with Clinical Progress Potential</a:t>
            </a:r>
          </a:p>
          <a:p>
            <a:pPr marL="171450" indent="-171450">
              <a:spcAft>
                <a:spcPts val="600"/>
              </a:spcAft>
              <a:buFont typeface="Wingdings" panose="05000000000000000000" pitchFamily="2" charset="2"/>
              <a:buChar char="ü"/>
            </a:pPr>
            <a:r>
              <a:rPr lang="en-US" altLang="ko-KR" sz="1000" dirty="0">
                <a:solidFill>
                  <a:srgbClr val="3D3D3D"/>
                </a:solidFill>
              </a:rPr>
              <a:t>Oral</a:t>
            </a:r>
            <a:r>
              <a:rPr lang="ko-KR" altLang="en-US" sz="1000" dirty="0">
                <a:solidFill>
                  <a:srgbClr val="3D3D3D"/>
                </a:solidFill>
              </a:rPr>
              <a:t> </a:t>
            </a:r>
            <a:r>
              <a:rPr lang="en-US" altLang="ko-KR" sz="1000" dirty="0">
                <a:solidFill>
                  <a:srgbClr val="3D3D3D"/>
                </a:solidFill>
              </a:rPr>
              <a:t>small-molecule</a:t>
            </a:r>
            <a:r>
              <a:rPr lang="ko-KR" altLang="en-US" sz="1000" dirty="0">
                <a:solidFill>
                  <a:srgbClr val="3D3D3D"/>
                </a:solidFill>
              </a:rPr>
              <a:t> </a:t>
            </a:r>
            <a:r>
              <a:rPr lang="en-US" altLang="ko-KR" sz="1000" dirty="0">
                <a:solidFill>
                  <a:srgbClr val="3D3D3D"/>
                </a:solidFill>
              </a:rPr>
              <a:t>programs</a:t>
            </a:r>
            <a:r>
              <a:rPr lang="ko-KR" altLang="en-US" sz="1000" dirty="0">
                <a:solidFill>
                  <a:srgbClr val="3D3D3D"/>
                </a:solidFill>
              </a:rPr>
              <a:t> </a:t>
            </a:r>
            <a:r>
              <a:rPr lang="en-US" altLang="ko-KR" sz="1000" dirty="0">
                <a:solidFill>
                  <a:srgbClr val="3D3D3D"/>
                </a:solidFill>
              </a:rPr>
              <a:t>for</a:t>
            </a:r>
            <a:r>
              <a:rPr lang="ko-KR" altLang="en-US" sz="1000" dirty="0">
                <a:solidFill>
                  <a:srgbClr val="3D3D3D"/>
                </a:solidFill>
              </a:rPr>
              <a:t> </a:t>
            </a:r>
            <a:r>
              <a:rPr lang="en-US" altLang="ko-KR" sz="1000" dirty="0">
                <a:solidFill>
                  <a:srgbClr val="3D3D3D"/>
                </a:solidFill>
              </a:rPr>
              <a:t>metabolic</a:t>
            </a:r>
            <a:r>
              <a:rPr lang="ko-KR" altLang="en-US" sz="1000" dirty="0">
                <a:solidFill>
                  <a:srgbClr val="3D3D3D"/>
                </a:solidFill>
              </a:rPr>
              <a:t> </a:t>
            </a:r>
            <a:r>
              <a:rPr lang="en-US" altLang="ko-KR" sz="1000" dirty="0">
                <a:solidFill>
                  <a:srgbClr val="3D3D3D"/>
                </a:solidFill>
              </a:rPr>
              <a:t>disease</a:t>
            </a:r>
          </a:p>
          <a:p>
            <a:pPr marL="171450" indent="-171450">
              <a:spcAft>
                <a:spcPts val="600"/>
              </a:spcAft>
              <a:buFont typeface="Wingdings" panose="05000000000000000000" pitchFamily="2" charset="2"/>
              <a:buChar char="ü"/>
            </a:pPr>
            <a:r>
              <a:rPr lang="en-US" altLang="ko-KR" sz="1000" dirty="0">
                <a:solidFill>
                  <a:srgbClr val="3D3D3D"/>
                </a:solidFill>
              </a:rPr>
              <a:t>Faster development cycles with clear milestones</a:t>
            </a:r>
          </a:p>
          <a:p>
            <a:pPr marL="171450" indent="-171450">
              <a:spcAft>
                <a:spcPts val="600"/>
              </a:spcAft>
              <a:buFont typeface="Wingdings" panose="05000000000000000000" pitchFamily="2" charset="2"/>
              <a:buChar char="ü"/>
            </a:pPr>
            <a:r>
              <a:rPr lang="en-US" altLang="ko-KR" sz="1000" dirty="0">
                <a:solidFill>
                  <a:srgbClr val="3D3D3D"/>
                </a:solidFill>
              </a:rPr>
              <a:t>Potential for earlier clinical readouts and value inflection</a:t>
            </a:r>
          </a:p>
        </p:txBody>
      </p:sp>
      <p:sp>
        <p:nvSpPr>
          <p:cNvPr id="12" name="직사각형 11">
            <a:extLst>
              <a:ext uri="{FF2B5EF4-FFF2-40B4-BE49-F238E27FC236}">
                <a16:creationId xmlns:a16="http://schemas.microsoft.com/office/drawing/2014/main" id="{4A34DD90-46E5-C326-FBEC-5F522B5241B0}"/>
              </a:ext>
            </a:extLst>
          </p:cNvPr>
          <p:cNvSpPr/>
          <p:nvPr/>
        </p:nvSpPr>
        <p:spPr>
          <a:xfrm>
            <a:off x="3603000" y="2168525"/>
            <a:ext cx="2700000" cy="2520000"/>
          </a:xfrm>
          <a:prstGeom prst="rect">
            <a:avLst/>
          </a:prstGeom>
          <a:solidFill>
            <a:schemeClr val="bg1"/>
          </a:solidFill>
          <a:ln>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80000" tIns="0" rIns="180000" bIns="0" rtlCol="0" anchor="ctr"/>
          <a:lstStyle/>
          <a:p>
            <a:pPr algn="ctr">
              <a:spcAft>
                <a:spcPts val="600"/>
              </a:spcAft>
            </a:pPr>
            <a:r>
              <a:rPr lang="en-US" altLang="ko-KR" sz="1200" b="1" dirty="0">
                <a:solidFill>
                  <a:srgbClr val="11244A"/>
                </a:solidFill>
              </a:rPr>
              <a:t>CURIGIN</a:t>
            </a:r>
          </a:p>
          <a:p>
            <a:pPr algn="ctr"/>
            <a:r>
              <a:rPr lang="en-US" altLang="ko-KR" sz="1000" i="1" dirty="0">
                <a:solidFill>
                  <a:srgbClr val="3D3D3D"/>
                </a:solidFill>
              </a:rPr>
              <a:t>Next-Generation Platform</a:t>
            </a:r>
          </a:p>
          <a:p>
            <a:pPr algn="ctr">
              <a:spcAft>
                <a:spcPts val="1200"/>
              </a:spcAft>
            </a:pPr>
            <a:r>
              <a:rPr lang="en-US" altLang="ko-KR" sz="1000" i="1" dirty="0">
                <a:solidFill>
                  <a:srgbClr val="3D3D3D"/>
                </a:solidFill>
              </a:rPr>
              <a:t>Targeting Resistant Cancers</a:t>
            </a:r>
          </a:p>
          <a:p>
            <a:pPr marL="171450" indent="-171450">
              <a:spcAft>
                <a:spcPts val="600"/>
              </a:spcAft>
              <a:buFont typeface="Wingdings" panose="05000000000000000000" pitchFamily="2" charset="2"/>
              <a:buChar char="ü"/>
            </a:pPr>
            <a:r>
              <a:rPr lang="en-US" altLang="ko-KR" sz="1000" dirty="0">
                <a:solidFill>
                  <a:srgbClr val="3D3D3D"/>
                </a:solidFill>
              </a:rPr>
              <a:t>Bispecific RNAi &amp; oncolytic virus platforms</a:t>
            </a:r>
          </a:p>
          <a:p>
            <a:pPr marL="171450" indent="-171450">
              <a:spcAft>
                <a:spcPts val="600"/>
              </a:spcAft>
              <a:buFont typeface="Wingdings" panose="05000000000000000000" pitchFamily="2" charset="2"/>
              <a:buChar char="ü"/>
            </a:pPr>
            <a:r>
              <a:rPr lang="en-US" altLang="ko-KR" sz="1000" dirty="0">
                <a:solidFill>
                  <a:srgbClr val="3D3D3D"/>
                </a:solidFill>
              </a:rPr>
              <a:t>Indication expansion beyond single tumor type</a:t>
            </a:r>
          </a:p>
          <a:p>
            <a:pPr marL="171450" indent="-171450">
              <a:spcAft>
                <a:spcPts val="600"/>
              </a:spcAft>
              <a:buFont typeface="Wingdings" panose="05000000000000000000" pitchFamily="2" charset="2"/>
              <a:buChar char="ü"/>
            </a:pPr>
            <a:r>
              <a:rPr lang="en-US" altLang="ko-KR" sz="1000" dirty="0">
                <a:solidFill>
                  <a:srgbClr val="3D3D3D"/>
                </a:solidFill>
              </a:rPr>
              <a:t>Strong partnering potential in immuno-oncology</a:t>
            </a:r>
            <a:endParaRPr lang="ko-KR" altLang="en-US" sz="1000" dirty="0">
              <a:solidFill>
                <a:srgbClr val="3D3D3D"/>
              </a:solidFill>
            </a:endParaRPr>
          </a:p>
        </p:txBody>
      </p:sp>
      <p:sp>
        <p:nvSpPr>
          <p:cNvPr id="13" name="직사각형 12">
            <a:extLst>
              <a:ext uri="{FF2B5EF4-FFF2-40B4-BE49-F238E27FC236}">
                <a16:creationId xmlns:a16="http://schemas.microsoft.com/office/drawing/2014/main" id="{192BB368-B303-71FA-4512-3844B5B79A8A}"/>
              </a:ext>
            </a:extLst>
          </p:cNvPr>
          <p:cNvSpPr/>
          <p:nvPr/>
        </p:nvSpPr>
        <p:spPr>
          <a:xfrm>
            <a:off x="6753000" y="2168525"/>
            <a:ext cx="2700000" cy="2520000"/>
          </a:xfrm>
          <a:prstGeom prst="rect">
            <a:avLst/>
          </a:prstGeom>
          <a:solidFill>
            <a:srgbClr val="539DFF"/>
          </a:solidFill>
          <a:ln>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spcAft>
                <a:spcPts val="1200"/>
              </a:spcAft>
            </a:pPr>
            <a:r>
              <a:rPr lang="en-US" altLang="ko-KR" sz="1200" b="1" dirty="0">
                <a:solidFill>
                  <a:schemeClr val="bg1"/>
                </a:solidFill>
              </a:rPr>
              <a:t>NKTx</a:t>
            </a:r>
          </a:p>
          <a:p>
            <a:pPr algn="ctr"/>
            <a:r>
              <a:rPr lang="en-US" altLang="ko-KR" sz="1200" dirty="0">
                <a:solidFill>
                  <a:schemeClr val="bg1"/>
                </a:solidFill>
              </a:rPr>
              <a:t>Multi-Modality Biotech Platform</a:t>
            </a:r>
          </a:p>
          <a:p>
            <a:pPr algn="ctr"/>
            <a:r>
              <a:rPr lang="en-US" altLang="ko-KR" sz="1200" dirty="0">
                <a:solidFill>
                  <a:schemeClr val="bg1"/>
                </a:solidFill>
              </a:rPr>
              <a:t>for Metabolic Disease &amp; Oncology</a:t>
            </a:r>
            <a:endParaRPr lang="ko-KR" altLang="en-US" sz="1200" dirty="0">
              <a:solidFill>
                <a:schemeClr val="bg1"/>
              </a:solidFill>
            </a:endParaRPr>
          </a:p>
        </p:txBody>
      </p:sp>
      <p:sp>
        <p:nvSpPr>
          <p:cNvPr id="14" name="곱하기 기호 13">
            <a:extLst>
              <a:ext uri="{FF2B5EF4-FFF2-40B4-BE49-F238E27FC236}">
                <a16:creationId xmlns:a16="http://schemas.microsoft.com/office/drawing/2014/main" id="{6D4B9174-B060-0D6C-27D3-FC2CC7D40C3D}"/>
              </a:ext>
            </a:extLst>
          </p:cNvPr>
          <p:cNvSpPr/>
          <p:nvPr/>
        </p:nvSpPr>
        <p:spPr>
          <a:xfrm>
            <a:off x="3162000" y="3212525"/>
            <a:ext cx="432000" cy="432000"/>
          </a:xfrm>
          <a:prstGeom prst="mathMultiply">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5" name="같음 기호 14">
            <a:extLst>
              <a:ext uri="{FF2B5EF4-FFF2-40B4-BE49-F238E27FC236}">
                <a16:creationId xmlns:a16="http://schemas.microsoft.com/office/drawing/2014/main" id="{C411D047-4735-1BB7-4285-E83360B8A53D}"/>
              </a:ext>
            </a:extLst>
          </p:cNvPr>
          <p:cNvSpPr/>
          <p:nvPr/>
        </p:nvSpPr>
        <p:spPr>
          <a:xfrm>
            <a:off x="6312000" y="3212525"/>
            <a:ext cx="432000" cy="432000"/>
          </a:xfrm>
          <a:prstGeom prst="mathEqual">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Tree>
    <p:extLst>
      <p:ext uri="{BB962C8B-B14F-4D97-AF65-F5344CB8AC3E}">
        <p14:creationId xmlns:p14="http://schemas.microsoft.com/office/powerpoint/2010/main" val="2141077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33565-2C23-530E-EAC6-8EC474BBC87F}"/>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31F0CA94-1323-2E19-C4CF-0354C0F352F6}"/>
              </a:ext>
            </a:extLst>
          </p:cNvPr>
          <p:cNvSpPr>
            <a:spLocks noGrp="1"/>
          </p:cNvSpPr>
          <p:nvPr>
            <p:ph type="body" sz="quarter" idx="11"/>
          </p:nvPr>
        </p:nvSpPr>
        <p:spPr/>
        <p:txBody>
          <a:bodyPr/>
          <a:lstStyle/>
          <a:p>
            <a:r>
              <a:rPr lang="en-US" altLang="ko-KR" dirty="0"/>
              <a:t>Future Medicine - A Small-molecule pipeline</a:t>
            </a:r>
            <a:endParaRPr lang="ko-KR" altLang="en-US" dirty="0"/>
          </a:p>
        </p:txBody>
      </p:sp>
      <p:sp>
        <p:nvSpPr>
          <p:cNvPr id="3" name="텍스트 개체 틀 2">
            <a:extLst>
              <a:ext uri="{FF2B5EF4-FFF2-40B4-BE49-F238E27FC236}">
                <a16:creationId xmlns:a16="http://schemas.microsoft.com/office/drawing/2014/main" id="{44AE863D-EC7F-3AE2-C7D3-652E6E0CF32D}"/>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D593EB9-634F-400A-9B7D-316D4214E9DE}"/>
              </a:ext>
            </a:extLst>
          </p:cNvPr>
          <p:cNvSpPr>
            <a:spLocks noGrp="1"/>
          </p:cNvSpPr>
          <p:nvPr>
            <p:ph type="sldNum" sz="quarter" idx="13"/>
          </p:nvPr>
        </p:nvSpPr>
        <p:spPr/>
        <p:txBody>
          <a:bodyPr/>
          <a:lstStyle/>
          <a:p>
            <a:fld id="{C053318C-A610-4AA5-9FF7-26630BAA1E31}" type="slidenum">
              <a:rPr lang="en-US" altLang="ko-KR" smtClean="0"/>
              <a:pPr/>
              <a:t>8</a:t>
            </a:fld>
            <a:endParaRPr lang="en-US" dirty="0"/>
          </a:p>
        </p:txBody>
      </p:sp>
      <p:sp>
        <p:nvSpPr>
          <p:cNvPr id="8" name="TextBox 7">
            <a:extLst>
              <a:ext uri="{FF2B5EF4-FFF2-40B4-BE49-F238E27FC236}">
                <a16:creationId xmlns:a16="http://schemas.microsoft.com/office/drawing/2014/main" id="{3F8808B7-4144-AA26-35D2-D977164CC9BE}"/>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Future Medicine is a clinical-stage small-molecule biotech with Phase-2 proof-of-concept and a pipeline ready to drive value in metabolic disease, obesity and oncology.</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5AAE8F41-7587-8846-5457-94DB13FFB9CB}"/>
              </a:ext>
            </a:extLst>
          </p:cNvPr>
          <p:cNvSpPr/>
          <p:nvPr/>
        </p:nvSpPr>
        <p:spPr>
          <a:xfrm>
            <a:off x="453000" y="1700213"/>
            <a:ext cx="288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Company Profile</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37715FFB-EC58-8236-0A0C-A09E61947664}"/>
              </a:ext>
            </a:extLst>
          </p:cNvPr>
          <p:cNvSpPr/>
          <p:nvPr/>
        </p:nvSpPr>
        <p:spPr>
          <a:xfrm>
            <a:off x="3513000" y="1700213"/>
            <a:ext cx="594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Pipeline Snapshot</a:t>
            </a:r>
            <a:endParaRPr lang="ko-KR" altLang="en-US" sz="1200" b="1" dirty="0">
              <a:solidFill>
                <a:schemeClr val="bg1"/>
              </a:solidFill>
            </a:endParaRPr>
          </a:p>
        </p:txBody>
      </p:sp>
      <p:graphicFrame>
        <p:nvGraphicFramePr>
          <p:cNvPr id="12" name="표 11">
            <a:extLst>
              <a:ext uri="{FF2B5EF4-FFF2-40B4-BE49-F238E27FC236}">
                <a16:creationId xmlns:a16="http://schemas.microsoft.com/office/drawing/2014/main" id="{7660C413-EBE2-558C-C0A3-E96DFD90317F}"/>
              </a:ext>
            </a:extLst>
          </p:cNvPr>
          <p:cNvGraphicFramePr>
            <a:graphicFrameLocks noGrp="1"/>
          </p:cNvGraphicFramePr>
          <p:nvPr>
            <p:extLst>
              <p:ext uri="{D42A27DB-BD31-4B8C-83A1-F6EECF244321}">
                <p14:modId xmlns:p14="http://schemas.microsoft.com/office/powerpoint/2010/main" val="107693933"/>
              </p:ext>
            </p:extLst>
          </p:nvPr>
        </p:nvGraphicFramePr>
        <p:xfrm>
          <a:off x="3513000" y="2168525"/>
          <a:ext cx="5940000" cy="3024000"/>
        </p:xfrm>
        <a:graphic>
          <a:graphicData uri="http://schemas.openxmlformats.org/drawingml/2006/table">
            <a:tbl>
              <a:tblPr firstRow="1" bandRow="1">
                <a:tableStyleId>{5C22544A-7EE6-4342-B048-85BDC9FD1C3A}</a:tableStyleId>
              </a:tblPr>
              <a:tblGrid>
                <a:gridCol w="684000">
                  <a:extLst>
                    <a:ext uri="{9D8B030D-6E8A-4147-A177-3AD203B41FA5}">
                      <a16:colId xmlns:a16="http://schemas.microsoft.com/office/drawing/2014/main" val="1566434891"/>
                    </a:ext>
                  </a:extLst>
                </a:gridCol>
                <a:gridCol w="864000">
                  <a:extLst>
                    <a:ext uri="{9D8B030D-6E8A-4147-A177-3AD203B41FA5}">
                      <a16:colId xmlns:a16="http://schemas.microsoft.com/office/drawing/2014/main" val="3394651166"/>
                    </a:ext>
                  </a:extLst>
                </a:gridCol>
                <a:gridCol w="864000">
                  <a:extLst>
                    <a:ext uri="{9D8B030D-6E8A-4147-A177-3AD203B41FA5}">
                      <a16:colId xmlns:a16="http://schemas.microsoft.com/office/drawing/2014/main" val="961113177"/>
                    </a:ext>
                  </a:extLst>
                </a:gridCol>
                <a:gridCol w="2088000">
                  <a:extLst>
                    <a:ext uri="{9D8B030D-6E8A-4147-A177-3AD203B41FA5}">
                      <a16:colId xmlns:a16="http://schemas.microsoft.com/office/drawing/2014/main" val="1211137184"/>
                    </a:ext>
                  </a:extLst>
                </a:gridCol>
                <a:gridCol w="1440000">
                  <a:extLst>
                    <a:ext uri="{9D8B030D-6E8A-4147-A177-3AD203B41FA5}">
                      <a16:colId xmlns:a16="http://schemas.microsoft.com/office/drawing/2014/main" val="3959232566"/>
                    </a:ext>
                  </a:extLst>
                </a:gridCol>
              </a:tblGrid>
              <a:tr h="360000">
                <a:tc>
                  <a:txBody>
                    <a:bodyPr/>
                    <a:lstStyle/>
                    <a:p>
                      <a:pPr latinLnBrk="1"/>
                      <a:r>
                        <a:rPr lang="en-US" altLang="ko-KR" sz="1000" dirty="0">
                          <a:solidFill>
                            <a:srgbClr val="3D3D3D"/>
                          </a:solidFill>
                        </a:rPr>
                        <a:t>Asset</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Indication</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Stage</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Differentiation</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Next Value Catalyst</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9162181"/>
                  </a:ext>
                </a:extLst>
              </a:tr>
              <a:tr h="720000">
                <a:tc>
                  <a:txBody>
                    <a:bodyPr/>
                    <a:lstStyle/>
                    <a:p>
                      <a:pPr latinLnBrk="1"/>
                      <a:r>
                        <a:rPr lang="en-US" altLang="ko-KR" sz="1000" b="1" dirty="0">
                          <a:solidFill>
                            <a:srgbClr val="11244A"/>
                          </a:solidFill>
                        </a:rPr>
                        <a:t>FM101</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MASH</a:t>
                      </a:r>
                    </a:p>
                    <a:p>
                      <a:pPr latinLnBrk="1"/>
                      <a:r>
                        <a:rPr lang="en-US" altLang="ko-KR" sz="1000" dirty="0">
                          <a:solidFill>
                            <a:srgbClr val="3D3D3D"/>
                          </a:solidFill>
                        </a:rPr>
                        <a:t>&amp; Fibrosis</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Phase 2a</a:t>
                      </a:r>
                    </a:p>
                    <a:p>
                      <a:pPr latinLnBrk="1"/>
                      <a:r>
                        <a:rPr lang="en-US" altLang="ko-KR" sz="1000" dirty="0">
                          <a:solidFill>
                            <a:srgbClr val="3D3D3D"/>
                          </a:solidFill>
                        </a:rPr>
                        <a:t>completed</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
                      </a:pPr>
                      <a:r>
                        <a:rPr lang="en-US" altLang="ko-KR" sz="1000" dirty="0">
                          <a:solidFill>
                            <a:srgbClr val="3D3D3D"/>
                          </a:solidFill>
                        </a:rPr>
                        <a:t>Direct anti-fibrotic action</a:t>
                      </a:r>
                    </a:p>
                    <a:p>
                      <a:pPr marL="171450" indent="-171450" latinLnBrk="1">
                        <a:buFont typeface="Wingdings" panose="05000000000000000000" pitchFamily="2" charset="2"/>
                        <a:buChar char="§"/>
                      </a:pPr>
                      <a:r>
                        <a:rPr lang="en-US" altLang="ko-KR" sz="1000" dirty="0">
                          <a:solidFill>
                            <a:srgbClr val="3D3D3D"/>
                          </a:solidFill>
                        </a:rPr>
                        <a:t>Rapid clinical response</a:t>
                      </a:r>
                    </a:p>
                    <a:p>
                      <a:pPr marL="171450" indent="-171450" latinLnBrk="1">
                        <a:buFont typeface="Wingdings" panose="05000000000000000000" pitchFamily="2" charset="2"/>
                        <a:buChar char="§"/>
                      </a:pPr>
                      <a:r>
                        <a:rPr lang="en-US" altLang="ko-KR" sz="1000" dirty="0">
                          <a:solidFill>
                            <a:srgbClr val="3D3D3D"/>
                          </a:solidFill>
                        </a:rPr>
                        <a:t>Competitive vs </a:t>
                      </a:r>
                      <a:r>
                        <a:rPr lang="en-US" altLang="ko-KR" sz="1000" dirty="0" err="1">
                          <a:solidFill>
                            <a:srgbClr val="3D3D3D"/>
                          </a:solidFill>
                        </a:rPr>
                        <a:t>Rezdiffra</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ü"/>
                      </a:pPr>
                      <a:r>
                        <a:rPr lang="en-US" altLang="ko-KR" sz="1000" dirty="0">
                          <a:solidFill>
                            <a:srgbClr val="3D3D3D"/>
                          </a:solidFill>
                        </a:rPr>
                        <a:t>Phase 2b design</a:t>
                      </a:r>
                    </a:p>
                    <a:p>
                      <a:pPr marL="171450" indent="-171450" latinLnBrk="1">
                        <a:buFont typeface="Wingdings" panose="05000000000000000000" pitchFamily="2" charset="2"/>
                        <a:buChar char="ü"/>
                      </a:pPr>
                      <a:r>
                        <a:rPr lang="en-US" altLang="ko-KR" sz="1000" dirty="0">
                          <a:solidFill>
                            <a:srgbClr val="3D3D3D"/>
                          </a:solidFill>
                        </a:rPr>
                        <a:t>Global partners</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16640"/>
                  </a:ext>
                </a:extLst>
              </a:tr>
              <a:tr h="720000">
                <a:tc>
                  <a:txBody>
                    <a:bodyPr/>
                    <a:lstStyle/>
                    <a:p>
                      <a:pPr latinLnBrk="1"/>
                      <a:r>
                        <a:rPr lang="en-US" altLang="ko-KR" sz="1000" b="1" dirty="0">
                          <a:solidFill>
                            <a:srgbClr val="11244A"/>
                          </a:solidFill>
                        </a:rPr>
                        <a:t>FM801</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Obesity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Pre-clinical</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
                      </a:pPr>
                      <a:r>
                        <a:rPr lang="en-US" altLang="ko-KR" sz="1000" dirty="0">
                          <a:solidFill>
                            <a:srgbClr val="3D3D3D"/>
                          </a:solidFill>
                        </a:rPr>
                        <a:t>First-in-class oral drug</a:t>
                      </a:r>
                    </a:p>
                    <a:p>
                      <a:pPr marL="171450" indent="-171450" latinLnBrk="1">
                        <a:buFont typeface="Wingdings" panose="05000000000000000000" pitchFamily="2" charset="2"/>
                        <a:buChar char="§"/>
                      </a:pPr>
                      <a:r>
                        <a:rPr lang="en-US" altLang="ko-KR" sz="1000" dirty="0">
                          <a:solidFill>
                            <a:srgbClr val="3D3D3D"/>
                          </a:solidFill>
                        </a:rPr>
                        <a:t>Fat-burning mechanism</a:t>
                      </a:r>
                    </a:p>
                    <a:p>
                      <a:pPr marL="171450" indent="-171450" latinLnBrk="1">
                        <a:buFont typeface="Wingdings" panose="05000000000000000000" pitchFamily="2" charset="2"/>
                        <a:buChar char="§"/>
                      </a:pPr>
                      <a:r>
                        <a:rPr lang="en-US" altLang="ko-KR" sz="1000" dirty="0">
                          <a:solidFill>
                            <a:srgbClr val="3D3D3D"/>
                          </a:solidFill>
                        </a:rPr>
                        <a:t>No muscle loss</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ü"/>
                      </a:pPr>
                      <a:r>
                        <a:rPr lang="en-US" altLang="ko-KR" sz="1000" dirty="0">
                          <a:solidFill>
                            <a:srgbClr val="3D3D3D"/>
                          </a:solidFill>
                        </a:rPr>
                        <a:t>IND partnering</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345206"/>
                  </a:ext>
                </a:extLst>
              </a:tr>
              <a:tr h="612000">
                <a:tc>
                  <a:txBody>
                    <a:bodyPr/>
                    <a:lstStyle/>
                    <a:p>
                      <a:pPr latinLnBrk="1"/>
                      <a:r>
                        <a:rPr lang="en-US" altLang="ko-KR" sz="1000" b="1" dirty="0">
                          <a:solidFill>
                            <a:srgbClr val="11244A"/>
                          </a:solidFill>
                        </a:rPr>
                        <a:t>FM301</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Oncology</a:t>
                      </a:r>
                    </a:p>
                    <a:p>
                      <a:pPr latinLnBrk="1"/>
                      <a:r>
                        <a:rPr lang="en-US" altLang="ko-KR" sz="1000" dirty="0">
                          <a:solidFill>
                            <a:srgbClr val="3D3D3D"/>
                          </a:solidFill>
                        </a:rPr>
                        <a:t>(HASPIN)</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Pre-clinical</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
                      </a:pPr>
                      <a:r>
                        <a:rPr lang="en-US" altLang="ko-KR" sz="1000" dirty="0">
                          <a:solidFill>
                            <a:srgbClr val="3D3D3D"/>
                          </a:solidFill>
                        </a:rPr>
                        <a:t>New HASPIN oncology target</a:t>
                      </a:r>
                    </a:p>
                    <a:p>
                      <a:pPr marL="171450" indent="-171450" latinLnBrk="1">
                        <a:buFont typeface="Wingdings" panose="05000000000000000000" pitchFamily="2" charset="2"/>
                        <a:buChar char="§"/>
                      </a:pPr>
                      <a:r>
                        <a:rPr lang="en-US" altLang="ko-KR" sz="1000" dirty="0">
                          <a:solidFill>
                            <a:srgbClr val="3D3D3D"/>
                          </a:solidFill>
                        </a:rPr>
                        <a:t>Strong PDAC animal data</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ü"/>
                      </a:pPr>
                      <a:r>
                        <a:rPr lang="en-US" altLang="ko-KR" sz="1000" dirty="0">
                          <a:solidFill>
                            <a:srgbClr val="3D3D3D"/>
                          </a:solidFill>
                        </a:rPr>
                        <a:t>POC + out-licensing optionality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9270702"/>
                  </a:ext>
                </a:extLst>
              </a:tr>
              <a:tr h="612000">
                <a:tc>
                  <a:txBody>
                    <a:bodyPr/>
                    <a:lstStyle/>
                    <a:p>
                      <a:pPr latinLnBrk="1"/>
                      <a:r>
                        <a:rPr lang="en-US" altLang="ko-KR" sz="1000" b="1" dirty="0">
                          <a:solidFill>
                            <a:srgbClr val="11244A"/>
                          </a:solidFill>
                        </a:rPr>
                        <a:t>Platform Assets</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Metabolic</a:t>
                      </a:r>
                    </a:p>
                    <a:p>
                      <a:pPr latinLnBrk="1"/>
                      <a:r>
                        <a:rPr lang="en-US" altLang="ko-KR" sz="1000" dirty="0">
                          <a:solidFill>
                            <a:srgbClr val="3D3D3D"/>
                          </a:solidFill>
                        </a:rPr>
                        <a:t>&amp; Oncology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Discovery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
                      </a:pPr>
                      <a:r>
                        <a:rPr lang="en-US" altLang="ko-KR" sz="1000" dirty="0">
                          <a:solidFill>
                            <a:srgbClr val="3D3D3D"/>
                          </a:solidFill>
                        </a:rPr>
                        <a:t>Expandable engine producing pipelines continuously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ü"/>
                      </a:pPr>
                      <a:r>
                        <a:rPr lang="en-US" altLang="ko-KR" sz="1000" dirty="0">
                          <a:solidFill>
                            <a:srgbClr val="3D3D3D"/>
                          </a:solidFill>
                        </a:rPr>
                        <a:t>Strategic platform licensing</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4852839"/>
                  </a:ext>
                </a:extLst>
              </a:tr>
            </a:tbl>
          </a:graphicData>
        </a:graphic>
      </p:graphicFrame>
      <p:sp>
        <p:nvSpPr>
          <p:cNvPr id="13" name="직사각형 12">
            <a:extLst>
              <a:ext uri="{FF2B5EF4-FFF2-40B4-BE49-F238E27FC236}">
                <a16:creationId xmlns:a16="http://schemas.microsoft.com/office/drawing/2014/main" id="{0F9091FD-6090-40CC-557E-1372FC15AE64}"/>
              </a:ext>
            </a:extLst>
          </p:cNvPr>
          <p:cNvSpPr/>
          <p:nvPr/>
        </p:nvSpPr>
        <p:spPr>
          <a:xfrm>
            <a:off x="453001" y="2168525"/>
            <a:ext cx="2880000" cy="3024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72000" bIns="0" rtlCol="0" anchor="t"/>
          <a:lstStyle/>
          <a:p>
            <a:r>
              <a:rPr lang="en-US" altLang="ko-KR" sz="1200" b="1" dirty="0">
                <a:solidFill>
                  <a:schemeClr val="bg1"/>
                </a:solidFill>
              </a:rPr>
              <a:t>Future Medicine</a:t>
            </a:r>
            <a:endParaRPr lang="en-US" altLang="ko-KR" sz="1000" b="1" dirty="0">
              <a:solidFill>
                <a:schemeClr val="bg1"/>
              </a:solidFill>
            </a:endParaRPr>
          </a:p>
          <a:p>
            <a:r>
              <a:rPr lang="en-US" altLang="ko-KR" sz="1000" dirty="0">
                <a:solidFill>
                  <a:schemeClr val="bg1"/>
                </a:solidFill>
              </a:rPr>
              <a:t>Clinical-stage small-molecule biotech advancing metabolic &amp; oncology drugs</a:t>
            </a:r>
          </a:p>
          <a:p>
            <a:pPr>
              <a:spcBef>
                <a:spcPts val="1200"/>
              </a:spcBef>
              <a:spcAft>
                <a:spcPts val="300"/>
              </a:spcAft>
            </a:pPr>
            <a:r>
              <a:rPr lang="en-US" altLang="ko-KR" sz="1000" b="1" dirty="0">
                <a:solidFill>
                  <a:schemeClr val="bg1"/>
                </a:solidFill>
              </a:rPr>
              <a:t>Value Highlights</a:t>
            </a:r>
          </a:p>
          <a:p>
            <a:pPr marL="171450" indent="-171450">
              <a:spcAft>
                <a:spcPts val="300"/>
              </a:spcAft>
              <a:buFont typeface="Wingdings" panose="05000000000000000000" pitchFamily="2" charset="2"/>
              <a:buChar char="ü"/>
            </a:pPr>
            <a:r>
              <a:rPr lang="en-US" altLang="ko-KR" sz="1000" dirty="0">
                <a:solidFill>
                  <a:schemeClr val="bg1"/>
                </a:solidFill>
              </a:rPr>
              <a:t>Phase 2a POC achieved in MASH &amp; fibrosis</a:t>
            </a:r>
          </a:p>
          <a:p>
            <a:pPr marL="171450" indent="-171450">
              <a:spcAft>
                <a:spcPts val="300"/>
              </a:spcAft>
              <a:buFont typeface="Wingdings" panose="05000000000000000000" pitchFamily="2" charset="2"/>
              <a:buChar char="ü"/>
            </a:pPr>
            <a:r>
              <a:rPr lang="en-US" altLang="ko-KR" sz="1000" dirty="0">
                <a:solidFill>
                  <a:schemeClr val="bg1"/>
                </a:solidFill>
              </a:rPr>
              <a:t>40+ years nucleoside research heritage</a:t>
            </a:r>
          </a:p>
          <a:p>
            <a:pPr marL="171450" indent="-171450">
              <a:spcAft>
                <a:spcPts val="300"/>
              </a:spcAft>
              <a:buFont typeface="Wingdings" panose="05000000000000000000" pitchFamily="2" charset="2"/>
              <a:buChar char="ü"/>
            </a:pPr>
            <a:r>
              <a:rPr lang="en-US" altLang="ko-KR" sz="1000" dirty="0">
                <a:solidFill>
                  <a:schemeClr val="bg1"/>
                </a:solidFill>
              </a:rPr>
              <a:t>First-in-class oral obesity candidate</a:t>
            </a:r>
          </a:p>
          <a:p>
            <a:pPr marL="171450" indent="-171450">
              <a:spcAft>
                <a:spcPts val="300"/>
              </a:spcAft>
              <a:buFont typeface="Wingdings" panose="05000000000000000000" pitchFamily="2" charset="2"/>
              <a:buChar char="ü"/>
            </a:pPr>
            <a:r>
              <a:rPr lang="en-US" altLang="ko-KR" sz="1000" dirty="0">
                <a:solidFill>
                  <a:schemeClr val="bg1"/>
                </a:solidFill>
              </a:rPr>
              <a:t>Oncology pipeline adds licensing upside</a:t>
            </a:r>
          </a:p>
          <a:p>
            <a:pPr>
              <a:spcBef>
                <a:spcPts val="1200"/>
              </a:spcBef>
              <a:spcAft>
                <a:spcPts val="300"/>
              </a:spcAft>
            </a:pPr>
            <a:r>
              <a:rPr lang="en-US" altLang="ko-KR" sz="1000" b="1" dirty="0">
                <a:solidFill>
                  <a:schemeClr val="bg1"/>
                </a:solidFill>
              </a:rPr>
              <a:t>Why It Matters</a:t>
            </a:r>
          </a:p>
          <a:p>
            <a:pPr marL="171450" indent="-171450">
              <a:spcAft>
                <a:spcPts val="300"/>
              </a:spcAft>
              <a:buFont typeface="Wingdings" panose="05000000000000000000" pitchFamily="2" charset="2"/>
              <a:buChar char="ü"/>
            </a:pPr>
            <a:r>
              <a:rPr lang="en-US" altLang="ko-KR" sz="1000" dirty="0">
                <a:solidFill>
                  <a:schemeClr val="bg1"/>
                </a:solidFill>
              </a:rPr>
              <a:t>Oral modality → Scalable &amp; patient-friendly</a:t>
            </a:r>
          </a:p>
          <a:p>
            <a:pPr marL="171450" indent="-171450">
              <a:spcAft>
                <a:spcPts val="300"/>
              </a:spcAft>
              <a:buFont typeface="Wingdings" panose="05000000000000000000" pitchFamily="2" charset="2"/>
              <a:buChar char="ü"/>
            </a:pPr>
            <a:r>
              <a:rPr lang="en-US" altLang="ko-KR" sz="1000" dirty="0">
                <a:solidFill>
                  <a:schemeClr val="bg1"/>
                </a:solidFill>
              </a:rPr>
              <a:t>Faster trials → Earlier value unlock</a:t>
            </a:r>
          </a:p>
        </p:txBody>
      </p:sp>
    </p:spTree>
    <p:extLst>
      <p:ext uri="{BB962C8B-B14F-4D97-AF65-F5344CB8AC3E}">
        <p14:creationId xmlns:p14="http://schemas.microsoft.com/office/powerpoint/2010/main" val="1211410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20F12-7FE1-2201-98CF-C83EBCC5A251}"/>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0FF59E3-060D-6A07-ACFF-287336C3387B}"/>
              </a:ext>
            </a:extLst>
          </p:cNvPr>
          <p:cNvSpPr>
            <a:spLocks noGrp="1"/>
          </p:cNvSpPr>
          <p:nvPr>
            <p:ph type="body" sz="quarter" idx="11"/>
          </p:nvPr>
        </p:nvSpPr>
        <p:spPr/>
        <p:txBody>
          <a:bodyPr/>
          <a:lstStyle/>
          <a:p>
            <a:r>
              <a:rPr lang="en-US" altLang="ko-KR" dirty="0"/>
              <a:t>Curigin - A Next-Gen RNA</a:t>
            </a:r>
            <a:r>
              <a:rPr lang="en-US" altLang="ko-KR" cap="none" dirty="0"/>
              <a:t>i</a:t>
            </a:r>
            <a:r>
              <a:rPr lang="en-US" altLang="ko-KR" dirty="0"/>
              <a:t> &amp; Oncology Platform</a:t>
            </a:r>
            <a:endParaRPr lang="ko-KR" altLang="en-US" dirty="0"/>
          </a:p>
        </p:txBody>
      </p:sp>
      <p:sp>
        <p:nvSpPr>
          <p:cNvPr id="3" name="텍스트 개체 틀 2">
            <a:extLst>
              <a:ext uri="{FF2B5EF4-FFF2-40B4-BE49-F238E27FC236}">
                <a16:creationId xmlns:a16="http://schemas.microsoft.com/office/drawing/2014/main" id="{06F347DD-8671-AD29-6131-C6186FBB83AA}"/>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AC4CCAC-2F1C-AC2A-1FEE-273706D0952D}"/>
              </a:ext>
            </a:extLst>
          </p:cNvPr>
          <p:cNvSpPr>
            <a:spLocks noGrp="1"/>
          </p:cNvSpPr>
          <p:nvPr>
            <p:ph type="sldNum" sz="quarter" idx="13"/>
          </p:nvPr>
        </p:nvSpPr>
        <p:spPr/>
        <p:txBody>
          <a:bodyPr/>
          <a:lstStyle/>
          <a:p>
            <a:fld id="{C053318C-A610-4AA5-9FF7-26630BAA1E31}" type="slidenum">
              <a:rPr lang="en-US" altLang="ko-KR" smtClean="0"/>
              <a:pPr/>
              <a:t>9</a:t>
            </a:fld>
            <a:endParaRPr lang="en-US" dirty="0"/>
          </a:p>
        </p:txBody>
      </p:sp>
      <p:sp>
        <p:nvSpPr>
          <p:cNvPr id="8" name="TextBox 7">
            <a:extLst>
              <a:ext uri="{FF2B5EF4-FFF2-40B4-BE49-F238E27FC236}">
                <a16:creationId xmlns:a16="http://schemas.microsoft.com/office/drawing/2014/main" id="{BC3F98CD-DFA4-4368-2B58-A6873B1B030D}"/>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Curigin is an early-stage RNAi &amp; oncolytic biotech with a validated bispecific platform and multiple routes to value creation across oncology and metabolic disease.</a:t>
            </a:r>
            <a:endParaRPr lang="ko-KR" altLang="en-US" sz="1400" b="1" dirty="0">
              <a:solidFill>
                <a:srgbClr val="3D3D3D"/>
              </a:solidFill>
            </a:endParaRPr>
          </a:p>
        </p:txBody>
      </p:sp>
      <p:sp>
        <p:nvSpPr>
          <p:cNvPr id="11" name="직사각형 10">
            <a:extLst>
              <a:ext uri="{FF2B5EF4-FFF2-40B4-BE49-F238E27FC236}">
                <a16:creationId xmlns:a16="http://schemas.microsoft.com/office/drawing/2014/main" id="{87FAD1D9-C518-39CE-7D8D-DE7C89F4FA63}"/>
              </a:ext>
            </a:extLst>
          </p:cNvPr>
          <p:cNvSpPr/>
          <p:nvPr/>
        </p:nvSpPr>
        <p:spPr>
          <a:xfrm>
            <a:off x="453000" y="1700213"/>
            <a:ext cx="288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Company Profile</a:t>
            </a:r>
            <a:endParaRPr lang="ko-KR" altLang="en-US" sz="1200" b="1" dirty="0">
              <a:solidFill>
                <a:schemeClr val="bg1"/>
              </a:solidFill>
            </a:endParaRPr>
          </a:p>
        </p:txBody>
      </p:sp>
      <p:sp>
        <p:nvSpPr>
          <p:cNvPr id="12" name="직사각형 11">
            <a:extLst>
              <a:ext uri="{FF2B5EF4-FFF2-40B4-BE49-F238E27FC236}">
                <a16:creationId xmlns:a16="http://schemas.microsoft.com/office/drawing/2014/main" id="{B46B7594-65A8-D7E4-5287-C709547D0EAF}"/>
              </a:ext>
            </a:extLst>
          </p:cNvPr>
          <p:cNvSpPr/>
          <p:nvPr/>
        </p:nvSpPr>
        <p:spPr>
          <a:xfrm>
            <a:off x="3513000" y="1700213"/>
            <a:ext cx="594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Pipeline Snapshot</a:t>
            </a:r>
            <a:endParaRPr lang="ko-KR" altLang="en-US" sz="1200" b="1" dirty="0">
              <a:solidFill>
                <a:schemeClr val="bg1"/>
              </a:solidFill>
            </a:endParaRPr>
          </a:p>
        </p:txBody>
      </p:sp>
      <p:graphicFrame>
        <p:nvGraphicFramePr>
          <p:cNvPr id="13" name="표 12">
            <a:extLst>
              <a:ext uri="{FF2B5EF4-FFF2-40B4-BE49-F238E27FC236}">
                <a16:creationId xmlns:a16="http://schemas.microsoft.com/office/drawing/2014/main" id="{4CA48002-3FB4-D1A4-11E9-65247F30E386}"/>
              </a:ext>
            </a:extLst>
          </p:cNvPr>
          <p:cNvGraphicFramePr>
            <a:graphicFrameLocks noGrp="1"/>
          </p:cNvGraphicFramePr>
          <p:nvPr>
            <p:extLst>
              <p:ext uri="{D42A27DB-BD31-4B8C-83A1-F6EECF244321}">
                <p14:modId xmlns:p14="http://schemas.microsoft.com/office/powerpoint/2010/main" val="2331402074"/>
              </p:ext>
            </p:extLst>
          </p:nvPr>
        </p:nvGraphicFramePr>
        <p:xfrm>
          <a:off x="3513000" y="2168525"/>
          <a:ext cx="5940000" cy="2880000"/>
        </p:xfrm>
        <a:graphic>
          <a:graphicData uri="http://schemas.openxmlformats.org/drawingml/2006/table">
            <a:tbl>
              <a:tblPr firstRow="1" bandRow="1">
                <a:tableStyleId>{5C22544A-7EE6-4342-B048-85BDC9FD1C3A}</a:tableStyleId>
              </a:tblPr>
              <a:tblGrid>
                <a:gridCol w="684000">
                  <a:extLst>
                    <a:ext uri="{9D8B030D-6E8A-4147-A177-3AD203B41FA5}">
                      <a16:colId xmlns:a16="http://schemas.microsoft.com/office/drawing/2014/main" val="1566434891"/>
                    </a:ext>
                  </a:extLst>
                </a:gridCol>
                <a:gridCol w="864000">
                  <a:extLst>
                    <a:ext uri="{9D8B030D-6E8A-4147-A177-3AD203B41FA5}">
                      <a16:colId xmlns:a16="http://schemas.microsoft.com/office/drawing/2014/main" val="3394651166"/>
                    </a:ext>
                  </a:extLst>
                </a:gridCol>
                <a:gridCol w="864000">
                  <a:extLst>
                    <a:ext uri="{9D8B030D-6E8A-4147-A177-3AD203B41FA5}">
                      <a16:colId xmlns:a16="http://schemas.microsoft.com/office/drawing/2014/main" val="961113177"/>
                    </a:ext>
                  </a:extLst>
                </a:gridCol>
                <a:gridCol w="2088000">
                  <a:extLst>
                    <a:ext uri="{9D8B030D-6E8A-4147-A177-3AD203B41FA5}">
                      <a16:colId xmlns:a16="http://schemas.microsoft.com/office/drawing/2014/main" val="1211137184"/>
                    </a:ext>
                  </a:extLst>
                </a:gridCol>
                <a:gridCol w="1440000">
                  <a:extLst>
                    <a:ext uri="{9D8B030D-6E8A-4147-A177-3AD203B41FA5}">
                      <a16:colId xmlns:a16="http://schemas.microsoft.com/office/drawing/2014/main" val="3959232566"/>
                    </a:ext>
                  </a:extLst>
                </a:gridCol>
              </a:tblGrid>
              <a:tr h="360000">
                <a:tc>
                  <a:txBody>
                    <a:bodyPr/>
                    <a:lstStyle/>
                    <a:p>
                      <a:pPr latinLnBrk="1"/>
                      <a:r>
                        <a:rPr lang="en-US" altLang="ko-KR" sz="1000" dirty="0">
                          <a:solidFill>
                            <a:srgbClr val="3D3D3D"/>
                          </a:solidFill>
                        </a:rPr>
                        <a:t>Asset</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Indication</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Stage</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Differentiation</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Next Value Catalyst</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9162181"/>
                  </a:ext>
                </a:extLst>
              </a:tr>
              <a:tr h="900000">
                <a:tc>
                  <a:txBody>
                    <a:bodyPr/>
                    <a:lstStyle/>
                    <a:p>
                      <a:pPr latinLnBrk="1"/>
                      <a:r>
                        <a:rPr lang="en-US" altLang="ko-KR" sz="1000" b="1" dirty="0">
                          <a:solidFill>
                            <a:srgbClr val="11244A"/>
                          </a:solidFill>
                        </a:rPr>
                        <a:t>CA102</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NMIBC</a:t>
                      </a:r>
                    </a:p>
                    <a:p>
                      <a:pPr latinLnBrk="1"/>
                      <a:r>
                        <a:rPr lang="en-US" altLang="ko-KR" sz="1000" dirty="0">
                          <a:solidFill>
                            <a:srgbClr val="3D3D3D"/>
                          </a:solidFill>
                        </a:rPr>
                        <a:t>(Oncology)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Pre-clinical</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latinLnBrk="1">
                        <a:buFont typeface="Wingdings" panose="05000000000000000000" pitchFamily="2" charset="2"/>
                        <a:buNone/>
                      </a:pPr>
                      <a:r>
                        <a:rPr lang="en-US" altLang="ko-KR" sz="1000" dirty="0">
                          <a:solidFill>
                            <a:srgbClr val="3D3D3D"/>
                          </a:solidFill>
                        </a:rPr>
                        <a:t>Oncolytic virus + bispecific siRNA</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ü"/>
                      </a:pPr>
                      <a:r>
                        <a:rPr lang="en-US" altLang="ko-KR" sz="1000" dirty="0">
                          <a:solidFill>
                            <a:srgbClr val="3D3D3D"/>
                          </a:solidFill>
                        </a:rPr>
                        <a:t>IND submission target 2025</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16640"/>
                  </a:ext>
                </a:extLst>
              </a:tr>
              <a:tr h="900000">
                <a:tc>
                  <a:txBody>
                    <a:bodyPr/>
                    <a:lstStyle/>
                    <a:p>
                      <a:pPr latinLnBrk="1"/>
                      <a:r>
                        <a:rPr lang="en-US" altLang="ko-KR" sz="1000" b="1" dirty="0">
                          <a:solidFill>
                            <a:srgbClr val="11244A"/>
                          </a:solidFill>
                        </a:rPr>
                        <a:t>Csi103</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Dyslipidemia</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Pre-clinical</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latinLnBrk="1">
                        <a:buFont typeface="Wingdings" panose="05000000000000000000" pitchFamily="2" charset="2"/>
                        <a:buNone/>
                      </a:pPr>
                      <a:r>
                        <a:rPr lang="en-US" altLang="ko-KR" sz="1000" dirty="0">
                          <a:solidFill>
                            <a:srgbClr val="3D3D3D"/>
                          </a:solidFill>
                        </a:rPr>
                        <a:t>Dual-target PCSK9 + APOC3</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ü"/>
                      </a:pPr>
                      <a:r>
                        <a:rPr lang="en-US" altLang="ko-KR" sz="1000" dirty="0">
                          <a:solidFill>
                            <a:srgbClr val="3D3D3D"/>
                          </a:solidFill>
                        </a:rPr>
                        <a:t>Pre-clinical data expansion</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345206"/>
                  </a:ext>
                </a:extLst>
              </a:tr>
              <a:tr h="720000">
                <a:tc>
                  <a:txBody>
                    <a:bodyPr/>
                    <a:lstStyle/>
                    <a:p>
                      <a:pPr latinLnBrk="1"/>
                      <a:r>
                        <a:rPr lang="en-US" altLang="ko-KR" sz="1000" b="1" dirty="0">
                          <a:solidFill>
                            <a:srgbClr val="11244A"/>
                          </a:solidFill>
                        </a:rPr>
                        <a:t>Platform Assets</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Oncology</a:t>
                      </a:r>
                    </a:p>
                    <a:p>
                      <a:pPr latinLnBrk="1"/>
                      <a:r>
                        <a:rPr lang="en-US" altLang="ko-KR" sz="1000" dirty="0">
                          <a:solidFill>
                            <a:srgbClr val="3D3D3D"/>
                          </a:solidFill>
                        </a:rPr>
                        <a:t>&amp; Metabolic</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Discovery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latinLnBrk="1">
                        <a:buFont typeface="Wingdings" panose="05000000000000000000" pitchFamily="2" charset="2"/>
                        <a:buNone/>
                      </a:pPr>
                      <a:r>
                        <a:rPr lang="en-US" altLang="ko-KR" sz="1000" dirty="0">
                          <a:solidFill>
                            <a:srgbClr val="3D3D3D"/>
                          </a:solidFill>
                        </a:rPr>
                        <a:t>Scalable engine for multi-gene targets</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ü"/>
                      </a:pPr>
                      <a:r>
                        <a:rPr lang="en-US" altLang="ko-KR" sz="1000" dirty="0">
                          <a:solidFill>
                            <a:srgbClr val="3D3D3D"/>
                          </a:solidFill>
                        </a:rPr>
                        <a:t>Additional partnerships</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4852839"/>
                  </a:ext>
                </a:extLst>
              </a:tr>
            </a:tbl>
          </a:graphicData>
        </a:graphic>
      </p:graphicFrame>
      <p:sp>
        <p:nvSpPr>
          <p:cNvPr id="14" name="직사각형 13">
            <a:extLst>
              <a:ext uri="{FF2B5EF4-FFF2-40B4-BE49-F238E27FC236}">
                <a16:creationId xmlns:a16="http://schemas.microsoft.com/office/drawing/2014/main" id="{AD760D1F-2C07-306C-1345-75F89238B42A}"/>
              </a:ext>
            </a:extLst>
          </p:cNvPr>
          <p:cNvSpPr/>
          <p:nvPr/>
        </p:nvSpPr>
        <p:spPr>
          <a:xfrm>
            <a:off x="453001" y="2168525"/>
            <a:ext cx="2880000" cy="2880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72000" bIns="0" rtlCol="0" anchor="t"/>
          <a:lstStyle/>
          <a:p>
            <a:r>
              <a:rPr lang="en-US" altLang="ko-KR" sz="1200" b="1" dirty="0">
                <a:solidFill>
                  <a:schemeClr val="bg1"/>
                </a:solidFill>
              </a:rPr>
              <a:t>Curigin</a:t>
            </a:r>
            <a:endParaRPr lang="en-US" altLang="ko-KR" sz="1000" b="1" dirty="0">
              <a:solidFill>
                <a:schemeClr val="bg1"/>
              </a:solidFill>
            </a:endParaRPr>
          </a:p>
          <a:p>
            <a:r>
              <a:rPr lang="en-US" altLang="ko-KR" sz="1000" dirty="0">
                <a:solidFill>
                  <a:schemeClr val="bg1"/>
                </a:solidFill>
              </a:rPr>
              <a:t>Next-gen RNAi &amp; oncolytic biotech</a:t>
            </a:r>
          </a:p>
          <a:p>
            <a:r>
              <a:rPr lang="en-US" altLang="ko-KR" sz="1000" dirty="0">
                <a:solidFill>
                  <a:schemeClr val="bg1"/>
                </a:solidFill>
              </a:rPr>
              <a:t>targeting resistant cancers</a:t>
            </a:r>
          </a:p>
          <a:p>
            <a:pPr>
              <a:spcBef>
                <a:spcPts val="1200"/>
              </a:spcBef>
              <a:spcAft>
                <a:spcPts val="300"/>
              </a:spcAft>
            </a:pPr>
            <a:r>
              <a:rPr lang="en-US" altLang="ko-KR" sz="1000" b="1" dirty="0">
                <a:solidFill>
                  <a:schemeClr val="bg1"/>
                </a:solidFill>
              </a:rPr>
              <a:t>Value Highlights</a:t>
            </a:r>
          </a:p>
          <a:p>
            <a:pPr marL="171450" indent="-171450">
              <a:spcAft>
                <a:spcPts val="300"/>
              </a:spcAft>
              <a:buFont typeface="Wingdings" panose="05000000000000000000" pitchFamily="2" charset="2"/>
              <a:buChar char="ü"/>
            </a:pPr>
            <a:r>
              <a:rPr lang="en-US" altLang="ko-KR" sz="1000" dirty="0">
                <a:solidFill>
                  <a:schemeClr val="bg1"/>
                </a:solidFill>
              </a:rPr>
              <a:t>Bispecific siRNA platform</a:t>
            </a:r>
          </a:p>
          <a:p>
            <a:pPr marL="171450" indent="-171450">
              <a:spcAft>
                <a:spcPts val="300"/>
              </a:spcAft>
              <a:buFont typeface="Wingdings" panose="05000000000000000000" pitchFamily="2" charset="2"/>
              <a:buChar char="ü"/>
            </a:pPr>
            <a:r>
              <a:rPr lang="en-US" altLang="ko-KR" sz="1000" dirty="0">
                <a:solidFill>
                  <a:schemeClr val="bg1"/>
                </a:solidFill>
              </a:rPr>
              <a:t>CKD deal validates technology potential</a:t>
            </a:r>
          </a:p>
          <a:p>
            <a:pPr marL="171450" indent="-171450">
              <a:spcAft>
                <a:spcPts val="300"/>
              </a:spcAft>
              <a:buFont typeface="Wingdings" panose="05000000000000000000" pitchFamily="2" charset="2"/>
              <a:buChar char="ü"/>
            </a:pPr>
            <a:r>
              <a:rPr lang="en-US" altLang="ko-KR" sz="1000" spc="-50" dirty="0">
                <a:solidFill>
                  <a:schemeClr val="bg1"/>
                </a:solidFill>
              </a:rPr>
              <a:t>Oncolytic virus + siRNA dual-mechanism program</a:t>
            </a:r>
          </a:p>
          <a:p>
            <a:pPr marL="171450" indent="-171450">
              <a:spcAft>
                <a:spcPts val="300"/>
              </a:spcAft>
              <a:buFont typeface="Wingdings" panose="05000000000000000000" pitchFamily="2" charset="2"/>
              <a:buChar char="ü"/>
            </a:pPr>
            <a:r>
              <a:rPr lang="en-US" altLang="ko-KR" sz="1000" dirty="0">
                <a:solidFill>
                  <a:schemeClr val="bg1"/>
                </a:solidFill>
              </a:rPr>
              <a:t>Expansion path into metabolic disorders</a:t>
            </a:r>
          </a:p>
          <a:p>
            <a:pPr>
              <a:spcBef>
                <a:spcPts val="1200"/>
              </a:spcBef>
              <a:spcAft>
                <a:spcPts val="300"/>
              </a:spcAft>
            </a:pPr>
            <a:r>
              <a:rPr lang="en-US" altLang="ko-KR" sz="1000" b="1" dirty="0">
                <a:solidFill>
                  <a:schemeClr val="bg1"/>
                </a:solidFill>
              </a:rPr>
              <a:t>Why It Matters</a:t>
            </a:r>
          </a:p>
          <a:p>
            <a:pPr marL="171450" indent="-171450">
              <a:spcAft>
                <a:spcPts val="300"/>
              </a:spcAft>
              <a:buFont typeface="Wingdings" panose="05000000000000000000" pitchFamily="2" charset="2"/>
              <a:buChar char="ü"/>
            </a:pPr>
            <a:r>
              <a:rPr lang="en-US" altLang="ko-KR" sz="1000" dirty="0">
                <a:solidFill>
                  <a:schemeClr val="bg1"/>
                </a:solidFill>
              </a:rPr>
              <a:t>Dual-target knockdown → Higher potency + lower resistance</a:t>
            </a:r>
          </a:p>
          <a:p>
            <a:pPr marL="171450" indent="-171450">
              <a:spcAft>
                <a:spcPts val="300"/>
              </a:spcAft>
              <a:buFont typeface="Wingdings" panose="05000000000000000000" pitchFamily="2" charset="2"/>
              <a:buChar char="ü"/>
            </a:pPr>
            <a:r>
              <a:rPr lang="en-US" altLang="ko-KR" sz="1000" dirty="0">
                <a:solidFill>
                  <a:schemeClr val="bg1"/>
                </a:solidFill>
              </a:rPr>
              <a:t>Platform optionality → Multiple licensing shots</a:t>
            </a:r>
          </a:p>
        </p:txBody>
      </p:sp>
    </p:spTree>
    <p:extLst>
      <p:ext uri="{BB962C8B-B14F-4D97-AF65-F5344CB8AC3E}">
        <p14:creationId xmlns:p14="http://schemas.microsoft.com/office/powerpoint/2010/main" val="2225318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B4F5-E0A9-490A-1913-AAD80D593CD5}"/>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CE12AE2C-2BB7-9B7F-5622-2604C425BA4E}"/>
              </a:ext>
            </a:extLst>
          </p:cNvPr>
          <p:cNvSpPr>
            <a:spLocks noGrp="1"/>
          </p:cNvSpPr>
          <p:nvPr>
            <p:ph type="body" sz="quarter" idx="11"/>
          </p:nvPr>
        </p:nvSpPr>
        <p:spPr/>
        <p:txBody>
          <a:bodyPr/>
          <a:lstStyle/>
          <a:p>
            <a:r>
              <a:rPr lang="en-US" altLang="ko-KR" spc="-70" dirty="0"/>
              <a:t>Attractive entry valuation with re-rating Potential</a:t>
            </a:r>
          </a:p>
          <a:p>
            <a:endParaRPr lang="ko-KR" altLang="en-US" spc="-70" dirty="0"/>
          </a:p>
        </p:txBody>
      </p:sp>
      <p:sp>
        <p:nvSpPr>
          <p:cNvPr id="3" name="텍스트 개체 틀 2">
            <a:extLst>
              <a:ext uri="{FF2B5EF4-FFF2-40B4-BE49-F238E27FC236}">
                <a16:creationId xmlns:a16="http://schemas.microsoft.com/office/drawing/2014/main" id="{A2B16E1A-D8BD-1421-143F-3E25FBDFADF4}"/>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DA69AE2-54CA-10AF-2399-3891957D04C4}"/>
              </a:ext>
            </a:extLst>
          </p:cNvPr>
          <p:cNvSpPr>
            <a:spLocks noGrp="1"/>
          </p:cNvSpPr>
          <p:nvPr>
            <p:ph type="sldNum" sz="quarter" idx="13"/>
          </p:nvPr>
        </p:nvSpPr>
        <p:spPr/>
        <p:txBody>
          <a:bodyPr/>
          <a:lstStyle/>
          <a:p>
            <a:fld id="{C053318C-A610-4AA5-9FF7-26630BAA1E31}" type="slidenum">
              <a:rPr lang="en-US" altLang="ko-KR" smtClean="0"/>
              <a:pPr/>
              <a:t>10</a:t>
            </a:fld>
            <a:endParaRPr lang="en-US" dirty="0"/>
          </a:p>
        </p:txBody>
      </p:sp>
      <p:sp>
        <p:nvSpPr>
          <p:cNvPr id="8" name="TextBox 7">
            <a:extLst>
              <a:ext uri="{FF2B5EF4-FFF2-40B4-BE49-F238E27FC236}">
                <a16:creationId xmlns:a16="http://schemas.microsoft.com/office/drawing/2014/main" id="{02A741F5-2D88-27CF-D2C1-EF18F2A4852D}"/>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NKTx offers a $40 million pre-money entry into a multi-asset clinical portfolio with a clear path to a potential $0.8–1.2 billion NASDAQ valuation and &gt;20x re-rating upside.</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BCCF7743-2CC5-874A-F2DA-03F5501722CF}"/>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Investment Case at $40M Entry</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79F8B946-3F55-5462-60B9-17D172AD6894}"/>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Re-Rating Potential vs NASDAQ Peers</a:t>
            </a:r>
            <a:endParaRPr lang="ko-KR" altLang="en-US" sz="1200" b="1" dirty="0">
              <a:solidFill>
                <a:schemeClr val="bg1"/>
              </a:solidFill>
            </a:endParaRPr>
          </a:p>
        </p:txBody>
      </p:sp>
      <p:graphicFrame>
        <p:nvGraphicFramePr>
          <p:cNvPr id="13" name="차트 12">
            <a:extLst>
              <a:ext uri="{FF2B5EF4-FFF2-40B4-BE49-F238E27FC236}">
                <a16:creationId xmlns:a16="http://schemas.microsoft.com/office/drawing/2014/main" id="{4A4B8064-2B62-5713-BF9A-048D5E3C505B}"/>
              </a:ext>
            </a:extLst>
          </p:cNvPr>
          <p:cNvGraphicFramePr/>
          <p:nvPr>
            <p:extLst>
              <p:ext uri="{D42A27DB-BD31-4B8C-83A1-F6EECF244321}">
                <p14:modId xmlns:p14="http://schemas.microsoft.com/office/powerpoint/2010/main" val="1189014152"/>
              </p:ext>
            </p:extLst>
          </p:nvPr>
        </p:nvGraphicFramePr>
        <p:xfrm>
          <a:off x="5061000" y="2744523"/>
          <a:ext cx="4392000" cy="2880000"/>
        </p:xfrm>
        <a:graphic>
          <a:graphicData uri="http://schemas.openxmlformats.org/drawingml/2006/chart">
            <c:chart xmlns:c="http://schemas.openxmlformats.org/drawingml/2006/chart" xmlns:r="http://schemas.openxmlformats.org/officeDocument/2006/relationships" r:id="rId2"/>
          </a:graphicData>
        </a:graphic>
      </p:graphicFrame>
      <p:grpSp>
        <p:nvGrpSpPr>
          <p:cNvPr id="23" name="그룹 22">
            <a:extLst>
              <a:ext uri="{FF2B5EF4-FFF2-40B4-BE49-F238E27FC236}">
                <a16:creationId xmlns:a16="http://schemas.microsoft.com/office/drawing/2014/main" id="{32FF2D57-295E-4581-BA0A-328A945A7AAF}"/>
              </a:ext>
            </a:extLst>
          </p:cNvPr>
          <p:cNvGrpSpPr/>
          <p:nvPr/>
        </p:nvGrpSpPr>
        <p:grpSpPr>
          <a:xfrm>
            <a:off x="5094202" y="2168525"/>
            <a:ext cx="4358798" cy="576000"/>
            <a:chOff x="5094202" y="5192975"/>
            <a:chExt cx="4358798" cy="576000"/>
          </a:xfrm>
        </p:grpSpPr>
        <p:grpSp>
          <p:nvGrpSpPr>
            <p:cNvPr id="11" name="그룹 10">
              <a:extLst>
                <a:ext uri="{FF2B5EF4-FFF2-40B4-BE49-F238E27FC236}">
                  <a16:creationId xmlns:a16="http://schemas.microsoft.com/office/drawing/2014/main" id="{606B2BBF-BFA8-51E6-92EB-57C89CB4AB13}"/>
                </a:ext>
              </a:extLst>
            </p:cNvPr>
            <p:cNvGrpSpPr/>
            <p:nvPr/>
          </p:nvGrpSpPr>
          <p:grpSpPr>
            <a:xfrm>
              <a:off x="5094202" y="5192975"/>
              <a:ext cx="1296000" cy="576000"/>
              <a:chOff x="5094202" y="5183315"/>
              <a:chExt cx="1296000" cy="576000"/>
            </a:xfrm>
          </p:grpSpPr>
          <p:sp>
            <p:nvSpPr>
              <p:cNvPr id="14" name="직사각형 13">
                <a:extLst>
                  <a:ext uri="{FF2B5EF4-FFF2-40B4-BE49-F238E27FC236}">
                    <a16:creationId xmlns:a16="http://schemas.microsoft.com/office/drawing/2014/main" id="{CB9D2DD5-C09B-E3D2-B653-C3C76D9ADDE7}"/>
                  </a:ext>
                </a:extLst>
              </p:cNvPr>
              <p:cNvSpPr/>
              <p:nvPr/>
            </p:nvSpPr>
            <p:spPr>
              <a:xfrm>
                <a:off x="5094202" y="5183315"/>
                <a:ext cx="1296000" cy="576000"/>
              </a:xfrm>
              <a:prstGeom prst="rect">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576000" tIns="0" rIns="0" bIns="0" rtlCol="0" anchor="ctr"/>
              <a:lstStyle/>
              <a:p>
                <a:r>
                  <a:rPr lang="en-US" altLang="ko-KR" sz="1000" dirty="0">
                    <a:solidFill>
                      <a:srgbClr val="3D3D3D"/>
                    </a:solidFill>
                  </a:rPr>
                  <a:t>Pre-Money</a:t>
                </a:r>
              </a:p>
              <a:p>
                <a:r>
                  <a:rPr lang="en-US" altLang="ko-KR" sz="1000" dirty="0">
                    <a:solidFill>
                      <a:srgbClr val="3D3D3D"/>
                    </a:solidFill>
                  </a:rPr>
                  <a:t>Entry Value</a:t>
                </a:r>
                <a:endParaRPr lang="ko-KR" altLang="en-US" sz="1000" dirty="0">
                  <a:solidFill>
                    <a:srgbClr val="3D3D3D"/>
                  </a:solidFill>
                </a:endParaRPr>
              </a:p>
            </p:txBody>
          </p:sp>
          <p:sp>
            <p:nvSpPr>
              <p:cNvPr id="17" name="TextBox 16">
                <a:extLst>
                  <a:ext uri="{FF2B5EF4-FFF2-40B4-BE49-F238E27FC236}">
                    <a16:creationId xmlns:a16="http://schemas.microsoft.com/office/drawing/2014/main" id="{8E76A7A9-BEB1-C137-31A3-98A62D663833}"/>
                  </a:ext>
                </a:extLst>
              </p:cNvPr>
              <p:cNvSpPr txBox="1"/>
              <p:nvPr/>
            </p:nvSpPr>
            <p:spPr>
              <a:xfrm>
                <a:off x="5172217" y="5360226"/>
                <a:ext cx="386324" cy="222177"/>
              </a:xfrm>
              <a:prstGeom prst="rect">
                <a:avLst/>
              </a:prstGeom>
              <a:noFill/>
            </p:spPr>
            <p:txBody>
              <a:bodyPr wrap="none" lIns="0" tIns="0" rIns="0" bIns="0" rtlCol="0">
                <a:spAutoFit/>
              </a:bodyPr>
              <a:lstStyle/>
              <a:p>
                <a:pPr algn="l">
                  <a:lnSpc>
                    <a:spcPct val="110000"/>
                  </a:lnSpc>
                </a:pPr>
                <a:r>
                  <a:rPr lang="en-US" altLang="ko-KR" sz="1400" dirty="0">
                    <a:solidFill>
                      <a:srgbClr val="11244A"/>
                    </a:solidFill>
                    <a:latin typeface="+mj-lt"/>
                    <a:ea typeface="+mj-ea"/>
                  </a:rPr>
                  <a:t>40M</a:t>
                </a:r>
                <a:endParaRPr lang="ko-KR" altLang="en-US" sz="1400" dirty="0">
                  <a:solidFill>
                    <a:srgbClr val="11244A"/>
                  </a:solidFill>
                  <a:latin typeface="+mj-lt"/>
                  <a:ea typeface="+mj-ea"/>
                </a:endParaRPr>
              </a:p>
            </p:txBody>
          </p:sp>
        </p:grpSp>
        <p:grpSp>
          <p:nvGrpSpPr>
            <p:cNvPr id="12" name="그룹 11">
              <a:extLst>
                <a:ext uri="{FF2B5EF4-FFF2-40B4-BE49-F238E27FC236}">
                  <a16:creationId xmlns:a16="http://schemas.microsoft.com/office/drawing/2014/main" id="{F093A166-0144-D4A6-E2FE-296F79F8E12D}"/>
                </a:ext>
              </a:extLst>
            </p:cNvPr>
            <p:cNvGrpSpPr/>
            <p:nvPr/>
          </p:nvGrpSpPr>
          <p:grpSpPr>
            <a:xfrm>
              <a:off x="6800068" y="5192975"/>
              <a:ext cx="1368000" cy="576000"/>
              <a:chOff x="6697601" y="5192975"/>
              <a:chExt cx="1368000" cy="576000"/>
            </a:xfrm>
            <a:solidFill>
              <a:srgbClr val="539DFF"/>
            </a:solidFill>
          </p:grpSpPr>
          <p:sp>
            <p:nvSpPr>
              <p:cNvPr id="15" name="직사각형 14">
                <a:extLst>
                  <a:ext uri="{FF2B5EF4-FFF2-40B4-BE49-F238E27FC236}">
                    <a16:creationId xmlns:a16="http://schemas.microsoft.com/office/drawing/2014/main" id="{1FF2B16D-4564-F7ED-224B-48CC858CFF45}"/>
                  </a:ext>
                </a:extLst>
              </p:cNvPr>
              <p:cNvSpPr/>
              <p:nvPr/>
            </p:nvSpPr>
            <p:spPr>
              <a:xfrm>
                <a:off x="6697601" y="5192975"/>
                <a:ext cx="1368000" cy="576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540000" tIns="0" rIns="0" bIns="0" rtlCol="0" anchor="ctr"/>
              <a:lstStyle/>
              <a:p>
                <a:r>
                  <a:rPr lang="en-US" altLang="ko-KR" sz="1000" dirty="0">
                    <a:solidFill>
                      <a:schemeClr val="bg1"/>
                    </a:solidFill>
                  </a:rPr>
                  <a:t>IPO Target</a:t>
                </a:r>
              </a:p>
              <a:p>
                <a:r>
                  <a:rPr lang="en-US" altLang="ko-KR" sz="800" dirty="0">
                    <a:solidFill>
                      <a:schemeClr val="bg1"/>
                    </a:solidFill>
                  </a:rPr>
                  <a:t>w/ 60% discount</a:t>
                </a:r>
              </a:p>
            </p:txBody>
          </p:sp>
          <p:sp>
            <p:nvSpPr>
              <p:cNvPr id="18" name="TextBox 17">
                <a:extLst>
                  <a:ext uri="{FF2B5EF4-FFF2-40B4-BE49-F238E27FC236}">
                    <a16:creationId xmlns:a16="http://schemas.microsoft.com/office/drawing/2014/main" id="{7A4213D8-13C1-5478-E357-228D74D8D1EF}"/>
                  </a:ext>
                </a:extLst>
              </p:cNvPr>
              <p:cNvSpPr txBox="1"/>
              <p:nvPr/>
            </p:nvSpPr>
            <p:spPr>
              <a:xfrm>
                <a:off x="6779209" y="5369886"/>
                <a:ext cx="346249" cy="222177"/>
              </a:xfrm>
              <a:prstGeom prst="rect">
                <a:avLst/>
              </a:prstGeom>
              <a:grpFill/>
            </p:spPr>
            <p:txBody>
              <a:bodyPr wrap="none" lIns="0" tIns="0" rIns="0" bIns="0" rtlCol="0">
                <a:spAutoFit/>
              </a:bodyPr>
              <a:lstStyle/>
              <a:p>
                <a:pPr algn="l">
                  <a:lnSpc>
                    <a:spcPct val="110000"/>
                  </a:lnSpc>
                </a:pPr>
                <a:r>
                  <a:rPr lang="en-US" altLang="ko-KR" sz="1400" dirty="0">
                    <a:solidFill>
                      <a:schemeClr val="bg1"/>
                    </a:solidFill>
                    <a:latin typeface="+mj-lt"/>
                    <a:ea typeface="+mj-ea"/>
                  </a:rPr>
                  <a:t>1.2B</a:t>
                </a:r>
                <a:endParaRPr lang="ko-KR" altLang="en-US" sz="1400" dirty="0">
                  <a:solidFill>
                    <a:schemeClr val="bg1"/>
                  </a:solidFill>
                  <a:latin typeface="+mj-lt"/>
                  <a:ea typeface="+mj-ea"/>
                </a:endParaRPr>
              </a:p>
            </p:txBody>
          </p:sp>
        </p:grpSp>
        <p:grpSp>
          <p:nvGrpSpPr>
            <p:cNvPr id="20" name="그룹 19">
              <a:extLst>
                <a:ext uri="{FF2B5EF4-FFF2-40B4-BE49-F238E27FC236}">
                  <a16:creationId xmlns:a16="http://schemas.microsoft.com/office/drawing/2014/main" id="{2EB69A93-907B-398C-D787-FCA9B5CBCE1C}"/>
                </a:ext>
              </a:extLst>
            </p:cNvPr>
            <p:cNvGrpSpPr/>
            <p:nvPr/>
          </p:nvGrpSpPr>
          <p:grpSpPr>
            <a:xfrm>
              <a:off x="8301000" y="5192975"/>
              <a:ext cx="1152000" cy="576000"/>
              <a:chOff x="8301000" y="5192975"/>
              <a:chExt cx="1152000" cy="576000"/>
            </a:xfrm>
            <a:solidFill>
              <a:srgbClr val="539DFF"/>
            </a:solidFill>
          </p:grpSpPr>
          <p:sp>
            <p:nvSpPr>
              <p:cNvPr id="16" name="직사각형 15">
                <a:extLst>
                  <a:ext uri="{FF2B5EF4-FFF2-40B4-BE49-F238E27FC236}">
                    <a16:creationId xmlns:a16="http://schemas.microsoft.com/office/drawing/2014/main" id="{7A615FE1-51D0-E1B3-0931-4E29C4959352}"/>
                  </a:ext>
                </a:extLst>
              </p:cNvPr>
              <p:cNvSpPr/>
              <p:nvPr/>
            </p:nvSpPr>
            <p:spPr>
              <a:xfrm>
                <a:off x="8301000" y="5192975"/>
                <a:ext cx="1152000" cy="5760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504000" tIns="0" rIns="0" bIns="0" rtlCol="0" anchor="ctr"/>
              <a:lstStyle/>
              <a:p>
                <a:r>
                  <a:rPr lang="en-US" altLang="ko-KR" sz="1000" dirty="0">
                    <a:solidFill>
                      <a:schemeClr val="bg1"/>
                    </a:solidFill>
                  </a:rPr>
                  <a:t>Implied</a:t>
                </a:r>
              </a:p>
              <a:p>
                <a:r>
                  <a:rPr lang="en-US" altLang="ko-KR" sz="1000" dirty="0">
                    <a:solidFill>
                      <a:schemeClr val="bg1"/>
                    </a:solidFill>
                  </a:rPr>
                  <a:t>IPO Uplift</a:t>
                </a:r>
                <a:endParaRPr lang="ko-KR" altLang="en-US" sz="1000" dirty="0">
                  <a:solidFill>
                    <a:schemeClr val="bg1"/>
                  </a:solidFill>
                </a:endParaRPr>
              </a:p>
            </p:txBody>
          </p:sp>
          <p:sp>
            <p:nvSpPr>
              <p:cNvPr id="19" name="TextBox 18">
                <a:extLst>
                  <a:ext uri="{FF2B5EF4-FFF2-40B4-BE49-F238E27FC236}">
                    <a16:creationId xmlns:a16="http://schemas.microsoft.com/office/drawing/2014/main" id="{7FFE8F2F-E18D-5111-F9E9-0010D6673AE7}"/>
                  </a:ext>
                </a:extLst>
              </p:cNvPr>
              <p:cNvSpPr txBox="1"/>
              <p:nvPr/>
            </p:nvSpPr>
            <p:spPr>
              <a:xfrm>
                <a:off x="8373000" y="5369886"/>
                <a:ext cx="322204" cy="222177"/>
              </a:xfrm>
              <a:prstGeom prst="rect">
                <a:avLst/>
              </a:prstGeom>
              <a:grpFill/>
            </p:spPr>
            <p:txBody>
              <a:bodyPr wrap="none" lIns="0" tIns="0" rIns="0" bIns="0" rtlCol="0">
                <a:spAutoFit/>
              </a:bodyPr>
              <a:lstStyle/>
              <a:p>
                <a:pPr algn="l">
                  <a:lnSpc>
                    <a:spcPct val="110000"/>
                  </a:lnSpc>
                </a:pPr>
                <a:r>
                  <a:rPr lang="en-US" altLang="ko-KR" sz="1400" dirty="0">
                    <a:solidFill>
                      <a:schemeClr val="bg1"/>
                    </a:solidFill>
                    <a:latin typeface="+mj-lt"/>
                    <a:ea typeface="+mj-ea"/>
                  </a:rPr>
                  <a:t>30x</a:t>
                </a:r>
                <a:endParaRPr lang="ko-KR" altLang="en-US" sz="1400" dirty="0">
                  <a:solidFill>
                    <a:schemeClr val="bg1"/>
                  </a:solidFill>
                  <a:latin typeface="+mj-lt"/>
                  <a:ea typeface="+mj-ea"/>
                </a:endParaRPr>
              </a:p>
            </p:txBody>
          </p:sp>
        </p:grpSp>
        <p:sp>
          <p:nvSpPr>
            <p:cNvPr id="21" name="이등변 삼각형 20">
              <a:extLst>
                <a:ext uri="{FF2B5EF4-FFF2-40B4-BE49-F238E27FC236}">
                  <a16:creationId xmlns:a16="http://schemas.microsoft.com/office/drawing/2014/main" id="{5D1FFB9C-141C-CFA6-F80B-818B13AF7EF9}"/>
                </a:ext>
              </a:extLst>
            </p:cNvPr>
            <p:cNvSpPr/>
            <p:nvPr/>
          </p:nvSpPr>
          <p:spPr>
            <a:xfrm rot="5400000">
              <a:off x="6451135" y="5408975"/>
              <a:ext cx="288000" cy="144000"/>
            </a:xfrm>
            <a:prstGeom prst="triangle">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grpSp>
      <p:sp>
        <p:nvSpPr>
          <p:cNvPr id="22" name="TextBox 21">
            <a:extLst>
              <a:ext uri="{FF2B5EF4-FFF2-40B4-BE49-F238E27FC236}">
                <a16:creationId xmlns:a16="http://schemas.microsoft.com/office/drawing/2014/main" id="{F3F6C385-E8CD-8B4B-225C-FD3C9F21E576}"/>
              </a:ext>
            </a:extLst>
          </p:cNvPr>
          <p:cNvSpPr txBox="1"/>
          <p:nvPr/>
        </p:nvSpPr>
        <p:spPr>
          <a:xfrm>
            <a:off x="6507692" y="5610918"/>
            <a:ext cx="753411" cy="158057"/>
          </a:xfrm>
          <a:prstGeom prst="rect">
            <a:avLst/>
          </a:prstGeom>
          <a:noFill/>
        </p:spPr>
        <p:txBody>
          <a:bodyPr wrap="none" lIns="0" tIns="0" rIns="0" bIns="0" rtlCol="0">
            <a:spAutoFit/>
          </a:bodyPr>
          <a:lstStyle/>
          <a:p>
            <a:pPr algn="l">
              <a:lnSpc>
                <a:spcPct val="110000"/>
              </a:lnSpc>
            </a:pPr>
            <a:r>
              <a:rPr lang="en-US" altLang="ko-KR" sz="1000" b="1" dirty="0">
                <a:solidFill>
                  <a:srgbClr val="3D3D3D"/>
                </a:solidFill>
              </a:rPr>
              <a:t>MASH Peers</a:t>
            </a:r>
            <a:endParaRPr lang="ko-KR" altLang="en-US" sz="1000" b="1" dirty="0">
              <a:solidFill>
                <a:srgbClr val="3D3D3D"/>
              </a:solidFill>
            </a:endParaRPr>
          </a:p>
        </p:txBody>
      </p:sp>
      <p:cxnSp>
        <p:nvCxnSpPr>
          <p:cNvPr id="25" name="직선 연결선 24">
            <a:extLst>
              <a:ext uri="{FF2B5EF4-FFF2-40B4-BE49-F238E27FC236}">
                <a16:creationId xmlns:a16="http://schemas.microsoft.com/office/drawing/2014/main" id="{8C2E6773-6B27-02B6-ACCE-DB46877BEA66}"/>
              </a:ext>
            </a:extLst>
          </p:cNvPr>
          <p:cNvCxnSpPr>
            <a:cxnSpLocks/>
          </p:cNvCxnSpPr>
          <p:nvPr/>
        </p:nvCxnSpPr>
        <p:spPr>
          <a:xfrm>
            <a:off x="5994490" y="5557157"/>
            <a:ext cx="1779815" cy="0"/>
          </a:xfrm>
          <a:prstGeom prst="line">
            <a:avLst/>
          </a:prstGeom>
          <a:ln w="9525">
            <a:solidFill>
              <a:srgbClr val="3D3D3D"/>
            </a:solidFill>
          </a:ln>
        </p:spPr>
        <p:style>
          <a:lnRef idx="2">
            <a:schemeClr val="accent1"/>
          </a:lnRef>
          <a:fillRef idx="0">
            <a:schemeClr val="accent1"/>
          </a:fillRef>
          <a:effectRef idx="1">
            <a:schemeClr val="accent1"/>
          </a:effectRef>
          <a:fontRef idx="minor">
            <a:schemeClr val="tx1"/>
          </a:fontRef>
        </p:style>
      </p:cxnSp>
      <p:cxnSp>
        <p:nvCxnSpPr>
          <p:cNvPr id="26" name="직선 연결선 25">
            <a:extLst>
              <a:ext uri="{FF2B5EF4-FFF2-40B4-BE49-F238E27FC236}">
                <a16:creationId xmlns:a16="http://schemas.microsoft.com/office/drawing/2014/main" id="{77F674E9-7E15-0FA2-39D8-59AE0139BCA2}"/>
              </a:ext>
            </a:extLst>
          </p:cNvPr>
          <p:cNvCxnSpPr>
            <a:cxnSpLocks/>
          </p:cNvCxnSpPr>
          <p:nvPr/>
        </p:nvCxnSpPr>
        <p:spPr>
          <a:xfrm>
            <a:off x="7962082" y="5557157"/>
            <a:ext cx="1332000" cy="0"/>
          </a:xfrm>
          <a:prstGeom prst="line">
            <a:avLst/>
          </a:prstGeom>
          <a:ln w="9525">
            <a:solidFill>
              <a:srgbClr val="3D3D3D"/>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7066E76C-802A-E43F-3BE4-AFDB2C23001F}"/>
              </a:ext>
            </a:extLst>
          </p:cNvPr>
          <p:cNvSpPr txBox="1"/>
          <p:nvPr/>
        </p:nvSpPr>
        <p:spPr>
          <a:xfrm>
            <a:off x="8133556" y="5610918"/>
            <a:ext cx="989053" cy="158057"/>
          </a:xfrm>
          <a:prstGeom prst="rect">
            <a:avLst/>
          </a:prstGeom>
          <a:noFill/>
        </p:spPr>
        <p:txBody>
          <a:bodyPr wrap="none" lIns="0" tIns="0" rIns="0" bIns="0" rtlCol="0">
            <a:spAutoFit/>
          </a:bodyPr>
          <a:lstStyle/>
          <a:p>
            <a:pPr algn="l">
              <a:lnSpc>
                <a:spcPct val="110000"/>
              </a:lnSpc>
            </a:pPr>
            <a:r>
              <a:rPr lang="en-US" altLang="ko-KR" sz="1000" b="1" dirty="0">
                <a:solidFill>
                  <a:srgbClr val="3D3D3D"/>
                </a:solidFill>
              </a:rPr>
              <a:t>Oncolytic Peers</a:t>
            </a:r>
            <a:endParaRPr lang="ko-KR" altLang="en-US" sz="1000" b="1" dirty="0">
              <a:solidFill>
                <a:srgbClr val="3D3D3D"/>
              </a:solidFill>
            </a:endParaRPr>
          </a:p>
        </p:txBody>
      </p:sp>
      <p:cxnSp>
        <p:nvCxnSpPr>
          <p:cNvPr id="28" name="직선 연결선 27">
            <a:extLst>
              <a:ext uri="{FF2B5EF4-FFF2-40B4-BE49-F238E27FC236}">
                <a16:creationId xmlns:a16="http://schemas.microsoft.com/office/drawing/2014/main" id="{406FFCE3-07EA-8F0D-829D-77A652E94378}"/>
              </a:ext>
            </a:extLst>
          </p:cNvPr>
          <p:cNvCxnSpPr>
            <a:cxnSpLocks/>
          </p:cNvCxnSpPr>
          <p:nvPr/>
        </p:nvCxnSpPr>
        <p:spPr>
          <a:xfrm>
            <a:off x="5254305" y="3545120"/>
            <a:ext cx="2520000" cy="0"/>
          </a:xfrm>
          <a:prstGeom prst="line">
            <a:avLst/>
          </a:prstGeom>
          <a:ln w="9525">
            <a:solidFill>
              <a:srgbClr val="11244A"/>
            </a:solidFill>
            <a:prstDash val="dash"/>
          </a:ln>
        </p:spPr>
        <p:style>
          <a:lnRef idx="2">
            <a:schemeClr val="accent1"/>
          </a:lnRef>
          <a:fillRef idx="0">
            <a:schemeClr val="accent1"/>
          </a:fillRef>
          <a:effectRef idx="1">
            <a:schemeClr val="accent1"/>
          </a:effectRef>
          <a:fontRef idx="minor">
            <a:schemeClr val="tx1"/>
          </a:fontRef>
        </p:style>
      </p:cxnSp>
      <p:cxnSp>
        <p:nvCxnSpPr>
          <p:cNvPr id="29" name="직선 연결선 28">
            <a:extLst>
              <a:ext uri="{FF2B5EF4-FFF2-40B4-BE49-F238E27FC236}">
                <a16:creationId xmlns:a16="http://schemas.microsoft.com/office/drawing/2014/main" id="{25A3D996-8AAA-2F8D-D9F5-B6A4EA37D9BF}"/>
              </a:ext>
            </a:extLst>
          </p:cNvPr>
          <p:cNvCxnSpPr>
            <a:cxnSpLocks/>
          </p:cNvCxnSpPr>
          <p:nvPr/>
        </p:nvCxnSpPr>
        <p:spPr>
          <a:xfrm>
            <a:off x="5254305" y="4481296"/>
            <a:ext cx="2520000" cy="0"/>
          </a:xfrm>
          <a:prstGeom prst="line">
            <a:avLst/>
          </a:prstGeom>
          <a:ln w="9525">
            <a:solidFill>
              <a:srgbClr val="539DFF"/>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C80A1E39-669B-4E7B-0577-BFD53E1E22ED}"/>
              </a:ext>
            </a:extLst>
          </p:cNvPr>
          <p:cNvSpPr txBox="1"/>
          <p:nvPr/>
        </p:nvSpPr>
        <p:spPr>
          <a:xfrm>
            <a:off x="5254305" y="3174403"/>
            <a:ext cx="817531" cy="327334"/>
          </a:xfrm>
          <a:prstGeom prst="rect">
            <a:avLst/>
          </a:prstGeom>
          <a:noFill/>
        </p:spPr>
        <p:txBody>
          <a:bodyPr wrap="none" lIns="0" tIns="0" rIns="0" bIns="0" rtlCol="0">
            <a:spAutoFit/>
          </a:bodyPr>
          <a:lstStyle/>
          <a:p>
            <a:pPr algn="l">
              <a:lnSpc>
                <a:spcPct val="110000"/>
              </a:lnSpc>
            </a:pPr>
            <a:r>
              <a:rPr lang="en-US" altLang="ko-KR" sz="1000" b="1" dirty="0">
                <a:solidFill>
                  <a:srgbClr val="3D3D3D"/>
                </a:solidFill>
              </a:rPr>
              <a:t>Peer Average</a:t>
            </a:r>
          </a:p>
          <a:p>
            <a:pPr algn="l">
              <a:lnSpc>
                <a:spcPct val="110000"/>
              </a:lnSpc>
            </a:pPr>
            <a:r>
              <a:rPr lang="en-US" altLang="ko-KR" sz="1000" b="1" dirty="0">
                <a:solidFill>
                  <a:srgbClr val="3D3D3D"/>
                </a:solidFill>
              </a:rPr>
              <a:t>$2.8B</a:t>
            </a:r>
            <a:endParaRPr lang="ko-KR" altLang="en-US" sz="1000" b="1" dirty="0">
              <a:solidFill>
                <a:srgbClr val="3D3D3D"/>
              </a:solidFill>
            </a:endParaRPr>
          </a:p>
        </p:txBody>
      </p:sp>
      <p:sp>
        <p:nvSpPr>
          <p:cNvPr id="31" name="TextBox 30">
            <a:extLst>
              <a:ext uri="{FF2B5EF4-FFF2-40B4-BE49-F238E27FC236}">
                <a16:creationId xmlns:a16="http://schemas.microsoft.com/office/drawing/2014/main" id="{82697FF7-5BB6-AD2C-4434-1769231ECEE0}"/>
              </a:ext>
            </a:extLst>
          </p:cNvPr>
          <p:cNvSpPr txBox="1"/>
          <p:nvPr/>
        </p:nvSpPr>
        <p:spPr>
          <a:xfrm>
            <a:off x="5254305" y="4119528"/>
            <a:ext cx="642805" cy="327334"/>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IPO Target</a:t>
            </a:r>
          </a:p>
          <a:p>
            <a:pPr algn="l">
              <a:lnSpc>
                <a:spcPct val="110000"/>
              </a:lnSpc>
            </a:pPr>
            <a:r>
              <a:rPr lang="en-US" altLang="ko-KR" sz="1000" b="1" dirty="0">
                <a:solidFill>
                  <a:srgbClr val="539DFF"/>
                </a:solidFill>
              </a:rPr>
              <a:t>$1.2B</a:t>
            </a:r>
            <a:endParaRPr lang="ko-KR" altLang="en-US" sz="1000" b="1" dirty="0">
              <a:solidFill>
                <a:srgbClr val="539DFF"/>
              </a:solidFill>
            </a:endParaRPr>
          </a:p>
        </p:txBody>
      </p:sp>
      <p:cxnSp>
        <p:nvCxnSpPr>
          <p:cNvPr id="33" name="직선 화살표 연결선 32">
            <a:extLst>
              <a:ext uri="{FF2B5EF4-FFF2-40B4-BE49-F238E27FC236}">
                <a16:creationId xmlns:a16="http://schemas.microsoft.com/office/drawing/2014/main" id="{8FCF43EE-AEBA-4148-9AE0-CD9E1E91FF8A}"/>
              </a:ext>
            </a:extLst>
          </p:cNvPr>
          <p:cNvCxnSpPr/>
          <p:nvPr/>
        </p:nvCxnSpPr>
        <p:spPr>
          <a:xfrm>
            <a:off x="5415643" y="3643092"/>
            <a:ext cx="0" cy="432000"/>
          </a:xfrm>
          <a:prstGeom prst="straightConnector1">
            <a:avLst/>
          </a:prstGeom>
          <a:ln w="6350">
            <a:solidFill>
              <a:srgbClr val="3D3D3D"/>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C6F06CCA-972B-1958-4B8F-7BAE68172583}"/>
              </a:ext>
            </a:extLst>
          </p:cNvPr>
          <p:cNvSpPr txBox="1"/>
          <p:nvPr/>
        </p:nvSpPr>
        <p:spPr>
          <a:xfrm>
            <a:off x="5450192" y="3771250"/>
            <a:ext cx="432811" cy="126445"/>
          </a:xfrm>
          <a:prstGeom prst="rect">
            <a:avLst/>
          </a:prstGeom>
          <a:noFill/>
        </p:spPr>
        <p:txBody>
          <a:bodyPr wrap="none" lIns="0" tIns="0" rIns="0" bIns="0" rtlCol="0">
            <a:spAutoFit/>
          </a:bodyPr>
          <a:lstStyle/>
          <a:p>
            <a:pPr algn="l">
              <a:lnSpc>
                <a:spcPct val="110000"/>
              </a:lnSpc>
            </a:pPr>
            <a:r>
              <a:rPr lang="en-US" altLang="ko-KR" sz="800" b="1" dirty="0">
                <a:solidFill>
                  <a:srgbClr val="3D3D3D"/>
                </a:solidFill>
              </a:rPr>
              <a:t>Discount</a:t>
            </a:r>
            <a:endParaRPr lang="ko-KR" altLang="en-US" sz="800" b="1" dirty="0">
              <a:solidFill>
                <a:srgbClr val="3D3D3D"/>
              </a:solidFill>
            </a:endParaRPr>
          </a:p>
        </p:txBody>
      </p:sp>
      <p:cxnSp>
        <p:nvCxnSpPr>
          <p:cNvPr id="35" name="직선 화살표 연결선 34">
            <a:extLst>
              <a:ext uri="{FF2B5EF4-FFF2-40B4-BE49-F238E27FC236}">
                <a16:creationId xmlns:a16="http://schemas.microsoft.com/office/drawing/2014/main" id="{DB660314-0946-E6E0-BF14-3D5C08E28A0C}"/>
              </a:ext>
            </a:extLst>
          </p:cNvPr>
          <p:cNvCxnSpPr/>
          <p:nvPr/>
        </p:nvCxnSpPr>
        <p:spPr>
          <a:xfrm>
            <a:off x="5415643" y="4571099"/>
            <a:ext cx="0" cy="288000"/>
          </a:xfrm>
          <a:prstGeom prst="straightConnector1">
            <a:avLst/>
          </a:prstGeom>
          <a:ln w="6350">
            <a:solidFill>
              <a:srgbClr val="3D3D3D"/>
            </a:solidFill>
            <a:prstDash val="dash"/>
            <a:headEnd type="triangle"/>
            <a:tailEnd type="non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FEEECCA6-649C-897E-F065-C0FA4BF4E290}"/>
              </a:ext>
            </a:extLst>
          </p:cNvPr>
          <p:cNvSpPr txBox="1"/>
          <p:nvPr/>
        </p:nvSpPr>
        <p:spPr>
          <a:xfrm>
            <a:off x="5450192" y="4658207"/>
            <a:ext cx="455253" cy="126445"/>
          </a:xfrm>
          <a:prstGeom prst="rect">
            <a:avLst/>
          </a:prstGeom>
          <a:noFill/>
        </p:spPr>
        <p:txBody>
          <a:bodyPr wrap="none" lIns="0" tIns="0" rIns="0" bIns="0" rtlCol="0">
            <a:spAutoFit/>
          </a:bodyPr>
          <a:lstStyle/>
          <a:p>
            <a:pPr algn="l">
              <a:lnSpc>
                <a:spcPct val="110000"/>
              </a:lnSpc>
            </a:pPr>
            <a:r>
              <a:rPr lang="en-US" altLang="ko-KR" sz="800" b="1" dirty="0">
                <a:solidFill>
                  <a:srgbClr val="3D3D3D"/>
                </a:solidFill>
              </a:rPr>
              <a:t>IPO Uplift</a:t>
            </a:r>
            <a:endParaRPr lang="ko-KR" altLang="en-US" sz="800" b="1" dirty="0">
              <a:solidFill>
                <a:srgbClr val="3D3D3D"/>
              </a:solidFill>
            </a:endParaRPr>
          </a:p>
        </p:txBody>
      </p:sp>
      <p:sp>
        <p:nvSpPr>
          <p:cNvPr id="37" name="TextBox 36">
            <a:extLst>
              <a:ext uri="{FF2B5EF4-FFF2-40B4-BE49-F238E27FC236}">
                <a16:creationId xmlns:a16="http://schemas.microsoft.com/office/drawing/2014/main" id="{50AF5808-D95A-8FA5-C766-3E31ED51AB13}"/>
              </a:ext>
            </a:extLst>
          </p:cNvPr>
          <p:cNvSpPr txBox="1"/>
          <p:nvPr/>
        </p:nvSpPr>
        <p:spPr>
          <a:xfrm>
            <a:off x="453000" y="2168525"/>
            <a:ext cx="4392000" cy="705762"/>
          </a:xfrm>
          <a:prstGeom prst="rect">
            <a:avLst/>
          </a:prstGeom>
          <a:solidFill>
            <a:srgbClr val="E6F3FF"/>
          </a:solidFill>
        </p:spPr>
        <p:txBody>
          <a:bodyPr wrap="square" lIns="108000" tIns="36000" rIns="72000" bIns="36000" rtlCol="0">
            <a:spAutoFit/>
          </a:bodyPr>
          <a:lstStyle/>
          <a:p>
            <a:pPr algn="l">
              <a:lnSpc>
                <a:spcPct val="110000"/>
              </a:lnSpc>
              <a:spcBef>
                <a:spcPts val="400"/>
              </a:spcBef>
            </a:pPr>
            <a:r>
              <a:rPr lang="en-US" altLang="ko-KR" sz="1200" b="1" dirty="0">
                <a:solidFill>
                  <a:srgbClr val="11244A"/>
                </a:solidFill>
              </a:rPr>
              <a:t>Why Now</a:t>
            </a:r>
          </a:p>
          <a:p>
            <a:pPr marL="171450" indent="-171450" algn="l">
              <a:lnSpc>
                <a:spcPct val="110000"/>
              </a:lnSpc>
              <a:spcBef>
                <a:spcPts val="400"/>
              </a:spcBef>
              <a:buFont typeface="Wingdings" panose="05000000000000000000" pitchFamily="2" charset="2"/>
              <a:buChar char="ü"/>
            </a:pPr>
            <a:r>
              <a:rPr lang="en-US" altLang="ko-KR" sz="1000" b="1" dirty="0">
                <a:solidFill>
                  <a:srgbClr val="11244A"/>
                </a:solidFill>
              </a:rPr>
              <a:t>Catalysts lined up pre-IPO </a:t>
            </a:r>
            <a:r>
              <a:rPr lang="en-US" altLang="ko-KR" sz="1000" b="1" dirty="0">
                <a:solidFill>
                  <a:srgbClr val="11244A"/>
                </a:solidFill>
                <a:sym typeface="Wingdings" panose="05000000000000000000" pitchFamily="2" charset="2"/>
              </a:rPr>
              <a:t> Uplift visibility within 12-24 months</a:t>
            </a:r>
          </a:p>
          <a:p>
            <a:pPr marL="171450" indent="-171450" algn="l">
              <a:lnSpc>
                <a:spcPct val="110000"/>
              </a:lnSpc>
              <a:spcBef>
                <a:spcPts val="400"/>
              </a:spcBef>
              <a:buFont typeface="Wingdings" panose="05000000000000000000" pitchFamily="2" charset="2"/>
              <a:buChar char="ü"/>
            </a:pPr>
            <a:r>
              <a:rPr lang="en-US" altLang="ko-KR" sz="1000" b="1" dirty="0">
                <a:solidFill>
                  <a:srgbClr val="11244A"/>
                </a:solidFill>
                <a:sym typeface="Wingdings" panose="05000000000000000000" pitchFamily="2" charset="2"/>
              </a:rPr>
              <a:t>Current pricing reflects risk-stage, not multi-modality upside</a:t>
            </a:r>
            <a:endParaRPr lang="ko-KR" altLang="en-US" sz="1000" b="1" dirty="0">
              <a:solidFill>
                <a:srgbClr val="11244A"/>
              </a:solidFill>
            </a:endParaRPr>
          </a:p>
        </p:txBody>
      </p:sp>
      <p:sp>
        <p:nvSpPr>
          <p:cNvPr id="38" name="TextBox 37">
            <a:extLst>
              <a:ext uri="{FF2B5EF4-FFF2-40B4-BE49-F238E27FC236}">
                <a16:creationId xmlns:a16="http://schemas.microsoft.com/office/drawing/2014/main" id="{6C1444C5-20D9-A647-FE95-AE4EDCFC569A}"/>
              </a:ext>
            </a:extLst>
          </p:cNvPr>
          <p:cNvSpPr txBox="1"/>
          <p:nvPr/>
        </p:nvSpPr>
        <p:spPr>
          <a:xfrm>
            <a:off x="453000" y="3958973"/>
            <a:ext cx="3806097" cy="815160"/>
          </a:xfrm>
          <a:prstGeom prst="rect">
            <a:avLst/>
          </a:prstGeom>
          <a:noFill/>
        </p:spPr>
        <p:txBody>
          <a:bodyPr wrap="none" lIns="108000" tIns="0" rIns="0" bIns="0" rtlCol="0">
            <a:spAutoFit/>
          </a:bodyPr>
          <a:lstStyle/>
          <a:p>
            <a:pPr algn="l">
              <a:lnSpc>
                <a:spcPct val="110000"/>
              </a:lnSpc>
              <a:spcBef>
                <a:spcPts val="300"/>
              </a:spcBef>
            </a:pPr>
            <a:r>
              <a:rPr lang="en-US" altLang="ko-KR" sz="1200" b="1" dirty="0">
                <a:solidFill>
                  <a:srgbClr val="539DFF"/>
                </a:solidFill>
              </a:rPr>
              <a:t>Clear Milestone Path to Re-Rating</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FM101 Phase 2b progression enables valuation uplift</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FM801 IND filing adds second inflection point</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RNAi / oncolytic programs expand partnering &amp; licensing shots</a:t>
            </a:r>
            <a:endParaRPr lang="ko-KR" altLang="en-US" sz="1000" dirty="0">
              <a:solidFill>
                <a:srgbClr val="3D3D3D"/>
              </a:solidFill>
            </a:endParaRPr>
          </a:p>
        </p:txBody>
      </p:sp>
      <p:sp>
        <p:nvSpPr>
          <p:cNvPr id="39" name="TextBox 38">
            <a:extLst>
              <a:ext uri="{FF2B5EF4-FFF2-40B4-BE49-F238E27FC236}">
                <a16:creationId xmlns:a16="http://schemas.microsoft.com/office/drawing/2014/main" id="{5C56954D-47BA-086C-1A26-420AB0B0F906}"/>
              </a:ext>
            </a:extLst>
          </p:cNvPr>
          <p:cNvSpPr txBox="1"/>
          <p:nvPr/>
        </p:nvSpPr>
        <p:spPr>
          <a:xfrm>
            <a:off x="453000" y="4953815"/>
            <a:ext cx="3465743" cy="815160"/>
          </a:xfrm>
          <a:prstGeom prst="rect">
            <a:avLst/>
          </a:prstGeom>
          <a:noFill/>
        </p:spPr>
        <p:txBody>
          <a:bodyPr wrap="none" lIns="108000" tIns="0" rIns="0" bIns="0" rtlCol="0">
            <a:spAutoFit/>
          </a:bodyPr>
          <a:lstStyle/>
          <a:p>
            <a:pPr algn="l">
              <a:lnSpc>
                <a:spcPct val="110000"/>
              </a:lnSpc>
              <a:spcBef>
                <a:spcPts val="300"/>
              </a:spcBef>
            </a:pPr>
            <a:r>
              <a:rPr lang="en-US" altLang="ko-KR" sz="1200" b="1" dirty="0">
                <a:solidFill>
                  <a:srgbClr val="539DFF"/>
                </a:solidFill>
              </a:rPr>
              <a:t>Achievable IPO Target of $0.8 - 1.2B</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MASH / obesity peers valued in $2-3B range</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RNAi / oncolytic comparables above $2B valuation</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Even with heavy IPO discount, $0.8-1.2B is within range</a:t>
            </a:r>
            <a:endParaRPr lang="ko-KR" altLang="en-US" sz="1000" dirty="0">
              <a:solidFill>
                <a:srgbClr val="3D3D3D"/>
              </a:solidFill>
            </a:endParaRPr>
          </a:p>
        </p:txBody>
      </p:sp>
      <p:cxnSp>
        <p:nvCxnSpPr>
          <p:cNvPr id="41" name="직선 연결선 40">
            <a:extLst>
              <a:ext uri="{FF2B5EF4-FFF2-40B4-BE49-F238E27FC236}">
                <a16:creationId xmlns:a16="http://schemas.microsoft.com/office/drawing/2014/main" id="{3F545724-C0F9-D5CE-35F3-4A5FA362E995}"/>
              </a:ext>
            </a:extLst>
          </p:cNvPr>
          <p:cNvCxnSpPr>
            <a:cxnSpLocks/>
          </p:cNvCxnSpPr>
          <p:nvPr/>
        </p:nvCxnSpPr>
        <p:spPr>
          <a:xfrm>
            <a:off x="453000" y="3869131"/>
            <a:ext cx="4392000" cy="0"/>
          </a:xfrm>
          <a:prstGeom prst="line">
            <a:avLst/>
          </a:prstGeom>
          <a:ln w="6350">
            <a:solidFill>
              <a:srgbClr val="3D3D3D"/>
            </a:solidFill>
          </a:ln>
        </p:spPr>
        <p:style>
          <a:lnRef idx="2">
            <a:schemeClr val="accent1"/>
          </a:lnRef>
          <a:fillRef idx="0">
            <a:schemeClr val="accent1"/>
          </a:fillRef>
          <a:effectRef idx="1">
            <a:schemeClr val="accent1"/>
          </a:effectRef>
          <a:fontRef idx="minor">
            <a:schemeClr val="tx1"/>
          </a:fontRef>
        </p:style>
      </p:cxnSp>
      <p:cxnSp>
        <p:nvCxnSpPr>
          <p:cNvPr id="42" name="직선 연결선 41">
            <a:extLst>
              <a:ext uri="{FF2B5EF4-FFF2-40B4-BE49-F238E27FC236}">
                <a16:creationId xmlns:a16="http://schemas.microsoft.com/office/drawing/2014/main" id="{5A0A8EB8-B091-9C7C-DA1E-36CD79C9D0CE}"/>
              </a:ext>
            </a:extLst>
          </p:cNvPr>
          <p:cNvCxnSpPr>
            <a:cxnSpLocks/>
          </p:cNvCxnSpPr>
          <p:nvPr/>
        </p:nvCxnSpPr>
        <p:spPr>
          <a:xfrm>
            <a:off x="453000" y="4863975"/>
            <a:ext cx="4392000" cy="0"/>
          </a:xfrm>
          <a:prstGeom prst="line">
            <a:avLst/>
          </a:prstGeom>
          <a:ln w="6350">
            <a:solidFill>
              <a:srgbClr val="3D3D3D"/>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1BF7D979-EE59-B52F-6A05-CEFCC62CFA73}"/>
              </a:ext>
            </a:extLst>
          </p:cNvPr>
          <p:cNvSpPr txBox="1"/>
          <p:nvPr/>
        </p:nvSpPr>
        <p:spPr>
          <a:xfrm>
            <a:off x="452438" y="2964129"/>
            <a:ext cx="3720621" cy="815160"/>
          </a:xfrm>
          <a:prstGeom prst="rect">
            <a:avLst/>
          </a:prstGeom>
          <a:noFill/>
        </p:spPr>
        <p:txBody>
          <a:bodyPr wrap="none" lIns="108000" tIns="0" rIns="0" bIns="0" rtlCol="0">
            <a:spAutoFit/>
          </a:bodyPr>
          <a:lstStyle/>
          <a:p>
            <a:pPr algn="l">
              <a:lnSpc>
                <a:spcPct val="110000"/>
              </a:lnSpc>
              <a:spcBef>
                <a:spcPts val="300"/>
              </a:spcBef>
            </a:pPr>
            <a:r>
              <a:rPr lang="en-US" altLang="ko-KR" sz="1200" b="1" dirty="0">
                <a:solidFill>
                  <a:srgbClr val="539DFF"/>
                </a:solidFill>
              </a:rPr>
              <a:t>Attractive Entry Value at $40M</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Clinical-stage metabolic portfolio priced at pre-clinical levels</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Multi-modality platform lowers single-asset dependency</a:t>
            </a:r>
          </a:p>
          <a:p>
            <a:pPr marL="171450" indent="-171450" algn="l">
              <a:lnSpc>
                <a:spcPct val="110000"/>
              </a:lnSpc>
              <a:spcBef>
                <a:spcPts val="300"/>
              </a:spcBef>
              <a:buFont typeface="Wingdings" panose="05000000000000000000" pitchFamily="2" charset="2"/>
              <a:buChar char="ü"/>
            </a:pPr>
            <a:r>
              <a:rPr lang="en-US" altLang="ko-KR" sz="1000" dirty="0">
                <a:solidFill>
                  <a:srgbClr val="3D3D3D"/>
                </a:solidFill>
              </a:rPr>
              <a:t>Listed peers typically trade at 10-15x higher levels</a:t>
            </a:r>
            <a:endParaRPr lang="ko-KR" altLang="en-US" sz="1000" dirty="0">
              <a:solidFill>
                <a:srgbClr val="3D3D3D"/>
              </a:solidFill>
            </a:endParaRPr>
          </a:p>
        </p:txBody>
      </p:sp>
    </p:spTree>
    <p:extLst>
      <p:ext uri="{BB962C8B-B14F-4D97-AF65-F5344CB8AC3E}">
        <p14:creationId xmlns:p14="http://schemas.microsoft.com/office/powerpoint/2010/main" val="2014369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9DE57-CD25-2E12-A34B-DC740C6BA71A}"/>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6DB8B66E-8036-F274-7E9A-99E0D7C6F34D}"/>
              </a:ext>
            </a:extLst>
          </p:cNvPr>
          <p:cNvSpPr>
            <a:spLocks noGrp="1"/>
          </p:cNvSpPr>
          <p:nvPr>
            <p:ph type="body" sz="quarter" idx="11"/>
          </p:nvPr>
        </p:nvSpPr>
        <p:spPr/>
        <p:txBody>
          <a:bodyPr/>
          <a:lstStyle/>
          <a:p>
            <a:r>
              <a:rPr lang="en-US" altLang="ko-KR" dirty="0"/>
              <a:t>Execution Capability with A Clear Path to NASDAQ</a:t>
            </a:r>
          </a:p>
        </p:txBody>
      </p:sp>
      <p:sp>
        <p:nvSpPr>
          <p:cNvPr id="3" name="텍스트 개체 틀 2">
            <a:extLst>
              <a:ext uri="{FF2B5EF4-FFF2-40B4-BE49-F238E27FC236}">
                <a16:creationId xmlns:a16="http://schemas.microsoft.com/office/drawing/2014/main" id="{C5343A4A-CF2F-4AB8-DDFD-BBECD1C1FDCC}"/>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D530963-1191-EFF5-D905-FE585AB308E6}"/>
              </a:ext>
            </a:extLst>
          </p:cNvPr>
          <p:cNvSpPr>
            <a:spLocks noGrp="1"/>
          </p:cNvSpPr>
          <p:nvPr>
            <p:ph type="sldNum" sz="quarter" idx="13"/>
          </p:nvPr>
        </p:nvSpPr>
        <p:spPr/>
        <p:txBody>
          <a:bodyPr/>
          <a:lstStyle/>
          <a:p>
            <a:fld id="{C053318C-A610-4AA5-9FF7-26630BAA1E31}" type="slidenum">
              <a:rPr lang="en-US" altLang="ko-KR" smtClean="0"/>
              <a:pPr/>
              <a:t>11</a:t>
            </a:fld>
            <a:endParaRPr lang="en-US" dirty="0"/>
          </a:p>
        </p:txBody>
      </p:sp>
      <p:sp>
        <p:nvSpPr>
          <p:cNvPr id="8" name="TextBox 7">
            <a:extLst>
              <a:ext uri="{FF2B5EF4-FFF2-40B4-BE49-F238E27FC236}">
                <a16:creationId xmlns:a16="http://schemas.microsoft.com/office/drawing/2014/main" id="{EE85145F-0199-D3E4-6471-5B28D3AA8B6E}"/>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NKTx provides proven NASDAQ execution capability with leadership that has already delivered a successful listing and a defined roadmap to repeat it.</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601564A7-C7D7-9319-53CB-B54D9A4FB122}"/>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Reliable </a:t>
            </a:r>
            <a:r>
              <a:rPr lang="en-US" altLang="ko-KR" sz="1200" b="1">
                <a:solidFill>
                  <a:schemeClr val="bg1"/>
                </a:solidFill>
              </a:rPr>
              <a:t>Execution Capability</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00375814-C9D9-0A26-AB6B-0CC4F56ABBC9}"/>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NKTx, Future Medicine and Curigin Leadership Team</a:t>
            </a:r>
            <a:endParaRPr lang="ko-KR" altLang="en-US" sz="1200" b="1" dirty="0">
              <a:solidFill>
                <a:schemeClr val="bg1"/>
              </a:solidFill>
            </a:endParaRPr>
          </a:p>
        </p:txBody>
      </p:sp>
      <p:sp>
        <p:nvSpPr>
          <p:cNvPr id="11" name="직사각형 10">
            <a:extLst>
              <a:ext uri="{FF2B5EF4-FFF2-40B4-BE49-F238E27FC236}">
                <a16:creationId xmlns:a16="http://schemas.microsoft.com/office/drawing/2014/main" id="{4B4C6863-6E05-251F-8582-2607DDEB729C}"/>
              </a:ext>
            </a:extLst>
          </p:cNvPr>
          <p:cNvSpPr/>
          <p:nvPr/>
        </p:nvSpPr>
        <p:spPr>
          <a:xfrm>
            <a:off x="5061000" y="2168525"/>
            <a:ext cx="4392000" cy="504000"/>
          </a:xfrm>
          <a:prstGeom prst="rect">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000" b="1" dirty="0">
                <a:solidFill>
                  <a:srgbClr val="11244A"/>
                </a:solidFill>
              </a:rPr>
              <a:t>Founding Team - GFK &amp; Global Fund LLC</a:t>
            </a:r>
          </a:p>
          <a:p>
            <a:pPr marL="171450" indent="-171450">
              <a:buFont typeface="Wingdings" panose="05000000000000000000" pitchFamily="2" charset="2"/>
              <a:buChar char="ü"/>
            </a:pPr>
            <a:r>
              <a:rPr lang="en-US" altLang="ko-KR" sz="1000" dirty="0">
                <a:solidFill>
                  <a:srgbClr val="3D3D3D"/>
                </a:solidFill>
              </a:rPr>
              <a:t>Executed NASDAQ listing of K Wave Media from Korea to US</a:t>
            </a:r>
            <a:endParaRPr lang="ko-KR" altLang="en-US" sz="1000" dirty="0">
              <a:solidFill>
                <a:srgbClr val="3D3D3D"/>
              </a:solidFill>
            </a:endParaRPr>
          </a:p>
        </p:txBody>
      </p:sp>
      <p:sp>
        <p:nvSpPr>
          <p:cNvPr id="12" name="직사각형 11">
            <a:extLst>
              <a:ext uri="{FF2B5EF4-FFF2-40B4-BE49-F238E27FC236}">
                <a16:creationId xmlns:a16="http://schemas.microsoft.com/office/drawing/2014/main" id="{5F03A14A-848A-CAC7-5284-FD717D49FDE7}"/>
              </a:ext>
            </a:extLst>
          </p:cNvPr>
          <p:cNvSpPr/>
          <p:nvPr/>
        </p:nvSpPr>
        <p:spPr>
          <a:xfrm>
            <a:off x="5061000" y="2837661"/>
            <a:ext cx="4392000" cy="504000"/>
          </a:xfrm>
          <a:prstGeom prst="rect">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000" b="1" dirty="0">
                <a:solidFill>
                  <a:srgbClr val="11244A"/>
                </a:solidFill>
              </a:rPr>
              <a:t>NKTx Management Team - CFO &amp; Legal</a:t>
            </a:r>
          </a:p>
          <a:p>
            <a:pPr marL="171450" indent="-171450">
              <a:buFont typeface="Wingdings" panose="05000000000000000000" pitchFamily="2" charset="2"/>
              <a:buChar char="ü"/>
            </a:pPr>
            <a:r>
              <a:rPr lang="en-US" altLang="ko-KR" sz="1000" spc="-30" dirty="0">
                <a:solidFill>
                  <a:srgbClr val="3D3D3D"/>
                </a:solidFill>
              </a:rPr>
              <a:t>Repeat execution team responsible for listing governance and compliance</a:t>
            </a:r>
            <a:endParaRPr lang="ko-KR" altLang="en-US" sz="1000" spc="-30" dirty="0">
              <a:solidFill>
                <a:srgbClr val="3D3D3D"/>
              </a:solidFill>
            </a:endParaRPr>
          </a:p>
        </p:txBody>
      </p:sp>
      <p:sp>
        <p:nvSpPr>
          <p:cNvPr id="13" name="직사각형 12">
            <a:extLst>
              <a:ext uri="{FF2B5EF4-FFF2-40B4-BE49-F238E27FC236}">
                <a16:creationId xmlns:a16="http://schemas.microsoft.com/office/drawing/2014/main" id="{C7EB8646-3E46-0896-5ADD-7433661C158A}"/>
              </a:ext>
            </a:extLst>
          </p:cNvPr>
          <p:cNvSpPr/>
          <p:nvPr/>
        </p:nvSpPr>
        <p:spPr>
          <a:xfrm>
            <a:off x="5061000" y="3506797"/>
            <a:ext cx="4392000" cy="504000"/>
          </a:xfrm>
          <a:prstGeom prst="rect">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000" b="1" dirty="0">
                <a:solidFill>
                  <a:srgbClr val="11244A"/>
                </a:solidFill>
              </a:rPr>
              <a:t>Prof. Lakshin Jeong, Future Medicine Founder · CTO</a:t>
            </a:r>
          </a:p>
          <a:p>
            <a:pPr marL="171450" indent="-171450">
              <a:buFont typeface="Wingdings" panose="05000000000000000000" pitchFamily="2" charset="2"/>
              <a:buChar char="ü"/>
            </a:pPr>
            <a:r>
              <a:rPr lang="en-US" altLang="ko-KR" sz="1000" dirty="0">
                <a:solidFill>
                  <a:srgbClr val="3D3D3D"/>
                </a:solidFill>
              </a:rPr>
              <a:t>40+ years nucleoside chemistry leadership with core platform development track record</a:t>
            </a:r>
            <a:endParaRPr lang="ko-KR" altLang="en-US" sz="1000" dirty="0">
              <a:solidFill>
                <a:srgbClr val="3D3D3D"/>
              </a:solidFill>
            </a:endParaRPr>
          </a:p>
        </p:txBody>
      </p:sp>
      <p:sp>
        <p:nvSpPr>
          <p:cNvPr id="14" name="직사각형 13">
            <a:extLst>
              <a:ext uri="{FF2B5EF4-FFF2-40B4-BE49-F238E27FC236}">
                <a16:creationId xmlns:a16="http://schemas.microsoft.com/office/drawing/2014/main" id="{1B386574-CA8E-6453-604A-818A06E0A100}"/>
              </a:ext>
            </a:extLst>
          </p:cNvPr>
          <p:cNvSpPr/>
          <p:nvPr/>
        </p:nvSpPr>
        <p:spPr>
          <a:xfrm>
            <a:off x="5061000" y="4175933"/>
            <a:ext cx="4392000" cy="504000"/>
          </a:xfrm>
          <a:prstGeom prst="rect">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000" b="1" dirty="0">
                <a:solidFill>
                  <a:srgbClr val="11244A"/>
                </a:solidFill>
              </a:rPr>
              <a:t>Jin-Woo Choi, Curigin CEO · CTO</a:t>
            </a:r>
          </a:p>
          <a:p>
            <a:pPr marL="171450" indent="-171450">
              <a:buFont typeface="Wingdings" panose="05000000000000000000" pitchFamily="2" charset="2"/>
              <a:buChar char="ü"/>
            </a:pPr>
            <a:r>
              <a:rPr lang="en-US" altLang="ko-KR" sz="1000" spc="-30" dirty="0">
                <a:solidFill>
                  <a:srgbClr val="3D3D3D"/>
                </a:solidFill>
              </a:rPr>
              <a:t>Gene therapy specialist with bispecific siRNA platform development record</a:t>
            </a:r>
            <a:endParaRPr lang="ko-KR" altLang="en-US" sz="1000" spc="-30" dirty="0">
              <a:solidFill>
                <a:srgbClr val="3D3D3D"/>
              </a:solidFill>
            </a:endParaRPr>
          </a:p>
        </p:txBody>
      </p:sp>
      <p:sp>
        <p:nvSpPr>
          <p:cNvPr id="15" name="직사각형 14">
            <a:extLst>
              <a:ext uri="{FF2B5EF4-FFF2-40B4-BE49-F238E27FC236}">
                <a16:creationId xmlns:a16="http://schemas.microsoft.com/office/drawing/2014/main" id="{2EE25875-CD07-15D5-6BF6-1AB0D946EF7C}"/>
              </a:ext>
            </a:extLst>
          </p:cNvPr>
          <p:cNvSpPr/>
          <p:nvPr/>
        </p:nvSpPr>
        <p:spPr>
          <a:xfrm>
            <a:off x="5061000" y="4845070"/>
            <a:ext cx="4392000" cy="504000"/>
          </a:xfrm>
          <a:prstGeom prst="rect">
            <a:avLst/>
          </a:prstGeom>
          <a:solidFill>
            <a:srgbClr val="E6F3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000" b="1" dirty="0">
                <a:solidFill>
                  <a:srgbClr val="11244A"/>
                </a:solidFill>
              </a:rPr>
              <a:t>Wan-Suk Chung, Future Medicine CEO</a:t>
            </a:r>
          </a:p>
          <a:p>
            <a:pPr marL="171450" indent="-171450">
              <a:buFont typeface="Wingdings" panose="05000000000000000000" pitchFamily="2" charset="2"/>
              <a:buChar char="ü"/>
            </a:pPr>
            <a:r>
              <a:rPr lang="en-US" altLang="ko-KR" sz="1000" dirty="0">
                <a:solidFill>
                  <a:srgbClr val="3D3D3D"/>
                </a:solidFill>
              </a:rPr>
              <a:t>BD and strategy specialist from Tsinghua University and MIT Sloan</a:t>
            </a:r>
            <a:endParaRPr lang="ko-KR" altLang="en-US" sz="1000" dirty="0">
              <a:solidFill>
                <a:srgbClr val="3D3D3D"/>
              </a:solidFill>
            </a:endParaRPr>
          </a:p>
        </p:txBody>
      </p:sp>
      <p:sp>
        <p:nvSpPr>
          <p:cNvPr id="17" name="TextBox 16">
            <a:extLst>
              <a:ext uri="{FF2B5EF4-FFF2-40B4-BE49-F238E27FC236}">
                <a16:creationId xmlns:a16="http://schemas.microsoft.com/office/drawing/2014/main" id="{DF1EC8BB-9537-A35A-1CCC-C6A15DD2DFD9}"/>
              </a:ext>
            </a:extLst>
          </p:cNvPr>
          <p:cNvSpPr txBox="1"/>
          <p:nvPr/>
        </p:nvSpPr>
        <p:spPr>
          <a:xfrm>
            <a:off x="453000" y="3293509"/>
            <a:ext cx="4376248" cy="930576"/>
          </a:xfrm>
          <a:prstGeom prst="rect">
            <a:avLst/>
          </a:prstGeom>
          <a:noFill/>
        </p:spPr>
        <p:txBody>
          <a:bodyPr wrap="none" lIns="108000" tIns="0" rIns="0" bIns="0" rtlCol="0">
            <a:spAutoFit/>
          </a:bodyPr>
          <a:lstStyle/>
          <a:p>
            <a:pPr algn="l">
              <a:lnSpc>
                <a:spcPct val="110000"/>
              </a:lnSpc>
              <a:spcBef>
                <a:spcPts val="600"/>
              </a:spcBef>
            </a:pPr>
            <a:r>
              <a:rPr lang="en-US" altLang="ko-KR" sz="1200" b="1" dirty="0">
                <a:solidFill>
                  <a:srgbClr val="539DFF"/>
                </a:solidFill>
              </a:rPr>
              <a:t>IPO-Ready Corporate Infrastructure</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CFO and legal team with repeat listing experience already onboard</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Governance and structure designed for US capital market compliance</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Funding, audit &amp; reporting roadmap already defined for listing readiness</a:t>
            </a:r>
            <a:endParaRPr lang="ko-KR" altLang="en-US" sz="1000" dirty="0">
              <a:solidFill>
                <a:srgbClr val="3D3D3D"/>
              </a:solidFill>
            </a:endParaRPr>
          </a:p>
        </p:txBody>
      </p:sp>
      <p:cxnSp>
        <p:nvCxnSpPr>
          <p:cNvPr id="19" name="직선 연결선 18">
            <a:extLst>
              <a:ext uri="{FF2B5EF4-FFF2-40B4-BE49-F238E27FC236}">
                <a16:creationId xmlns:a16="http://schemas.microsoft.com/office/drawing/2014/main" id="{C991E4E7-EBED-A340-CC92-C0491E6B8467}"/>
              </a:ext>
            </a:extLst>
          </p:cNvPr>
          <p:cNvCxnSpPr>
            <a:cxnSpLocks/>
          </p:cNvCxnSpPr>
          <p:nvPr/>
        </p:nvCxnSpPr>
        <p:spPr>
          <a:xfrm>
            <a:off x="453000" y="3196305"/>
            <a:ext cx="4392000" cy="0"/>
          </a:xfrm>
          <a:prstGeom prst="line">
            <a:avLst/>
          </a:prstGeom>
          <a:ln w="6350">
            <a:solidFill>
              <a:srgbClr val="3D3D3D"/>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241B4343-1EA6-BA7B-7698-D598C3DCED4A}"/>
              </a:ext>
            </a:extLst>
          </p:cNvPr>
          <p:cNvSpPr txBox="1"/>
          <p:nvPr/>
        </p:nvSpPr>
        <p:spPr>
          <a:xfrm>
            <a:off x="452438" y="2168525"/>
            <a:ext cx="4118166" cy="930576"/>
          </a:xfrm>
          <a:prstGeom prst="rect">
            <a:avLst/>
          </a:prstGeom>
          <a:noFill/>
        </p:spPr>
        <p:txBody>
          <a:bodyPr wrap="none" lIns="108000" tIns="0" rIns="0" bIns="0" rtlCol="0">
            <a:spAutoFit/>
          </a:bodyPr>
          <a:lstStyle/>
          <a:p>
            <a:pPr algn="l">
              <a:lnSpc>
                <a:spcPct val="110000"/>
              </a:lnSpc>
              <a:spcBef>
                <a:spcPts val="600"/>
              </a:spcBef>
            </a:pPr>
            <a:r>
              <a:rPr lang="en-US" altLang="ko-KR" sz="1200" b="1" dirty="0">
                <a:solidFill>
                  <a:srgbClr val="539DFF"/>
                </a:solidFill>
              </a:rPr>
              <a:t>Proven NASDAQ Execution Track Record</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Team that completed NASDAQ listing of K Wave Media end-to-end</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Familiar with SEC / S-1, PCAOB audit, IR, governance &amp; disclosure</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Materially reduces execution risk vs. typical pre-IPO biotech plays</a:t>
            </a:r>
            <a:endParaRPr lang="ko-KR" altLang="en-US" sz="1000" dirty="0">
              <a:solidFill>
                <a:srgbClr val="3D3D3D"/>
              </a:solidFill>
            </a:endParaRPr>
          </a:p>
        </p:txBody>
      </p:sp>
      <p:sp>
        <p:nvSpPr>
          <p:cNvPr id="22" name="TextBox 21">
            <a:extLst>
              <a:ext uri="{FF2B5EF4-FFF2-40B4-BE49-F238E27FC236}">
                <a16:creationId xmlns:a16="http://schemas.microsoft.com/office/drawing/2014/main" id="{B4A1FB19-613A-50EC-04E0-978E06C7EEFA}"/>
              </a:ext>
            </a:extLst>
          </p:cNvPr>
          <p:cNvSpPr txBox="1"/>
          <p:nvPr/>
        </p:nvSpPr>
        <p:spPr>
          <a:xfrm>
            <a:off x="453000" y="4418494"/>
            <a:ext cx="3816801" cy="930576"/>
          </a:xfrm>
          <a:prstGeom prst="rect">
            <a:avLst/>
          </a:prstGeom>
          <a:noFill/>
        </p:spPr>
        <p:txBody>
          <a:bodyPr wrap="none" lIns="108000" tIns="0" rIns="0" bIns="0" rtlCol="0">
            <a:spAutoFit/>
          </a:bodyPr>
          <a:lstStyle/>
          <a:p>
            <a:pPr algn="l">
              <a:lnSpc>
                <a:spcPct val="110000"/>
              </a:lnSpc>
              <a:spcBef>
                <a:spcPts val="600"/>
              </a:spcBef>
            </a:pPr>
            <a:r>
              <a:rPr lang="en-US" altLang="ko-KR" sz="1200" b="1" dirty="0">
                <a:solidFill>
                  <a:srgbClr val="539DFF"/>
                </a:solidFill>
              </a:rPr>
              <a:t>Clear Roadmap to Listing</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IND &amp; Phase 2b catalysts drive valuation uplift pre-IPO</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Multiple inflection points before and after listing preparation</a:t>
            </a:r>
          </a:p>
          <a:p>
            <a:pPr marL="171450" indent="-171450" algn="l">
              <a:lnSpc>
                <a:spcPct val="110000"/>
              </a:lnSpc>
              <a:spcBef>
                <a:spcPts val="600"/>
              </a:spcBef>
              <a:buFont typeface="Wingdings" panose="05000000000000000000" pitchFamily="2" charset="2"/>
              <a:buChar char="ü"/>
            </a:pPr>
            <a:r>
              <a:rPr lang="en-US" altLang="ko-KR" sz="1000" dirty="0">
                <a:solidFill>
                  <a:srgbClr val="3D3D3D"/>
                </a:solidFill>
              </a:rPr>
              <a:t>Targeting NASDAQ within ~24 months using proven playbook</a:t>
            </a:r>
            <a:endParaRPr lang="ko-KR" altLang="en-US" sz="1000" dirty="0">
              <a:solidFill>
                <a:srgbClr val="3D3D3D"/>
              </a:solidFill>
            </a:endParaRPr>
          </a:p>
        </p:txBody>
      </p:sp>
      <p:cxnSp>
        <p:nvCxnSpPr>
          <p:cNvPr id="23" name="직선 연결선 22">
            <a:extLst>
              <a:ext uri="{FF2B5EF4-FFF2-40B4-BE49-F238E27FC236}">
                <a16:creationId xmlns:a16="http://schemas.microsoft.com/office/drawing/2014/main" id="{8FD17049-CADC-3A9A-CA0F-723D48E8DD65}"/>
              </a:ext>
            </a:extLst>
          </p:cNvPr>
          <p:cNvCxnSpPr>
            <a:cxnSpLocks/>
          </p:cNvCxnSpPr>
          <p:nvPr/>
        </p:nvCxnSpPr>
        <p:spPr>
          <a:xfrm>
            <a:off x="453000" y="4321289"/>
            <a:ext cx="4392000" cy="0"/>
          </a:xfrm>
          <a:prstGeom prst="line">
            <a:avLst/>
          </a:prstGeom>
          <a:ln w="6350">
            <a:solidFill>
              <a:srgbClr val="3D3D3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0379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8A68F-B218-2462-16C2-E7DAB8852A48}"/>
            </a:ext>
          </a:extLst>
        </p:cNvPr>
        <p:cNvGrpSpPr/>
        <p:nvPr/>
      </p:nvGrpSpPr>
      <p:grpSpPr>
        <a:xfrm>
          <a:off x="0" y="0"/>
          <a:ext cx="0" cy="0"/>
          <a:chOff x="0" y="0"/>
          <a:chExt cx="0" cy="0"/>
        </a:xfrm>
      </p:grpSpPr>
      <p:pic>
        <p:nvPicPr>
          <p:cNvPr id="9" name="그림 8" descr="현미경, 과학 기기, 광학 기기, 실내이(가) 표시된 사진&#10;&#10;AI 생성 콘텐츠는 정확하지 않을 수 있습니다.">
            <a:extLst>
              <a:ext uri="{FF2B5EF4-FFF2-40B4-BE49-F238E27FC236}">
                <a16:creationId xmlns:a16="http://schemas.microsoft.com/office/drawing/2014/main" id="{EE1B257D-A204-3154-0324-781A569DDCE1}"/>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5" name="TextBox 4">
            <a:extLst>
              <a:ext uri="{FF2B5EF4-FFF2-40B4-BE49-F238E27FC236}">
                <a16:creationId xmlns:a16="http://schemas.microsoft.com/office/drawing/2014/main" id="{D1A58124-D775-6CF0-65A5-46027A0D8AFB}"/>
              </a:ext>
            </a:extLst>
          </p:cNvPr>
          <p:cNvSpPr txBox="1"/>
          <p:nvPr/>
        </p:nvSpPr>
        <p:spPr>
          <a:xfrm>
            <a:off x="452438" y="1140037"/>
            <a:ext cx="3247684" cy="380938"/>
          </a:xfrm>
          <a:prstGeom prst="rect">
            <a:avLst/>
          </a:prstGeom>
          <a:noFill/>
        </p:spPr>
        <p:txBody>
          <a:bodyPr wrap="none" lIns="0" tIns="0" rIns="0" bIns="0" rtlCol="0">
            <a:spAutoFit/>
          </a:bodyPr>
          <a:lstStyle/>
          <a:p>
            <a:pPr algn="l">
              <a:lnSpc>
                <a:spcPct val="110000"/>
              </a:lnSpc>
            </a:pPr>
            <a:r>
              <a:rPr lang="en-US" altLang="ko-KR" sz="2400" dirty="0">
                <a:solidFill>
                  <a:schemeClr val="bg1"/>
                </a:solidFill>
                <a:latin typeface="+mj-lt"/>
                <a:ea typeface="+mj-ea"/>
              </a:rPr>
              <a:t>TABLE OF CONTENTS</a:t>
            </a:r>
            <a:endParaRPr lang="ko-KR" altLang="en-US" sz="2400" dirty="0">
              <a:solidFill>
                <a:schemeClr val="bg1"/>
              </a:solidFill>
              <a:latin typeface="+mj-lt"/>
              <a:ea typeface="+mj-ea"/>
            </a:endParaRPr>
          </a:p>
        </p:txBody>
      </p:sp>
      <p:sp>
        <p:nvSpPr>
          <p:cNvPr id="15" name="텍스트 개체 틀 3">
            <a:extLst>
              <a:ext uri="{FF2B5EF4-FFF2-40B4-BE49-F238E27FC236}">
                <a16:creationId xmlns:a16="http://schemas.microsoft.com/office/drawing/2014/main" id="{CAB9CC60-DBEB-E6B2-3BAC-209FCF379A70}"/>
              </a:ext>
            </a:extLst>
          </p:cNvPr>
          <p:cNvSpPr txBox="1">
            <a:spLocks/>
          </p:cNvSpPr>
          <p:nvPr/>
        </p:nvSpPr>
        <p:spPr>
          <a:xfrm>
            <a:off x="452999" y="6174329"/>
            <a:ext cx="4499999" cy="134396"/>
          </a:xfrm>
          <a:prstGeom prst="rect">
            <a:avLst/>
          </a:prstGeom>
        </p:spPr>
        <p:txBody>
          <a:bodyPr wrap="square" lIns="0" tIns="0" rIns="0" bIns="0" anchor="b">
            <a:spAutoFit/>
          </a:bodyPr>
          <a:lstStyle>
            <a:lvl1pPr indent="0" defTabSz="914400" latinLnBrk="1">
              <a:lnSpc>
                <a:spcPts val="1100"/>
              </a:lnSpc>
              <a:spcBef>
                <a:spcPts val="0"/>
              </a:spcBef>
              <a:buFont typeface="Arial" panose="020B0604020202020204" pitchFamily="34" charset="0"/>
              <a:buNone/>
              <a:defRPr sz="1100" baseline="0">
                <a:solidFill>
                  <a:schemeClr val="bg1"/>
                </a:solidFill>
                <a:latin typeface="Outfit" pitchFamily="2"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800" dirty="0"/>
              <a:t>Strictly Private &amp; Confidential</a:t>
            </a:r>
            <a:endParaRPr lang="ko-KR" altLang="en-US" sz="800" dirty="0"/>
          </a:p>
        </p:txBody>
      </p:sp>
      <p:graphicFrame>
        <p:nvGraphicFramePr>
          <p:cNvPr id="6" name="표 5">
            <a:extLst>
              <a:ext uri="{FF2B5EF4-FFF2-40B4-BE49-F238E27FC236}">
                <a16:creationId xmlns:a16="http://schemas.microsoft.com/office/drawing/2014/main" id="{2BF19C3E-517B-7381-0EE4-EB1EFA3F1601}"/>
              </a:ext>
            </a:extLst>
          </p:cNvPr>
          <p:cNvGraphicFramePr>
            <a:graphicFrameLocks noGrp="1"/>
          </p:cNvGraphicFramePr>
          <p:nvPr>
            <p:extLst>
              <p:ext uri="{D42A27DB-BD31-4B8C-83A1-F6EECF244321}">
                <p14:modId xmlns:p14="http://schemas.microsoft.com/office/powerpoint/2010/main" val="2173340240"/>
              </p:ext>
            </p:extLst>
          </p:nvPr>
        </p:nvGraphicFramePr>
        <p:xfrm>
          <a:off x="344438" y="1880975"/>
          <a:ext cx="3780000" cy="3024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150886525"/>
                    </a:ext>
                  </a:extLst>
                </a:gridCol>
                <a:gridCol w="3240000">
                  <a:extLst>
                    <a:ext uri="{9D8B030D-6E8A-4147-A177-3AD203B41FA5}">
                      <a16:colId xmlns:a16="http://schemas.microsoft.com/office/drawing/2014/main" val="4148028095"/>
                    </a:ext>
                  </a:extLst>
                </a:gridCol>
              </a:tblGrid>
              <a:tr h="432000">
                <a:tc>
                  <a:txBody>
                    <a:bodyPr/>
                    <a:lstStyle/>
                    <a:p>
                      <a:pPr marL="0" algn="l" defTabSz="914400" rtl="0" eaLnBrk="1" latinLnBrk="1" hangingPunct="1"/>
                      <a:r>
                        <a:rPr lang="en-US" altLang="ko-KR" sz="1600" b="0" kern="1200" cap="none" baseline="0" dirty="0">
                          <a:solidFill>
                            <a:schemeClr val="bg1"/>
                          </a:solidFill>
                          <a:latin typeface="+mj-lt"/>
                          <a:ea typeface="+mj-ea"/>
                          <a:cs typeface="+mn-cs"/>
                        </a:rPr>
                        <a:t>01</a:t>
                      </a:r>
                      <a:endParaRPr lang="ko-KR" altLang="en-US" sz="1600" b="0" kern="1200" cap="none" baseline="0" dirty="0">
                        <a:solidFill>
                          <a:schemeClr val="bg1"/>
                        </a:solidFill>
                        <a:latin typeface="+mj-lt"/>
                        <a:ea typeface="+mj-ea"/>
                        <a:cs typeface="+mn-cs"/>
                      </a:endParaRPr>
                    </a:p>
                  </a:txBody>
                  <a:tcPr marL="10800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1" hangingPunct="1"/>
                      <a:r>
                        <a:rPr lang="en-US" altLang="ko-KR" sz="1600" b="0" kern="1200" cap="none" spc="-30" baseline="0" dirty="0">
                          <a:solidFill>
                            <a:schemeClr val="bg1"/>
                          </a:solidFill>
                          <a:latin typeface="+mj-lt"/>
                          <a:ea typeface="+mj-ea"/>
                          <a:cs typeface="+mn-cs"/>
                        </a:rPr>
                        <a:t>Executive Summary</a:t>
                      </a:r>
                      <a:endParaRPr lang="ko-KR" altLang="en-US" sz="1600" b="0" kern="1200" cap="none" spc="-30" baseline="0" dirty="0">
                        <a:solidFill>
                          <a:schemeClr val="bg1"/>
                        </a:solidFill>
                        <a:latin typeface="+mj-lt"/>
                        <a:ea typeface="+mj-ea"/>
                        <a:cs typeface="+mn-cs"/>
                      </a:endParaRPr>
                    </a:p>
                  </a:txBody>
                  <a:tcPr marL="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49133"/>
                  </a:ext>
                </a:extLst>
              </a:tr>
              <a:tr h="432000">
                <a:tc>
                  <a:txBody>
                    <a:bodyPr/>
                    <a:lstStyle/>
                    <a:p>
                      <a:pPr latinLnBrk="1"/>
                      <a:r>
                        <a:rPr lang="en-US" altLang="ko-KR" sz="1600" b="0" baseline="0" dirty="0">
                          <a:solidFill>
                            <a:schemeClr val="bg1"/>
                          </a:solidFill>
                          <a:latin typeface="+mj-lt"/>
                          <a:ea typeface="+mj-ea"/>
                        </a:rPr>
                        <a:t>02</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Investment Highlights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606132"/>
                  </a:ext>
                </a:extLst>
              </a:tr>
              <a:tr h="432000">
                <a:tc>
                  <a:txBody>
                    <a:bodyPr/>
                    <a:lstStyle/>
                    <a:p>
                      <a:pPr latinLnBrk="1"/>
                      <a:r>
                        <a:rPr lang="en-US" altLang="ko-KR" sz="1600" b="0" baseline="0" dirty="0">
                          <a:solidFill>
                            <a:srgbClr val="11244A"/>
                          </a:solidFill>
                          <a:latin typeface="+mj-lt"/>
                          <a:ea typeface="+mj-ea"/>
                        </a:rPr>
                        <a:t>03</a:t>
                      </a:r>
                      <a:endParaRPr lang="ko-KR" altLang="en-US" sz="1600" b="0" baseline="0" dirty="0">
                        <a:solidFill>
                          <a:srgbClr val="11244A"/>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en-US" altLang="ko-KR" sz="1600" b="0" cap="all" spc="-100" baseline="0" dirty="0">
                          <a:solidFill>
                            <a:srgbClr val="11244A"/>
                          </a:solidFill>
                          <a:latin typeface="+mj-lt"/>
                          <a:ea typeface="+mj-ea"/>
                        </a:rPr>
                        <a:t>Market Landscape &amp; Outlook</a:t>
                      </a:r>
                      <a:endParaRPr lang="ko-KR" altLang="en-US" sz="1600" b="0" cap="all" spc="-100" baseline="0" dirty="0">
                        <a:solidFill>
                          <a:srgbClr val="11244A"/>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51492459"/>
                  </a:ext>
                </a:extLst>
              </a:tr>
              <a:tr h="432000">
                <a:tc>
                  <a:txBody>
                    <a:bodyPr/>
                    <a:lstStyle/>
                    <a:p>
                      <a:pPr latinLnBrk="1"/>
                      <a:r>
                        <a:rPr lang="en-US" altLang="ko-KR" sz="1600" b="0" baseline="0" dirty="0">
                          <a:solidFill>
                            <a:schemeClr val="bg1"/>
                          </a:solidFill>
                          <a:latin typeface="+mj-lt"/>
                          <a:ea typeface="+mj-ea"/>
                        </a:rPr>
                        <a:t>04</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Pipeline &amp; Technology</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0736481"/>
                  </a:ext>
                </a:extLst>
              </a:tr>
              <a:tr h="432000">
                <a:tc>
                  <a:txBody>
                    <a:bodyPr/>
                    <a:lstStyle/>
                    <a:p>
                      <a:pPr latinLnBrk="1"/>
                      <a:r>
                        <a:rPr lang="en-US" altLang="ko-KR" sz="1600" b="0" baseline="0" dirty="0">
                          <a:solidFill>
                            <a:schemeClr val="bg1"/>
                          </a:solidFill>
                          <a:latin typeface="+mj-lt"/>
                          <a:ea typeface="+mj-ea"/>
                        </a:rPr>
                        <a:t>05</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Valuation &amp; Benchmark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775710"/>
                  </a:ext>
                </a:extLst>
              </a:tr>
              <a:tr h="432000">
                <a:tc>
                  <a:txBody>
                    <a:bodyPr/>
                    <a:lstStyle/>
                    <a:p>
                      <a:pPr latinLnBrk="1"/>
                      <a:r>
                        <a:rPr lang="en-US" altLang="ko-KR" sz="1600" b="0" baseline="0" dirty="0">
                          <a:solidFill>
                            <a:schemeClr val="bg1"/>
                          </a:solidFill>
                          <a:latin typeface="+mj-lt"/>
                          <a:ea typeface="+mj-ea"/>
                        </a:rPr>
                        <a:t>06</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Exit Pathway &amp; Execution</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362669"/>
                  </a:ext>
                </a:extLst>
              </a:tr>
              <a:tr h="432000">
                <a:tc>
                  <a:txBody>
                    <a:bodyPr/>
                    <a:lstStyle/>
                    <a:p>
                      <a:pPr latinLnBrk="1"/>
                      <a:r>
                        <a:rPr lang="en-US" altLang="ko-KR" sz="1600" b="0" baseline="0" dirty="0">
                          <a:solidFill>
                            <a:schemeClr val="bg1"/>
                          </a:solidFill>
                          <a:latin typeface="+mj-lt"/>
                          <a:ea typeface="+mj-ea"/>
                        </a:rPr>
                        <a:t>07</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Key Investment Terms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39227777"/>
                  </a:ext>
                </a:extLst>
              </a:tr>
            </a:tbl>
          </a:graphicData>
        </a:graphic>
      </p:graphicFrame>
      <p:pic>
        <p:nvPicPr>
          <p:cNvPr id="2" name="그래픽 1">
            <a:extLst>
              <a:ext uri="{FF2B5EF4-FFF2-40B4-BE49-F238E27FC236}">
                <a16:creationId xmlns:a16="http://schemas.microsoft.com/office/drawing/2014/main" id="{BD32215B-A6AF-25A3-99DB-85AE3BE969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2999" y="549275"/>
            <a:ext cx="1353293" cy="180000"/>
          </a:xfrm>
          <a:prstGeom prst="rect">
            <a:avLst/>
          </a:prstGeom>
        </p:spPr>
      </p:pic>
    </p:spTree>
    <p:extLst>
      <p:ext uri="{BB962C8B-B14F-4D97-AF65-F5344CB8AC3E}">
        <p14:creationId xmlns:p14="http://schemas.microsoft.com/office/powerpoint/2010/main" val="1525873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CA395-43DE-9170-E827-01AD818003DF}"/>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8DA96564-AD5A-EAF1-DC05-58C84DA97D90}"/>
              </a:ext>
            </a:extLst>
          </p:cNvPr>
          <p:cNvSpPr>
            <a:spLocks noGrp="1"/>
          </p:cNvSpPr>
          <p:nvPr>
            <p:ph type="body" sz="quarter" idx="11"/>
          </p:nvPr>
        </p:nvSpPr>
        <p:spPr>
          <a:xfrm>
            <a:off x="453000" y="549275"/>
            <a:ext cx="9000000" cy="430887"/>
          </a:xfrm>
        </p:spPr>
        <p:txBody>
          <a:bodyPr/>
          <a:lstStyle/>
          <a:p>
            <a:r>
              <a:rPr lang="en-US" altLang="ko-KR" dirty="0"/>
              <a:t>MASH: Post-</a:t>
            </a:r>
            <a:r>
              <a:rPr lang="en-US" altLang="ko-KR" dirty="0" err="1"/>
              <a:t>Rezdiffra</a:t>
            </a:r>
            <a:r>
              <a:rPr lang="en-US" altLang="ko-KR" dirty="0"/>
              <a:t> inflection</a:t>
            </a:r>
            <a:endParaRPr lang="ko-KR" altLang="en-US" dirty="0"/>
          </a:p>
        </p:txBody>
      </p:sp>
      <p:sp>
        <p:nvSpPr>
          <p:cNvPr id="3" name="텍스트 개체 틀 2">
            <a:extLst>
              <a:ext uri="{FF2B5EF4-FFF2-40B4-BE49-F238E27FC236}">
                <a16:creationId xmlns:a16="http://schemas.microsoft.com/office/drawing/2014/main" id="{634B63AF-E160-76D6-E266-951E66872006}"/>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9ACD582-04CF-01B5-63C6-C9FD28C01823}"/>
              </a:ext>
            </a:extLst>
          </p:cNvPr>
          <p:cNvSpPr>
            <a:spLocks noGrp="1"/>
          </p:cNvSpPr>
          <p:nvPr>
            <p:ph type="sldNum" sz="quarter" idx="13"/>
          </p:nvPr>
        </p:nvSpPr>
        <p:spPr/>
        <p:txBody>
          <a:bodyPr/>
          <a:lstStyle/>
          <a:p>
            <a:fld id="{C053318C-A610-4AA5-9FF7-26630BAA1E31}" type="slidenum">
              <a:rPr lang="en-US" altLang="ko-KR" smtClean="0"/>
              <a:pPr/>
              <a:t>13</a:t>
            </a:fld>
            <a:endParaRPr lang="en-US" dirty="0"/>
          </a:p>
        </p:txBody>
      </p:sp>
      <p:sp>
        <p:nvSpPr>
          <p:cNvPr id="8" name="TextBox 7">
            <a:extLst>
              <a:ext uri="{FF2B5EF4-FFF2-40B4-BE49-F238E27FC236}">
                <a16:creationId xmlns:a16="http://schemas.microsoft.com/office/drawing/2014/main" id="{17624E99-54BA-B6D2-823C-DE48CB8B6212}"/>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MASH enters a commercial era post-</a:t>
            </a:r>
            <a:r>
              <a:rPr lang="en-US" altLang="ko-KR" sz="1400" b="1" dirty="0" err="1">
                <a:solidFill>
                  <a:srgbClr val="3D3D3D"/>
                </a:solidFill>
              </a:rPr>
              <a:t>Rezdiffra</a:t>
            </a:r>
            <a:r>
              <a:rPr lang="en-US" altLang="ko-KR" sz="1400" b="1" dirty="0">
                <a:solidFill>
                  <a:srgbClr val="3D3D3D"/>
                </a:solidFill>
              </a:rPr>
              <a:t>, creating a multi-billion market opportunity for next-generation anti-fibrotic therapies.</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E5B680AB-8FEF-1A8F-EAE5-6258A1D1C0C4}"/>
              </a:ext>
            </a:extLst>
          </p:cNvPr>
          <p:cNvSpPr/>
          <p:nvPr/>
        </p:nvSpPr>
        <p:spPr>
          <a:xfrm>
            <a:off x="453000" y="1700213"/>
            <a:ext cx="288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MASH Market Outlook</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9658FDA4-E6A6-4B8D-0256-34CFAA7512C1}"/>
              </a:ext>
            </a:extLst>
          </p:cNvPr>
          <p:cNvSpPr/>
          <p:nvPr/>
        </p:nvSpPr>
        <p:spPr>
          <a:xfrm>
            <a:off x="3513000" y="1700213"/>
            <a:ext cx="594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MASH Market Overview</a:t>
            </a:r>
            <a:endParaRPr lang="ko-KR" altLang="en-US" sz="1200" b="1" dirty="0">
              <a:solidFill>
                <a:schemeClr val="bg1"/>
              </a:solidFill>
            </a:endParaRPr>
          </a:p>
        </p:txBody>
      </p:sp>
      <p:graphicFrame>
        <p:nvGraphicFramePr>
          <p:cNvPr id="13" name="차트 12">
            <a:extLst>
              <a:ext uri="{FF2B5EF4-FFF2-40B4-BE49-F238E27FC236}">
                <a16:creationId xmlns:a16="http://schemas.microsoft.com/office/drawing/2014/main" id="{3209F1C5-8DCB-FACE-0CAA-5C415A26F6C4}"/>
              </a:ext>
            </a:extLst>
          </p:cNvPr>
          <p:cNvGraphicFramePr/>
          <p:nvPr>
            <p:extLst>
              <p:ext uri="{D42A27DB-BD31-4B8C-83A1-F6EECF244321}">
                <p14:modId xmlns:p14="http://schemas.microsoft.com/office/powerpoint/2010/main" val="384955629"/>
              </p:ext>
            </p:extLst>
          </p:nvPr>
        </p:nvGraphicFramePr>
        <p:xfrm>
          <a:off x="453000" y="2159393"/>
          <a:ext cx="288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표 14">
            <a:extLst>
              <a:ext uri="{FF2B5EF4-FFF2-40B4-BE49-F238E27FC236}">
                <a16:creationId xmlns:a16="http://schemas.microsoft.com/office/drawing/2014/main" id="{C7DC4FF2-2FEA-9E4E-EC3C-4F36CCB1BBFB}"/>
              </a:ext>
            </a:extLst>
          </p:cNvPr>
          <p:cNvGraphicFramePr>
            <a:graphicFrameLocks noGrp="1"/>
          </p:cNvGraphicFramePr>
          <p:nvPr>
            <p:extLst>
              <p:ext uri="{D42A27DB-BD31-4B8C-83A1-F6EECF244321}">
                <p14:modId xmlns:p14="http://schemas.microsoft.com/office/powerpoint/2010/main" val="2759576503"/>
              </p:ext>
            </p:extLst>
          </p:nvPr>
        </p:nvGraphicFramePr>
        <p:xfrm>
          <a:off x="3513000" y="2168525"/>
          <a:ext cx="5940000" cy="3168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1566434891"/>
                    </a:ext>
                  </a:extLst>
                </a:gridCol>
                <a:gridCol w="4860000">
                  <a:extLst>
                    <a:ext uri="{9D8B030D-6E8A-4147-A177-3AD203B41FA5}">
                      <a16:colId xmlns:a16="http://schemas.microsoft.com/office/drawing/2014/main" val="1211137184"/>
                    </a:ext>
                  </a:extLst>
                </a:gridCol>
              </a:tblGrid>
              <a:tr h="360000">
                <a:tc>
                  <a:txBody>
                    <a:bodyPr/>
                    <a:lstStyle/>
                    <a:p>
                      <a:pPr latinLnBrk="1"/>
                      <a:r>
                        <a:rPr lang="en-US" altLang="ko-KR" sz="1000" dirty="0">
                          <a:solidFill>
                            <a:srgbClr val="3D3D3D"/>
                          </a:solidFill>
                        </a:rPr>
                        <a:t>Category</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Key Points</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9162181"/>
                  </a:ext>
                </a:extLst>
              </a:tr>
              <a:tr h="504000">
                <a:tc>
                  <a:txBody>
                    <a:bodyPr/>
                    <a:lstStyle/>
                    <a:p>
                      <a:pPr latinLnBrk="1"/>
                      <a:r>
                        <a:rPr lang="en-US" altLang="ko-KR" sz="1000" b="1" dirty="0">
                          <a:solidFill>
                            <a:srgbClr val="11244A"/>
                          </a:solidFill>
                        </a:rPr>
                        <a:t>Market inflection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
                      </a:pPr>
                      <a:r>
                        <a:rPr lang="en-US" altLang="ko-KR" sz="1000" dirty="0">
                          <a:solidFill>
                            <a:srgbClr val="3D3D3D"/>
                          </a:solidFill>
                        </a:rPr>
                        <a:t>First FDA MASH approval for </a:t>
                      </a:r>
                      <a:r>
                        <a:rPr lang="en-US" altLang="ko-KR" sz="1000" dirty="0" err="1">
                          <a:solidFill>
                            <a:srgbClr val="3D3D3D"/>
                          </a:solidFill>
                        </a:rPr>
                        <a:t>Rezdiffra</a:t>
                      </a:r>
                      <a:r>
                        <a:rPr lang="en-US" altLang="ko-KR" sz="1000" dirty="0">
                          <a:solidFill>
                            <a:srgbClr val="3D3D3D"/>
                          </a:solidFill>
                        </a:rPr>
                        <a:t> (2024) validated regulatory pathway</a:t>
                      </a:r>
                    </a:p>
                    <a:p>
                      <a:pPr marL="171450" indent="-171450" latinLnBrk="1">
                        <a:buFont typeface="Wingdings" panose="05000000000000000000" pitchFamily="2" charset="2"/>
                        <a:buChar char="§"/>
                      </a:pPr>
                      <a:r>
                        <a:rPr lang="en-US" altLang="ko-KR" sz="1000" dirty="0">
                          <a:solidFill>
                            <a:srgbClr val="3D3D3D"/>
                          </a:solidFill>
                        </a:rPr>
                        <a:t>Commercial race accelerates with clear approval precedent</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16640"/>
                  </a:ext>
                </a:extLst>
              </a:tr>
              <a:tr h="504000">
                <a:tc>
                  <a:txBody>
                    <a:bodyPr/>
                    <a:lstStyle/>
                    <a:p>
                      <a:pPr latinLnBrk="1"/>
                      <a:r>
                        <a:rPr kumimoji="0" lang="en-US" altLang="ko-KR" sz="1000" b="1" i="0" u="none" strike="noStrike" kern="1200" cap="none" spc="0" normalizeH="0" baseline="0" noProof="0" dirty="0">
                          <a:ln>
                            <a:noFill/>
                          </a:ln>
                          <a:solidFill>
                            <a:srgbClr val="11244A"/>
                          </a:solidFill>
                          <a:effectLst/>
                          <a:uLnTx/>
                          <a:uFillTx/>
                          <a:latin typeface="Pretendard"/>
                          <a:ea typeface="Pretendard"/>
                          <a:cs typeface="+mn-cs"/>
                        </a:rPr>
                        <a:t>Market size</a:t>
                      </a:r>
                    </a:p>
                    <a:p>
                      <a:pPr latinLnBrk="1"/>
                      <a:r>
                        <a:rPr kumimoji="0" lang="en-US" altLang="ko-KR" sz="1000" b="1" i="0" u="none" strike="noStrike" kern="1200" cap="none" spc="0" normalizeH="0" baseline="0" noProof="0" dirty="0">
                          <a:ln>
                            <a:noFill/>
                          </a:ln>
                          <a:solidFill>
                            <a:srgbClr val="11244A"/>
                          </a:solidFill>
                          <a:effectLst/>
                          <a:uLnTx/>
                          <a:uFillTx/>
                          <a:latin typeface="Pretendard"/>
                          <a:ea typeface="Pretendard"/>
                          <a:cs typeface="+mn-cs"/>
                        </a:rPr>
                        <a:t>outlook</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Global market projected to grow from $2.6B in 2024 to $21.3B by 2035</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Expansion led by high-risk fibrosis segment</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345206"/>
                  </a:ext>
                </a:extLst>
              </a:tr>
              <a:tr h="504000">
                <a:tc>
                  <a:txBody>
                    <a:bodyPr/>
                    <a:lstStyle/>
                    <a:p>
                      <a:pPr latinLnBrk="1"/>
                      <a:r>
                        <a:rPr kumimoji="0" lang="en-US" altLang="ko-KR" sz="1000" b="1" i="0" u="none" strike="noStrike" kern="1200" cap="none" spc="0" normalizeH="0" baseline="0" noProof="0" dirty="0">
                          <a:ln>
                            <a:noFill/>
                          </a:ln>
                          <a:solidFill>
                            <a:srgbClr val="11244A"/>
                          </a:solidFill>
                          <a:effectLst/>
                          <a:uLnTx/>
                          <a:uFillTx/>
                          <a:latin typeface="Pretendard"/>
                          <a:ea typeface="Pretendard"/>
                          <a:cs typeface="+mn-cs"/>
                        </a:rPr>
                        <a:t>Unmet need</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Only up to 26% fibrosis improvement in Phase 3 </a:t>
                      </a:r>
                      <a:r>
                        <a:rPr kumimoji="0" lang="en-US" altLang="ko-KR" sz="1000" b="0" i="0" u="none" strike="noStrike" kern="1200" cap="none" spc="0" normalizeH="0" baseline="0" noProof="0" dirty="0" err="1">
                          <a:ln>
                            <a:noFill/>
                          </a:ln>
                          <a:solidFill>
                            <a:srgbClr val="3D3D3D"/>
                          </a:solidFill>
                          <a:effectLst/>
                          <a:uLnTx/>
                          <a:uFillTx/>
                          <a:latin typeface="Pretendard"/>
                          <a:ea typeface="Pretendard"/>
                          <a:cs typeface="+mn-cs"/>
                        </a:rPr>
                        <a:t>Rezdiffra</a:t>
                      </a:r>
                      <a:endPar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endParaRP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Majority of patients still require stronger anti-fibrotic effect</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9270702"/>
                  </a:ext>
                </a:extLst>
              </a:tr>
              <a:tr h="648000">
                <a:tc>
                  <a:txBody>
                    <a:bodyPr/>
                    <a:lstStyle/>
                    <a:p>
                      <a:pPr latinLnBrk="1"/>
                      <a:r>
                        <a:rPr lang="en-US" altLang="ko-KR" sz="1000" b="1" dirty="0">
                          <a:solidFill>
                            <a:srgbClr val="11244A"/>
                          </a:solidFill>
                        </a:rPr>
                        <a:t>Future treatment model</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Industry consensus moving toward combination therapy (metabolic + anti-fibrotic)</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Anti-fibrotic backbone expected to define next value wave</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091063"/>
                  </a:ext>
                </a:extLst>
              </a:tr>
              <a:tr h="648000">
                <a:tc>
                  <a:txBody>
                    <a:bodyPr/>
                    <a:lstStyle/>
                    <a:p>
                      <a:pPr latinLnBrk="1"/>
                      <a:r>
                        <a:rPr kumimoji="0" lang="en-US" altLang="ko-KR" sz="1000" b="1" i="0" u="none" strike="noStrike" kern="1200" cap="none" spc="0" normalizeH="0" baseline="0" noProof="0" dirty="0">
                          <a:ln>
                            <a:noFill/>
                          </a:ln>
                          <a:solidFill>
                            <a:srgbClr val="11244A"/>
                          </a:solidFill>
                          <a:effectLst/>
                          <a:uLnTx/>
                          <a:uFillTx/>
                          <a:latin typeface="Pretendard"/>
                          <a:ea typeface="Pretendard"/>
                          <a:cs typeface="+mn-cs"/>
                        </a:rPr>
                        <a:t>Strategic implication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FM101 targets the dominant unmet anti-fibrotic gap</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Potential backbone therapy in future combo regimens, enabling second-wave upside</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4852839"/>
                  </a:ext>
                </a:extLst>
              </a:tr>
            </a:tbl>
          </a:graphicData>
        </a:graphic>
      </p:graphicFrame>
      <p:cxnSp>
        <p:nvCxnSpPr>
          <p:cNvPr id="19" name="연결선: 꺾임 18">
            <a:extLst>
              <a:ext uri="{FF2B5EF4-FFF2-40B4-BE49-F238E27FC236}">
                <a16:creationId xmlns:a16="http://schemas.microsoft.com/office/drawing/2014/main" id="{3FD8296F-2FB2-AB52-80BC-68E6FA305A20}"/>
              </a:ext>
            </a:extLst>
          </p:cNvPr>
          <p:cNvCxnSpPr>
            <a:cxnSpLocks/>
          </p:cNvCxnSpPr>
          <p:nvPr/>
        </p:nvCxnSpPr>
        <p:spPr>
          <a:xfrm rot="5400000" flipH="1" flipV="1">
            <a:off x="763640" y="3049377"/>
            <a:ext cx="1948126" cy="957341"/>
          </a:xfrm>
          <a:prstGeom prst="bentConnector2">
            <a:avLst/>
          </a:prstGeom>
          <a:ln w="6350">
            <a:solidFill>
              <a:srgbClr val="539DFF"/>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FBB6C25-1AC7-9942-BFF9-FE21C82DC6FF}"/>
              </a:ext>
            </a:extLst>
          </p:cNvPr>
          <p:cNvSpPr txBox="1"/>
          <p:nvPr/>
        </p:nvSpPr>
        <p:spPr>
          <a:xfrm>
            <a:off x="1444353" y="2609545"/>
            <a:ext cx="586699" cy="142283"/>
          </a:xfrm>
          <a:prstGeom prst="rect">
            <a:avLst/>
          </a:prstGeom>
          <a:noFill/>
        </p:spPr>
        <p:txBody>
          <a:bodyPr wrap="none" lIns="0" tIns="0" rIns="0" bIns="0" rtlCol="0">
            <a:spAutoFit/>
          </a:bodyPr>
          <a:lstStyle/>
          <a:p>
            <a:pPr algn="l">
              <a:lnSpc>
                <a:spcPct val="110000"/>
              </a:lnSpc>
            </a:pPr>
            <a:r>
              <a:rPr lang="en-US" altLang="ko-KR" sz="900" b="1" dirty="0">
                <a:solidFill>
                  <a:srgbClr val="539DFF"/>
                </a:solidFill>
              </a:rPr>
              <a:t>CAGR 21%</a:t>
            </a:r>
            <a:endParaRPr lang="ko-KR" altLang="en-US" sz="900" b="1" dirty="0">
              <a:solidFill>
                <a:srgbClr val="539DFF"/>
              </a:solidFill>
            </a:endParaRPr>
          </a:p>
        </p:txBody>
      </p:sp>
    </p:spTree>
    <p:extLst>
      <p:ext uri="{BB962C8B-B14F-4D97-AF65-F5344CB8AC3E}">
        <p14:creationId xmlns:p14="http://schemas.microsoft.com/office/powerpoint/2010/main" val="2125906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029AE-8E77-718C-CF91-7C37AA7E15A9}"/>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A0AF13A6-6597-850E-5C7B-B21242629606}"/>
              </a:ext>
            </a:extLst>
          </p:cNvPr>
          <p:cNvSpPr>
            <a:spLocks noGrp="1"/>
          </p:cNvSpPr>
          <p:nvPr>
            <p:ph type="body" sz="quarter" idx="11"/>
          </p:nvPr>
        </p:nvSpPr>
        <p:spPr/>
        <p:txBody>
          <a:bodyPr/>
          <a:lstStyle/>
          <a:p>
            <a:r>
              <a:rPr lang="en-US" altLang="ko-KR" dirty="0"/>
              <a:t>Obesity: Race for </a:t>
            </a:r>
            <a:r>
              <a:rPr lang="en-US" altLang="ko-KR"/>
              <a:t>oral alternatives</a:t>
            </a:r>
            <a:endParaRPr lang="ko-KR" altLang="en-US" dirty="0"/>
          </a:p>
        </p:txBody>
      </p:sp>
      <p:sp>
        <p:nvSpPr>
          <p:cNvPr id="3" name="텍스트 개체 틀 2">
            <a:extLst>
              <a:ext uri="{FF2B5EF4-FFF2-40B4-BE49-F238E27FC236}">
                <a16:creationId xmlns:a16="http://schemas.microsoft.com/office/drawing/2014/main" id="{4CE057A3-A9B8-66F9-2192-09B992BA18C3}"/>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887E7E0-A0E7-5C85-25D5-F537900486B7}"/>
              </a:ext>
            </a:extLst>
          </p:cNvPr>
          <p:cNvSpPr>
            <a:spLocks noGrp="1"/>
          </p:cNvSpPr>
          <p:nvPr>
            <p:ph type="sldNum" sz="quarter" idx="13"/>
          </p:nvPr>
        </p:nvSpPr>
        <p:spPr/>
        <p:txBody>
          <a:bodyPr/>
          <a:lstStyle/>
          <a:p>
            <a:fld id="{C053318C-A610-4AA5-9FF7-26630BAA1E31}" type="slidenum">
              <a:rPr lang="en-US" altLang="ko-KR" smtClean="0"/>
              <a:pPr/>
              <a:t>14</a:t>
            </a:fld>
            <a:endParaRPr lang="en-US" dirty="0"/>
          </a:p>
        </p:txBody>
      </p:sp>
      <p:sp>
        <p:nvSpPr>
          <p:cNvPr id="8" name="TextBox 7">
            <a:extLst>
              <a:ext uri="{FF2B5EF4-FFF2-40B4-BE49-F238E27FC236}">
                <a16:creationId xmlns:a16="http://schemas.microsoft.com/office/drawing/2014/main" id="{19DA344D-9A10-7CDC-55CC-453104F8C31F}"/>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GLP-1 injectables dominate today, but oral therapies are emerging as the next battleground for convenience, tolerability, and mass-market expansion.</a:t>
            </a:r>
            <a:endParaRPr lang="ko-KR" altLang="en-US" sz="1400" b="1" dirty="0">
              <a:solidFill>
                <a:srgbClr val="3D3D3D"/>
              </a:solidFill>
            </a:endParaRPr>
          </a:p>
        </p:txBody>
      </p:sp>
      <p:sp>
        <p:nvSpPr>
          <p:cNvPr id="11" name="직사각형 10">
            <a:extLst>
              <a:ext uri="{FF2B5EF4-FFF2-40B4-BE49-F238E27FC236}">
                <a16:creationId xmlns:a16="http://schemas.microsoft.com/office/drawing/2014/main" id="{73635330-B6D1-F959-175A-A71B7E8D8C58}"/>
              </a:ext>
            </a:extLst>
          </p:cNvPr>
          <p:cNvSpPr/>
          <p:nvPr/>
        </p:nvSpPr>
        <p:spPr>
          <a:xfrm>
            <a:off x="453000" y="1700213"/>
            <a:ext cx="288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Oral Obesity Market Outlook</a:t>
            </a:r>
            <a:endParaRPr lang="ko-KR" altLang="en-US" sz="1200" b="1" dirty="0">
              <a:solidFill>
                <a:schemeClr val="bg1"/>
              </a:solidFill>
            </a:endParaRPr>
          </a:p>
        </p:txBody>
      </p:sp>
      <p:sp>
        <p:nvSpPr>
          <p:cNvPr id="12" name="직사각형 11">
            <a:extLst>
              <a:ext uri="{FF2B5EF4-FFF2-40B4-BE49-F238E27FC236}">
                <a16:creationId xmlns:a16="http://schemas.microsoft.com/office/drawing/2014/main" id="{BB371864-51EF-3B54-190A-041E0BF3D819}"/>
              </a:ext>
            </a:extLst>
          </p:cNvPr>
          <p:cNvSpPr/>
          <p:nvPr/>
        </p:nvSpPr>
        <p:spPr>
          <a:xfrm>
            <a:off x="3513000" y="1700213"/>
            <a:ext cx="594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Obesity Market Overview</a:t>
            </a:r>
            <a:endParaRPr lang="ko-KR" altLang="en-US" sz="1200" b="1" dirty="0">
              <a:solidFill>
                <a:schemeClr val="bg1"/>
              </a:solidFill>
            </a:endParaRPr>
          </a:p>
        </p:txBody>
      </p:sp>
      <p:graphicFrame>
        <p:nvGraphicFramePr>
          <p:cNvPr id="14" name="표 13">
            <a:extLst>
              <a:ext uri="{FF2B5EF4-FFF2-40B4-BE49-F238E27FC236}">
                <a16:creationId xmlns:a16="http://schemas.microsoft.com/office/drawing/2014/main" id="{0AFD579C-1972-AB37-8353-AD9D03503094}"/>
              </a:ext>
            </a:extLst>
          </p:cNvPr>
          <p:cNvGraphicFramePr>
            <a:graphicFrameLocks noGrp="1"/>
          </p:cNvGraphicFramePr>
          <p:nvPr>
            <p:extLst>
              <p:ext uri="{D42A27DB-BD31-4B8C-83A1-F6EECF244321}">
                <p14:modId xmlns:p14="http://schemas.microsoft.com/office/powerpoint/2010/main" val="3951726915"/>
              </p:ext>
            </p:extLst>
          </p:nvPr>
        </p:nvGraphicFramePr>
        <p:xfrm>
          <a:off x="3513000" y="2168525"/>
          <a:ext cx="5940000" cy="3150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1566434891"/>
                    </a:ext>
                  </a:extLst>
                </a:gridCol>
                <a:gridCol w="4860000">
                  <a:extLst>
                    <a:ext uri="{9D8B030D-6E8A-4147-A177-3AD203B41FA5}">
                      <a16:colId xmlns:a16="http://schemas.microsoft.com/office/drawing/2014/main" val="1211137184"/>
                    </a:ext>
                  </a:extLst>
                </a:gridCol>
              </a:tblGrid>
              <a:tr h="360000">
                <a:tc>
                  <a:txBody>
                    <a:bodyPr/>
                    <a:lstStyle/>
                    <a:p>
                      <a:pPr latinLnBrk="1"/>
                      <a:r>
                        <a:rPr lang="en-US" altLang="ko-KR" sz="1000" dirty="0">
                          <a:solidFill>
                            <a:srgbClr val="3D3D3D"/>
                          </a:solidFill>
                        </a:rPr>
                        <a:t>Category</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Key Points</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9162181"/>
                  </a:ext>
                </a:extLst>
              </a:tr>
              <a:tr h="558000">
                <a:tc>
                  <a:txBody>
                    <a:bodyPr/>
                    <a:lstStyle/>
                    <a:p>
                      <a:pPr latinLnBrk="1"/>
                      <a:r>
                        <a:rPr lang="en-US" altLang="ko-KR" sz="1000" b="1" dirty="0">
                          <a:solidFill>
                            <a:srgbClr val="11244A"/>
                          </a:solidFill>
                        </a:rPr>
                        <a:t>Market</a:t>
                      </a:r>
                    </a:p>
                    <a:p>
                      <a:pPr latinLnBrk="1"/>
                      <a:r>
                        <a:rPr lang="en-US" altLang="ko-KR" sz="1000" b="1" dirty="0">
                          <a:solidFill>
                            <a:srgbClr val="11244A"/>
                          </a:solidFill>
                        </a:rPr>
                        <a:t>status</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
                      </a:pPr>
                      <a:r>
                        <a:rPr lang="en-US" altLang="ko-KR" sz="1000" dirty="0">
                          <a:solidFill>
                            <a:srgbClr val="3D3D3D"/>
                          </a:solidFill>
                        </a:rPr>
                        <a:t>GLP-1 injectables dominate current adoption</a:t>
                      </a:r>
                    </a:p>
                    <a:p>
                      <a:pPr marL="171450" indent="-171450" latinLnBrk="1">
                        <a:buFont typeface="Wingdings" panose="05000000000000000000" pitchFamily="2" charset="2"/>
                        <a:buChar char="§"/>
                      </a:pPr>
                      <a:r>
                        <a:rPr lang="en-US" altLang="ko-KR" sz="1000" dirty="0">
                          <a:solidFill>
                            <a:srgbClr val="3D3D3D"/>
                          </a:solidFill>
                        </a:rPr>
                        <a:t>Reimbursement expansion accelerating global penetration</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16640"/>
                  </a:ext>
                </a:extLst>
              </a:tr>
              <a:tr h="558000">
                <a:tc>
                  <a:txBody>
                    <a:bodyPr/>
                    <a:lstStyle/>
                    <a:p>
                      <a:pPr latinLnBrk="1"/>
                      <a:r>
                        <a:rPr lang="en-US" altLang="ko-KR" sz="1000" b="1" dirty="0">
                          <a:solidFill>
                            <a:srgbClr val="11244A"/>
                          </a:solidFill>
                        </a:rPr>
                        <a:t>Limitations</a:t>
                      </a:r>
                    </a:p>
                    <a:p>
                      <a:pPr latinLnBrk="1"/>
                      <a:r>
                        <a:rPr lang="en-US" altLang="ko-KR" sz="1000" b="1" dirty="0">
                          <a:solidFill>
                            <a:srgbClr val="11244A"/>
                          </a:solidFill>
                        </a:rPr>
                        <a:t>of GLP-1s</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Injection burden lowers convenience and adherence</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GI adverse events, muscle loss &amp; rebound weight gain post-discontinuation</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345206"/>
                  </a:ext>
                </a:extLst>
              </a:tr>
              <a:tr h="558000">
                <a:tc>
                  <a:txBody>
                    <a:bodyPr/>
                    <a:lstStyle/>
                    <a:p>
                      <a:pPr latinLnBrk="1"/>
                      <a:r>
                        <a:rPr lang="en-US" altLang="ko-KR" sz="1000" b="1" dirty="0">
                          <a:solidFill>
                            <a:srgbClr val="11244A"/>
                          </a:solidFill>
                        </a:rPr>
                        <a:t>Oral</a:t>
                      </a:r>
                    </a:p>
                    <a:p>
                      <a:pPr latinLnBrk="1"/>
                      <a:r>
                        <a:rPr lang="en-US" altLang="ko-KR" sz="1000" b="1" dirty="0">
                          <a:solidFill>
                            <a:srgbClr val="11244A"/>
                          </a:solidFill>
                        </a:rPr>
                        <a:t>opportunity</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Oral alternatives improve convenience and enable broader population uptake</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$6.8B oral obesity segment expected by 2039 with rapid expansion</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9270702"/>
                  </a:ext>
                </a:extLst>
              </a:tr>
              <a:tr h="558000">
                <a:tc>
                  <a:txBody>
                    <a:bodyPr/>
                    <a:lstStyle/>
                    <a:p>
                      <a:pPr latinLnBrk="1"/>
                      <a:r>
                        <a:rPr lang="en-US" altLang="ko-KR" sz="1000" b="1" dirty="0">
                          <a:solidFill>
                            <a:srgbClr val="11244A"/>
                          </a:solidFill>
                        </a:rPr>
                        <a:t>Competitive dynamics</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Big pharma aggressively acquiring oral assets (AZ - </a:t>
                      </a:r>
                      <a:r>
                        <a:rPr lang="en-US" altLang="ko-KR" sz="1000" dirty="0" err="1">
                          <a:solidFill>
                            <a:srgbClr val="3D3D3D"/>
                          </a:solidFill>
                        </a:rPr>
                        <a:t>Eccogene</a:t>
                      </a:r>
                      <a:r>
                        <a:rPr lang="en-US" altLang="ko-KR" sz="1000" dirty="0">
                          <a:solidFill>
                            <a:srgbClr val="3D3D3D"/>
                          </a:solidFill>
                        </a:rPr>
                        <a:t> $2.0B deal)</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Pipeline race for safer and more tolerable mechanisms underway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091063"/>
                  </a:ext>
                </a:extLst>
              </a:tr>
              <a:tr h="558000">
                <a:tc>
                  <a:txBody>
                    <a:bodyPr/>
                    <a:lstStyle/>
                    <a:p>
                      <a:pPr latinLnBrk="1"/>
                      <a:r>
                        <a:rPr lang="en-US" altLang="ko-KR" sz="1000" b="1" dirty="0">
                          <a:solidFill>
                            <a:srgbClr val="11244A"/>
                          </a:solidFill>
                        </a:rPr>
                        <a:t>Strategic implication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FM801 positioned as a differentiated oral candidate targeting convenience gap</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Potential “game-changer” if efficacy and safety profile validated</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4852839"/>
                  </a:ext>
                </a:extLst>
              </a:tr>
            </a:tbl>
          </a:graphicData>
        </a:graphic>
      </p:graphicFrame>
      <p:graphicFrame>
        <p:nvGraphicFramePr>
          <p:cNvPr id="20" name="차트 19">
            <a:extLst>
              <a:ext uri="{FF2B5EF4-FFF2-40B4-BE49-F238E27FC236}">
                <a16:creationId xmlns:a16="http://schemas.microsoft.com/office/drawing/2014/main" id="{7490256F-5ED1-A0D1-15BE-8D4F16968883}"/>
              </a:ext>
            </a:extLst>
          </p:cNvPr>
          <p:cNvGraphicFramePr/>
          <p:nvPr>
            <p:extLst>
              <p:ext uri="{D42A27DB-BD31-4B8C-83A1-F6EECF244321}">
                <p14:modId xmlns:p14="http://schemas.microsoft.com/office/powerpoint/2010/main" val="2338091839"/>
              </p:ext>
            </p:extLst>
          </p:nvPr>
        </p:nvGraphicFramePr>
        <p:xfrm>
          <a:off x="453000" y="2159393"/>
          <a:ext cx="2880000" cy="324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21" name="연결선: 꺾임 20">
            <a:extLst>
              <a:ext uri="{FF2B5EF4-FFF2-40B4-BE49-F238E27FC236}">
                <a16:creationId xmlns:a16="http://schemas.microsoft.com/office/drawing/2014/main" id="{BD67BB7B-4FB4-90CA-0C86-00902E6D0FF2}"/>
              </a:ext>
            </a:extLst>
          </p:cNvPr>
          <p:cNvCxnSpPr>
            <a:cxnSpLocks/>
          </p:cNvCxnSpPr>
          <p:nvPr/>
        </p:nvCxnSpPr>
        <p:spPr>
          <a:xfrm rot="5400000" flipH="1" flipV="1">
            <a:off x="1125703" y="2687314"/>
            <a:ext cx="1224000" cy="957341"/>
          </a:xfrm>
          <a:prstGeom prst="bentConnector2">
            <a:avLst/>
          </a:prstGeom>
          <a:ln w="6350">
            <a:solidFill>
              <a:srgbClr val="539DFF"/>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66CF7DA-1534-1B52-4083-603A0BA49E19}"/>
              </a:ext>
            </a:extLst>
          </p:cNvPr>
          <p:cNvSpPr txBox="1"/>
          <p:nvPr/>
        </p:nvSpPr>
        <p:spPr>
          <a:xfrm>
            <a:off x="1444353" y="2609545"/>
            <a:ext cx="589905" cy="142283"/>
          </a:xfrm>
          <a:prstGeom prst="rect">
            <a:avLst/>
          </a:prstGeom>
          <a:noFill/>
        </p:spPr>
        <p:txBody>
          <a:bodyPr wrap="none" lIns="0" tIns="0" rIns="0" bIns="0" rtlCol="0">
            <a:spAutoFit/>
          </a:bodyPr>
          <a:lstStyle/>
          <a:p>
            <a:pPr algn="l">
              <a:lnSpc>
                <a:spcPct val="110000"/>
              </a:lnSpc>
            </a:pPr>
            <a:r>
              <a:rPr lang="en-US" altLang="ko-KR" sz="900" b="1" dirty="0">
                <a:solidFill>
                  <a:srgbClr val="539DFF"/>
                </a:solidFill>
              </a:rPr>
              <a:t>CAGR 16%</a:t>
            </a:r>
            <a:endParaRPr lang="ko-KR" altLang="en-US" sz="900" b="1" dirty="0">
              <a:solidFill>
                <a:srgbClr val="539DFF"/>
              </a:solidFill>
            </a:endParaRPr>
          </a:p>
        </p:txBody>
      </p:sp>
    </p:spTree>
    <p:extLst>
      <p:ext uri="{BB962C8B-B14F-4D97-AF65-F5344CB8AC3E}">
        <p14:creationId xmlns:p14="http://schemas.microsoft.com/office/powerpoint/2010/main" val="4294656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0666A-194D-E050-6029-057597193E15}"/>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BE60425-5C85-6F37-9D4C-7EAEFAD61D17}"/>
              </a:ext>
            </a:extLst>
          </p:cNvPr>
          <p:cNvSpPr>
            <a:spLocks noGrp="1"/>
          </p:cNvSpPr>
          <p:nvPr>
            <p:ph type="body" sz="quarter" idx="11"/>
          </p:nvPr>
        </p:nvSpPr>
        <p:spPr/>
        <p:txBody>
          <a:bodyPr/>
          <a:lstStyle/>
          <a:p>
            <a:r>
              <a:rPr lang="en-US" altLang="ko-KR" dirty="0" err="1"/>
              <a:t>Bcg</a:t>
            </a:r>
            <a:r>
              <a:rPr lang="en-US" altLang="ko-KR" dirty="0"/>
              <a:t>-unresponsive NMIBC: High-value Target</a:t>
            </a:r>
            <a:endParaRPr lang="ko-KR" altLang="en-US" dirty="0"/>
          </a:p>
        </p:txBody>
      </p:sp>
      <p:sp>
        <p:nvSpPr>
          <p:cNvPr id="3" name="텍스트 개체 틀 2">
            <a:extLst>
              <a:ext uri="{FF2B5EF4-FFF2-40B4-BE49-F238E27FC236}">
                <a16:creationId xmlns:a16="http://schemas.microsoft.com/office/drawing/2014/main" id="{C4452ABD-7884-8B0B-6A5A-81B0EA1F7995}"/>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C5F70A6-C364-A868-F7EC-A38F6309C121}"/>
              </a:ext>
            </a:extLst>
          </p:cNvPr>
          <p:cNvSpPr>
            <a:spLocks noGrp="1"/>
          </p:cNvSpPr>
          <p:nvPr>
            <p:ph type="sldNum" sz="quarter" idx="13"/>
          </p:nvPr>
        </p:nvSpPr>
        <p:spPr/>
        <p:txBody>
          <a:bodyPr/>
          <a:lstStyle/>
          <a:p>
            <a:fld id="{C053318C-A610-4AA5-9FF7-26630BAA1E31}" type="slidenum">
              <a:rPr lang="en-US" altLang="ko-KR" smtClean="0"/>
              <a:pPr/>
              <a:t>15</a:t>
            </a:fld>
            <a:endParaRPr lang="en-US" dirty="0"/>
          </a:p>
        </p:txBody>
      </p:sp>
      <p:sp>
        <p:nvSpPr>
          <p:cNvPr id="8" name="TextBox 7">
            <a:extLst>
              <a:ext uri="{FF2B5EF4-FFF2-40B4-BE49-F238E27FC236}">
                <a16:creationId xmlns:a16="http://schemas.microsoft.com/office/drawing/2014/main" id="{37851A79-F6DB-F9B7-96D3-CB0C71CA14DD}"/>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Bladder-sparing demand remains urgent post-BCG failure, with recent approvals validating novel modalities and setting pricing/valuation benchmarks for oncolytic and RNAi programs.</a:t>
            </a:r>
            <a:endParaRPr lang="ko-KR" altLang="en-US" sz="1400" b="1" dirty="0">
              <a:solidFill>
                <a:srgbClr val="3D3D3D"/>
              </a:solidFill>
            </a:endParaRPr>
          </a:p>
        </p:txBody>
      </p:sp>
      <p:sp>
        <p:nvSpPr>
          <p:cNvPr id="11" name="직사각형 10">
            <a:extLst>
              <a:ext uri="{FF2B5EF4-FFF2-40B4-BE49-F238E27FC236}">
                <a16:creationId xmlns:a16="http://schemas.microsoft.com/office/drawing/2014/main" id="{E5E328C0-655E-E7B0-BC57-39AB5FC346BB}"/>
              </a:ext>
            </a:extLst>
          </p:cNvPr>
          <p:cNvSpPr/>
          <p:nvPr/>
        </p:nvSpPr>
        <p:spPr>
          <a:xfrm>
            <a:off x="453000" y="1700213"/>
            <a:ext cx="288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NMIBC Market Outlook</a:t>
            </a:r>
            <a:endParaRPr lang="ko-KR" altLang="en-US" sz="1200" b="1" dirty="0">
              <a:solidFill>
                <a:schemeClr val="bg1"/>
              </a:solidFill>
            </a:endParaRPr>
          </a:p>
        </p:txBody>
      </p:sp>
      <p:sp>
        <p:nvSpPr>
          <p:cNvPr id="12" name="직사각형 11">
            <a:extLst>
              <a:ext uri="{FF2B5EF4-FFF2-40B4-BE49-F238E27FC236}">
                <a16:creationId xmlns:a16="http://schemas.microsoft.com/office/drawing/2014/main" id="{0AE5ABBE-B1AF-AE02-A51E-8B2274684836}"/>
              </a:ext>
            </a:extLst>
          </p:cNvPr>
          <p:cNvSpPr/>
          <p:nvPr/>
        </p:nvSpPr>
        <p:spPr>
          <a:xfrm>
            <a:off x="3513000" y="1700213"/>
            <a:ext cx="594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NMIBC Market Overview</a:t>
            </a:r>
            <a:endParaRPr lang="ko-KR" altLang="en-US" sz="1200" b="1" dirty="0">
              <a:solidFill>
                <a:schemeClr val="bg1"/>
              </a:solidFill>
            </a:endParaRPr>
          </a:p>
        </p:txBody>
      </p:sp>
      <p:graphicFrame>
        <p:nvGraphicFramePr>
          <p:cNvPr id="13" name="표 12">
            <a:extLst>
              <a:ext uri="{FF2B5EF4-FFF2-40B4-BE49-F238E27FC236}">
                <a16:creationId xmlns:a16="http://schemas.microsoft.com/office/drawing/2014/main" id="{0C91243E-271A-11AD-3991-E84CE63BCF41}"/>
              </a:ext>
            </a:extLst>
          </p:cNvPr>
          <p:cNvGraphicFramePr>
            <a:graphicFrameLocks noGrp="1"/>
          </p:cNvGraphicFramePr>
          <p:nvPr>
            <p:extLst>
              <p:ext uri="{D42A27DB-BD31-4B8C-83A1-F6EECF244321}">
                <p14:modId xmlns:p14="http://schemas.microsoft.com/office/powerpoint/2010/main" val="526615420"/>
              </p:ext>
            </p:extLst>
          </p:nvPr>
        </p:nvGraphicFramePr>
        <p:xfrm>
          <a:off x="3513000" y="2168525"/>
          <a:ext cx="5940000" cy="3150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1566434891"/>
                    </a:ext>
                  </a:extLst>
                </a:gridCol>
                <a:gridCol w="4860000">
                  <a:extLst>
                    <a:ext uri="{9D8B030D-6E8A-4147-A177-3AD203B41FA5}">
                      <a16:colId xmlns:a16="http://schemas.microsoft.com/office/drawing/2014/main" val="1211137184"/>
                    </a:ext>
                  </a:extLst>
                </a:gridCol>
              </a:tblGrid>
              <a:tr h="360000">
                <a:tc>
                  <a:txBody>
                    <a:bodyPr/>
                    <a:lstStyle/>
                    <a:p>
                      <a:pPr latinLnBrk="1"/>
                      <a:r>
                        <a:rPr lang="en-US" altLang="ko-KR" sz="1000" dirty="0">
                          <a:solidFill>
                            <a:srgbClr val="3D3D3D"/>
                          </a:solidFill>
                        </a:rPr>
                        <a:t>Category</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Key Points</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9162181"/>
                  </a:ext>
                </a:extLst>
              </a:tr>
              <a:tr h="558000">
                <a:tc>
                  <a:txBody>
                    <a:bodyPr/>
                    <a:lstStyle/>
                    <a:p>
                      <a:pPr latinLnBrk="1"/>
                      <a:r>
                        <a:rPr lang="en-US" altLang="ko-KR" sz="1000" b="1" dirty="0">
                          <a:solidFill>
                            <a:srgbClr val="11244A"/>
                          </a:solidFill>
                        </a:rPr>
                        <a:t>Patient need</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
                      </a:pPr>
                      <a:r>
                        <a:rPr lang="en-US" altLang="ko-KR" sz="1000" dirty="0">
                          <a:solidFill>
                            <a:srgbClr val="3D3D3D"/>
                          </a:solidFill>
                        </a:rPr>
                        <a:t>High recurrence &amp; unmet after BCG failure</a:t>
                      </a:r>
                    </a:p>
                    <a:p>
                      <a:pPr marL="171450" indent="-171450" latinLnBrk="1">
                        <a:buFont typeface="Wingdings" panose="05000000000000000000" pitchFamily="2" charset="2"/>
                        <a:buChar char="§"/>
                      </a:pPr>
                      <a:r>
                        <a:rPr lang="en-US" altLang="ko-KR" sz="1000" dirty="0">
                          <a:solidFill>
                            <a:srgbClr val="3D3D3D"/>
                          </a:solidFill>
                        </a:rPr>
                        <a:t>Radical cystectomy often only remaining option</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16640"/>
                  </a:ext>
                </a:extLst>
              </a:tr>
              <a:tr h="558000">
                <a:tc>
                  <a:txBody>
                    <a:bodyPr/>
                    <a:lstStyle/>
                    <a:p>
                      <a:pPr latinLnBrk="1"/>
                      <a:r>
                        <a:rPr lang="en-US" altLang="ko-KR" sz="1000" b="1" dirty="0">
                          <a:solidFill>
                            <a:srgbClr val="11244A"/>
                          </a:solidFill>
                        </a:rPr>
                        <a:t>Market validation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err="1">
                          <a:solidFill>
                            <a:srgbClr val="3D3D3D"/>
                          </a:solidFill>
                        </a:rPr>
                        <a:t>Adstiladrin</a:t>
                      </a:r>
                      <a:r>
                        <a:rPr lang="en-US" altLang="ko-KR" sz="1000" dirty="0">
                          <a:solidFill>
                            <a:srgbClr val="3D3D3D"/>
                          </a:solidFill>
                        </a:rPr>
                        <a:t> (gen therapy) &amp; </a:t>
                      </a:r>
                      <a:r>
                        <a:rPr lang="en-US" altLang="ko-KR" sz="1000" dirty="0" err="1">
                          <a:solidFill>
                            <a:srgbClr val="3D3D3D"/>
                          </a:solidFill>
                        </a:rPr>
                        <a:t>Anktiva</a:t>
                      </a:r>
                      <a:r>
                        <a:rPr lang="en-US" altLang="ko-KR" sz="1000" dirty="0">
                          <a:solidFill>
                            <a:srgbClr val="3D3D3D"/>
                          </a:solidFill>
                        </a:rPr>
                        <a:t> approvals prove regulatory pathway</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Shift toward bladder-sparing therapeutics accelerating adoption</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345206"/>
                  </a:ext>
                </a:extLst>
              </a:tr>
              <a:tr h="558000">
                <a:tc>
                  <a:txBody>
                    <a:bodyPr/>
                    <a:lstStyle/>
                    <a:p>
                      <a:pPr latinLnBrk="1"/>
                      <a:r>
                        <a:rPr lang="en-US" altLang="ko-KR" sz="1000" b="1" dirty="0">
                          <a:solidFill>
                            <a:srgbClr val="11244A"/>
                          </a:solidFill>
                        </a:rPr>
                        <a:t>Pricing &amp; value benchmarks</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Premium pricing &amp; reimbursement favorable for innovative biologics</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CG Oncology &gt;$2B valuation driven by oncolytic virus data</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9270702"/>
                  </a:ext>
                </a:extLst>
              </a:tr>
              <a:tr h="558000">
                <a:tc>
                  <a:txBody>
                    <a:bodyPr/>
                    <a:lstStyle/>
                    <a:p>
                      <a:pPr latinLnBrk="1"/>
                      <a:r>
                        <a:rPr lang="en-US" altLang="ko-KR" sz="1000" b="1" dirty="0">
                          <a:solidFill>
                            <a:srgbClr val="11244A"/>
                          </a:solidFill>
                        </a:rPr>
                        <a:t>Competitive direction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Oncolytic, viral &amp; immunotherapy programs leading wave</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Limited players with differentiated mechanisms</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091063"/>
                  </a:ext>
                </a:extLst>
              </a:tr>
              <a:tr h="558000">
                <a:tc>
                  <a:txBody>
                    <a:bodyPr/>
                    <a:lstStyle/>
                    <a:p>
                      <a:pPr latinLnBrk="1"/>
                      <a:r>
                        <a:rPr lang="en-US" altLang="ko-KR" sz="1000" b="1" dirty="0">
                          <a:solidFill>
                            <a:srgbClr val="11244A"/>
                          </a:solidFill>
                        </a:rPr>
                        <a:t>Strategic implication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CA102 aligned with high-value modality trend</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Licensing and partnership potential strong if early data signals succeed</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4852839"/>
                  </a:ext>
                </a:extLst>
              </a:tr>
            </a:tbl>
          </a:graphicData>
        </a:graphic>
      </p:graphicFrame>
      <p:graphicFrame>
        <p:nvGraphicFramePr>
          <p:cNvPr id="14" name="차트 13">
            <a:extLst>
              <a:ext uri="{FF2B5EF4-FFF2-40B4-BE49-F238E27FC236}">
                <a16:creationId xmlns:a16="http://schemas.microsoft.com/office/drawing/2014/main" id="{04B614B4-FC5E-4A7C-504D-027F2F26EEEC}"/>
              </a:ext>
            </a:extLst>
          </p:cNvPr>
          <p:cNvGraphicFramePr/>
          <p:nvPr>
            <p:extLst>
              <p:ext uri="{D42A27DB-BD31-4B8C-83A1-F6EECF244321}">
                <p14:modId xmlns:p14="http://schemas.microsoft.com/office/powerpoint/2010/main" val="3556808307"/>
              </p:ext>
            </p:extLst>
          </p:nvPr>
        </p:nvGraphicFramePr>
        <p:xfrm>
          <a:off x="453000" y="2159393"/>
          <a:ext cx="2880000" cy="324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5" name="연결선: 꺾임 14">
            <a:extLst>
              <a:ext uri="{FF2B5EF4-FFF2-40B4-BE49-F238E27FC236}">
                <a16:creationId xmlns:a16="http://schemas.microsoft.com/office/drawing/2014/main" id="{C593B7E6-3B4E-1636-047D-E4F258DCFEB9}"/>
              </a:ext>
            </a:extLst>
          </p:cNvPr>
          <p:cNvCxnSpPr>
            <a:cxnSpLocks/>
          </p:cNvCxnSpPr>
          <p:nvPr/>
        </p:nvCxnSpPr>
        <p:spPr>
          <a:xfrm rot="5400000" flipH="1" flipV="1">
            <a:off x="1305704" y="2350832"/>
            <a:ext cx="864000" cy="957341"/>
          </a:xfrm>
          <a:prstGeom prst="bentConnector2">
            <a:avLst/>
          </a:prstGeom>
          <a:ln w="6350">
            <a:solidFill>
              <a:srgbClr val="539DFF"/>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57E7C4C-D01F-C91F-1D5F-0A2CCF21F42E}"/>
              </a:ext>
            </a:extLst>
          </p:cNvPr>
          <p:cNvSpPr txBox="1"/>
          <p:nvPr/>
        </p:nvSpPr>
        <p:spPr>
          <a:xfrm>
            <a:off x="1444354" y="2453063"/>
            <a:ext cx="636393" cy="142283"/>
          </a:xfrm>
          <a:prstGeom prst="rect">
            <a:avLst/>
          </a:prstGeom>
          <a:noFill/>
        </p:spPr>
        <p:txBody>
          <a:bodyPr wrap="none" lIns="0" tIns="0" rIns="0" bIns="0" rtlCol="0">
            <a:spAutoFit/>
          </a:bodyPr>
          <a:lstStyle/>
          <a:p>
            <a:pPr algn="l">
              <a:lnSpc>
                <a:spcPct val="110000"/>
              </a:lnSpc>
            </a:pPr>
            <a:r>
              <a:rPr lang="en-US" altLang="ko-KR" sz="900" b="1" dirty="0">
                <a:solidFill>
                  <a:srgbClr val="539DFF"/>
                </a:solidFill>
              </a:rPr>
              <a:t>CAGR 5.2%</a:t>
            </a:r>
            <a:endParaRPr lang="ko-KR" altLang="en-US" sz="900" b="1" dirty="0">
              <a:solidFill>
                <a:srgbClr val="539DFF"/>
              </a:solidFill>
            </a:endParaRPr>
          </a:p>
        </p:txBody>
      </p:sp>
    </p:spTree>
    <p:extLst>
      <p:ext uri="{BB962C8B-B14F-4D97-AF65-F5344CB8AC3E}">
        <p14:creationId xmlns:p14="http://schemas.microsoft.com/office/powerpoint/2010/main" val="2028267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0FB4E-824D-8879-A910-33403630B69F}"/>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C3E223E-D2B9-4816-7050-9E25AA39AE5A}"/>
              </a:ext>
            </a:extLst>
          </p:cNvPr>
          <p:cNvSpPr>
            <a:spLocks noGrp="1"/>
          </p:cNvSpPr>
          <p:nvPr>
            <p:ph type="body" sz="quarter" idx="11"/>
          </p:nvPr>
        </p:nvSpPr>
        <p:spPr/>
        <p:txBody>
          <a:bodyPr/>
          <a:lstStyle/>
          <a:p>
            <a:r>
              <a:rPr lang="en-US" altLang="ko-KR" cap="none" spc="-30" dirty="0"/>
              <a:t>si</a:t>
            </a:r>
            <a:r>
              <a:rPr lang="en-US" altLang="ko-KR" spc="-30" dirty="0"/>
              <a:t>RNA Therapeutics: Toward multi-target platforms</a:t>
            </a:r>
            <a:endParaRPr lang="ko-KR" altLang="en-US" spc="-30" dirty="0"/>
          </a:p>
        </p:txBody>
      </p:sp>
      <p:sp>
        <p:nvSpPr>
          <p:cNvPr id="3" name="텍스트 개체 틀 2">
            <a:extLst>
              <a:ext uri="{FF2B5EF4-FFF2-40B4-BE49-F238E27FC236}">
                <a16:creationId xmlns:a16="http://schemas.microsoft.com/office/drawing/2014/main" id="{D2A00E25-9765-73DB-7CD5-DE020888D4F7}"/>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2B2249F-63F7-2F36-F08B-C081A39F3BC8}"/>
              </a:ext>
            </a:extLst>
          </p:cNvPr>
          <p:cNvSpPr>
            <a:spLocks noGrp="1"/>
          </p:cNvSpPr>
          <p:nvPr>
            <p:ph type="sldNum" sz="quarter" idx="13"/>
          </p:nvPr>
        </p:nvSpPr>
        <p:spPr/>
        <p:txBody>
          <a:bodyPr/>
          <a:lstStyle/>
          <a:p>
            <a:fld id="{C053318C-A610-4AA5-9FF7-26630BAA1E31}" type="slidenum">
              <a:rPr lang="en-US" altLang="ko-KR" smtClean="0"/>
              <a:pPr/>
              <a:t>16</a:t>
            </a:fld>
            <a:endParaRPr lang="en-US" dirty="0"/>
          </a:p>
        </p:txBody>
      </p:sp>
      <p:sp>
        <p:nvSpPr>
          <p:cNvPr id="8" name="TextBox 7">
            <a:extLst>
              <a:ext uri="{FF2B5EF4-FFF2-40B4-BE49-F238E27FC236}">
                <a16:creationId xmlns:a16="http://schemas.microsoft.com/office/drawing/2014/main" id="{BFA6B724-6D80-B08E-F88E-21422EE544D8}"/>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RNAi adoption is expanding beyond rare liver disease into oncology and immunology, with multi-target platforms driving the next wave of value creation.</a:t>
            </a:r>
            <a:endParaRPr lang="ko-KR" altLang="en-US" sz="1400" b="1" dirty="0">
              <a:solidFill>
                <a:srgbClr val="3D3D3D"/>
              </a:solidFill>
            </a:endParaRPr>
          </a:p>
        </p:txBody>
      </p:sp>
      <p:sp>
        <p:nvSpPr>
          <p:cNvPr id="11" name="직사각형 10">
            <a:extLst>
              <a:ext uri="{FF2B5EF4-FFF2-40B4-BE49-F238E27FC236}">
                <a16:creationId xmlns:a16="http://schemas.microsoft.com/office/drawing/2014/main" id="{7CB13A7E-19DD-70A0-6568-E56C32A83FFD}"/>
              </a:ext>
            </a:extLst>
          </p:cNvPr>
          <p:cNvSpPr/>
          <p:nvPr/>
        </p:nvSpPr>
        <p:spPr>
          <a:xfrm>
            <a:off x="453000" y="1700213"/>
            <a:ext cx="288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siRNA Market Outlook</a:t>
            </a:r>
            <a:endParaRPr lang="ko-KR" altLang="en-US" sz="1200" b="1" dirty="0">
              <a:solidFill>
                <a:schemeClr val="bg1"/>
              </a:solidFill>
            </a:endParaRPr>
          </a:p>
        </p:txBody>
      </p:sp>
      <p:sp>
        <p:nvSpPr>
          <p:cNvPr id="12" name="직사각형 11">
            <a:extLst>
              <a:ext uri="{FF2B5EF4-FFF2-40B4-BE49-F238E27FC236}">
                <a16:creationId xmlns:a16="http://schemas.microsoft.com/office/drawing/2014/main" id="{BDE5DDD8-A1FF-8306-47B8-5B47B636DA5D}"/>
              </a:ext>
            </a:extLst>
          </p:cNvPr>
          <p:cNvSpPr/>
          <p:nvPr/>
        </p:nvSpPr>
        <p:spPr>
          <a:xfrm>
            <a:off x="3513000" y="1700213"/>
            <a:ext cx="5940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siRNA Market Overview</a:t>
            </a:r>
            <a:endParaRPr lang="ko-KR" altLang="en-US" sz="1200" b="1" dirty="0">
              <a:solidFill>
                <a:schemeClr val="bg1"/>
              </a:solidFill>
            </a:endParaRPr>
          </a:p>
        </p:txBody>
      </p:sp>
      <p:graphicFrame>
        <p:nvGraphicFramePr>
          <p:cNvPr id="13" name="표 12">
            <a:extLst>
              <a:ext uri="{FF2B5EF4-FFF2-40B4-BE49-F238E27FC236}">
                <a16:creationId xmlns:a16="http://schemas.microsoft.com/office/drawing/2014/main" id="{A0506C92-054D-4A12-CEA9-C5498A238225}"/>
              </a:ext>
            </a:extLst>
          </p:cNvPr>
          <p:cNvGraphicFramePr>
            <a:graphicFrameLocks noGrp="1"/>
          </p:cNvGraphicFramePr>
          <p:nvPr>
            <p:extLst>
              <p:ext uri="{D42A27DB-BD31-4B8C-83A1-F6EECF244321}">
                <p14:modId xmlns:p14="http://schemas.microsoft.com/office/powerpoint/2010/main" val="1738659041"/>
              </p:ext>
            </p:extLst>
          </p:nvPr>
        </p:nvGraphicFramePr>
        <p:xfrm>
          <a:off x="3513000" y="2168525"/>
          <a:ext cx="5940000" cy="3168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1566434891"/>
                    </a:ext>
                  </a:extLst>
                </a:gridCol>
                <a:gridCol w="4860000">
                  <a:extLst>
                    <a:ext uri="{9D8B030D-6E8A-4147-A177-3AD203B41FA5}">
                      <a16:colId xmlns:a16="http://schemas.microsoft.com/office/drawing/2014/main" val="1211137184"/>
                    </a:ext>
                  </a:extLst>
                </a:gridCol>
              </a:tblGrid>
              <a:tr h="360000">
                <a:tc>
                  <a:txBody>
                    <a:bodyPr/>
                    <a:lstStyle/>
                    <a:p>
                      <a:pPr latinLnBrk="1"/>
                      <a:r>
                        <a:rPr lang="en-US" altLang="ko-KR" sz="1000" dirty="0">
                          <a:solidFill>
                            <a:srgbClr val="3D3D3D"/>
                          </a:solidFill>
                        </a:rPr>
                        <a:t>Category</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dirty="0">
                          <a:solidFill>
                            <a:srgbClr val="3D3D3D"/>
                          </a:solidFill>
                        </a:rPr>
                        <a:t>Key Points</a:t>
                      </a:r>
                      <a:endParaRPr lang="ko-KR" altLang="en-US" sz="1000" dirty="0">
                        <a:solidFill>
                          <a:srgbClr val="3D3D3D"/>
                        </a:solidFill>
                      </a:endParaRP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9162181"/>
                  </a:ext>
                </a:extLst>
              </a:tr>
              <a:tr h="504000">
                <a:tc>
                  <a:txBody>
                    <a:bodyPr/>
                    <a:lstStyle/>
                    <a:p>
                      <a:pPr latinLnBrk="1"/>
                      <a:r>
                        <a:rPr lang="en-US" altLang="ko-KR" sz="1000" b="1" dirty="0">
                          <a:solidFill>
                            <a:srgbClr val="11244A"/>
                          </a:solidFill>
                        </a:rPr>
                        <a:t>Regulatory validation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buFont typeface="Wingdings" panose="05000000000000000000" pitchFamily="2" charset="2"/>
                        <a:buChar char="§"/>
                      </a:pPr>
                      <a:r>
                        <a:rPr lang="en-US" altLang="ko-KR" sz="1000" dirty="0">
                          <a:solidFill>
                            <a:srgbClr val="3D3D3D"/>
                          </a:solidFill>
                        </a:rPr>
                        <a:t>Multiple FDA approvals since 2018 de-risk siRNA as a therapeutic modality</a:t>
                      </a:r>
                    </a:p>
                    <a:p>
                      <a:pPr marL="171450" indent="-171450" latinLnBrk="1">
                        <a:buFont typeface="Wingdings" panose="05000000000000000000" pitchFamily="2" charset="2"/>
                        <a:buChar char="§"/>
                      </a:pPr>
                      <a:r>
                        <a:rPr lang="en-US" altLang="ko-KR" sz="1000" dirty="0">
                          <a:solidFill>
                            <a:srgbClr val="3D3D3D"/>
                          </a:solidFill>
                        </a:rPr>
                        <a:t>Durable responses support gene-silencing as a mainstream treatment option</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16640"/>
                  </a:ext>
                </a:extLst>
              </a:tr>
              <a:tr h="648000">
                <a:tc>
                  <a:txBody>
                    <a:bodyPr/>
                    <a:lstStyle/>
                    <a:p>
                      <a:pPr latinLnBrk="1"/>
                      <a:r>
                        <a:rPr lang="en-US" altLang="ko-KR" sz="1000" b="1" dirty="0">
                          <a:solidFill>
                            <a:srgbClr val="11244A"/>
                          </a:solidFill>
                        </a:rPr>
                        <a:t>Market expansion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Market projected to grow from $5.2B in 2024 to $13.6B by 2030</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Indications broadening from rare liver disease into cardiovascular, metabolic and oncology</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345206"/>
                  </a:ext>
                </a:extLst>
              </a:tr>
              <a:tr h="504000">
                <a:tc>
                  <a:txBody>
                    <a:bodyPr/>
                    <a:lstStyle/>
                    <a:p>
                      <a:pPr latinLnBrk="1"/>
                      <a:r>
                        <a:rPr lang="en-US" altLang="ko-KR" sz="1000" b="1" dirty="0">
                          <a:solidFill>
                            <a:srgbClr val="11244A"/>
                          </a:solidFill>
                        </a:rPr>
                        <a:t>Technology evolution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First-generation single-target siRNA exposed to resistance and safety limitations</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Rising demand for platforms that precisely control multiple genes in parallel</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9270702"/>
                  </a:ext>
                </a:extLst>
              </a:tr>
              <a:tr h="504000">
                <a:tc>
                  <a:txBody>
                    <a:bodyPr/>
                    <a:lstStyle/>
                    <a:p>
                      <a:pPr latinLnBrk="1"/>
                      <a:r>
                        <a:rPr lang="en-US" altLang="ko-KR" sz="1000" b="1" dirty="0">
                          <a:solidFill>
                            <a:srgbClr val="11244A"/>
                          </a:solidFill>
                        </a:rPr>
                        <a:t>Competitive dynamics</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Leading RNAi players building scalable platforms and delivery franchises</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Big pharma using partnerships and M&amp;A to secure next-gen multi-target assets</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091063"/>
                  </a:ext>
                </a:extLst>
              </a:tr>
              <a:tr h="648000">
                <a:tc>
                  <a:txBody>
                    <a:bodyPr/>
                    <a:lstStyle/>
                    <a:p>
                      <a:pPr latinLnBrk="1"/>
                      <a:r>
                        <a:rPr lang="en-US" altLang="ko-KR" sz="1000" b="1" dirty="0">
                          <a:solidFill>
                            <a:srgbClr val="11244A"/>
                          </a:solidFill>
                        </a:rPr>
                        <a:t>Strategic implication</a:t>
                      </a:r>
                      <a:endParaRPr lang="ko-KR" altLang="en-US" sz="1000" b="1" dirty="0">
                        <a:solidFill>
                          <a:srgbClr val="11244A"/>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err="1">
                          <a:solidFill>
                            <a:srgbClr val="3D3D3D"/>
                          </a:solidFill>
                        </a:rPr>
                        <a:t>Curigin’s</a:t>
                      </a:r>
                      <a:r>
                        <a:rPr lang="en-US" altLang="ko-KR" sz="1000" dirty="0">
                          <a:solidFill>
                            <a:srgbClr val="3D3D3D"/>
                          </a:solidFill>
                        </a:rPr>
                        <a:t> bispecific siRNA platform is aligned with the multi-target future of RNAi</a:t>
                      </a:r>
                    </a:p>
                    <a:p>
                      <a:pPr marL="171450" marR="0" lvl="0" indent="-171450" algn="l" defTabSz="914400" rtl="0" eaLnBrk="1" fontAlgn="auto" latinLnBrk="1" hangingPunct="1">
                        <a:lnSpc>
                          <a:spcPct val="100000"/>
                        </a:lnSpc>
                        <a:spcBef>
                          <a:spcPts val="0"/>
                        </a:spcBef>
                        <a:spcAft>
                          <a:spcPts val="0"/>
                        </a:spcAft>
                        <a:buClrTx/>
                        <a:buSzTx/>
                        <a:buFont typeface="Wingdings" panose="05000000000000000000" pitchFamily="2" charset="2"/>
                        <a:buChar char="§"/>
                        <a:tabLst/>
                        <a:defRPr/>
                      </a:pPr>
                      <a:r>
                        <a:rPr lang="en-US" altLang="ko-KR" sz="1000" dirty="0">
                          <a:solidFill>
                            <a:srgbClr val="3D3D3D"/>
                          </a:solidFill>
                        </a:rPr>
                        <a:t>CA102 positions NKTx for potential best- &amp; first-in-class programs and partnering value</a:t>
                      </a:r>
                      <a:endParaRPr lang="ko-KR" altLang="en-US" sz="1000" dirty="0">
                        <a:solidFill>
                          <a:srgbClr val="3D3D3D"/>
                        </a:solidFill>
                      </a:endParaRPr>
                    </a:p>
                  </a:txBody>
                  <a:tcPr marL="36000" marR="36000" marT="72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4852839"/>
                  </a:ext>
                </a:extLst>
              </a:tr>
            </a:tbl>
          </a:graphicData>
        </a:graphic>
      </p:graphicFrame>
      <p:graphicFrame>
        <p:nvGraphicFramePr>
          <p:cNvPr id="14" name="차트 13">
            <a:extLst>
              <a:ext uri="{FF2B5EF4-FFF2-40B4-BE49-F238E27FC236}">
                <a16:creationId xmlns:a16="http://schemas.microsoft.com/office/drawing/2014/main" id="{422C4094-B969-344C-56C7-DAAA976D2AE3}"/>
              </a:ext>
            </a:extLst>
          </p:cNvPr>
          <p:cNvGraphicFramePr/>
          <p:nvPr>
            <p:extLst>
              <p:ext uri="{D42A27DB-BD31-4B8C-83A1-F6EECF244321}">
                <p14:modId xmlns:p14="http://schemas.microsoft.com/office/powerpoint/2010/main" val="2118665668"/>
              </p:ext>
            </p:extLst>
          </p:nvPr>
        </p:nvGraphicFramePr>
        <p:xfrm>
          <a:off x="453000" y="2159393"/>
          <a:ext cx="2880000" cy="3240000"/>
        </p:xfrm>
        <a:graphic>
          <a:graphicData uri="http://schemas.openxmlformats.org/drawingml/2006/chart">
            <c:chart xmlns:c="http://schemas.openxmlformats.org/drawingml/2006/chart" xmlns:r="http://schemas.openxmlformats.org/officeDocument/2006/relationships" r:id="rId2"/>
          </a:graphicData>
        </a:graphic>
      </p:graphicFrame>
      <p:cxnSp>
        <p:nvCxnSpPr>
          <p:cNvPr id="15" name="연결선: 꺾임 14">
            <a:extLst>
              <a:ext uri="{FF2B5EF4-FFF2-40B4-BE49-F238E27FC236}">
                <a16:creationId xmlns:a16="http://schemas.microsoft.com/office/drawing/2014/main" id="{A37FAF7D-CD0E-4EFB-74A9-FDAF420BEB49}"/>
              </a:ext>
            </a:extLst>
          </p:cNvPr>
          <p:cNvCxnSpPr>
            <a:cxnSpLocks/>
          </p:cNvCxnSpPr>
          <p:nvPr/>
        </p:nvCxnSpPr>
        <p:spPr>
          <a:xfrm rot="5400000" flipH="1" flipV="1">
            <a:off x="1107705" y="2697603"/>
            <a:ext cx="1260000" cy="957341"/>
          </a:xfrm>
          <a:prstGeom prst="bentConnector2">
            <a:avLst/>
          </a:prstGeom>
          <a:ln w="6350">
            <a:solidFill>
              <a:srgbClr val="539DFF"/>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84C7395-467D-F271-CEE1-24C07CD885C2}"/>
              </a:ext>
            </a:extLst>
          </p:cNvPr>
          <p:cNvSpPr txBox="1"/>
          <p:nvPr/>
        </p:nvSpPr>
        <p:spPr>
          <a:xfrm>
            <a:off x="1444355" y="2601834"/>
            <a:ext cx="581891" cy="142283"/>
          </a:xfrm>
          <a:prstGeom prst="rect">
            <a:avLst/>
          </a:prstGeom>
          <a:noFill/>
        </p:spPr>
        <p:txBody>
          <a:bodyPr wrap="none" lIns="0" tIns="0" rIns="0" bIns="0" rtlCol="0">
            <a:spAutoFit/>
          </a:bodyPr>
          <a:lstStyle/>
          <a:p>
            <a:pPr algn="l">
              <a:lnSpc>
                <a:spcPct val="110000"/>
              </a:lnSpc>
            </a:pPr>
            <a:r>
              <a:rPr lang="en-US" altLang="ko-KR" sz="900" b="1" dirty="0">
                <a:solidFill>
                  <a:srgbClr val="539DFF"/>
                </a:solidFill>
              </a:rPr>
              <a:t>CAGR 17%</a:t>
            </a:r>
            <a:endParaRPr lang="ko-KR" altLang="en-US" sz="900" b="1" dirty="0">
              <a:solidFill>
                <a:srgbClr val="539DFF"/>
              </a:solidFill>
            </a:endParaRPr>
          </a:p>
        </p:txBody>
      </p:sp>
    </p:spTree>
    <p:extLst>
      <p:ext uri="{BB962C8B-B14F-4D97-AF65-F5344CB8AC3E}">
        <p14:creationId xmlns:p14="http://schemas.microsoft.com/office/powerpoint/2010/main" val="657425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790B-D3C6-1015-0235-242DD6866816}"/>
            </a:ext>
          </a:extLst>
        </p:cNvPr>
        <p:cNvGrpSpPr/>
        <p:nvPr/>
      </p:nvGrpSpPr>
      <p:grpSpPr>
        <a:xfrm>
          <a:off x="0" y="0"/>
          <a:ext cx="0" cy="0"/>
          <a:chOff x="0" y="0"/>
          <a:chExt cx="0" cy="0"/>
        </a:xfrm>
      </p:grpSpPr>
      <p:pic>
        <p:nvPicPr>
          <p:cNvPr id="9" name="그림 8" descr="현미경, 과학 기기, 광학 기기, 실내이(가) 표시된 사진&#10;&#10;AI 생성 콘텐츠는 정확하지 않을 수 있습니다.">
            <a:extLst>
              <a:ext uri="{FF2B5EF4-FFF2-40B4-BE49-F238E27FC236}">
                <a16:creationId xmlns:a16="http://schemas.microsoft.com/office/drawing/2014/main" id="{64EDF77C-DC8B-B9AF-791E-E5C4B9260B12}"/>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5" name="TextBox 4">
            <a:extLst>
              <a:ext uri="{FF2B5EF4-FFF2-40B4-BE49-F238E27FC236}">
                <a16:creationId xmlns:a16="http://schemas.microsoft.com/office/drawing/2014/main" id="{BAF4B894-F97D-7BFA-66C4-54EAA58BA5BD}"/>
              </a:ext>
            </a:extLst>
          </p:cNvPr>
          <p:cNvSpPr txBox="1"/>
          <p:nvPr/>
        </p:nvSpPr>
        <p:spPr>
          <a:xfrm>
            <a:off x="452438" y="1140037"/>
            <a:ext cx="3247684" cy="380938"/>
          </a:xfrm>
          <a:prstGeom prst="rect">
            <a:avLst/>
          </a:prstGeom>
          <a:noFill/>
        </p:spPr>
        <p:txBody>
          <a:bodyPr wrap="none" lIns="0" tIns="0" rIns="0" bIns="0" rtlCol="0">
            <a:spAutoFit/>
          </a:bodyPr>
          <a:lstStyle/>
          <a:p>
            <a:pPr algn="l">
              <a:lnSpc>
                <a:spcPct val="110000"/>
              </a:lnSpc>
            </a:pPr>
            <a:r>
              <a:rPr lang="en-US" altLang="ko-KR" sz="2400" dirty="0">
                <a:solidFill>
                  <a:schemeClr val="bg1"/>
                </a:solidFill>
                <a:latin typeface="+mj-lt"/>
                <a:ea typeface="+mj-ea"/>
              </a:rPr>
              <a:t>TABLE OF CONTENTS</a:t>
            </a:r>
            <a:endParaRPr lang="ko-KR" altLang="en-US" sz="2400" dirty="0">
              <a:solidFill>
                <a:schemeClr val="bg1"/>
              </a:solidFill>
              <a:latin typeface="+mj-lt"/>
              <a:ea typeface="+mj-ea"/>
            </a:endParaRPr>
          </a:p>
        </p:txBody>
      </p:sp>
      <p:sp>
        <p:nvSpPr>
          <p:cNvPr id="15" name="텍스트 개체 틀 3">
            <a:extLst>
              <a:ext uri="{FF2B5EF4-FFF2-40B4-BE49-F238E27FC236}">
                <a16:creationId xmlns:a16="http://schemas.microsoft.com/office/drawing/2014/main" id="{EEA71C0B-2B41-BE8D-618E-E202C37B287E}"/>
              </a:ext>
            </a:extLst>
          </p:cNvPr>
          <p:cNvSpPr txBox="1">
            <a:spLocks/>
          </p:cNvSpPr>
          <p:nvPr/>
        </p:nvSpPr>
        <p:spPr>
          <a:xfrm>
            <a:off x="452999" y="6174329"/>
            <a:ext cx="4499999" cy="134396"/>
          </a:xfrm>
          <a:prstGeom prst="rect">
            <a:avLst/>
          </a:prstGeom>
        </p:spPr>
        <p:txBody>
          <a:bodyPr wrap="square" lIns="0" tIns="0" rIns="0" bIns="0" anchor="b">
            <a:spAutoFit/>
          </a:bodyPr>
          <a:lstStyle>
            <a:lvl1pPr indent="0" defTabSz="914400" latinLnBrk="1">
              <a:lnSpc>
                <a:spcPts val="1100"/>
              </a:lnSpc>
              <a:spcBef>
                <a:spcPts val="0"/>
              </a:spcBef>
              <a:buFont typeface="Arial" panose="020B0604020202020204" pitchFamily="34" charset="0"/>
              <a:buNone/>
              <a:defRPr sz="1100" baseline="0">
                <a:solidFill>
                  <a:schemeClr val="bg1"/>
                </a:solidFill>
                <a:latin typeface="Outfit" pitchFamily="2"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800" dirty="0"/>
              <a:t>Strictly Private &amp; Confidential</a:t>
            </a:r>
            <a:endParaRPr lang="ko-KR" altLang="en-US" sz="800" dirty="0"/>
          </a:p>
        </p:txBody>
      </p:sp>
      <p:graphicFrame>
        <p:nvGraphicFramePr>
          <p:cNvPr id="6" name="표 5">
            <a:extLst>
              <a:ext uri="{FF2B5EF4-FFF2-40B4-BE49-F238E27FC236}">
                <a16:creationId xmlns:a16="http://schemas.microsoft.com/office/drawing/2014/main" id="{03FA3C48-7343-E816-5657-370BC3485C59}"/>
              </a:ext>
            </a:extLst>
          </p:cNvPr>
          <p:cNvGraphicFramePr>
            <a:graphicFrameLocks noGrp="1"/>
          </p:cNvGraphicFramePr>
          <p:nvPr>
            <p:extLst>
              <p:ext uri="{D42A27DB-BD31-4B8C-83A1-F6EECF244321}">
                <p14:modId xmlns:p14="http://schemas.microsoft.com/office/powerpoint/2010/main" val="3754536494"/>
              </p:ext>
            </p:extLst>
          </p:nvPr>
        </p:nvGraphicFramePr>
        <p:xfrm>
          <a:off x="344438" y="1880975"/>
          <a:ext cx="3528000" cy="3024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150886525"/>
                    </a:ext>
                  </a:extLst>
                </a:gridCol>
                <a:gridCol w="2988000">
                  <a:extLst>
                    <a:ext uri="{9D8B030D-6E8A-4147-A177-3AD203B41FA5}">
                      <a16:colId xmlns:a16="http://schemas.microsoft.com/office/drawing/2014/main" val="4148028095"/>
                    </a:ext>
                  </a:extLst>
                </a:gridCol>
              </a:tblGrid>
              <a:tr h="432000">
                <a:tc>
                  <a:txBody>
                    <a:bodyPr/>
                    <a:lstStyle/>
                    <a:p>
                      <a:pPr marL="0" algn="l" defTabSz="914400" rtl="0" eaLnBrk="1" latinLnBrk="1" hangingPunct="1"/>
                      <a:r>
                        <a:rPr lang="en-US" altLang="ko-KR" sz="1600" b="0" kern="1200" cap="none" baseline="0" dirty="0">
                          <a:solidFill>
                            <a:schemeClr val="bg1"/>
                          </a:solidFill>
                          <a:latin typeface="+mj-lt"/>
                          <a:ea typeface="+mj-ea"/>
                          <a:cs typeface="+mn-cs"/>
                        </a:rPr>
                        <a:t>01</a:t>
                      </a:r>
                      <a:endParaRPr lang="ko-KR" altLang="en-US" sz="1600" b="0" kern="1200" cap="none" baseline="0" dirty="0">
                        <a:solidFill>
                          <a:schemeClr val="bg1"/>
                        </a:solidFill>
                        <a:latin typeface="+mj-lt"/>
                        <a:ea typeface="+mj-ea"/>
                        <a:cs typeface="+mn-cs"/>
                      </a:endParaRPr>
                    </a:p>
                  </a:txBody>
                  <a:tcPr marL="10800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1" hangingPunct="1"/>
                      <a:r>
                        <a:rPr lang="en-US" altLang="ko-KR" sz="1600" b="0" kern="1200" cap="none" spc="-30" baseline="0" dirty="0">
                          <a:solidFill>
                            <a:schemeClr val="bg1"/>
                          </a:solidFill>
                          <a:latin typeface="+mj-lt"/>
                          <a:ea typeface="+mj-ea"/>
                          <a:cs typeface="+mn-cs"/>
                        </a:rPr>
                        <a:t>Executive Summary</a:t>
                      </a:r>
                      <a:endParaRPr lang="ko-KR" altLang="en-US" sz="1600" b="0" kern="1200" cap="none" spc="-30" baseline="0" dirty="0">
                        <a:solidFill>
                          <a:schemeClr val="bg1"/>
                        </a:solidFill>
                        <a:latin typeface="+mj-lt"/>
                        <a:ea typeface="+mj-ea"/>
                        <a:cs typeface="+mn-cs"/>
                      </a:endParaRPr>
                    </a:p>
                  </a:txBody>
                  <a:tcPr marL="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49133"/>
                  </a:ext>
                </a:extLst>
              </a:tr>
              <a:tr h="432000">
                <a:tc>
                  <a:txBody>
                    <a:bodyPr/>
                    <a:lstStyle/>
                    <a:p>
                      <a:pPr latinLnBrk="1"/>
                      <a:r>
                        <a:rPr lang="en-US" altLang="ko-KR" sz="1600" b="0" baseline="0" dirty="0">
                          <a:solidFill>
                            <a:schemeClr val="bg1"/>
                          </a:solidFill>
                          <a:latin typeface="+mj-lt"/>
                          <a:ea typeface="+mj-ea"/>
                        </a:rPr>
                        <a:t>02</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Investment Highlights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606132"/>
                  </a:ext>
                </a:extLst>
              </a:tr>
              <a:tr h="432000">
                <a:tc>
                  <a:txBody>
                    <a:bodyPr/>
                    <a:lstStyle/>
                    <a:p>
                      <a:pPr latinLnBrk="1"/>
                      <a:r>
                        <a:rPr lang="en-US" altLang="ko-KR" sz="1600" b="0" baseline="0" dirty="0">
                          <a:solidFill>
                            <a:schemeClr val="bg1"/>
                          </a:solidFill>
                          <a:latin typeface="+mj-lt"/>
                          <a:ea typeface="+mj-ea"/>
                        </a:rPr>
                        <a:t>03</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Market Landscape &amp; Outlook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492459"/>
                  </a:ext>
                </a:extLst>
              </a:tr>
              <a:tr h="432000">
                <a:tc>
                  <a:txBody>
                    <a:bodyPr/>
                    <a:lstStyle/>
                    <a:p>
                      <a:pPr latinLnBrk="1"/>
                      <a:r>
                        <a:rPr lang="en-US" altLang="ko-KR" sz="1600" b="0" baseline="0" dirty="0">
                          <a:solidFill>
                            <a:srgbClr val="11244A"/>
                          </a:solidFill>
                          <a:latin typeface="+mj-lt"/>
                          <a:ea typeface="+mj-ea"/>
                        </a:rPr>
                        <a:t>04</a:t>
                      </a:r>
                      <a:endParaRPr lang="ko-KR" altLang="en-US" sz="1600" b="0" baseline="0" dirty="0">
                        <a:solidFill>
                          <a:srgbClr val="11244A"/>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en-US" altLang="ko-KR" sz="1600" b="0" cap="all" spc="-30" baseline="0" dirty="0">
                          <a:solidFill>
                            <a:srgbClr val="11244A"/>
                          </a:solidFill>
                          <a:latin typeface="+mj-lt"/>
                          <a:ea typeface="+mj-ea"/>
                        </a:rPr>
                        <a:t>Pipeline &amp; Technology</a:t>
                      </a:r>
                      <a:endParaRPr lang="ko-KR" altLang="en-US" sz="1600" b="0" cap="all" spc="-30" baseline="0" dirty="0">
                        <a:solidFill>
                          <a:srgbClr val="11244A"/>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736481"/>
                  </a:ext>
                </a:extLst>
              </a:tr>
              <a:tr h="432000">
                <a:tc>
                  <a:txBody>
                    <a:bodyPr/>
                    <a:lstStyle/>
                    <a:p>
                      <a:pPr latinLnBrk="1"/>
                      <a:r>
                        <a:rPr lang="en-US" altLang="ko-KR" sz="1600" b="0" baseline="0" dirty="0">
                          <a:solidFill>
                            <a:schemeClr val="bg1"/>
                          </a:solidFill>
                          <a:latin typeface="+mj-lt"/>
                          <a:ea typeface="+mj-ea"/>
                        </a:rPr>
                        <a:t>05</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Valuation &amp; Benchmark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775710"/>
                  </a:ext>
                </a:extLst>
              </a:tr>
              <a:tr h="432000">
                <a:tc>
                  <a:txBody>
                    <a:bodyPr/>
                    <a:lstStyle/>
                    <a:p>
                      <a:pPr latinLnBrk="1"/>
                      <a:r>
                        <a:rPr lang="en-US" altLang="ko-KR" sz="1600" b="0" baseline="0" dirty="0">
                          <a:solidFill>
                            <a:schemeClr val="bg1"/>
                          </a:solidFill>
                          <a:latin typeface="+mj-lt"/>
                          <a:ea typeface="+mj-ea"/>
                        </a:rPr>
                        <a:t>06</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Exit Pathway &amp; Execution</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362669"/>
                  </a:ext>
                </a:extLst>
              </a:tr>
              <a:tr h="432000">
                <a:tc>
                  <a:txBody>
                    <a:bodyPr/>
                    <a:lstStyle/>
                    <a:p>
                      <a:pPr latinLnBrk="1"/>
                      <a:r>
                        <a:rPr lang="en-US" altLang="ko-KR" sz="1600" b="0" baseline="0" dirty="0">
                          <a:solidFill>
                            <a:schemeClr val="bg1"/>
                          </a:solidFill>
                          <a:latin typeface="+mj-lt"/>
                          <a:ea typeface="+mj-ea"/>
                        </a:rPr>
                        <a:t>07</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Key Investment Terms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39227777"/>
                  </a:ext>
                </a:extLst>
              </a:tr>
            </a:tbl>
          </a:graphicData>
        </a:graphic>
      </p:graphicFrame>
      <p:pic>
        <p:nvPicPr>
          <p:cNvPr id="2" name="그래픽 1">
            <a:extLst>
              <a:ext uri="{FF2B5EF4-FFF2-40B4-BE49-F238E27FC236}">
                <a16:creationId xmlns:a16="http://schemas.microsoft.com/office/drawing/2014/main" id="{4C6DCE31-8EAB-3332-E592-5383B0E401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2999" y="549275"/>
            <a:ext cx="1353293" cy="180000"/>
          </a:xfrm>
          <a:prstGeom prst="rect">
            <a:avLst/>
          </a:prstGeom>
        </p:spPr>
      </p:pic>
    </p:spTree>
    <p:extLst>
      <p:ext uri="{BB962C8B-B14F-4D97-AF65-F5344CB8AC3E}">
        <p14:creationId xmlns:p14="http://schemas.microsoft.com/office/powerpoint/2010/main" val="118597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F6EB2-75FF-309D-45B5-129931929E62}"/>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55385F28-B30C-C0B1-87B4-9B87562288D3}"/>
              </a:ext>
            </a:extLst>
          </p:cNvPr>
          <p:cNvSpPr>
            <a:spLocks noGrp="1"/>
          </p:cNvSpPr>
          <p:nvPr>
            <p:ph type="body" sz="quarter" idx="11"/>
          </p:nvPr>
        </p:nvSpPr>
        <p:spPr/>
        <p:txBody>
          <a:bodyPr/>
          <a:lstStyle/>
          <a:p>
            <a:r>
              <a:rPr lang="en-US" altLang="ko-KR" dirty="0"/>
              <a:t>Future Medicine Overview</a:t>
            </a:r>
            <a:endParaRPr lang="ko-KR" altLang="en-US" dirty="0"/>
          </a:p>
        </p:txBody>
      </p:sp>
      <p:sp>
        <p:nvSpPr>
          <p:cNvPr id="3" name="텍스트 개체 틀 2">
            <a:extLst>
              <a:ext uri="{FF2B5EF4-FFF2-40B4-BE49-F238E27FC236}">
                <a16:creationId xmlns:a16="http://schemas.microsoft.com/office/drawing/2014/main" id="{5E147CC7-16C0-5A34-37E8-78EE9BF10EB5}"/>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9E4AF7F-E6E9-A665-060E-F8F3E55568D9}"/>
              </a:ext>
            </a:extLst>
          </p:cNvPr>
          <p:cNvSpPr>
            <a:spLocks noGrp="1"/>
          </p:cNvSpPr>
          <p:nvPr>
            <p:ph type="sldNum" sz="quarter" idx="13"/>
          </p:nvPr>
        </p:nvSpPr>
        <p:spPr/>
        <p:txBody>
          <a:bodyPr/>
          <a:lstStyle/>
          <a:p>
            <a:fld id="{C053318C-A610-4AA5-9FF7-26630BAA1E31}" type="slidenum">
              <a:rPr lang="en-US" altLang="ko-KR" smtClean="0"/>
              <a:pPr/>
              <a:t>18</a:t>
            </a:fld>
            <a:endParaRPr lang="en-US" dirty="0"/>
          </a:p>
        </p:txBody>
      </p:sp>
      <p:sp>
        <p:nvSpPr>
          <p:cNvPr id="8" name="TextBox 7">
            <a:extLst>
              <a:ext uri="{FF2B5EF4-FFF2-40B4-BE49-F238E27FC236}">
                <a16:creationId xmlns:a16="http://schemas.microsoft.com/office/drawing/2014/main" id="{282F19C2-0947-3613-C6E8-655DE73A2A7E}"/>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Future Medicine is a nucleoside-based drug developer with clinically proven efficacy signals in MASH, with pipeline expansion into obesity, oncology and immunology.</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6E2B1F7D-40B1-08A3-558C-14B74D08DC33}"/>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Company Snapshot</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54DF2340-8A01-13CA-DBC2-14FAA7FC8D0D}"/>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Strategic Relevance for NKTx</a:t>
            </a:r>
            <a:endParaRPr lang="ko-KR" altLang="en-US" sz="1200" b="1" dirty="0">
              <a:solidFill>
                <a:schemeClr val="bg1"/>
              </a:solidFill>
            </a:endParaRPr>
          </a:p>
        </p:txBody>
      </p:sp>
      <p:sp>
        <p:nvSpPr>
          <p:cNvPr id="11" name="직사각형 10">
            <a:extLst>
              <a:ext uri="{FF2B5EF4-FFF2-40B4-BE49-F238E27FC236}">
                <a16:creationId xmlns:a16="http://schemas.microsoft.com/office/drawing/2014/main" id="{3211E4EE-9BE2-C93E-E67D-E6903625C991}"/>
              </a:ext>
            </a:extLst>
          </p:cNvPr>
          <p:cNvSpPr/>
          <p:nvPr/>
        </p:nvSpPr>
        <p:spPr>
          <a:xfrm>
            <a:off x="453000" y="3572524"/>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Core Asset Pipeline</a:t>
            </a:r>
            <a:endParaRPr lang="ko-KR" altLang="en-US" sz="1200" b="1" dirty="0">
              <a:solidFill>
                <a:schemeClr val="bg1"/>
              </a:solidFill>
            </a:endParaRPr>
          </a:p>
        </p:txBody>
      </p:sp>
      <p:graphicFrame>
        <p:nvGraphicFramePr>
          <p:cNvPr id="13" name="표 12">
            <a:extLst>
              <a:ext uri="{FF2B5EF4-FFF2-40B4-BE49-F238E27FC236}">
                <a16:creationId xmlns:a16="http://schemas.microsoft.com/office/drawing/2014/main" id="{C43AEF41-AD3C-EE0E-D560-7B444F2A9A20}"/>
              </a:ext>
            </a:extLst>
          </p:cNvPr>
          <p:cNvGraphicFramePr>
            <a:graphicFrameLocks noGrp="1"/>
          </p:cNvGraphicFramePr>
          <p:nvPr>
            <p:extLst>
              <p:ext uri="{D42A27DB-BD31-4B8C-83A1-F6EECF244321}">
                <p14:modId xmlns:p14="http://schemas.microsoft.com/office/powerpoint/2010/main" val="1218823982"/>
              </p:ext>
            </p:extLst>
          </p:nvPr>
        </p:nvGraphicFramePr>
        <p:xfrm>
          <a:off x="453000" y="4005262"/>
          <a:ext cx="9000000" cy="1440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642905345"/>
                    </a:ext>
                  </a:extLst>
                </a:gridCol>
                <a:gridCol w="2160000">
                  <a:extLst>
                    <a:ext uri="{9D8B030D-6E8A-4147-A177-3AD203B41FA5}">
                      <a16:colId xmlns:a16="http://schemas.microsoft.com/office/drawing/2014/main" val="4274646455"/>
                    </a:ext>
                  </a:extLst>
                </a:gridCol>
                <a:gridCol w="2160000">
                  <a:extLst>
                    <a:ext uri="{9D8B030D-6E8A-4147-A177-3AD203B41FA5}">
                      <a16:colId xmlns:a16="http://schemas.microsoft.com/office/drawing/2014/main" val="1515685662"/>
                    </a:ext>
                  </a:extLst>
                </a:gridCol>
                <a:gridCol w="3600000">
                  <a:extLst>
                    <a:ext uri="{9D8B030D-6E8A-4147-A177-3AD203B41FA5}">
                      <a16:colId xmlns:a16="http://schemas.microsoft.com/office/drawing/2014/main" val="4135788619"/>
                    </a:ext>
                  </a:extLst>
                </a:gridCol>
              </a:tblGrid>
              <a:tr h="288000">
                <a:tc>
                  <a:txBody>
                    <a:bodyPr/>
                    <a:lstStyle/>
                    <a:p>
                      <a:pPr latinLnBrk="1"/>
                      <a:r>
                        <a:rPr lang="en-US" altLang="ko-KR" sz="1000" b="1" dirty="0">
                          <a:solidFill>
                            <a:srgbClr val="3D3D3D"/>
                          </a:solidFill>
                        </a:rPr>
                        <a:t>Asset</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Indication</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Stage</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Value angle</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28875"/>
                  </a:ext>
                </a:extLst>
              </a:tr>
              <a:tr h="288000">
                <a:tc>
                  <a:txBody>
                    <a:bodyPr/>
                    <a:lstStyle/>
                    <a:p>
                      <a:pPr latinLnBrk="1"/>
                      <a:r>
                        <a:rPr lang="en-US" altLang="ko-KR" sz="1000" b="1" dirty="0">
                          <a:solidFill>
                            <a:srgbClr val="11244A"/>
                          </a:solidFill>
                        </a:rPr>
                        <a:t>FM101</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MASH / Glaucoma</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Phase 2a complete / IND Phase 2</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Clinically validated lead asset driving near-term value</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7219096"/>
                  </a:ext>
                </a:extLst>
              </a:tr>
              <a:tr h="288000">
                <a:tc>
                  <a:txBody>
                    <a:bodyPr/>
                    <a:lstStyle/>
                    <a:p>
                      <a:pPr latinLnBrk="1"/>
                      <a:r>
                        <a:rPr lang="en-US" altLang="ko-KR" sz="1000" b="1" dirty="0">
                          <a:solidFill>
                            <a:srgbClr val="11244A"/>
                          </a:solidFill>
                        </a:rPr>
                        <a:t>FM801</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Obesity / Metabolic</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Pre-clinical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Strategic entry into the obesity / GLP-1 aligned market</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2685176"/>
                  </a:ext>
                </a:extLst>
              </a:tr>
              <a:tr h="288000">
                <a:tc>
                  <a:txBody>
                    <a:bodyPr/>
                    <a:lstStyle/>
                    <a:p>
                      <a:pPr latinLnBrk="1"/>
                      <a:r>
                        <a:rPr lang="en-US" altLang="ko-KR" sz="1000" b="1" dirty="0">
                          <a:solidFill>
                            <a:srgbClr val="11244A"/>
                          </a:solidFill>
                        </a:rPr>
                        <a:t>FM301</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Oncology (HASPIN)</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Pre-clinical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Oncology expansion via HASPIN-targeted program</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4981289"/>
                  </a:ext>
                </a:extLst>
              </a:tr>
              <a:tr h="288000">
                <a:tc>
                  <a:txBody>
                    <a:bodyPr/>
                    <a:lstStyle/>
                    <a:p>
                      <a:pPr latinLnBrk="1"/>
                      <a:r>
                        <a:rPr lang="en-US" altLang="ko-KR" sz="1000" b="1" dirty="0">
                          <a:solidFill>
                            <a:srgbClr val="11244A"/>
                          </a:solidFill>
                        </a:rPr>
                        <a:t>FM2L</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Influenza</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Early pre-clinical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Antiviral platform-broadening program</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852138"/>
                  </a:ext>
                </a:extLst>
              </a:tr>
            </a:tbl>
          </a:graphicData>
        </a:graphic>
      </p:graphicFrame>
      <p:sp>
        <p:nvSpPr>
          <p:cNvPr id="14" name="TextBox 13">
            <a:extLst>
              <a:ext uri="{FF2B5EF4-FFF2-40B4-BE49-F238E27FC236}">
                <a16:creationId xmlns:a16="http://schemas.microsoft.com/office/drawing/2014/main" id="{CA049048-6F59-1053-5A3D-34BE3219FE96}"/>
              </a:ext>
            </a:extLst>
          </p:cNvPr>
          <p:cNvSpPr txBox="1"/>
          <p:nvPr/>
        </p:nvSpPr>
        <p:spPr>
          <a:xfrm>
            <a:off x="453000" y="2168525"/>
            <a:ext cx="4391999" cy="1142942"/>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Founded 2015, platform focused on </a:t>
            </a:r>
            <a:r>
              <a:rPr lang="en-US" altLang="ko-KR" sz="1000" b="1" dirty="0">
                <a:solidFill>
                  <a:srgbClr val="11244A"/>
                </a:solidFill>
              </a:rPr>
              <a:t>A3 Adenosine Receptor modulation</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FM101</a:t>
            </a:r>
            <a:r>
              <a:rPr lang="en-US" altLang="ko-KR" sz="1000" dirty="0">
                <a:solidFill>
                  <a:srgbClr val="3D3D3D"/>
                </a:solidFill>
              </a:rPr>
              <a:t> achieved </a:t>
            </a:r>
            <a:r>
              <a:rPr lang="en-US" altLang="ko-KR" sz="1000" b="1" dirty="0">
                <a:solidFill>
                  <a:srgbClr val="11244A"/>
                </a:solidFill>
              </a:rPr>
              <a:t>Phase 2a Proof-of-Concept</a:t>
            </a:r>
            <a:r>
              <a:rPr lang="en-US" altLang="ko-KR" sz="1000" dirty="0">
                <a:solidFill>
                  <a:srgbClr val="3D3D3D"/>
                </a:solidFill>
              </a:rPr>
              <a:t> with fibrosis improvement</a:t>
            </a:r>
          </a:p>
          <a:p>
            <a:pPr marL="171450" indent="-171450" algn="l">
              <a:lnSpc>
                <a:spcPct val="110000"/>
              </a:lnSpc>
              <a:spcBef>
                <a:spcPts val="600"/>
              </a:spcBef>
              <a:buClr>
                <a:srgbClr val="3D3D3D"/>
              </a:buClr>
              <a:buFont typeface="Wingdings" panose="05000000000000000000" pitchFamily="2" charset="2"/>
              <a:buChar char="ü"/>
            </a:pPr>
            <a:r>
              <a:rPr lang="en-US" altLang="ko-KR" sz="1000" spc="-20" dirty="0">
                <a:solidFill>
                  <a:srgbClr val="3D3D3D"/>
                </a:solidFill>
              </a:rPr>
              <a:t>IND approved for </a:t>
            </a:r>
            <a:r>
              <a:rPr lang="en-US" altLang="ko-KR" sz="1000" b="1" spc="-20" dirty="0">
                <a:solidFill>
                  <a:srgbClr val="11244A"/>
                </a:solidFill>
              </a:rPr>
              <a:t>glaucoma Phase 2</a:t>
            </a:r>
            <a:r>
              <a:rPr lang="en-US" altLang="ko-KR" sz="1000" spc="-20" dirty="0">
                <a:solidFill>
                  <a:srgbClr val="3D3D3D"/>
                </a:solidFill>
              </a:rPr>
              <a:t>, demonstrating mechanism versatility</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Pipeline includes </a:t>
            </a:r>
            <a:r>
              <a:rPr lang="en-US" altLang="ko-KR" sz="1000" b="1" dirty="0">
                <a:solidFill>
                  <a:srgbClr val="11244A"/>
                </a:solidFill>
              </a:rPr>
              <a:t>FM801 for obesity</a:t>
            </a:r>
            <a:r>
              <a:rPr lang="en-US" altLang="ko-KR" sz="1000" dirty="0">
                <a:solidFill>
                  <a:srgbClr val="3D3D3D"/>
                </a:solidFill>
              </a:rPr>
              <a:t> and </a:t>
            </a:r>
            <a:r>
              <a:rPr lang="en-US" altLang="ko-KR" sz="1000" b="1" dirty="0">
                <a:solidFill>
                  <a:srgbClr val="11244A"/>
                </a:solidFill>
              </a:rPr>
              <a:t>FM301 for oncology</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Strong IP portfolio and ongoing global patent coverage</a:t>
            </a:r>
            <a:endParaRPr lang="ko-KR" altLang="en-US" sz="1000" dirty="0">
              <a:solidFill>
                <a:srgbClr val="3D3D3D"/>
              </a:solidFill>
            </a:endParaRPr>
          </a:p>
        </p:txBody>
      </p:sp>
      <p:sp>
        <p:nvSpPr>
          <p:cNvPr id="15" name="TextBox 14">
            <a:extLst>
              <a:ext uri="{FF2B5EF4-FFF2-40B4-BE49-F238E27FC236}">
                <a16:creationId xmlns:a16="http://schemas.microsoft.com/office/drawing/2014/main" id="{3FEF4397-D9C6-B4C7-0A63-94FADE444EA2}"/>
              </a:ext>
            </a:extLst>
          </p:cNvPr>
          <p:cNvSpPr txBox="1"/>
          <p:nvPr/>
        </p:nvSpPr>
        <p:spPr>
          <a:xfrm>
            <a:off x="5061000" y="2168525"/>
            <a:ext cx="4391999" cy="1142942"/>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Clinically validate asset </a:t>
            </a:r>
            <a:r>
              <a:rPr lang="en-US" altLang="ko-KR" sz="1000" dirty="0">
                <a:solidFill>
                  <a:srgbClr val="3D3D3D"/>
                </a:solidFill>
                <a:sym typeface="Wingdings" panose="05000000000000000000" pitchFamily="2" charset="2"/>
              </a:rPr>
              <a:t>→ </a:t>
            </a:r>
            <a:r>
              <a:rPr lang="en-US" altLang="ko-KR" sz="1000" b="1" dirty="0">
                <a:solidFill>
                  <a:srgbClr val="11244A"/>
                </a:solidFill>
                <a:sym typeface="Wingdings" panose="05000000000000000000" pitchFamily="2" charset="2"/>
              </a:rPr>
              <a:t>faster value inflection</a:t>
            </a:r>
            <a:r>
              <a:rPr lang="en-US" altLang="ko-KR" sz="1000" dirty="0">
                <a:solidFill>
                  <a:srgbClr val="3D3D3D"/>
                </a:solidFill>
                <a:sym typeface="Wingdings" panose="05000000000000000000" pitchFamily="2" charset="2"/>
              </a:rPr>
              <a:t> vs pre-clinical plays</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sym typeface="Wingdings" panose="05000000000000000000" pitchFamily="2" charset="2"/>
              </a:rPr>
              <a:t>FM101 P2 data enables near-term licensing or </a:t>
            </a:r>
            <a:r>
              <a:rPr lang="en-US" altLang="ko-KR" sz="1000" b="1" dirty="0">
                <a:solidFill>
                  <a:srgbClr val="11244A"/>
                </a:solidFill>
                <a:sym typeface="Wingdings" panose="05000000000000000000" pitchFamily="2" charset="2"/>
              </a:rPr>
              <a:t>Phase 2b / 3 value uplift</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sym typeface="Wingdings" panose="05000000000000000000" pitchFamily="2" charset="2"/>
              </a:rPr>
              <a:t>FM801 positions NKTx in </a:t>
            </a:r>
            <a:r>
              <a:rPr lang="en-US" altLang="ko-KR" sz="1000" b="1" dirty="0">
                <a:solidFill>
                  <a:srgbClr val="11244A"/>
                </a:solidFill>
                <a:sym typeface="Wingdings" panose="05000000000000000000" pitchFamily="2" charset="2"/>
              </a:rPr>
              <a:t>rapidly expanding obesity / GLP-1 market</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sym typeface="Wingdings" panose="05000000000000000000" pitchFamily="2" charset="2"/>
              </a:rPr>
              <a:t>Oncology asset adds long-term optionality</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sym typeface="Wingdings" panose="05000000000000000000" pitchFamily="2" charset="2"/>
              </a:rPr>
              <a:t>FM101 serves as a </a:t>
            </a:r>
            <a:r>
              <a:rPr lang="en-US" altLang="ko-KR" sz="1000" b="1" dirty="0">
                <a:solidFill>
                  <a:srgbClr val="11244A"/>
                </a:solidFill>
                <a:sym typeface="Wingdings" panose="05000000000000000000" pitchFamily="2" charset="2"/>
              </a:rPr>
              <a:t>core narrative driver for NASDAQ listing</a:t>
            </a:r>
            <a:endParaRPr lang="ko-KR" altLang="en-US" sz="1000" b="1" dirty="0">
              <a:solidFill>
                <a:srgbClr val="11244A"/>
              </a:solidFill>
            </a:endParaRPr>
          </a:p>
        </p:txBody>
      </p:sp>
    </p:spTree>
    <p:extLst>
      <p:ext uri="{BB962C8B-B14F-4D97-AF65-F5344CB8AC3E}">
        <p14:creationId xmlns:p14="http://schemas.microsoft.com/office/powerpoint/2010/main" val="312762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51D5-411E-3529-E622-7E52196F3201}"/>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8029E894-4764-21B1-7E21-D9B73E968E47}"/>
              </a:ext>
            </a:extLst>
          </p:cNvPr>
          <p:cNvSpPr>
            <a:spLocks noGrp="1"/>
          </p:cNvSpPr>
          <p:nvPr>
            <p:ph type="body" sz="quarter" idx="11"/>
          </p:nvPr>
        </p:nvSpPr>
        <p:spPr/>
        <p:txBody>
          <a:bodyPr/>
          <a:lstStyle/>
          <a:p>
            <a:r>
              <a:rPr lang="en-US" altLang="ko-KR" dirty="0"/>
              <a:t>FM101 - First-in-class Candidate for MASH</a:t>
            </a:r>
            <a:endParaRPr lang="ko-KR" altLang="en-US" dirty="0"/>
          </a:p>
        </p:txBody>
      </p:sp>
      <p:sp>
        <p:nvSpPr>
          <p:cNvPr id="3" name="텍스트 개체 틀 2">
            <a:extLst>
              <a:ext uri="{FF2B5EF4-FFF2-40B4-BE49-F238E27FC236}">
                <a16:creationId xmlns:a16="http://schemas.microsoft.com/office/drawing/2014/main" id="{D0220DB8-C8B3-0DC1-FDA9-8AEE27C935A6}"/>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3088D6-9A39-8F60-0F32-28DA361C49ED}"/>
              </a:ext>
            </a:extLst>
          </p:cNvPr>
          <p:cNvSpPr>
            <a:spLocks noGrp="1"/>
          </p:cNvSpPr>
          <p:nvPr>
            <p:ph type="sldNum" sz="quarter" idx="13"/>
          </p:nvPr>
        </p:nvSpPr>
        <p:spPr/>
        <p:txBody>
          <a:bodyPr/>
          <a:lstStyle/>
          <a:p>
            <a:fld id="{C053318C-A610-4AA5-9FF7-26630BAA1E31}" type="slidenum">
              <a:rPr lang="en-US" altLang="ko-KR" smtClean="0"/>
              <a:pPr/>
              <a:t>19</a:t>
            </a:fld>
            <a:endParaRPr lang="en-US" dirty="0"/>
          </a:p>
        </p:txBody>
      </p:sp>
      <p:sp>
        <p:nvSpPr>
          <p:cNvPr id="8" name="TextBox 7">
            <a:extLst>
              <a:ext uri="{FF2B5EF4-FFF2-40B4-BE49-F238E27FC236}">
                <a16:creationId xmlns:a16="http://schemas.microsoft.com/office/drawing/2014/main" id="{59C1E11F-6697-B0FA-222E-C1B6180800A7}"/>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FM101 has demonstrated clear fibrosis and ALT improvement in Phase 2a, supporting A3AR inhibition as a differentiated MASH approach and positioning the asset to enter Phase 2b for meaningful value inflection.</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8B66143B-F5B1-24B3-4729-6E0A2130B0D7}"/>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FM101 Advantages</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1F4CCD64-B4F0-E7A0-DB5A-A29F6FE71254}"/>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MASH - Metabolic Dysfunction Associated Steatohepatitis</a:t>
            </a:r>
            <a:endParaRPr lang="ko-KR" altLang="en-US" sz="1200" b="1" dirty="0">
              <a:solidFill>
                <a:schemeClr val="bg1"/>
              </a:solidFill>
            </a:endParaRPr>
          </a:p>
        </p:txBody>
      </p:sp>
      <p:pic>
        <p:nvPicPr>
          <p:cNvPr id="13" name="그림 12">
            <a:extLst>
              <a:ext uri="{FF2B5EF4-FFF2-40B4-BE49-F238E27FC236}">
                <a16:creationId xmlns:a16="http://schemas.microsoft.com/office/drawing/2014/main" id="{6A7284B3-4CE5-C39D-CFF7-561CE7640210}"/>
              </a:ext>
            </a:extLst>
          </p:cNvPr>
          <p:cNvPicPr>
            <a:picLocks noChangeAspect="1"/>
          </p:cNvPicPr>
          <p:nvPr/>
        </p:nvPicPr>
        <p:blipFill>
          <a:blip r:embed="rId2"/>
          <a:srcRect l="2239" t="8066" r="4734" b="37754"/>
          <a:stretch>
            <a:fillRect/>
          </a:stretch>
        </p:blipFill>
        <p:spPr>
          <a:xfrm>
            <a:off x="5169000" y="2377524"/>
            <a:ext cx="4176000" cy="613153"/>
          </a:xfrm>
          <a:prstGeom prst="rect">
            <a:avLst/>
          </a:prstGeom>
        </p:spPr>
      </p:pic>
      <p:sp>
        <p:nvSpPr>
          <p:cNvPr id="15" name="TextBox 14">
            <a:extLst>
              <a:ext uri="{FF2B5EF4-FFF2-40B4-BE49-F238E27FC236}">
                <a16:creationId xmlns:a16="http://schemas.microsoft.com/office/drawing/2014/main" id="{6C978EA4-B663-E7CA-F208-2337692E8FA5}"/>
              </a:ext>
            </a:extLst>
          </p:cNvPr>
          <p:cNvSpPr txBox="1"/>
          <p:nvPr/>
        </p:nvSpPr>
        <p:spPr>
          <a:xfrm>
            <a:off x="5061000" y="3153410"/>
            <a:ext cx="4391999" cy="404278"/>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Fat and inflammation damage the liver → </a:t>
            </a:r>
            <a:r>
              <a:rPr lang="en-US" altLang="ko-KR" sz="1000" b="1" dirty="0">
                <a:solidFill>
                  <a:srgbClr val="11244A"/>
                </a:solidFill>
              </a:rPr>
              <a:t>scarring (fibrosis)</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Disease worsens silently over year, but </a:t>
            </a:r>
            <a:r>
              <a:rPr lang="en-US" altLang="ko-KR" sz="1000" b="1" dirty="0">
                <a:solidFill>
                  <a:srgbClr val="11244A"/>
                </a:solidFill>
              </a:rPr>
              <a:t>no curative drug today</a:t>
            </a:r>
            <a:endParaRPr lang="ko-KR" altLang="en-US" sz="1000" b="1" dirty="0">
              <a:solidFill>
                <a:srgbClr val="11244A"/>
              </a:solidFill>
            </a:endParaRPr>
          </a:p>
        </p:txBody>
      </p:sp>
      <p:graphicFrame>
        <p:nvGraphicFramePr>
          <p:cNvPr id="16" name="표 15">
            <a:extLst>
              <a:ext uri="{FF2B5EF4-FFF2-40B4-BE49-F238E27FC236}">
                <a16:creationId xmlns:a16="http://schemas.microsoft.com/office/drawing/2014/main" id="{B85A36CA-B316-3FBE-86D9-5BF4D54A3F20}"/>
              </a:ext>
            </a:extLst>
          </p:cNvPr>
          <p:cNvGraphicFramePr>
            <a:graphicFrameLocks noGrp="1"/>
          </p:cNvGraphicFramePr>
          <p:nvPr>
            <p:extLst>
              <p:ext uri="{D42A27DB-BD31-4B8C-83A1-F6EECF244321}">
                <p14:modId xmlns:p14="http://schemas.microsoft.com/office/powerpoint/2010/main" val="4021999408"/>
              </p:ext>
            </p:extLst>
          </p:nvPr>
        </p:nvGraphicFramePr>
        <p:xfrm>
          <a:off x="453000" y="4329113"/>
          <a:ext cx="9000000" cy="1080000"/>
        </p:xfrm>
        <a:graphic>
          <a:graphicData uri="http://schemas.openxmlformats.org/drawingml/2006/table">
            <a:tbl>
              <a:tblPr firstRow="1" bandRow="1">
                <a:tableStyleId>{5C22544A-7EE6-4342-B048-85BDC9FD1C3A}</a:tableStyleId>
              </a:tblPr>
              <a:tblGrid>
                <a:gridCol w="936000">
                  <a:extLst>
                    <a:ext uri="{9D8B030D-6E8A-4147-A177-3AD203B41FA5}">
                      <a16:colId xmlns:a16="http://schemas.microsoft.com/office/drawing/2014/main" val="2642905345"/>
                    </a:ext>
                  </a:extLst>
                </a:gridCol>
                <a:gridCol w="936000">
                  <a:extLst>
                    <a:ext uri="{9D8B030D-6E8A-4147-A177-3AD203B41FA5}">
                      <a16:colId xmlns:a16="http://schemas.microsoft.com/office/drawing/2014/main" val="4274646455"/>
                    </a:ext>
                  </a:extLst>
                </a:gridCol>
                <a:gridCol w="891000">
                  <a:extLst>
                    <a:ext uri="{9D8B030D-6E8A-4147-A177-3AD203B41FA5}">
                      <a16:colId xmlns:a16="http://schemas.microsoft.com/office/drawing/2014/main" val="1515685662"/>
                    </a:ext>
                  </a:extLst>
                </a:gridCol>
                <a:gridCol w="891000">
                  <a:extLst>
                    <a:ext uri="{9D8B030D-6E8A-4147-A177-3AD203B41FA5}">
                      <a16:colId xmlns:a16="http://schemas.microsoft.com/office/drawing/2014/main" val="991561899"/>
                    </a:ext>
                  </a:extLst>
                </a:gridCol>
                <a:gridCol w="891000">
                  <a:extLst>
                    <a:ext uri="{9D8B030D-6E8A-4147-A177-3AD203B41FA5}">
                      <a16:colId xmlns:a16="http://schemas.microsoft.com/office/drawing/2014/main" val="4135788619"/>
                    </a:ext>
                  </a:extLst>
                </a:gridCol>
                <a:gridCol w="891000">
                  <a:extLst>
                    <a:ext uri="{9D8B030D-6E8A-4147-A177-3AD203B41FA5}">
                      <a16:colId xmlns:a16="http://schemas.microsoft.com/office/drawing/2014/main" val="1050082323"/>
                    </a:ext>
                  </a:extLst>
                </a:gridCol>
                <a:gridCol w="891000">
                  <a:extLst>
                    <a:ext uri="{9D8B030D-6E8A-4147-A177-3AD203B41FA5}">
                      <a16:colId xmlns:a16="http://schemas.microsoft.com/office/drawing/2014/main" val="4066523770"/>
                    </a:ext>
                  </a:extLst>
                </a:gridCol>
                <a:gridCol w="891000">
                  <a:extLst>
                    <a:ext uri="{9D8B030D-6E8A-4147-A177-3AD203B41FA5}">
                      <a16:colId xmlns:a16="http://schemas.microsoft.com/office/drawing/2014/main" val="1495598891"/>
                    </a:ext>
                  </a:extLst>
                </a:gridCol>
                <a:gridCol w="891000">
                  <a:extLst>
                    <a:ext uri="{9D8B030D-6E8A-4147-A177-3AD203B41FA5}">
                      <a16:colId xmlns:a16="http://schemas.microsoft.com/office/drawing/2014/main" val="3561204796"/>
                    </a:ext>
                  </a:extLst>
                </a:gridCol>
                <a:gridCol w="891000">
                  <a:extLst>
                    <a:ext uri="{9D8B030D-6E8A-4147-A177-3AD203B41FA5}">
                      <a16:colId xmlns:a16="http://schemas.microsoft.com/office/drawing/2014/main" val="569845079"/>
                    </a:ext>
                  </a:extLst>
                </a:gridCol>
              </a:tblGrid>
              <a:tr h="360000">
                <a:tc>
                  <a:txBody>
                    <a:bodyPr/>
                    <a:lstStyle/>
                    <a:p>
                      <a:pPr latinLnBrk="1"/>
                      <a:r>
                        <a:rPr lang="en-US" altLang="ko-KR" sz="1000" b="1" dirty="0">
                          <a:solidFill>
                            <a:srgbClr val="3D3D3D"/>
                          </a:solidFill>
                        </a:rPr>
                        <a:t>Asset</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Indication</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Discovery</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Lead optimization</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Pre-clinical</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Phase 1</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Phase 2a</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Phase 2b</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Phase 3</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Market approval</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28875"/>
                  </a:ext>
                </a:extLst>
              </a:tr>
              <a:tr h="360000">
                <a:tc>
                  <a:txBody>
                    <a:bodyPr/>
                    <a:lstStyle/>
                    <a:p>
                      <a:pPr latinLnBrk="1"/>
                      <a:r>
                        <a:rPr lang="en-US" altLang="ko-KR" sz="1000" b="1" dirty="0">
                          <a:solidFill>
                            <a:srgbClr val="11244A"/>
                          </a:solidFill>
                        </a:rPr>
                        <a:t>FM101</a:t>
                      </a:r>
                      <a:endParaRPr lang="ko-KR" altLang="en-US" sz="1000" b="1" dirty="0">
                        <a:solidFill>
                          <a:srgbClr val="11244A"/>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MASH</a:t>
                      </a:r>
                      <a:endParaRPr lang="ko-KR" altLang="en-US" sz="1000" b="0"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7219096"/>
                  </a:ext>
                </a:extLst>
              </a:tr>
              <a:tr h="360000">
                <a:tc>
                  <a:txBody>
                    <a:bodyPr/>
                    <a:lstStyle/>
                    <a:p>
                      <a:pPr latinLnBrk="1"/>
                      <a:endParaRPr lang="ko-KR" altLang="en-US" sz="1000" b="1" dirty="0">
                        <a:solidFill>
                          <a:srgbClr val="11244A"/>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Glaucoma</a:t>
                      </a:r>
                      <a:endParaRPr lang="ko-KR" altLang="en-US" sz="1000" b="0"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852138"/>
                  </a:ext>
                </a:extLst>
              </a:tr>
            </a:tbl>
          </a:graphicData>
        </a:graphic>
      </p:graphicFrame>
      <p:sp>
        <p:nvSpPr>
          <p:cNvPr id="17" name="TextBox 16">
            <a:extLst>
              <a:ext uri="{FF2B5EF4-FFF2-40B4-BE49-F238E27FC236}">
                <a16:creationId xmlns:a16="http://schemas.microsoft.com/office/drawing/2014/main" id="{CA719433-5DE9-FCF0-6982-003590981708}"/>
              </a:ext>
            </a:extLst>
          </p:cNvPr>
          <p:cNvSpPr txBox="1"/>
          <p:nvPr/>
        </p:nvSpPr>
        <p:spPr>
          <a:xfrm>
            <a:off x="453000" y="2168525"/>
            <a:ext cx="4391999" cy="1389163"/>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Dual-mechanism action</a:t>
            </a:r>
            <a:r>
              <a:rPr lang="en-US" altLang="ko-KR" sz="1000" dirty="0">
                <a:solidFill>
                  <a:srgbClr val="3D3D3D"/>
                </a:solidFill>
              </a:rPr>
              <a:t> targeting inflammation and fibrosis drivers</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Phase 2a PoC achieved</a:t>
            </a:r>
            <a:r>
              <a:rPr lang="en-US" altLang="ko-KR" sz="1000" dirty="0">
                <a:solidFill>
                  <a:srgbClr val="3D3D3D"/>
                </a:solidFill>
              </a:rPr>
              <a:t> with ALT reduction &amp; fibrosis improvement</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Early fibrosis efficacy</a:t>
            </a:r>
            <a:r>
              <a:rPr lang="en-US" altLang="ko-KR" sz="1000" dirty="0">
                <a:solidFill>
                  <a:srgbClr val="3D3D3D"/>
                </a:solidFill>
              </a:rPr>
              <a:t> → key value driver in MASH</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Oral small molecule</a:t>
            </a:r>
            <a:r>
              <a:rPr lang="en-US" altLang="ko-KR" sz="1000" dirty="0">
                <a:solidFill>
                  <a:srgbClr val="3D3D3D"/>
                </a:solidFill>
              </a:rPr>
              <a:t> - low cost, convenient vs biologics</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GLP-1 combo potential</a:t>
            </a:r>
            <a:r>
              <a:rPr lang="en-US" altLang="ko-KR" sz="1000" dirty="0">
                <a:solidFill>
                  <a:srgbClr val="3D3D3D"/>
                </a:solidFill>
              </a:rPr>
              <a:t> → fibrosis add-on opportunity</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Licensing-ready as it moves toward </a:t>
            </a:r>
            <a:r>
              <a:rPr lang="en-US" altLang="ko-KR" sz="1000" b="1" dirty="0">
                <a:solidFill>
                  <a:srgbClr val="11244A"/>
                </a:solidFill>
              </a:rPr>
              <a:t>Phase 2b / Phase 3</a:t>
            </a:r>
            <a:endParaRPr lang="ko-KR" altLang="en-US" sz="1000" b="1" dirty="0">
              <a:solidFill>
                <a:srgbClr val="11244A"/>
              </a:solidFill>
            </a:endParaRPr>
          </a:p>
        </p:txBody>
      </p:sp>
      <p:sp>
        <p:nvSpPr>
          <p:cNvPr id="19" name="TextBox 18">
            <a:extLst>
              <a:ext uri="{FF2B5EF4-FFF2-40B4-BE49-F238E27FC236}">
                <a16:creationId xmlns:a16="http://schemas.microsoft.com/office/drawing/2014/main" id="{3CEE3BAA-455C-EF58-24A1-96000AE5F695}"/>
              </a:ext>
            </a:extLst>
          </p:cNvPr>
          <p:cNvSpPr txBox="1"/>
          <p:nvPr/>
        </p:nvSpPr>
        <p:spPr>
          <a:xfrm>
            <a:off x="5362303" y="2168525"/>
            <a:ext cx="569067" cy="158057"/>
          </a:xfrm>
          <a:prstGeom prst="rect">
            <a:avLst/>
          </a:prstGeom>
          <a:noFill/>
        </p:spPr>
        <p:txBody>
          <a:bodyPr wrap="none" lIns="0" tIns="0" rIns="0" bIns="0" rtlCol="0">
            <a:spAutoFit/>
          </a:bodyPr>
          <a:lstStyle/>
          <a:p>
            <a:pPr algn="ctr">
              <a:lnSpc>
                <a:spcPct val="110000"/>
              </a:lnSpc>
            </a:pPr>
            <a:r>
              <a:rPr lang="en-US" altLang="ko-KR" sz="1000" b="1" dirty="0">
                <a:solidFill>
                  <a:srgbClr val="3D3D3D"/>
                </a:solidFill>
              </a:rPr>
              <a:t>Steatosis</a:t>
            </a:r>
            <a:endParaRPr lang="ko-KR" altLang="en-US" sz="1000" b="1" dirty="0">
              <a:solidFill>
                <a:srgbClr val="3D3D3D"/>
              </a:solidFill>
            </a:endParaRPr>
          </a:p>
        </p:txBody>
      </p:sp>
      <p:sp>
        <p:nvSpPr>
          <p:cNvPr id="20" name="TextBox 19">
            <a:extLst>
              <a:ext uri="{FF2B5EF4-FFF2-40B4-BE49-F238E27FC236}">
                <a16:creationId xmlns:a16="http://schemas.microsoft.com/office/drawing/2014/main" id="{10E2DD1A-02E2-50F6-E430-B8376720B686}"/>
              </a:ext>
            </a:extLst>
          </p:cNvPr>
          <p:cNvSpPr txBox="1"/>
          <p:nvPr/>
        </p:nvSpPr>
        <p:spPr>
          <a:xfrm>
            <a:off x="8575589" y="2168525"/>
            <a:ext cx="549831" cy="158057"/>
          </a:xfrm>
          <a:prstGeom prst="rect">
            <a:avLst/>
          </a:prstGeom>
          <a:noFill/>
        </p:spPr>
        <p:txBody>
          <a:bodyPr wrap="none" lIns="0" tIns="0" rIns="0" bIns="0" rtlCol="0">
            <a:spAutoFit/>
          </a:bodyPr>
          <a:lstStyle/>
          <a:p>
            <a:pPr algn="ctr">
              <a:lnSpc>
                <a:spcPct val="110000"/>
              </a:lnSpc>
            </a:pPr>
            <a:r>
              <a:rPr lang="en-US" altLang="ko-KR" sz="1000" b="1" dirty="0">
                <a:solidFill>
                  <a:srgbClr val="3D3D3D"/>
                </a:solidFill>
              </a:rPr>
              <a:t>Cirrhosis</a:t>
            </a:r>
            <a:endParaRPr lang="ko-KR" altLang="en-US" sz="1000" b="1" dirty="0">
              <a:solidFill>
                <a:srgbClr val="3D3D3D"/>
              </a:solidFill>
            </a:endParaRPr>
          </a:p>
        </p:txBody>
      </p:sp>
      <p:sp>
        <p:nvSpPr>
          <p:cNvPr id="21" name="TextBox 20">
            <a:extLst>
              <a:ext uri="{FF2B5EF4-FFF2-40B4-BE49-F238E27FC236}">
                <a16:creationId xmlns:a16="http://schemas.microsoft.com/office/drawing/2014/main" id="{F07B71DA-05B6-6511-5618-FED469E115B5}"/>
              </a:ext>
            </a:extLst>
          </p:cNvPr>
          <p:cNvSpPr txBox="1"/>
          <p:nvPr/>
        </p:nvSpPr>
        <p:spPr>
          <a:xfrm>
            <a:off x="7542165" y="2168525"/>
            <a:ext cx="480901" cy="158057"/>
          </a:xfrm>
          <a:prstGeom prst="rect">
            <a:avLst/>
          </a:prstGeom>
          <a:noFill/>
        </p:spPr>
        <p:txBody>
          <a:bodyPr wrap="none" lIns="0" tIns="0" rIns="0" bIns="0" rtlCol="0">
            <a:spAutoFit/>
          </a:bodyPr>
          <a:lstStyle/>
          <a:p>
            <a:pPr algn="ctr">
              <a:lnSpc>
                <a:spcPct val="110000"/>
              </a:lnSpc>
            </a:pPr>
            <a:r>
              <a:rPr lang="en-US" altLang="ko-KR" sz="1000" b="1" dirty="0">
                <a:solidFill>
                  <a:srgbClr val="3D3D3D"/>
                </a:solidFill>
              </a:rPr>
              <a:t>Fibrosis</a:t>
            </a:r>
            <a:endParaRPr lang="ko-KR" altLang="en-US" sz="1000" b="1" dirty="0">
              <a:solidFill>
                <a:srgbClr val="3D3D3D"/>
              </a:solidFill>
            </a:endParaRPr>
          </a:p>
        </p:txBody>
      </p:sp>
      <p:sp>
        <p:nvSpPr>
          <p:cNvPr id="22" name="TextBox 21">
            <a:extLst>
              <a:ext uri="{FF2B5EF4-FFF2-40B4-BE49-F238E27FC236}">
                <a16:creationId xmlns:a16="http://schemas.microsoft.com/office/drawing/2014/main" id="{083869B1-8F60-488E-3E83-E09FC6980336}"/>
              </a:ext>
            </a:extLst>
          </p:cNvPr>
          <p:cNvSpPr txBox="1"/>
          <p:nvPr/>
        </p:nvSpPr>
        <p:spPr>
          <a:xfrm>
            <a:off x="6439812" y="2168525"/>
            <a:ext cx="549831" cy="158057"/>
          </a:xfrm>
          <a:prstGeom prst="rect">
            <a:avLst/>
          </a:prstGeom>
          <a:noFill/>
        </p:spPr>
        <p:txBody>
          <a:bodyPr wrap="none" lIns="0" tIns="0" rIns="0" bIns="0" rtlCol="0">
            <a:spAutoFit/>
          </a:bodyPr>
          <a:lstStyle/>
          <a:p>
            <a:pPr algn="ctr">
              <a:lnSpc>
                <a:spcPct val="110000"/>
              </a:lnSpc>
            </a:pPr>
            <a:r>
              <a:rPr lang="en-US" altLang="ko-KR" sz="1000" b="1" dirty="0">
                <a:solidFill>
                  <a:srgbClr val="3D3D3D"/>
                </a:solidFill>
              </a:rPr>
              <a:t>Hepatitis</a:t>
            </a:r>
            <a:endParaRPr lang="ko-KR" altLang="en-US" sz="1000" b="1" dirty="0">
              <a:solidFill>
                <a:srgbClr val="3D3D3D"/>
              </a:solidFill>
            </a:endParaRPr>
          </a:p>
        </p:txBody>
      </p:sp>
      <p:sp>
        <p:nvSpPr>
          <p:cNvPr id="23" name="직사각형 22">
            <a:extLst>
              <a:ext uri="{FF2B5EF4-FFF2-40B4-BE49-F238E27FC236}">
                <a16:creationId xmlns:a16="http://schemas.microsoft.com/office/drawing/2014/main" id="{68FC5C8E-099F-F727-E807-745F6E5D9DA5}"/>
              </a:ext>
            </a:extLst>
          </p:cNvPr>
          <p:cNvSpPr/>
          <p:nvPr/>
        </p:nvSpPr>
        <p:spPr>
          <a:xfrm>
            <a:off x="453000" y="386126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Core Asset Pipeline</a:t>
            </a:r>
            <a:endParaRPr lang="ko-KR" altLang="en-US" sz="1200" b="1" dirty="0">
              <a:solidFill>
                <a:schemeClr val="bg1"/>
              </a:solidFill>
            </a:endParaRPr>
          </a:p>
        </p:txBody>
      </p:sp>
      <p:sp>
        <p:nvSpPr>
          <p:cNvPr id="37" name="화살표: 오른쪽 36">
            <a:extLst>
              <a:ext uri="{FF2B5EF4-FFF2-40B4-BE49-F238E27FC236}">
                <a16:creationId xmlns:a16="http://schemas.microsoft.com/office/drawing/2014/main" id="{A42668F3-72F8-45A6-19EB-E993DEAA04CC}"/>
              </a:ext>
            </a:extLst>
          </p:cNvPr>
          <p:cNvSpPr/>
          <p:nvPr/>
        </p:nvSpPr>
        <p:spPr>
          <a:xfrm>
            <a:off x="2324999" y="5085113"/>
            <a:ext cx="7128000" cy="288000"/>
          </a:xfrm>
          <a:prstGeom prst="rightArrow">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38" name="화살표: 오른쪽 37">
            <a:extLst>
              <a:ext uri="{FF2B5EF4-FFF2-40B4-BE49-F238E27FC236}">
                <a16:creationId xmlns:a16="http://schemas.microsoft.com/office/drawing/2014/main" id="{4BD635AD-FC6B-B370-0A4A-99CACCB3D046}"/>
              </a:ext>
            </a:extLst>
          </p:cNvPr>
          <p:cNvSpPr/>
          <p:nvPr/>
        </p:nvSpPr>
        <p:spPr>
          <a:xfrm>
            <a:off x="2324999" y="5085113"/>
            <a:ext cx="3562973" cy="288000"/>
          </a:xfrm>
          <a:prstGeom prst="rightArrow">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39" name="화살표: 오른쪽 38">
            <a:extLst>
              <a:ext uri="{FF2B5EF4-FFF2-40B4-BE49-F238E27FC236}">
                <a16:creationId xmlns:a16="http://schemas.microsoft.com/office/drawing/2014/main" id="{C50892D8-137D-8118-E358-E9E2B1DD708E}"/>
              </a:ext>
            </a:extLst>
          </p:cNvPr>
          <p:cNvSpPr/>
          <p:nvPr/>
        </p:nvSpPr>
        <p:spPr>
          <a:xfrm>
            <a:off x="2324999" y="4725113"/>
            <a:ext cx="7128000" cy="288000"/>
          </a:xfrm>
          <a:prstGeom prst="rightArrow">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36" name="화살표: 오른쪽 35">
            <a:extLst>
              <a:ext uri="{FF2B5EF4-FFF2-40B4-BE49-F238E27FC236}">
                <a16:creationId xmlns:a16="http://schemas.microsoft.com/office/drawing/2014/main" id="{0582F5C6-A03C-A6FE-2C9A-F3AC26437AC4}"/>
              </a:ext>
            </a:extLst>
          </p:cNvPr>
          <p:cNvSpPr/>
          <p:nvPr/>
        </p:nvSpPr>
        <p:spPr>
          <a:xfrm>
            <a:off x="2324999" y="4725113"/>
            <a:ext cx="5344459" cy="288000"/>
          </a:xfrm>
          <a:prstGeom prst="rightArrow">
            <a:avLst/>
          </a:prstGeom>
          <a:solidFill>
            <a:srgbClr val="B2DA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25" name="화살표: 오른쪽 24">
            <a:extLst>
              <a:ext uri="{FF2B5EF4-FFF2-40B4-BE49-F238E27FC236}">
                <a16:creationId xmlns:a16="http://schemas.microsoft.com/office/drawing/2014/main" id="{806D5495-4F4E-EA71-3234-6C94A34680DE}"/>
              </a:ext>
            </a:extLst>
          </p:cNvPr>
          <p:cNvSpPr/>
          <p:nvPr/>
        </p:nvSpPr>
        <p:spPr>
          <a:xfrm>
            <a:off x="2324999" y="4725113"/>
            <a:ext cx="4453715" cy="288000"/>
          </a:xfrm>
          <a:prstGeom prst="rightArrow">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Tree>
    <p:extLst>
      <p:ext uri="{BB962C8B-B14F-4D97-AF65-F5344CB8AC3E}">
        <p14:creationId xmlns:p14="http://schemas.microsoft.com/office/powerpoint/2010/main" val="406898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ACCF-E72C-38D1-BB6F-2D264C9CC603}"/>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BEADD97D-1F44-D305-3CD2-C9CB88CD1627}"/>
              </a:ext>
            </a:extLst>
          </p:cNvPr>
          <p:cNvSpPr>
            <a:spLocks noGrp="1"/>
          </p:cNvSpPr>
          <p:nvPr>
            <p:ph type="body" sz="quarter" idx="11"/>
          </p:nvPr>
        </p:nvSpPr>
        <p:spPr/>
        <p:txBody>
          <a:bodyPr/>
          <a:lstStyle/>
          <a:p>
            <a:r>
              <a:rPr lang="en-US" altLang="ko-KR" dirty="0"/>
              <a:t>FM101 - Clinical Evidence &amp; Competitive Advantage</a:t>
            </a:r>
            <a:endParaRPr lang="ko-KR" altLang="en-US" dirty="0"/>
          </a:p>
        </p:txBody>
      </p:sp>
      <p:sp>
        <p:nvSpPr>
          <p:cNvPr id="3" name="텍스트 개체 틀 2">
            <a:extLst>
              <a:ext uri="{FF2B5EF4-FFF2-40B4-BE49-F238E27FC236}">
                <a16:creationId xmlns:a16="http://schemas.microsoft.com/office/drawing/2014/main" id="{5E60A751-261F-1311-4B8A-01D85C3D2DBF}"/>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EDD441A-896B-5F15-FE74-2EA4E4E11609}"/>
              </a:ext>
            </a:extLst>
          </p:cNvPr>
          <p:cNvSpPr>
            <a:spLocks noGrp="1"/>
          </p:cNvSpPr>
          <p:nvPr>
            <p:ph type="sldNum" sz="quarter" idx="13"/>
          </p:nvPr>
        </p:nvSpPr>
        <p:spPr/>
        <p:txBody>
          <a:bodyPr/>
          <a:lstStyle/>
          <a:p>
            <a:fld id="{C053318C-A610-4AA5-9FF7-26630BAA1E31}" type="slidenum">
              <a:rPr lang="en-US" altLang="ko-KR" smtClean="0"/>
              <a:pPr/>
              <a:t>20</a:t>
            </a:fld>
            <a:endParaRPr lang="en-US" dirty="0"/>
          </a:p>
        </p:txBody>
      </p:sp>
      <p:sp>
        <p:nvSpPr>
          <p:cNvPr id="8" name="TextBox 7">
            <a:extLst>
              <a:ext uri="{FF2B5EF4-FFF2-40B4-BE49-F238E27FC236}">
                <a16:creationId xmlns:a16="http://schemas.microsoft.com/office/drawing/2014/main" id="{D0629FC6-9F7D-4D82-6974-4D0B39E3FDDC}"/>
              </a:ext>
            </a:extLst>
          </p:cNvPr>
          <p:cNvSpPr txBox="1"/>
          <p:nvPr/>
        </p:nvSpPr>
        <p:spPr>
          <a:xfrm>
            <a:off x="453000" y="981075"/>
            <a:ext cx="8999999" cy="458267"/>
          </a:xfrm>
          <a:prstGeom prst="rect">
            <a:avLst/>
          </a:prstGeom>
          <a:noFill/>
        </p:spPr>
        <p:txBody>
          <a:bodyPr wrap="square" lIns="0" tIns="0" rIns="0" bIns="0" rtlCol="0">
            <a:spAutoFit/>
          </a:bodyPr>
          <a:lstStyle/>
          <a:p>
            <a:pPr>
              <a:lnSpc>
                <a:spcPct val="110000"/>
              </a:lnSpc>
            </a:pPr>
            <a:r>
              <a:rPr lang="en-US" altLang="ko-KR" sz="1400" b="1" dirty="0">
                <a:solidFill>
                  <a:srgbClr val="3D3D3D"/>
                </a:solidFill>
              </a:rPr>
              <a:t>Phase 2a data showed meaningful fibrosis and ALT improvement, establishing FM101 as a competitive MASH candidate advancing toward Phase 2b.</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D0D0FF8C-CDD6-5634-BFBB-33A369B094A1}"/>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Key Clinical Outcomes - Phase 2a Top-line</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E9190818-8A5F-7D02-56A3-92DDDBAAB68C}"/>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Tech Competitiveness</a:t>
            </a:r>
            <a:endParaRPr lang="ko-KR" altLang="en-US" sz="1200" b="1" dirty="0">
              <a:solidFill>
                <a:schemeClr val="bg1"/>
              </a:solidFill>
            </a:endParaRPr>
          </a:p>
        </p:txBody>
      </p:sp>
      <p:sp>
        <p:nvSpPr>
          <p:cNvPr id="5" name="TextBox 4">
            <a:extLst>
              <a:ext uri="{FF2B5EF4-FFF2-40B4-BE49-F238E27FC236}">
                <a16:creationId xmlns:a16="http://schemas.microsoft.com/office/drawing/2014/main" id="{43340B8B-DFC4-7A29-57EA-E15F87225DB2}"/>
              </a:ext>
            </a:extLst>
          </p:cNvPr>
          <p:cNvSpPr txBox="1"/>
          <p:nvPr/>
        </p:nvSpPr>
        <p:spPr>
          <a:xfrm>
            <a:off x="453000" y="2168525"/>
            <a:ext cx="4391999" cy="896720"/>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82% fibrosis responders</a:t>
            </a:r>
            <a:r>
              <a:rPr lang="en-US" altLang="ko-KR" sz="1000" dirty="0">
                <a:solidFill>
                  <a:srgbClr val="3D3D3D"/>
                </a:solidFill>
              </a:rPr>
              <a:t> at 300mg vs 36% placebo</a:t>
            </a:r>
          </a:p>
          <a:p>
            <a:pPr marL="184150" algn="l">
              <a:lnSpc>
                <a:spcPct val="110000"/>
              </a:lnSpc>
              <a:spcBef>
                <a:spcPts val="600"/>
              </a:spcBef>
              <a:buClr>
                <a:srgbClr val="3D3D3D"/>
              </a:buClr>
            </a:pPr>
            <a:r>
              <a:rPr lang="en-US" altLang="ko-KR" sz="1000" dirty="0">
                <a:solidFill>
                  <a:srgbClr val="3D3D3D"/>
                </a:solidFill>
              </a:rPr>
              <a:t>(0% worsening in active arm)</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ALT lowered significantly</a:t>
            </a:r>
            <a:r>
              <a:rPr lang="en-US" altLang="ko-KR" sz="1000" dirty="0">
                <a:solidFill>
                  <a:srgbClr val="3D3D3D"/>
                </a:solidFill>
              </a:rPr>
              <a:t> (p&lt;0.05) confirming anti-inflammatory effect</a:t>
            </a:r>
          </a:p>
          <a:p>
            <a:pPr marL="171450" indent="-171450" algn="l">
              <a:lnSpc>
                <a:spcPct val="110000"/>
              </a:lnSpc>
              <a:spcBef>
                <a:spcPts val="600"/>
              </a:spcBef>
              <a:buClr>
                <a:srgbClr val="3D3D3D"/>
              </a:buClr>
              <a:buFont typeface="Wingdings" panose="05000000000000000000" pitchFamily="2" charset="2"/>
              <a:buChar char="ü"/>
            </a:pPr>
            <a:r>
              <a:rPr lang="en-US" altLang="ko-KR" sz="1000" b="1" spc="-20" dirty="0">
                <a:solidFill>
                  <a:srgbClr val="11244A"/>
                </a:solidFill>
              </a:rPr>
              <a:t>MRI-MRE fibrosis improvement at 13 weeks</a:t>
            </a:r>
            <a:r>
              <a:rPr lang="en-US" altLang="ko-KR" sz="1000" spc="-20" dirty="0">
                <a:solidFill>
                  <a:srgbClr val="3D3D3D"/>
                </a:solidFill>
              </a:rPr>
              <a:t>, suggesting reversal potential</a:t>
            </a:r>
          </a:p>
        </p:txBody>
      </p:sp>
      <p:pic>
        <p:nvPicPr>
          <p:cNvPr id="12" name="그림 11">
            <a:extLst>
              <a:ext uri="{FF2B5EF4-FFF2-40B4-BE49-F238E27FC236}">
                <a16:creationId xmlns:a16="http://schemas.microsoft.com/office/drawing/2014/main" id="{A414EBDE-C5F3-1E3D-98A3-DD433A63E09F}"/>
              </a:ext>
            </a:extLst>
          </p:cNvPr>
          <p:cNvPicPr>
            <a:picLocks noChangeAspect="1"/>
          </p:cNvPicPr>
          <p:nvPr/>
        </p:nvPicPr>
        <p:blipFill>
          <a:blip r:embed="rId2"/>
          <a:srcRect l="4191" t="5871" r="16402" b="10066"/>
          <a:stretch>
            <a:fillRect/>
          </a:stretch>
        </p:blipFill>
        <p:spPr>
          <a:xfrm>
            <a:off x="453000" y="3274030"/>
            <a:ext cx="4392000" cy="1783785"/>
          </a:xfrm>
          <a:prstGeom prst="rect">
            <a:avLst/>
          </a:prstGeom>
        </p:spPr>
      </p:pic>
      <p:sp>
        <p:nvSpPr>
          <p:cNvPr id="13" name="TextBox 12">
            <a:extLst>
              <a:ext uri="{FF2B5EF4-FFF2-40B4-BE49-F238E27FC236}">
                <a16:creationId xmlns:a16="http://schemas.microsoft.com/office/drawing/2014/main" id="{E2B4440C-7BF8-4247-211B-0C9814282171}"/>
              </a:ext>
            </a:extLst>
          </p:cNvPr>
          <p:cNvSpPr txBox="1"/>
          <p:nvPr/>
        </p:nvSpPr>
        <p:spPr>
          <a:xfrm>
            <a:off x="1090080" y="5133485"/>
            <a:ext cx="3117841"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Phase 2a </a:t>
            </a:r>
            <a:r>
              <a:rPr lang="en-US" altLang="ko-KR" sz="1000" b="1">
                <a:solidFill>
                  <a:srgbClr val="539DFF"/>
                </a:solidFill>
              </a:rPr>
              <a:t>Liver Fibrosis Signals (300mg vs Placebo)</a:t>
            </a:r>
            <a:endParaRPr lang="ko-KR" altLang="en-US" sz="1000" b="1" dirty="0">
              <a:solidFill>
                <a:srgbClr val="539DFF"/>
              </a:solidFill>
            </a:endParaRPr>
          </a:p>
        </p:txBody>
      </p:sp>
      <p:graphicFrame>
        <p:nvGraphicFramePr>
          <p:cNvPr id="14" name="표 13">
            <a:extLst>
              <a:ext uri="{FF2B5EF4-FFF2-40B4-BE49-F238E27FC236}">
                <a16:creationId xmlns:a16="http://schemas.microsoft.com/office/drawing/2014/main" id="{C47E9D28-F030-B68A-8143-A109BA2C276B}"/>
              </a:ext>
            </a:extLst>
          </p:cNvPr>
          <p:cNvGraphicFramePr>
            <a:graphicFrameLocks noGrp="1"/>
          </p:cNvGraphicFramePr>
          <p:nvPr>
            <p:extLst>
              <p:ext uri="{D42A27DB-BD31-4B8C-83A1-F6EECF244321}">
                <p14:modId xmlns:p14="http://schemas.microsoft.com/office/powerpoint/2010/main" val="1922279287"/>
              </p:ext>
            </p:extLst>
          </p:nvPr>
        </p:nvGraphicFramePr>
        <p:xfrm>
          <a:off x="5061000" y="2389893"/>
          <a:ext cx="4392000" cy="129600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689524448"/>
                    </a:ext>
                  </a:extLst>
                </a:gridCol>
                <a:gridCol w="1044000">
                  <a:extLst>
                    <a:ext uri="{9D8B030D-6E8A-4147-A177-3AD203B41FA5}">
                      <a16:colId xmlns:a16="http://schemas.microsoft.com/office/drawing/2014/main" val="2188746256"/>
                    </a:ext>
                  </a:extLst>
                </a:gridCol>
                <a:gridCol w="1044000">
                  <a:extLst>
                    <a:ext uri="{9D8B030D-6E8A-4147-A177-3AD203B41FA5}">
                      <a16:colId xmlns:a16="http://schemas.microsoft.com/office/drawing/2014/main" val="3980685402"/>
                    </a:ext>
                  </a:extLst>
                </a:gridCol>
                <a:gridCol w="1044000">
                  <a:extLst>
                    <a:ext uri="{9D8B030D-6E8A-4147-A177-3AD203B41FA5}">
                      <a16:colId xmlns:a16="http://schemas.microsoft.com/office/drawing/2014/main" val="4071453206"/>
                    </a:ext>
                  </a:extLst>
                </a:gridCol>
              </a:tblGrid>
              <a:tr h="288000">
                <a:tc>
                  <a:txBody>
                    <a:bodyPr/>
                    <a:lstStyle/>
                    <a:p>
                      <a:pPr latinLnBrk="1"/>
                      <a:r>
                        <a:rPr lang="en-US" altLang="ko-KR" sz="1000" b="1" dirty="0">
                          <a:solidFill>
                            <a:srgbClr val="3D3D3D"/>
                          </a:solidFill>
                        </a:rPr>
                        <a:t>Compound</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1" dirty="0">
                          <a:solidFill>
                            <a:srgbClr val="11244A"/>
                          </a:solidFill>
                        </a:rPr>
                        <a:t>FM101</a:t>
                      </a:r>
                      <a:endParaRPr lang="ko-KR" altLang="en-US" sz="1000" b="1" dirty="0">
                        <a:solidFill>
                          <a:srgbClr val="11244A"/>
                        </a:solidFill>
                      </a:endParaRPr>
                    </a:p>
                  </a:txBody>
                  <a:tcPr marL="36000" marR="36000" marT="0" marB="0" anchor="ctr">
                    <a:lnL w="19050" cap="flat" cmpd="sng" algn="ctr">
                      <a:solidFill>
                        <a:srgbClr val="539DFF"/>
                      </a:solidFill>
                      <a:prstDash val="dash"/>
                      <a:round/>
                      <a:headEnd type="none" w="med" len="med"/>
                      <a:tailEnd type="none" w="med" len="med"/>
                    </a:lnL>
                    <a:lnR w="19050" cap="flat" cmpd="sng" algn="ctr">
                      <a:solidFill>
                        <a:srgbClr val="539DFF"/>
                      </a:solidFill>
                      <a:prstDash val="dash"/>
                      <a:round/>
                      <a:headEnd type="none" w="med" len="med"/>
                      <a:tailEnd type="none" w="med" len="med"/>
                    </a:lnR>
                    <a:lnT w="19050" cap="flat" cmpd="sng" algn="ctr">
                      <a:solidFill>
                        <a:srgbClr val="539DFF"/>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algn="ctr" latinLnBrk="1"/>
                      <a:r>
                        <a:rPr lang="en-US" altLang="ko-KR" sz="1000" b="1" dirty="0" err="1">
                          <a:solidFill>
                            <a:srgbClr val="11244A"/>
                          </a:solidFill>
                        </a:rPr>
                        <a:t>Rezdiffra</a:t>
                      </a:r>
                      <a:endParaRPr lang="ko-KR" altLang="en-US" sz="1000" b="1" dirty="0">
                        <a:solidFill>
                          <a:srgbClr val="11244A"/>
                        </a:solidFill>
                      </a:endParaRPr>
                    </a:p>
                  </a:txBody>
                  <a:tcPr marL="36000" marR="36000" marT="0" marB="0" anchor="ctr">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1" dirty="0" err="1">
                          <a:solidFill>
                            <a:srgbClr val="11244A"/>
                          </a:solidFill>
                        </a:rPr>
                        <a:t>Ocaliva</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2780519"/>
                  </a:ext>
                </a:extLst>
              </a:tr>
              <a:tr h="360000">
                <a:tc>
                  <a:txBody>
                    <a:bodyPr/>
                    <a:lstStyle/>
                    <a:p>
                      <a:pPr latinLnBrk="1"/>
                      <a:r>
                        <a:rPr lang="en-US" altLang="ko-KR" sz="1000" b="1" dirty="0">
                          <a:solidFill>
                            <a:srgbClr val="3D3D3D"/>
                          </a:solidFill>
                        </a:rPr>
                        <a:t>Effective dose</a:t>
                      </a:r>
                    </a:p>
                    <a:p>
                      <a:pPr latinLnBrk="1"/>
                      <a:r>
                        <a:rPr lang="en-US" altLang="ko-KR" sz="800" b="0" dirty="0">
                          <a:solidFill>
                            <a:srgbClr val="3D3D3D"/>
                          </a:solidFill>
                        </a:rPr>
                        <a:t>(in mg/kg/day)</a:t>
                      </a:r>
                      <a:endParaRPr lang="ko-KR" altLang="en-US" sz="800" b="0" dirty="0">
                        <a:solidFill>
                          <a:srgbClr val="3D3D3D"/>
                        </a:solidFill>
                      </a:endParaRPr>
                    </a:p>
                  </a:txBody>
                  <a:tcPr marL="36000" marR="36000" marT="0" marB="0" anchor="ctr">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30 - 60</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algn="ctr" latinLnBrk="1"/>
                      <a:r>
                        <a:rPr lang="en-US" altLang="ko-KR" sz="1000" b="0" dirty="0">
                          <a:solidFill>
                            <a:srgbClr val="3D3D3D"/>
                          </a:solidFill>
                        </a:rPr>
                        <a:t>3</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30</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2965576"/>
                  </a:ext>
                </a:extLst>
              </a:tr>
              <a:tr h="288000">
                <a:tc>
                  <a:txBody>
                    <a:bodyPr/>
                    <a:lstStyle/>
                    <a:p>
                      <a:pPr latinLnBrk="1"/>
                      <a:r>
                        <a:rPr lang="en-US" altLang="ko-KR" sz="1000" b="1" dirty="0">
                          <a:solidFill>
                            <a:srgbClr val="3D3D3D"/>
                          </a:solidFill>
                        </a:rPr>
                        <a:t>NAS inhibition rate</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24-52%</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algn="ctr" latinLnBrk="1"/>
                      <a:r>
                        <a:rPr lang="en-US" altLang="ko-KR" sz="1000" b="0" dirty="0">
                          <a:solidFill>
                            <a:srgbClr val="3D3D3D"/>
                          </a:solidFill>
                        </a:rPr>
                        <a:t>&lt;30%</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&lt;30%</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0170821"/>
                  </a:ext>
                </a:extLst>
              </a:tr>
              <a:tr h="360000">
                <a:tc>
                  <a:txBody>
                    <a:bodyPr/>
                    <a:lstStyle/>
                    <a:p>
                      <a:pPr latinLnBrk="1"/>
                      <a:r>
                        <a:rPr lang="en-US" altLang="ko-KR" sz="1000" b="1" dirty="0">
                          <a:solidFill>
                            <a:srgbClr val="3D3D3D"/>
                          </a:solidFill>
                        </a:rPr>
                        <a:t>Fibrosis improvement rate</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&lt;50%</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19050" cap="flat" cmpd="sng" algn="ctr">
                      <a:solidFill>
                        <a:srgbClr val="539DFF"/>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algn="ctr" latinLnBrk="1"/>
                      <a:r>
                        <a:rPr lang="en-US" altLang="ko-KR" sz="1000" b="0" dirty="0">
                          <a:solidFill>
                            <a:srgbClr val="3D3D3D"/>
                          </a:solidFill>
                        </a:rPr>
                        <a:t>No significant effect</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&lt;20%</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6363118"/>
                  </a:ext>
                </a:extLst>
              </a:tr>
            </a:tbl>
          </a:graphicData>
        </a:graphic>
      </p:graphicFrame>
      <p:graphicFrame>
        <p:nvGraphicFramePr>
          <p:cNvPr id="15" name="표 14">
            <a:extLst>
              <a:ext uri="{FF2B5EF4-FFF2-40B4-BE49-F238E27FC236}">
                <a16:creationId xmlns:a16="http://schemas.microsoft.com/office/drawing/2014/main" id="{09374224-6EE0-1E16-6E28-6C5975EABAA3}"/>
              </a:ext>
            </a:extLst>
          </p:cNvPr>
          <p:cNvGraphicFramePr>
            <a:graphicFrameLocks noGrp="1"/>
          </p:cNvGraphicFramePr>
          <p:nvPr>
            <p:extLst>
              <p:ext uri="{D42A27DB-BD31-4B8C-83A1-F6EECF244321}">
                <p14:modId xmlns:p14="http://schemas.microsoft.com/office/powerpoint/2010/main" val="2318123415"/>
              </p:ext>
            </p:extLst>
          </p:nvPr>
        </p:nvGraphicFramePr>
        <p:xfrm>
          <a:off x="5061000" y="4067542"/>
          <a:ext cx="4392000" cy="122400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689524448"/>
                    </a:ext>
                  </a:extLst>
                </a:gridCol>
                <a:gridCol w="1044000">
                  <a:extLst>
                    <a:ext uri="{9D8B030D-6E8A-4147-A177-3AD203B41FA5}">
                      <a16:colId xmlns:a16="http://schemas.microsoft.com/office/drawing/2014/main" val="2188746256"/>
                    </a:ext>
                  </a:extLst>
                </a:gridCol>
                <a:gridCol w="1044000">
                  <a:extLst>
                    <a:ext uri="{9D8B030D-6E8A-4147-A177-3AD203B41FA5}">
                      <a16:colId xmlns:a16="http://schemas.microsoft.com/office/drawing/2014/main" val="3980685402"/>
                    </a:ext>
                  </a:extLst>
                </a:gridCol>
                <a:gridCol w="1044000">
                  <a:extLst>
                    <a:ext uri="{9D8B030D-6E8A-4147-A177-3AD203B41FA5}">
                      <a16:colId xmlns:a16="http://schemas.microsoft.com/office/drawing/2014/main" val="4071453206"/>
                    </a:ext>
                  </a:extLst>
                </a:gridCol>
              </a:tblGrid>
              <a:tr h="288000">
                <a:tc>
                  <a:txBody>
                    <a:bodyPr/>
                    <a:lstStyle/>
                    <a:p>
                      <a:pPr latinLnBrk="1"/>
                      <a:r>
                        <a:rPr lang="en-US" altLang="ko-KR" sz="1000" b="1" dirty="0">
                          <a:solidFill>
                            <a:srgbClr val="3D3D3D"/>
                          </a:solidFill>
                        </a:rPr>
                        <a:t>Compound</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1" dirty="0">
                          <a:solidFill>
                            <a:srgbClr val="11244A"/>
                          </a:solidFill>
                        </a:rPr>
                        <a:t>FM101</a:t>
                      </a:r>
                      <a:endParaRPr lang="ko-KR" altLang="en-US" sz="1000" b="1" dirty="0">
                        <a:solidFill>
                          <a:srgbClr val="11244A"/>
                        </a:solidFill>
                      </a:endParaRPr>
                    </a:p>
                  </a:txBody>
                  <a:tcPr marL="36000" marR="36000" marT="0" marB="0" anchor="ctr">
                    <a:lnL w="19050" cap="flat" cmpd="sng" algn="ctr">
                      <a:solidFill>
                        <a:srgbClr val="539DFF"/>
                      </a:solidFill>
                      <a:prstDash val="dash"/>
                      <a:round/>
                      <a:headEnd type="none" w="med" len="med"/>
                      <a:tailEnd type="none" w="med" len="med"/>
                    </a:lnL>
                    <a:lnR w="19050" cap="flat" cmpd="sng" algn="ctr">
                      <a:solidFill>
                        <a:srgbClr val="539DFF"/>
                      </a:solidFill>
                      <a:prstDash val="dash"/>
                      <a:round/>
                      <a:headEnd type="none" w="med" len="med"/>
                      <a:tailEnd type="none" w="med" len="med"/>
                    </a:lnR>
                    <a:lnT w="19050" cap="flat" cmpd="sng" algn="ctr">
                      <a:solidFill>
                        <a:srgbClr val="539DFF"/>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algn="ctr" latinLnBrk="1"/>
                      <a:r>
                        <a:rPr lang="en-US" altLang="ko-KR" sz="1000" b="1" dirty="0" err="1">
                          <a:solidFill>
                            <a:srgbClr val="11244A"/>
                          </a:solidFill>
                        </a:rPr>
                        <a:t>Rezdiffra</a:t>
                      </a:r>
                      <a:endParaRPr lang="ko-KR" altLang="en-US" sz="1000" b="1" dirty="0">
                        <a:solidFill>
                          <a:srgbClr val="11244A"/>
                        </a:solidFill>
                      </a:endParaRPr>
                    </a:p>
                  </a:txBody>
                  <a:tcPr marL="36000" marR="36000" marT="0" marB="0" anchor="ctr">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1" dirty="0" err="1">
                          <a:solidFill>
                            <a:srgbClr val="11244A"/>
                          </a:solidFill>
                        </a:rPr>
                        <a:t>Ocaliva</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2780519"/>
                  </a:ext>
                </a:extLst>
              </a:tr>
              <a:tr h="360000">
                <a:tc>
                  <a:txBody>
                    <a:bodyPr/>
                    <a:lstStyle/>
                    <a:p>
                      <a:pPr latinLnBrk="1"/>
                      <a:r>
                        <a:rPr lang="en-US" altLang="ko-KR" sz="1000" b="1" dirty="0">
                          <a:solidFill>
                            <a:srgbClr val="3D3D3D"/>
                          </a:solidFill>
                        </a:rPr>
                        <a:t>Effective dose</a:t>
                      </a:r>
                    </a:p>
                    <a:p>
                      <a:pPr latinLnBrk="1"/>
                      <a:r>
                        <a:rPr lang="en-US" altLang="ko-KR" sz="800" b="0" dirty="0">
                          <a:solidFill>
                            <a:srgbClr val="3D3D3D"/>
                          </a:solidFill>
                        </a:rPr>
                        <a:t>(in mg/day)</a:t>
                      </a:r>
                      <a:endParaRPr lang="ko-KR" altLang="en-US" sz="800" b="0" dirty="0">
                        <a:solidFill>
                          <a:srgbClr val="3D3D3D"/>
                        </a:solidFill>
                      </a:endParaRPr>
                    </a:p>
                  </a:txBody>
                  <a:tcPr marL="36000" marR="36000" marT="0" marB="0" anchor="ctr">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150 - 300</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algn="ctr" latinLnBrk="1"/>
                      <a:r>
                        <a:rPr lang="en-US" altLang="ko-KR" sz="1000" b="0" dirty="0">
                          <a:solidFill>
                            <a:srgbClr val="3D3D3D"/>
                          </a:solidFill>
                        </a:rPr>
                        <a:t>100</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50</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2965576"/>
                  </a:ext>
                </a:extLst>
              </a:tr>
              <a:tr h="288000">
                <a:tc>
                  <a:txBody>
                    <a:bodyPr/>
                    <a:lstStyle/>
                    <a:p>
                      <a:pPr latinLnBrk="1"/>
                      <a:r>
                        <a:rPr lang="en-US" altLang="ko-KR" sz="1000" b="1" dirty="0">
                          <a:solidFill>
                            <a:srgbClr val="3D3D3D"/>
                          </a:solidFill>
                        </a:rPr>
                        <a:t>Treatment duration</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13 weeks</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algn="ctr" latinLnBrk="1"/>
                      <a:r>
                        <a:rPr lang="en-US" altLang="ko-KR" sz="1000" b="0" dirty="0">
                          <a:solidFill>
                            <a:srgbClr val="3D3D3D"/>
                          </a:solidFill>
                        </a:rPr>
                        <a:t>52 weeks</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16 weeks</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0170821"/>
                  </a:ext>
                </a:extLst>
              </a:tr>
              <a:tr h="288000">
                <a:tc>
                  <a:txBody>
                    <a:bodyPr/>
                    <a:lstStyle/>
                    <a:p>
                      <a:pPr latinLnBrk="1"/>
                      <a:r>
                        <a:rPr lang="en-US" altLang="ko-KR" sz="1000" b="1" dirty="0">
                          <a:solidFill>
                            <a:srgbClr val="3D3D3D"/>
                          </a:solidFill>
                        </a:rPr>
                        <a:t>ELF improvement</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-0.63</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19050" cap="flat" cmpd="sng" algn="ctr">
                      <a:solidFill>
                        <a:srgbClr val="539DFF"/>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algn="ctr" latinLnBrk="1"/>
                      <a:r>
                        <a:rPr lang="en-US" altLang="ko-KR" sz="1000" b="0" dirty="0">
                          <a:solidFill>
                            <a:srgbClr val="3D3D3D"/>
                          </a:solidFill>
                        </a:rPr>
                        <a:t>-0.3</a:t>
                      </a:r>
                      <a:endParaRPr lang="ko-KR" altLang="en-US" sz="1000" b="0" dirty="0">
                        <a:solidFill>
                          <a:srgbClr val="3D3D3D"/>
                        </a:solidFill>
                      </a:endParaRPr>
                    </a:p>
                  </a:txBody>
                  <a:tcPr marL="36000" marR="36000" marT="0" marB="0" anchor="ctr">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1000" b="0" dirty="0">
                          <a:solidFill>
                            <a:srgbClr val="3D3D3D"/>
                          </a:solidFill>
                        </a:rPr>
                        <a:t>-0.4</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6363118"/>
                  </a:ext>
                </a:extLst>
              </a:tr>
            </a:tbl>
          </a:graphicData>
        </a:graphic>
      </p:graphicFrame>
      <p:sp>
        <p:nvSpPr>
          <p:cNvPr id="16" name="TextBox 15">
            <a:extLst>
              <a:ext uri="{FF2B5EF4-FFF2-40B4-BE49-F238E27FC236}">
                <a16:creationId xmlns:a16="http://schemas.microsoft.com/office/drawing/2014/main" id="{724918CB-A3BC-6259-824B-E5818F29E068}"/>
              </a:ext>
            </a:extLst>
          </p:cNvPr>
          <p:cNvSpPr txBox="1"/>
          <p:nvPr/>
        </p:nvSpPr>
        <p:spPr>
          <a:xfrm>
            <a:off x="5061000" y="2168525"/>
            <a:ext cx="1078821"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In Vivo FFD Model</a:t>
            </a:r>
            <a:endParaRPr lang="ko-KR" altLang="en-US" sz="1000" b="1" dirty="0">
              <a:solidFill>
                <a:srgbClr val="539DFF"/>
              </a:solidFill>
            </a:endParaRPr>
          </a:p>
        </p:txBody>
      </p:sp>
      <p:sp>
        <p:nvSpPr>
          <p:cNvPr id="17" name="TextBox 16">
            <a:extLst>
              <a:ext uri="{FF2B5EF4-FFF2-40B4-BE49-F238E27FC236}">
                <a16:creationId xmlns:a16="http://schemas.microsoft.com/office/drawing/2014/main" id="{BC4250DE-1384-7418-CF96-982CF540DFD8}"/>
              </a:ext>
            </a:extLst>
          </p:cNvPr>
          <p:cNvSpPr txBox="1"/>
          <p:nvPr/>
        </p:nvSpPr>
        <p:spPr>
          <a:xfrm>
            <a:off x="5061000" y="3823693"/>
            <a:ext cx="2951129"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Comparison of Fibrosis Indicators in Clinical Trial</a:t>
            </a:r>
            <a:endParaRPr lang="ko-KR" altLang="en-US" sz="1000" b="1" dirty="0">
              <a:solidFill>
                <a:srgbClr val="539DFF"/>
              </a:solidFill>
            </a:endParaRPr>
          </a:p>
        </p:txBody>
      </p:sp>
    </p:spTree>
    <p:extLst>
      <p:ext uri="{BB962C8B-B14F-4D97-AF65-F5344CB8AC3E}">
        <p14:creationId xmlns:p14="http://schemas.microsoft.com/office/powerpoint/2010/main" val="1002481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B071D-598D-9456-EAAF-4DA9950B04E5}"/>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9778D43A-0CC8-940E-0AFE-278C236D18E3}"/>
              </a:ext>
            </a:extLst>
          </p:cNvPr>
          <p:cNvSpPr>
            <a:spLocks noGrp="1"/>
          </p:cNvSpPr>
          <p:nvPr>
            <p:ph type="body" sz="quarter" idx="11"/>
          </p:nvPr>
        </p:nvSpPr>
        <p:spPr/>
        <p:txBody>
          <a:bodyPr/>
          <a:lstStyle/>
          <a:p>
            <a:r>
              <a:rPr lang="en-US" altLang="ko-KR" dirty="0"/>
              <a:t>FM801 &amp; FM301 - Pipeline Expansion opportunities</a:t>
            </a:r>
            <a:endParaRPr lang="ko-KR" altLang="en-US" dirty="0"/>
          </a:p>
        </p:txBody>
      </p:sp>
      <p:sp>
        <p:nvSpPr>
          <p:cNvPr id="3" name="텍스트 개체 틀 2">
            <a:extLst>
              <a:ext uri="{FF2B5EF4-FFF2-40B4-BE49-F238E27FC236}">
                <a16:creationId xmlns:a16="http://schemas.microsoft.com/office/drawing/2014/main" id="{70FD38EC-17C0-BAEC-2A2B-E1E2ECBF5A4D}"/>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E3CE1F4-F149-0C38-D83F-CC702E0995F8}"/>
              </a:ext>
            </a:extLst>
          </p:cNvPr>
          <p:cNvSpPr>
            <a:spLocks noGrp="1"/>
          </p:cNvSpPr>
          <p:nvPr>
            <p:ph type="sldNum" sz="quarter" idx="13"/>
          </p:nvPr>
        </p:nvSpPr>
        <p:spPr/>
        <p:txBody>
          <a:bodyPr/>
          <a:lstStyle/>
          <a:p>
            <a:fld id="{C053318C-A610-4AA5-9FF7-26630BAA1E31}" type="slidenum">
              <a:rPr lang="en-US" altLang="ko-KR" smtClean="0"/>
              <a:pPr/>
              <a:t>21</a:t>
            </a:fld>
            <a:endParaRPr lang="en-US" dirty="0"/>
          </a:p>
        </p:txBody>
      </p:sp>
      <p:sp>
        <p:nvSpPr>
          <p:cNvPr id="8" name="TextBox 7">
            <a:extLst>
              <a:ext uri="{FF2B5EF4-FFF2-40B4-BE49-F238E27FC236}">
                <a16:creationId xmlns:a16="http://schemas.microsoft.com/office/drawing/2014/main" id="{8CFBF3E5-C69B-0CEB-1A30-8CB6AD23C33B}"/>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Both FM801 and FM301 assets extend platform value beyond FM101, with mechanistic proof and early efficacy signals in oncology &amp; inflammation.</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A00935C2-3966-15ED-2382-7B3B2D99C201}"/>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FM801 Overview &amp; Advantages</a:t>
            </a:r>
            <a:endParaRPr lang="ko-KR" altLang="en-US" sz="1200" b="1" dirty="0">
              <a:solidFill>
                <a:schemeClr val="bg1"/>
              </a:solidFill>
            </a:endParaRPr>
          </a:p>
        </p:txBody>
      </p:sp>
      <p:sp>
        <p:nvSpPr>
          <p:cNvPr id="10" name="직사각형 9">
            <a:extLst>
              <a:ext uri="{FF2B5EF4-FFF2-40B4-BE49-F238E27FC236}">
                <a16:creationId xmlns:a16="http://schemas.microsoft.com/office/drawing/2014/main" id="{DAE3B78B-EF3F-E6C5-0C10-43B83C079B83}"/>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FM301 Overview &amp; Advantages</a:t>
            </a:r>
            <a:endParaRPr lang="ko-KR" altLang="en-US" sz="1200" b="1" dirty="0">
              <a:solidFill>
                <a:schemeClr val="bg1"/>
              </a:solidFill>
            </a:endParaRPr>
          </a:p>
        </p:txBody>
      </p:sp>
      <p:sp>
        <p:nvSpPr>
          <p:cNvPr id="11" name="TextBox 10">
            <a:extLst>
              <a:ext uri="{FF2B5EF4-FFF2-40B4-BE49-F238E27FC236}">
                <a16:creationId xmlns:a16="http://schemas.microsoft.com/office/drawing/2014/main" id="{ACF5D1B7-532D-088A-BA0E-4468ACF35C2C}"/>
              </a:ext>
            </a:extLst>
          </p:cNvPr>
          <p:cNvSpPr txBox="1"/>
          <p:nvPr/>
        </p:nvSpPr>
        <p:spPr>
          <a:xfrm>
            <a:off x="453000" y="2168525"/>
            <a:ext cx="4391999" cy="1142942"/>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A2A receptor antagonist</a:t>
            </a:r>
            <a:r>
              <a:rPr lang="en-US" altLang="ko-KR" sz="1000" dirty="0">
                <a:solidFill>
                  <a:srgbClr val="3D3D3D"/>
                </a:solidFill>
              </a:rPr>
              <a:t> restoring anti-tumor immune response</a:t>
            </a:r>
          </a:p>
          <a:p>
            <a:pPr marL="171450" indent="-171450" algn="l">
              <a:lnSpc>
                <a:spcPct val="110000"/>
              </a:lnSpc>
              <a:spcBef>
                <a:spcPts val="600"/>
              </a:spcBef>
              <a:buClr>
                <a:srgbClr val="3D3D3D"/>
              </a:buClr>
              <a:buFont typeface="Wingdings" panose="05000000000000000000" pitchFamily="2" charset="2"/>
              <a:buChar char="ü"/>
            </a:pPr>
            <a:r>
              <a:rPr lang="en-US" altLang="ko-KR" sz="1000" spc="-20" dirty="0">
                <a:solidFill>
                  <a:srgbClr val="3D3D3D"/>
                </a:solidFill>
              </a:rPr>
              <a:t>Reduces </a:t>
            </a:r>
            <a:r>
              <a:rPr lang="en-US" altLang="ko-KR" sz="1000" b="1" spc="-20" dirty="0">
                <a:solidFill>
                  <a:srgbClr val="11244A"/>
                </a:solidFill>
              </a:rPr>
              <a:t>adenosine-driven T-cell suppression </a:t>
            </a:r>
            <a:r>
              <a:rPr lang="en-US" altLang="ko-KR" sz="1000" spc="-20" dirty="0">
                <a:solidFill>
                  <a:srgbClr val="3D3D3D"/>
                </a:solidFill>
              </a:rPr>
              <a:t>in tumor microenvironment</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Preclinical efficacy signals support advancement into </a:t>
            </a:r>
            <a:r>
              <a:rPr lang="en-US" altLang="ko-KR" sz="1000" b="1" dirty="0">
                <a:solidFill>
                  <a:srgbClr val="11244A"/>
                </a:solidFill>
              </a:rPr>
              <a:t>solid tumors</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Enables combination opportunity with </a:t>
            </a:r>
            <a:r>
              <a:rPr lang="en-US" altLang="ko-KR" sz="1000" b="1" dirty="0">
                <a:solidFill>
                  <a:srgbClr val="11244A"/>
                </a:solidFill>
              </a:rPr>
              <a:t>PD-1 / checkpoint inhibitors</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High partnering interest </a:t>
            </a:r>
            <a:r>
              <a:rPr lang="en-US" altLang="ko-KR" sz="1000" dirty="0">
                <a:solidFill>
                  <a:srgbClr val="3D3D3D"/>
                </a:solidFill>
              </a:rPr>
              <a:t>in immuno-oncology space</a:t>
            </a:r>
            <a:endParaRPr lang="en-US" altLang="ko-KR" sz="1000" spc="-20" dirty="0">
              <a:solidFill>
                <a:srgbClr val="3D3D3D"/>
              </a:solidFill>
            </a:endParaRPr>
          </a:p>
        </p:txBody>
      </p:sp>
      <p:sp>
        <p:nvSpPr>
          <p:cNvPr id="12" name="TextBox 11">
            <a:extLst>
              <a:ext uri="{FF2B5EF4-FFF2-40B4-BE49-F238E27FC236}">
                <a16:creationId xmlns:a16="http://schemas.microsoft.com/office/drawing/2014/main" id="{D15B1694-2E01-8E4E-7ED6-6F8D5CE2024F}"/>
              </a:ext>
            </a:extLst>
          </p:cNvPr>
          <p:cNvSpPr txBox="1"/>
          <p:nvPr/>
        </p:nvSpPr>
        <p:spPr>
          <a:xfrm>
            <a:off x="5061001" y="2168525"/>
            <a:ext cx="4391999" cy="1142942"/>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A3AR-based anti-inflammatory </a:t>
            </a:r>
            <a:r>
              <a:rPr lang="en-US" altLang="ko-KR" sz="1000" dirty="0">
                <a:solidFill>
                  <a:srgbClr val="3D3D3D"/>
                </a:solidFill>
              </a:rPr>
              <a:t>mechanism leveraged from FM101</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Preclinical efficacy demonstrated in </a:t>
            </a:r>
            <a:r>
              <a:rPr lang="en-US" altLang="ko-KR" sz="1000" b="1" dirty="0">
                <a:solidFill>
                  <a:srgbClr val="11244A"/>
                </a:solidFill>
              </a:rPr>
              <a:t>inflammation and fibrosis markers</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Oral small molecule option </a:t>
            </a:r>
            <a:r>
              <a:rPr lang="en-US" altLang="ko-KR" sz="1000" dirty="0">
                <a:solidFill>
                  <a:srgbClr val="3D3D3D"/>
                </a:solidFill>
              </a:rPr>
              <a:t>vs biologic standards of care</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Broad indication optionality in </a:t>
            </a:r>
            <a:r>
              <a:rPr lang="en-US" altLang="ko-KR" sz="1000" b="1" dirty="0">
                <a:solidFill>
                  <a:srgbClr val="11244A"/>
                </a:solidFill>
              </a:rPr>
              <a:t>chronic inflammatory conditions</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Long-term pipeline value </a:t>
            </a:r>
            <a:r>
              <a:rPr lang="en-US" altLang="ko-KR" sz="1000" dirty="0">
                <a:solidFill>
                  <a:srgbClr val="3D3D3D"/>
                </a:solidFill>
              </a:rPr>
              <a:t>as platform expands</a:t>
            </a:r>
          </a:p>
        </p:txBody>
      </p:sp>
      <p:graphicFrame>
        <p:nvGraphicFramePr>
          <p:cNvPr id="14" name="표 13">
            <a:extLst>
              <a:ext uri="{FF2B5EF4-FFF2-40B4-BE49-F238E27FC236}">
                <a16:creationId xmlns:a16="http://schemas.microsoft.com/office/drawing/2014/main" id="{2B9D4BE8-9A14-2A1C-5657-7891E6DEA21A}"/>
              </a:ext>
            </a:extLst>
          </p:cNvPr>
          <p:cNvGraphicFramePr>
            <a:graphicFrameLocks noGrp="1"/>
          </p:cNvGraphicFramePr>
          <p:nvPr>
            <p:extLst>
              <p:ext uri="{D42A27DB-BD31-4B8C-83A1-F6EECF244321}">
                <p14:modId xmlns:p14="http://schemas.microsoft.com/office/powerpoint/2010/main" val="3377878068"/>
              </p:ext>
            </p:extLst>
          </p:nvPr>
        </p:nvGraphicFramePr>
        <p:xfrm>
          <a:off x="453000" y="5048975"/>
          <a:ext cx="4392000" cy="720000"/>
        </p:xfrm>
        <a:graphic>
          <a:graphicData uri="http://schemas.openxmlformats.org/drawingml/2006/table">
            <a:tbl>
              <a:tblPr firstRow="1" bandRow="1">
                <a:tableStyleId>{5C22544A-7EE6-4342-B048-85BDC9FD1C3A}</a:tableStyleId>
              </a:tblPr>
              <a:tblGrid>
                <a:gridCol w="792000">
                  <a:extLst>
                    <a:ext uri="{9D8B030D-6E8A-4147-A177-3AD203B41FA5}">
                      <a16:colId xmlns:a16="http://schemas.microsoft.com/office/drawing/2014/main" val="2642905345"/>
                    </a:ext>
                  </a:extLst>
                </a:gridCol>
                <a:gridCol w="792000">
                  <a:extLst>
                    <a:ext uri="{9D8B030D-6E8A-4147-A177-3AD203B41FA5}">
                      <a16:colId xmlns:a16="http://schemas.microsoft.com/office/drawing/2014/main" val="4274646455"/>
                    </a:ext>
                  </a:extLst>
                </a:gridCol>
                <a:gridCol w="936000">
                  <a:extLst>
                    <a:ext uri="{9D8B030D-6E8A-4147-A177-3AD203B41FA5}">
                      <a16:colId xmlns:a16="http://schemas.microsoft.com/office/drawing/2014/main" val="1515685662"/>
                    </a:ext>
                  </a:extLst>
                </a:gridCol>
                <a:gridCol w="936000">
                  <a:extLst>
                    <a:ext uri="{9D8B030D-6E8A-4147-A177-3AD203B41FA5}">
                      <a16:colId xmlns:a16="http://schemas.microsoft.com/office/drawing/2014/main" val="4135788619"/>
                    </a:ext>
                  </a:extLst>
                </a:gridCol>
                <a:gridCol w="936000">
                  <a:extLst>
                    <a:ext uri="{9D8B030D-6E8A-4147-A177-3AD203B41FA5}">
                      <a16:colId xmlns:a16="http://schemas.microsoft.com/office/drawing/2014/main" val="1050082323"/>
                    </a:ext>
                  </a:extLst>
                </a:gridCol>
              </a:tblGrid>
              <a:tr h="360000">
                <a:tc>
                  <a:txBody>
                    <a:bodyPr/>
                    <a:lstStyle/>
                    <a:p>
                      <a:pPr latinLnBrk="1"/>
                      <a:r>
                        <a:rPr lang="en-US" altLang="ko-KR" sz="1000" b="1" dirty="0">
                          <a:solidFill>
                            <a:srgbClr val="3D3D3D"/>
                          </a:solidFill>
                        </a:rPr>
                        <a:t>Asset</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Indication</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Discovery</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Pre-clinical</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Phase 1</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28875"/>
                  </a:ext>
                </a:extLst>
              </a:tr>
              <a:tr h="360000">
                <a:tc>
                  <a:txBody>
                    <a:bodyPr/>
                    <a:lstStyle/>
                    <a:p>
                      <a:pPr latinLnBrk="1"/>
                      <a:r>
                        <a:rPr lang="en-US" altLang="ko-KR" sz="1000" b="1" dirty="0">
                          <a:solidFill>
                            <a:srgbClr val="11244A"/>
                          </a:solidFill>
                        </a:rPr>
                        <a:t>FM801</a:t>
                      </a:r>
                      <a:endParaRPr lang="ko-KR" altLang="en-US" sz="1000" b="1" dirty="0">
                        <a:solidFill>
                          <a:srgbClr val="11244A"/>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Obesity</a:t>
                      </a:r>
                      <a:endParaRPr lang="ko-KR" altLang="en-US" sz="1000" b="0"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852138"/>
                  </a:ext>
                </a:extLst>
              </a:tr>
            </a:tbl>
          </a:graphicData>
        </a:graphic>
      </p:graphicFrame>
      <p:sp>
        <p:nvSpPr>
          <p:cNvPr id="17" name="화살표: 오른쪽 16">
            <a:extLst>
              <a:ext uri="{FF2B5EF4-FFF2-40B4-BE49-F238E27FC236}">
                <a16:creationId xmlns:a16="http://schemas.microsoft.com/office/drawing/2014/main" id="{9921019B-9BF6-C4FC-93A2-03128995072B}"/>
              </a:ext>
            </a:extLst>
          </p:cNvPr>
          <p:cNvSpPr/>
          <p:nvPr/>
        </p:nvSpPr>
        <p:spPr>
          <a:xfrm>
            <a:off x="2037000" y="5444975"/>
            <a:ext cx="2807999" cy="288000"/>
          </a:xfrm>
          <a:prstGeom prst="rightArrow">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9" name="화살표: 오른쪽 18">
            <a:extLst>
              <a:ext uri="{FF2B5EF4-FFF2-40B4-BE49-F238E27FC236}">
                <a16:creationId xmlns:a16="http://schemas.microsoft.com/office/drawing/2014/main" id="{087CA1C0-8F41-55D3-08E4-785137FB7C97}"/>
              </a:ext>
            </a:extLst>
          </p:cNvPr>
          <p:cNvSpPr/>
          <p:nvPr/>
        </p:nvSpPr>
        <p:spPr>
          <a:xfrm>
            <a:off x="2037001" y="5444975"/>
            <a:ext cx="1404000" cy="288000"/>
          </a:xfrm>
          <a:prstGeom prst="rightArrow">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graphicFrame>
        <p:nvGraphicFramePr>
          <p:cNvPr id="26" name="표 25">
            <a:extLst>
              <a:ext uri="{FF2B5EF4-FFF2-40B4-BE49-F238E27FC236}">
                <a16:creationId xmlns:a16="http://schemas.microsoft.com/office/drawing/2014/main" id="{C136B42A-5682-887A-D979-DCAE938279AA}"/>
              </a:ext>
            </a:extLst>
          </p:cNvPr>
          <p:cNvGraphicFramePr>
            <a:graphicFrameLocks noGrp="1"/>
          </p:cNvGraphicFramePr>
          <p:nvPr>
            <p:extLst>
              <p:ext uri="{D42A27DB-BD31-4B8C-83A1-F6EECF244321}">
                <p14:modId xmlns:p14="http://schemas.microsoft.com/office/powerpoint/2010/main" val="1964978481"/>
              </p:ext>
            </p:extLst>
          </p:nvPr>
        </p:nvGraphicFramePr>
        <p:xfrm>
          <a:off x="5060999" y="5048975"/>
          <a:ext cx="4392000" cy="720000"/>
        </p:xfrm>
        <a:graphic>
          <a:graphicData uri="http://schemas.openxmlformats.org/drawingml/2006/table">
            <a:tbl>
              <a:tblPr firstRow="1" bandRow="1">
                <a:tableStyleId>{5C22544A-7EE6-4342-B048-85BDC9FD1C3A}</a:tableStyleId>
              </a:tblPr>
              <a:tblGrid>
                <a:gridCol w="792000">
                  <a:extLst>
                    <a:ext uri="{9D8B030D-6E8A-4147-A177-3AD203B41FA5}">
                      <a16:colId xmlns:a16="http://schemas.microsoft.com/office/drawing/2014/main" val="2642905345"/>
                    </a:ext>
                  </a:extLst>
                </a:gridCol>
                <a:gridCol w="792000">
                  <a:extLst>
                    <a:ext uri="{9D8B030D-6E8A-4147-A177-3AD203B41FA5}">
                      <a16:colId xmlns:a16="http://schemas.microsoft.com/office/drawing/2014/main" val="4274646455"/>
                    </a:ext>
                  </a:extLst>
                </a:gridCol>
                <a:gridCol w="936000">
                  <a:extLst>
                    <a:ext uri="{9D8B030D-6E8A-4147-A177-3AD203B41FA5}">
                      <a16:colId xmlns:a16="http://schemas.microsoft.com/office/drawing/2014/main" val="1515685662"/>
                    </a:ext>
                  </a:extLst>
                </a:gridCol>
                <a:gridCol w="936000">
                  <a:extLst>
                    <a:ext uri="{9D8B030D-6E8A-4147-A177-3AD203B41FA5}">
                      <a16:colId xmlns:a16="http://schemas.microsoft.com/office/drawing/2014/main" val="4135788619"/>
                    </a:ext>
                  </a:extLst>
                </a:gridCol>
                <a:gridCol w="936000">
                  <a:extLst>
                    <a:ext uri="{9D8B030D-6E8A-4147-A177-3AD203B41FA5}">
                      <a16:colId xmlns:a16="http://schemas.microsoft.com/office/drawing/2014/main" val="1050082323"/>
                    </a:ext>
                  </a:extLst>
                </a:gridCol>
              </a:tblGrid>
              <a:tr h="360000">
                <a:tc>
                  <a:txBody>
                    <a:bodyPr/>
                    <a:lstStyle/>
                    <a:p>
                      <a:pPr latinLnBrk="1"/>
                      <a:r>
                        <a:rPr lang="en-US" altLang="ko-KR" sz="1000" b="1" dirty="0">
                          <a:solidFill>
                            <a:srgbClr val="3D3D3D"/>
                          </a:solidFill>
                        </a:rPr>
                        <a:t>Asset</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Indication</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Discovery</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Pre-clinical</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Phase 1</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28875"/>
                  </a:ext>
                </a:extLst>
              </a:tr>
              <a:tr h="360000">
                <a:tc>
                  <a:txBody>
                    <a:bodyPr/>
                    <a:lstStyle/>
                    <a:p>
                      <a:pPr latinLnBrk="1"/>
                      <a:r>
                        <a:rPr lang="en-US" altLang="ko-KR" sz="1000" b="1" dirty="0">
                          <a:solidFill>
                            <a:srgbClr val="11244A"/>
                          </a:solidFill>
                        </a:rPr>
                        <a:t>FM301</a:t>
                      </a:r>
                      <a:endParaRPr lang="ko-KR" altLang="en-US" sz="1000" b="1" dirty="0">
                        <a:solidFill>
                          <a:srgbClr val="11244A"/>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Oncology</a:t>
                      </a:r>
                      <a:endParaRPr lang="ko-KR" altLang="en-US" sz="1000" b="0"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852138"/>
                  </a:ext>
                </a:extLst>
              </a:tr>
            </a:tbl>
          </a:graphicData>
        </a:graphic>
      </p:graphicFrame>
      <p:sp>
        <p:nvSpPr>
          <p:cNvPr id="27" name="화살표: 오른쪽 26">
            <a:extLst>
              <a:ext uri="{FF2B5EF4-FFF2-40B4-BE49-F238E27FC236}">
                <a16:creationId xmlns:a16="http://schemas.microsoft.com/office/drawing/2014/main" id="{34831CF7-31E0-C038-5DE5-62B0866FB7BF}"/>
              </a:ext>
            </a:extLst>
          </p:cNvPr>
          <p:cNvSpPr/>
          <p:nvPr/>
        </p:nvSpPr>
        <p:spPr>
          <a:xfrm>
            <a:off x="6644999" y="5444975"/>
            <a:ext cx="2807999" cy="288000"/>
          </a:xfrm>
          <a:prstGeom prst="rightArrow">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28" name="화살표: 오른쪽 27">
            <a:extLst>
              <a:ext uri="{FF2B5EF4-FFF2-40B4-BE49-F238E27FC236}">
                <a16:creationId xmlns:a16="http://schemas.microsoft.com/office/drawing/2014/main" id="{28BCDA5A-A475-5032-97F4-39008CD36D90}"/>
              </a:ext>
            </a:extLst>
          </p:cNvPr>
          <p:cNvSpPr/>
          <p:nvPr/>
        </p:nvSpPr>
        <p:spPr>
          <a:xfrm>
            <a:off x="6645000" y="5444975"/>
            <a:ext cx="1404000" cy="288000"/>
          </a:xfrm>
          <a:prstGeom prst="rightArrow">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29" name="TextBox 28">
            <a:extLst>
              <a:ext uri="{FF2B5EF4-FFF2-40B4-BE49-F238E27FC236}">
                <a16:creationId xmlns:a16="http://schemas.microsoft.com/office/drawing/2014/main" id="{7A2E42A0-7CF6-0BCA-30E4-7E0268F0EBB7}"/>
              </a:ext>
            </a:extLst>
          </p:cNvPr>
          <p:cNvSpPr txBox="1"/>
          <p:nvPr/>
        </p:nvSpPr>
        <p:spPr>
          <a:xfrm>
            <a:off x="5061000" y="4765043"/>
            <a:ext cx="1231106"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Development Status</a:t>
            </a:r>
            <a:endParaRPr lang="ko-KR" altLang="en-US" sz="1000" b="1" dirty="0">
              <a:solidFill>
                <a:srgbClr val="539DFF"/>
              </a:solidFill>
            </a:endParaRPr>
          </a:p>
        </p:txBody>
      </p:sp>
      <p:sp>
        <p:nvSpPr>
          <p:cNvPr id="30" name="TextBox 29">
            <a:extLst>
              <a:ext uri="{FF2B5EF4-FFF2-40B4-BE49-F238E27FC236}">
                <a16:creationId xmlns:a16="http://schemas.microsoft.com/office/drawing/2014/main" id="{69951191-298B-72D0-ED2F-DDAD62C32E2F}"/>
              </a:ext>
            </a:extLst>
          </p:cNvPr>
          <p:cNvSpPr txBox="1"/>
          <p:nvPr/>
        </p:nvSpPr>
        <p:spPr>
          <a:xfrm>
            <a:off x="453000" y="4765043"/>
            <a:ext cx="1231106"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Development Status</a:t>
            </a:r>
            <a:endParaRPr lang="ko-KR" altLang="en-US" sz="1000" b="1" dirty="0">
              <a:solidFill>
                <a:srgbClr val="539DFF"/>
              </a:solidFill>
            </a:endParaRPr>
          </a:p>
        </p:txBody>
      </p:sp>
      <p:sp>
        <p:nvSpPr>
          <p:cNvPr id="31" name="TextBox 30">
            <a:extLst>
              <a:ext uri="{FF2B5EF4-FFF2-40B4-BE49-F238E27FC236}">
                <a16:creationId xmlns:a16="http://schemas.microsoft.com/office/drawing/2014/main" id="{B4315FB0-AF27-C800-D5AB-A6AEF9AACBCB}"/>
              </a:ext>
            </a:extLst>
          </p:cNvPr>
          <p:cNvSpPr txBox="1"/>
          <p:nvPr/>
        </p:nvSpPr>
        <p:spPr>
          <a:xfrm>
            <a:off x="5061000" y="3437342"/>
            <a:ext cx="1277594"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Mechanism of Action</a:t>
            </a:r>
            <a:endParaRPr lang="ko-KR" altLang="en-US" sz="1000" b="1" dirty="0">
              <a:solidFill>
                <a:srgbClr val="539DFF"/>
              </a:solidFill>
            </a:endParaRPr>
          </a:p>
        </p:txBody>
      </p:sp>
      <p:pic>
        <p:nvPicPr>
          <p:cNvPr id="33" name="그림 32">
            <a:extLst>
              <a:ext uri="{FF2B5EF4-FFF2-40B4-BE49-F238E27FC236}">
                <a16:creationId xmlns:a16="http://schemas.microsoft.com/office/drawing/2014/main" id="{265A3094-3DDB-A8EC-F444-63A8456218CC}"/>
              </a:ext>
            </a:extLst>
          </p:cNvPr>
          <p:cNvPicPr>
            <a:picLocks/>
          </p:cNvPicPr>
          <p:nvPr/>
        </p:nvPicPr>
        <p:blipFill>
          <a:blip r:embed="rId2"/>
          <a:srcRect l="8396" t="16252" r="5451" b="13212"/>
          <a:stretch>
            <a:fillRect/>
          </a:stretch>
        </p:blipFill>
        <p:spPr>
          <a:xfrm>
            <a:off x="5457000" y="3628057"/>
            <a:ext cx="3600000" cy="1008000"/>
          </a:xfrm>
          <a:prstGeom prst="rect">
            <a:avLst/>
          </a:prstGeom>
        </p:spPr>
      </p:pic>
      <p:sp>
        <p:nvSpPr>
          <p:cNvPr id="35" name="TextBox 34">
            <a:extLst>
              <a:ext uri="{FF2B5EF4-FFF2-40B4-BE49-F238E27FC236}">
                <a16:creationId xmlns:a16="http://schemas.microsoft.com/office/drawing/2014/main" id="{D839D5ED-2AC7-837C-0FA6-C89D64407D52}"/>
              </a:ext>
            </a:extLst>
          </p:cNvPr>
          <p:cNvSpPr txBox="1"/>
          <p:nvPr/>
        </p:nvSpPr>
        <p:spPr>
          <a:xfrm>
            <a:off x="453000" y="3437342"/>
            <a:ext cx="1277594"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Mechanism of Action</a:t>
            </a:r>
            <a:endParaRPr lang="ko-KR" altLang="en-US" sz="1000" b="1" dirty="0">
              <a:solidFill>
                <a:srgbClr val="539DFF"/>
              </a:solidFill>
            </a:endParaRPr>
          </a:p>
        </p:txBody>
      </p:sp>
      <p:pic>
        <p:nvPicPr>
          <p:cNvPr id="39" name="그림 38">
            <a:extLst>
              <a:ext uri="{FF2B5EF4-FFF2-40B4-BE49-F238E27FC236}">
                <a16:creationId xmlns:a16="http://schemas.microsoft.com/office/drawing/2014/main" id="{01F2CC50-F7AC-D1C2-7E20-C8E7BA11B100}"/>
              </a:ext>
            </a:extLst>
          </p:cNvPr>
          <p:cNvPicPr>
            <a:picLocks/>
          </p:cNvPicPr>
          <p:nvPr/>
        </p:nvPicPr>
        <p:blipFill>
          <a:blip r:embed="rId3"/>
          <a:srcRect l="2792" t="14530" r="5506"/>
          <a:stretch>
            <a:fillRect/>
          </a:stretch>
        </p:blipFill>
        <p:spPr>
          <a:xfrm>
            <a:off x="849000" y="3628057"/>
            <a:ext cx="3600000" cy="1008000"/>
          </a:xfrm>
          <a:prstGeom prst="rect">
            <a:avLst/>
          </a:prstGeom>
        </p:spPr>
      </p:pic>
    </p:spTree>
    <p:extLst>
      <p:ext uri="{BB962C8B-B14F-4D97-AF65-F5344CB8AC3E}">
        <p14:creationId xmlns:p14="http://schemas.microsoft.com/office/powerpoint/2010/main" val="615827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F08DC-02DA-7C92-1D17-180D859D169F}"/>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C9CFDA0B-49D4-2900-E2B5-DB201A4F5AF9}"/>
              </a:ext>
            </a:extLst>
          </p:cNvPr>
          <p:cNvSpPr>
            <a:spLocks noGrp="1"/>
          </p:cNvSpPr>
          <p:nvPr>
            <p:ph type="body" sz="quarter" idx="11"/>
          </p:nvPr>
        </p:nvSpPr>
        <p:spPr/>
        <p:txBody>
          <a:bodyPr/>
          <a:lstStyle/>
          <a:p>
            <a:r>
              <a:rPr lang="en-US" altLang="ko-KR" dirty="0"/>
              <a:t>Curigin Overview</a:t>
            </a:r>
            <a:endParaRPr lang="ko-KR" altLang="en-US" dirty="0"/>
          </a:p>
        </p:txBody>
      </p:sp>
      <p:sp>
        <p:nvSpPr>
          <p:cNvPr id="3" name="텍스트 개체 틀 2">
            <a:extLst>
              <a:ext uri="{FF2B5EF4-FFF2-40B4-BE49-F238E27FC236}">
                <a16:creationId xmlns:a16="http://schemas.microsoft.com/office/drawing/2014/main" id="{B15165D8-CE54-0A7B-D119-B48FFC35C3FF}"/>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2475665-EB38-3F5B-65AB-23CF03A78D37}"/>
              </a:ext>
            </a:extLst>
          </p:cNvPr>
          <p:cNvSpPr>
            <a:spLocks noGrp="1"/>
          </p:cNvSpPr>
          <p:nvPr>
            <p:ph type="sldNum" sz="quarter" idx="13"/>
          </p:nvPr>
        </p:nvSpPr>
        <p:spPr/>
        <p:txBody>
          <a:bodyPr/>
          <a:lstStyle/>
          <a:p>
            <a:fld id="{C053318C-A610-4AA5-9FF7-26630BAA1E31}" type="slidenum">
              <a:rPr lang="en-US" altLang="ko-KR" smtClean="0"/>
              <a:pPr/>
              <a:t>22</a:t>
            </a:fld>
            <a:endParaRPr lang="en-US" dirty="0"/>
          </a:p>
        </p:txBody>
      </p:sp>
      <p:sp>
        <p:nvSpPr>
          <p:cNvPr id="11" name="TextBox 10">
            <a:extLst>
              <a:ext uri="{FF2B5EF4-FFF2-40B4-BE49-F238E27FC236}">
                <a16:creationId xmlns:a16="http://schemas.microsoft.com/office/drawing/2014/main" id="{EC481BA5-CFEE-B20D-11F0-40E706408494}"/>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Curigin is a bispecific siRNA platform developer with differentiated gene-silencing design and advancing assets across oncology and metabolic disease.</a:t>
            </a:r>
            <a:endParaRPr lang="ko-KR" altLang="en-US" sz="1400" b="1" dirty="0">
              <a:solidFill>
                <a:srgbClr val="3D3D3D"/>
              </a:solidFill>
            </a:endParaRPr>
          </a:p>
        </p:txBody>
      </p:sp>
      <p:sp>
        <p:nvSpPr>
          <p:cNvPr id="12" name="직사각형 11">
            <a:extLst>
              <a:ext uri="{FF2B5EF4-FFF2-40B4-BE49-F238E27FC236}">
                <a16:creationId xmlns:a16="http://schemas.microsoft.com/office/drawing/2014/main" id="{D94A615C-C027-1625-85B3-46C79FCDB143}"/>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Company Snapshot</a:t>
            </a:r>
            <a:endParaRPr lang="ko-KR" altLang="en-US" sz="1200" b="1" dirty="0">
              <a:solidFill>
                <a:schemeClr val="bg1"/>
              </a:solidFill>
            </a:endParaRPr>
          </a:p>
        </p:txBody>
      </p:sp>
      <p:sp>
        <p:nvSpPr>
          <p:cNvPr id="13" name="직사각형 12">
            <a:extLst>
              <a:ext uri="{FF2B5EF4-FFF2-40B4-BE49-F238E27FC236}">
                <a16:creationId xmlns:a16="http://schemas.microsoft.com/office/drawing/2014/main" id="{25F39CD2-2FF6-FBC7-9C81-44C48CD48968}"/>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Strategic Relevance for NKTx</a:t>
            </a:r>
            <a:endParaRPr lang="ko-KR" altLang="en-US" sz="1200" b="1" dirty="0">
              <a:solidFill>
                <a:schemeClr val="bg1"/>
              </a:solidFill>
            </a:endParaRPr>
          </a:p>
        </p:txBody>
      </p:sp>
      <p:sp>
        <p:nvSpPr>
          <p:cNvPr id="14" name="직사각형 13">
            <a:extLst>
              <a:ext uri="{FF2B5EF4-FFF2-40B4-BE49-F238E27FC236}">
                <a16:creationId xmlns:a16="http://schemas.microsoft.com/office/drawing/2014/main" id="{9C9EDF9B-DF8E-5107-F8BC-837F26C5683C}"/>
              </a:ext>
            </a:extLst>
          </p:cNvPr>
          <p:cNvSpPr/>
          <p:nvPr/>
        </p:nvSpPr>
        <p:spPr>
          <a:xfrm>
            <a:off x="453000" y="3572524"/>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Core Asset Pipeline</a:t>
            </a:r>
            <a:endParaRPr lang="ko-KR" altLang="en-US" sz="1200" b="1" dirty="0">
              <a:solidFill>
                <a:schemeClr val="bg1"/>
              </a:solidFill>
            </a:endParaRPr>
          </a:p>
        </p:txBody>
      </p:sp>
      <p:graphicFrame>
        <p:nvGraphicFramePr>
          <p:cNvPr id="15" name="표 14">
            <a:extLst>
              <a:ext uri="{FF2B5EF4-FFF2-40B4-BE49-F238E27FC236}">
                <a16:creationId xmlns:a16="http://schemas.microsoft.com/office/drawing/2014/main" id="{B1E170F9-5F2A-DBEA-A918-B025A8F8D3AF}"/>
              </a:ext>
            </a:extLst>
          </p:cNvPr>
          <p:cNvGraphicFramePr>
            <a:graphicFrameLocks noGrp="1"/>
          </p:cNvGraphicFramePr>
          <p:nvPr>
            <p:extLst>
              <p:ext uri="{D42A27DB-BD31-4B8C-83A1-F6EECF244321}">
                <p14:modId xmlns:p14="http://schemas.microsoft.com/office/powerpoint/2010/main" val="3764640576"/>
              </p:ext>
            </p:extLst>
          </p:nvPr>
        </p:nvGraphicFramePr>
        <p:xfrm>
          <a:off x="453000" y="4005262"/>
          <a:ext cx="9000000" cy="1152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642905345"/>
                    </a:ext>
                  </a:extLst>
                </a:gridCol>
                <a:gridCol w="2160000">
                  <a:extLst>
                    <a:ext uri="{9D8B030D-6E8A-4147-A177-3AD203B41FA5}">
                      <a16:colId xmlns:a16="http://schemas.microsoft.com/office/drawing/2014/main" val="4274646455"/>
                    </a:ext>
                  </a:extLst>
                </a:gridCol>
                <a:gridCol w="2160000">
                  <a:extLst>
                    <a:ext uri="{9D8B030D-6E8A-4147-A177-3AD203B41FA5}">
                      <a16:colId xmlns:a16="http://schemas.microsoft.com/office/drawing/2014/main" val="1515685662"/>
                    </a:ext>
                  </a:extLst>
                </a:gridCol>
                <a:gridCol w="3600000">
                  <a:extLst>
                    <a:ext uri="{9D8B030D-6E8A-4147-A177-3AD203B41FA5}">
                      <a16:colId xmlns:a16="http://schemas.microsoft.com/office/drawing/2014/main" val="4135788619"/>
                    </a:ext>
                  </a:extLst>
                </a:gridCol>
              </a:tblGrid>
              <a:tr h="288000">
                <a:tc>
                  <a:txBody>
                    <a:bodyPr/>
                    <a:lstStyle/>
                    <a:p>
                      <a:pPr latinLnBrk="1"/>
                      <a:r>
                        <a:rPr lang="en-US" altLang="ko-KR" sz="1000" b="1" dirty="0">
                          <a:solidFill>
                            <a:srgbClr val="3D3D3D"/>
                          </a:solidFill>
                        </a:rPr>
                        <a:t>Asset</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Indication</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Stage</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Value angle</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28875"/>
                  </a:ext>
                </a:extLst>
              </a:tr>
              <a:tr h="288000">
                <a:tc>
                  <a:txBody>
                    <a:bodyPr/>
                    <a:lstStyle/>
                    <a:p>
                      <a:pPr latinLnBrk="1"/>
                      <a:r>
                        <a:rPr lang="en-US" altLang="ko-KR" sz="1000" b="1" dirty="0">
                          <a:solidFill>
                            <a:srgbClr val="11244A"/>
                          </a:solidFill>
                        </a:rPr>
                        <a:t>CA102</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BCG-unresponsive NMIBC</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Pre-clinical → IND 2026</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Dual-mechanism oncolytic virus + bispecific siRNA</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7219096"/>
                  </a:ext>
                </a:extLst>
              </a:tr>
              <a:tr h="288000">
                <a:tc>
                  <a:txBody>
                    <a:bodyPr/>
                    <a:lstStyle/>
                    <a:p>
                      <a:pPr latinLnBrk="1"/>
                      <a:r>
                        <a:rPr lang="en-US" altLang="ko-KR" sz="1000" b="1" dirty="0">
                          <a:solidFill>
                            <a:srgbClr val="11244A"/>
                          </a:solidFill>
                        </a:rPr>
                        <a:t>Csi103</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Dyslipidemia (LDL-C &amp; TG)</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Pre-clinical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PCSK9 + APOC3 dual suppression for metabolic disease</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4981289"/>
                  </a:ext>
                </a:extLst>
              </a:tr>
              <a:tr h="288000">
                <a:tc>
                  <a:txBody>
                    <a:bodyPr/>
                    <a:lstStyle/>
                    <a:p>
                      <a:pPr latinLnBrk="1"/>
                      <a:r>
                        <a:rPr lang="en-US" altLang="ko-KR" sz="1000" b="1" dirty="0">
                          <a:solidFill>
                            <a:srgbClr val="11244A"/>
                          </a:solidFill>
                        </a:rPr>
                        <a:t>Platform</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Bispecific siRNA design</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Scalable engine for new oncology / metabolic programs</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852138"/>
                  </a:ext>
                </a:extLst>
              </a:tr>
            </a:tbl>
          </a:graphicData>
        </a:graphic>
      </p:graphicFrame>
      <p:sp>
        <p:nvSpPr>
          <p:cNvPr id="16" name="TextBox 15">
            <a:extLst>
              <a:ext uri="{FF2B5EF4-FFF2-40B4-BE49-F238E27FC236}">
                <a16:creationId xmlns:a16="http://schemas.microsoft.com/office/drawing/2014/main" id="{F2F8CFAC-5331-BD6D-F26F-8DAC9F41D76A}"/>
              </a:ext>
            </a:extLst>
          </p:cNvPr>
          <p:cNvSpPr txBox="1"/>
          <p:nvPr/>
        </p:nvSpPr>
        <p:spPr>
          <a:xfrm>
            <a:off x="453000" y="2168525"/>
            <a:ext cx="4391999" cy="1142942"/>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Proprietary bispecific siRNA platform</a:t>
            </a:r>
            <a:r>
              <a:rPr lang="en-US" altLang="ko-KR" sz="1000" dirty="0">
                <a:solidFill>
                  <a:srgbClr val="3D3D3D"/>
                </a:solidFill>
              </a:rPr>
              <a:t> enabling dual target knockdown</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Single precursor → 2 active siRNAs</a:t>
            </a:r>
            <a:r>
              <a:rPr lang="en-US" altLang="ko-KR" sz="1000" dirty="0">
                <a:solidFill>
                  <a:srgbClr val="3D3D3D"/>
                </a:solidFill>
              </a:rPr>
              <a:t> with low off-target risk</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Lead asset CA102 for NMIBC</a:t>
            </a:r>
            <a:r>
              <a:rPr lang="en-US" altLang="ko-KR" sz="1000" dirty="0">
                <a:solidFill>
                  <a:srgbClr val="3D3D3D"/>
                </a:solidFill>
              </a:rPr>
              <a:t>, IND filing targeted in early 2026</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Csi103 delivers </a:t>
            </a:r>
            <a:r>
              <a:rPr lang="en-US" altLang="ko-KR" sz="1000" b="1" dirty="0">
                <a:solidFill>
                  <a:srgbClr val="11244A"/>
                </a:solidFill>
              </a:rPr>
              <a:t>dual LDL-C &amp; TG reduction</a:t>
            </a:r>
            <a:r>
              <a:rPr lang="en-US" altLang="ko-KR" sz="1000" dirty="0">
                <a:solidFill>
                  <a:srgbClr val="3D3D3D"/>
                </a:solidFill>
              </a:rPr>
              <a:t> preclinically</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Global IP secured across major jurisdictions</a:t>
            </a:r>
            <a:endParaRPr lang="ko-KR" altLang="en-US" sz="1000" dirty="0">
              <a:solidFill>
                <a:srgbClr val="3D3D3D"/>
              </a:solidFill>
            </a:endParaRPr>
          </a:p>
        </p:txBody>
      </p:sp>
      <p:sp>
        <p:nvSpPr>
          <p:cNvPr id="17" name="TextBox 16">
            <a:extLst>
              <a:ext uri="{FF2B5EF4-FFF2-40B4-BE49-F238E27FC236}">
                <a16:creationId xmlns:a16="http://schemas.microsoft.com/office/drawing/2014/main" id="{099A1A96-6DCC-22D4-60D1-60D43166AFA4}"/>
              </a:ext>
            </a:extLst>
          </p:cNvPr>
          <p:cNvSpPr txBox="1"/>
          <p:nvPr/>
        </p:nvSpPr>
        <p:spPr>
          <a:xfrm>
            <a:off x="5061000" y="2168525"/>
            <a:ext cx="4391999" cy="1142942"/>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Differentiated </a:t>
            </a:r>
            <a:r>
              <a:rPr lang="en-US" altLang="ko-KR" sz="1000" b="1" dirty="0">
                <a:solidFill>
                  <a:srgbClr val="11244A"/>
                </a:solidFill>
              </a:rPr>
              <a:t>platform technology with multi-asset scalability</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Near-term oncology upside</a:t>
            </a:r>
            <a:r>
              <a:rPr lang="en-US" altLang="ko-KR" sz="1000" dirty="0">
                <a:solidFill>
                  <a:srgbClr val="3D3D3D"/>
                </a:solidFill>
              </a:rPr>
              <a:t> driven by CA102</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Csi103 aligns with </a:t>
            </a:r>
            <a:r>
              <a:rPr lang="en-US" altLang="ko-KR" sz="1000" dirty="0" err="1">
                <a:solidFill>
                  <a:srgbClr val="3D3D3D"/>
                </a:solidFill>
              </a:rPr>
              <a:t>NKTx’s</a:t>
            </a:r>
            <a:r>
              <a:rPr lang="en-US" altLang="ko-KR" sz="1000" dirty="0">
                <a:solidFill>
                  <a:srgbClr val="3D3D3D"/>
                </a:solidFill>
              </a:rPr>
              <a:t> </a:t>
            </a:r>
            <a:r>
              <a:rPr lang="en-US" altLang="ko-KR" sz="1000" b="1" dirty="0">
                <a:solidFill>
                  <a:srgbClr val="11244A"/>
                </a:solidFill>
              </a:rPr>
              <a:t>metabolic expansion beyond FM101</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Strengthens portfolio with </a:t>
            </a:r>
            <a:r>
              <a:rPr lang="en-US" altLang="ko-KR" sz="1000" b="1" dirty="0">
                <a:solidFill>
                  <a:srgbClr val="11244A"/>
                </a:solidFill>
              </a:rPr>
              <a:t>RNA therapeutic capability</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Expands post-IPO story </a:t>
            </a:r>
            <a:r>
              <a:rPr lang="en-US" altLang="ko-KR" sz="1000" b="1" dirty="0">
                <a:solidFill>
                  <a:srgbClr val="11244A"/>
                </a:solidFill>
              </a:rPr>
              <a:t>beyond single-asset dependency</a:t>
            </a:r>
            <a:endParaRPr lang="ko-KR" altLang="en-US" sz="1000" b="1" dirty="0">
              <a:solidFill>
                <a:srgbClr val="11244A"/>
              </a:solidFill>
            </a:endParaRPr>
          </a:p>
        </p:txBody>
      </p:sp>
    </p:spTree>
    <p:extLst>
      <p:ext uri="{BB962C8B-B14F-4D97-AF65-F5344CB8AC3E}">
        <p14:creationId xmlns:p14="http://schemas.microsoft.com/office/powerpoint/2010/main" val="1535452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B1E4D-7551-2BA1-F085-C1C5A48A371B}"/>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C3872F45-219C-309A-AA46-B4230EEB56D8}"/>
              </a:ext>
            </a:extLst>
          </p:cNvPr>
          <p:cNvSpPr>
            <a:spLocks noGrp="1"/>
          </p:cNvSpPr>
          <p:nvPr>
            <p:ph type="body" sz="quarter" idx="11"/>
          </p:nvPr>
        </p:nvSpPr>
        <p:spPr/>
        <p:txBody>
          <a:bodyPr/>
          <a:lstStyle/>
          <a:p>
            <a:r>
              <a:rPr lang="en-US" altLang="ko-KR" dirty="0"/>
              <a:t>CA102 &amp; C</a:t>
            </a:r>
            <a:r>
              <a:rPr lang="en-US" altLang="ko-KR" cap="none" dirty="0"/>
              <a:t>si</a:t>
            </a:r>
            <a:r>
              <a:rPr lang="en-US" altLang="ko-KR" dirty="0"/>
              <a:t>103 - Next-Wave Pipeline</a:t>
            </a:r>
            <a:endParaRPr lang="ko-KR" altLang="en-US" dirty="0"/>
          </a:p>
        </p:txBody>
      </p:sp>
      <p:sp>
        <p:nvSpPr>
          <p:cNvPr id="3" name="텍스트 개체 틀 2">
            <a:extLst>
              <a:ext uri="{FF2B5EF4-FFF2-40B4-BE49-F238E27FC236}">
                <a16:creationId xmlns:a16="http://schemas.microsoft.com/office/drawing/2014/main" id="{90F2A5B2-091E-E632-A45E-440811B308F2}"/>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F7E536D-4257-EAE0-B705-B8F87ECE7CD2}"/>
              </a:ext>
            </a:extLst>
          </p:cNvPr>
          <p:cNvSpPr>
            <a:spLocks noGrp="1"/>
          </p:cNvSpPr>
          <p:nvPr>
            <p:ph type="sldNum" sz="quarter" idx="13"/>
          </p:nvPr>
        </p:nvSpPr>
        <p:spPr/>
        <p:txBody>
          <a:bodyPr/>
          <a:lstStyle/>
          <a:p>
            <a:fld id="{C053318C-A610-4AA5-9FF7-26630BAA1E31}" type="slidenum">
              <a:rPr lang="en-US" altLang="ko-KR" smtClean="0"/>
              <a:pPr/>
              <a:t>23</a:t>
            </a:fld>
            <a:endParaRPr lang="en-US" dirty="0"/>
          </a:p>
        </p:txBody>
      </p:sp>
      <p:sp>
        <p:nvSpPr>
          <p:cNvPr id="8" name="TextBox 7">
            <a:extLst>
              <a:ext uri="{FF2B5EF4-FFF2-40B4-BE49-F238E27FC236}">
                <a16:creationId xmlns:a16="http://schemas.microsoft.com/office/drawing/2014/main" id="{3C8C528F-F40D-2EFB-68CC-A0FF97C68367}"/>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Both pre-clinical assets reinforce bispecific siRNA platform breadth with first-in-class target strategies for oncology and cardiometabolic disease.</a:t>
            </a:r>
            <a:endParaRPr lang="ko-KR" altLang="en-US" sz="1400" b="1" dirty="0">
              <a:solidFill>
                <a:srgbClr val="3D3D3D"/>
              </a:solidFill>
            </a:endParaRPr>
          </a:p>
        </p:txBody>
      </p:sp>
      <p:sp>
        <p:nvSpPr>
          <p:cNvPr id="11" name="TextBox 10">
            <a:extLst>
              <a:ext uri="{FF2B5EF4-FFF2-40B4-BE49-F238E27FC236}">
                <a16:creationId xmlns:a16="http://schemas.microsoft.com/office/drawing/2014/main" id="{A3814FD5-D24D-CA82-2D94-47E37D1F56C8}"/>
              </a:ext>
            </a:extLst>
          </p:cNvPr>
          <p:cNvSpPr txBox="1"/>
          <p:nvPr/>
        </p:nvSpPr>
        <p:spPr>
          <a:xfrm>
            <a:off x="453000" y="2168525"/>
            <a:ext cx="4391999" cy="1142942"/>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Bispecific siRNA targeting </a:t>
            </a:r>
            <a:r>
              <a:rPr lang="en-US" altLang="ko-KR" sz="1000" b="1" dirty="0">
                <a:solidFill>
                  <a:srgbClr val="11244A"/>
                </a:solidFill>
              </a:rPr>
              <a:t>two oncogenic drivers simultaneously</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Designed for </a:t>
            </a:r>
            <a:r>
              <a:rPr lang="en-US" altLang="ko-KR" sz="1000" b="1" dirty="0">
                <a:solidFill>
                  <a:srgbClr val="11244A"/>
                </a:solidFill>
              </a:rPr>
              <a:t>local tumor suppression &amp; immune-activating effect</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Opportunity in </a:t>
            </a:r>
            <a:r>
              <a:rPr lang="en-US" altLang="ko-KR" sz="1000" b="1" dirty="0">
                <a:solidFill>
                  <a:srgbClr val="11244A"/>
                </a:solidFill>
              </a:rPr>
              <a:t>BCG-unresponsive NMIBC</a:t>
            </a:r>
            <a:r>
              <a:rPr lang="en-US" altLang="ko-KR" sz="1000" dirty="0">
                <a:solidFill>
                  <a:srgbClr val="3D3D3D"/>
                </a:solidFill>
              </a:rPr>
              <a:t>, high unmet need</a:t>
            </a:r>
          </a:p>
          <a:p>
            <a:pPr marL="171450" indent="-171450" algn="l">
              <a:lnSpc>
                <a:spcPct val="110000"/>
              </a:lnSpc>
              <a:spcBef>
                <a:spcPts val="600"/>
              </a:spcBef>
              <a:buClr>
                <a:srgbClr val="3D3D3D"/>
              </a:buClr>
              <a:buFont typeface="Wingdings" panose="05000000000000000000" pitchFamily="2" charset="2"/>
              <a:buChar char="ü"/>
            </a:pPr>
            <a:r>
              <a:rPr lang="en-US" altLang="ko-KR" sz="1000" b="1" dirty="0">
                <a:solidFill>
                  <a:srgbClr val="11244A"/>
                </a:solidFill>
              </a:rPr>
              <a:t>Pre-IND path toward 2026</a:t>
            </a:r>
            <a:r>
              <a:rPr lang="en-US" altLang="ko-KR" sz="1000" dirty="0">
                <a:solidFill>
                  <a:srgbClr val="3D3D3D"/>
                </a:solidFill>
              </a:rPr>
              <a:t>; potential fast partnering trigger</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Expansion optionality into </a:t>
            </a:r>
            <a:r>
              <a:rPr lang="en-US" altLang="ko-KR" sz="1000" b="1" dirty="0">
                <a:solidFill>
                  <a:srgbClr val="11244A"/>
                </a:solidFill>
              </a:rPr>
              <a:t>solid tumor siRNA programs</a:t>
            </a:r>
          </a:p>
        </p:txBody>
      </p:sp>
      <p:sp>
        <p:nvSpPr>
          <p:cNvPr id="12" name="TextBox 11">
            <a:extLst>
              <a:ext uri="{FF2B5EF4-FFF2-40B4-BE49-F238E27FC236}">
                <a16:creationId xmlns:a16="http://schemas.microsoft.com/office/drawing/2014/main" id="{847142DF-02F0-3EBA-EDBA-46CFF3F70248}"/>
              </a:ext>
            </a:extLst>
          </p:cNvPr>
          <p:cNvSpPr txBox="1"/>
          <p:nvPr/>
        </p:nvSpPr>
        <p:spPr>
          <a:xfrm>
            <a:off x="5061001" y="2168525"/>
            <a:ext cx="4391999" cy="1142942"/>
          </a:xfrm>
          <a:prstGeom prst="rect">
            <a:avLst/>
          </a:prstGeom>
          <a:noFill/>
        </p:spPr>
        <p:txBody>
          <a:bodyPr wrap="square" lIns="36000" tIns="0" rIns="0" bIns="0" rtlCol="0">
            <a:spAutoFit/>
          </a:bodyPr>
          <a:lstStyle/>
          <a:p>
            <a:pPr marL="171450" indent="-171450" algn="l">
              <a:lnSpc>
                <a:spcPct val="110000"/>
              </a:lnSpc>
              <a:spcBef>
                <a:spcPts val="600"/>
              </a:spcBef>
              <a:buClr>
                <a:srgbClr val="3D3D3D"/>
              </a:buClr>
              <a:buFont typeface="Wingdings" panose="05000000000000000000" pitchFamily="2" charset="2"/>
              <a:buChar char="ü"/>
            </a:pPr>
            <a:r>
              <a:rPr lang="en-US" altLang="ko-KR" sz="1000" spc="-20" dirty="0">
                <a:solidFill>
                  <a:srgbClr val="3D3D3D"/>
                </a:solidFill>
              </a:rPr>
              <a:t>Dual suppression of </a:t>
            </a:r>
            <a:r>
              <a:rPr lang="en-US" altLang="ko-KR" sz="1000" b="1" spc="-20" dirty="0">
                <a:solidFill>
                  <a:srgbClr val="11244A"/>
                </a:solidFill>
              </a:rPr>
              <a:t>PCSK9 + APOC3 </a:t>
            </a:r>
            <a:r>
              <a:rPr lang="en-US" altLang="ko-KR" sz="1000" spc="-20" dirty="0">
                <a:solidFill>
                  <a:srgbClr val="3D3D3D"/>
                </a:solidFill>
              </a:rPr>
              <a:t>- differentiated lipid-lowering strategy</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Pre-clinical data indicates </a:t>
            </a:r>
            <a:r>
              <a:rPr lang="en-US" altLang="ko-KR" sz="1000" b="1" dirty="0">
                <a:solidFill>
                  <a:srgbClr val="11244A"/>
                </a:solidFill>
              </a:rPr>
              <a:t>meaningful LDL-C &amp; TG reduction</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Oral siRNA design supports </a:t>
            </a:r>
            <a:r>
              <a:rPr lang="en-US" altLang="ko-KR" sz="1000" b="1" dirty="0">
                <a:solidFill>
                  <a:srgbClr val="11244A"/>
                </a:solidFill>
              </a:rPr>
              <a:t>chronic metabolic use case</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Potential next asset advancing after CA102 mid-term</a:t>
            </a:r>
          </a:p>
          <a:p>
            <a:pPr marL="171450" indent="-171450" algn="l">
              <a:lnSpc>
                <a:spcPct val="110000"/>
              </a:lnSpc>
              <a:spcBef>
                <a:spcPts val="600"/>
              </a:spcBef>
              <a:buClr>
                <a:srgbClr val="3D3D3D"/>
              </a:buClr>
              <a:buFont typeface="Wingdings" panose="05000000000000000000" pitchFamily="2" charset="2"/>
              <a:buChar char="ü"/>
            </a:pPr>
            <a:r>
              <a:rPr lang="en-US" altLang="ko-KR" sz="1000" dirty="0">
                <a:solidFill>
                  <a:srgbClr val="3D3D3D"/>
                </a:solidFill>
              </a:rPr>
              <a:t>Expands beyond oncology into </a:t>
            </a:r>
            <a:r>
              <a:rPr lang="en-US" altLang="ko-KR" sz="1000" b="1" dirty="0">
                <a:solidFill>
                  <a:srgbClr val="11244A"/>
                </a:solidFill>
              </a:rPr>
              <a:t>cardiometabolic franchise</a:t>
            </a:r>
          </a:p>
        </p:txBody>
      </p:sp>
      <p:graphicFrame>
        <p:nvGraphicFramePr>
          <p:cNvPr id="13" name="표 12">
            <a:extLst>
              <a:ext uri="{FF2B5EF4-FFF2-40B4-BE49-F238E27FC236}">
                <a16:creationId xmlns:a16="http://schemas.microsoft.com/office/drawing/2014/main" id="{090F1D25-24BF-23BF-B45F-B55B31B075D6}"/>
              </a:ext>
            </a:extLst>
          </p:cNvPr>
          <p:cNvGraphicFramePr>
            <a:graphicFrameLocks noGrp="1"/>
          </p:cNvGraphicFramePr>
          <p:nvPr>
            <p:extLst>
              <p:ext uri="{D42A27DB-BD31-4B8C-83A1-F6EECF244321}">
                <p14:modId xmlns:p14="http://schemas.microsoft.com/office/powerpoint/2010/main" val="3274566730"/>
              </p:ext>
            </p:extLst>
          </p:nvPr>
        </p:nvGraphicFramePr>
        <p:xfrm>
          <a:off x="453000" y="5048975"/>
          <a:ext cx="4392000" cy="720000"/>
        </p:xfrm>
        <a:graphic>
          <a:graphicData uri="http://schemas.openxmlformats.org/drawingml/2006/table">
            <a:tbl>
              <a:tblPr firstRow="1" bandRow="1">
                <a:tableStyleId>{5C22544A-7EE6-4342-B048-85BDC9FD1C3A}</a:tableStyleId>
              </a:tblPr>
              <a:tblGrid>
                <a:gridCol w="792000">
                  <a:extLst>
                    <a:ext uri="{9D8B030D-6E8A-4147-A177-3AD203B41FA5}">
                      <a16:colId xmlns:a16="http://schemas.microsoft.com/office/drawing/2014/main" val="2642905345"/>
                    </a:ext>
                  </a:extLst>
                </a:gridCol>
                <a:gridCol w="792000">
                  <a:extLst>
                    <a:ext uri="{9D8B030D-6E8A-4147-A177-3AD203B41FA5}">
                      <a16:colId xmlns:a16="http://schemas.microsoft.com/office/drawing/2014/main" val="4274646455"/>
                    </a:ext>
                  </a:extLst>
                </a:gridCol>
                <a:gridCol w="936000">
                  <a:extLst>
                    <a:ext uri="{9D8B030D-6E8A-4147-A177-3AD203B41FA5}">
                      <a16:colId xmlns:a16="http://schemas.microsoft.com/office/drawing/2014/main" val="1515685662"/>
                    </a:ext>
                  </a:extLst>
                </a:gridCol>
                <a:gridCol w="936000">
                  <a:extLst>
                    <a:ext uri="{9D8B030D-6E8A-4147-A177-3AD203B41FA5}">
                      <a16:colId xmlns:a16="http://schemas.microsoft.com/office/drawing/2014/main" val="4135788619"/>
                    </a:ext>
                  </a:extLst>
                </a:gridCol>
                <a:gridCol w="936000">
                  <a:extLst>
                    <a:ext uri="{9D8B030D-6E8A-4147-A177-3AD203B41FA5}">
                      <a16:colId xmlns:a16="http://schemas.microsoft.com/office/drawing/2014/main" val="1050082323"/>
                    </a:ext>
                  </a:extLst>
                </a:gridCol>
              </a:tblGrid>
              <a:tr h="360000">
                <a:tc>
                  <a:txBody>
                    <a:bodyPr/>
                    <a:lstStyle/>
                    <a:p>
                      <a:pPr latinLnBrk="1"/>
                      <a:r>
                        <a:rPr lang="en-US" altLang="ko-KR" sz="1000" b="1" dirty="0">
                          <a:solidFill>
                            <a:srgbClr val="3D3D3D"/>
                          </a:solidFill>
                        </a:rPr>
                        <a:t>Asset</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Indication</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Discovery</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Pre-clinical</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Phase 1</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28875"/>
                  </a:ext>
                </a:extLst>
              </a:tr>
              <a:tr h="360000">
                <a:tc>
                  <a:txBody>
                    <a:bodyPr/>
                    <a:lstStyle/>
                    <a:p>
                      <a:pPr latinLnBrk="1"/>
                      <a:r>
                        <a:rPr lang="en-US" altLang="ko-KR" sz="1000" b="1" dirty="0">
                          <a:solidFill>
                            <a:srgbClr val="11244A"/>
                          </a:solidFill>
                        </a:rPr>
                        <a:t>CA102</a:t>
                      </a:r>
                      <a:endParaRPr lang="ko-KR" altLang="en-US" sz="1000" b="1" dirty="0">
                        <a:solidFill>
                          <a:srgbClr val="11244A"/>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NMIBC</a:t>
                      </a:r>
                      <a:endParaRPr lang="ko-KR" altLang="en-US" sz="1000" b="0"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852138"/>
                  </a:ext>
                </a:extLst>
              </a:tr>
            </a:tbl>
          </a:graphicData>
        </a:graphic>
      </p:graphicFrame>
      <p:sp>
        <p:nvSpPr>
          <p:cNvPr id="14" name="화살표: 오른쪽 13">
            <a:extLst>
              <a:ext uri="{FF2B5EF4-FFF2-40B4-BE49-F238E27FC236}">
                <a16:creationId xmlns:a16="http://schemas.microsoft.com/office/drawing/2014/main" id="{047E0334-3133-F4A3-6CFA-77B6E768122C}"/>
              </a:ext>
            </a:extLst>
          </p:cNvPr>
          <p:cNvSpPr/>
          <p:nvPr/>
        </p:nvSpPr>
        <p:spPr>
          <a:xfrm>
            <a:off x="2037000" y="5444975"/>
            <a:ext cx="2807999" cy="288000"/>
          </a:xfrm>
          <a:prstGeom prst="rightArrow">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5" name="화살표: 오른쪽 14">
            <a:extLst>
              <a:ext uri="{FF2B5EF4-FFF2-40B4-BE49-F238E27FC236}">
                <a16:creationId xmlns:a16="http://schemas.microsoft.com/office/drawing/2014/main" id="{2227C90C-7D22-BE60-70B7-27974E2DBE01}"/>
              </a:ext>
            </a:extLst>
          </p:cNvPr>
          <p:cNvSpPr/>
          <p:nvPr/>
        </p:nvSpPr>
        <p:spPr>
          <a:xfrm>
            <a:off x="2037001" y="5444975"/>
            <a:ext cx="1404000" cy="288000"/>
          </a:xfrm>
          <a:prstGeom prst="rightArrow">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graphicFrame>
        <p:nvGraphicFramePr>
          <p:cNvPr id="16" name="표 15">
            <a:extLst>
              <a:ext uri="{FF2B5EF4-FFF2-40B4-BE49-F238E27FC236}">
                <a16:creationId xmlns:a16="http://schemas.microsoft.com/office/drawing/2014/main" id="{D3A8BF95-29CF-B69C-982A-8D2A886248A5}"/>
              </a:ext>
            </a:extLst>
          </p:cNvPr>
          <p:cNvGraphicFramePr>
            <a:graphicFrameLocks noGrp="1"/>
          </p:cNvGraphicFramePr>
          <p:nvPr>
            <p:extLst>
              <p:ext uri="{D42A27DB-BD31-4B8C-83A1-F6EECF244321}">
                <p14:modId xmlns:p14="http://schemas.microsoft.com/office/powerpoint/2010/main" val="1923300367"/>
              </p:ext>
            </p:extLst>
          </p:nvPr>
        </p:nvGraphicFramePr>
        <p:xfrm>
          <a:off x="5060999" y="5048975"/>
          <a:ext cx="4392000" cy="72000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2642905345"/>
                    </a:ext>
                  </a:extLst>
                </a:gridCol>
                <a:gridCol w="864000">
                  <a:extLst>
                    <a:ext uri="{9D8B030D-6E8A-4147-A177-3AD203B41FA5}">
                      <a16:colId xmlns:a16="http://schemas.microsoft.com/office/drawing/2014/main" val="4274646455"/>
                    </a:ext>
                  </a:extLst>
                </a:gridCol>
                <a:gridCol w="936000">
                  <a:extLst>
                    <a:ext uri="{9D8B030D-6E8A-4147-A177-3AD203B41FA5}">
                      <a16:colId xmlns:a16="http://schemas.microsoft.com/office/drawing/2014/main" val="1515685662"/>
                    </a:ext>
                  </a:extLst>
                </a:gridCol>
                <a:gridCol w="936000">
                  <a:extLst>
                    <a:ext uri="{9D8B030D-6E8A-4147-A177-3AD203B41FA5}">
                      <a16:colId xmlns:a16="http://schemas.microsoft.com/office/drawing/2014/main" val="4135788619"/>
                    </a:ext>
                  </a:extLst>
                </a:gridCol>
                <a:gridCol w="936000">
                  <a:extLst>
                    <a:ext uri="{9D8B030D-6E8A-4147-A177-3AD203B41FA5}">
                      <a16:colId xmlns:a16="http://schemas.microsoft.com/office/drawing/2014/main" val="1050082323"/>
                    </a:ext>
                  </a:extLst>
                </a:gridCol>
              </a:tblGrid>
              <a:tr h="360000">
                <a:tc>
                  <a:txBody>
                    <a:bodyPr/>
                    <a:lstStyle/>
                    <a:p>
                      <a:pPr latinLnBrk="1"/>
                      <a:r>
                        <a:rPr lang="en-US" altLang="ko-KR" sz="1000" b="1" dirty="0">
                          <a:solidFill>
                            <a:srgbClr val="3D3D3D"/>
                          </a:solidFill>
                        </a:rPr>
                        <a:t>Asset</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Indication</a:t>
                      </a:r>
                      <a:endParaRPr lang="ko-KR" altLang="en-US" sz="1000" b="1"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Discovery</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Pre-clinical</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Phase 1</a:t>
                      </a:r>
                      <a:endParaRPr lang="ko-KR" altLang="en-US" sz="1000" b="1"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5828875"/>
                  </a:ext>
                </a:extLst>
              </a:tr>
              <a:tr h="360000">
                <a:tc>
                  <a:txBody>
                    <a:bodyPr/>
                    <a:lstStyle/>
                    <a:p>
                      <a:pPr latinLnBrk="1"/>
                      <a:r>
                        <a:rPr lang="en-US" altLang="ko-KR" sz="1000" b="1" dirty="0">
                          <a:solidFill>
                            <a:srgbClr val="11244A"/>
                          </a:solidFill>
                        </a:rPr>
                        <a:t>Csi103</a:t>
                      </a:r>
                      <a:endParaRPr lang="ko-KR" altLang="en-US" sz="1000" b="1" dirty="0">
                        <a:solidFill>
                          <a:srgbClr val="11244A"/>
                        </a:solidFill>
                      </a:endParaRPr>
                    </a:p>
                  </a:txBody>
                  <a:tcPr marL="72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Dyslipidemia</a:t>
                      </a:r>
                      <a:endParaRPr lang="ko-KR" altLang="en-US" sz="1000" b="0" dirty="0">
                        <a:solidFill>
                          <a:srgbClr val="3D3D3D"/>
                        </a:solidFill>
                      </a:endParaRPr>
                    </a:p>
                  </a:txBody>
                  <a:tcPr marL="72000" marR="36000" marT="0" marB="0" anchor="ctr">
                    <a:lnL w="6350" cap="flat" cmpd="sng" algn="ctr">
                      <a:noFill/>
                      <a:prstDash val="solid"/>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solidFill>
                        <a:srgbClr val="3D3D3D"/>
                      </a:solid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endParaRPr lang="ko-KR" altLang="en-US" sz="1000" b="0" dirty="0">
                        <a:solidFill>
                          <a:srgbClr val="3D3D3D"/>
                        </a:solidFill>
                      </a:endParaRPr>
                    </a:p>
                  </a:txBody>
                  <a:tcPr marL="72000" marR="36000" marT="0" marB="0" anchor="ctr">
                    <a:lnL w="6350" cap="flat" cmpd="sng" algn="ctr">
                      <a:solidFill>
                        <a:srgbClr val="3D3D3D"/>
                      </a:solidFill>
                      <a:prstDash val="dash"/>
                      <a:round/>
                      <a:headEnd type="none" w="med" len="med"/>
                      <a:tailEnd type="none" w="med" len="med"/>
                    </a:lnL>
                    <a:lnR w="6350" cap="flat" cmpd="sng" algn="ctr">
                      <a:noFill/>
                      <a:prstDash val="dash"/>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852138"/>
                  </a:ext>
                </a:extLst>
              </a:tr>
            </a:tbl>
          </a:graphicData>
        </a:graphic>
      </p:graphicFrame>
      <p:sp>
        <p:nvSpPr>
          <p:cNvPr id="17" name="화살표: 오른쪽 16">
            <a:extLst>
              <a:ext uri="{FF2B5EF4-FFF2-40B4-BE49-F238E27FC236}">
                <a16:creationId xmlns:a16="http://schemas.microsoft.com/office/drawing/2014/main" id="{72E976A2-0DB6-2D50-B350-7ED930BC14D6}"/>
              </a:ext>
            </a:extLst>
          </p:cNvPr>
          <p:cNvSpPr/>
          <p:nvPr/>
        </p:nvSpPr>
        <p:spPr>
          <a:xfrm>
            <a:off x="6644999" y="5444975"/>
            <a:ext cx="2807999" cy="288000"/>
          </a:xfrm>
          <a:prstGeom prst="rightArrow">
            <a:avLst/>
          </a:prstGeom>
          <a:solidFill>
            <a:srgbClr val="E0E0E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8" name="화살표: 오른쪽 17">
            <a:extLst>
              <a:ext uri="{FF2B5EF4-FFF2-40B4-BE49-F238E27FC236}">
                <a16:creationId xmlns:a16="http://schemas.microsoft.com/office/drawing/2014/main" id="{9378A656-0959-EFD7-15E2-2BF424137FC9}"/>
              </a:ext>
            </a:extLst>
          </p:cNvPr>
          <p:cNvSpPr/>
          <p:nvPr/>
        </p:nvSpPr>
        <p:spPr>
          <a:xfrm>
            <a:off x="6645000" y="5444975"/>
            <a:ext cx="1404000" cy="288000"/>
          </a:xfrm>
          <a:prstGeom prst="rightArrow">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9" name="TextBox 18">
            <a:extLst>
              <a:ext uri="{FF2B5EF4-FFF2-40B4-BE49-F238E27FC236}">
                <a16:creationId xmlns:a16="http://schemas.microsoft.com/office/drawing/2014/main" id="{93A1090C-0275-F0C2-5E23-66563DDE5814}"/>
              </a:ext>
            </a:extLst>
          </p:cNvPr>
          <p:cNvSpPr txBox="1"/>
          <p:nvPr/>
        </p:nvSpPr>
        <p:spPr>
          <a:xfrm>
            <a:off x="5061000" y="4765043"/>
            <a:ext cx="1231106"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Development Status</a:t>
            </a:r>
            <a:endParaRPr lang="ko-KR" altLang="en-US" sz="1000" b="1" dirty="0">
              <a:solidFill>
                <a:srgbClr val="539DFF"/>
              </a:solidFill>
            </a:endParaRPr>
          </a:p>
        </p:txBody>
      </p:sp>
      <p:sp>
        <p:nvSpPr>
          <p:cNvPr id="20" name="TextBox 19">
            <a:extLst>
              <a:ext uri="{FF2B5EF4-FFF2-40B4-BE49-F238E27FC236}">
                <a16:creationId xmlns:a16="http://schemas.microsoft.com/office/drawing/2014/main" id="{6377925B-09E4-4614-E970-10A99F98D05D}"/>
              </a:ext>
            </a:extLst>
          </p:cNvPr>
          <p:cNvSpPr txBox="1"/>
          <p:nvPr/>
        </p:nvSpPr>
        <p:spPr>
          <a:xfrm>
            <a:off x="453000" y="4765043"/>
            <a:ext cx="1231106"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Development Status</a:t>
            </a:r>
            <a:endParaRPr lang="ko-KR" altLang="en-US" sz="1000" b="1" dirty="0">
              <a:solidFill>
                <a:srgbClr val="539DFF"/>
              </a:solidFill>
            </a:endParaRPr>
          </a:p>
        </p:txBody>
      </p:sp>
      <p:sp>
        <p:nvSpPr>
          <p:cNvPr id="21" name="TextBox 20">
            <a:extLst>
              <a:ext uri="{FF2B5EF4-FFF2-40B4-BE49-F238E27FC236}">
                <a16:creationId xmlns:a16="http://schemas.microsoft.com/office/drawing/2014/main" id="{F8F9FD6C-A5B6-DA25-A1BB-0C1881A9F3EB}"/>
              </a:ext>
            </a:extLst>
          </p:cNvPr>
          <p:cNvSpPr txBox="1"/>
          <p:nvPr/>
        </p:nvSpPr>
        <p:spPr>
          <a:xfrm>
            <a:off x="5061000" y="3437342"/>
            <a:ext cx="1546898"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Dyslipidemia Therapeutic</a:t>
            </a:r>
            <a:endParaRPr lang="ko-KR" altLang="en-US" sz="1000" b="1" dirty="0">
              <a:solidFill>
                <a:srgbClr val="539DFF"/>
              </a:solidFill>
            </a:endParaRPr>
          </a:p>
        </p:txBody>
      </p:sp>
      <p:sp>
        <p:nvSpPr>
          <p:cNvPr id="23" name="TextBox 22">
            <a:extLst>
              <a:ext uri="{FF2B5EF4-FFF2-40B4-BE49-F238E27FC236}">
                <a16:creationId xmlns:a16="http://schemas.microsoft.com/office/drawing/2014/main" id="{BF5AF1CB-0788-1B18-C4A8-1394ED69435A}"/>
              </a:ext>
            </a:extLst>
          </p:cNvPr>
          <p:cNvSpPr txBox="1"/>
          <p:nvPr/>
        </p:nvSpPr>
        <p:spPr>
          <a:xfrm>
            <a:off x="453000" y="3437342"/>
            <a:ext cx="3813544" cy="158057"/>
          </a:xfrm>
          <a:prstGeom prst="rect">
            <a:avLst/>
          </a:prstGeom>
          <a:noFill/>
        </p:spPr>
        <p:txBody>
          <a:bodyPr wrap="none" lIns="0" tIns="0" rIns="0" bIns="0" rtlCol="0">
            <a:spAutoFit/>
          </a:bodyPr>
          <a:lstStyle/>
          <a:p>
            <a:pPr algn="l">
              <a:lnSpc>
                <a:spcPct val="110000"/>
              </a:lnSpc>
            </a:pPr>
            <a:r>
              <a:rPr lang="en-US" altLang="ko-KR" sz="1000" b="1" dirty="0">
                <a:solidFill>
                  <a:srgbClr val="539DFF"/>
                </a:solidFill>
              </a:rPr>
              <a:t>Therapeutics for Non-Muscle Invasive Bladder Cancer (NMIBC)</a:t>
            </a:r>
            <a:endParaRPr lang="ko-KR" altLang="en-US" sz="1000" b="1" dirty="0">
              <a:solidFill>
                <a:srgbClr val="539DFF"/>
              </a:solidFill>
            </a:endParaRPr>
          </a:p>
        </p:txBody>
      </p:sp>
      <p:sp>
        <p:nvSpPr>
          <p:cNvPr id="25" name="직사각형 24">
            <a:extLst>
              <a:ext uri="{FF2B5EF4-FFF2-40B4-BE49-F238E27FC236}">
                <a16:creationId xmlns:a16="http://schemas.microsoft.com/office/drawing/2014/main" id="{54F6CD10-BF8B-B1A1-0A03-A486A3CFD0FF}"/>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CA102 Overview &amp; Advantages</a:t>
            </a:r>
            <a:endParaRPr lang="ko-KR" altLang="en-US" sz="1200" b="1" dirty="0">
              <a:solidFill>
                <a:schemeClr val="bg1"/>
              </a:solidFill>
            </a:endParaRPr>
          </a:p>
        </p:txBody>
      </p:sp>
      <p:sp>
        <p:nvSpPr>
          <p:cNvPr id="26" name="직사각형 25">
            <a:extLst>
              <a:ext uri="{FF2B5EF4-FFF2-40B4-BE49-F238E27FC236}">
                <a16:creationId xmlns:a16="http://schemas.microsoft.com/office/drawing/2014/main" id="{8A3080C6-F3F9-A946-08A1-52B74F14E529}"/>
              </a:ext>
            </a:extLst>
          </p:cNvPr>
          <p:cNvSpPr/>
          <p:nvPr/>
        </p:nvSpPr>
        <p:spPr>
          <a:xfrm>
            <a:off x="5061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Csi103 Overview &amp; Advantages</a:t>
            </a:r>
            <a:endParaRPr lang="ko-KR" altLang="en-US" sz="1200" b="1" dirty="0">
              <a:solidFill>
                <a:schemeClr val="bg1"/>
              </a:solidFill>
            </a:endParaRPr>
          </a:p>
        </p:txBody>
      </p:sp>
      <p:pic>
        <p:nvPicPr>
          <p:cNvPr id="30" name="그림 29">
            <a:extLst>
              <a:ext uri="{FF2B5EF4-FFF2-40B4-BE49-F238E27FC236}">
                <a16:creationId xmlns:a16="http://schemas.microsoft.com/office/drawing/2014/main" id="{0E34C508-455F-91DD-6DED-798B87069642}"/>
              </a:ext>
            </a:extLst>
          </p:cNvPr>
          <p:cNvPicPr>
            <a:picLocks noChangeAspect="1"/>
          </p:cNvPicPr>
          <p:nvPr/>
        </p:nvPicPr>
        <p:blipFill>
          <a:blip r:embed="rId2"/>
          <a:srcRect l="1359" t="7968" r="1174" b="6103"/>
          <a:stretch>
            <a:fillRect/>
          </a:stretch>
        </p:blipFill>
        <p:spPr>
          <a:xfrm>
            <a:off x="1079343" y="3628057"/>
            <a:ext cx="3139315" cy="1008000"/>
          </a:xfrm>
          <a:prstGeom prst="rect">
            <a:avLst/>
          </a:prstGeom>
        </p:spPr>
      </p:pic>
      <p:pic>
        <p:nvPicPr>
          <p:cNvPr id="32" name="그림 31">
            <a:extLst>
              <a:ext uri="{FF2B5EF4-FFF2-40B4-BE49-F238E27FC236}">
                <a16:creationId xmlns:a16="http://schemas.microsoft.com/office/drawing/2014/main" id="{ACC7FD15-98F6-5267-4641-F7DB4A360DAF}"/>
              </a:ext>
            </a:extLst>
          </p:cNvPr>
          <p:cNvPicPr>
            <a:picLocks noChangeAspect="1"/>
          </p:cNvPicPr>
          <p:nvPr/>
        </p:nvPicPr>
        <p:blipFill>
          <a:blip r:embed="rId3"/>
          <a:srcRect l="1076" t="9180" r="6691" b="23745"/>
          <a:stretch>
            <a:fillRect/>
          </a:stretch>
        </p:blipFill>
        <p:spPr>
          <a:xfrm>
            <a:off x="6067128" y="3628057"/>
            <a:ext cx="2379744" cy="1008000"/>
          </a:xfrm>
          <a:prstGeom prst="rect">
            <a:avLst/>
          </a:prstGeom>
        </p:spPr>
      </p:pic>
    </p:spTree>
    <p:extLst>
      <p:ext uri="{BB962C8B-B14F-4D97-AF65-F5344CB8AC3E}">
        <p14:creationId xmlns:p14="http://schemas.microsoft.com/office/powerpoint/2010/main" val="2608521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DDF28-3E60-682E-B981-6370CA9CABA5}"/>
            </a:ext>
          </a:extLst>
        </p:cNvPr>
        <p:cNvGrpSpPr/>
        <p:nvPr/>
      </p:nvGrpSpPr>
      <p:grpSpPr>
        <a:xfrm>
          <a:off x="0" y="0"/>
          <a:ext cx="0" cy="0"/>
          <a:chOff x="0" y="0"/>
          <a:chExt cx="0" cy="0"/>
        </a:xfrm>
      </p:grpSpPr>
      <p:pic>
        <p:nvPicPr>
          <p:cNvPr id="9" name="그림 8" descr="현미경, 과학 기기, 광학 기기, 실내이(가) 표시된 사진&#10;&#10;AI 생성 콘텐츠는 정확하지 않을 수 있습니다.">
            <a:extLst>
              <a:ext uri="{FF2B5EF4-FFF2-40B4-BE49-F238E27FC236}">
                <a16:creationId xmlns:a16="http://schemas.microsoft.com/office/drawing/2014/main" id="{D6DCA9B0-2FDA-B113-4CF6-9D6F613DF196}"/>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5" name="TextBox 4">
            <a:extLst>
              <a:ext uri="{FF2B5EF4-FFF2-40B4-BE49-F238E27FC236}">
                <a16:creationId xmlns:a16="http://schemas.microsoft.com/office/drawing/2014/main" id="{7E6976B6-54CB-44F0-CC2A-CE8DEDD105D8}"/>
              </a:ext>
            </a:extLst>
          </p:cNvPr>
          <p:cNvSpPr txBox="1"/>
          <p:nvPr/>
        </p:nvSpPr>
        <p:spPr>
          <a:xfrm>
            <a:off x="452438" y="1140037"/>
            <a:ext cx="3247684" cy="380938"/>
          </a:xfrm>
          <a:prstGeom prst="rect">
            <a:avLst/>
          </a:prstGeom>
          <a:noFill/>
        </p:spPr>
        <p:txBody>
          <a:bodyPr wrap="none" lIns="0" tIns="0" rIns="0" bIns="0" rtlCol="0">
            <a:spAutoFit/>
          </a:bodyPr>
          <a:lstStyle/>
          <a:p>
            <a:pPr algn="l">
              <a:lnSpc>
                <a:spcPct val="110000"/>
              </a:lnSpc>
            </a:pPr>
            <a:r>
              <a:rPr lang="en-US" altLang="ko-KR" sz="2400" dirty="0">
                <a:solidFill>
                  <a:schemeClr val="bg1"/>
                </a:solidFill>
                <a:latin typeface="+mj-lt"/>
                <a:ea typeface="+mj-ea"/>
              </a:rPr>
              <a:t>TABLE OF CONTENTS</a:t>
            </a:r>
            <a:endParaRPr lang="ko-KR" altLang="en-US" sz="2400" dirty="0">
              <a:solidFill>
                <a:schemeClr val="bg1"/>
              </a:solidFill>
              <a:latin typeface="+mj-lt"/>
              <a:ea typeface="+mj-ea"/>
            </a:endParaRPr>
          </a:p>
        </p:txBody>
      </p:sp>
      <p:sp>
        <p:nvSpPr>
          <p:cNvPr id="15" name="텍스트 개체 틀 3">
            <a:extLst>
              <a:ext uri="{FF2B5EF4-FFF2-40B4-BE49-F238E27FC236}">
                <a16:creationId xmlns:a16="http://schemas.microsoft.com/office/drawing/2014/main" id="{451908CC-7E57-5A2A-7802-13F7F5F4D441}"/>
              </a:ext>
            </a:extLst>
          </p:cNvPr>
          <p:cNvSpPr txBox="1">
            <a:spLocks/>
          </p:cNvSpPr>
          <p:nvPr/>
        </p:nvSpPr>
        <p:spPr>
          <a:xfrm>
            <a:off x="452999" y="6174329"/>
            <a:ext cx="4499999" cy="134396"/>
          </a:xfrm>
          <a:prstGeom prst="rect">
            <a:avLst/>
          </a:prstGeom>
        </p:spPr>
        <p:txBody>
          <a:bodyPr wrap="square" lIns="0" tIns="0" rIns="0" bIns="0" anchor="b">
            <a:spAutoFit/>
          </a:bodyPr>
          <a:lstStyle>
            <a:lvl1pPr indent="0" defTabSz="914400" latinLnBrk="1">
              <a:lnSpc>
                <a:spcPts val="1100"/>
              </a:lnSpc>
              <a:spcBef>
                <a:spcPts val="0"/>
              </a:spcBef>
              <a:buFont typeface="Arial" panose="020B0604020202020204" pitchFamily="34" charset="0"/>
              <a:buNone/>
              <a:defRPr sz="1100" baseline="0">
                <a:solidFill>
                  <a:schemeClr val="bg1"/>
                </a:solidFill>
                <a:latin typeface="Outfit" pitchFamily="2"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800" dirty="0"/>
              <a:t>Strictly Private &amp; Confidential</a:t>
            </a:r>
            <a:endParaRPr lang="ko-KR" altLang="en-US" sz="800" dirty="0"/>
          </a:p>
        </p:txBody>
      </p:sp>
      <p:graphicFrame>
        <p:nvGraphicFramePr>
          <p:cNvPr id="6" name="표 5">
            <a:extLst>
              <a:ext uri="{FF2B5EF4-FFF2-40B4-BE49-F238E27FC236}">
                <a16:creationId xmlns:a16="http://schemas.microsoft.com/office/drawing/2014/main" id="{E265F81D-C3D2-3FC2-B42A-728449F1B409}"/>
              </a:ext>
            </a:extLst>
          </p:cNvPr>
          <p:cNvGraphicFramePr>
            <a:graphicFrameLocks noGrp="1"/>
          </p:cNvGraphicFramePr>
          <p:nvPr>
            <p:extLst>
              <p:ext uri="{D42A27DB-BD31-4B8C-83A1-F6EECF244321}">
                <p14:modId xmlns:p14="http://schemas.microsoft.com/office/powerpoint/2010/main" val="624614125"/>
              </p:ext>
            </p:extLst>
          </p:nvPr>
        </p:nvGraphicFramePr>
        <p:xfrm>
          <a:off x="344438" y="1880975"/>
          <a:ext cx="3528000" cy="3024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150886525"/>
                    </a:ext>
                  </a:extLst>
                </a:gridCol>
                <a:gridCol w="2988000">
                  <a:extLst>
                    <a:ext uri="{9D8B030D-6E8A-4147-A177-3AD203B41FA5}">
                      <a16:colId xmlns:a16="http://schemas.microsoft.com/office/drawing/2014/main" val="4148028095"/>
                    </a:ext>
                  </a:extLst>
                </a:gridCol>
              </a:tblGrid>
              <a:tr h="432000">
                <a:tc>
                  <a:txBody>
                    <a:bodyPr/>
                    <a:lstStyle/>
                    <a:p>
                      <a:pPr marL="0" algn="l" defTabSz="914400" rtl="0" eaLnBrk="1" latinLnBrk="1" hangingPunct="1"/>
                      <a:r>
                        <a:rPr lang="en-US" altLang="ko-KR" sz="1600" b="0" kern="1200" cap="none" baseline="0" dirty="0">
                          <a:solidFill>
                            <a:schemeClr val="bg1"/>
                          </a:solidFill>
                          <a:latin typeface="+mj-lt"/>
                          <a:ea typeface="+mj-ea"/>
                          <a:cs typeface="+mn-cs"/>
                        </a:rPr>
                        <a:t>01</a:t>
                      </a:r>
                      <a:endParaRPr lang="ko-KR" altLang="en-US" sz="1600" b="0" kern="1200" cap="none" baseline="0" dirty="0">
                        <a:solidFill>
                          <a:schemeClr val="bg1"/>
                        </a:solidFill>
                        <a:latin typeface="+mj-lt"/>
                        <a:ea typeface="+mj-ea"/>
                        <a:cs typeface="+mn-cs"/>
                      </a:endParaRPr>
                    </a:p>
                  </a:txBody>
                  <a:tcPr marL="10800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1" hangingPunct="1"/>
                      <a:r>
                        <a:rPr lang="en-US" altLang="ko-KR" sz="1600" b="0" kern="1200" cap="none" spc="-30" baseline="0" dirty="0">
                          <a:solidFill>
                            <a:schemeClr val="bg1"/>
                          </a:solidFill>
                          <a:latin typeface="+mj-lt"/>
                          <a:ea typeface="+mj-ea"/>
                          <a:cs typeface="+mn-cs"/>
                        </a:rPr>
                        <a:t>Executive Summary</a:t>
                      </a:r>
                      <a:endParaRPr lang="ko-KR" altLang="en-US" sz="1600" b="0" kern="1200" cap="none" spc="-30" baseline="0" dirty="0">
                        <a:solidFill>
                          <a:schemeClr val="bg1"/>
                        </a:solidFill>
                        <a:latin typeface="+mj-lt"/>
                        <a:ea typeface="+mj-ea"/>
                        <a:cs typeface="+mn-cs"/>
                      </a:endParaRPr>
                    </a:p>
                  </a:txBody>
                  <a:tcPr marL="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49133"/>
                  </a:ext>
                </a:extLst>
              </a:tr>
              <a:tr h="432000">
                <a:tc>
                  <a:txBody>
                    <a:bodyPr/>
                    <a:lstStyle/>
                    <a:p>
                      <a:pPr latinLnBrk="1"/>
                      <a:r>
                        <a:rPr lang="en-US" altLang="ko-KR" sz="1600" b="0" baseline="0" dirty="0">
                          <a:solidFill>
                            <a:schemeClr val="bg1"/>
                          </a:solidFill>
                          <a:latin typeface="+mj-lt"/>
                          <a:ea typeface="+mj-ea"/>
                        </a:rPr>
                        <a:t>02</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Investment Highlights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606132"/>
                  </a:ext>
                </a:extLst>
              </a:tr>
              <a:tr h="432000">
                <a:tc>
                  <a:txBody>
                    <a:bodyPr/>
                    <a:lstStyle/>
                    <a:p>
                      <a:pPr latinLnBrk="1"/>
                      <a:r>
                        <a:rPr lang="en-US" altLang="ko-KR" sz="1600" b="0" baseline="0" dirty="0">
                          <a:solidFill>
                            <a:schemeClr val="bg1"/>
                          </a:solidFill>
                          <a:latin typeface="+mj-lt"/>
                          <a:ea typeface="+mj-ea"/>
                        </a:rPr>
                        <a:t>03</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Market Landscape &amp; Outlook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492459"/>
                  </a:ext>
                </a:extLst>
              </a:tr>
              <a:tr h="432000">
                <a:tc>
                  <a:txBody>
                    <a:bodyPr/>
                    <a:lstStyle/>
                    <a:p>
                      <a:pPr latinLnBrk="1"/>
                      <a:r>
                        <a:rPr lang="en-US" altLang="ko-KR" sz="1600" b="0" baseline="0" dirty="0">
                          <a:solidFill>
                            <a:schemeClr val="bg1"/>
                          </a:solidFill>
                          <a:latin typeface="+mj-lt"/>
                          <a:ea typeface="+mj-ea"/>
                        </a:rPr>
                        <a:t>04</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Pipeline &amp; Technology</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0736481"/>
                  </a:ext>
                </a:extLst>
              </a:tr>
              <a:tr h="432000">
                <a:tc>
                  <a:txBody>
                    <a:bodyPr/>
                    <a:lstStyle/>
                    <a:p>
                      <a:pPr latinLnBrk="1"/>
                      <a:r>
                        <a:rPr lang="en-US" altLang="ko-KR" sz="1600" b="0" baseline="0" dirty="0">
                          <a:solidFill>
                            <a:srgbClr val="11244A"/>
                          </a:solidFill>
                          <a:latin typeface="+mj-lt"/>
                          <a:ea typeface="+mj-ea"/>
                        </a:rPr>
                        <a:t>05</a:t>
                      </a:r>
                      <a:endParaRPr lang="ko-KR" altLang="en-US" sz="1600" b="0" baseline="0" dirty="0">
                        <a:solidFill>
                          <a:srgbClr val="11244A"/>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en-US" altLang="ko-KR" sz="1600" b="0" cap="all" spc="-30" baseline="0" dirty="0">
                          <a:solidFill>
                            <a:srgbClr val="11244A"/>
                          </a:solidFill>
                          <a:latin typeface="+mj-lt"/>
                          <a:ea typeface="+mj-ea"/>
                        </a:rPr>
                        <a:t>Valuation &amp; Benchmark</a:t>
                      </a:r>
                      <a:endParaRPr lang="ko-KR" altLang="en-US" sz="1600" b="0" cap="all" spc="-30" baseline="0" dirty="0">
                        <a:solidFill>
                          <a:srgbClr val="11244A"/>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77775710"/>
                  </a:ext>
                </a:extLst>
              </a:tr>
              <a:tr h="432000">
                <a:tc>
                  <a:txBody>
                    <a:bodyPr/>
                    <a:lstStyle/>
                    <a:p>
                      <a:pPr latinLnBrk="1"/>
                      <a:r>
                        <a:rPr lang="en-US" altLang="ko-KR" sz="1600" b="0" baseline="0" dirty="0">
                          <a:solidFill>
                            <a:schemeClr val="bg1"/>
                          </a:solidFill>
                          <a:latin typeface="+mj-lt"/>
                          <a:ea typeface="+mj-ea"/>
                        </a:rPr>
                        <a:t>06</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Exit Pathway &amp; Execution</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362669"/>
                  </a:ext>
                </a:extLst>
              </a:tr>
              <a:tr h="432000">
                <a:tc>
                  <a:txBody>
                    <a:bodyPr/>
                    <a:lstStyle/>
                    <a:p>
                      <a:pPr latinLnBrk="1"/>
                      <a:r>
                        <a:rPr lang="en-US" altLang="ko-KR" sz="1600" b="0" baseline="0" dirty="0">
                          <a:solidFill>
                            <a:schemeClr val="bg1"/>
                          </a:solidFill>
                          <a:latin typeface="+mj-lt"/>
                          <a:ea typeface="+mj-ea"/>
                        </a:rPr>
                        <a:t>07</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Key Investment Terms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39227777"/>
                  </a:ext>
                </a:extLst>
              </a:tr>
            </a:tbl>
          </a:graphicData>
        </a:graphic>
      </p:graphicFrame>
      <p:pic>
        <p:nvPicPr>
          <p:cNvPr id="2" name="그래픽 1">
            <a:extLst>
              <a:ext uri="{FF2B5EF4-FFF2-40B4-BE49-F238E27FC236}">
                <a16:creationId xmlns:a16="http://schemas.microsoft.com/office/drawing/2014/main" id="{6F698631-1012-208C-1E9D-5D9CDD0835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2999" y="549275"/>
            <a:ext cx="1353293" cy="180000"/>
          </a:xfrm>
          <a:prstGeom prst="rect">
            <a:avLst/>
          </a:prstGeom>
        </p:spPr>
      </p:pic>
    </p:spTree>
    <p:extLst>
      <p:ext uri="{BB962C8B-B14F-4D97-AF65-F5344CB8AC3E}">
        <p14:creationId xmlns:p14="http://schemas.microsoft.com/office/powerpoint/2010/main" val="14669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0AEA-DB52-DE28-1EFE-16105589E5EC}"/>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757C551-35AF-E354-87F6-E9924D34ECE3}"/>
              </a:ext>
            </a:extLst>
          </p:cNvPr>
          <p:cNvSpPr>
            <a:spLocks noGrp="1"/>
          </p:cNvSpPr>
          <p:nvPr>
            <p:ph type="body" sz="quarter" idx="11"/>
          </p:nvPr>
        </p:nvSpPr>
        <p:spPr/>
        <p:txBody>
          <a:bodyPr/>
          <a:lstStyle/>
          <a:p>
            <a:r>
              <a:rPr lang="en-US" altLang="ko-KR" dirty="0"/>
              <a:t>NASDAQ Peer Benchmark: Massive Valuation Gap</a:t>
            </a:r>
            <a:endParaRPr lang="ko-KR" altLang="en-US" dirty="0"/>
          </a:p>
        </p:txBody>
      </p:sp>
      <p:sp>
        <p:nvSpPr>
          <p:cNvPr id="3" name="텍스트 개체 틀 2">
            <a:extLst>
              <a:ext uri="{FF2B5EF4-FFF2-40B4-BE49-F238E27FC236}">
                <a16:creationId xmlns:a16="http://schemas.microsoft.com/office/drawing/2014/main" id="{6EC7330F-9AED-AD8E-A87D-CEF68FF62846}"/>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94B0D27-88C7-87F7-6B7A-58A2F8914AFA}"/>
              </a:ext>
            </a:extLst>
          </p:cNvPr>
          <p:cNvSpPr>
            <a:spLocks noGrp="1"/>
          </p:cNvSpPr>
          <p:nvPr>
            <p:ph type="sldNum" sz="quarter" idx="13"/>
          </p:nvPr>
        </p:nvSpPr>
        <p:spPr/>
        <p:txBody>
          <a:bodyPr/>
          <a:lstStyle/>
          <a:p>
            <a:fld id="{C053318C-A610-4AA5-9FF7-26630BAA1E31}" type="slidenum">
              <a:rPr lang="en-US" altLang="ko-KR" smtClean="0"/>
              <a:pPr/>
              <a:t>25</a:t>
            </a:fld>
            <a:endParaRPr lang="en-US" dirty="0"/>
          </a:p>
        </p:txBody>
      </p:sp>
      <p:sp>
        <p:nvSpPr>
          <p:cNvPr id="8" name="TextBox 7">
            <a:extLst>
              <a:ext uri="{FF2B5EF4-FFF2-40B4-BE49-F238E27FC236}">
                <a16:creationId xmlns:a16="http://schemas.microsoft.com/office/drawing/2014/main" id="{D6A3670D-5DC2-8C7A-34DB-3A69F1F8F501}"/>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NKTx trades at a fraction of comparable NASDAQ RNAi and modality peers despite similar development stage and platform potential.</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78052750-926D-EDCC-8FA7-FE5150619095}"/>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NASDAQ Peer Comparison by Group</a:t>
            </a:r>
            <a:endParaRPr lang="ko-KR" altLang="en-US" sz="1200" b="1" dirty="0">
              <a:solidFill>
                <a:schemeClr val="bg1"/>
              </a:solidFill>
            </a:endParaRPr>
          </a:p>
        </p:txBody>
      </p:sp>
      <p:graphicFrame>
        <p:nvGraphicFramePr>
          <p:cNvPr id="11" name="표 10">
            <a:extLst>
              <a:ext uri="{FF2B5EF4-FFF2-40B4-BE49-F238E27FC236}">
                <a16:creationId xmlns:a16="http://schemas.microsoft.com/office/drawing/2014/main" id="{FD4EB648-D8B1-1373-437C-8ECDD54F6428}"/>
              </a:ext>
            </a:extLst>
          </p:cNvPr>
          <p:cNvGraphicFramePr>
            <a:graphicFrameLocks noGrp="1"/>
          </p:cNvGraphicFramePr>
          <p:nvPr>
            <p:extLst>
              <p:ext uri="{D42A27DB-BD31-4B8C-83A1-F6EECF244321}">
                <p14:modId xmlns:p14="http://schemas.microsoft.com/office/powerpoint/2010/main" val="2422609072"/>
              </p:ext>
            </p:extLst>
          </p:nvPr>
        </p:nvGraphicFramePr>
        <p:xfrm>
          <a:off x="453000" y="2168525"/>
          <a:ext cx="9000000" cy="2880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734714378"/>
                    </a:ext>
                  </a:extLst>
                </a:gridCol>
                <a:gridCol w="2520000">
                  <a:extLst>
                    <a:ext uri="{9D8B030D-6E8A-4147-A177-3AD203B41FA5}">
                      <a16:colId xmlns:a16="http://schemas.microsoft.com/office/drawing/2014/main" val="1716787721"/>
                    </a:ext>
                  </a:extLst>
                </a:gridCol>
                <a:gridCol w="2160000">
                  <a:extLst>
                    <a:ext uri="{9D8B030D-6E8A-4147-A177-3AD203B41FA5}">
                      <a16:colId xmlns:a16="http://schemas.microsoft.com/office/drawing/2014/main" val="1164926755"/>
                    </a:ext>
                  </a:extLst>
                </a:gridCol>
                <a:gridCol w="1440000">
                  <a:extLst>
                    <a:ext uri="{9D8B030D-6E8A-4147-A177-3AD203B41FA5}">
                      <a16:colId xmlns:a16="http://schemas.microsoft.com/office/drawing/2014/main" val="2866681953"/>
                    </a:ext>
                  </a:extLst>
                </a:gridCol>
                <a:gridCol w="1800000">
                  <a:extLst>
                    <a:ext uri="{9D8B030D-6E8A-4147-A177-3AD203B41FA5}">
                      <a16:colId xmlns:a16="http://schemas.microsoft.com/office/drawing/2014/main" val="4057358529"/>
                    </a:ext>
                  </a:extLst>
                </a:gridCol>
              </a:tblGrid>
              <a:tr h="288000">
                <a:tc>
                  <a:txBody>
                    <a:bodyPr/>
                    <a:lstStyle/>
                    <a:p>
                      <a:pPr latinLnBrk="1"/>
                      <a:r>
                        <a:rPr lang="en-US" altLang="ko-KR" sz="1000" b="1" dirty="0">
                          <a:solidFill>
                            <a:srgbClr val="3D3D3D"/>
                          </a:solidFill>
                        </a:rPr>
                        <a:t>Group</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Peer</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Core asset</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3D3D3D"/>
                          </a:solidFill>
                        </a:rPr>
                        <a:t>Status</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latinLnBrk="1"/>
                      <a:r>
                        <a:rPr lang="en-US" altLang="ko-KR" sz="1000" b="1" dirty="0">
                          <a:solidFill>
                            <a:srgbClr val="3D3D3D"/>
                          </a:solidFill>
                        </a:rPr>
                        <a:t>Market Cap</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8446594"/>
                  </a:ext>
                </a:extLst>
              </a:tr>
              <a:tr h="576000">
                <a:tc gridSpan="2">
                  <a:txBody>
                    <a:bodyPr/>
                    <a:lstStyle/>
                    <a:p>
                      <a:pPr latinLnBrk="1"/>
                      <a:r>
                        <a:rPr lang="en-US" altLang="ko-KR" sz="1000" b="1" dirty="0">
                          <a:solidFill>
                            <a:srgbClr val="11244A"/>
                          </a:solidFill>
                        </a:rPr>
                        <a:t>NKTx</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sz="1000" b="0" dirty="0">
                        <a:solidFill>
                          <a:srgbClr val="3D3D3D"/>
                        </a:solidFill>
                      </a:endParaRPr>
                    </a:p>
                  </a:txBody>
                  <a:tcPr marL="36000" marR="36000" marT="0" marB="0" anchor="ct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noFill/>
                  </a:tcPr>
                </a:tc>
                <a:tc gridSpan="2">
                  <a:txBody>
                    <a:bodyPr/>
                    <a:lstStyle/>
                    <a:p>
                      <a:pPr latinLnBrk="1"/>
                      <a:r>
                        <a:rPr lang="en-US" altLang="ko-KR" sz="1000" b="0" dirty="0">
                          <a:solidFill>
                            <a:srgbClr val="3D3D3D"/>
                          </a:solidFill>
                        </a:rPr>
                        <a:t>FM101: Phase 2b preparations</a:t>
                      </a:r>
                    </a:p>
                    <a:p>
                      <a:pPr latinLnBrk="1"/>
                      <a:r>
                        <a:rPr lang="en-US" altLang="ko-KR" sz="1000" b="0" dirty="0">
                          <a:solidFill>
                            <a:srgbClr val="3D3D3D"/>
                          </a:solidFill>
                        </a:rPr>
                        <a:t>CA102: Pre-clinical</a:t>
                      </a:r>
                    </a:p>
                    <a:p>
                      <a:pPr latinLnBrk="1"/>
                      <a:r>
                        <a:rPr lang="en-US" altLang="ko-KR" sz="1000" b="0" dirty="0">
                          <a:solidFill>
                            <a:srgbClr val="3D3D3D"/>
                          </a:solidFill>
                        </a:rPr>
                        <a:t>Csi103: Pre-clinical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sz="1000" b="0" dirty="0">
                        <a:solidFill>
                          <a:srgbClr val="3D3D3D"/>
                        </a:solidFill>
                      </a:endParaRPr>
                    </a:p>
                  </a:txBody>
                  <a:tcPr marL="36000" marR="36000" marT="0" marB="0" anchor="ct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noFill/>
                  </a:tcPr>
                </a:tc>
                <a:tc>
                  <a:txBody>
                    <a:bodyPr/>
                    <a:lstStyle/>
                    <a:p>
                      <a:pPr algn="r" latinLnBrk="1"/>
                      <a:r>
                        <a:rPr lang="en-US" altLang="ko-KR" sz="1000" b="1" dirty="0">
                          <a:solidFill>
                            <a:srgbClr val="3D3D3D"/>
                          </a:solidFill>
                        </a:rPr>
                        <a:t>$40M</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0194208"/>
                  </a:ext>
                </a:extLst>
              </a:tr>
              <a:tr h="288000">
                <a:tc>
                  <a:txBody>
                    <a:bodyPr/>
                    <a:lstStyle/>
                    <a:p>
                      <a:pPr latinLnBrk="1"/>
                      <a:r>
                        <a:rPr lang="en-US" altLang="ko-KR" sz="1000" b="1" dirty="0">
                          <a:solidFill>
                            <a:srgbClr val="11244A"/>
                          </a:solidFill>
                        </a:rPr>
                        <a:t>MASH</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11244A"/>
                          </a:solidFill>
                        </a:rPr>
                        <a:t>89bio</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err="1">
                          <a:solidFill>
                            <a:srgbClr val="3D3D3D"/>
                          </a:solidFill>
                        </a:rPr>
                        <a:t>Pegozafermin</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Phase 3</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latinLnBrk="1"/>
                      <a:r>
                        <a:rPr lang="en-US" altLang="ko-KR" sz="1000" b="1" dirty="0">
                          <a:solidFill>
                            <a:srgbClr val="3D3D3D"/>
                          </a:solidFill>
                        </a:rPr>
                        <a:t>$2.4B</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7296875"/>
                  </a:ext>
                </a:extLst>
              </a:tr>
              <a:tr h="288000">
                <a:tc>
                  <a:txBody>
                    <a:bodyPr/>
                    <a:lstStyle/>
                    <a:p>
                      <a:pPr latinLnBrk="1"/>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11244A"/>
                          </a:solidFill>
                        </a:rPr>
                        <a:t>Viking Therapeutics</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VK2809</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Phase 2b</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latinLnBrk="1"/>
                      <a:r>
                        <a:rPr lang="en-US" altLang="ko-KR" sz="1000" b="1" dirty="0">
                          <a:solidFill>
                            <a:srgbClr val="3D3D3D"/>
                          </a:solidFill>
                        </a:rPr>
                        <a:t>$2.7B</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3206587"/>
                  </a:ext>
                </a:extLst>
              </a:tr>
              <a:tr h="288000">
                <a:tc>
                  <a:txBody>
                    <a:bodyPr/>
                    <a:lstStyle/>
                    <a:p>
                      <a:pPr latinLnBrk="1"/>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err="1">
                          <a:solidFill>
                            <a:srgbClr val="11244A"/>
                          </a:solidFill>
                        </a:rPr>
                        <a:t>Akero</a:t>
                      </a:r>
                      <a:r>
                        <a:rPr lang="en-US" altLang="ko-KR" sz="1000" b="1" dirty="0">
                          <a:solidFill>
                            <a:srgbClr val="11244A"/>
                          </a:solidFill>
                        </a:rPr>
                        <a:t> Therapeutics</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err="1">
                          <a:solidFill>
                            <a:srgbClr val="3D3D3D"/>
                          </a:solidFill>
                        </a:rPr>
                        <a:t>Efruxifermin</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Phase 3</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latinLnBrk="1"/>
                      <a:r>
                        <a:rPr lang="en-US" altLang="ko-KR" sz="1000" b="1" dirty="0">
                          <a:solidFill>
                            <a:srgbClr val="3D3D3D"/>
                          </a:solidFill>
                        </a:rPr>
                        <a:t>$3.4B</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777793"/>
                  </a:ext>
                </a:extLst>
              </a:tr>
              <a:tr h="288000">
                <a:tc>
                  <a:txBody>
                    <a:bodyPr/>
                    <a:lstStyle/>
                    <a:p>
                      <a:pPr latinLnBrk="1"/>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11244A"/>
                          </a:solidFill>
                        </a:rPr>
                        <a:t>Madrigal Pharmaceuticals</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err="1">
                          <a:solidFill>
                            <a:srgbClr val="3D3D3D"/>
                          </a:solidFill>
                        </a:rPr>
                        <a:t>Rezdiffra</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Approval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latinLnBrk="1"/>
                      <a:r>
                        <a:rPr lang="en-US" altLang="ko-KR" sz="1000" b="1" dirty="0">
                          <a:solidFill>
                            <a:srgbClr val="3D3D3D"/>
                          </a:solidFill>
                        </a:rPr>
                        <a:t>$9.5B</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8593446"/>
                  </a:ext>
                </a:extLst>
              </a:tr>
              <a:tr h="288000">
                <a:tc>
                  <a:txBody>
                    <a:bodyPr/>
                    <a:lstStyle/>
                    <a:p>
                      <a:pPr latinLnBrk="1"/>
                      <a:r>
                        <a:rPr lang="en-US" altLang="ko-KR" sz="1000" b="1" dirty="0">
                          <a:solidFill>
                            <a:srgbClr val="11244A"/>
                          </a:solidFill>
                        </a:rPr>
                        <a:t>Oncolytic Virus</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11244A"/>
                          </a:solidFill>
                        </a:rPr>
                        <a:t>CG Oncology</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err="1">
                          <a:solidFill>
                            <a:srgbClr val="3D3D3D"/>
                          </a:solidFill>
                        </a:rPr>
                        <a:t>Cretostimogene</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Phase 3</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latinLnBrk="1"/>
                      <a:r>
                        <a:rPr lang="en-US" altLang="ko-KR" sz="1000" b="1" dirty="0">
                          <a:solidFill>
                            <a:srgbClr val="3D3D3D"/>
                          </a:solidFill>
                        </a:rPr>
                        <a:t>$2.0B</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1763391"/>
                  </a:ext>
                </a:extLst>
              </a:tr>
              <a:tr h="288000">
                <a:tc>
                  <a:txBody>
                    <a:bodyPr/>
                    <a:lstStyle/>
                    <a:p>
                      <a:pPr latinLnBrk="1"/>
                      <a:r>
                        <a:rPr lang="en-US" altLang="ko-KR" sz="1000" b="1" dirty="0">
                          <a:solidFill>
                            <a:srgbClr val="11244A"/>
                          </a:solidFill>
                        </a:rPr>
                        <a:t>Advanced RNAi</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11244A"/>
                          </a:solidFill>
                        </a:rPr>
                        <a:t>Arrowhead Pharmaceuticals</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err="1">
                          <a:solidFill>
                            <a:srgbClr val="3D3D3D"/>
                          </a:solidFill>
                        </a:rPr>
                        <a:t>TRiM</a:t>
                      </a:r>
                      <a:r>
                        <a:rPr lang="en-US" altLang="ko-KR" sz="1000" b="0" dirty="0">
                          <a:solidFill>
                            <a:srgbClr val="3D3D3D"/>
                          </a:solidFill>
                        </a:rPr>
                        <a:t> Platform, </a:t>
                      </a:r>
                      <a:r>
                        <a:rPr lang="en-US" altLang="ko-KR" sz="1000" b="0" dirty="0" err="1">
                          <a:solidFill>
                            <a:srgbClr val="3D3D3D"/>
                          </a:solidFill>
                        </a:rPr>
                        <a:t>Plozasiran</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Phase 3</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r" latinLnBrk="1"/>
                      <a:r>
                        <a:rPr lang="en-US" altLang="ko-KR" sz="1000" b="1" dirty="0">
                          <a:solidFill>
                            <a:srgbClr val="3D3D3D"/>
                          </a:solidFill>
                        </a:rPr>
                        <a:t>$4.2B</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8981043"/>
                  </a:ext>
                </a:extLst>
              </a:tr>
              <a:tr h="288000">
                <a:tc>
                  <a:txBody>
                    <a:bodyPr/>
                    <a:lstStyle/>
                    <a:p>
                      <a:pPr latinLnBrk="1"/>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1" dirty="0">
                          <a:solidFill>
                            <a:srgbClr val="11244A"/>
                          </a:solidFill>
                        </a:rPr>
                        <a:t>Alnylam Pharmaceuticals</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RNAi Platform, </a:t>
                      </a:r>
                      <a:r>
                        <a:rPr lang="en-US" altLang="ko-KR" sz="1000" b="0" dirty="0" err="1">
                          <a:solidFill>
                            <a:srgbClr val="3D3D3D"/>
                          </a:solidFill>
                        </a:rPr>
                        <a:t>Inclisiran</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000" b="0" dirty="0">
                          <a:solidFill>
                            <a:srgbClr val="3D3D3D"/>
                          </a:solidFill>
                        </a:rPr>
                        <a:t>Commercialization</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latinLnBrk="1"/>
                      <a:r>
                        <a:rPr lang="en-US" altLang="ko-KR" sz="1000" b="1" dirty="0">
                          <a:solidFill>
                            <a:srgbClr val="3D3D3D"/>
                          </a:solidFill>
                        </a:rPr>
                        <a:t>$60.5B</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74003"/>
                  </a:ext>
                </a:extLst>
              </a:tr>
            </a:tbl>
          </a:graphicData>
        </a:graphic>
      </p:graphicFrame>
      <p:sp>
        <p:nvSpPr>
          <p:cNvPr id="12" name="이등변 삼각형 11">
            <a:extLst>
              <a:ext uri="{FF2B5EF4-FFF2-40B4-BE49-F238E27FC236}">
                <a16:creationId xmlns:a16="http://schemas.microsoft.com/office/drawing/2014/main" id="{4C2BCC72-C067-4FA7-64DF-9D3B8452DCD5}"/>
              </a:ext>
            </a:extLst>
          </p:cNvPr>
          <p:cNvSpPr/>
          <p:nvPr/>
        </p:nvSpPr>
        <p:spPr>
          <a:xfrm rot="5400000">
            <a:off x="381000" y="5278394"/>
            <a:ext cx="432000" cy="288000"/>
          </a:xfrm>
          <a:prstGeom prst="triangle">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3" name="TextBox 12">
            <a:extLst>
              <a:ext uri="{FF2B5EF4-FFF2-40B4-BE49-F238E27FC236}">
                <a16:creationId xmlns:a16="http://schemas.microsoft.com/office/drawing/2014/main" id="{01C79E63-8FB8-DF92-43CD-87D806822BB5}"/>
              </a:ext>
            </a:extLst>
          </p:cNvPr>
          <p:cNvSpPr txBox="1"/>
          <p:nvPr/>
        </p:nvSpPr>
        <p:spPr>
          <a:xfrm>
            <a:off x="741000" y="5225994"/>
            <a:ext cx="8711999" cy="392800"/>
          </a:xfrm>
          <a:prstGeom prst="rect">
            <a:avLst/>
          </a:prstGeom>
          <a:noFill/>
        </p:spPr>
        <p:txBody>
          <a:bodyPr wrap="square" lIns="144000" tIns="0" rIns="0" bIns="0" rtlCol="0">
            <a:spAutoFit/>
          </a:bodyPr>
          <a:lstStyle/>
          <a:p>
            <a:pPr marL="171450" indent="-171450" algn="l">
              <a:lnSpc>
                <a:spcPct val="110000"/>
              </a:lnSpc>
              <a:buFont typeface="Wingdings" panose="05000000000000000000" pitchFamily="2" charset="2"/>
              <a:buChar char="ü"/>
            </a:pPr>
            <a:r>
              <a:rPr lang="en-US" altLang="ko-KR" sz="1200" b="1" dirty="0" err="1">
                <a:solidFill>
                  <a:srgbClr val="539DFF"/>
                </a:solidFill>
              </a:rPr>
              <a:t>NKTx’s</a:t>
            </a:r>
            <a:r>
              <a:rPr lang="en-US" altLang="ko-KR" sz="1200" b="1" dirty="0">
                <a:solidFill>
                  <a:srgbClr val="539DFF"/>
                </a:solidFill>
              </a:rPr>
              <a:t> $40M pre-money valuation is materially discounted relative to U.S. peer comparables.</a:t>
            </a:r>
          </a:p>
          <a:p>
            <a:pPr marL="171450" indent="-171450" algn="l">
              <a:lnSpc>
                <a:spcPct val="110000"/>
              </a:lnSpc>
              <a:buFont typeface="Wingdings" panose="05000000000000000000" pitchFamily="2" charset="2"/>
              <a:buChar char="ü"/>
            </a:pPr>
            <a:r>
              <a:rPr lang="en-US" altLang="ko-KR" sz="1200" b="1" spc="-30" dirty="0">
                <a:solidFill>
                  <a:srgbClr val="539DFF"/>
                </a:solidFill>
              </a:rPr>
              <a:t>Successful NASDAQ listing can unlock re-rating toward global benchmark levels as NKTx progresses its clinical programs.</a:t>
            </a:r>
            <a:endParaRPr lang="ko-KR" altLang="en-US" sz="1200" b="1" spc="-30" dirty="0">
              <a:solidFill>
                <a:srgbClr val="539DFF"/>
              </a:solidFill>
            </a:endParaRPr>
          </a:p>
        </p:txBody>
      </p:sp>
    </p:spTree>
    <p:extLst>
      <p:ext uri="{BB962C8B-B14F-4D97-AF65-F5344CB8AC3E}">
        <p14:creationId xmlns:p14="http://schemas.microsoft.com/office/powerpoint/2010/main" val="3889645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AD579-AC57-2D3A-3E73-C2E308B6DB2E}"/>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4EA6946E-09A7-8CC1-4E6B-24E3F04C4AC0}"/>
              </a:ext>
            </a:extLst>
          </p:cNvPr>
          <p:cNvSpPr>
            <a:spLocks noGrp="1"/>
          </p:cNvSpPr>
          <p:nvPr>
            <p:ph type="body" sz="quarter" idx="11"/>
          </p:nvPr>
        </p:nvSpPr>
        <p:spPr/>
        <p:txBody>
          <a:bodyPr/>
          <a:lstStyle/>
          <a:p>
            <a:r>
              <a:rPr lang="en-US" altLang="ko-KR" dirty="0"/>
              <a:t>Peer Transaction Benchmark</a:t>
            </a:r>
            <a:endParaRPr lang="ko-KR" altLang="en-US" dirty="0"/>
          </a:p>
        </p:txBody>
      </p:sp>
      <p:sp>
        <p:nvSpPr>
          <p:cNvPr id="3" name="텍스트 개체 틀 2">
            <a:extLst>
              <a:ext uri="{FF2B5EF4-FFF2-40B4-BE49-F238E27FC236}">
                <a16:creationId xmlns:a16="http://schemas.microsoft.com/office/drawing/2014/main" id="{6BEE2000-6894-C02F-1604-86A5B2C52D1A}"/>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FBC312A-3563-CCAF-400E-C4E0F396530E}"/>
              </a:ext>
            </a:extLst>
          </p:cNvPr>
          <p:cNvSpPr>
            <a:spLocks noGrp="1"/>
          </p:cNvSpPr>
          <p:nvPr>
            <p:ph type="sldNum" sz="quarter" idx="13"/>
          </p:nvPr>
        </p:nvSpPr>
        <p:spPr/>
        <p:txBody>
          <a:bodyPr/>
          <a:lstStyle/>
          <a:p>
            <a:fld id="{C053318C-A610-4AA5-9FF7-26630BAA1E31}" type="slidenum">
              <a:rPr lang="en-US" altLang="ko-KR" smtClean="0"/>
              <a:pPr/>
              <a:t>26</a:t>
            </a:fld>
            <a:endParaRPr lang="en-US" dirty="0"/>
          </a:p>
        </p:txBody>
      </p:sp>
      <p:sp>
        <p:nvSpPr>
          <p:cNvPr id="8" name="TextBox 7">
            <a:extLst>
              <a:ext uri="{FF2B5EF4-FFF2-40B4-BE49-F238E27FC236}">
                <a16:creationId xmlns:a16="http://schemas.microsoft.com/office/drawing/2014/main" id="{A6DED9F2-E8BB-C9EC-E5CF-21068E20D735}"/>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NKTx sits significantly below global deal benchmarks despite comparable modality and stage. Global transactions imply platform/asset value far in excess of $40M pre-money today.</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B4A29D59-D3B1-B3FB-CB40-4EB29B71A34A}"/>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Global Peer M&amp;A Transactions</a:t>
            </a:r>
            <a:endParaRPr lang="ko-KR" altLang="en-US" sz="1200" b="1" dirty="0">
              <a:solidFill>
                <a:schemeClr val="bg1"/>
              </a:solidFill>
            </a:endParaRPr>
          </a:p>
        </p:txBody>
      </p:sp>
      <p:graphicFrame>
        <p:nvGraphicFramePr>
          <p:cNvPr id="11" name="표 10">
            <a:extLst>
              <a:ext uri="{FF2B5EF4-FFF2-40B4-BE49-F238E27FC236}">
                <a16:creationId xmlns:a16="http://schemas.microsoft.com/office/drawing/2014/main" id="{50356FFC-CD03-C5AC-CA98-462588ACFBDB}"/>
              </a:ext>
            </a:extLst>
          </p:cNvPr>
          <p:cNvGraphicFramePr>
            <a:graphicFrameLocks noGrp="1"/>
          </p:cNvGraphicFramePr>
          <p:nvPr>
            <p:extLst>
              <p:ext uri="{D42A27DB-BD31-4B8C-83A1-F6EECF244321}">
                <p14:modId xmlns:p14="http://schemas.microsoft.com/office/powerpoint/2010/main" val="1684721227"/>
              </p:ext>
            </p:extLst>
          </p:nvPr>
        </p:nvGraphicFramePr>
        <p:xfrm>
          <a:off x="453000" y="2168525"/>
          <a:ext cx="9000000" cy="2520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734714378"/>
                    </a:ext>
                  </a:extLst>
                </a:gridCol>
                <a:gridCol w="1440000">
                  <a:extLst>
                    <a:ext uri="{9D8B030D-6E8A-4147-A177-3AD203B41FA5}">
                      <a16:colId xmlns:a16="http://schemas.microsoft.com/office/drawing/2014/main" val="1716787721"/>
                    </a:ext>
                  </a:extLst>
                </a:gridCol>
                <a:gridCol w="2520000">
                  <a:extLst>
                    <a:ext uri="{9D8B030D-6E8A-4147-A177-3AD203B41FA5}">
                      <a16:colId xmlns:a16="http://schemas.microsoft.com/office/drawing/2014/main" val="1164926755"/>
                    </a:ext>
                  </a:extLst>
                </a:gridCol>
                <a:gridCol w="1800000">
                  <a:extLst>
                    <a:ext uri="{9D8B030D-6E8A-4147-A177-3AD203B41FA5}">
                      <a16:colId xmlns:a16="http://schemas.microsoft.com/office/drawing/2014/main" val="2866681953"/>
                    </a:ext>
                  </a:extLst>
                </a:gridCol>
                <a:gridCol w="1800000">
                  <a:extLst>
                    <a:ext uri="{9D8B030D-6E8A-4147-A177-3AD203B41FA5}">
                      <a16:colId xmlns:a16="http://schemas.microsoft.com/office/drawing/2014/main" val="4057358529"/>
                    </a:ext>
                  </a:extLst>
                </a:gridCol>
              </a:tblGrid>
              <a:tr h="360000">
                <a:tc>
                  <a:txBody>
                    <a:bodyPr/>
                    <a:lstStyle/>
                    <a:p>
                      <a:pPr algn="l" latinLnBrk="1"/>
                      <a:r>
                        <a:rPr lang="en-US" altLang="ko-KR" sz="1000" b="1" dirty="0">
                          <a:solidFill>
                            <a:srgbClr val="3D3D3D"/>
                          </a:solidFill>
                        </a:rPr>
                        <a:t>Investor</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a:solidFill>
                            <a:srgbClr val="3D3D3D"/>
                          </a:solidFill>
                        </a:rPr>
                        <a:t>Target</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a:solidFill>
                            <a:srgbClr val="3D3D3D"/>
                          </a:solidFill>
                        </a:rPr>
                        <a:t>Asset / Stage</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a:solidFill>
                            <a:srgbClr val="3D3D3D"/>
                          </a:solidFill>
                        </a:rPr>
                        <a:t>Therapeutic Area</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a:solidFill>
                            <a:srgbClr val="3D3D3D"/>
                          </a:solidFill>
                        </a:rPr>
                        <a:t>Deal Value</a:t>
                      </a:r>
                      <a:endParaRPr lang="ko-KR" altLang="en-US" sz="1000" b="1"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8446594"/>
                  </a:ext>
                </a:extLst>
              </a:tr>
              <a:tr h="360000">
                <a:tc>
                  <a:txBody>
                    <a:bodyPr/>
                    <a:lstStyle/>
                    <a:p>
                      <a:pPr algn="l" latinLnBrk="1"/>
                      <a:r>
                        <a:rPr lang="en-US" altLang="ko-KR" sz="1000" b="1" dirty="0">
                          <a:solidFill>
                            <a:srgbClr val="11244A"/>
                          </a:solidFill>
                        </a:rPr>
                        <a:t>Roche</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a:solidFill>
                            <a:srgbClr val="11244A"/>
                          </a:solidFill>
                        </a:rPr>
                        <a:t>89bio</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err="1">
                          <a:solidFill>
                            <a:srgbClr val="3D3D3D"/>
                          </a:solidFill>
                        </a:rPr>
                        <a:t>Pegozafermin</a:t>
                      </a:r>
                      <a:r>
                        <a:rPr lang="en-US" altLang="ko-KR" sz="1000" b="0" dirty="0">
                          <a:solidFill>
                            <a:srgbClr val="3D3D3D"/>
                          </a:solidFill>
                        </a:rPr>
                        <a:t> / Phase 3</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MASH</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$3.5B</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7296875"/>
                  </a:ext>
                </a:extLst>
              </a:tr>
              <a:tr h="360000">
                <a:tc>
                  <a:txBody>
                    <a:bodyPr/>
                    <a:lstStyle/>
                    <a:p>
                      <a:pPr algn="l" latinLnBrk="1"/>
                      <a:r>
                        <a:rPr lang="en-US" altLang="ko-KR" sz="1000" b="1" dirty="0">
                          <a:solidFill>
                            <a:srgbClr val="11244A"/>
                          </a:solidFill>
                        </a:rPr>
                        <a:t>AstraZeneca</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err="1">
                          <a:solidFill>
                            <a:srgbClr val="11244A"/>
                          </a:solidFill>
                        </a:rPr>
                        <a:t>Eccogene</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Oral GLP-1 / Phase 1</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Obesity</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$2.0B</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3206587"/>
                  </a:ext>
                </a:extLst>
              </a:tr>
              <a:tr h="360000">
                <a:tc>
                  <a:txBody>
                    <a:bodyPr/>
                    <a:lstStyle/>
                    <a:p>
                      <a:pPr algn="l" latinLnBrk="1"/>
                      <a:r>
                        <a:rPr lang="en-US" altLang="ko-KR" sz="1000" b="1" dirty="0">
                          <a:solidFill>
                            <a:srgbClr val="11244A"/>
                          </a:solidFill>
                        </a:rPr>
                        <a:t>AbbVie</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err="1">
                          <a:solidFill>
                            <a:srgbClr val="11244A"/>
                          </a:solidFill>
                        </a:rPr>
                        <a:t>Gubra</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Amylin Analog / Phase 1</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Obesity</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$2.2B</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777793"/>
                  </a:ext>
                </a:extLst>
              </a:tr>
              <a:tr h="360000">
                <a:tc>
                  <a:txBody>
                    <a:bodyPr/>
                    <a:lstStyle/>
                    <a:p>
                      <a:pPr algn="l" latinLnBrk="1"/>
                      <a:r>
                        <a:rPr lang="en-US" altLang="ko-KR" sz="1000" b="1" dirty="0">
                          <a:solidFill>
                            <a:srgbClr val="11244A"/>
                          </a:solidFill>
                        </a:rPr>
                        <a:t>Madrigal</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a:solidFill>
                            <a:srgbClr val="11244A"/>
                          </a:solidFill>
                        </a:rPr>
                        <a:t>CSPC Pharma</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Oral GLP-1 / Pre-Clinical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Obesity</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$2.1B</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8593446"/>
                  </a:ext>
                </a:extLst>
              </a:tr>
              <a:tr h="360000">
                <a:tc>
                  <a:txBody>
                    <a:bodyPr/>
                    <a:lstStyle/>
                    <a:p>
                      <a:pPr algn="l" latinLnBrk="1"/>
                      <a:r>
                        <a:rPr lang="en-US" altLang="ko-KR" sz="1000" b="1" dirty="0" err="1">
                          <a:solidFill>
                            <a:srgbClr val="11244A"/>
                          </a:solidFill>
                        </a:rPr>
                        <a:t>Abbvie</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err="1">
                          <a:solidFill>
                            <a:srgbClr val="11244A"/>
                          </a:solidFill>
                        </a:rPr>
                        <a:t>ADARx</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siRNA Platform / Pre-Clinical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Multiple</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Billions $</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1763391"/>
                  </a:ext>
                </a:extLst>
              </a:tr>
              <a:tr h="360000">
                <a:tc>
                  <a:txBody>
                    <a:bodyPr/>
                    <a:lstStyle/>
                    <a:p>
                      <a:pPr algn="l" latinLnBrk="1"/>
                      <a:r>
                        <a:rPr lang="en-US" altLang="ko-KR" sz="1000" b="1" dirty="0">
                          <a:solidFill>
                            <a:srgbClr val="11244A"/>
                          </a:solidFill>
                        </a:rPr>
                        <a:t>CRISPR Tx</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1" dirty="0">
                          <a:solidFill>
                            <a:srgbClr val="11244A"/>
                          </a:solidFill>
                        </a:rPr>
                        <a:t>Sirius Tx</a:t>
                      </a:r>
                      <a:endParaRPr lang="ko-KR" altLang="en-US" sz="1000" b="1" dirty="0">
                        <a:solidFill>
                          <a:srgbClr val="11244A"/>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siRNA Platform / Pre-Clinical</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Multiple</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1000" b="0" dirty="0">
                          <a:solidFill>
                            <a:srgbClr val="3D3D3D"/>
                          </a:solidFill>
                        </a:rPr>
                        <a:t>Billions $</a:t>
                      </a:r>
                      <a:endParaRPr lang="ko-KR" altLang="en-US" sz="1000" b="0" dirty="0">
                        <a:solidFill>
                          <a:srgbClr val="3D3D3D"/>
                        </a:solidFill>
                      </a:endParaRPr>
                    </a:p>
                  </a:txBody>
                  <a:tcPr marL="36000" marR="36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74003"/>
                  </a:ext>
                </a:extLst>
              </a:tr>
            </a:tbl>
          </a:graphicData>
        </a:graphic>
      </p:graphicFrame>
    </p:spTree>
    <p:extLst>
      <p:ext uri="{BB962C8B-B14F-4D97-AF65-F5344CB8AC3E}">
        <p14:creationId xmlns:p14="http://schemas.microsoft.com/office/powerpoint/2010/main" val="1748999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6C143-65E8-F9FF-CE3E-6C8A68CCF9ED}"/>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DD110D2-E56B-70E8-39D7-829F89B4255A}"/>
              </a:ext>
            </a:extLst>
          </p:cNvPr>
          <p:cNvSpPr>
            <a:spLocks noGrp="1"/>
          </p:cNvSpPr>
          <p:nvPr>
            <p:ph type="body" sz="quarter" idx="11"/>
          </p:nvPr>
        </p:nvSpPr>
        <p:spPr/>
        <p:txBody>
          <a:bodyPr/>
          <a:lstStyle/>
          <a:p>
            <a:r>
              <a:rPr lang="en-US" altLang="ko-KR" dirty="0"/>
              <a:t>Arbitrage from Structural Market inefficiency</a:t>
            </a:r>
            <a:endParaRPr lang="ko-KR" altLang="en-US" dirty="0"/>
          </a:p>
        </p:txBody>
      </p:sp>
      <p:sp>
        <p:nvSpPr>
          <p:cNvPr id="3" name="텍스트 개체 틀 2">
            <a:extLst>
              <a:ext uri="{FF2B5EF4-FFF2-40B4-BE49-F238E27FC236}">
                <a16:creationId xmlns:a16="http://schemas.microsoft.com/office/drawing/2014/main" id="{32E3CFCE-0C55-F35F-F462-A0F13927533B}"/>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0FD1B26-295B-441A-F5AD-10448EE94EFF}"/>
              </a:ext>
            </a:extLst>
          </p:cNvPr>
          <p:cNvSpPr>
            <a:spLocks noGrp="1"/>
          </p:cNvSpPr>
          <p:nvPr>
            <p:ph type="sldNum" sz="quarter" idx="13"/>
          </p:nvPr>
        </p:nvSpPr>
        <p:spPr/>
        <p:txBody>
          <a:bodyPr/>
          <a:lstStyle/>
          <a:p>
            <a:fld id="{C053318C-A610-4AA5-9FF7-26630BAA1E31}" type="slidenum">
              <a:rPr lang="en-US" altLang="ko-KR" smtClean="0"/>
              <a:pPr/>
              <a:t>27</a:t>
            </a:fld>
            <a:endParaRPr lang="en-US" dirty="0"/>
          </a:p>
        </p:txBody>
      </p:sp>
      <p:sp>
        <p:nvSpPr>
          <p:cNvPr id="8" name="TextBox 7">
            <a:extLst>
              <a:ext uri="{FF2B5EF4-FFF2-40B4-BE49-F238E27FC236}">
                <a16:creationId xmlns:a16="http://schemas.microsoft.com/office/drawing/2014/main" id="{0F3155C6-D88D-ECE2-2CFB-82FD30142FE3}"/>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NKTx seeks to capture value uplift driven by pricing disparities between Korea’s private market and NASDAQ biotech benchmarks.</a:t>
            </a:r>
            <a:endParaRPr lang="ko-KR" altLang="en-US" sz="1400" b="1" dirty="0">
              <a:solidFill>
                <a:srgbClr val="3D3D3D"/>
              </a:solidFill>
            </a:endParaRPr>
          </a:p>
        </p:txBody>
      </p:sp>
      <p:sp>
        <p:nvSpPr>
          <p:cNvPr id="9" name="직사각형 8">
            <a:extLst>
              <a:ext uri="{FF2B5EF4-FFF2-40B4-BE49-F238E27FC236}">
                <a16:creationId xmlns:a16="http://schemas.microsoft.com/office/drawing/2014/main" id="{AFB8D2D2-B46E-D448-DB9B-0E7D5EA6CAA4}"/>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Core Drivers of the Valuation Gap</a:t>
            </a:r>
            <a:endParaRPr lang="ko-KR" altLang="en-US" sz="1200" b="1" dirty="0">
              <a:solidFill>
                <a:schemeClr val="bg1"/>
              </a:solidFill>
            </a:endParaRPr>
          </a:p>
        </p:txBody>
      </p:sp>
      <p:sp>
        <p:nvSpPr>
          <p:cNvPr id="12" name="직사각형 11">
            <a:extLst>
              <a:ext uri="{FF2B5EF4-FFF2-40B4-BE49-F238E27FC236}">
                <a16:creationId xmlns:a16="http://schemas.microsoft.com/office/drawing/2014/main" id="{88E40FFA-2599-D7C4-FEAC-06DF551D4F73}"/>
              </a:ext>
            </a:extLst>
          </p:cNvPr>
          <p:cNvSpPr/>
          <p:nvPr/>
        </p:nvSpPr>
        <p:spPr>
          <a:xfrm>
            <a:off x="453000" y="2168525"/>
            <a:ext cx="648000" cy="648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2000" dirty="0">
                <a:solidFill>
                  <a:schemeClr val="bg1"/>
                </a:solidFill>
                <a:latin typeface="+mj-lt"/>
                <a:ea typeface="+mj-ea"/>
              </a:rPr>
              <a:t>01</a:t>
            </a:r>
            <a:endParaRPr lang="ko-KR" altLang="en-US" sz="2000" dirty="0">
              <a:solidFill>
                <a:schemeClr val="bg1"/>
              </a:solidFill>
              <a:latin typeface="+mj-lt"/>
              <a:ea typeface="+mj-ea"/>
            </a:endParaRPr>
          </a:p>
        </p:txBody>
      </p:sp>
      <p:sp>
        <p:nvSpPr>
          <p:cNvPr id="13" name="TextBox 12">
            <a:extLst>
              <a:ext uri="{FF2B5EF4-FFF2-40B4-BE49-F238E27FC236}">
                <a16:creationId xmlns:a16="http://schemas.microsoft.com/office/drawing/2014/main" id="{132661F7-38D2-E167-3DC2-C7521F4F6CCE}"/>
              </a:ext>
            </a:extLst>
          </p:cNvPr>
          <p:cNvSpPr txBox="1"/>
          <p:nvPr/>
        </p:nvSpPr>
        <p:spPr>
          <a:xfrm>
            <a:off x="1101000" y="2194559"/>
            <a:ext cx="5720751" cy="853632"/>
          </a:xfrm>
          <a:prstGeom prst="rect">
            <a:avLst/>
          </a:prstGeom>
          <a:noFill/>
        </p:spPr>
        <p:txBody>
          <a:bodyPr wrap="none" lIns="360000" tIns="0" rIns="0" bIns="0" rtlCol="0">
            <a:spAutoFit/>
          </a:bodyPr>
          <a:lstStyle/>
          <a:p>
            <a:pPr algn="l">
              <a:lnSpc>
                <a:spcPct val="110000"/>
              </a:lnSpc>
              <a:spcAft>
                <a:spcPts val="400"/>
              </a:spcAft>
            </a:pPr>
            <a:r>
              <a:rPr lang="en-US" altLang="ko-KR" sz="1200" b="1" dirty="0">
                <a:solidFill>
                  <a:srgbClr val="11244A"/>
                </a:solidFill>
              </a:rPr>
              <a:t>Capital Market Depth</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Liquidity &amp; capital concentration:</a:t>
            </a:r>
            <a:r>
              <a:rPr lang="en-US" altLang="ko-KR" sz="1000" dirty="0">
                <a:solidFill>
                  <a:srgbClr val="3D3D3D"/>
                </a:solidFill>
              </a:rPr>
              <a:t> NASDAQ hosts global biotech money &amp; specialist funds</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Korea underprices innovation:</a:t>
            </a:r>
            <a:r>
              <a:rPr lang="en-US" altLang="ko-KR" sz="1000" dirty="0">
                <a:solidFill>
                  <a:srgbClr val="3D3D3D"/>
                </a:solidFill>
              </a:rPr>
              <a:t> limited liquidity → early assets not fully valued</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Meaning for investors:</a:t>
            </a:r>
            <a:r>
              <a:rPr lang="en-US" altLang="ko-KR" sz="1000" dirty="0">
                <a:solidFill>
                  <a:srgbClr val="3D3D3D"/>
                </a:solidFill>
              </a:rPr>
              <a:t> pre-listing platforms trade at meaningful discounts</a:t>
            </a:r>
          </a:p>
        </p:txBody>
      </p:sp>
      <p:sp>
        <p:nvSpPr>
          <p:cNvPr id="14" name="직사각형 13">
            <a:extLst>
              <a:ext uri="{FF2B5EF4-FFF2-40B4-BE49-F238E27FC236}">
                <a16:creationId xmlns:a16="http://schemas.microsoft.com/office/drawing/2014/main" id="{C7391265-0911-F9FD-E36E-0867748785CB}"/>
              </a:ext>
            </a:extLst>
          </p:cNvPr>
          <p:cNvSpPr/>
          <p:nvPr/>
        </p:nvSpPr>
        <p:spPr>
          <a:xfrm>
            <a:off x="453000" y="3454983"/>
            <a:ext cx="648000" cy="648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2000" dirty="0">
                <a:solidFill>
                  <a:schemeClr val="bg1"/>
                </a:solidFill>
                <a:latin typeface="+mj-lt"/>
                <a:ea typeface="+mj-ea"/>
              </a:rPr>
              <a:t>02</a:t>
            </a:r>
            <a:endParaRPr lang="ko-KR" altLang="en-US" sz="2000" dirty="0">
              <a:solidFill>
                <a:schemeClr val="bg1"/>
              </a:solidFill>
              <a:latin typeface="+mj-lt"/>
              <a:ea typeface="+mj-ea"/>
            </a:endParaRPr>
          </a:p>
        </p:txBody>
      </p:sp>
      <p:sp>
        <p:nvSpPr>
          <p:cNvPr id="15" name="TextBox 14">
            <a:extLst>
              <a:ext uri="{FF2B5EF4-FFF2-40B4-BE49-F238E27FC236}">
                <a16:creationId xmlns:a16="http://schemas.microsoft.com/office/drawing/2014/main" id="{6A41AB5F-20C4-CCFD-5ED2-53D6F3324452}"/>
              </a:ext>
            </a:extLst>
          </p:cNvPr>
          <p:cNvSpPr txBox="1"/>
          <p:nvPr/>
        </p:nvSpPr>
        <p:spPr>
          <a:xfrm>
            <a:off x="1101000" y="3454983"/>
            <a:ext cx="5738385" cy="853632"/>
          </a:xfrm>
          <a:prstGeom prst="rect">
            <a:avLst/>
          </a:prstGeom>
          <a:noFill/>
        </p:spPr>
        <p:txBody>
          <a:bodyPr wrap="none" lIns="360000" tIns="0" rIns="0" bIns="0" rtlCol="0">
            <a:spAutoFit/>
          </a:bodyPr>
          <a:lstStyle/>
          <a:p>
            <a:pPr algn="l">
              <a:lnSpc>
                <a:spcPct val="110000"/>
              </a:lnSpc>
              <a:spcAft>
                <a:spcPts val="400"/>
              </a:spcAft>
            </a:pPr>
            <a:r>
              <a:rPr lang="en-US" altLang="ko-KR" sz="1200" b="1" dirty="0">
                <a:solidFill>
                  <a:srgbClr val="11244A"/>
                </a:solidFill>
              </a:rPr>
              <a:t>Specialist Coverage Gap</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Analyst-driven valuation:</a:t>
            </a:r>
            <a:r>
              <a:rPr lang="en-US" altLang="ko-KR" sz="1000" dirty="0">
                <a:solidFill>
                  <a:srgbClr val="3D3D3D"/>
                </a:solidFill>
              </a:rPr>
              <a:t> U.S. has disease-area analysts → pricing follows science &amp; data</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Domestic gap:</a:t>
            </a:r>
            <a:r>
              <a:rPr lang="en-US" altLang="ko-KR" sz="1000" dirty="0">
                <a:solidFill>
                  <a:srgbClr val="3D3D3D"/>
                </a:solidFill>
              </a:rPr>
              <a:t> Korea lacks domain analysts → optionality undervalued early</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Meaning for investors:</a:t>
            </a:r>
            <a:r>
              <a:rPr lang="en-US" altLang="ko-KR" sz="1000" dirty="0">
                <a:solidFill>
                  <a:srgbClr val="3D3D3D"/>
                </a:solidFill>
              </a:rPr>
              <a:t> visibility post-listing accelerates rerating potential</a:t>
            </a:r>
          </a:p>
        </p:txBody>
      </p:sp>
      <p:sp>
        <p:nvSpPr>
          <p:cNvPr id="16" name="직사각형 15">
            <a:extLst>
              <a:ext uri="{FF2B5EF4-FFF2-40B4-BE49-F238E27FC236}">
                <a16:creationId xmlns:a16="http://schemas.microsoft.com/office/drawing/2014/main" id="{E1D43B18-A6B7-EE27-B6C2-D869A9EF8D44}"/>
              </a:ext>
            </a:extLst>
          </p:cNvPr>
          <p:cNvSpPr/>
          <p:nvPr/>
        </p:nvSpPr>
        <p:spPr>
          <a:xfrm>
            <a:off x="453000" y="4715408"/>
            <a:ext cx="648000" cy="648000"/>
          </a:xfrm>
          <a:prstGeom prst="rect">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2000" dirty="0">
                <a:solidFill>
                  <a:schemeClr val="bg1"/>
                </a:solidFill>
                <a:latin typeface="+mj-lt"/>
                <a:ea typeface="+mj-ea"/>
              </a:rPr>
              <a:t>03</a:t>
            </a:r>
            <a:endParaRPr lang="ko-KR" altLang="en-US" sz="2000" dirty="0">
              <a:solidFill>
                <a:schemeClr val="bg1"/>
              </a:solidFill>
              <a:latin typeface="+mj-lt"/>
              <a:ea typeface="+mj-ea"/>
            </a:endParaRPr>
          </a:p>
        </p:txBody>
      </p:sp>
      <p:sp>
        <p:nvSpPr>
          <p:cNvPr id="17" name="TextBox 16">
            <a:extLst>
              <a:ext uri="{FF2B5EF4-FFF2-40B4-BE49-F238E27FC236}">
                <a16:creationId xmlns:a16="http://schemas.microsoft.com/office/drawing/2014/main" id="{31B7D53B-D301-D7CA-A4B7-BAC7FA1C55A1}"/>
              </a:ext>
            </a:extLst>
          </p:cNvPr>
          <p:cNvSpPr txBox="1"/>
          <p:nvPr/>
        </p:nvSpPr>
        <p:spPr>
          <a:xfrm>
            <a:off x="1101000" y="4715408"/>
            <a:ext cx="5004210" cy="853632"/>
          </a:xfrm>
          <a:prstGeom prst="rect">
            <a:avLst/>
          </a:prstGeom>
          <a:noFill/>
        </p:spPr>
        <p:txBody>
          <a:bodyPr wrap="none" lIns="360000" tIns="0" rIns="0" bIns="0" rtlCol="0">
            <a:spAutoFit/>
          </a:bodyPr>
          <a:lstStyle/>
          <a:p>
            <a:pPr algn="l">
              <a:lnSpc>
                <a:spcPct val="110000"/>
              </a:lnSpc>
              <a:spcAft>
                <a:spcPts val="400"/>
              </a:spcAft>
            </a:pPr>
            <a:r>
              <a:rPr lang="en-US" altLang="ko-KR" sz="1200" b="1" dirty="0">
                <a:solidFill>
                  <a:srgbClr val="11244A"/>
                </a:solidFill>
              </a:rPr>
              <a:t>Investor Base Difference</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Risk-tolerant capital:</a:t>
            </a:r>
            <a:r>
              <a:rPr lang="en-US" altLang="ko-KR" sz="1000" dirty="0">
                <a:solidFill>
                  <a:srgbClr val="3D3D3D"/>
                </a:solidFill>
              </a:rPr>
              <a:t> NASDAQ rewards modality/platform upside</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Korean market prefers late-stage revenue:</a:t>
            </a:r>
            <a:r>
              <a:rPr lang="en-US" altLang="ko-KR" sz="1000" dirty="0">
                <a:solidFill>
                  <a:srgbClr val="3D3D3D"/>
                </a:solidFill>
              </a:rPr>
              <a:t> early-stage RNAi/OV discounted</a:t>
            </a:r>
          </a:p>
          <a:p>
            <a:pPr marL="171450" indent="-171450" algn="l">
              <a:lnSpc>
                <a:spcPct val="110000"/>
              </a:lnSpc>
              <a:spcAft>
                <a:spcPts val="400"/>
              </a:spcAft>
              <a:buFont typeface="Wingdings" panose="05000000000000000000" pitchFamily="2" charset="2"/>
              <a:buChar char="§"/>
            </a:pPr>
            <a:r>
              <a:rPr lang="en-US" altLang="ko-KR" sz="1000" b="1" dirty="0">
                <a:solidFill>
                  <a:srgbClr val="3D3D3D"/>
                </a:solidFill>
              </a:rPr>
              <a:t>Meaning for investors:</a:t>
            </a:r>
            <a:r>
              <a:rPr lang="en-US" altLang="ko-KR" sz="1000" dirty="0">
                <a:solidFill>
                  <a:srgbClr val="3D3D3D"/>
                </a:solidFill>
              </a:rPr>
              <a:t> structural mispricing = arbitrage window pre-IPO</a:t>
            </a:r>
          </a:p>
        </p:txBody>
      </p:sp>
      <p:cxnSp>
        <p:nvCxnSpPr>
          <p:cNvPr id="18" name="직선 연결선 17">
            <a:extLst>
              <a:ext uri="{FF2B5EF4-FFF2-40B4-BE49-F238E27FC236}">
                <a16:creationId xmlns:a16="http://schemas.microsoft.com/office/drawing/2014/main" id="{8E54CAD8-CDB5-D451-FD05-A5976DDEC6AE}"/>
              </a:ext>
            </a:extLst>
          </p:cNvPr>
          <p:cNvCxnSpPr>
            <a:cxnSpLocks/>
          </p:cNvCxnSpPr>
          <p:nvPr/>
        </p:nvCxnSpPr>
        <p:spPr>
          <a:xfrm>
            <a:off x="453000" y="3251587"/>
            <a:ext cx="9000000" cy="0"/>
          </a:xfrm>
          <a:prstGeom prst="line">
            <a:avLst/>
          </a:prstGeom>
          <a:ln w="6350">
            <a:solidFill>
              <a:srgbClr val="3D3D3D"/>
            </a:solidFill>
          </a:ln>
        </p:spPr>
        <p:style>
          <a:lnRef idx="2">
            <a:schemeClr val="accent1"/>
          </a:lnRef>
          <a:fillRef idx="0">
            <a:schemeClr val="accent1"/>
          </a:fillRef>
          <a:effectRef idx="1">
            <a:schemeClr val="accent1"/>
          </a:effectRef>
          <a:fontRef idx="minor">
            <a:schemeClr val="tx1"/>
          </a:fontRef>
        </p:style>
      </p:cxnSp>
      <p:cxnSp>
        <p:nvCxnSpPr>
          <p:cNvPr id="19" name="직선 연결선 18">
            <a:extLst>
              <a:ext uri="{FF2B5EF4-FFF2-40B4-BE49-F238E27FC236}">
                <a16:creationId xmlns:a16="http://schemas.microsoft.com/office/drawing/2014/main" id="{311735E2-7A26-DF35-2A0A-A33EEF8E5D8F}"/>
              </a:ext>
            </a:extLst>
          </p:cNvPr>
          <p:cNvCxnSpPr>
            <a:cxnSpLocks/>
          </p:cNvCxnSpPr>
          <p:nvPr/>
        </p:nvCxnSpPr>
        <p:spPr>
          <a:xfrm>
            <a:off x="453000" y="4512011"/>
            <a:ext cx="9000000" cy="0"/>
          </a:xfrm>
          <a:prstGeom prst="line">
            <a:avLst/>
          </a:prstGeom>
          <a:ln w="6350">
            <a:solidFill>
              <a:srgbClr val="3D3D3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0391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59C171FF-10E9-EFC2-44DD-2678DE1978F0}"/>
              </a:ext>
            </a:extLst>
          </p:cNvPr>
          <p:cNvSpPr>
            <a:spLocks noGrp="1"/>
          </p:cNvSpPr>
          <p:nvPr>
            <p:ph type="body" sz="quarter" idx="11"/>
          </p:nvPr>
        </p:nvSpPr>
        <p:spPr/>
        <p:txBody>
          <a:bodyPr/>
          <a:lstStyle/>
          <a:p>
            <a:r>
              <a:rPr lang="en-US" altLang="ko-KR" dirty="0"/>
              <a:t>Projected Exit Valuation</a:t>
            </a:r>
            <a:endParaRPr lang="ko-KR" altLang="en-US" dirty="0"/>
          </a:p>
        </p:txBody>
      </p:sp>
      <p:sp>
        <p:nvSpPr>
          <p:cNvPr id="3" name="텍스트 개체 틀 2">
            <a:extLst>
              <a:ext uri="{FF2B5EF4-FFF2-40B4-BE49-F238E27FC236}">
                <a16:creationId xmlns:a16="http://schemas.microsoft.com/office/drawing/2014/main" id="{AF39F8E0-A592-F41D-F71E-558AC0CA2FE4}"/>
              </a:ext>
            </a:extLst>
          </p:cNvPr>
          <p:cNvSpPr>
            <a:spLocks noGrp="1"/>
          </p:cNvSpPr>
          <p:nvPr>
            <p:ph type="body" sz="quarter" idx="12"/>
          </p:nvPr>
        </p:nvSpPr>
        <p:spPr/>
        <p:txBody>
          <a:bodyPr/>
          <a:lstStyle/>
          <a:p>
            <a:endParaRPr lang="ko-KR" altLang="en-US"/>
          </a:p>
        </p:txBody>
      </p:sp>
      <p:sp>
        <p:nvSpPr>
          <p:cNvPr id="4" name="슬라이드 번호 개체 틀 3">
            <a:extLst>
              <a:ext uri="{FF2B5EF4-FFF2-40B4-BE49-F238E27FC236}">
                <a16:creationId xmlns:a16="http://schemas.microsoft.com/office/drawing/2014/main" id="{EA82FB65-A8F0-CB64-3171-FD3241C35B5C}"/>
              </a:ext>
            </a:extLst>
          </p:cNvPr>
          <p:cNvSpPr>
            <a:spLocks noGrp="1"/>
          </p:cNvSpPr>
          <p:nvPr>
            <p:ph type="sldNum" sz="quarter" idx="13"/>
          </p:nvPr>
        </p:nvSpPr>
        <p:spPr/>
        <p:txBody>
          <a:bodyPr/>
          <a:lstStyle/>
          <a:p>
            <a:fld id="{C053318C-A610-4AA5-9FF7-26630BAA1E31}" type="slidenum">
              <a:rPr lang="en-US" altLang="ko-KR" smtClean="0"/>
              <a:pPr/>
              <a:t>28</a:t>
            </a:fld>
            <a:endParaRPr lang="en-US" dirty="0"/>
          </a:p>
        </p:txBody>
      </p:sp>
      <p:sp>
        <p:nvSpPr>
          <p:cNvPr id="5" name="TextBox 4">
            <a:extLst>
              <a:ext uri="{FF2B5EF4-FFF2-40B4-BE49-F238E27FC236}">
                <a16:creationId xmlns:a16="http://schemas.microsoft.com/office/drawing/2014/main" id="{A67F1A98-2DD3-A822-10DF-F84F71E58DE8}"/>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Conservative peer-adjusted modeling supports a $0.85 - 1.27 billion NASDAQ IPO valuation, with clear upside to over $2 billion on milestone-driven value inflection.</a:t>
            </a:r>
            <a:endParaRPr lang="ko-KR" altLang="en-US" sz="1400" b="1" dirty="0">
              <a:solidFill>
                <a:srgbClr val="3D3D3D"/>
              </a:solidFill>
            </a:endParaRPr>
          </a:p>
        </p:txBody>
      </p:sp>
      <p:sp>
        <p:nvSpPr>
          <p:cNvPr id="6" name="직사각형 5">
            <a:extLst>
              <a:ext uri="{FF2B5EF4-FFF2-40B4-BE49-F238E27FC236}">
                <a16:creationId xmlns:a16="http://schemas.microsoft.com/office/drawing/2014/main" id="{1394F300-E03C-0A0E-36D9-8BAC33DF8A01}"/>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Clear Upside to Peer Levels</a:t>
            </a:r>
            <a:endParaRPr lang="ko-KR" altLang="en-US" sz="1200" b="1" dirty="0">
              <a:solidFill>
                <a:schemeClr val="bg1"/>
              </a:solidFill>
            </a:endParaRPr>
          </a:p>
        </p:txBody>
      </p:sp>
      <p:sp>
        <p:nvSpPr>
          <p:cNvPr id="8" name="직사각형 7">
            <a:extLst>
              <a:ext uri="{FF2B5EF4-FFF2-40B4-BE49-F238E27FC236}">
                <a16:creationId xmlns:a16="http://schemas.microsoft.com/office/drawing/2014/main" id="{7D9F455A-AD15-5749-AB10-FAE391AEBBF7}"/>
              </a:ext>
            </a:extLst>
          </p:cNvPr>
          <p:cNvSpPr/>
          <p:nvPr/>
        </p:nvSpPr>
        <p:spPr>
          <a:xfrm>
            <a:off x="453000" y="2168525"/>
            <a:ext cx="2700000" cy="2340000"/>
          </a:xfrm>
          <a:prstGeom prst="rect">
            <a:avLst/>
          </a:prstGeom>
          <a:solidFill>
            <a:schemeClr val="bg1"/>
          </a:solidFill>
          <a:ln>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spcBef>
                <a:spcPts val="600"/>
              </a:spcBef>
              <a:spcAft>
                <a:spcPts val="600"/>
              </a:spcAft>
            </a:pPr>
            <a:r>
              <a:rPr lang="en-US" altLang="ko-KR" sz="1200" b="1" dirty="0">
                <a:solidFill>
                  <a:srgbClr val="11244A"/>
                </a:solidFill>
              </a:rPr>
              <a:t>PEER BENCHMARKING</a:t>
            </a:r>
          </a:p>
          <a:p>
            <a:pPr marL="171450" indent="-171450">
              <a:spcBef>
                <a:spcPts val="600"/>
              </a:spcBef>
              <a:buFont typeface="Wingdings" panose="05000000000000000000" pitchFamily="2" charset="2"/>
              <a:buChar char="§"/>
            </a:pPr>
            <a:r>
              <a:rPr lang="en-US" altLang="ko-KR" sz="1000" dirty="0">
                <a:solidFill>
                  <a:srgbClr val="3D3D3D"/>
                </a:solidFill>
              </a:rPr>
              <a:t>Viking (Phase 2b) - </a:t>
            </a:r>
            <a:r>
              <a:rPr lang="en-US" altLang="ko-KR" sz="1000" b="1" dirty="0">
                <a:solidFill>
                  <a:srgbClr val="3D3D3D"/>
                </a:solidFill>
              </a:rPr>
              <a:t>$2.7B</a:t>
            </a:r>
          </a:p>
          <a:p>
            <a:pPr marL="171450" indent="-171450">
              <a:spcBef>
                <a:spcPts val="600"/>
              </a:spcBef>
              <a:buFont typeface="Wingdings" panose="05000000000000000000" pitchFamily="2" charset="2"/>
              <a:buChar char="§"/>
            </a:pPr>
            <a:r>
              <a:rPr lang="en-US" altLang="ko-KR" sz="1000" dirty="0" err="1">
                <a:solidFill>
                  <a:srgbClr val="3D3D3D"/>
                </a:solidFill>
              </a:rPr>
              <a:t>Akero</a:t>
            </a:r>
            <a:r>
              <a:rPr lang="en-US" altLang="ko-KR" sz="1000" dirty="0">
                <a:solidFill>
                  <a:srgbClr val="3D3D3D"/>
                </a:solidFill>
              </a:rPr>
              <a:t> (Phase 2b / 3) - </a:t>
            </a:r>
            <a:r>
              <a:rPr lang="en-US" altLang="ko-KR" sz="1000" b="1" dirty="0">
                <a:solidFill>
                  <a:srgbClr val="3D3D3D"/>
                </a:solidFill>
              </a:rPr>
              <a:t>$3.4B</a:t>
            </a:r>
          </a:p>
          <a:p>
            <a:pPr marL="171450" indent="-171450">
              <a:spcBef>
                <a:spcPts val="600"/>
              </a:spcBef>
              <a:buFont typeface="Wingdings" panose="05000000000000000000" pitchFamily="2" charset="2"/>
              <a:buChar char="§"/>
            </a:pPr>
            <a:r>
              <a:rPr lang="en-US" altLang="ko-KR" sz="1000" dirty="0">
                <a:solidFill>
                  <a:srgbClr val="3D3D3D"/>
                </a:solidFill>
              </a:rPr>
              <a:t>89bio (Phase 3) - </a:t>
            </a:r>
            <a:r>
              <a:rPr lang="en-US" altLang="ko-KR" sz="1000" b="1" dirty="0">
                <a:solidFill>
                  <a:srgbClr val="3D3D3D"/>
                </a:solidFill>
              </a:rPr>
              <a:t>$2.4B</a:t>
            </a:r>
          </a:p>
          <a:p>
            <a:pPr marL="171450" indent="-171450">
              <a:spcBef>
                <a:spcPts val="1200"/>
              </a:spcBef>
              <a:buFont typeface="Pretendard" panose="02000503000000020004" pitchFamily="50" charset="-127"/>
              <a:buChar char="→"/>
            </a:pPr>
            <a:r>
              <a:rPr lang="en-US" altLang="ko-KR" sz="1000" b="1" dirty="0">
                <a:solidFill>
                  <a:srgbClr val="3D3D3D"/>
                </a:solidFill>
              </a:rPr>
              <a:t>PEER AVERAGE - $2.83B</a:t>
            </a:r>
          </a:p>
        </p:txBody>
      </p:sp>
      <p:sp>
        <p:nvSpPr>
          <p:cNvPr id="9" name="직사각형 8">
            <a:extLst>
              <a:ext uri="{FF2B5EF4-FFF2-40B4-BE49-F238E27FC236}">
                <a16:creationId xmlns:a16="http://schemas.microsoft.com/office/drawing/2014/main" id="{E6C1BA53-D6C6-E97B-6746-CB25F4A2D7FB}"/>
              </a:ext>
            </a:extLst>
          </p:cNvPr>
          <p:cNvSpPr/>
          <p:nvPr/>
        </p:nvSpPr>
        <p:spPr>
          <a:xfrm>
            <a:off x="3603000" y="2168525"/>
            <a:ext cx="2700000" cy="2340000"/>
          </a:xfrm>
          <a:prstGeom prst="rect">
            <a:avLst/>
          </a:prstGeom>
          <a:solidFill>
            <a:schemeClr val="bg1"/>
          </a:solidFill>
          <a:ln>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spcBef>
                <a:spcPts val="600"/>
              </a:spcBef>
              <a:spcAft>
                <a:spcPts val="600"/>
              </a:spcAft>
            </a:pPr>
            <a:r>
              <a:rPr lang="en-US" altLang="ko-KR" sz="1200" b="1" dirty="0">
                <a:solidFill>
                  <a:srgbClr val="11244A"/>
                </a:solidFill>
              </a:rPr>
              <a:t>STAGE-ADJUSTED DISCOUNT</a:t>
            </a:r>
          </a:p>
          <a:p>
            <a:pPr marL="171450" indent="-171450">
              <a:spcBef>
                <a:spcPts val="600"/>
              </a:spcBef>
              <a:buFont typeface="Wingdings" panose="05000000000000000000" pitchFamily="2" charset="2"/>
              <a:buChar char="§"/>
            </a:pPr>
            <a:r>
              <a:rPr lang="en-US" altLang="ko-KR" sz="1000" dirty="0">
                <a:solidFill>
                  <a:srgbClr val="3D3D3D"/>
                </a:solidFill>
              </a:rPr>
              <a:t>FM101 positioned at Phase 2b entry</a:t>
            </a:r>
          </a:p>
          <a:p>
            <a:pPr marL="171450" indent="-171450">
              <a:spcBef>
                <a:spcPts val="600"/>
              </a:spcBef>
              <a:buFont typeface="Wingdings" panose="05000000000000000000" pitchFamily="2" charset="2"/>
              <a:buChar char="§"/>
            </a:pPr>
            <a:r>
              <a:rPr lang="en-US" altLang="ko-KR" sz="1000" dirty="0">
                <a:solidFill>
                  <a:srgbClr val="3D3D3D"/>
                </a:solidFill>
              </a:rPr>
              <a:t>Portfolio pre-validation</a:t>
            </a:r>
          </a:p>
          <a:p>
            <a:pPr marL="171450" indent="-171450">
              <a:spcBef>
                <a:spcPts val="600"/>
              </a:spcBef>
              <a:buFont typeface="Wingdings" panose="05000000000000000000" pitchFamily="2" charset="2"/>
              <a:buChar char="§"/>
            </a:pPr>
            <a:r>
              <a:rPr lang="en-US" altLang="ko-KR" sz="1000" dirty="0">
                <a:solidFill>
                  <a:srgbClr val="3D3D3D"/>
                </a:solidFill>
              </a:rPr>
              <a:t>NASDAQ liquidity &amp; sentiment risk priced in</a:t>
            </a:r>
          </a:p>
          <a:p>
            <a:pPr marL="171450" indent="-171450">
              <a:spcBef>
                <a:spcPts val="1200"/>
              </a:spcBef>
              <a:buFont typeface="Pretendard" panose="02000503000000020004" pitchFamily="50" charset="-127"/>
              <a:buChar char="→"/>
            </a:pPr>
            <a:r>
              <a:rPr lang="en-US" altLang="ko-KR" sz="1000" b="1" dirty="0">
                <a:solidFill>
                  <a:srgbClr val="3D3D3D"/>
                </a:solidFill>
              </a:rPr>
              <a:t>ASSUMED DISCOUNT - 55 - 70%</a:t>
            </a:r>
          </a:p>
        </p:txBody>
      </p:sp>
      <p:sp>
        <p:nvSpPr>
          <p:cNvPr id="11" name="이등변 삼각형 10">
            <a:extLst>
              <a:ext uri="{FF2B5EF4-FFF2-40B4-BE49-F238E27FC236}">
                <a16:creationId xmlns:a16="http://schemas.microsoft.com/office/drawing/2014/main" id="{D3CFA064-D12F-9D88-A7EC-B7F54879E0B4}"/>
              </a:ext>
            </a:extLst>
          </p:cNvPr>
          <p:cNvSpPr/>
          <p:nvPr/>
        </p:nvSpPr>
        <p:spPr>
          <a:xfrm rot="5400000">
            <a:off x="3089999" y="3230525"/>
            <a:ext cx="576000" cy="216000"/>
          </a:xfrm>
          <a:prstGeom prst="triangle">
            <a:avLst/>
          </a:prstGeom>
          <a:solidFill>
            <a:srgbClr val="B2DA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2" name="이등변 삼각형 11">
            <a:extLst>
              <a:ext uri="{FF2B5EF4-FFF2-40B4-BE49-F238E27FC236}">
                <a16:creationId xmlns:a16="http://schemas.microsoft.com/office/drawing/2014/main" id="{8F1286FD-2D4A-9346-5E04-6271C5F58DE6}"/>
              </a:ext>
            </a:extLst>
          </p:cNvPr>
          <p:cNvSpPr/>
          <p:nvPr/>
        </p:nvSpPr>
        <p:spPr>
          <a:xfrm rot="5400000">
            <a:off x="6239999" y="3230525"/>
            <a:ext cx="576000" cy="216000"/>
          </a:xfrm>
          <a:prstGeom prst="triangle">
            <a:avLst/>
          </a:prstGeom>
          <a:solidFill>
            <a:srgbClr val="B2DA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3" name="직사각형 12">
            <a:extLst>
              <a:ext uri="{FF2B5EF4-FFF2-40B4-BE49-F238E27FC236}">
                <a16:creationId xmlns:a16="http://schemas.microsoft.com/office/drawing/2014/main" id="{458B55A1-A352-31CE-89D4-E62514D455C1}"/>
              </a:ext>
            </a:extLst>
          </p:cNvPr>
          <p:cNvSpPr/>
          <p:nvPr/>
        </p:nvSpPr>
        <p:spPr>
          <a:xfrm>
            <a:off x="6752999" y="2168525"/>
            <a:ext cx="2700000" cy="2340000"/>
          </a:xfrm>
          <a:prstGeom prst="rect">
            <a:avLst/>
          </a:prstGeom>
          <a:solidFill>
            <a:schemeClr val="bg1"/>
          </a:solidFill>
          <a:ln>
            <a:solidFill>
              <a:srgbClr val="539DFF"/>
            </a:solid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spcBef>
                <a:spcPts val="600"/>
              </a:spcBef>
              <a:spcAft>
                <a:spcPts val="600"/>
              </a:spcAft>
            </a:pPr>
            <a:r>
              <a:rPr lang="en-US" altLang="ko-KR" sz="1200" b="1" dirty="0">
                <a:solidFill>
                  <a:srgbClr val="11244A"/>
                </a:solidFill>
              </a:rPr>
              <a:t>TARGET IPO VALUE</a:t>
            </a:r>
          </a:p>
          <a:p>
            <a:pPr marL="171450" indent="-171450">
              <a:spcBef>
                <a:spcPts val="600"/>
              </a:spcBef>
              <a:buFont typeface="Wingdings" panose="05000000000000000000" pitchFamily="2" charset="2"/>
              <a:buChar char="§"/>
            </a:pPr>
            <a:r>
              <a:rPr lang="en-US" altLang="ko-KR" sz="1000" dirty="0">
                <a:solidFill>
                  <a:srgbClr val="3D3D3D"/>
                </a:solidFill>
              </a:rPr>
              <a:t>Peer average of $2.83B</a:t>
            </a:r>
          </a:p>
          <a:p>
            <a:pPr marL="171450" indent="-171450">
              <a:spcBef>
                <a:spcPts val="600"/>
              </a:spcBef>
              <a:buFont typeface="Wingdings" panose="05000000000000000000" pitchFamily="2" charset="2"/>
              <a:buChar char="§"/>
            </a:pPr>
            <a:r>
              <a:rPr lang="en-US" altLang="ko-KR" sz="1000" dirty="0">
                <a:solidFill>
                  <a:srgbClr val="3D3D3D"/>
                </a:solidFill>
              </a:rPr>
              <a:t>55 - 70% discount applied</a:t>
            </a:r>
            <a:endParaRPr lang="en-US" altLang="ko-KR" sz="1000" b="1" dirty="0">
              <a:solidFill>
                <a:srgbClr val="3D3D3D"/>
              </a:solidFill>
            </a:endParaRPr>
          </a:p>
          <a:p>
            <a:pPr marL="171450" indent="-171450">
              <a:spcBef>
                <a:spcPts val="1200"/>
              </a:spcBef>
              <a:buFont typeface="Pretendard" panose="02000503000000020004" pitchFamily="50" charset="-127"/>
              <a:buChar char="→"/>
            </a:pPr>
            <a:r>
              <a:rPr lang="en-US" altLang="ko-KR" sz="1000" b="1" dirty="0">
                <a:solidFill>
                  <a:srgbClr val="3D3D3D"/>
                </a:solidFill>
              </a:rPr>
              <a:t>LISTING RANGE - $0.85 - 1.27B</a:t>
            </a:r>
          </a:p>
          <a:p>
            <a:pPr marL="171450" indent="-171450">
              <a:spcBef>
                <a:spcPts val="600"/>
              </a:spcBef>
              <a:buFont typeface="Pretendard" panose="02000503000000020004" pitchFamily="50" charset="-127"/>
              <a:buChar char="→"/>
            </a:pPr>
            <a:r>
              <a:rPr lang="en-US" altLang="ko-KR" sz="1000" b="1" dirty="0">
                <a:solidFill>
                  <a:srgbClr val="3D3D3D"/>
                </a:solidFill>
              </a:rPr>
              <a:t>IMPLIED UPLIFT - 20 - 32x</a:t>
            </a:r>
          </a:p>
        </p:txBody>
      </p:sp>
      <p:sp>
        <p:nvSpPr>
          <p:cNvPr id="14" name="이등변 삼각형 13">
            <a:extLst>
              <a:ext uri="{FF2B5EF4-FFF2-40B4-BE49-F238E27FC236}">
                <a16:creationId xmlns:a16="http://schemas.microsoft.com/office/drawing/2014/main" id="{765D5C28-C30B-6907-3523-788AE1C78408}"/>
              </a:ext>
            </a:extLst>
          </p:cNvPr>
          <p:cNvSpPr/>
          <p:nvPr/>
        </p:nvSpPr>
        <p:spPr>
          <a:xfrm rot="5400000">
            <a:off x="381000" y="4937547"/>
            <a:ext cx="432000" cy="288000"/>
          </a:xfrm>
          <a:prstGeom prst="triangle">
            <a:avLst/>
          </a:prstGeom>
          <a:solidFill>
            <a:srgbClr val="539D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sp>
        <p:nvSpPr>
          <p:cNvPr id="15" name="TextBox 14">
            <a:extLst>
              <a:ext uri="{FF2B5EF4-FFF2-40B4-BE49-F238E27FC236}">
                <a16:creationId xmlns:a16="http://schemas.microsoft.com/office/drawing/2014/main" id="{4D3D6C39-3E1B-C010-D6A1-4CFD5E6F76EB}"/>
              </a:ext>
            </a:extLst>
          </p:cNvPr>
          <p:cNvSpPr txBox="1"/>
          <p:nvPr/>
        </p:nvSpPr>
        <p:spPr>
          <a:xfrm>
            <a:off x="741000" y="4783581"/>
            <a:ext cx="8711999" cy="595932"/>
          </a:xfrm>
          <a:prstGeom prst="rect">
            <a:avLst/>
          </a:prstGeom>
          <a:noFill/>
        </p:spPr>
        <p:txBody>
          <a:bodyPr wrap="square" lIns="144000" tIns="0" rIns="0" bIns="0" rtlCol="0">
            <a:spAutoFit/>
          </a:bodyPr>
          <a:lstStyle/>
          <a:p>
            <a:pPr algn="l">
              <a:lnSpc>
                <a:spcPct val="110000"/>
              </a:lnSpc>
            </a:pPr>
            <a:r>
              <a:rPr lang="en-US" altLang="ko-KR" sz="1200" b="1" dirty="0">
                <a:solidFill>
                  <a:srgbClr val="539DFF"/>
                </a:solidFill>
              </a:rPr>
              <a:t>UPSIDE SCENARIO</a:t>
            </a:r>
          </a:p>
          <a:p>
            <a:pPr marL="171450" indent="-171450" algn="l">
              <a:lnSpc>
                <a:spcPct val="110000"/>
              </a:lnSpc>
              <a:buFont typeface="Wingdings" panose="05000000000000000000" pitchFamily="2" charset="2"/>
              <a:buChar char="ü"/>
            </a:pPr>
            <a:r>
              <a:rPr lang="en-US" altLang="ko-KR" sz="1200" b="1" dirty="0">
                <a:solidFill>
                  <a:srgbClr val="3D3D3D"/>
                </a:solidFill>
              </a:rPr>
              <a:t>Positive FM101 Phase 2b biopsy readout can support valuations over $2 billion</a:t>
            </a:r>
          </a:p>
          <a:p>
            <a:pPr marL="171450" indent="-171450" algn="l">
              <a:lnSpc>
                <a:spcPct val="110000"/>
              </a:lnSpc>
              <a:buFont typeface="Wingdings" panose="05000000000000000000" pitchFamily="2" charset="2"/>
              <a:buChar char="ü"/>
            </a:pPr>
            <a:r>
              <a:rPr lang="en-US" altLang="ko-KR" sz="1200" b="1" dirty="0">
                <a:solidFill>
                  <a:srgbClr val="3D3D3D"/>
                </a:solidFill>
              </a:rPr>
              <a:t>FM801 or CA102 out-licensing could expand value beyond IPO case, supported by recent M&amp;A valuations</a:t>
            </a:r>
            <a:endParaRPr lang="ko-KR" altLang="en-US" sz="1200" b="1" dirty="0">
              <a:solidFill>
                <a:srgbClr val="3D3D3D"/>
              </a:solidFill>
            </a:endParaRPr>
          </a:p>
        </p:txBody>
      </p:sp>
    </p:spTree>
    <p:extLst>
      <p:ext uri="{BB962C8B-B14F-4D97-AF65-F5344CB8AC3E}">
        <p14:creationId xmlns:p14="http://schemas.microsoft.com/office/powerpoint/2010/main" val="24150589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46549-7E16-5FBD-94AD-1D8989E97A48}"/>
            </a:ext>
          </a:extLst>
        </p:cNvPr>
        <p:cNvGrpSpPr/>
        <p:nvPr/>
      </p:nvGrpSpPr>
      <p:grpSpPr>
        <a:xfrm>
          <a:off x="0" y="0"/>
          <a:ext cx="0" cy="0"/>
          <a:chOff x="0" y="0"/>
          <a:chExt cx="0" cy="0"/>
        </a:xfrm>
      </p:grpSpPr>
      <p:pic>
        <p:nvPicPr>
          <p:cNvPr id="9" name="그림 8" descr="현미경, 과학 기기, 광학 기기, 실내이(가) 표시된 사진&#10;&#10;AI 생성 콘텐츠는 정확하지 않을 수 있습니다.">
            <a:extLst>
              <a:ext uri="{FF2B5EF4-FFF2-40B4-BE49-F238E27FC236}">
                <a16:creationId xmlns:a16="http://schemas.microsoft.com/office/drawing/2014/main" id="{63522E93-61F1-B8CE-1E51-89A2D8327521}"/>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5" name="TextBox 4">
            <a:extLst>
              <a:ext uri="{FF2B5EF4-FFF2-40B4-BE49-F238E27FC236}">
                <a16:creationId xmlns:a16="http://schemas.microsoft.com/office/drawing/2014/main" id="{7272021F-9B08-D88E-52B0-2CB6B29EBB95}"/>
              </a:ext>
            </a:extLst>
          </p:cNvPr>
          <p:cNvSpPr txBox="1"/>
          <p:nvPr/>
        </p:nvSpPr>
        <p:spPr>
          <a:xfrm>
            <a:off x="452438" y="1140037"/>
            <a:ext cx="3247684" cy="380938"/>
          </a:xfrm>
          <a:prstGeom prst="rect">
            <a:avLst/>
          </a:prstGeom>
          <a:noFill/>
        </p:spPr>
        <p:txBody>
          <a:bodyPr wrap="none" lIns="0" tIns="0" rIns="0" bIns="0" rtlCol="0">
            <a:spAutoFit/>
          </a:bodyPr>
          <a:lstStyle/>
          <a:p>
            <a:pPr algn="l">
              <a:lnSpc>
                <a:spcPct val="110000"/>
              </a:lnSpc>
            </a:pPr>
            <a:r>
              <a:rPr lang="en-US" altLang="ko-KR" sz="2400" dirty="0">
                <a:solidFill>
                  <a:schemeClr val="bg1"/>
                </a:solidFill>
                <a:latin typeface="+mj-lt"/>
                <a:ea typeface="+mj-ea"/>
              </a:rPr>
              <a:t>TABLE OF CONTENTS</a:t>
            </a:r>
            <a:endParaRPr lang="ko-KR" altLang="en-US" sz="2400" dirty="0">
              <a:solidFill>
                <a:schemeClr val="bg1"/>
              </a:solidFill>
              <a:latin typeface="+mj-lt"/>
              <a:ea typeface="+mj-ea"/>
            </a:endParaRPr>
          </a:p>
        </p:txBody>
      </p:sp>
      <p:sp>
        <p:nvSpPr>
          <p:cNvPr id="15" name="텍스트 개체 틀 3">
            <a:extLst>
              <a:ext uri="{FF2B5EF4-FFF2-40B4-BE49-F238E27FC236}">
                <a16:creationId xmlns:a16="http://schemas.microsoft.com/office/drawing/2014/main" id="{E77CAF16-8A98-A69E-88ED-12AE09749ED6}"/>
              </a:ext>
            </a:extLst>
          </p:cNvPr>
          <p:cNvSpPr txBox="1">
            <a:spLocks/>
          </p:cNvSpPr>
          <p:nvPr/>
        </p:nvSpPr>
        <p:spPr>
          <a:xfrm>
            <a:off x="452999" y="6174329"/>
            <a:ext cx="4499999" cy="134396"/>
          </a:xfrm>
          <a:prstGeom prst="rect">
            <a:avLst/>
          </a:prstGeom>
        </p:spPr>
        <p:txBody>
          <a:bodyPr wrap="square" lIns="0" tIns="0" rIns="0" bIns="0" anchor="b">
            <a:spAutoFit/>
          </a:bodyPr>
          <a:lstStyle>
            <a:lvl1pPr indent="0" defTabSz="914400" latinLnBrk="1">
              <a:lnSpc>
                <a:spcPts val="1100"/>
              </a:lnSpc>
              <a:spcBef>
                <a:spcPts val="0"/>
              </a:spcBef>
              <a:buFont typeface="Arial" panose="020B0604020202020204" pitchFamily="34" charset="0"/>
              <a:buNone/>
              <a:defRPr sz="1100" baseline="0">
                <a:solidFill>
                  <a:schemeClr val="bg1"/>
                </a:solidFill>
                <a:latin typeface="Outfit" pitchFamily="2"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800" dirty="0"/>
              <a:t>Strictly Private &amp; Confidential</a:t>
            </a:r>
            <a:endParaRPr lang="ko-KR" altLang="en-US" sz="800" dirty="0"/>
          </a:p>
        </p:txBody>
      </p:sp>
      <p:graphicFrame>
        <p:nvGraphicFramePr>
          <p:cNvPr id="6" name="표 5">
            <a:extLst>
              <a:ext uri="{FF2B5EF4-FFF2-40B4-BE49-F238E27FC236}">
                <a16:creationId xmlns:a16="http://schemas.microsoft.com/office/drawing/2014/main" id="{2A5CBA76-0516-16E4-D763-0C9E35E1709A}"/>
              </a:ext>
            </a:extLst>
          </p:cNvPr>
          <p:cNvGraphicFramePr>
            <a:graphicFrameLocks noGrp="1"/>
          </p:cNvGraphicFramePr>
          <p:nvPr>
            <p:extLst>
              <p:ext uri="{D42A27DB-BD31-4B8C-83A1-F6EECF244321}">
                <p14:modId xmlns:p14="http://schemas.microsoft.com/office/powerpoint/2010/main" val="1810902533"/>
              </p:ext>
            </p:extLst>
          </p:nvPr>
        </p:nvGraphicFramePr>
        <p:xfrm>
          <a:off x="344438" y="1880975"/>
          <a:ext cx="3528000" cy="3024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150886525"/>
                    </a:ext>
                  </a:extLst>
                </a:gridCol>
                <a:gridCol w="2988000">
                  <a:extLst>
                    <a:ext uri="{9D8B030D-6E8A-4147-A177-3AD203B41FA5}">
                      <a16:colId xmlns:a16="http://schemas.microsoft.com/office/drawing/2014/main" val="4148028095"/>
                    </a:ext>
                  </a:extLst>
                </a:gridCol>
              </a:tblGrid>
              <a:tr h="432000">
                <a:tc>
                  <a:txBody>
                    <a:bodyPr/>
                    <a:lstStyle/>
                    <a:p>
                      <a:pPr marL="0" algn="l" defTabSz="914400" rtl="0" eaLnBrk="1" latinLnBrk="1" hangingPunct="1"/>
                      <a:r>
                        <a:rPr lang="en-US" altLang="ko-KR" sz="1600" b="0" kern="1200" cap="none" baseline="0" dirty="0">
                          <a:solidFill>
                            <a:schemeClr val="bg1"/>
                          </a:solidFill>
                          <a:latin typeface="+mj-lt"/>
                          <a:ea typeface="+mj-ea"/>
                          <a:cs typeface="+mn-cs"/>
                        </a:rPr>
                        <a:t>01</a:t>
                      </a:r>
                      <a:endParaRPr lang="ko-KR" altLang="en-US" sz="1600" b="0" kern="1200" cap="none" baseline="0" dirty="0">
                        <a:solidFill>
                          <a:schemeClr val="bg1"/>
                        </a:solidFill>
                        <a:latin typeface="+mj-lt"/>
                        <a:ea typeface="+mj-ea"/>
                        <a:cs typeface="+mn-cs"/>
                      </a:endParaRPr>
                    </a:p>
                  </a:txBody>
                  <a:tcPr marL="10800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1" hangingPunct="1"/>
                      <a:r>
                        <a:rPr lang="en-US" altLang="ko-KR" sz="1600" b="0" kern="1200" cap="none" spc="-30" baseline="0" dirty="0">
                          <a:solidFill>
                            <a:schemeClr val="bg1"/>
                          </a:solidFill>
                          <a:latin typeface="+mj-lt"/>
                          <a:ea typeface="+mj-ea"/>
                          <a:cs typeface="+mn-cs"/>
                        </a:rPr>
                        <a:t>Executive Summary</a:t>
                      </a:r>
                      <a:endParaRPr lang="ko-KR" altLang="en-US" sz="1600" b="0" kern="1200" cap="none" spc="-30" baseline="0" dirty="0">
                        <a:solidFill>
                          <a:schemeClr val="bg1"/>
                        </a:solidFill>
                        <a:latin typeface="+mj-lt"/>
                        <a:ea typeface="+mj-ea"/>
                        <a:cs typeface="+mn-cs"/>
                      </a:endParaRPr>
                    </a:p>
                  </a:txBody>
                  <a:tcPr marL="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49133"/>
                  </a:ext>
                </a:extLst>
              </a:tr>
              <a:tr h="432000">
                <a:tc>
                  <a:txBody>
                    <a:bodyPr/>
                    <a:lstStyle/>
                    <a:p>
                      <a:pPr latinLnBrk="1"/>
                      <a:r>
                        <a:rPr lang="en-US" altLang="ko-KR" sz="1600" b="0" baseline="0" dirty="0">
                          <a:solidFill>
                            <a:schemeClr val="bg1"/>
                          </a:solidFill>
                          <a:latin typeface="+mj-lt"/>
                          <a:ea typeface="+mj-ea"/>
                        </a:rPr>
                        <a:t>02</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Investment Highlights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606132"/>
                  </a:ext>
                </a:extLst>
              </a:tr>
              <a:tr h="432000">
                <a:tc>
                  <a:txBody>
                    <a:bodyPr/>
                    <a:lstStyle/>
                    <a:p>
                      <a:pPr latinLnBrk="1"/>
                      <a:r>
                        <a:rPr lang="en-US" altLang="ko-KR" sz="1600" b="0" baseline="0" dirty="0">
                          <a:solidFill>
                            <a:schemeClr val="bg1"/>
                          </a:solidFill>
                          <a:latin typeface="+mj-lt"/>
                          <a:ea typeface="+mj-ea"/>
                        </a:rPr>
                        <a:t>03</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Market Landscape &amp; Outlook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492459"/>
                  </a:ext>
                </a:extLst>
              </a:tr>
              <a:tr h="432000">
                <a:tc>
                  <a:txBody>
                    <a:bodyPr/>
                    <a:lstStyle/>
                    <a:p>
                      <a:pPr latinLnBrk="1"/>
                      <a:r>
                        <a:rPr lang="en-US" altLang="ko-KR" sz="1600" b="0" baseline="0" dirty="0">
                          <a:solidFill>
                            <a:schemeClr val="bg1"/>
                          </a:solidFill>
                          <a:latin typeface="+mj-lt"/>
                          <a:ea typeface="+mj-ea"/>
                        </a:rPr>
                        <a:t>04</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Pipeline &amp; Technology</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0736481"/>
                  </a:ext>
                </a:extLst>
              </a:tr>
              <a:tr h="432000">
                <a:tc>
                  <a:txBody>
                    <a:bodyPr/>
                    <a:lstStyle/>
                    <a:p>
                      <a:pPr latinLnBrk="1"/>
                      <a:r>
                        <a:rPr lang="en-US" altLang="ko-KR" sz="1600" b="0" baseline="0" dirty="0">
                          <a:solidFill>
                            <a:schemeClr val="bg1"/>
                          </a:solidFill>
                          <a:latin typeface="+mj-lt"/>
                          <a:ea typeface="+mj-ea"/>
                        </a:rPr>
                        <a:t>05</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Valuation &amp; Benchmark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775710"/>
                  </a:ext>
                </a:extLst>
              </a:tr>
              <a:tr h="432000">
                <a:tc>
                  <a:txBody>
                    <a:bodyPr/>
                    <a:lstStyle/>
                    <a:p>
                      <a:pPr latinLnBrk="1"/>
                      <a:r>
                        <a:rPr lang="en-US" altLang="ko-KR" sz="1600" b="0" baseline="0" dirty="0">
                          <a:solidFill>
                            <a:srgbClr val="11244A"/>
                          </a:solidFill>
                          <a:latin typeface="+mj-lt"/>
                          <a:ea typeface="+mj-ea"/>
                        </a:rPr>
                        <a:t>06</a:t>
                      </a:r>
                      <a:endParaRPr lang="ko-KR" altLang="en-US" sz="1600" b="0" baseline="0" dirty="0">
                        <a:solidFill>
                          <a:srgbClr val="11244A"/>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en-US" altLang="ko-KR" sz="1600" b="0" cap="all" spc="-30" baseline="0" dirty="0">
                          <a:solidFill>
                            <a:srgbClr val="11244A"/>
                          </a:solidFill>
                          <a:latin typeface="+mj-lt"/>
                          <a:ea typeface="+mj-ea"/>
                        </a:rPr>
                        <a:t>Exit pathway &amp; Execution</a:t>
                      </a:r>
                      <a:endParaRPr lang="ko-KR" altLang="en-US" sz="1600" b="0" cap="all" spc="-30" baseline="0" dirty="0">
                        <a:solidFill>
                          <a:srgbClr val="11244A"/>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8362669"/>
                  </a:ext>
                </a:extLst>
              </a:tr>
              <a:tr h="432000">
                <a:tc>
                  <a:txBody>
                    <a:bodyPr/>
                    <a:lstStyle/>
                    <a:p>
                      <a:pPr latinLnBrk="1"/>
                      <a:r>
                        <a:rPr lang="en-US" altLang="ko-KR" sz="1600" b="0" baseline="0" dirty="0">
                          <a:solidFill>
                            <a:schemeClr val="bg1"/>
                          </a:solidFill>
                          <a:latin typeface="+mj-lt"/>
                          <a:ea typeface="+mj-ea"/>
                        </a:rPr>
                        <a:t>07</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Key Investment Terms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39227777"/>
                  </a:ext>
                </a:extLst>
              </a:tr>
            </a:tbl>
          </a:graphicData>
        </a:graphic>
      </p:graphicFrame>
      <p:pic>
        <p:nvPicPr>
          <p:cNvPr id="2" name="그래픽 1">
            <a:extLst>
              <a:ext uri="{FF2B5EF4-FFF2-40B4-BE49-F238E27FC236}">
                <a16:creationId xmlns:a16="http://schemas.microsoft.com/office/drawing/2014/main" id="{EE472FFA-9439-5631-9416-FA79D7965C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2999" y="549275"/>
            <a:ext cx="1353293" cy="180000"/>
          </a:xfrm>
          <a:prstGeom prst="rect">
            <a:avLst/>
          </a:prstGeom>
        </p:spPr>
      </p:pic>
    </p:spTree>
    <p:extLst>
      <p:ext uri="{BB962C8B-B14F-4D97-AF65-F5344CB8AC3E}">
        <p14:creationId xmlns:p14="http://schemas.microsoft.com/office/powerpoint/2010/main" val="2685090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AC25806-BC5A-E0CE-E7FE-7313FB77818B}"/>
              </a:ext>
            </a:extLst>
          </p:cNvPr>
          <p:cNvSpPr>
            <a:spLocks noGrp="1"/>
          </p:cNvSpPr>
          <p:nvPr>
            <p:ph type="body" sz="quarter" idx="11"/>
          </p:nvPr>
        </p:nvSpPr>
        <p:spPr/>
        <p:txBody>
          <a:bodyPr/>
          <a:lstStyle/>
          <a:p>
            <a:r>
              <a:rPr lang="en-US" altLang="ko-KR" dirty="0"/>
              <a:t>Post-Transaction Exit Pathway</a:t>
            </a:r>
            <a:endParaRPr lang="ko-KR" altLang="en-US" dirty="0"/>
          </a:p>
        </p:txBody>
      </p:sp>
      <p:sp>
        <p:nvSpPr>
          <p:cNvPr id="3" name="텍스트 개체 틀 2">
            <a:extLst>
              <a:ext uri="{FF2B5EF4-FFF2-40B4-BE49-F238E27FC236}">
                <a16:creationId xmlns:a16="http://schemas.microsoft.com/office/drawing/2014/main" id="{9E9A7C55-39A5-9250-4E3A-E7B5BF0981A3}"/>
              </a:ext>
            </a:extLst>
          </p:cNvPr>
          <p:cNvSpPr>
            <a:spLocks noGrp="1"/>
          </p:cNvSpPr>
          <p:nvPr>
            <p:ph type="body" sz="quarter" idx="12"/>
          </p:nvPr>
        </p:nvSpPr>
        <p:spPr/>
        <p:txBody>
          <a:bodyPr/>
          <a:lstStyle/>
          <a:p>
            <a:endParaRPr lang="ko-KR" altLang="en-US"/>
          </a:p>
        </p:txBody>
      </p:sp>
      <p:sp>
        <p:nvSpPr>
          <p:cNvPr id="4" name="슬라이드 번호 개체 틀 3">
            <a:extLst>
              <a:ext uri="{FF2B5EF4-FFF2-40B4-BE49-F238E27FC236}">
                <a16:creationId xmlns:a16="http://schemas.microsoft.com/office/drawing/2014/main" id="{D24E9908-92C8-FE59-7921-116DC0C57B89}"/>
              </a:ext>
            </a:extLst>
          </p:cNvPr>
          <p:cNvSpPr>
            <a:spLocks noGrp="1"/>
          </p:cNvSpPr>
          <p:nvPr>
            <p:ph type="sldNum" sz="quarter" idx="13"/>
          </p:nvPr>
        </p:nvSpPr>
        <p:spPr/>
        <p:txBody>
          <a:bodyPr/>
          <a:lstStyle/>
          <a:p>
            <a:fld id="{C053318C-A610-4AA5-9FF7-26630BAA1E31}" type="slidenum">
              <a:rPr lang="en-US" altLang="ko-KR" smtClean="0"/>
              <a:pPr/>
              <a:t>30</a:t>
            </a:fld>
            <a:endParaRPr lang="en-US" dirty="0"/>
          </a:p>
        </p:txBody>
      </p:sp>
      <p:sp>
        <p:nvSpPr>
          <p:cNvPr id="5" name="직사각형 4">
            <a:extLst>
              <a:ext uri="{FF2B5EF4-FFF2-40B4-BE49-F238E27FC236}">
                <a16:creationId xmlns:a16="http://schemas.microsoft.com/office/drawing/2014/main" id="{25BA134C-F185-EAF9-6FF3-4EEFDE1F1496}"/>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Step-by-Step Exit Pathway</a:t>
            </a:r>
            <a:endParaRPr lang="ko-KR" altLang="en-US" sz="1200" b="1" dirty="0">
              <a:solidFill>
                <a:schemeClr val="bg1"/>
              </a:solidFill>
            </a:endParaRPr>
          </a:p>
        </p:txBody>
      </p:sp>
      <p:sp>
        <p:nvSpPr>
          <p:cNvPr id="6" name="TextBox 5">
            <a:extLst>
              <a:ext uri="{FF2B5EF4-FFF2-40B4-BE49-F238E27FC236}">
                <a16:creationId xmlns:a16="http://schemas.microsoft.com/office/drawing/2014/main" id="{5C8D70C3-7E3F-A569-5FE2-90039A968C7A}"/>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Upon completion of this private placement, NKTx will close its transaction to acquire controlling and significant minority stakes in Future Medicine and Curigin, then progress toward a NASDAQ listing process.</a:t>
            </a:r>
            <a:endParaRPr lang="ko-KR" altLang="en-US" sz="1400" b="1" dirty="0">
              <a:solidFill>
                <a:srgbClr val="3D3D3D"/>
              </a:solidFill>
            </a:endParaRPr>
          </a:p>
        </p:txBody>
      </p:sp>
      <p:graphicFrame>
        <p:nvGraphicFramePr>
          <p:cNvPr id="7" name="표 6">
            <a:extLst>
              <a:ext uri="{FF2B5EF4-FFF2-40B4-BE49-F238E27FC236}">
                <a16:creationId xmlns:a16="http://schemas.microsoft.com/office/drawing/2014/main" id="{DE2D2932-B114-42F1-4460-047D4E50CFCD}"/>
              </a:ext>
            </a:extLst>
          </p:cNvPr>
          <p:cNvGraphicFramePr>
            <a:graphicFrameLocks noGrp="1"/>
          </p:cNvGraphicFramePr>
          <p:nvPr>
            <p:extLst>
              <p:ext uri="{D42A27DB-BD31-4B8C-83A1-F6EECF244321}">
                <p14:modId xmlns:p14="http://schemas.microsoft.com/office/powerpoint/2010/main" val="3298208347"/>
              </p:ext>
            </p:extLst>
          </p:nvPr>
        </p:nvGraphicFramePr>
        <p:xfrm>
          <a:off x="453000" y="2168525"/>
          <a:ext cx="9000000" cy="3746424"/>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905467451"/>
                    </a:ext>
                  </a:extLst>
                </a:gridCol>
                <a:gridCol w="3600000">
                  <a:extLst>
                    <a:ext uri="{9D8B030D-6E8A-4147-A177-3AD203B41FA5}">
                      <a16:colId xmlns:a16="http://schemas.microsoft.com/office/drawing/2014/main" val="2648872957"/>
                    </a:ext>
                  </a:extLst>
                </a:gridCol>
                <a:gridCol w="3600000">
                  <a:extLst>
                    <a:ext uri="{9D8B030D-6E8A-4147-A177-3AD203B41FA5}">
                      <a16:colId xmlns:a16="http://schemas.microsoft.com/office/drawing/2014/main" val="1757822806"/>
                    </a:ext>
                  </a:extLst>
                </a:gridCol>
              </a:tblGrid>
              <a:tr h="288000">
                <a:tc>
                  <a:txBody>
                    <a:bodyPr/>
                    <a:lstStyle/>
                    <a:p>
                      <a:pPr latinLnBrk="1">
                        <a:lnSpc>
                          <a:spcPct val="110000"/>
                        </a:lnSpc>
                        <a:spcAft>
                          <a:spcPts val="300"/>
                        </a:spcAft>
                      </a:pPr>
                      <a:r>
                        <a:rPr lang="en-US" altLang="ko-KR" sz="1000" b="1" dirty="0">
                          <a:solidFill>
                            <a:srgbClr val="3D3D3D"/>
                          </a:solidFill>
                        </a:rPr>
                        <a:t>Stage</a:t>
                      </a:r>
                      <a:endParaRPr lang="ko-KR" altLang="en-US" sz="1000" b="1" dirty="0">
                        <a:solidFill>
                          <a:srgbClr val="3D3D3D"/>
                        </a:solidFill>
                      </a:endParaRPr>
                    </a:p>
                  </a:txBody>
                  <a:tcPr marL="72000" marR="108000" marT="72000" marB="72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19050" cap="flat" cmpd="sng" algn="ctr">
                      <a:solidFill>
                        <a:srgbClr val="539DFF"/>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latinLnBrk="1">
                        <a:lnSpc>
                          <a:spcPct val="110000"/>
                        </a:lnSpc>
                        <a:spcAft>
                          <a:spcPts val="300"/>
                        </a:spcAft>
                        <a:buFont typeface="Wingdings" panose="05000000000000000000" pitchFamily="2" charset="2"/>
                        <a:buNone/>
                      </a:pPr>
                      <a:r>
                        <a:rPr lang="en-US" altLang="ko-KR" sz="1000" b="1" dirty="0">
                          <a:solidFill>
                            <a:srgbClr val="3D3D3D"/>
                          </a:solidFill>
                        </a:rPr>
                        <a:t>Action</a:t>
                      </a:r>
                      <a:endParaRPr lang="ko-KR" altLang="en-US" sz="1000" b="1" dirty="0">
                        <a:solidFill>
                          <a:srgbClr val="3D3D3D"/>
                        </a:solidFill>
                      </a:endParaRPr>
                    </a:p>
                  </a:txBody>
                  <a:tcPr marL="72000" marR="108000" marT="72000" marB="72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19050" cap="flat" cmpd="sng" algn="ctr">
                      <a:solidFill>
                        <a:srgbClr val="539DFF"/>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0" indent="0" latinLnBrk="1">
                        <a:lnSpc>
                          <a:spcPct val="110000"/>
                        </a:lnSpc>
                        <a:spcAft>
                          <a:spcPts val="300"/>
                        </a:spcAft>
                        <a:buFont typeface="Wingdings" panose="05000000000000000000" pitchFamily="2" charset="2"/>
                        <a:buNone/>
                      </a:pPr>
                      <a:r>
                        <a:rPr lang="en-US" altLang="ko-KR" sz="1000" b="1" dirty="0">
                          <a:solidFill>
                            <a:srgbClr val="3D3D3D"/>
                          </a:solidFill>
                        </a:rPr>
                        <a:t>Outcome for Investors</a:t>
                      </a:r>
                      <a:endParaRPr lang="ko-KR" altLang="en-US" sz="1000" b="1" dirty="0">
                        <a:solidFill>
                          <a:srgbClr val="3D3D3D"/>
                        </a:solidFill>
                      </a:endParaRPr>
                    </a:p>
                  </a:txBody>
                  <a:tcPr marL="72000" marR="108000" marT="72000" marB="72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19050" cap="flat" cmpd="sng" algn="ctr">
                      <a:solidFill>
                        <a:srgbClr val="539DFF"/>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8033089"/>
                  </a:ext>
                </a:extLst>
              </a:tr>
              <a:tr h="288000">
                <a:tc>
                  <a:txBody>
                    <a:bodyPr/>
                    <a:lstStyle/>
                    <a:p>
                      <a:pPr latinLnBrk="1">
                        <a:lnSpc>
                          <a:spcPct val="110000"/>
                        </a:lnSpc>
                        <a:spcAft>
                          <a:spcPts val="300"/>
                        </a:spcAft>
                      </a:pPr>
                      <a:r>
                        <a:rPr kumimoji="0" lang="en-US" altLang="ko-KR" sz="1000" b="1" i="0" u="none" strike="noStrike" kern="1200" cap="none" spc="0" normalizeH="0" baseline="0" noProof="0" dirty="0">
                          <a:ln>
                            <a:noFill/>
                          </a:ln>
                          <a:solidFill>
                            <a:srgbClr val="3D3D3D"/>
                          </a:solidFill>
                          <a:effectLst/>
                          <a:uLnTx/>
                          <a:uFillTx/>
                          <a:latin typeface="Pretendard"/>
                          <a:ea typeface="Pretendard"/>
                          <a:cs typeface="+mn-cs"/>
                        </a:rPr>
                        <a:t>1. Acquisition signed (Completed)</a:t>
                      </a:r>
                    </a:p>
                  </a:txBody>
                  <a:tcPr marL="72000" marR="108000" marT="108000" marB="108000">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19050" cap="flat" cmpd="sng" algn="ctr">
                      <a:solidFill>
                        <a:srgbClr val="539DFF"/>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marL="171450" indent="-171450" latinLnBrk="1">
                        <a:lnSpc>
                          <a:spcPct val="110000"/>
                        </a:lnSpc>
                        <a:spcAft>
                          <a:spcPts val="300"/>
                        </a:spcAft>
                        <a:buFont typeface="Wingdings" panose="05000000000000000000" pitchFamily="2" charset="2"/>
                        <a:buChar cha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NKTx signed to acquire 51% of Future Medicine and 19% of Curigin (Closing after private placement funding)</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539DFF"/>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Target companies are secured and bound by definitive agreements</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19050" cap="flat" cmpd="sng" algn="ctr">
                      <a:solidFill>
                        <a:srgbClr val="539DFF"/>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solidFill>
                      <a:srgbClr val="E6F3FF"/>
                    </a:solidFill>
                  </a:tcPr>
                </a:tc>
                <a:extLst>
                  <a:ext uri="{0D108BD9-81ED-4DB2-BD59-A6C34878D82A}">
                    <a16:rowId xmlns:a16="http://schemas.microsoft.com/office/drawing/2014/main" val="4193785536"/>
                  </a:ext>
                </a:extLst>
              </a:tr>
              <a:tr h="288000">
                <a:tc>
                  <a:txBody>
                    <a:bodyPr/>
                    <a:lstStyle/>
                    <a:p>
                      <a:pPr latinLnBrk="1">
                        <a:lnSpc>
                          <a:spcPct val="110000"/>
                        </a:lnSpc>
                        <a:spcAft>
                          <a:spcPts val="300"/>
                        </a:spcAft>
                      </a:pPr>
                      <a:r>
                        <a:rPr kumimoji="0" lang="en-US" altLang="ko-KR" sz="1000" b="1" i="0" u="none" strike="noStrike" kern="1200" cap="none" spc="0" normalizeH="0" baseline="0" noProof="0" dirty="0">
                          <a:ln>
                            <a:noFill/>
                          </a:ln>
                          <a:solidFill>
                            <a:srgbClr val="3D3D3D"/>
                          </a:solidFill>
                          <a:effectLst/>
                          <a:uLnTx/>
                          <a:uFillTx/>
                          <a:latin typeface="Pretendard"/>
                          <a:ea typeface="Pretendard"/>
                          <a:cs typeface="+mn-cs"/>
                        </a:rPr>
                        <a:t>2. Private placement funding (Current)</a:t>
                      </a:r>
                      <a:endParaRPr lang="ko-KR" altLang="en-US" sz="1000" b="1" dirty="0">
                        <a:solidFill>
                          <a:srgbClr val="3D3D3D"/>
                        </a:solidFill>
                      </a:endParaRPr>
                    </a:p>
                  </a:txBody>
                  <a:tcPr marL="72000" marR="108000" marT="108000" marB="108000">
                    <a:lnL w="19050" cap="flat" cmpd="sng" algn="ctr">
                      <a:solidFill>
                        <a:srgbClr val="539DFF"/>
                      </a:solidFill>
                      <a:prstDash val="dash"/>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19050" cap="flat" cmpd="sng" algn="ctr">
                      <a:solidFill>
                        <a:srgbClr val="539DFF"/>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marL="171450" indent="-171450" latinLnBrk="1">
                        <a:lnSpc>
                          <a:spcPct val="110000"/>
                        </a:lnSpc>
                        <a:spcAft>
                          <a:spcPts val="300"/>
                        </a:spcAft>
                        <a:buFont typeface="Wingdings" panose="05000000000000000000" pitchFamily="2" charset="2"/>
                        <a:buChar cha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Capital raise into NKTx</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19050" cap="flat" cmpd="sng" algn="ctr">
                      <a:solidFill>
                        <a:srgbClr val="539DFF"/>
                      </a:solidFill>
                      <a:prstDash val="dash"/>
                      <a:round/>
                      <a:headEnd type="none" w="med" len="med"/>
                      <a:tailEnd type="none" w="med" len="med"/>
                    </a:lnB>
                    <a:lnTlToBr w="12700" cmpd="sng">
                      <a:noFill/>
                      <a:prstDash val="solid"/>
                    </a:lnTlToBr>
                    <a:lnBlToTr w="12700" cmpd="sng">
                      <a:noFill/>
                      <a:prstDash val="solid"/>
                    </a:lnBlToTr>
                    <a:solidFill>
                      <a:srgbClr val="E6F3FF"/>
                    </a:solidFill>
                  </a:tcPr>
                </a:tc>
                <a:tc>
                  <a:txBody>
                    <a:bodyPr/>
                    <a:lstStyle/>
                    <a:p>
                      <a:pPr marL="171450" indent="-171450" latinLnBrk="1">
                        <a:lnSpc>
                          <a:spcPct val="110000"/>
                        </a:lnSpc>
                        <a:spcAft>
                          <a:spcPts val="300"/>
                        </a:spcAft>
                        <a:buFont typeface="Wingdings" panose="05000000000000000000" pitchFamily="2" charset="2"/>
                        <a:buChar cha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Funding secured to activate acquisition and listing process</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19050" cap="flat" cmpd="sng" algn="ctr">
                      <a:solidFill>
                        <a:srgbClr val="539DFF"/>
                      </a:solidFill>
                      <a:prstDash val="dash"/>
                      <a:round/>
                      <a:headEnd type="none" w="med" len="med"/>
                      <a:tailEnd type="none" w="med" len="med"/>
                    </a:lnR>
                    <a:lnT w="6350" cap="flat" cmpd="sng" algn="ctr">
                      <a:solidFill>
                        <a:srgbClr val="3D3D3D"/>
                      </a:solidFill>
                      <a:prstDash val="dash"/>
                      <a:round/>
                      <a:headEnd type="none" w="med" len="med"/>
                      <a:tailEnd type="none" w="med" len="med"/>
                    </a:lnT>
                    <a:lnB w="19050" cap="flat" cmpd="sng" algn="ctr">
                      <a:solidFill>
                        <a:srgbClr val="539DFF"/>
                      </a:solidFill>
                      <a:prstDash val="dash"/>
                      <a:round/>
                      <a:headEnd type="none" w="med" len="med"/>
                      <a:tailEnd type="none" w="med" len="med"/>
                    </a:lnB>
                    <a:lnTlToBr w="12700" cmpd="sng">
                      <a:noFill/>
                      <a:prstDash val="solid"/>
                    </a:lnTlToBr>
                    <a:lnBlToTr w="12700" cmpd="sng">
                      <a:noFill/>
                      <a:prstDash val="solid"/>
                    </a:lnBlToTr>
                    <a:solidFill>
                      <a:srgbClr val="E6F3FF"/>
                    </a:solidFill>
                  </a:tcPr>
                </a:tc>
                <a:extLst>
                  <a:ext uri="{0D108BD9-81ED-4DB2-BD59-A6C34878D82A}">
                    <a16:rowId xmlns:a16="http://schemas.microsoft.com/office/drawing/2014/main" val="3508372556"/>
                  </a:ext>
                </a:extLst>
              </a:tr>
              <a:tr h="288000">
                <a:tc>
                  <a:txBody>
                    <a:bodyPr/>
                    <a:lstStyle/>
                    <a:p>
                      <a:pPr latinLnBrk="1">
                        <a:lnSpc>
                          <a:spcPct val="110000"/>
                        </a:lnSpc>
                        <a:spcAft>
                          <a:spcPts val="300"/>
                        </a:spcAft>
                      </a:pPr>
                      <a:r>
                        <a:rPr lang="en-US" altLang="ko-KR" sz="1000" b="1" dirty="0">
                          <a:solidFill>
                            <a:srgbClr val="3D3D3D"/>
                          </a:solidFill>
                        </a:rPr>
                        <a:t>3. Acquisition closing</a:t>
                      </a:r>
                      <a:endParaRPr lang="ko-KR" altLang="en-US" sz="1000" b="1"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539DFF"/>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NKTx executes payment and closes to acquire 51% of Future Medicine and 19% of Curigin</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539DFF"/>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Majority control of core assets under holding company</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539DFF"/>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0716603"/>
                  </a:ext>
                </a:extLst>
              </a:tr>
              <a:tr h="288000">
                <a:tc>
                  <a:txBody>
                    <a:bodyPr/>
                    <a:lstStyle/>
                    <a:p>
                      <a:pPr latinLnBrk="1">
                        <a:lnSpc>
                          <a:spcPct val="110000"/>
                        </a:lnSpc>
                        <a:spcAft>
                          <a:spcPts val="300"/>
                        </a:spcAft>
                      </a:pPr>
                      <a:r>
                        <a:rPr lang="en-US" altLang="ko-KR" sz="1000" b="1" dirty="0">
                          <a:solidFill>
                            <a:srgbClr val="3D3D3D"/>
                          </a:solidFill>
                        </a:rPr>
                        <a:t>4. Integration &amp; listing preparation</a:t>
                      </a:r>
                      <a:endParaRPr lang="ko-KR" altLang="en-US" sz="1000" b="1"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Governance, audit, SEC documentation, and IR strategy</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Execution based on proven K Wave Media playbook</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613220"/>
                  </a:ext>
                </a:extLst>
              </a:tr>
              <a:tr h="288000">
                <a:tc>
                  <a:txBody>
                    <a:bodyPr/>
                    <a:lstStyle/>
                    <a:p>
                      <a:pPr latinLnBrk="1">
                        <a:lnSpc>
                          <a:spcPct val="110000"/>
                        </a:lnSpc>
                        <a:spcAft>
                          <a:spcPts val="300"/>
                        </a:spcAft>
                      </a:pPr>
                      <a:r>
                        <a:rPr lang="en-US" altLang="ko-KR" sz="1000" b="1" dirty="0">
                          <a:solidFill>
                            <a:srgbClr val="3D3D3D"/>
                          </a:solidFill>
                        </a:rPr>
                        <a:t>5. Listing on Nasdaq</a:t>
                      </a:r>
                      <a:endParaRPr lang="ko-KR" altLang="en-US" sz="1000" b="1"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NKTx proceeds to NASDAQ listing</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Core liquidity event opportunity</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5859634"/>
                  </a:ext>
                </a:extLst>
              </a:tr>
              <a:tr h="288000">
                <a:tc>
                  <a:txBody>
                    <a:bodyPr/>
                    <a:lstStyle/>
                    <a:p>
                      <a:pPr latinLnBrk="1">
                        <a:lnSpc>
                          <a:spcPct val="110000"/>
                        </a:lnSpc>
                        <a:spcAft>
                          <a:spcPts val="300"/>
                        </a:spcAft>
                      </a:pPr>
                      <a:r>
                        <a:rPr lang="en-US" altLang="ko-KR" sz="1000" b="1" dirty="0">
                          <a:solidFill>
                            <a:srgbClr val="3D3D3D"/>
                          </a:solidFill>
                        </a:rPr>
                        <a:t>6. Post-listing share swap</a:t>
                      </a:r>
                      <a:endParaRPr lang="ko-KR" altLang="en-US" sz="1000" b="1"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Remaining 81% of Curigin converted via share swap</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Full consolidation under listed vehicle</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8915054"/>
                  </a:ext>
                </a:extLst>
              </a:tr>
              <a:tr h="288000">
                <a:tc>
                  <a:txBody>
                    <a:bodyPr/>
                    <a:lstStyle/>
                    <a:p>
                      <a:pPr latinLnBrk="1">
                        <a:lnSpc>
                          <a:spcPct val="110000"/>
                        </a:lnSpc>
                        <a:spcAft>
                          <a:spcPts val="300"/>
                        </a:spcAft>
                      </a:pPr>
                      <a:r>
                        <a:rPr lang="en-US" altLang="ko-KR" sz="1000" b="1" dirty="0">
                          <a:solidFill>
                            <a:srgbClr val="3D3D3D"/>
                          </a:solidFill>
                        </a:rPr>
                        <a:t>7. Value realization</a:t>
                      </a:r>
                      <a:endParaRPr lang="ko-KR" altLang="en-US" sz="1000" b="1"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Public market re-rating, licensing deals, and M&amp;A opportunity</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Multiple monetization pathway for investors</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4410776"/>
                  </a:ext>
                </a:extLst>
              </a:tr>
            </a:tbl>
          </a:graphicData>
        </a:graphic>
      </p:graphicFrame>
    </p:spTree>
    <p:extLst>
      <p:ext uri="{BB962C8B-B14F-4D97-AF65-F5344CB8AC3E}">
        <p14:creationId xmlns:p14="http://schemas.microsoft.com/office/powerpoint/2010/main" val="3998229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6FA60-8816-5195-147B-E504AF19D47D}"/>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5BCB3106-6E06-01BB-55A0-CD46E992893F}"/>
              </a:ext>
            </a:extLst>
          </p:cNvPr>
          <p:cNvSpPr>
            <a:spLocks noGrp="1"/>
          </p:cNvSpPr>
          <p:nvPr>
            <p:ph type="body" sz="quarter" idx="11"/>
          </p:nvPr>
        </p:nvSpPr>
        <p:spPr/>
        <p:txBody>
          <a:bodyPr/>
          <a:lstStyle/>
          <a:p>
            <a:r>
              <a:rPr lang="en-US" altLang="ko-KR" dirty="0"/>
              <a:t>Proven NASDAQ LISTING PLAYBOOK</a:t>
            </a:r>
            <a:endParaRPr lang="ko-KR" altLang="en-US" dirty="0"/>
          </a:p>
        </p:txBody>
      </p:sp>
      <p:sp>
        <p:nvSpPr>
          <p:cNvPr id="3" name="텍스트 개체 틀 2">
            <a:extLst>
              <a:ext uri="{FF2B5EF4-FFF2-40B4-BE49-F238E27FC236}">
                <a16:creationId xmlns:a16="http://schemas.microsoft.com/office/drawing/2014/main" id="{BF7C8146-0650-6E84-F5E6-1BFA8D9C187F}"/>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BC5847A-E67B-7880-0A66-BA44CE280EA3}"/>
              </a:ext>
            </a:extLst>
          </p:cNvPr>
          <p:cNvSpPr>
            <a:spLocks noGrp="1"/>
          </p:cNvSpPr>
          <p:nvPr>
            <p:ph type="sldNum" sz="quarter" idx="13"/>
          </p:nvPr>
        </p:nvSpPr>
        <p:spPr/>
        <p:txBody>
          <a:bodyPr/>
          <a:lstStyle/>
          <a:p>
            <a:fld id="{C053318C-A610-4AA5-9FF7-26630BAA1E31}" type="slidenum">
              <a:rPr lang="en-US" altLang="ko-KR" smtClean="0"/>
              <a:pPr/>
              <a:t>31</a:t>
            </a:fld>
            <a:endParaRPr lang="en-US" dirty="0"/>
          </a:p>
        </p:txBody>
      </p:sp>
      <p:sp>
        <p:nvSpPr>
          <p:cNvPr id="8" name="TextBox 7">
            <a:extLst>
              <a:ext uri="{FF2B5EF4-FFF2-40B4-BE49-F238E27FC236}">
                <a16:creationId xmlns:a16="http://schemas.microsoft.com/office/drawing/2014/main" id="{3D5BDB8E-A90B-C6AF-A847-98BFEB78D901}"/>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Track record from K Wave Media NASDAQ listing provides a repeatable and execution-validated framework for NKTx.</a:t>
            </a:r>
            <a:endParaRPr lang="ko-KR" altLang="en-US" sz="1400" b="1" dirty="0">
              <a:solidFill>
                <a:srgbClr val="3D3D3D"/>
              </a:solidFill>
            </a:endParaRPr>
          </a:p>
        </p:txBody>
      </p:sp>
      <p:graphicFrame>
        <p:nvGraphicFramePr>
          <p:cNvPr id="11" name="표 10">
            <a:extLst>
              <a:ext uri="{FF2B5EF4-FFF2-40B4-BE49-F238E27FC236}">
                <a16:creationId xmlns:a16="http://schemas.microsoft.com/office/drawing/2014/main" id="{3A4CCD0F-D654-C132-C14E-D7047EE34CD7}"/>
              </a:ext>
            </a:extLst>
          </p:cNvPr>
          <p:cNvGraphicFramePr>
            <a:graphicFrameLocks noGrp="1"/>
          </p:cNvGraphicFramePr>
          <p:nvPr>
            <p:extLst>
              <p:ext uri="{D42A27DB-BD31-4B8C-83A1-F6EECF244321}">
                <p14:modId xmlns:p14="http://schemas.microsoft.com/office/powerpoint/2010/main" val="677943114"/>
              </p:ext>
            </p:extLst>
          </p:nvPr>
        </p:nvGraphicFramePr>
        <p:xfrm>
          <a:off x="453000" y="1700213"/>
          <a:ext cx="9000000" cy="3541536"/>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905467451"/>
                    </a:ext>
                  </a:extLst>
                </a:gridCol>
                <a:gridCol w="3600000">
                  <a:extLst>
                    <a:ext uri="{9D8B030D-6E8A-4147-A177-3AD203B41FA5}">
                      <a16:colId xmlns:a16="http://schemas.microsoft.com/office/drawing/2014/main" val="2648872957"/>
                    </a:ext>
                  </a:extLst>
                </a:gridCol>
                <a:gridCol w="3600000">
                  <a:extLst>
                    <a:ext uri="{9D8B030D-6E8A-4147-A177-3AD203B41FA5}">
                      <a16:colId xmlns:a16="http://schemas.microsoft.com/office/drawing/2014/main" val="1757822806"/>
                    </a:ext>
                  </a:extLst>
                </a:gridCol>
              </a:tblGrid>
              <a:tr h="288000">
                <a:tc>
                  <a:txBody>
                    <a:bodyPr/>
                    <a:lstStyle/>
                    <a:p>
                      <a:pPr latinLnBrk="1">
                        <a:lnSpc>
                          <a:spcPct val="110000"/>
                        </a:lnSpc>
                        <a:spcAft>
                          <a:spcPts val="300"/>
                        </a:spcAft>
                      </a:pPr>
                      <a:r>
                        <a:rPr lang="en-US" altLang="ko-KR" sz="1000" b="1" dirty="0">
                          <a:solidFill>
                            <a:schemeClr val="bg1"/>
                          </a:solidFill>
                        </a:rPr>
                        <a:t>Category</a:t>
                      </a:r>
                      <a:endParaRPr lang="ko-KR" altLang="en-US" sz="1000" b="1" dirty="0">
                        <a:solidFill>
                          <a:schemeClr val="bg1"/>
                        </a:solidFill>
                      </a:endParaRPr>
                    </a:p>
                  </a:txBody>
                  <a:tcPr marL="72000" marR="108000" marT="72000" marB="72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solidFill>
                      <a:srgbClr val="11244A"/>
                    </a:solidFill>
                  </a:tcPr>
                </a:tc>
                <a:tc>
                  <a:txBody>
                    <a:bodyPr/>
                    <a:lstStyle/>
                    <a:p>
                      <a:pPr marL="0" indent="0" latinLnBrk="1">
                        <a:lnSpc>
                          <a:spcPct val="110000"/>
                        </a:lnSpc>
                        <a:spcAft>
                          <a:spcPts val="300"/>
                        </a:spcAft>
                        <a:buFont typeface="Wingdings" panose="05000000000000000000" pitchFamily="2" charset="2"/>
                        <a:buNone/>
                      </a:pPr>
                      <a:r>
                        <a:rPr lang="en-US" altLang="ko-KR" sz="1000" b="1" dirty="0">
                          <a:solidFill>
                            <a:schemeClr val="bg1"/>
                          </a:solidFill>
                        </a:rPr>
                        <a:t>K Wave Media Precedent</a:t>
                      </a:r>
                      <a:endParaRPr lang="ko-KR" altLang="en-US" sz="1000" b="1" dirty="0">
                        <a:solidFill>
                          <a:schemeClr val="bg1"/>
                        </a:solidFill>
                      </a:endParaRPr>
                    </a:p>
                  </a:txBody>
                  <a:tcPr marL="72000" marR="108000" marT="72000" marB="72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solidFill>
                      <a:srgbClr val="11244A"/>
                    </a:solidFill>
                  </a:tcPr>
                </a:tc>
                <a:tc>
                  <a:txBody>
                    <a:bodyPr/>
                    <a:lstStyle/>
                    <a:p>
                      <a:pPr marL="0" indent="0" latinLnBrk="1">
                        <a:lnSpc>
                          <a:spcPct val="110000"/>
                        </a:lnSpc>
                        <a:spcAft>
                          <a:spcPts val="300"/>
                        </a:spcAft>
                        <a:buFont typeface="Wingdings" panose="05000000000000000000" pitchFamily="2" charset="2"/>
                        <a:buNone/>
                      </a:pPr>
                      <a:r>
                        <a:rPr lang="en-US" altLang="ko-KR" sz="1000" b="1" dirty="0">
                          <a:solidFill>
                            <a:schemeClr val="bg1"/>
                          </a:solidFill>
                        </a:rPr>
                        <a:t>NKTx Application</a:t>
                      </a:r>
                      <a:endParaRPr lang="ko-KR" altLang="en-US" sz="1000" b="1" dirty="0">
                        <a:solidFill>
                          <a:schemeClr val="bg1"/>
                        </a:solidFill>
                      </a:endParaRPr>
                    </a:p>
                  </a:txBody>
                  <a:tcPr marL="72000" marR="108000" marT="72000" marB="72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solidFill>
                      <a:srgbClr val="11244A"/>
                    </a:solidFill>
                  </a:tcPr>
                </a:tc>
                <a:extLst>
                  <a:ext uri="{0D108BD9-81ED-4DB2-BD59-A6C34878D82A}">
                    <a16:rowId xmlns:a16="http://schemas.microsoft.com/office/drawing/2014/main" val="2838033089"/>
                  </a:ext>
                </a:extLst>
              </a:tr>
              <a:tr h="288000">
                <a:tc>
                  <a:txBody>
                    <a:bodyPr/>
                    <a:lstStyle/>
                    <a:p>
                      <a:pPr latinLnBrk="1">
                        <a:lnSpc>
                          <a:spcPct val="110000"/>
                        </a:lnSpc>
                        <a:spcAft>
                          <a:spcPts val="300"/>
                        </a:spcAft>
                      </a:pPr>
                      <a:r>
                        <a:rPr kumimoji="0" lang="en-US" altLang="ko-KR" sz="1000" b="1" i="0" u="none" strike="noStrike" kern="1200" cap="none" spc="0" normalizeH="0" baseline="0" noProof="0" dirty="0">
                          <a:ln>
                            <a:noFill/>
                          </a:ln>
                          <a:solidFill>
                            <a:srgbClr val="11244A"/>
                          </a:solidFill>
                          <a:effectLst/>
                          <a:uLnTx/>
                          <a:uFillTx/>
                          <a:latin typeface="Pretendard"/>
                          <a:ea typeface="Pretendard"/>
                          <a:cs typeface="+mn-cs"/>
                        </a:rPr>
                        <a:t>Execution track record</a:t>
                      </a:r>
                      <a:endParaRPr lang="ko-KR" altLang="en-US" sz="1000" b="1" dirty="0">
                        <a:solidFill>
                          <a:srgbClr val="11244A"/>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Successfully completed NASDAQ listing with current core team</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kumimoji="0" lang="en-US" altLang="ko-KR" sz="1000" b="0" i="0" u="none" strike="noStrike" kern="1200" cap="none" spc="0" normalizeH="0" baseline="0" noProof="0" dirty="0">
                          <a:ln>
                            <a:noFill/>
                          </a:ln>
                          <a:solidFill>
                            <a:srgbClr val="3D3D3D"/>
                          </a:solidFill>
                          <a:effectLst/>
                          <a:uLnTx/>
                          <a:uFillTx/>
                          <a:latin typeface="Pretendard"/>
                          <a:ea typeface="Pretendard"/>
                          <a:cs typeface="+mn-cs"/>
                        </a:rPr>
                        <a:t>Same execution team replicates proven process and mitigates listing risk</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3785536"/>
                  </a:ext>
                </a:extLst>
              </a:tr>
              <a:tr h="288000">
                <a:tc>
                  <a:txBody>
                    <a:bodyPr/>
                    <a:lstStyle/>
                    <a:p>
                      <a:pPr latinLnBrk="1">
                        <a:lnSpc>
                          <a:spcPct val="110000"/>
                        </a:lnSpc>
                        <a:spcAft>
                          <a:spcPts val="300"/>
                        </a:spcAft>
                      </a:pPr>
                      <a:r>
                        <a:rPr lang="en-US" altLang="ko-KR" sz="1000" b="1" dirty="0">
                          <a:solidFill>
                            <a:srgbClr val="11244A"/>
                          </a:solidFill>
                        </a:rPr>
                        <a:t>Regulatory &amp; compliance</a:t>
                      </a:r>
                      <a:endParaRPr lang="ko-KR" altLang="en-US" sz="1000" b="1" dirty="0">
                        <a:solidFill>
                          <a:srgbClr val="11244A"/>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Navigated SEC review and PCAOB-standard audit through structured restructuring</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SEC / PCAOB compliance to be managed by team with identical listing experience</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0716603"/>
                  </a:ext>
                </a:extLst>
              </a:tr>
              <a:tr h="288000">
                <a:tc>
                  <a:txBody>
                    <a:bodyPr/>
                    <a:lstStyle/>
                    <a:p>
                      <a:pPr latinLnBrk="1">
                        <a:lnSpc>
                          <a:spcPct val="110000"/>
                        </a:lnSpc>
                        <a:spcAft>
                          <a:spcPts val="300"/>
                        </a:spcAft>
                      </a:pPr>
                      <a:r>
                        <a:rPr lang="en-US" altLang="ko-KR" sz="1000" b="1" dirty="0">
                          <a:solidFill>
                            <a:srgbClr val="11244A"/>
                          </a:solidFill>
                        </a:rPr>
                        <a:t>Listing structure approach</a:t>
                      </a:r>
                      <a:endParaRPr lang="ko-KR" altLang="en-US" sz="1000" b="1" dirty="0">
                        <a:solidFill>
                          <a:srgbClr val="11244A"/>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Adopted capital-efficient listing pathways</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Similar approach planned to reduce dilution and underwriting cost exposure</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613220"/>
                  </a:ext>
                </a:extLst>
              </a:tr>
              <a:tr h="288000">
                <a:tc>
                  <a:txBody>
                    <a:bodyPr/>
                    <a:lstStyle/>
                    <a:p>
                      <a:pPr latinLnBrk="1">
                        <a:lnSpc>
                          <a:spcPct val="110000"/>
                        </a:lnSpc>
                        <a:spcAft>
                          <a:spcPts val="300"/>
                        </a:spcAft>
                      </a:pPr>
                      <a:r>
                        <a:rPr lang="en-US" altLang="ko-KR" sz="1000" b="1" dirty="0">
                          <a:solidFill>
                            <a:srgbClr val="11244A"/>
                          </a:solidFill>
                        </a:rPr>
                        <a:t>Capital market know-how</a:t>
                      </a:r>
                      <a:endParaRPr lang="ko-KR" altLang="en-US" sz="1000" b="1" dirty="0">
                        <a:solidFill>
                          <a:srgbClr val="11244A"/>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Executed US IR strategy and investor communication end-to-end</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Existing know-how enables efficient US investor engagement from day one</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5859634"/>
                  </a:ext>
                </a:extLst>
              </a:tr>
              <a:tr h="288000">
                <a:tc>
                  <a:txBody>
                    <a:bodyPr/>
                    <a:lstStyle/>
                    <a:p>
                      <a:pPr latinLnBrk="1">
                        <a:lnSpc>
                          <a:spcPct val="110000"/>
                        </a:lnSpc>
                        <a:spcAft>
                          <a:spcPts val="300"/>
                        </a:spcAft>
                      </a:pPr>
                      <a:r>
                        <a:rPr lang="en-US" altLang="ko-KR" sz="1000" b="1" dirty="0">
                          <a:solidFill>
                            <a:srgbClr val="11244A"/>
                          </a:solidFill>
                        </a:rPr>
                        <a:t>Professional team involvement</a:t>
                      </a:r>
                      <a:endParaRPr lang="ko-KR" altLang="en-US" sz="1000" b="1" dirty="0">
                        <a:solidFill>
                          <a:srgbClr val="11244A"/>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Financial, legal, and IR experts directly executed listing</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Same experts engaged for NKTx, ensuring continuity and practical oversight</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8915054"/>
                  </a:ext>
                </a:extLst>
              </a:tr>
              <a:tr h="288000">
                <a:tc>
                  <a:txBody>
                    <a:bodyPr/>
                    <a:lstStyle/>
                    <a:p>
                      <a:pPr latinLnBrk="1">
                        <a:lnSpc>
                          <a:spcPct val="110000"/>
                        </a:lnSpc>
                        <a:spcAft>
                          <a:spcPts val="300"/>
                        </a:spcAft>
                      </a:pPr>
                      <a:r>
                        <a:rPr lang="en-US" altLang="ko-KR" sz="1000" b="1" dirty="0">
                          <a:solidFill>
                            <a:srgbClr val="11244A"/>
                          </a:solidFill>
                        </a:rPr>
                        <a:t>Outcome implication</a:t>
                      </a:r>
                      <a:endParaRPr lang="ko-KR" altLang="en-US" sz="1000" b="1" dirty="0">
                        <a:solidFill>
                          <a:srgbClr val="11244A"/>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Demonstrated feasibility and process certainty through real listing</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Investors gain visibility on a repeatable, executable roadmap (not conceptual intent)</a:t>
                      </a:r>
                      <a:endParaRPr lang="ko-KR" altLang="en-US" sz="1000" b="0" dirty="0">
                        <a:solidFill>
                          <a:srgbClr val="3D3D3D"/>
                        </a:solidFill>
                      </a:endParaRPr>
                    </a:p>
                  </a:txBody>
                  <a:tcPr marL="72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4410776"/>
                  </a:ext>
                </a:extLst>
              </a:tr>
            </a:tbl>
          </a:graphicData>
        </a:graphic>
      </p:graphicFrame>
    </p:spTree>
    <p:extLst>
      <p:ext uri="{BB962C8B-B14F-4D97-AF65-F5344CB8AC3E}">
        <p14:creationId xmlns:p14="http://schemas.microsoft.com/office/powerpoint/2010/main" val="1757169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E751-9C4D-8CE8-47DE-C3764E7C1AB0}"/>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F85B9AE-6EE2-8C11-1FE0-CC8C354FD700}"/>
              </a:ext>
            </a:extLst>
          </p:cNvPr>
          <p:cNvSpPr>
            <a:spLocks noGrp="1"/>
          </p:cNvSpPr>
          <p:nvPr>
            <p:ph type="body" sz="quarter" idx="11"/>
          </p:nvPr>
        </p:nvSpPr>
        <p:spPr/>
        <p:txBody>
          <a:bodyPr/>
          <a:lstStyle/>
          <a:p>
            <a:r>
              <a:rPr lang="en-US" altLang="ko-KR" dirty="0"/>
              <a:t>Team With Proven Execution Capability</a:t>
            </a:r>
            <a:endParaRPr lang="ko-KR" altLang="en-US" dirty="0"/>
          </a:p>
        </p:txBody>
      </p:sp>
      <p:sp>
        <p:nvSpPr>
          <p:cNvPr id="3" name="텍스트 개체 틀 2">
            <a:extLst>
              <a:ext uri="{FF2B5EF4-FFF2-40B4-BE49-F238E27FC236}">
                <a16:creationId xmlns:a16="http://schemas.microsoft.com/office/drawing/2014/main" id="{D5A77D90-8427-59C6-E56E-34082D8B2A8A}"/>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B5A0B7-7AD6-ED05-F1BA-75C0400C56D4}"/>
              </a:ext>
            </a:extLst>
          </p:cNvPr>
          <p:cNvSpPr>
            <a:spLocks noGrp="1"/>
          </p:cNvSpPr>
          <p:nvPr>
            <p:ph type="sldNum" sz="quarter" idx="13"/>
          </p:nvPr>
        </p:nvSpPr>
        <p:spPr/>
        <p:txBody>
          <a:bodyPr/>
          <a:lstStyle/>
          <a:p>
            <a:fld id="{C053318C-A610-4AA5-9FF7-26630BAA1E31}" type="slidenum">
              <a:rPr lang="en-US" altLang="ko-KR" smtClean="0"/>
              <a:pPr/>
              <a:t>32</a:t>
            </a:fld>
            <a:endParaRPr lang="en-US" dirty="0"/>
          </a:p>
        </p:txBody>
      </p:sp>
      <p:sp>
        <p:nvSpPr>
          <p:cNvPr id="8" name="TextBox 7">
            <a:extLst>
              <a:ext uri="{FF2B5EF4-FFF2-40B4-BE49-F238E27FC236}">
                <a16:creationId xmlns:a16="http://schemas.microsoft.com/office/drawing/2014/main" id="{72A6D418-1A3D-1A4D-CA1E-C6428A3BF7A5}"/>
              </a:ext>
            </a:extLst>
          </p:cNvPr>
          <p:cNvSpPr txBox="1"/>
          <p:nvPr/>
        </p:nvSpPr>
        <p:spPr>
          <a:xfrm>
            <a:off x="453000" y="981075"/>
            <a:ext cx="8999999" cy="458267"/>
          </a:xfrm>
          <a:prstGeom prst="rect">
            <a:avLst/>
          </a:prstGeom>
          <a:noFill/>
        </p:spPr>
        <p:txBody>
          <a:bodyPr wrap="square" lIns="0" tIns="0" rIns="0" bIns="0" rtlCol="0">
            <a:spAutoFit/>
          </a:bodyPr>
          <a:lstStyle/>
          <a:p>
            <a:pPr algn="l">
              <a:lnSpc>
                <a:spcPct val="110000"/>
              </a:lnSpc>
            </a:pPr>
            <a:r>
              <a:rPr lang="en-US" altLang="ko-KR" sz="1400" b="1" dirty="0">
                <a:solidFill>
                  <a:srgbClr val="3D3D3D"/>
                </a:solidFill>
              </a:rPr>
              <a:t>World-class scientific leadership backed by a team that has successfully completed a NASDAQ listing, enabling credible execution from development to exit.</a:t>
            </a:r>
            <a:endParaRPr lang="ko-KR" altLang="en-US" sz="1400" b="1" dirty="0">
              <a:solidFill>
                <a:srgbClr val="3D3D3D"/>
              </a:solidFill>
            </a:endParaRPr>
          </a:p>
        </p:txBody>
      </p:sp>
      <p:sp>
        <p:nvSpPr>
          <p:cNvPr id="12" name="직사각형 11">
            <a:extLst>
              <a:ext uri="{FF2B5EF4-FFF2-40B4-BE49-F238E27FC236}">
                <a16:creationId xmlns:a16="http://schemas.microsoft.com/office/drawing/2014/main" id="{1E820092-6497-8CAD-8BAA-CAA9BB8714A1}"/>
              </a:ext>
            </a:extLst>
          </p:cNvPr>
          <p:cNvSpPr/>
          <p:nvPr/>
        </p:nvSpPr>
        <p:spPr>
          <a:xfrm>
            <a:off x="453000" y="1700213"/>
            <a:ext cx="4392000" cy="288000"/>
          </a:xfrm>
          <a:prstGeom prst="rect">
            <a:avLst/>
          </a:prstGeom>
          <a:solidFill>
            <a:srgbClr val="11244A"/>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0" rIns="0" bIns="0" rtlCol="0" anchor="ctr"/>
          <a:lstStyle/>
          <a:p>
            <a:r>
              <a:rPr lang="en-US" altLang="ko-KR" sz="1200" b="1" dirty="0">
                <a:solidFill>
                  <a:schemeClr val="bg1"/>
                </a:solidFill>
              </a:rPr>
              <a:t>NKTx Leadership Team</a:t>
            </a:r>
            <a:endParaRPr lang="ko-KR" altLang="en-US" sz="1200" b="1" dirty="0">
              <a:solidFill>
                <a:schemeClr val="bg1"/>
              </a:solidFill>
            </a:endParaRPr>
          </a:p>
        </p:txBody>
      </p:sp>
      <p:sp>
        <p:nvSpPr>
          <p:cNvPr id="13" name="TextBox 12">
            <a:extLst>
              <a:ext uri="{FF2B5EF4-FFF2-40B4-BE49-F238E27FC236}">
                <a16:creationId xmlns:a16="http://schemas.microsoft.com/office/drawing/2014/main" id="{703589E2-2E59-3022-D79A-454F2AC6DB33}"/>
              </a:ext>
            </a:extLst>
          </p:cNvPr>
          <p:cNvSpPr txBox="1"/>
          <p:nvPr/>
        </p:nvSpPr>
        <p:spPr>
          <a:xfrm>
            <a:off x="453001" y="2194559"/>
            <a:ext cx="4392000" cy="2347374"/>
          </a:xfrm>
          <a:prstGeom prst="rect">
            <a:avLst/>
          </a:prstGeom>
          <a:noFill/>
        </p:spPr>
        <p:txBody>
          <a:bodyPr wrap="square" lIns="108000" tIns="0" rIns="0" bIns="0" rtlCol="0">
            <a:spAutoFit/>
          </a:bodyPr>
          <a:lstStyle/>
          <a:p>
            <a:pPr algn="l">
              <a:lnSpc>
                <a:spcPct val="110000"/>
              </a:lnSpc>
              <a:spcAft>
                <a:spcPts val="400"/>
              </a:spcAft>
            </a:pPr>
            <a:r>
              <a:rPr lang="en-US" altLang="ko-KR" sz="1200" b="1" dirty="0">
                <a:solidFill>
                  <a:srgbClr val="11244A"/>
                </a:solidFill>
              </a:rPr>
              <a:t>Capital Market &amp; Execution Team</a:t>
            </a:r>
          </a:p>
          <a:p>
            <a:pPr algn="l">
              <a:lnSpc>
                <a:spcPct val="110000"/>
              </a:lnSpc>
              <a:spcBef>
                <a:spcPts val="600"/>
              </a:spcBef>
              <a:spcAft>
                <a:spcPts val="400"/>
              </a:spcAft>
            </a:pPr>
            <a:r>
              <a:rPr lang="en-US" altLang="ko-KR" sz="1200" b="1" dirty="0">
                <a:solidFill>
                  <a:srgbClr val="539DFF"/>
                </a:solidFill>
              </a:rPr>
              <a:t>GFK &amp; Global Fund</a:t>
            </a:r>
          </a:p>
          <a:p>
            <a:pPr marL="171450" indent="-171450" algn="l">
              <a:lnSpc>
                <a:spcPct val="110000"/>
              </a:lnSpc>
              <a:spcAft>
                <a:spcPts val="400"/>
              </a:spcAft>
              <a:buFont typeface="Wingdings" panose="05000000000000000000" pitchFamily="2" charset="2"/>
              <a:buChar char="§"/>
            </a:pPr>
            <a:r>
              <a:rPr lang="en-US" altLang="ko-KR" sz="1000" spc="-30" dirty="0">
                <a:solidFill>
                  <a:srgbClr val="3D3D3D"/>
                </a:solidFill>
              </a:rPr>
              <a:t>Core shareholders behind the successful K Wave Media (KWM) NASDAQ listing</a:t>
            </a:r>
          </a:p>
          <a:p>
            <a:pPr marL="171450" indent="-171450" algn="l">
              <a:lnSpc>
                <a:spcPct val="110000"/>
              </a:lnSpc>
              <a:spcAft>
                <a:spcPts val="400"/>
              </a:spcAft>
              <a:buFont typeface="Wingdings" panose="05000000000000000000" pitchFamily="2" charset="2"/>
              <a:buChar char="§"/>
            </a:pPr>
            <a:r>
              <a:rPr lang="en-US" altLang="ko-KR" sz="1000" spc="-30" dirty="0">
                <a:solidFill>
                  <a:srgbClr val="3D3D3D"/>
                </a:solidFill>
              </a:rPr>
              <a:t>Deep understanding of US capital market process &amp; regulatory requirements</a:t>
            </a:r>
          </a:p>
          <a:p>
            <a:pPr>
              <a:lnSpc>
                <a:spcPct val="110000"/>
              </a:lnSpc>
              <a:spcBef>
                <a:spcPts val="600"/>
              </a:spcBef>
              <a:spcAft>
                <a:spcPts val="400"/>
              </a:spcAft>
            </a:pPr>
            <a:r>
              <a:rPr lang="en-US" altLang="ko-KR" sz="1200" b="1" dirty="0">
                <a:solidFill>
                  <a:srgbClr val="539DFF"/>
                </a:solidFill>
              </a:rPr>
              <a:t>Professional Execution Team</a:t>
            </a:r>
          </a:p>
          <a:p>
            <a:pPr marL="171450" indent="-171450">
              <a:lnSpc>
                <a:spcPct val="110000"/>
              </a:lnSpc>
              <a:spcAft>
                <a:spcPts val="400"/>
              </a:spcAft>
              <a:buFont typeface="Wingdings" panose="05000000000000000000" pitchFamily="2" charset="2"/>
              <a:buChar char="§"/>
            </a:pPr>
            <a:r>
              <a:rPr lang="en-US" altLang="ko-KR" sz="1000" dirty="0">
                <a:solidFill>
                  <a:srgbClr val="3D3D3D"/>
                </a:solidFill>
              </a:rPr>
              <a:t>Currently in progress of signing a CEO with global pharma backgrounds</a:t>
            </a:r>
          </a:p>
          <a:p>
            <a:pPr marL="171450" indent="-171450">
              <a:lnSpc>
                <a:spcPct val="110000"/>
              </a:lnSpc>
              <a:spcAft>
                <a:spcPts val="400"/>
              </a:spcAft>
              <a:buFont typeface="Wingdings" panose="05000000000000000000" pitchFamily="2" charset="2"/>
              <a:buChar char="§"/>
            </a:pPr>
            <a:r>
              <a:rPr lang="en-US" altLang="ko-KR" sz="1000" spc="-30" dirty="0">
                <a:solidFill>
                  <a:srgbClr val="3D3D3D"/>
                </a:solidFill>
              </a:rPr>
              <a:t>CFO, legal, IR and financial experts from the KWM listing participating in NKTx</a:t>
            </a:r>
          </a:p>
          <a:p>
            <a:pPr marL="171450" indent="-171450">
              <a:lnSpc>
                <a:spcPct val="110000"/>
              </a:lnSpc>
              <a:spcAft>
                <a:spcPts val="400"/>
              </a:spcAft>
              <a:buFont typeface="Wingdings" panose="05000000000000000000" pitchFamily="2" charset="2"/>
              <a:buChar char="§"/>
            </a:pPr>
            <a:r>
              <a:rPr lang="en-US" altLang="ko-KR" sz="1000" spc="-30" dirty="0">
                <a:solidFill>
                  <a:srgbClr val="3D3D3D"/>
                </a:solidFill>
              </a:rPr>
              <a:t>Responsible for SEC compliance, PCAOB-standard audits, and US investor IR</a:t>
            </a:r>
          </a:p>
          <a:p>
            <a:pPr marL="171450" indent="-171450">
              <a:lnSpc>
                <a:spcPct val="110000"/>
              </a:lnSpc>
              <a:spcAft>
                <a:spcPts val="400"/>
              </a:spcAft>
              <a:buFont typeface="Wingdings" panose="05000000000000000000" pitchFamily="2" charset="2"/>
              <a:buChar char="§"/>
            </a:pPr>
            <a:r>
              <a:rPr lang="en-US" altLang="ko-KR" sz="1000" spc="-30" dirty="0">
                <a:solidFill>
                  <a:srgbClr val="3D3D3D"/>
                </a:solidFill>
              </a:rPr>
              <a:t>Experience minimizes execution uncertainty and trial-and-error during listing</a:t>
            </a:r>
          </a:p>
        </p:txBody>
      </p:sp>
      <p:sp>
        <p:nvSpPr>
          <p:cNvPr id="14" name="TextBox 13">
            <a:extLst>
              <a:ext uri="{FF2B5EF4-FFF2-40B4-BE49-F238E27FC236}">
                <a16:creationId xmlns:a16="http://schemas.microsoft.com/office/drawing/2014/main" id="{B6DA80B3-4D48-B74E-3068-6EF5D16C2974}"/>
              </a:ext>
            </a:extLst>
          </p:cNvPr>
          <p:cNvSpPr txBox="1"/>
          <p:nvPr/>
        </p:nvSpPr>
        <p:spPr>
          <a:xfrm>
            <a:off x="5060999" y="2194559"/>
            <a:ext cx="4392000" cy="3068597"/>
          </a:xfrm>
          <a:prstGeom prst="rect">
            <a:avLst/>
          </a:prstGeom>
          <a:noFill/>
        </p:spPr>
        <p:txBody>
          <a:bodyPr wrap="square" lIns="108000" tIns="0" rIns="0" bIns="0" rtlCol="0">
            <a:spAutoFit/>
          </a:bodyPr>
          <a:lstStyle/>
          <a:p>
            <a:pPr algn="l">
              <a:lnSpc>
                <a:spcPct val="110000"/>
              </a:lnSpc>
              <a:spcAft>
                <a:spcPts val="400"/>
              </a:spcAft>
            </a:pPr>
            <a:r>
              <a:rPr lang="en-US" altLang="ko-KR" sz="1200" b="1" dirty="0">
                <a:solidFill>
                  <a:srgbClr val="11244A"/>
                </a:solidFill>
              </a:rPr>
              <a:t>Scientific &amp; Platform Leadership</a:t>
            </a:r>
          </a:p>
          <a:p>
            <a:pPr algn="l">
              <a:lnSpc>
                <a:spcPct val="110000"/>
              </a:lnSpc>
              <a:spcBef>
                <a:spcPts val="600"/>
              </a:spcBef>
              <a:spcAft>
                <a:spcPts val="400"/>
              </a:spcAft>
            </a:pPr>
            <a:r>
              <a:rPr lang="en-US" altLang="ko-KR" sz="1200" b="1" dirty="0">
                <a:solidFill>
                  <a:srgbClr val="539DFF"/>
                </a:solidFill>
              </a:rPr>
              <a:t>Prof. Lakshin Jeong - Future Medicine Founder &amp; CTO</a:t>
            </a:r>
          </a:p>
          <a:p>
            <a:pPr marL="171450" indent="-171450" algn="l">
              <a:lnSpc>
                <a:spcPct val="110000"/>
              </a:lnSpc>
              <a:spcAft>
                <a:spcPts val="400"/>
              </a:spcAft>
              <a:buFont typeface="Wingdings" panose="05000000000000000000" pitchFamily="2" charset="2"/>
              <a:buChar char="§"/>
            </a:pPr>
            <a:r>
              <a:rPr lang="en-US" altLang="ko-KR" sz="1000" dirty="0">
                <a:solidFill>
                  <a:srgbClr val="3D3D3D"/>
                </a:solidFill>
              </a:rPr>
              <a:t>Pharmacy professor at Seoul National University, Korea</a:t>
            </a:r>
          </a:p>
          <a:p>
            <a:pPr marL="171450" indent="-171450" algn="l">
              <a:lnSpc>
                <a:spcPct val="110000"/>
              </a:lnSpc>
              <a:spcAft>
                <a:spcPts val="400"/>
              </a:spcAft>
              <a:buFont typeface="Wingdings" panose="05000000000000000000" pitchFamily="2" charset="2"/>
              <a:buChar char="§"/>
            </a:pPr>
            <a:r>
              <a:rPr lang="en-US" altLang="ko-KR" sz="1000" dirty="0">
                <a:solidFill>
                  <a:srgbClr val="3D3D3D"/>
                </a:solidFill>
              </a:rPr>
              <a:t>Global authority in nucleoside medicinal chemistry</a:t>
            </a:r>
          </a:p>
          <a:p>
            <a:pPr marL="171450" indent="-171450" algn="l">
              <a:lnSpc>
                <a:spcPct val="110000"/>
              </a:lnSpc>
              <a:spcAft>
                <a:spcPts val="400"/>
              </a:spcAft>
              <a:buFont typeface="Wingdings" panose="05000000000000000000" pitchFamily="2" charset="2"/>
              <a:buChar char="§"/>
            </a:pPr>
            <a:r>
              <a:rPr lang="en-US" altLang="ko-KR" sz="1000" dirty="0">
                <a:solidFill>
                  <a:srgbClr val="3D3D3D"/>
                </a:solidFill>
              </a:rPr>
              <a:t>40+ years research leading to core platform technology development</a:t>
            </a:r>
          </a:p>
          <a:p>
            <a:pPr>
              <a:lnSpc>
                <a:spcPct val="110000"/>
              </a:lnSpc>
              <a:spcBef>
                <a:spcPts val="600"/>
              </a:spcBef>
              <a:spcAft>
                <a:spcPts val="400"/>
              </a:spcAft>
            </a:pPr>
            <a:r>
              <a:rPr lang="en-US" altLang="ko-KR" sz="1200" b="1" dirty="0">
                <a:solidFill>
                  <a:srgbClr val="539DFF"/>
                </a:solidFill>
              </a:rPr>
              <a:t>Jin-Woo Choi - Curigin CEO &amp; CTO</a:t>
            </a:r>
          </a:p>
          <a:p>
            <a:pPr marL="171450" indent="-171450">
              <a:lnSpc>
                <a:spcPct val="110000"/>
              </a:lnSpc>
              <a:spcAft>
                <a:spcPts val="400"/>
              </a:spcAft>
              <a:buFont typeface="Wingdings" panose="05000000000000000000" pitchFamily="2" charset="2"/>
              <a:buChar char="§"/>
            </a:pPr>
            <a:r>
              <a:rPr lang="en-US" altLang="ko-KR" sz="1000" dirty="0">
                <a:solidFill>
                  <a:srgbClr val="3D3D3D"/>
                </a:solidFill>
              </a:rPr>
              <a:t>Gene therapy expert with research background from Seoul National University and Harvard Medical School</a:t>
            </a:r>
          </a:p>
          <a:p>
            <a:pPr marL="171450" indent="-171450">
              <a:lnSpc>
                <a:spcPct val="110000"/>
              </a:lnSpc>
              <a:spcAft>
                <a:spcPts val="400"/>
              </a:spcAft>
              <a:buFont typeface="Wingdings" panose="05000000000000000000" pitchFamily="2" charset="2"/>
              <a:buChar char="§"/>
            </a:pPr>
            <a:r>
              <a:rPr lang="en-US" altLang="ko-KR" sz="1000" dirty="0">
                <a:solidFill>
                  <a:srgbClr val="3D3D3D"/>
                </a:solidFill>
              </a:rPr>
              <a:t>Built bispecific siRNA platform - team includes 7 PhD-level scientists</a:t>
            </a:r>
          </a:p>
          <a:p>
            <a:pPr>
              <a:lnSpc>
                <a:spcPct val="110000"/>
              </a:lnSpc>
              <a:spcBef>
                <a:spcPts val="600"/>
              </a:spcBef>
              <a:spcAft>
                <a:spcPts val="400"/>
              </a:spcAft>
            </a:pPr>
            <a:r>
              <a:rPr lang="en-US" altLang="ko-KR" sz="1200" b="1" dirty="0">
                <a:solidFill>
                  <a:srgbClr val="539DFF"/>
                </a:solidFill>
              </a:rPr>
              <a:t>Wan-Suk Chung - Future Medicine CEO</a:t>
            </a:r>
          </a:p>
          <a:p>
            <a:pPr marL="171450" indent="-171450">
              <a:lnSpc>
                <a:spcPct val="110000"/>
              </a:lnSpc>
              <a:spcAft>
                <a:spcPts val="400"/>
              </a:spcAft>
              <a:buFont typeface="Wingdings" panose="05000000000000000000" pitchFamily="2" charset="2"/>
              <a:buChar char="§"/>
            </a:pPr>
            <a:r>
              <a:rPr lang="en-US" altLang="ko-KR" sz="1000" dirty="0">
                <a:solidFill>
                  <a:srgbClr val="3D3D3D"/>
                </a:solidFill>
              </a:rPr>
              <a:t>Strategic planning &amp; business development specialist from Tsinghua University and MIT Sloan</a:t>
            </a:r>
          </a:p>
          <a:p>
            <a:pPr marL="171450" indent="-171450">
              <a:lnSpc>
                <a:spcPct val="110000"/>
              </a:lnSpc>
              <a:spcAft>
                <a:spcPts val="400"/>
              </a:spcAft>
              <a:buFont typeface="Wingdings" panose="05000000000000000000" pitchFamily="2" charset="2"/>
              <a:buChar char="§"/>
            </a:pPr>
            <a:r>
              <a:rPr lang="en-US" altLang="ko-KR" sz="1000" dirty="0">
                <a:solidFill>
                  <a:srgbClr val="3D3D3D"/>
                </a:solidFill>
              </a:rPr>
              <a:t>Leads commercialization strategy and global partnerships</a:t>
            </a:r>
          </a:p>
        </p:txBody>
      </p:sp>
    </p:spTree>
    <p:extLst>
      <p:ext uri="{BB962C8B-B14F-4D97-AF65-F5344CB8AC3E}">
        <p14:creationId xmlns:p14="http://schemas.microsoft.com/office/powerpoint/2010/main" val="155011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351C5-C444-CEB2-C2A5-8484807CA692}"/>
            </a:ext>
          </a:extLst>
        </p:cNvPr>
        <p:cNvGrpSpPr/>
        <p:nvPr/>
      </p:nvGrpSpPr>
      <p:grpSpPr>
        <a:xfrm>
          <a:off x="0" y="0"/>
          <a:ext cx="0" cy="0"/>
          <a:chOff x="0" y="0"/>
          <a:chExt cx="0" cy="0"/>
        </a:xfrm>
      </p:grpSpPr>
      <p:pic>
        <p:nvPicPr>
          <p:cNvPr id="9" name="그림 8" descr="현미경, 과학 기기, 광학 기기, 실내이(가) 표시된 사진&#10;&#10;AI 생성 콘텐츠는 정확하지 않을 수 있습니다.">
            <a:extLst>
              <a:ext uri="{FF2B5EF4-FFF2-40B4-BE49-F238E27FC236}">
                <a16:creationId xmlns:a16="http://schemas.microsoft.com/office/drawing/2014/main" id="{29AA02A2-28EA-A5D3-BD11-6EFA46BBA6A6}"/>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5" name="TextBox 4">
            <a:extLst>
              <a:ext uri="{FF2B5EF4-FFF2-40B4-BE49-F238E27FC236}">
                <a16:creationId xmlns:a16="http://schemas.microsoft.com/office/drawing/2014/main" id="{74968F60-C508-44DA-5A7A-88D19AB58574}"/>
              </a:ext>
            </a:extLst>
          </p:cNvPr>
          <p:cNvSpPr txBox="1"/>
          <p:nvPr/>
        </p:nvSpPr>
        <p:spPr>
          <a:xfrm>
            <a:off x="452438" y="1140037"/>
            <a:ext cx="3247684" cy="380938"/>
          </a:xfrm>
          <a:prstGeom prst="rect">
            <a:avLst/>
          </a:prstGeom>
          <a:noFill/>
        </p:spPr>
        <p:txBody>
          <a:bodyPr wrap="none" lIns="0" tIns="0" rIns="0" bIns="0" rtlCol="0">
            <a:spAutoFit/>
          </a:bodyPr>
          <a:lstStyle/>
          <a:p>
            <a:pPr algn="l">
              <a:lnSpc>
                <a:spcPct val="110000"/>
              </a:lnSpc>
            </a:pPr>
            <a:r>
              <a:rPr lang="en-US" altLang="ko-KR" sz="2400" dirty="0">
                <a:solidFill>
                  <a:schemeClr val="bg1"/>
                </a:solidFill>
                <a:latin typeface="+mj-lt"/>
                <a:ea typeface="+mj-ea"/>
              </a:rPr>
              <a:t>TABLE OF CONTENTS</a:t>
            </a:r>
            <a:endParaRPr lang="ko-KR" altLang="en-US" sz="2400" dirty="0">
              <a:solidFill>
                <a:schemeClr val="bg1"/>
              </a:solidFill>
              <a:latin typeface="+mj-lt"/>
              <a:ea typeface="+mj-ea"/>
            </a:endParaRPr>
          </a:p>
        </p:txBody>
      </p:sp>
      <p:sp>
        <p:nvSpPr>
          <p:cNvPr id="15" name="텍스트 개체 틀 3">
            <a:extLst>
              <a:ext uri="{FF2B5EF4-FFF2-40B4-BE49-F238E27FC236}">
                <a16:creationId xmlns:a16="http://schemas.microsoft.com/office/drawing/2014/main" id="{00D50EAE-3DC0-D665-0F7D-34685D376FE6}"/>
              </a:ext>
            </a:extLst>
          </p:cNvPr>
          <p:cNvSpPr txBox="1">
            <a:spLocks/>
          </p:cNvSpPr>
          <p:nvPr/>
        </p:nvSpPr>
        <p:spPr>
          <a:xfrm>
            <a:off x="452999" y="6174329"/>
            <a:ext cx="4499999" cy="134396"/>
          </a:xfrm>
          <a:prstGeom prst="rect">
            <a:avLst/>
          </a:prstGeom>
        </p:spPr>
        <p:txBody>
          <a:bodyPr wrap="square" lIns="0" tIns="0" rIns="0" bIns="0" anchor="b">
            <a:spAutoFit/>
          </a:bodyPr>
          <a:lstStyle>
            <a:lvl1pPr indent="0" defTabSz="914400" latinLnBrk="1">
              <a:lnSpc>
                <a:spcPts val="1100"/>
              </a:lnSpc>
              <a:spcBef>
                <a:spcPts val="0"/>
              </a:spcBef>
              <a:buFont typeface="Arial" panose="020B0604020202020204" pitchFamily="34" charset="0"/>
              <a:buNone/>
              <a:defRPr sz="1100" baseline="0">
                <a:solidFill>
                  <a:schemeClr val="bg1"/>
                </a:solidFill>
                <a:latin typeface="Outfit" pitchFamily="2" charset="0"/>
              </a:defRPr>
            </a:lvl1pPr>
            <a:lvl2pPr marL="685800" indent="-228600" defTabSz="914400" latinLnBrk="1">
              <a:lnSpc>
                <a:spcPct val="90000"/>
              </a:lnSpc>
              <a:spcBef>
                <a:spcPts val="500"/>
              </a:spcBef>
              <a:buFont typeface="Arial" panose="020B0604020202020204" pitchFamily="34" charset="0"/>
              <a:buChar char="•"/>
              <a:defRPr sz="2400"/>
            </a:lvl2pPr>
            <a:lvl3pPr marL="1143000" indent="-228600" defTabSz="914400" latinLnBrk="1">
              <a:lnSpc>
                <a:spcPct val="90000"/>
              </a:lnSpc>
              <a:spcBef>
                <a:spcPts val="500"/>
              </a:spcBef>
              <a:buFont typeface="Arial" panose="020B0604020202020204" pitchFamily="34" charset="0"/>
              <a:buChar char="•"/>
              <a:defRPr sz="2000"/>
            </a:lvl3pPr>
            <a:lvl4pPr marL="1600200" indent="-228600" defTabSz="914400" latinLnBrk="1">
              <a:lnSpc>
                <a:spcPct val="90000"/>
              </a:lnSpc>
              <a:spcBef>
                <a:spcPts val="500"/>
              </a:spcBef>
              <a:buFont typeface="Arial" panose="020B0604020202020204" pitchFamily="34" charset="0"/>
              <a:buChar char="•"/>
            </a:lvl4pPr>
            <a:lvl5pPr marL="2057400" indent="-228600" defTabSz="914400" latinLnBrk="1">
              <a:lnSpc>
                <a:spcPct val="90000"/>
              </a:lnSpc>
              <a:spcBef>
                <a:spcPts val="500"/>
              </a:spcBef>
              <a:buFont typeface="Arial" panose="020B0604020202020204" pitchFamily="34" charset="0"/>
              <a:buChar char="•"/>
            </a:lvl5pPr>
            <a:lvl6pPr marL="2514600" indent="-228600" defTabSz="914400" latinLnBrk="1">
              <a:lnSpc>
                <a:spcPct val="90000"/>
              </a:lnSpc>
              <a:spcBef>
                <a:spcPts val="500"/>
              </a:spcBef>
              <a:buFont typeface="Arial" panose="020B0604020202020204" pitchFamily="34" charset="0"/>
              <a:buChar char="•"/>
            </a:lvl6pPr>
            <a:lvl7pPr marL="2971800" indent="-228600" defTabSz="914400" latinLnBrk="1">
              <a:lnSpc>
                <a:spcPct val="90000"/>
              </a:lnSpc>
              <a:spcBef>
                <a:spcPts val="500"/>
              </a:spcBef>
              <a:buFont typeface="Arial" panose="020B0604020202020204" pitchFamily="34" charset="0"/>
              <a:buChar char="•"/>
            </a:lvl7pPr>
            <a:lvl8pPr marL="3429000" indent="-228600" defTabSz="914400" latinLnBrk="1">
              <a:lnSpc>
                <a:spcPct val="90000"/>
              </a:lnSpc>
              <a:spcBef>
                <a:spcPts val="500"/>
              </a:spcBef>
              <a:buFont typeface="Arial" panose="020B0604020202020204" pitchFamily="34" charset="0"/>
              <a:buChar char="•"/>
            </a:lvl8pPr>
            <a:lvl9pPr marL="3886200" indent="-228600" defTabSz="914400" latinLnBrk="1">
              <a:lnSpc>
                <a:spcPct val="90000"/>
              </a:lnSpc>
              <a:spcBef>
                <a:spcPts val="500"/>
              </a:spcBef>
              <a:buFont typeface="Arial" panose="020B0604020202020204" pitchFamily="34" charset="0"/>
              <a:buChar char="•"/>
            </a:lvl9pPr>
          </a:lstStyle>
          <a:p>
            <a:r>
              <a:rPr lang="en-US" altLang="ko-KR" sz="800" dirty="0"/>
              <a:t>Strictly Private &amp; Confidential</a:t>
            </a:r>
            <a:endParaRPr lang="ko-KR" altLang="en-US" sz="800" dirty="0"/>
          </a:p>
        </p:txBody>
      </p:sp>
      <p:graphicFrame>
        <p:nvGraphicFramePr>
          <p:cNvPr id="6" name="표 5">
            <a:extLst>
              <a:ext uri="{FF2B5EF4-FFF2-40B4-BE49-F238E27FC236}">
                <a16:creationId xmlns:a16="http://schemas.microsoft.com/office/drawing/2014/main" id="{560D0DB6-36CE-A6B3-2E83-8974D510D034}"/>
              </a:ext>
            </a:extLst>
          </p:cNvPr>
          <p:cNvGraphicFramePr>
            <a:graphicFrameLocks noGrp="1"/>
          </p:cNvGraphicFramePr>
          <p:nvPr>
            <p:extLst>
              <p:ext uri="{D42A27DB-BD31-4B8C-83A1-F6EECF244321}">
                <p14:modId xmlns:p14="http://schemas.microsoft.com/office/powerpoint/2010/main" val="128158979"/>
              </p:ext>
            </p:extLst>
          </p:nvPr>
        </p:nvGraphicFramePr>
        <p:xfrm>
          <a:off x="344438" y="1880975"/>
          <a:ext cx="3528000" cy="302400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1150886525"/>
                    </a:ext>
                  </a:extLst>
                </a:gridCol>
                <a:gridCol w="2988000">
                  <a:extLst>
                    <a:ext uri="{9D8B030D-6E8A-4147-A177-3AD203B41FA5}">
                      <a16:colId xmlns:a16="http://schemas.microsoft.com/office/drawing/2014/main" val="4148028095"/>
                    </a:ext>
                  </a:extLst>
                </a:gridCol>
              </a:tblGrid>
              <a:tr h="432000">
                <a:tc>
                  <a:txBody>
                    <a:bodyPr/>
                    <a:lstStyle/>
                    <a:p>
                      <a:pPr marL="0" algn="l" defTabSz="914400" rtl="0" eaLnBrk="1" latinLnBrk="1" hangingPunct="1"/>
                      <a:r>
                        <a:rPr lang="en-US" altLang="ko-KR" sz="1600" b="0" kern="1200" cap="none" baseline="0" dirty="0">
                          <a:solidFill>
                            <a:schemeClr val="bg1"/>
                          </a:solidFill>
                          <a:latin typeface="+mj-lt"/>
                          <a:ea typeface="+mj-ea"/>
                          <a:cs typeface="+mn-cs"/>
                        </a:rPr>
                        <a:t>01</a:t>
                      </a:r>
                      <a:endParaRPr lang="ko-KR" altLang="en-US" sz="1600" b="0" kern="1200" cap="none" baseline="0" dirty="0">
                        <a:solidFill>
                          <a:schemeClr val="bg1"/>
                        </a:solidFill>
                        <a:latin typeface="+mj-lt"/>
                        <a:ea typeface="+mj-ea"/>
                        <a:cs typeface="+mn-cs"/>
                      </a:endParaRPr>
                    </a:p>
                  </a:txBody>
                  <a:tcPr marL="10800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1" hangingPunct="1"/>
                      <a:r>
                        <a:rPr lang="en-US" altLang="ko-KR" sz="1600" b="0" kern="1200" cap="none" spc="-30" baseline="0" dirty="0">
                          <a:solidFill>
                            <a:schemeClr val="bg1"/>
                          </a:solidFill>
                          <a:latin typeface="+mj-lt"/>
                          <a:ea typeface="+mj-ea"/>
                          <a:cs typeface="+mn-cs"/>
                        </a:rPr>
                        <a:t>Executive Summary</a:t>
                      </a:r>
                      <a:endParaRPr lang="ko-KR" altLang="en-US" sz="1600" b="0" kern="1200" cap="none" spc="-30" baseline="0" dirty="0">
                        <a:solidFill>
                          <a:schemeClr val="bg1"/>
                        </a:solidFill>
                        <a:latin typeface="+mj-lt"/>
                        <a:ea typeface="+mj-ea"/>
                        <a:cs typeface="+mn-cs"/>
                      </a:endParaRPr>
                    </a:p>
                  </a:txBody>
                  <a:tcPr marL="0" marR="0" marT="0" marB="0" anchor="ctr">
                    <a:lnL w="12700" cmpd="sng">
                      <a:noFill/>
                    </a:lnL>
                    <a:lnR w="12700" cmpd="sng">
                      <a:noFill/>
                    </a:lnR>
                    <a:lnT w="12700" cmpd="sng">
                      <a:noFill/>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49133"/>
                  </a:ext>
                </a:extLst>
              </a:tr>
              <a:tr h="432000">
                <a:tc>
                  <a:txBody>
                    <a:bodyPr/>
                    <a:lstStyle/>
                    <a:p>
                      <a:pPr latinLnBrk="1"/>
                      <a:r>
                        <a:rPr lang="en-US" altLang="ko-KR" sz="1600" b="0" baseline="0" dirty="0">
                          <a:solidFill>
                            <a:schemeClr val="bg1"/>
                          </a:solidFill>
                          <a:latin typeface="+mj-lt"/>
                          <a:ea typeface="+mj-ea"/>
                        </a:rPr>
                        <a:t>02</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Investment Highlights</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606132"/>
                  </a:ext>
                </a:extLst>
              </a:tr>
              <a:tr h="432000">
                <a:tc>
                  <a:txBody>
                    <a:bodyPr/>
                    <a:lstStyle/>
                    <a:p>
                      <a:pPr latinLnBrk="1"/>
                      <a:r>
                        <a:rPr lang="en-US" altLang="ko-KR" sz="1600" b="0" baseline="0" dirty="0">
                          <a:solidFill>
                            <a:schemeClr val="bg1"/>
                          </a:solidFill>
                          <a:latin typeface="+mj-lt"/>
                          <a:ea typeface="+mj-ea"/>
                        </a:rPr>
                        <a:t>03</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Market Landscape &amp; Outlook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1492459"/>
                  </a:ext>
                </a:extLst>
              </a:tr>
              <a:tr h="432000">
                <a:tc>
                  <a:txBody>
                    <a:bodyPr/>
                    <a:lstStyle/>
                    <a:p>
                      <a:pPr latinLnBrk="1"/>
                      <a:r>
                        <a:rPr lang="en-US" altLang="ko-KR" sz="1600" b="0" baseline="0" dirty="0">
                          <a:solidFill>
                            <a:schemeClr val="bg1"/>
                          </a:solidFill>
                          <a:latin typeface="+mj-lt"/>
                          <a:ea typeface="+mj-ea"/>
                        </a:rPr>
                        <a:t>04</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Pipeline &amp; Technology</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0736481"/>
                  </a:ext>
                </a:extLst>
              </a:tr>
              <a:tr h="432000">
                <a:tc>
                  <a:txBody>
                    <a:bodyPr/>
                    <a:lstStyle/>
                    <a:p>
                      <a:pPr latinLnBrk="1"/>
                      <a:r>
                        <a:rPr lang="en-US" altLang="ko-KR" sz="1600" b="0" baseline="0" dirty="0">
                          <a:solidFill>
                            <a:schemeClr val="bg1"/>
                          </a:solidFill>
                          <a:latin typeface="+mj-lt"/>
                          <a:ea typeface="+mj-ea"/>
                        </a:rPr>
                        <a:t>05</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Valuation &amp; Benchmark</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775710"/>
                  </a:ext>
                </a:extLst>
              </a:tr>
              <a:tr h="432000">
                <a:tc>
                  <a:txBody>
                    <a:bodyPr/>
                    <a:lstStyle/>
                    <a:p>
                      <a:pPr latinLnBrk="1"/>
                      <a:r>
                        <a:rPr lang="en-US" altLang="ko-KR" sz="1600" b="0" baseline="0" dirty="0">
                          <a:solidFill>
                            <a:schemeClr val="bg1"/>
                          </a:solidFill>
                          <a:latin typeface="+mj-lt"/>
                          <a:ea typeface="+mj-ea"/>
                        </a:rPr>
                        <a:t>06</a:t>
                      </a:r>
                      <a:endParaRPr lang="ko-KR" altLang="en-US" sz="1600" b="0" baseline="0" dirty="0">
                        <a:solidFill>
                          <a:schemeClr val="bg1"/>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atinLnBrk="1"/>
                      <a:r>
                        <a:rPr lang="en-US" altLang="ko-KR" sz="1600" b="0" cap="none" spc="-30" baseline="0" dirty="0">
                          <a:solidFill>
                            <a:schemeClr val="bg1"/>
                          </a:solidFill>
                          <a:latin typeface="+mj-lt"/>
                          <a:ea typeface="+mj-ea"/>
                        </a:rPr>
                        <a:t>Exit Pathway &amp; Execution</a:t>
                      </a:r>
                      <a:endParaRPr lang="ko-KR" altLang="en-US" sz="1600" b="0" cap="none" spc="-30" baseline="0" dirty="0">
                        <a:solidFill>
                          <a:schemeClr val="bg1"/>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362669"/>
                  </a:ext>
                </a:extLst>
              </a:tr>
              <a:tr h="432000">
                <a:tc>
                  <a:txBody>
                    <a:bodyPr/>
                    <a:lstStyle/>
                    <a:p>
                      <a:pPr latinLnBrk="1"/>
                      <a:r>
                        <a:rPr lang="en-US" altLang="ko-KR" sz="1600" b="0" baseline="0" dirty="0">
                          <a:solidFill>
                            <a:srgbClr val="11244A"/>
                          </a:solidFill>
                          <a:latin typeface="+mj-lt"/>
                          <a:ea typeface="+mj-ea"/>
                        </a:rPr>
                        <a:t>07</a:t>
                      </a:r>
                      <a:endParaRPr lang="ko-KR" altLang="en-US" sz="1600" b="0" baseline="0" dirty="0">
                        <a:solidFill>
                          <a:srgbClr val="11244A"/>
                        </a:solidFill>
                        <a:latin typeface="+mj-lt"/>
                        <a:ea typeface="+mj-ea"/>
                      </a:endParaRPr>
                    </a:p>
                  </a:txBody>
                  <a:tcPr marL="10800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atinLnBrk="1"/>
                      <a:r>
                        <a:rPr lang="en-US" altLang="ko-KR" sz="1600" b="0" cap="all" spc="-30" baseline="0" dirty="0">
                          <a:solidFill>
                            <a:srgbClr val="11244A"/>
                          </a:solidFill>
                          <a:latin typeface="+mj-lt"/>
                          <a:ea typeface="+mj-ea"/>
                        </a:rPr>
                        <a:t>Key Investment Terms</a:t>
                      </a:r>
                      <a:endParaRPr lang="ko-KR" altLang="en-US" sz="1600" b="0" cap="all" spc="-30" baseline="0" dirty="0">
                        <a:solidFill>
                          <a:srgbClr val="11244A"/>
                        </a:solidFill>
                        <a:latin typeface="+mj-lt"/>
                        <a:ea typeface="+mj-ea"/>
                      </a:endParaRPr>
                    </a:p>
                  </a:txBody>
                  <a:tcPr marL="0" marR="0" marT="0" marB="0" anchor="ctr">
                    <a:lnL w="12700" cmpd="sng">
                      <a:noFill/>
                    </a:lnL>
                    <a:lnR w="12700" cmpd="sng">
                      <a:noFill/>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82710964"/>
                  </a:ext>
                </a:extLst>
              </a:tr>
            </a:tbl>
          </a:graphicData>
        </a:graphic>
      </p:graphicFrame>
      <p:pic>
        <p:nvPicPr>
          <p:cNvPr id="2" name="그래픽 1">
            <a:extLst>
              <a:ext uri="{FF2B5EF4-FFF2-40B4-BE49-F238E27FC236}">
                <a16:creationId xmlns:a16="http://schemas.microsoft.com/office/drawing/2014/main" id="{EFA44BB8-4CC8-F82B-A668-D329865592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2999" y="549275"/>
            <a:ext cx="1353293" cy="180000"/>
          </a:xfrm>
          <a:prstGeom prst="rect">
            <a:avLst/>
          </a:prstGeom>
        </p:spPr>
      </p:pic>
    </p:spTree>
    <p:extLst>
      <p:ext uri="{BB962C8B-B14F-4D97-AF65-F5344CB8AC3E}">
        <p14:creationId xmlns:p14="http://schemas.microsoft.com/office/powerpoint/2010/main" val="18015333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C984F-C1C9-121B-6B4E-6489552CDFFA}"/>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3E3162A-B31E-3EC6-6EA7-B76C6F864D71}"/>
              </a:ext>
            </a:extLst>
          </p:cNvPr>
          <p:cNvSpPr>
            <a:spLocks noGrp="1"/>
          </p:cNvSpPr>
          <p:nvPr>
            <p:ph type="body" sz="quarter" idx="11"/>
          </p:nvPr>
        </p:nvSpPr>
        <p:spPr/>
        <p:txBody>
          <a:bodyPr/>
          <a:lstStyle/>
          <a:p>
            <a:r>
              <a:rPr lang="en-US" altLang="ko-KR" dirty="0"/>
              <a:t>Preliminary Term Sheet</a:t>
            </a:r>
            <a:endParaRPr lang="ko-KR" altLang="en-US" dirty="0"/>
          </a:p>
        </p:txBody>
      </p:sp>
      <p:sp>
        <p:nvSpPr>
          <p:cNvPr id="3" name="텍스트 개체 틀 2">
            <a:extLst>
              <a:ext uri="{FF2B5EF4-FFF2-40B4-BE49-F238E27FC236}">
                <a16:creationId xmlns:a16="http://schemas.microsoft.com/office/drawing/2014/main" id="{B163237C-5903-19FB-FE42-B19E79A52698}"/>
              </a:ext>
            </a:extLst>
          </p:cNvPr>
          <p:cNvSpPr>
            <a:spLocks noGrp="1"/>
          </p:cNvSpPr>
          <p:nvPr>
            <p:ph type="body" sz="quarter" idx="12"/>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6484A50-5BA8-8BB2-7DAB-B7F04542CC29}"/>
              </a:ext>
            </a:extLst>
          </p:cNvPr>
          <p:cNvSpPr>
            <a:spLocks noGrp="1"/>
          </p:cNvSpPr>
          <p:nvPr>
            <p:ph type="sldNum" sz="quarter" idx="13"/>
          </p:nvPr>
        </p:nvSpPr>
        <p:spPr/>
        <p:txBody>
          <a:bodyPr/>
          <a:lstStyle/>
          <a:p>
            <a:fld id="{C053318C-A610-4AA5-9FF7-26630BAA1E31}" type="slidenum">
              <a:rPr lang="en-US" altLang="ko-KR" smtClean="0"/>
              <a:pPr/>
              <a:t>34</a:t>
            </a:fld>
            <a:endParaRPr lang="en-US" dirty="0"/>
          </a:p>
        </p:txBody>
      </p:sp>
      <p:graphicFrame>
        <p:nvGraphicFramePr>
          <p:cNvPr id="15" name="표 14">
            <a:extLst>
              <a:ext uri="{FF2B5EF4-FFF2-40B4-BE49-F238E27FC236}">
                <a16:creationId xmlns:a16="http://schemas.microsoft.com/office/drawing/2014/main" id="{47C4B975-F206-0143-1436-F4ABC4365652}"/>
              </a:ext>
            </a:extLst>
          </p:cNvPr>
          <p:cNvGraphicFramePr>
            <a:graphicFrameLocks noGrp="1"/>
          </p:cNvGraphicFramePr>
          <p:nvPr>
            <p:extLst>
              <p:ext uri="{D42A27DB-BD31-4B8C-83A1-F6EECF244321}">
                <p14:modId xmlns:p14="http://schemas.microsoft.com/office/powerpoint/2010/main" val="2402015671"/>
              </p:ext>
            </p:extLst>
          </p:nvPr>
        </p:nvGraphicFramePr>
        <p:xfrm>
          <a:off x="453000" y="1196975"/>
          <a:ext cx="9000000" cy="4566036"/>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905467451"/>
                    </a:ext>
                  </a:extLst>
                </a:gridCol>
                <a:gridCol w="7200000">
                  <a:extLst>
                    <a:ext uri="{9D8B030D-6E8A-4147-A177-3AD203B41FA5}">
                      <a16:colId xmlns:a16="http://schemas.microsoft.com/office/drawing/2014/main" val="2648872957"/>
                    </a:ext>
                  </a:extLst>
                </a:gridCol>
              </a:tblGrid>
              <a:tr h="288000">
                <a:tc>
                  <a:txBody>
                    <a:bodyPr/>
                    <a:lstStyle/>
                    <a:p>
                      <a:pPr latinLnBrk="1">
                        <a:lnSpc>
                          <a:spcPct val="110000"/>
                        </a:lnSpc>
                        <a:spcAft>
                          <a:spcPts val="300"/>
                        </a:spcAft>
                      </a:pPr>
                      <a:r>
                        <a:rPr lang="en-US" altLang="ko-KR" sz="1000" b="1" dirty="0">
                          <a:solidFill>
                            <a:schemeClr val="bg1"/>
                          </a:solidFill>
                        </a:rPr>
                        <a:t>Issuer</a:t>
                      </a:r>
                      <a:endParaRPr lang="ko-KR" altLang="en-US" sz="1000" b="1" dirty="0">
                        <a:solidFill>
                          <a:schemeClr val="bg1"/>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0" dirty="0">
                          <a:solidFill>
                            <a:srgbClr val="3D3D3D"/>
                          </a:solidFill>
                        </a:rPr>
                        <a:t>NK Therapeutics Corp. (USA entity) (the “Company”)</a:t>
                      </a:r>
                      <a:endParaRPr lang="ko-KR" altLang="en-US" sz="1000" b="0" dirty="0">
                        <a:solidFill>
                          <a:srgbClr val="3D3D3D"/>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3019101"/>
                  </a:ext>
                </a:extLst>
              </a:tr>
              <a:tr h="288000">
                <a:tc>
                  <a:txBody>
                    <a:bodyPr/>
                    <a:lstStyle/>
                    <a:p>
                      <a:pPr latinLnBrk="1">
                        <a:lnSpc>
                          <a:spcPct val="110000"/>
                        </a:lnSpc>
                        <a:spcAft>
                          <a:spcPts val="300"/>
                        </a:spcAft>
                      </a:pPr>
                      <a:r>
                        <a:rPr lang="en-US" altLang="ko-KR" sz="1000" b="1" dirty="0">
                          <a:solidFill>
                            <a:schemeClr val="bg1"/>
                          </a:solidFill>
                        </a:rPr>
                        <a:t>Securities issued</a:t>
                      </a:r>
                      <a:endParaRPr lang="ko-KR" altLang="en-US" sz="1000" b="1" dirty="0">
                        <a:solidFill>
                          <a:schemeClr val="bg1"/>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0" dirty="0">
                          <a:solidFill>
                            <a:srgbClr val="3D3D3D"/>
                          </a:solidFill>
                        </a:rPr>
                        <a:t>Redeemable Convertible Preferred Stock (“RCPS”)</a:t>
                      </a:r>
                      <a:endParaRPr lang="ko-KR" altLang="en-US" sz="1000" b="0" dirty="0">
                        <a:solidFill>
                          <a:srgbClr val="3D3D3D"/>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4605038"/>
                  </a:ext>
                </a:extLst>
              </a:tr>
              <a:tr h="288000">
                <a:tc>
                  <a:txBody>
                    <a:bodyPr/>
                    <a:lstStyle/>
                    <a:p>
                      <a:pPr latinLnBrk="1">
                        <a:lnSpc>
                          <a:spcPct val="110000"/>
                        </a:lnSpc>
                        <a:spcAft>
                          <a:spcPts val="300"/>
                        </a:spcAft>
                      </a:pPr>
                      <a:r>
                        <a:rPr lang="en-US" altLang="ko-KR" sz="1000" b="1" dirty="0">
                          <a:solidFill>
                            <a:schemeClr val="bg1"/>
                          </a:solidFill>
                        </a:rPr>
                        <a:t>Total funds raised</a:t>
                      </a:r>
                      <a:endParaRPr lang="ko-KR" altLang="en-US" sz="1000" b="1" dirty="0">
                        <a:solidFill>
                          <a:schemeClr val="bg1"/>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0" dirty="0">
                          <a:solidFill>
                            <a:srgbClr val="3D3D3D"/>
                          </a:solidFill>
                        </a:rPr>
                        <a:t>$20 million</a:t>
                      </a:r>
                      <a:endParaRPr lang="ko-KR" altLang="en-US" sz="1000" b="0" dirty="0">
                        <a:solidFill>
                          <a:srgbClr val="3D3D3D"/>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0360265"/>
                  </a:ext>
                </a:extLst>
              </a:tr>
              <a:tr h="288000">
                <a:tc>
                  <a:txBody>
                    <a:bodyPr/>
                    <a:lstStyle/>
                    <a:p>
                      <a:pPr latinLnBrk="1">
                        <a:lnSpc>
                          <a:spcPct val="110000"/>
                        </a:lnSpc>
                        <a:spcAft>
                          <a:spcPts val="300"/>
                        </a:spcAft>
                      </a:pPr>
                      <a:r>
                        <a:rPr lang="en-US" altLang="ko-KR" sz="1000" b="1" dirty="0">
                          <a:solidFill>
                            <a:schemeClr val="bg1"/>
                          </a:solidFill>
                        </a:rPr>
                        <a:t>Pre-money valuation</a:t>
                      </a:r>
                      <a:endParaRPr lang="ko-KR" altLang="en-US" sz="1000" b="1" dirty="0">
                        <a:solidFill>
                          <a:schemeClr val="bg1"/>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0" dirty="0">
                          <a:solidFill>
                            <a:srgbClr val="3D3D3D"/>
                          </a:solidFill>
                        </a:rPr>
                        <a:t>$40 million</a:t>
                      </a:r>
                      <a:endParaRPr lang="ko-KR" altLang="en-US" sz="1000" b="0" dirty="0">
                        <a:solidFill>
                          <a:srgbClr val="3D3D3D"/>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0411150"/>
                  </a:ext>
                </a:extLst>
              </a:tr>
              <a:tr h="288000">
                <a:tc>
                  <a:txBody>
                    <a:bodyPr/>
                    <a:lstStyle/>
                    <a:p>
                      <a:pPr latinLnBrk="1">
                        <a:lnSpc>
                          <a:spcPct val="110000"/>
                        </a:lnSpc>
                        <a:spcAft>
                          <a:spcPts val="300"/>
                        </a:spcAft>
                      </a:pPr>
                      <a:r>
                        <a:rPr lang="en-US" altLang="ko-KR" sz="1000" b="1" dirty="0">
                          <a:solidFill>
                            <a:schemeClr val="bg1"/>
                          </a:solidFill>
                        </a:rPr>
                        <a:t>Key terms</a:t>
                      </a:r>
                      <a:endParaRPr lang="ko-KR" altLang="en-US" sz="1000" b="1" dirty="0">
                        <a:solidFill>
                          <a:schemeClr val="bg1"/>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Redemption - Investors may request redemption at a price equal to the investment amount plus a compound annual interest rate (YTM) of [12]%</a:t>
                      </a:r>
                    </a:p>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Conversion - Convertible into common stock at a 1:1 ratio. Automatic conversion into common stock upon NASDAQ listing.</a:t>
                      </a:r>
                      <a:endParaRPr lang="ko-KR" altLang="en-US" sz="1000" b="0" dirty="0">
                        <a:solidFill>
                          <a:srgbClr val="3D3D3D"/>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3785536"/>
                  </a:ext>
                </a:extLst>
              </a:tr>
              <a:tr h="288000">
                <a:tc>
                  <a:txBody>
                    <a:bodyPr/>
                    <a:lstStyle/>
                    <a:p>
                      <a:pPr latinLnBrk="1">
                        <a:lnSpc>
                          <a:spcPct val="110000"/>
                        </a:lnSpc>
                        <a:spcAft>
                          <a:spcPts val="300"/>
                        </a:spcAft>
                      </a:pPr>
                      <a:r>
                        <a:rPr lang="en-US" altLang="ko-KR" sz="1000" b="1" dirty="0">
                          <a:solidFill>
                            <a:schemeClr val="bg1"/>
                          </a:solidFill>
                        </a:rPr>
                        <a:t>Investor protection provisions</a:t>
                      </a:r>
                      <a:endParaRPr lang="ko-KR" altLang="en-US" sz="1000" b="1" dirty="0">
                        <a:solidFill>
                          <a:schemeClr val="bg1"/>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chemeClr val="bg1"/>
                      </a:solidFill>
                      <a:prstDash val="dash"/>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IPO obligation (or listing obligation) - The Company must complete its listing on NASDAQ within 2 years from the date of issuance, with the listing value equivalent to the investment value plus a compound annual interest rate (YTM) of [15]%. If the listing attempt fails, the primary exit strategy for investment recovery is through M&amp;A.</a:t>
                      </a:r>
                    </a:p>
                    <a:p>
                      <a:pPr marL="171450" indent="-171450" latinLnBrk="1">
                        <a:lnSpc>
                          <a:spcPct val="110000"/>
                        </a:lnSpc>
                        <a:spcAft>
                          <a:spcPts val="300"/>
                        </a:spcAft>
                        <a:buFont typeface="Wingdings" panose="05000000000000000000" pitchFamily="2" charset="2"/>
                        <a:buChar char="§"/>
                      </a:pPr>
                      <a:r>
                        <a:rPr lang="en-US" altLang="ko-KR" sz="1000" b="0" dirty="0">
                          <a:solidFill>
                            <a:srgbClr val="3D3D3D"/>
                          </a:solidFill>
                        </a:rPr>
                        <a:t>Rights upon listing failure</a:t>
                      </a:r>
                    </a:p>
                    <a:p>
                      <a:pPr marL="360363" indent="-171450" latinLnBrk="1">
                        <a:lnSpc>
                          <a:spcPct val="110000"/>
                        </a:lnSpc>
                        <a:spcAft>
                          <a:spcPts val="300"/>
                        </a:spcAft>
                        <a:buFont typeface="Pretendard" panose="02000503000000020004" pitchFamily="50" charset="-127"/>
                        <a:buChar char="‣"/>
                      </a:pPr>
                      <a:r>
                        <a:rPr lang="en-US" altLang="ko-KR" sz="1000" b="0" dirty="0">
                          <a:solidFill>
                            <a:srgbClr val="3D3D3D"/>
                          </a:solidFill>
                        </a:rPr>
                        <a:t>Drag-along right - Should the Company fail to list within the aforementioned period, the Investor shall have the right to compel all shareholders of the Company, including the founders, to sell their shares to a third party under the same terms and conditions. The distribution of the sale proceeds shall prioritize guaranteeing the Investor’s principal investment and a [15]% compound annual return (YTM) first (Waterfall: investor principal + YTM first).</a:t>
                      </a:r>
                      <a:endParaRPr lang="ko-KR" altLang="en-US" sz="1000" b="0" dirty="0">
                        <a:solidFill>
                          <a:srgbClr val="3D3D3D"/>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0716603"/>
                  </a:ext>
                </a:extLst>
              </a:tr>
              <a:tr h="288000">
                <a:tc>
                  <a:txBody>
                    <a:bodyPr/>
                    <a:lstStyle/>
                    <a:p>
                      <a:pPr latinLnBrk="1">
                        <a:lnSpc>
                          <a:spcPct val="110000"/>
                        </a:lnSpc>
                        <a:spcAft>
                          <a:spcPts val="300"/>
                        </a:spcAft>
                      </a:pPr>
                      <a:r>
                        <a:rPr lang="en-US" altLang="ko-KR" sz="1000" b="1" dirty="0">
                          <a:solidFill>
                            <a:schemeClr val="bg1"/>
                          </a:solidFill>
                        </a:rPr>
                        <a:t>Other terms</a:t>
                      </a:r>
                      <a:endParaRPr lang="ko-KR" altLang="en-US" sz="1000" b="1" dirty="0">
                        <a:solidFill>
                          <a:schemeClr val="bg1"/>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solidFill>
                      <a:srgbClr val="539DFF"/>
                    </a:solidFill>
                  </a:tcPr>
                </a:tc>
                <a:tc>
                  <a:txBody>
                    <a:bodyPr/>
                    <a:lstStyle/>
                    <a:p>
                      <a:pPr latinLnBrk="1">
                        <a:lnSpc>
                          <a:spcPct val="110000"/>
                        </a:lnSpc>
                        <a:spcAft>
                          <a:spcPts val="300"/>
                        </a:spcAft>
                      </a:pPr>
                      <a:r>
                        <a:rPr lang="en-US" altLang="ko-KR" sz="1000" b="0" dirty="0">
                          <a:solidFill>
                            <a:srgbClr val="3D3D3D"/>
                          </a:solidFill>
                        </a:rPr>
                        <a:t>Any other detailed terms not specified in this Term Sheet shall be mutually agreed upon and determined in the definitive Investment Agreement to be executed after the completion of due diligence.</a:t>
                      </a:r>
                      <a:endParaRPr lang="ko-KR" altLang="en-US" sz="1000" b="0" dirty="0">
                        <a:solidFill>
                          <a:srgbClr val="3D3D3D"/>
                        </a:solidFill>
                      </a:endParaRPr>
                    </a:p>
                  </a:txBody>
                  <a:tcPr marL="108000" marR="108000" marT="108000" marB="10800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3D3D3D"/>
                      </a:solidFill>
                      <a:prstDash val="dash"/>
                      <a:round/>
                      <a:headEnd type="none" w="med" len="med"/>
                      <a:tailEnd type="none" w="med" len="med"/>
                    </a:lnT>
                    <a:lnB w="6350" cap="flat" cmpd="sng" algn="ctr">
                      <a:solidFill>
                        <a:srgbClr val="3D3D3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4410776"/>
                  </a:ext>
                </a:extLst>
              </a:tr>
            </a:tbl>
          </a:graphicData>
        </a:graphic>
      </p:graphicFrame>
    </p:spTree>
    <p:extLst>
      <p:ext uri="{BB962C8B-B14F-4D97-AF65-F5344CB8AC3E}">
        <p14:creationId xmlns:p14="http://schemas.microsoft.com/office/powerpoint/2010/main" val="4798451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rgbClr val="11244A"/>
            </a:gs>
            <a:gs pos="50000">
              <a:srgbClr val="0D1B3D"/>
            </a:gs>
            <a:gs pos="100000">
              <a:srgbClr val="080F28"/>
            </a:gs>
          </a:gsLst>
          <a:lin ang="5400000" scaled="1"/>
        </a:gradFill>
        <a:effectLst/>
      </p:bgPr>
    </p:bg>
    <p:spTree>
      <p:nvGrpSpPr>
        <p:cNvPr id="1" name=""/>
        <p:cNvGrpSpPr/>
        <p:nvPr/>
      </p:nvGrpSpPr>
      <p:grpSpPr>
        <a:xfrm>
          <a:off x="0" y="0"/>
          <a:ext cx="0" cy="0"/>
          <a:chOff x="0" y="0"/>
          <a:chExt cx="0" cy="0"/>
        </a:xfrm>
      </p:grpSpPr>
      <p:pic>
        <p:nvPicPr>
          <p:cNvPr id="6" name="그림 5" descr="현미경, 과학 기기, 광학 기기, 실내이(가) 표시된 사진&#10;&#10;AI 생성 콘텐츠는 정확하지 않을 수 있습니다.">
            <a:extLst>
              <a:ext uri="{FF2B5EF4-FFF2-40B4-BE49-F238E27FC236}">
                <a16:creationId xmlns:a16="http://schemas.microsoft.com/office/drawing/2014/main" id="{E4557B4E-D68E-629B-C7F7-2AB56E0AE320}"/>
              </a:ext>
            </a:extLst>
          </p:cNvPr>
          <p:cNvPicPr>
            <a:picLocks noChangeAspect="1"/>
          </p:cNvPicPr>
          <p:nvPr/>
        </p:nvPicPr>
        <p:blipFill>
          <a:blip r:embed="rId2">
            <a:extLst>
              <a:ext uri="{28A0092B-C50C-407E-A947-70E740481C1C}">
                <a14:useLocalDpi xmlns:a14="http://schemas.microsoft.com/office/drawing/2010/main" val="0"/>
              </a:ext>
            </a:extLst>
          </a:blip>
          <a:srcRect r="3895"/>
          <a:stretch>
            <a:fillRect/>
          </a:stretch>
        </p:blipFill>
        <p:spPr>
          <a:xfrm>
            <a:off x="1" y="0"/>
            <a:ext cx="9906000" cy="6858000"/>
          </a:xfrm>
          <a:prstGeom prst="rect">
            <a:avLst/>
          </a:prstGeom>
        </p:spPr>
      </p:pic>
      <p:sp>
        <p:nvSpPr>
          <p:cNvPr id="2" name="직사각형 1">
            <a:extLst>
              <a:ext uri="{FF2B5EF4-FFF2-40B4-BE49-F238E27FC236}">
                <a16:creationId xmlns:a16="http://schemas.microsoft.com/office/drawing/2014/main" id="{C9DEDFA1-6C56-736B-D024-89D6777CBE9C}"/>
              </a:ext>
            </a:extLst>
          </p:cNvPr>
          <p:cNvSpPr/>
          <p:nvPr/>
        </p:nvSpPr>
        <p:spPr>
          <a:xfrm>
            <a:off x="0" y="0"/>
            <a:ext cx="9905999" cy="6858000"/>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1200" dirty="0">
              <a:solidFill>
                <a:srgbClr val="3D3D3D"/>
              </a:solidFill>
            </a:endParaRPr>
          </a:p>
        </p:txBody>
      </p:sp>
      <p:grpSp>
        <p:nvGrpSpPr>
          <p:cNvPr id="5" name="그룹 4">
            <a:extLst>
              <a:ext uri="{FF2B5EF4-FFF2-40B4-BE49-F238E27FC236}">
                <a16:creationId xmlns:a16="http://schemas.microsoft.com/office/drawing/2014/main" id="{CDF6757E-D0AF-7366-9098-94027166AF90}"/>
              </a:ext>
            </a:extLst>
          </p:cNvPr>
          <p:cNvGrpSpPr/>
          <p:nvPr/>
        </p:nvGrpSpPr>
        <p:grpSpPr>
          <a:xfrm>
            <a:off x="2183011" y="2495751"/>
            <a:ext cx="5539978" cy="1866498"/>
            <a:chOff x="2183011" y="2857626"/>
            <a:chExt cx="5539978" cy="1866498"/>
          </a:xfrm>
        </p:grpSpPr>
        <p:sp>
          <p:nvSpPr>
            <p:cNvPr id="3" name="TextBox 2">
              <a:extLst>
                <a:ext uri="{FF2B5EF4-FFF2-40B4-BE49-F238E27FC236}">
                  <a16:creationId xmlns:a16="http://schemas.microsoft.com/office/drawing/2014/main" id="{3EAB7CC7-1067-D88C-1C96-3ADF7603285B}"/>
                </a:ext>
              </a:extLst>
            </p:cNvPr>
            <p:cNvSpPr txBox="1"/>
            <p:nvPr/>
          </p:nvSpPr>
          <p:spPr>
            <a:xfrm>
              <a:off x="2183011" y="2857626"/>
              <a:ext cx="5539978" cy="1142749"/>
            </a:xfrm>
            <a:prstGeom prst="rect">
              <a:avLst/>
            </a:prstGeom>
            <a:noFill/>
          </p:spPr>
          <p:txBody>
            <a:bodyPr wrap="none" lIns="0" tIns="0" rIns="0" bIns="0" rtlCol="0">
              <a:spAutoFit/>
            </a:bodyPr>
            <a:lstStyle/>
            <a:p>
              <a:pPr algn="l">
                <a:lnSpc>
                  <a:spcPct val="110000"/>
                </a:lnSpc>
              </a:pPr>
              <a:r>
                <a:rPr lang="en-US" altLang="ko-KR" sz="7200" dirty="0">
                  <a:solidFill>
                    <a:schemeClr val="bg1"/>
                  </a:solidFill>
                  <a:latin typeface="+mj-lt"/>
                  <a:ea typeface="+mj-ea"/>
                </a:rPr>
                <a:t>THANK YOU</a:t>
              </a:r>
              <a:endParaRPr lang="ko-KR" altLang="en-US" sz="7200" dirty="0">
                <a:solidFill>
                  <a:schemeClr val="bg1"/>
                </a:solidFill>
                <a:latin typeface="+mj-lt"/>
                <a:ea typeface="+mj-ea"/>
              </a:endParaRPr>
            </a:p>
          </p:txBody>
        </p:sp>
        <p:pic>
          <p:nvPicPr>
            <p:cNvPr id="4" name="그래픽 3">
              <a:extLst>
                <a:ext uri="{FF2B5EF4-FFF2-40B4-BE49-F238E27FC236}">
                  <a16:creationId xmlns:a16="http://schemas.microsoft.com/office/drawing/2014/main" id="{83D341C2-BA6D-D60F-D9A0-BBB771E524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99708" y="4364124"/>
              <a:ext cx="2706585" cy="360000"/>
            </a:xfrm>
            <a:prstGeom prst="rect">
              <a:avLst/>
            </a:prstGeom>
          </p:spPr>
        </p:pic>
      </p:grpSp>
    </p:spTree>
    <p:extLst>
      <p:ext uri="{BB962C8B-B14F-4D97-AF65-F5344CB8AC3E}">
        <p14:creationId xmlns:p14="http://schemas.microsoft.com/office/powerpoint/2010/main" val="1043635745"/>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L Template">
      <a:majorFont>
        <a:latin typeface="Outfit ExtraBold"/>
        <a:ea typeface="Pretendard ExtraBold"/>
        <a:cs typeface=""/>
      </a:majorFont>
      <a:minorFont>
        <a:latin typeface="Pretendard"/>
        <a:ea typeface="Pretendard"/>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3FAEF"/>
        </a:solidFill>
        <a:ln>
          <a:noFill/>
        </a:ln>
      </a:spPr>
      <a:bodyPr lIns="0" tIns="0" rIns="0" bIns="0" rtlCol="0" anchor="ctr"/>
      <a:lstStyle>
        <a:defPPr algn="ctr">
          <a:defRPr sz="1200" dirty="0">
            <a:solidFill>
              <a:srgbClr val="3D3D3D"/>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6350">
          <a:solidFill>
            <a:srgbClr val="3D3D3D"/>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lnSpc>
            <a:spcPct val="110000"/>
          </a:lnSpc>
          <a:defRPr sz="900" dirty="0" smtClean="0">
            <a:solidFill>
              <a:srgbClr val="3D3D3D"/>
            </a:solidFill>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17831</TotalTime>
  <Words>4755</Words>
  <Application>Microsoft Office PowerPoint</Application>
  <PresentationFormat>A4 용지(210x297mm)</PresentationFormat>
  <Paragraphs>926</Paragraphs>
  <Slides>36</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36</vt:i4>
      </vt:variant>
    </vt:vector>
  </HeadingPairs>
  <TitlesOfParts>
    <vt:vector size="43" baseType="lpstr">
      <vt:lpstr>Pretendard</vt:lpstr>
      <vt:lpstr>맑은 고딕</vt:lpstr>
      <vt:lpstr>Arial</vt:lpstr>
      <vt:lpstr>Outfit</vt:lpstr>
      <vt:lpstr>Outfit Medium</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 WooSang</dc:creator>
  <cp:lastModifiedBy>Jo WooSang</cp:lastModifiedBy>
  <cp:revision>398</cp:revision>
  <cp:lastPrinted>2025-05-07T07:28:52Z</cp:lastPrinted>
  <dcterms:created xsi:type="dcterms:W3CDTF">2025-05-07T02:47:43Z</dcterms:created>
  <dcterms:modified xsi:type="dcterms:W3CDTF">2025-12-07T08:44:15Z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2025-05-07T02:47:43Z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98aec3aa-eeb3-4a62-8855-86f648c2b350</vt:lpwstr>
  </property>
  <property fmtid="{D5CDD505-2E9C-101B-9397-08002B2CF9AE}" pid="7" name="MSIP_Label_defa4170-0d19-0005-0004-bc88714345d2_ActionId">
    <vt:lpwstr>32e90476-9ae9-4ff3-95c1-e213571716bc</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