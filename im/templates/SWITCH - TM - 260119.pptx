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410" r:id="rId2"/>
    <p:sldId id="469" r:id="rId3"/>
    <p:sldId id="468" r:id="rId4"/>
    <p:sldId id="437" r:id="rId5"/>
    <p:sldId id="495" r:id="rId6"/>
    <p:sldId id="483" r:id="rId7"/>
    <p:sldId id="477" r:id="rId8"/>
    <p:sldId id="496" r:id="rId9"/>
    <p:sldId id="484" r:id="rId10"/>
    <p:sldId id="485" r:id="rId11"/>
    <p:sldId id="486" r:id="rId12"/>
    <p:sldId id="488" r:id="rId13"/>
    <p:sldId id="479" r:id="rId14"/>
    <p:sldId id="492" r:id="rId15"/>
    <p:sldId id="489" r:id="rId16"/>
    <p:sldId id="498" r:id="rId17"/>
    <p:sldId id="490" r:id="rId18"/>
    <p:sldId id="499" r:id="rId19"/>
    <p:sldId id="491" r:id="rId20"/>
    <p:sldId id="481" r:id="rId21"/>
    <p:sldId id="482" r:id="rId22"/>
    <p:sldId id="494" r:id="rId23"/>
    <p:sldId id="497" r:id="rId24"/>
    <p:sldId id="409" r:id="rId25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5" orient="horz" pos="1366" userDrawn="1">
          <p15:clr>
            <a:srgbClr val="A4A3A4"/>
          </p15:clr>
        </p15:guide>
        <p15:guide id="17" orient="horz" pos="3226" userDrawn="1">
          <p15:clr>
            <a:srgbClr val="A4A3A4"/>
          </p15:clr>
        </p15:guide>
        <p15:guide id="18" pos="59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260"/>
    <a:srgbClr val="1C8F57"/>
    <a:srgbClr val="E6FDD6"/>
    <a:srgbClr val="A3E96B"/>
    <a:srgbClr val="6A6A6A"/>
    <a:srgbClr val="0F3A32"/>
    <a:srgbClr val="FF3838"/>
    <a:srgbClr val="A9B1B3"/>
    <a:srgbClr val="A3ABB6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5" autoAdjust="0"/>
    <p:restoredTop sz="97384" autoAdjust="0"/>
  </p:normalViewPr>
  <p:slideViewPr>
    <p:cSldViewPr snapToGrid="0" showGuides="1">
      <p:cViewPr>
        <p:scale>
          <a:sx n="125" d="100"/>
          <a:sy n="125" d="100"/>
        </p:scale>
        <p:origin x="2190" y="774"/>
      </p:cViewPr>
      <p:guideLst>
        <p:guide orient="horz" pos="1366"/>
        <p:guide orient="horz" pos="3226"/>
        <p:guide pos="595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글로벌</c:v>
                </c:pt>
              </c:strCache>
            </c:strRef>
          </c:tx>
          <c:spPr>
            <a:solidFill>
              <a:srgbClr val="26C2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clip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Sheet1!$A$4:$A$14</c:f>
              <c:strCache>
                <c:ptCount val="11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  <c:pt idx="7">
                  <c:v>2031E</c:v>
                </c:pt>
                <c:pt idx="8">
                  <c:v>2032E</c:v>
                </c:pt>
                <c:pt idx="9">
                  <c:v>2033E</c:v>
                </c:pt>
                <c:pt idx="10">
                  <c:v>2034E</c:v>
                </c:pt>
              </c:strCache>
            </c:strRef>
          </c:cat>
          <c:val>
            <c:numRef>
              <c:f>Sheet1!$B$4:$B$14</c:f>
              <c:numCache>
                <c:formatCode>#,##0;\(#,##0\);"-"</c:formatCode>
                <c:ptCount val="11"/>
                <c:pt idx="0">
                  <c:v>63.8</c:v>
                </c:pt>
                <c:pt idx="1">
                  <c:v>69.028704133276563</c:v>
                </c:pt>
                <c:pt idx="2">
                  <c:v>73.584598606072817</c:v>
                </c:pt>
                <c:pt idx="3">
                  <c:v>78.441182114073627</c:v>
                </c:pt>
                <c:pt idx="4">
                  <c:v>83.618300133602489</c:v>
                </c:pt>
                <c:pt idx="5">
                  <c:v>89.137107942420258</c:v>
                </c:pt>
                <c:pt idx="6">
                  <c:v>95.020157066620001</c:v>
                </c:pt>
                <c:pt idx="7">
                  <c:v>101.29148743301693</c:v>
                </c:pt>
                <c:pt idx="8">
                  <c:v>107.97672560359605</c:v>
                </c:pt>
                <c:pt idx="9">
                  <c:v>115.10318949343339</c:v>
                </c:pt>
                <c:pt idx="10">
                  <c:v>122.7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8B-4845-91D6-DA7C95E0F6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미국</c:v>
                </c:pt>
              </c:strCache>
            </c:strRef>
          </c:tx>
          <c:spPr>
            <a:solidFill>
              <a:srgbClr val="A3E96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clip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Sheet1!$A$4:$A$14</c:f>
              <c:strCache>
                <c:ptCount val="11"/>
                <c:pt idx="0">
                  <c:v>2024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  <c:pt idx="5">
                  <c:v>2029E</c:v>
                </c:pt>
                <c:pt idx="6">
                  <c:v>2030E</c:v>
                </c:pt>
                <c:pt idx="7">
                  <c:v>2031E</c:v>
                </c:pt>
                <c:pt idx="8">
                  <c:v>2032E</c:v>
                </c:pt>
                <c:pt idx="9">
                  <c:v>2033E</c:v>
                </c:pt>
                <c:pt idx="10">
                  <c:v>2034E</c:v>
                </c:pt>
              </c:strCache>
            </c:strRef>
          </c:cat>
          <c:val>
            <c:numRef>
              <c:f>Sheet1!$C$4:$C$14</c:f>
              <c:numCache>
                <c:formatCode>#,##0;\(#,##0\);"-"</c:formatCode>
                <c:ptCount val="11"/>
                <c:pt idx="0">
                  <c:v>12.2</c:v>
                </c:pt>
                <c:pt idx="1">
                  <c:v>13.143685533830597</c:v>
                </c:pt>
                <c:pt idx="2">
                  <c:v>14.160366345264569</c:v>
                </c:pt>
                <c:pt idx="3">
                  <c:v>15.255688711966851</c:v>
                </c:pt>
                <c:pt idx="4">
                  <c:v>16.435735658368973</c:v>
                </c:pt>
                <c:pt idx="5">
                  <c:v>17.70706073858754</c:v>
                </c:pt>
                <c:pt idx="6">
                  <c:v>19.07672443249449</c:v>
                </c:pt>
                <c:pt idx="7">
                  <c:v>20.55233335706972</c:v>
                </c:pt>
                <c:pt idx="8">
                  <c:v>22.14208251080175</c:v>
                </c:pt>
                <c:pt idx="9">
                  <c:v>23.854800785746594</c:v>
                </c:pt>
                <c:pt idx="10">
                  <c:v>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8B-4845-91D6-DA7C95E0F6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50"/>
        <c:axId val="88957375"/>
        <c:axId val="88957855"/>
      </c:barChart>
      <c:catAx>
        <c:axId val="88957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57855"/>
        <c:crosses val="autoZero"/>
        <c:auto val="1"/>
        <c:lblAlgn val="ctr"/>
        <c:lblOffset val="100"/>
        <c:tickLblSkip val="2"/>
        <c:noMultiLvlLbl val="0"/>
      </c:catAx>
      <c:valAx>
        <c:axId val="88957855"/>
        <c:scaling>
          <c:orientation val="minMax"/>
          <c:max val="14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957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전력사용량</c:v>
                </c:pt>
              </c:strCache>
            </c:strRef>
          </c:tx>
          <c:spPr>
            <a:ln w="19050" cap="rnd">
              <a:solidFill>
                <a:srgbClr val="1C8F5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rgbClr val="1C8F57"/>
                </a:solidFill>
              </a:ln>
              <a:effectLst/>
            </c:spPr>
          </c:marker>
          <c:dLbls>
            <c:dLbl>
              <c:idx val="1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D80-4356-8BC0-1AA46FB2DB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Sheet1!$A$11:$A$29</c:f>
              <c:numCache>
                <c:formatCode>General</c:formatCode>
                <c:ptCount val="19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  <c:pt idx="15">
                  <c:v>2024</c:v>
                </c:pt>
                <c:pt idx="16">
                  <c:v>2025</c:v>
                </c:pt>
                <c:pt idx="17">
                  <c:v>2026</c:v>
                </c:pt>
                <c:pt idx="18">
                  <c:v>2027</c:v>
                </c:pt>
              </c:numCache>
            </c:numRef>
          </c:cat>
          <c:val>
            <c:numRef>
              <c:f>Sheet1!$B$11:$B$29</c:f>
              <c:numCache>
                <c:formatCode>#,##0;\(#,##0\);"-"</c:formatCode>
                <c:ptCount val="19"/>
                <c:pt idx="0">
                  <c:v>3724</c:v>
                </c:pt>
                <c:pt idx="1">
                  <c:v>3887</c:v>
                </c:pt>
                <c:pt idx="2">
                  <c:v>3883</c:v>
                </c:pt>
                <c:pt idx="3">
                  <c:v>3832</c:v>
                </c:pt>
                <c:pt idx="4">
                  <c:v>3868</c:v>
                </c:pt>
                <c:pt idx="5">
                  <c:v>3903</c:v>
                </c:pt>
                <c:pt idx="6">
                  <c:v>3900</c:v>
                </c:pt>
                <c:pt idx="7">
                  <c:v>3902</c:v>
                </c:pt>
                <c:pt idx="8">
                  <c:v>3864</c:v>
                </c:pt>
                <c:pt idx="9">
                  <c:v>4003</c:v>
                </c:pt>
                <c:pt idx="10">
                  <c:v>3954</c:v>
                </c:pt>
                <c:pt idx="11">
                  <c:v>3856</c:v>
                </c:pt>
                <c:pt idx="12">
                  <c:v>3945</c:v>
                </c:pt>
                <c:pt idx="13">
                  <c:v>4067</c:v>
                </c:pt>
                <c:pt idx="14">
                  <c:v>4011</c:v>
                </c:pt>
                <c:pt idx="15">
                  <c:v>4110</c:v>
                </c:pt>
                <c:pt idx="16">
                  <c:v>4198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80-4356-8BC0-1AA46FB2DB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열2</c:v>
                </c:pt>
              </c:strCache>
            </c:strRef>
          </c:tx>
          <c:spPr>
            <a:ln w="19050" cap="rnd">
              <a:solidFill>
                <a:srgbClr val="1C8F57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rgbClr val="1C8F57"/>
                </a:solidFill>
                <a:prstDash val="solid"/>
              </a:ln>
              <a:effectLst/>
            </c:spPr>
          </c:marker>
          <c:dLbls>
            <c:dLbl>
              <c:idx val="16"/>
              <c:layout>
                <c:manualLayout>
                  <c:x val="0"/>
                  <c:y val="3.441734417344173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D80-4356-8BC0-1AA46FB2DB79}"/>
                </c:ext>
              </c:extLst>
            </c:dLbl>
            <c:dLbl>
              <c:idx val="1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>
                    <a:defRPr sz="1000" b="0" i="1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</c:extLst>
            </c:dLbl>
            <c:dLbl>
              <c:idx val="1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>
                    <a:defRPr sz="1000" b="0" i="1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8-ED80-4356-8BC0-1AA46FB2DB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Sheet1!$A$11:$A$29</c:f>
              <c:numCache>
                <c:formatCode>General</c:formatCode>
                <c:ptCount val="19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  <c:pt idx="13">
                  <c:v>2022</c:v>
                </c:pt>
                <c:pt idx="14">
                  <c:v>2023</c:v>
                </c:pt>
                <c:pt idx="15">
                  <c:v>2024</c:v>
                </c:pt>
                <c:pt idx="16">
                  <c:v>2025</c:v>
                </c:pt>
                <c:pt idx="17">
                  <c:v>2026</c:v>
                </c:pt>
                <c:pt idx="18">
                  <c:v>2027</c:v>
                </c:pt>
              </c:numCache>
            </c:numRef>
          </c:cat>
          <c:val>
            <c:numRef>
              <c:f>Sheet1!$C$11:$C$29</c:f>
              <c:numCache>
                <c:formatCode>General</c:formatCode>
                <c:ptCount val="19"/>
                <c:pt idx="16" formatCode="#,##0;\(#,##0\);&quot;-&quot;">
                  <c:v>4198</c:v>
                </c:pt>
                <c:pt idx="17" formatCode="#,##0;\(#,##0\);&quot;-&quot;">
                  <c:v>4256</c:v>
                </c:pt>
                <c:pt idx="18" formatCode="#,##0;\(#,##0\);&quot;-&quot;">
                  <c:v>4364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D80-4356-8BC0-1AA46FB2D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1694671"/>
        <c:axId val="298454175"/>
      </c:lineChart>
      <c:catAx>
        <c:axId val="14716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8454175"/>
        <c:crosses val="autoZero"/>
        <c:auto val="1"/>
        <c:lblAlgn val="ctr"/>
        <c:lblOffset val="100"/>
        <c:tickLblSkip val="3"/>
        <c:noMultiLvlLbl val="0"/>
      </c:catAx>
      <c:valAx>
        <c:axId val="298454175"/>
        <c:scaling>
          <c:orientation val="minMax"/>
          <c:max val="4400"/>
          <c:min val="3500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716946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데이터센터 수요</c:v>
                </c:pt>
              </c:strCache>
            </c:strRef>
          </c:tx>
          <c:spPr>
            <a:ln w="19050" cap="rnd">
              <a:solidFill>
                <a:srgbClr val="1C8F5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rgbClr val="1C8F57"/>
                </a:solidFill>
              </a:ln>
              <a:effectLst/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D0E-4CED-949B-2A660B1103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24</c:v>
                </c:pt>
                <c:pt idx="1">
                  <c:v>29.7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0E-4CED-949B-2A660B1103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ln w="19050" cap="rnd">
              <a:solidFill>
                <a:srgbClr val="1C8F57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rgbClr val="1C8F57"/>
                </a:solidFill>
              </a:ln>
              <a:effectLst/>
            </c:spPr>
          </c:marker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1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0D0E-4CED-949B-2A660B1103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1">
                  <c:v>29.7</c:v>
                </c:pt>
                <c:pt idx="2">
                  <c:v>38.1</c:v>
                </c:pt>
                <c:pt idx="3">
                  <c:v>49.8</c:v>
                </c:pt>
                <c:pt idx="4">
                  <c:v>62.7</c:v>
                </c:pt>
                <c:pt idx="5">
                  <c:v>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0E-4CED-949B-2A660B1103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데이터센터 용량</c:v>
                </c:pt>
              </c:strCache>
            </c:strRef>
          </c:tx>
          <c:spPr>
            <a:ln w="19050" cap="rnd">
              <a:solidFill>
                <a:srgbClr val="26C2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rgbClr val="26C260"/>
                </a:solidFill>
              </a:ln>
              <a:effectLst/>
            </c:spPr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0E-4CED-949B-2A660B1103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Sheet1!$D$2:$D$7</c:f>
              <c:numCache>
                <c:formatCode>0</c:formatCode>
                <c:ptCount val="6"/>
                <c:pt idx="0">
                  <c:v>14.2</c:v>
                </c:pt>
                <c:pt idx="1">
                  <c:v>21.1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0E-4CED-949B-2A660B11038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</c:strCache>
            </c:strRef>
          </c:tx>
          <c:spPr>
            <a:ln w="19050" cap="rnd">
              <a:solidFill>
                <a:srgbClr val="26C260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rgbClr val="26C260"/>
                </a:solidFill>
              </a:ln>
              <a:effectLst/>
            </c:spPr>
          </c:marker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0D0E-4CED-949B-2A660B1103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Sheet1!$E$2:$E$7</c:f>
              <c:numCache>
                <c:formatCode>0</c:formatCode>
                <c:ptCount val="6"/>
                <c:pt idx="1">
                  <c:v>21.1</c:v>
                </c:pt>
                <c:pt idx="2">
                  <c:v>26.7</c:v>
                </c:pt>
                <c:pt idx="3">
                  <c:v>40.5</c:v>
                </c:pt>
                <c:pt idx="4">
                  <c:v>53</c:v>
                </c:pt>
                <c:pt idx="5">
                  <c:v>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D0E-4CED-949B-2A660B1103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7619247"/>
        <c:axId val="1197602927"/>
      </c:lineChart>
      <c:catAx>
        <c:axId val="1197619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7602927"/>
        <c:crosses val="autoZero"/>
        <c:auto val="1"/>
        <c:lblAlgn val="ctr"/>
        <c:lblOffset val="100"/>
        <c:noMultiLvlLbl val="0"/>
      </c:catAx>
      <c:valAx>
        <c:axId val="1197602927"/>
        <c:scaling>
          <c:orientation val="minMax"/>
          <c:max val="80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7619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누적판매량</c:v>
                </c:pt>
              </c:strCache>
            </c:strRef>
          </c:tx>
          <c:spPr>
            <a:solidFill>
              <a:srgbClr val="26C2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Sheet1!$A$6:$A$13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25Q3</c:v>
                </c:pt>
              </c:strCache>
            </c:strRef>
          </c:cat>
          <c:val>
            <c:numRef>
              <c:f>Sheet1!$B$6:$B$13</c:f>
              <c:numCache>
                <c:formatCode>#,##0.0;\(#,##0.0\);"-"</c:formatCode>
                <c:ptCount val="8"/>
                <c:pt idx="0">
                  <c:v>1</c:v>
                </c:pt>
                <c:pt idx="1">
                  <c:v>1.3</c:v>
                </c:pt>
                <c:pt idx="2">
                  <c:v>1.6</c:v>
                </c:pt>
                <c:pt idx="3">
                  <c:v>2.2999999999999998</c:v>
                </c:pt>
                <c:pt idx="4">
                  <c:v>3.3</c:v>
                </c:pt>
                <c:pt idx="5">
                  <c:v>4.7</c:v>
                </c:pt>
                <c:pt idx="6">
                  <c:v>6.2</c:v>
                </c:pt>
                <c:pt idx="7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F-4876-B13D-13879E9304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연간판매량</c:v>
                </c:pt>
              </c:strCache>
            </c:strRef>
          </c:tx>
          <c:spPr>
            <a:solidFill>
              <a:srgbClr val="1C8F57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BF-4876-B13D-13879E9304E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DBF-4876-B13D-13879E9304E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BF-4876-B13D-13879E9304EA}"/>
                </c:ext>
              </c:extLst>
            </c:dLbl>
            <c:spPr>
              <a:solidFill>
                <a:srgbClr val="1C8F57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Sheet1!$A$6:$A$13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25Q3</c:v>
                </c:pt>
              </c:strCache>
            </c:strRef>
          </c:cat>
          <c:val>
            <c:numRef>
              <c:f>Sheet1!$C$6:$C$13</c:f>
              <c:numCache>
                <c:formatCode>#,##0.0;\(#,##0.0\);"-"</c:formatCode>
                <c:ptCount val="8"/>
                <c:pt idx="0">
                  <c:v>0.30000000000000004</c:v>
                </c:pt>
                <c:pt idx="1">
                  <c:v>0.30000000000000004</c:v>
                </c:pt>
                <c:pt idx="2">
                  <c:v>0.30000000000000004</c:v>
                </c:pt>
                <c:pt idx="3">
                  <c:v>0.7</c:v>
                </c:pt>
                <c:pt idx="4">
                  <c:v>1</c:v>
                </c:pt>
                <c:pt idx="5">
                  <c:v>1.4000000000000001</c:v>
                </c:pt>
                <c:pt idx="6">
                  <c:v>1.5</c:v>
                </c:pt>
                <c:pt idx="7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BF-4876-B13D-13879E9304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25"/>
        <c:axId val="298452255"/>
        <c:axId val="298452735"/>
      </c:barChart>
      <c:catAx>
        <c:axId val="298452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8452735"/>
        <c:crosses val="autoZero"/>
        <c:auto val="1"/>
        <c:lblAlgn val="ctr"/>
        <c:lblOffset val="100"/>
        <c:noMultiLvlLbl val="0"/>
      </c:catAx>
      <c:valAx>
        <c:axId val="298452735"/>
        <c:scaling>
          <c:orientation val="minMax"/>
        </c:scaling>
        <c:delete val="0"/>
        <c:axPos val="l"/>
        <c:numFmt formatCode="#,##0.0;\(#,##0.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8452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태양광 발전용량</c:v>
                </c:pt>
              </c:strCache>
            </c:strRef>
          </c:tx>
          <c:spPr>
            <a:solidFill>
              <a:srgbClr val="26C260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A3E96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D9E-4EF8-92C4-44B892EBF4A5}"/>
              </c:ext>
            </c:extLst>
          </c:dPt>
          <c:dPt>
            <c:idx val="9"/>
            <c:invertIfNegative val="0"/>
            <c:bubble3D val="0"/>
            <c:spPr>
              <a:solidFill>
                <a:srgbClr val="A3E96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D9E-4EF8-92C4-44B892EBF4A5}"/>
              </c:ext>
            </c:extLst>
          </c:dPt>
          <c:dLbls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>
                    <a:defRPr sz="1000" b="0" i="1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FD9E-4EF8-92C4-44B892EBF4A5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>
                    <a:defRPr sz="1000" b="0" i="1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6-FD9E-4EF8-92C4-44B892EBF4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Sheet1!$A$4:$A$13</c:f>
              <c:numCache>
                <c:formatCode>General</c:formatCode>
                <c:ptCount val="10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</c:numCache>
            </c:numRef>
          </c:cat>
          <c:val>
            <c:numRef>
              <c:f>Sheet1!$B$4:$B$13</c:f>
              <c:numCache>
                <c:formatCode>General</c:formatCode>
                <c:ptCount val="10"/>
                <c:pt idx="0">
                  <c:v>32</c:v>
                </c:pt>
                <c:pt idx="1">
                  <c:v>37</c:v>
                </c:pt>
                <c:pt idx="2">
                  <c:v>48</c:v>
                </c:pt>
                <c:pt idx="3">
                  <c:v>61</c:v>
                </c:pt>
                <c:pt idx="4">
                  <c:v>72</c:v>
                </c:pt>
                <c:pt idx="5">
                  <c:v>91</c:v>
                </c:pt>
                <c:pt idx="6">
                  <c:v>123</c:v>
                </c:pt>
                <c:pt idx="7">
                  <c:v>141</c:v>
                </c:pt>
                <c:pt idx="8">
                  <c:v>173</c:v>
                </c:pt>
                <c:pt idx="9">
                  <c:v>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9E-4EF8-92C4-44B892EBF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51891631"/>
        <c:axId val="95189067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태양광 비중</c:v>
                </c:pt>
              </c:strCache>
            </c:strRef>
          </c:tx>
          <c:spPr>
            <a:ln w="19050" cap="rnd">
              <a:solidFill>
                <a:srgbClr val="1C8F57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C8F57"/>
                </a:solidFill>
              </a:ln>
              <a:effectLst/>
            </c:spPr>
          </c:marker>
          <c:dLbls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>
                    <a:defRPr sz="1000" b="0" i="1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FD9E-4EF8-92C4-44B892EBF4A5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0" tIns="0" rIns="0" bIns="0" anchor="ctr" anchorCtr="1">
                  <a:spAutoFit/>
                </a:bodyPr>
                <a:lstStyle/>
                <a:p>
                  <a:pPr>
                    <a:defRPr sz="1000" b="0" i="1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8-FD9E-4EF8-92C4-44B892EBF4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Sheet1!$A$4:$A$13</c:f>
              <c:numCache>
                <c:formatCode>General</c:formatCode>
                <c:ptCount val="10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  <c:pt idx="9">
                  <c:v>2027</c:v>
                </c:pt>
              </c:numCache>
            </c:numRef>
          </c:cat>
          <c:val>
            <c:numRef>
              <c:f>Sheet1!$C$4:$C$13</c:f>
              <c:numCache>
                <c:formatCode>0%</c:formatCode>
                <c:ptCount val="10"/>
                <c:pt idx="0">
                  <c:v>3.007518796992481E-2</c:v>
                </c:pt>
                <c:pt idx="1">
                  <c:v>3.4644194756554308E-2</c:v>
                </c:pt>
                <c:pt idx="2">
                  <c:v>4.423963133640553E-2</c:v>
                </c:pt>
                <c:pt idx="3">
                  <c:v>5.4708520179372194E-2</c:v>
                </c:pt>
                <c:pt idx="4">
                  <c:v>6.3716814159292035E-2</c:v>
                </c:pt>
                <c:pt idx="5">
                  <c:v>7.8787878787878782E-2</c:v>
                </c:pt>
                <c:pt idx="6">
                  <c:v>0.10267111853088481</c:v>
                </c:pt>
                <c:pt idx="7">
                  <c:v>0.11343523732904263</c:v>
                </c:pt>
                <c:pt idx="8">
                  <c:v>0.13266871165644173</c:v>
                </c:pt>
                <c:pt idx="9">
                  <c:v>0.1536764705882353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9E-4EF8-92C4-44B892EBF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7426895"/>
        <c:axId val="257412975"/>
      </c:lineChart>
      <c:catAx>
        <c:axId val="951891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51890671"/>
        <c:crosses val="autoZero"/>
        <c:auto val="1"/>
        <c:lblAlgn val="ctr"/>
        <c:lblOffset val="100"/>
        <c:noMultiLvlLbl val="0"/>
      </c:catAx>
      <c:valAx>
        <c:axId val="951890671"/>
        <c:scaling>
          <c:orientation val="minMax"/>
          <c:max val="3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51891631"/>
        <c:crosses val="autoZero"/>
        <c:crossBetween val="between"/>
      </c:valAx>
      <c:valAx>
        <c:axId val="257412975"/>
        <c:scaling>
          <c:orientation val="minMax"/>
          <c:max val="0.2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57426895"/>
        <c:crosses val="max"/>
        <c:crossBetween val="between"/>
      </c:valAx>
      <c:catAx>
        <c:axId val="2574268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57412975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6C2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124</c:v>
                </c:pt>
                <c:pt idx="1">
                  <c:v>125</c:v>
                </c:pt>
                <c:pt idx="2">
                  <c:v>138</c:v>
                </c:pt>
                <c:pt idx="3">
                  <c:v>159</c:v>
                </c:pt>
                <c:pt idx="4">
                  <c:v>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CD-42E3-8BCA-3AADA76A56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A3E96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5">
                  <c:v>194</c:v>
                </c:pt>
                <c:pt idx="6">
                  <c:v>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CD-42E3-8BCA-3AADA76A56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203229775"/>
        <c:axId val="1203230255"/>
      </c:barChart>
      <c:catAx>
        <c:axId val="1203229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3230255"/>
        <c:crosses val="autoZero"/>
        <c:auto val="1"/>
        <c:lblAlgn val="ctr"/>
        <c:lblOffset val="100"/>
        <c:noMultiLvlLbl val="0"/>
      </c:catAx>
      <c:valAx>
        <c:axId val="1203230255"/>
        <c:scaling>
          <c:orientation val="minMax"/>
          <c:max val="21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3229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멕시코</c:v>
                </c:pt>
              </c:strCache>
            </c:strRef>
          </c:tx>
          <c:spPr>
            <a:solidFill>
              <a:srgbClr val="0F3A3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#,##0;\(#,##0\);"-"</c:formatCode>
                <c:ptCount val="5"/>
                <c:pt idx="0">
                  <c:v>796.82600000000002</c:v>
                </c:pt>
                <c:pt idx="1">
                  <c:v>787.74900000000002</c:v>
                </c:pt>
                <c:pt idx="2">
                  <c:v>1197.577</c:v>
                </c:pt>
                <c:pt idx="3">
                  <c:v>1581.3320000000001</c:v>
                </c:pt>
                <c:pt idx="4">
                  <c:v>1856.328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C0-4B09-BB55-73BD327B5C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한국</c:v>
                </c:pt>
              </c:strCache>
            </c:strRef>
          </c:tx>
          <c:spPr>
            <a:solidFill>
              <a:srgbClr val="1C8F57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1C8F57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#,##0;\(#,##0\);"-"</c:formatCode>
                <c:ptCount val="5"/>
                <c:pt idx="0">
                  <c:v>136.96600000000001</c:v>
                </c:pt>
                <c:pt idx="1">
                  <c:v>179.39099999999999</c:v>
                </c:pt>
                <c:pt idx="2">
                  <c:v>218.67400000000001</c:v>
                </c:pt>
                <c:pt idx="3">
                  <c:v>552.673</c:v>
                </c:pt>
                <c:pt idx="4">
                  <c:v>1184.47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C0-4B09-BB55-73BD327B5C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브라질</c:v>
                </c:pt>
              </c:strCache>
            </c:strRef>
          </c:tx>
          <c:spPr>
            <a:solidFill>
              <a:srgbClr val="26C260"/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C0-4B09-BB55-73BD327B5C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Sheet1!$D$2:$D$6</c:f>
              <c:numCache>
                <c:formatCode>#,##0;\(#,##0\);"-"</c:formatCode>
                <c:ptCount val="5"/>
                <c:pt idx="0">
                  <c:v>50.398000000000003</c:v>
                </c:pt>
                <c:pt idx="1">
                  <c:v>73.296000000000006</c:v>
                </c:pt>
                <c:pt idx="2">
                  <c:v>77.034000000000006</c:v>
                </c:pt>
                <c:pt idx="3">
                  <c:v>282.33999999999997</c:v>
                </c:pt>
                <c:pt idx="4">
                  <c:v>443.738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C0-4B09-BB55-73BD327B5C8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캐나다</c:v>
                </c:pt>
              </c:strCache>
            </c:strRef>
          </c:tx>
          <c:spPr>
            <a:solidFill>
              <a:srgbClr val="A3E96B"/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BC0-4B09-BB55-73BD327B5C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Sheet1!$E$2:$E$6</c:f>
              <c:numCache>
                <c:formatCode>#,##0;\(#,##0\);"-"</c:formatCode>
                <c:ptCount val="5"/>
                <c:pt idx="0">
                  <c:v>189.44200000000001</c:v>
                </c:pt>
                <c:pt idx="1">
                  <c:v>211.886</c:v>
                </c:pt>
                <c:pt idx="2">
                  <c:v>244.42500000000001</c:v>
                </c:pt>
                <c:pt idx="3">
                  <c:v>320.91500000000002</c:v>
                </c:pt>
                <c:pt idx="4">
                  <c:v>393.52600000000001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BC0-4B09-BB55-73BD327B5C8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대만</c:v>
                </c:pt>
              </c:strCache>
            </c:strRef>
          </c:tx>
          <c:spPr>
            <a:solidFill>
              <a:srgbClr val="E6FDD6"/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BC0-4B09-BB55-73BD327B5C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Sheet1!$F$2:$F$6</c:f>
              <c:numCache>
                <c:formatCode>#,##0;\(#,##0\);"-"</c:formatCode>
                <c:ptCount val="5"/>
                <c:pt idx="0">
                  <c:v>40.569000000000003</c:v>
                </c:pt>
                <c:pt idx="1">
                  <c:v>43.898000000000003</c:v>
                </c:pt>
                <c:pt idx="2">
                  <c:v>39.073</c:v>
                </c:pt>
                <c:pt idx="3">
                  <c:v>126.96899999999999</c:v>
                </c:pt>
                <c:pt idx="4">
                  <c:v>274.93599999999998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C0-4B09-BB55-73BD327B5C8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B0B0B0"/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BC0-4B09-BB55-73BD327B5C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Sheet1!$G$2:$G$6</c:f>
              <c:numCache>
                <c:formatCode>#,##0;\(#,##0\);"-"</c:formatCode>
                <c:ptCount val="5"/>
                <c:pt idx="0">
                  <c:v>617.98099999999999</c:v>
                </c:pt>
                <c:pt idx="1">
                  <c:v>523.36600000000021</c:v>
                </c:pt>
                <c:pt idx="2">
                  <c:v>696.43299999999977</c:v>
                </c:pt>
                <c:pt idx="3">
                  <c:v>1188.7589999999996</c:v>
                </c:pt>
                <c:pt idx="4">
                  <c:v>1876.473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C0-4B09-BB55-73BD327B5C8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World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Sheet1!$H$2:$H$6</c:f>
              <c:numCache>
                <c:formatCode>#,##0;\(#,##0\);"-"</c:formatCode>
                <c:ptCount val="5"/>
                <c:pt idx="0">
                  <c:v>1832.182</c:v>
                </c:pt>
                <c:pt idx="1">
                  <c:v>1819.586</c:v>
                </c:pt>
                <c:pt idx="2">
                  <c:v>2473.2159999999999</c:v>
                </c:pt>
                <c:pt idx="3">
                  <c:v>4052.9879999999998</c:v>
                </c:pt>
                <c:pt idx="4">
                  <c:v>6029.4709999999995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C0-4B09-BB55-73BD327B5C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950445647"/>
        <c:axId val="950446127"/>
      </c:barChart>
      <c:catAx>
        <c:axId val="950445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50446127"/>
        <c:crosses val="autoZero"/>
        <c:auto val="1"/>
        <c:lblAlgn val="ctr"/>
        <c:lblOffset val="100"/>
        <c:noMultiLvlLbl val="0"/>
      </c:catAx>
      <c:valAx>
        <c:axId val="950446127"/>
        <c:scaling>
          <c:orientation val="minMax"/>
          <c:max val="700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50445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6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12D9F9-0D73-FA9C-9567-0D2EDC03F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C3307-0AD4-BB88-7BEB-A583A8AF2E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B6DD3-10D0-4E94-9B57-485DC69B4E9D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F0FCC-8CED-378C-8460-87FCC68F3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0BFFF3-C18E-475B-3D21-266D273E3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FF77-EDF0-439C-A29E-838A93E02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7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암초, 어둠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290648-4A35-8FE1-E072-FF4D31F96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" b="58305"/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G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26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orient="horz" pos="3748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none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75163" y="6020725"/>
            <a:ext cx="6845837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993F8B13-CA41-9FF3-CEB3-9890383AC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74725"/>
            <a:ext cx="136216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/Ander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8425" y="6020725"/>
            <a:ext cx="6062575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73DDD-4F45-9398-6499-D7269C1377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3000" y="6056725"/>
            <a:ext cx="2253425" cy="198000"/>
            <a:chOff x="623889" y="598933"/>
            <a:chExt cx="8448818" cy="742366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4CBB4AF-4B62-C23D-1FEF-2929F5B52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75515" y="657299"/>
              <a:ext cx="3597192" cy="684000"/>
            </a:xfrm>
            <a:prstGeom prst="rect">
              <a:avLst/>
            </a:prstGeom>
          </p:spPr>
        </p:pic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7EC1F7B2-C3E5-42D9-50BF-71B37DC6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3889" y="598933"/>
              <a:ext cx="4851626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82862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2C7A55-5541-E072-FACF-5B951038D15E}"/>
              </a:ext>
            </a:extLst>
          </p:cNvPr>
          <p:cNvGrpSpPr/>
          <p:nvPr userDrawn="1"/>
        </p:nvGrpSpPr>
        <p:grpSpPr>
          <a:xfrm>
            <a:off x="-1332000" y="0"/>
            <a:ext cx="1260000" cy="5147998"/>
            <a:chOff x="-1332000" y="251999"/>
            <a:chExt cx="1260000" cy="514799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9B4B0E-E4CB-BEB4-725A-783E0C8E451B}"/>
                </a:ext>
              </a:extLst>
            </p:cNvPr>
            <p:cNvGrpSpPr/>
            <p:nvPr userDrawn="1"/>
          </p:nvGrpSpPr>
          <p:grpSpPr>
            <a:xfrm>
              <a:off x="-1332000" y="251999"/>
              <a:ext cx="1260000" cy="1440000"/>
              <a:chOff x="-1332000" y="251999"/>
              <a:chExt cx="1260000" cy="144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FBDDD21-17AA-9039-4C59-66C46717204B}"/>
                  </a:ext>
                </a:extLst>
              </p:cNvPr>
              <p:cNvSpPr/>
              <p:nvPr userDrawn="1"/>
            </p:nvSpPr>
            <p:spPr>
              <a:xfrm>
                <a:off x="-1332000" y="251999"/>
                <a:ext cx="1260000" cy="576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Signature Green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AA68D9-0007-1137-8E9E-65F8F249E8B3}"/>
                  </a:ext>
                </a:extLst>
              </p:cNvPr>
              <p:cNvSpPr/>
              <p:nvPr userDrawn="1"/>
            </p:nvSpPr>
            <p:spPr>
              <a:xfrm>
                <a:off x="-1332000" y="1115999"/>
                <a:ext cx="1260000" cy="576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Green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47E68C-019C-8A2F-492D-27B9D3AF84EE}"/>
                  </a:ext>
                </a:extLst>
              </p:cNvPr>
              <p:cNvSpPr/>
              <p:nvPr userDrawn="1"/>
            </p:nvSpPr>
            <p:spPr>
              <a:xfrm>
                <a:off x="-1332000" y="827999"/>
                <a:ext cx="252000" cy="288000"/>
              </a:xfrm>
              <a:prstGeom prst="rect">
                <a:avLst/>
              </a:prstGeom>
              <a:solidFill>
                <a:srgbClr val="E6FD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0D7CC4-4A15-5FED-68A7-1993F1727F1B}"/>
                  </a:ext>
                </a:extLst>
              </p:cNvPr>
              <p:cNvSpPr/>
              <p:nvPr userDrawn="1"/>
            </p:nvSpPr>
            <p:spPr>
              <a:xfrm>
                <a:off x="-828000" y="827999"/>
                <a:ext cx="252000" cy="288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1388674-7E06-90B3-8CC9-C5FBE25B5A8D}"/>
                  </a:ext>
                </a:extLst>
              </p:cNvPr>
              <p:cNvSpPr/>
              <p:nvPr userDrawn="1"/>
            </p:nvSpPr>
            <p:spPr>
              <a:xfrm>
                <a:off x="-576000" y="827999"/>
                <a:ext cx="252000" cy="288000"/>
              </a:xfrm>
              <a:prstGeom prst="rect">
                <a:avLst/>
              </a:prstGeom>
              <a:solidFill>
                <a:srgbClr val="1C8F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E15722A-1E25-70E9-8E06-B675AE8E502C}"/>
                  </a:ext>
                </a:extLst>
              </p:cNvPr>
              <p:cNvSpPr/>
              <p:nvPr userDrawn="1"/>
            </p:nvSpPr>
            <p:spPr>
              <a:xfrm>
                <a:off x="-324000" y="827999"/>
                <a:ext cx="252000" cy="288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A4CDF29-3C6C-C492-9A89-838C3E6FCC2A}"/>
                  </a:ext>
                </a:extLst>
              </p:cNvPr>
              <p:cNvSpPr/>
              <p:nvPr userDrawn="1"/>
            </p:nvSpPr>
            <p:spPr>
              <a:xfrm>
                <a:off x="-1080000" y="827999"/>
                <a:ext cx="252000" cy="288000"/>
              </a:xfrm>
              <a:prstGeom prst="rect">
                <a:avLst/>
              </a:prstGeom>
              <a:solidFill>
                <a:srgbClr val="A3E9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D6BC0DD-AA10-0C54-2348-EEC86A9525F4}"/>
                </a:ext>
              </a:extLst>
            </p:cNvPr>
            <p:cNvGrpSpPr/>
            <p:nvPr userDrawn="1"/>
          </p:nvGrpSpPr>
          <p:grpSpPr>
            <a:xfrm>
              <a:off x="-1332000" y="1871998"/>
              <a:ext cx="1260000" cy="1440000"/>
              <a:chOff x="-1332000" y="1799999"/>
              <a:chExt cx="1260000" cy="144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EBFBD1D-995E-1E73-010F-50D3B0E83929}"/>
                  </a:ext>
                </a:extLst>
              </p:cNvPr>
              <p:cNvSpPr/>
              <p:nvPr userDrawn="1"/>
            </p:nvSpPr>
            <p:spPr>
              <a:xfrm>
                <a:off x="-1332000" y="1799999"/>
                <a:ext cx="1260000" cy="576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Dark Gray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Text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40A180-6C32-2570-A740-930E8D9B706B}"/>
                  </a:ext>
                </a:extLst>
              </p:cNvPr>
              <p:cNvSpPr/>
              <p:nvPr userDrawn="1"/>
            </p:nvSpPr>
            <p:spPr>
              <a:xfrm>
                <a:off x="-1332000" y="2663999"/>
                <a:ext cx="1260000" cy="576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Mid Gray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Line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409EDCF-481E-435E-718F-1CC9D7D51B2F}"/>
                  </a:ext>
                </a:extLst>
              </p:cNvPr>
              <p:cNvSpPr/>
              <p:nvPr userDrawn="1"/>
            </p:nvSpPr>
            <p:spPr>
              <a:xfrm>
                <a:off x="-1332000" y="2375999"/>
                <a:ext cx="252000" cy="288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B6F4259-DC9C-A7E1-E051-7D220EC304A7}"/>
                  </a:ext>
                </a:extLst>
              </p:cNvPr>
              <p:cNvSpPr/>
              <p:nvPr userDrawn="1"/>
            </p:nvSpPr>
            <p:spPr>
              <a:xfrm>
                <a:off x="-828000" y="2375999"/>
                <a:ext cx="252000" cy="288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3781F1C-B0CE-957D-45AE-27111159DD3D}"/>
                  </a:ext>
                </a:extLst>
              </p:cNvPr>
              <p:cNvSpPr/>
              <p:nvPr userDrawn="1"/>
            </p:nvSpPr>
            <p:spPr>
              <a:xfrm>
                <a:off x="-576000" y="2375999"/>
                <a:ext cx="252000" cy="288000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8F6B58C-2C33-8060-3265-CAEA9C07CF35}"/>
                  </a:ext>
                </a:extLst>
              </p:cNvPr>
              <p:cNvSpPr/>
              <p:nvPr userDrawn="1"/>
            </p:nvSpPr>
            <p:spPr>
              <a:xfrm>
                <a:off x="-324000" y="2375999"/>
                <a:ext cx="252000" cy="288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5F1958F-E80E-E3AB-0F20-4F04A89ED80C}"/>
                  </a:ext>
                </a:extLst>
              </p:cNvPr>
              <p:cNvSpPr/>
              <p:nvPr userDrawn="1"/>
            </p:nvSpPr>
            <p:spPr>
              <a:xfrm>
                <a:off x="-1080000" y="2375999"/>
                <a:ext cx="252000" cy="28800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F573A2-D377-75AA-94BE-1431A1250DA9}"/>
                </a:ext>
              </a:extLst>
            </p:cNvPr>
            <p:cNvGrpSpPr/>
            <p:nvPr userDrawn="1"/>
          </p:nvGrpSpPr>
          <p:grpSpPr>
            <a:xfrm>
              <a:off x="-1332000" y="3491998"/>
              <a:ext cx="1260000" cy="864000"/>
              <a:chOff x="-1332000" y="3491998"/>
              <a:chExt cx="1260000" cy="864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33F5513E-EA52-4A9E-918D-65D6DA5AC603}"/>
                  </a:ext>
                </a:extLst>
              </p:cNvPr>
              <p:cNvSpPr/>
              <p:nvPr userDrawn="1"/>
            </p:nvSpPr>
            <p:spPr>
              <a:xfrm>
                <a:off x="-1332000" y="3491998"/>
                <a:ext cx="1260000" cy="576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Red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FE9F0A4-6AFC-6162-CD7E-F91270632D24}"/>
                  </a:ext>
                </a:extLst>
              </p:cNvPr>
              <p:cNvSpPr/>
              <p:nvPr userDrawn="1"/>
            </p:nvSpPr>
            <p:spPr>
              <a:xfrm>
                <a:off x="-1332000" y="4067998"/>
                <a:ext cx="252000" cy="288000"/>
              </a:xfrm>
              <a:prstGeom prst="rect">
                <a:avLst/>
              </a:prstGeom>
              <a:solidFill>
                <a:srgbClr val="FFEC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D16E1DD-6F4F-B14D-0CC9-A41731A6DAFD}"/>
                  </a:ext>
                </a:extLst>
              </p:cNvPr>
              <p:cNvSpPr/>
              <p:nvPr userDrawn="1"/>
            </p:nvSpPr>
            <p:spPr>
              <a:xfrm>
                <a:off x="-828000" y="4067998"/>
                <a:ext cx="252000" cy="288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6F6BF42-34B7-D0AE-EAF4-6AB933B7626F}"/>
                  </a:ext>
                </a:extLst>
              </p:cNvPr>
              <p:cNvSpPr/>
              <p:nvPr userDrawn="1"/>
            </p:nvSpPr>
            <p:spPr>
              <a:xfrm>
                <a:off x="-576000" y="4067998"/>
                <a:ext cx="252000" cy="288000"/>
              </a:xfrm>
              <a:prstGeom prst="rect">
                <a:avLst/>
              </a:prstGeom>
              <a:solidFill>
                <a:srgbClr val="CC1E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ED8F846-327B-E64A-6409-91C0320EFC7F}"/>
                  </a:ext>
                </a:extLst>
              </p:cNvPr>
              <p:cNvSpPr/>
              <p:nvPr userDrawn="1"/>
            </p:nvSpPr>
            <p:spPr>
              <a:xfrm>
                <a:off x="-324000" y="4067998"/>
                <a:ext cx="252000" cy="288000"/>
              </a:xfrm>
              <a:prstGeom prst="rect">
                <a:avLst/>
              </a:prstGeom>
              <a:solidFill>
                <a:srgbClr val="7A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24FD4E0-95A7-9B35-3797-F2C2D9AF4CB6}"/>
                  </a:ext>
                </a:extLst>
              </p:cNvPr>
              <p:cNvSpPr/>
              <p:nvPr userDrawn="1"/>
            </p:nvSpPr>
            <p:spPr>
              <a:xfrm>
                <a:off x="-1080000" y="4067998"/>
                <a:ext cx="252000" cy="288000"/>
              </a:xfrm>
              <a:prstGeom prst="rect">
                <a:avLst/>
              </a:prstGeom>
              <a:solidFill>
                <a:srgbClr val="FF9A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5F24E7A-A3A7-8789-C4C3-1072BFA9257E}"/>
                </a:ext>
              </a:extLst>
            </p:cNvPr>
            <p:cNvGrpSpPr/>
            <p:nvPr userDrawn="1"/>
          </p:nvGrpSpPr>
          <p:grpSpPr>
            <a:xfrm>
              <a:off x="-1332000" y="4535997"/>
              <a:ext cx="1260000" cy="864000"/>
              <a:chOff x="-1332000" y="4535997"/>
              <a:chExt cx="1260000" cy="864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2C58AB-90B4-524A-B1DC-F11DD04CC494}"/>
                  </a:ext>
                </a:extLst>
              </p:cNvPr>
              <p:cNvSpPr/>
              <p:nvPr userDrawn="1"/>
            </p:nvSpPr>
            <p:spPr>
              <a:xfrm>
                <a:off x="-1332000" y="4535997"/>
                <a:ext cx="1260000" cy="576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Blue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9D6648-E04D-845B-4453-383C1FB3568D}"/>
                  </a:ext>
                </a:extLst>
              </p:cNvPr>
              <p:cNvSpPr/>
              <p:nvPr userDrawn="1"/>
            </p:nvSpPr>
            <p:spPr>
              <a:xfrm>
                <a:off x="-1332000" y="5111997"/>
                <a:ext cx="252000" cy="288000"/>
              </a:xfrm>
              <a:prstGeom prst="rect">
                <a:avLst/>
              </a:prstGeom>
              <a:solidFill>
                <a:srgbClr val="E3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ED123F4-424D-20D0-1DEB-41A5B1D56E22}"/>
                  </a:ext>
                </a:extLst>
              </p:cNvPr>
              <p:cNvSpPr/>
              <p:nvPr userDrawn="1"/>
            </p:nvSpPr>
            <p:spPr>
              <a:xfrm>
                <a:off x="-828000" y="5111997"/>
                <a:ext cx="252000" cy="288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583118E-ED62-931B-5F6B-35471B66C178}"/>
                  </a:ext>
                </a:extLst>
              </p:cNvPr>
              <p:cNvSpPr/>
              <p:nvPr userDrawn="1"/>
            </p:nvSpPr>
            <p:spPr>
              <a:xfrm>
                <a:off x="-576000" y="5111997"/>
                <a:ext cx="252000" cy="288000"/>
              </a:xfrm>
              <a:prstGeom prst="rect">
                <a:avLst/>
              </a:prstGeom>
              <a:solidFill>
                <a:srgbClr val="166A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1FFE7F6-E2AD-5437-E63B-51D62A7FB2B5}"/>
                  </a:ext>
                </a:extLst>
              </p:cNvPr>
              <p:cNvSpPr/>
              <p:nvPr userDrawn="1"/>
            </p:nvSpPr>
            <p:spPr>
              <a:xfrm>
                <a:off x="-324000" y="5111997"/>
                <a:ext cx="252000" cy="288000"/>
              </a:xfrm>
              <a:prstGeom prst="rect">
                <a:avLst/>
              </a:prstGeom>
              <a:solidFill>
                <a:srgbClr val="0831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B515338-9C5D-CEAA-95E3-1C1186B69108}"/>
                  </a:ext>
                </a:extLst>
              </p:cNvPr>
              <p:cNvSpPr/>
              <p:nvPr userDrawn="1"/>
            </p:nvSpPr>
            <p:spPr>
              <a:xfrm>
                <a:off x="-1080000" y="5111997"/>
                <a:ext cx="252000" cy="288000"/>
              </a:xfrm>
              <a:prstGeom prst="rect">
                <a:avLst/>
              </a:prstGeom>
              <a:solidFill>
                <a:srgbClr val="8AC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9" r:id="rId3"/>
    <p:sldLayoutId id="2147483668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minsights.com/ko/industry-analysis/transformer-market#:~:text=%EA%B8%80%EB%A1%9C%EB%B2%8C%20%EB%B3%80%EC%95%95%EA%B8%B0%20%EC%8B%9C%EC%9E%A5%EC%9D%80%202024%EB%85%84%20USD%2063.8%20%EC%96%B5%EC%97%90,electrification%20%ED%94%84%EB%A1%9C%EA%B7%B8%EB%9E%A8%EA%B3%BC%20%ED%95%A8%EA%BB%98%20%EC%82%B0%EC%97%85%20%EC%8B%9C%EB%82%98%EB%A6%AC%EC%98%A4%EB%A5%BC%20%EA%B0%95%ED%99%94%ED%95%A0%20%EA%B2%83%EC%9E%85%EB%8B%88%EB%8B%A4.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visualcapitalist.com/shortage-of-u-s-data-center-capacity-2023-2028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deloitte.com/us/en/insights/industry/power-and-utilities/funding-growth-in-us-power-sector.html" TargetMode="External"/><Relationship Id="rId4" Type="http://schemas.openxmlformats.org/officeDocument/2006/relationships/hyperlink" Target="https://docs.nrel.gov/docs/fy25osti/92076.pdf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990BFB-7BA5-FB4A-9A92-976181A75BB0}"/>
              </a:ext>
            </a:extLst>
          </p:cNvPr>
          <p:cNvSpPr txBox="1"/>
          <p:nvPr/>
        </p:nvSpPr>
        <p:spPr>
          <a:xfrm>
            <a:off x="7514969" y="649766"/>
            <a:ext cx="1938031" cy="15901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  <a:latin typeface="+mj-lt"/>
                <a:ea typeface="+mj-ea"/>
              </a:rPr>
              <a:t>Strictly Private &amp;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3FCE1-8EF2-5177-9928-EF8D18944D42}"/>
              </a:ext>
            </a:extLst>
          </p:cNvPr>
          <p:cNvSpPr txBox="1"/>
          <p:nvPr/>
        </p:nvSpPr>
        <p:spPr>
          <a:xfrm>
            <a:off x="452438" y="3484400"/>
            <a:ext cx="1838645" cy="3323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2400" spc="-50">
                <a:solidFill>
                  <a:schemeClr val="bg1"/>
                </a:solidFill>
                <a:latin typeface="SUIT Medium" pitchFamily="50" charset="-127"/>
                <a:ea typeface="SUIT Medium" pitchFamily="50" charset="-127"/>
              </a:rPr>
              <a:t>Teaser Memo</a:t>
            </a:r>
            <a:endParaRPr lang="ko-KR" altLang="en-US" sz="2400" spc="-50" dirty="0">
              <a:solidFill>
                <a:schemeClr val="bg1"/>
              </a:solidFill>
              <a:latin typeface="SUIT Medium" pitchFamily="50" charset="-127"/>
              <a:ea typeface="SUIT Medium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F83FA-073A-032F-7A95-7322545686A5}"/>
              </a:ext>
            </a:extLst>
          </p:cNvPr>
          <p:cNvSpPr txBox="1"/>
          <p:nvPr/>
        </p:nvSpPr>
        <p:spPr>
          <a:xfrm>
            <a:off x="452438" y="2930402"/>
            <a:ext cx="4720844" cy="5539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4000" spc="-50" dirty="0">
                <a:solidFill>
                  <a:schemeClr val="bg1"/>
                </a:solidFill>
                <a:latin typeface="+mj-lt"/>
                <a:ea typeface="+mj-ea"/>
              </a:rPr>
              <a:t>PROJECT SWITCH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D4F5B-7215-AC37-69C3-D84C6BA481DD}"/>
              </a:ext>
            </a:extLst>
          </p:cNvPr>
          <p:cNvSpPr txBox="1"/>
          <p:nvPr/>
        </p:nvSpPr>
        <p:spPr>
          <a:xfrm>
            <a:off x="452438" y="4592197"/>
            <a:ext cx="1215076" cy="2215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1600" spc="-50" dirty="0">
                <a:solidFill>
                  <a:schemeClr val="bg1"/>
                </a:solidFill>
                <a:latin typeface="SUIT Medium" pitchFamily="50" charset="-127"/>
                <a:ea typeface="SUIT Medium" pitchFamily="50" charset="-127"/>
              </a:rPr>
              <a:t>January 2025</a:t>
            </a:r>
            <a:endParaRPr lang="ko-KR" altLang="en-US" sz="1600" spc="-50" dirty="0">
              <a:solidFill>
                <a:schemeClr val="bg1"/>
              </a:solidFill>
              <a:latin typeface="SUIT Medium" pitchFamily="50" charset="-127"/>
              <a:ea typeface="SUIT Medium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65D0452-B182-3715-4B41-71CFD719B0BB}"/>
              </a:ext>
            </a:extLst>
          </p:cNvPr>
          <p:cNvGrpSpPr>
            <a:grpSpLocks noChangeAspect="1"/>
          </p:cNvGrpSpPr>
          <p:nvPr/>
        </p:nvGrpSpPr>
        <p:grpSpPr>
          <a:xfrm>
            <a:off x="452438" y="549275"/>
            <a:ext cx="4097136" cy="360000"/>
            <a:chOff x="728591" y="3660843"/>
            <a:chExt cx="8448818" cy="742366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2AFCC7C4-0BEC-09D6-6F64-CAB3F5539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80217" y="3719209"/>
              <a:ext cx="3597192" cy="684000"/>
            </a:xfrm>
            <a:prstGeom prst="rect">
              <a:avLst/>
            </a:prstGeom>
          </p:spPr>
        </p:pic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1883A869-BCC7-B65F-CE87-40963F409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8591" y="3660843"/>
              <a:ext cx="4851615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635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91887-597E-B440-94F3-388F81F7C253}"/>
              </a:ext>
            </a:extLst>
          </p:cNvPr>
          <p:cNvSpPr txBox="1"/>
          <p:nvPr/>
        </p:nvSpPr>
        <p:spPr>
          <a:xfrm>
            <a:off x="453000" y="549275"/>
            <a:ext cx="1415452" cy="2856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dirty="0">
                <a:solidFill>
                  <a:schemeClr val="bg1"/>
                </a:solidFill>
                <a:latin typeface="+mj-lt"/>
                <a:ea typeface="+mj-ea"/>
              </a:rPr>
              <a:t>DISCLAIMER</a:t>
            </a:r>
            <a:endParaRPr lang="ko-KR" altLang="en-US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A8063-FFF5-D606-E1C8-B67A11F0CE47}"/>
              </a:ext>
            </a:extLst>
          </p:cNvPr>
          <p:cNvSpPr txBox="1"/>
          <p:nvPr/>
        </p:nvSpPr>
        <p:spPr>
          <a:xfrm>
            <a:off x="452999" y="1089025"/>
            <a:ext cx="4320613" cy="3612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자료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TM”)</a:t>
            </a:r>
            <a:r>
              <a:rPr lang="ko-KR" altLang="en-US" sz="800" dirty="0">
                <a:solidFill>
                  <a:schemeClr val="bg1"/>
                </a:solidFill>
              </a:rPr>
              <a:t>는 </a:t>
            </a:r>
            <a:r>
              <a:rPr lang="en-US" altLang="ko-KR" sz="800" dirty="0">
                <a:solidFill>
                  <a:schemeClr val="bg1"/>
                </a:solidFill>
              </a:rPr>
              <a:t>S</a:t>
            </a:r>
            <a:r>
              <a:rPr lang="ko-KR" altLang="en-US" sz="800" dirty="0">
                <a:solidFill>
                  <a:schemeClr val="bg1"/>
                </a:solidFill>
              </a:rPr>
              <a:t> 주식회사 및 </a:t>
            </a:r>
            <a:r>
              <a:rPr lang="en-US" altLang="ko-KR" sz="800" dirty="0">
                <a:solidFill>
                  <a:schemeClr val="bg1"/>
                </a:solidFill>
              </a:rPr>
              <a:t>N </a:t>
            </a:r>
            <a:r>
              <a:rPr lang="ko-KR" altLang="en-US" sz="800" dirty="0">
                <a:solidFill>
                  <a:schemeClr val="bg1"/>
                </a:solidFill>
              </a:rPr>
              <a:t>주식회사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총칭하여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대상회사</a:t>
            </a:r>
            <a:r>
              <a:rPr lang="en-US" altLang="ko-KR" sz="800" dirty="0">
                <a:solidFill>
                  <a:schemeClr val="bg1"/>
                </a:solidFill>
              </a:rPr>
              <a:t>”)</a:t>
            </a:r>
            <a:r>
              <a:rPr lang="ko-KR" altLang="en-US" sz="800" dirty="0">
                <a:solidFill>
                  <a:schemeClr val="bg1"/>
                </a:solidFill>
              </a:rPr>
              <a:t>에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대한 잠재적인 투자 또는 관련된 거래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</a:t>
            </a:r>
            <a:r>
              <a:rPr lang="en-US" altLang="ko-KR" sz="800" dirty="0">
                <a:solidFill>
                  <a:schemeClr val="bg1"/>
                </a:solidFill>
              </a:rPr>
              <a:t> “</a:t>
            </a:r>
            <a:r>
              <a:rPr lang="ko-KR" altLang="en-US" sz="800" dirty="0">
                <a:solidFill>
                  <a:schemeClr val="bg1"/>
                </a:solidFill>
              </a:rPr>
              <a:t>본 거래</a:t>
            </a:r>
            <a:r>
              <a:rPr lang="en-US" altLang="ko-KR" sz="800" dirty="0">
                <a:solidFill>
                  <a:schemeClr val="bg1"/>
                </a:solidFill>
              </a:rPr>
              <a:t>“)</a:t>
            </a:r>
            <a:r>
              <a:rPr lang="ko-KR" altLang="en-US" sz="800" dirty="0">
                <a:solidFill>
                  <a:schemeClr val="bg1"/>
                </a:solidFill>
              </a:rPr>
              <a:t>에 관한 일반적인 이해를 돕기 위한 참고자료로서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 err="1">
                <a:solidFill>
                  <a:schemeClr val="bg1"/>
                </a:solidFill>
              </a:rPr>
              <a:t>앤더슨컨설팅인코포레이티드</a:t>
            </a:r>
            <a:r>
              <a:rPr lang="ko-KR" altLang="en-US" sz="800" dirty="0">
                <a:solidFill>
                  <a:schemeClr val="bg1"/>
                </a:solidFill>
              </a:rPr>
              <a:t> 주식회사와 주식회사 </a:t>
            </a:r>
            <a:r>
              <a:rPr lang="ko-KR" altLang="en-US" sz="800" dirty="0" err="1">
                <a:solidFill>
                  <a:schemeClr val="bg1"/>
                </a:solidFill>
              </a:rPr>
              <a:t>페트라브릿지파트너스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총칭하여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작성자</a:t>
            </a:r>
            <a:r>
              <a:rPr lang="en-US" altLang="ko-KR" sz="800" dirty="0">
                <a:solidFill>
                  <a:schemeClr val="bg1"/>
                </a:solidFill>
              </a:rPr>
              <a:t>“)</a:t>
            </a:r>
            <a:r>
              <a:rPr lang="ko-KR" altLang="en-US" sz="800" dirty="0">
                <a:solidFill>
                  <a:schemeClr val="bg1"/>
                </a:solidFill>
              </a:rPr>
              <a:t>가 대상회사로부터 </a:t>
            </a:r>
            <a:r>
              <a:rPr lang="ko-KR" altLang="en-US" sz="800" b="1" u="sng" dirty="0">
                <a:solidFill>
                  <a:schemeClr val="bg1"/>
                </a:solidFill>
              </a:rPr>
              <a:t>본 거래에 관한 공식적인 자문 또는 투자유치 주관</a:t>
            </a:r>
            <a:r>
              <a:rPr lang="en-US" altLang="ko-KR" sz="800" b="1" u="sng" dirty="0">
                <a:solidFill>
                  <a:schemeClr val="bg1"/>
                </a:solidFill>
              </a:rPr>
              <a:t>(Mandate)</a:t>
            </a:r>
            <a:r>
              <a:rPr lang="ko-KR" altLang="en-US" sz="800" b="1" u="sng" dirty="0">
                <a:solidFill>
                  <a:schemeClr val="bg1"/>
                </a:solidFill>
              </a:rPr>
              <a:t>을 부여 받지 아니한 상태에서</a:t>
            </a:r>
            <a:r>
              <a:rPr lang="en-US" altLang="ko-KR" sz="800" b="1" u="sng" dirty="0">
                <a:solidFill>
                  <a:schemeClr val="bg1"/>
                </a:solidFill>
              </a:rPr>
              <a:t> </a:t>
            </a:r>
            <a:r>
              <a:rPr lang="ko-KR" altLang="en-US" sz="800" b="1" u="sng" dirty="0">
                <a:solidFill>
                  <a:schemeClr val="bg1"/>
                </a:solidFill>
              </a:rPr>
              <a:t>작성자의 독립적인 분석과 판단에 따라 작성한 자료</a:t>
            </a:r>
            <a:r>
              <a:rPr lang="ko-KR" altLang="en-US" sz="800" dirty="0">
                <a:solidFill>
                  <a:schemeClr val="bg1"/>
                </a:solidFill>
              </a:rPr>
              <a:t>입니다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따라서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의 작성 및 제공은 대상회사 또는 그 주주가 본 거래를 추진하거나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제</a:t>
            </a:r>
            <a:r>
              <a:rPr lang="en-US" altLang="ko-KR" sz="800" dirty="0">
                <a:solidFill>
                  <a:schemeClr val="bg1"/>
                </a:solidFill>
              </a:rPr>
              <a:t>3</a:t>
            </a:r>
            <a:r>
              <a:rPr lang="ko-KR" altLang="en-US" sz="800" dirty="0">
                <a:solidFill>
                  <a:schemeClr val="bg1"/>
                </a:solidFill>
              </a:rPr>
              <a:t>자에게 투자를 제안하거나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특정 조건의 거래를 확정하였음을 의미하지 않습니다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은 대상회사와 본 거래에 대한 예비적인 검토를 위한 참고자료로 제공되는 것으로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투자자에게 어떠한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법률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회계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세무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또는 기타 전문적인 자문을 제공하기 위한 목적은 아닙니다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투자자는 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에 포함된 정보를 참고자료로만 활용하여야 하며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최종적인 의사 결정은 투자자 본인의 책임 하에 독립적인 검토 및 필요 시 외부 전문자문을 통해 이루어져야 합니다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에 포함된 정보는 공개자료 및 대상회사의 협조 하에 제공된 자료 등을 바탕으로 작성되었으나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그 정확성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완전성 또는 최신성에 대하여 작성자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대상회사 또는 그 주주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임직원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관계사 등은 명시적이든 묵시적이든 어떠한 진술이나 보장도 하지 않으며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이에 관하여 일체의 법적 책임을 부담하지 않습니다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은 본 거래에 관심을 가질 수 있는 제한된 수의 잠재적 투자자에게만 제공되는 자료로서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작성자의 사전 서면동의 없이 제</a:t>
            </a:r>
            <a:r>
              <a:rPr lang="en-US" altLang="ko-KR" sz="800" dirty="0">
                <a:solidFill>
                  <a:schemeClr val="bg1"/>
                </a:solidFill>
              </a:rPr>
              <a:t>3</a:t>
            </a:r>
            <a:r>
              <a:rPr lang="ko-KR" altLang="en-US" sz="800" dirty="0">
                <a:solidFill>
                  <a:schemeClr val="bg1"/>
                </a:solidFill>
              </a:rPr>
              <a:t>자에게 제공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복제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배포 또는 유출되어서는 아니 됩니다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또한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의 내용은 사전 통지 없이 변경될 수 있으며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그러한 변경 사항에 대한 인지 여부는 전적으로 투자자의 책임임을 유의하시기 바랍니다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endParaRPr lang="en-US" altLang="ko-KR" sz="800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en-US" altLang="ko-KR" sz="800" dirty="0">
                <a:solidFill>
                  <a:schemeClr val="bg1"/>
                </a:solidFill>
              </a:rPr>
              <a:t>2026</a:t>
            </a:r>
            <a:r>
              <a:rPr lang="ko-KR" altLang="en-US" sz="800" dirty="0">
                <a:solidFill>
                  <a:schemeClr val="bg1"/>
                </a:solidFill>
              </a:rPr>
              <a:t>년 </a:t>
            </a:r>
            <a:r>
              <a:rPr lang="en-US" altLang="ko-KR" sz="800" dirty="0">
                <a:solidFill>
                  <a:schemeClr val="bg1"/>
                </a:solidFill>
              </a:rPr>
              <a:t>1</a:t>
            </a:r>
            <a:r>
              <a:rPr lang="ko-KR" altLang="en-US" sz="800" dirty="0">
                <a:solidFill>
                  <a:schemeClr val="bg1"/>
                </a:solidFill>
              </a:rPr>
              <a:t>월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endParaRPr lang="en-US" altLang="ko-KR" sz="800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dirty="0" err="1">
                <a:solidFill>
                  <a:schemeClr val="bg1"/>
                </a:solidFill>
              </a:rPr>
              <a:t>앤더슨컨설팅인코포레이티드</a:t>
            </a:r>
            <a:r>
              <a:rPr lang="ko-KR" altLang="en-US" sz="1000" b="1" dirty="0">
                <a:solidFill>
                  <a:schemeClr val="bg1"/>
                </a:solidFill>
              </a:rPr>
              <a:t> 주식회사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1000" b="1" dirty="0">
                <a:solidFill>
                  <a:schemeClr val="bg1"/>
                </a:solidFill>
              </a:rPr>
              <a:t>주식회사 </a:t>
            </a:r>
            <a:r>
              <a:rPr lang="ko-KR" altLang="en-US" sz="1000" b="1" dirty="0" err="1">
                <a:solidFill>
                  <a:schemeClr val="bg1"/>
                </a:solidFill>
              </a:rPr>
              <a:t>페트라브릿지파트너스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73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AF282AE-6AAB-F4DF-0F1D-0B41C294CE18}"/>
              </a:ext>
            </a:extLst>
          </p:cNvPr>
          <p:cNvGrpSpPr>
            <a:grpSpLocks noChangeAspect="1"/>
          </p:cNvGrpSpPr>
          <p:nvPr/>
        </p:nvGrpSpPr>
        <p:grpSpPr>
          <a:xfrm>
            <a:off x="452438" y="549275"/>
            <a:ext cx="4097136" cy="360000"/>
            <a:chOff x="728591" y="3660843"/>
            <a:chExt cx="8448818" cy="742366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9B1E0379-B1C0-95BA-5729-1B732AAF2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80217" y="3719209"/>
              <a:ext cx="3597192" cy="684000"/>
            </a:xfrm>
            <a:prstGeom prst="rect">
              <a:avLst/>
            </a:prstGeom>
          </p:spPr>
        </p:pic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420D2D7A-B235-2E62-684A-D000555AE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8591" y="3660843"/>
              <a:ext cx="4851615" cy="540000"/>
            </a:xfrm>
            <a:prstGeom prst="rect">
              <a:avLst/>
            </a:prstGeom>
          </p:spPr>
        </p:pic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4DC923B-5B66-2319-7D80-EA07DCD8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397758"/>
              </p:ext>
            </p:extLst>
          </p:nvPr>
        </p:nvGraphicFramePr>
        <p:xfrm>
          <a:off x="344438" y="2168525"/>
          <a:ext cx="352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400" b="0" kern="120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400" b="0" kern="120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Market Opportunity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Target Highlights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cs"/>
                        </a:rPr>
                        <a:t>Financial Summary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UITE Heavy"/>
                        <a:ea typeface="SUITE Heavy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2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DC6F78-4D81-811A-834B-E3353E5EA294}"/>
              </a:ext>
            </a:extLst>
          </p:cNvPr>
          <p:cNvSpPr txBox="1"/>
          <p:nvPr/>
        </p:nvSpPr>
        <p:spPr>
          <a:xfrm>
            <a:off x="452438" y="1368847"/>
            <a:ext cx="3247684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CONTENTS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229E4FC0-B5E1-0C09-EA6E-630666878326}"/>
              </a:ext>
            </a:extLst>
          </p:cNvPr>
          <p:cNvSpPr txBox="1">
            <a:spLocks/>
          </p:cNvSpPr>
          <p:nvPr/>
        </p:nvSpPr>
        <p:spPr>
          <a:xfrm>
            <a:off x="452999" y="6177279"/>
            <a:ext cx="1548501" cy="13144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800" dirty="0">
                <a:latin typeface="+mj-lt"/>
                <a:ea typeface="+mj-ea"/>
              </a:rPr>
              <a:t>Strictly Private &amp; Confidential</a:t>
            </a:r>
            <a:endParaRPr lang="ko-KR" altLang="en-US" sz="8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1065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85EA7-8873-6555-E51D-5BB3DD2B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586EDD-9D40-5F82-0767-9741D8CD13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Executive Summary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1644F6-C4B2-F69D-8342-01734A55B8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</a:t>
            </a:r>
            <a:r>
              <a:rPr lang="ko-KR" altLang="en-US" dirty="0"/>
              <a:t>사업법인인 </a:t>
            </a:r>
            <a:r>
              <a:rPr lang="en-US" altLang="ko-KR" dirty="0"/>
              <a:t>S</a:t>
            </a:r>
            <a:r>
              <a:rPr lang="ko-KR" altLang="en-US" dirty="0"/>
              <a:t>사와 구매법인인 </a:t>
            </a:r>
            <a:r>
              <a:rPr lang="en-US" altLang="ko-KR" dirty="0"/>
              <a:t>N</a:t>
            </a:r>
            <a:r>
              <a:rPr lang="ko-KR" altLang="en-US" dirty="0"/>
              <a:t>사의 내부거래 제거 후 연결 재무제표를 가정한 </a:t>
            </a:r>
            <a:r>
              <a:rPr lang="en-US" altLang="ko-KR" dirty="0"/>
              <a:t>Pro-Forma </a:t>
            </a:r>
            <a:r>
              <a:rPr lang="ko-KR" altLang="en-US" dirty="0"/>
              <a:t>손익임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97E5C-8071-3724-8796-41A76371D9D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6E781-4244-FC09-B86C-1343D6A05EB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S </a:t>
            </a:r>
            <a:r>
              <a:rPr lang="ko-KR" altLang="en-US" sz="1400" b="1" dirty="0">
                <a:solidFill>
                  <a:srgbClr val="3D3D3D"/>
                </a:solidFill>
              </a:rPr>
              <a:t>주식회사</a:t>
            </a:r>
            <a:r>
              <a:rPr lang="en-US" altLang="ko-KR" sz="1400" dirty="0">
                <a:solidFill>
                  <a:srgbClr val="3D3D3D"/>
                </a:solidFill>
              </a:rPr>
              <a:t>(</a:t>
            </a:r>
            <a:r>
              <a:rPr lang="ko-KR" altLang="en-US" sz="1400" dirty="0">
                <a:solidFill>
                  <a:srgbClr val="3D3D3D"/>
                </a:solidFill>
              </a:rPr>
              <a:t>이하 </a:t>
            </a:r>
            <a:r>
              <a:rPr lang="en-US" altLang="ko-KR" sz="1400" dirty="0">
                <a:solidFill>
                  <a:srgbClr val="3D3D3D"/>
                </a:solidFill>
              </a:rPr>
              <a:t>“</a:t>
            </a:r>
            <a:r>
              <a:rPr lang="ko-KR" altLang="en-US" sz="1400" dirty="0">
                <a:solidFill>
                  <a:srgbClr val="3D3D3D"/>
                </a:solidFill>
              </a:rPr>
              <a:t>대상회사</a:t>
            </a:r>
            <a:r>
              <a:rPr lang="en-US" altLang="ko-KR" sz="1400" dirty="0">
                <a:solidFill>
                  <a:srgbClr val="3D3D3D"/>
                </a:solidFill>
              </a:rPr>
              <a:t>“)</a:t>
            </a:r>
            <a:r>
              <a:rPr lang="ko-KR" altLang="en-US" sz="1400" b="1" dirty="0">
                <a:solidFill>
                  <a:srgbClr val="3D3D3D"/>
                </a:solidFill>
              </a:rPr>
              <a:t>는 경기도 화성시와 미국 </a:t>
            </a:r>
            <a:r>
              <a:rPr lang="ko-KR" altLang="en-US" sz="1400" b="1" dirty="0" err="1">
                <a:solidFill>
                  <a:srgbClr val="3D3D3D"/>
                </a:solidFill>
              </a:rPr>
              <a:t>오클라호마시티</a:t>
            </a:r>
            <a:r>
              <a:rPr lang="ko-KR" altLang="en-US" sz="1400" b="1" dirty="0">
                <a:solidFill>
                  <a:srgbClr val="3D3D3D"/>
                </a:solidFill>
              </a:rPr>
              <a:t> 소재 공장을 운영 중인 국내 </a:t>
            </a:r>
            <a:r>
              <a:rPr lang="en-US" altLang="ko-KR" sz="1400" b="1" dirty="0">
                <a:solidFill>
                  <a:srgbClr val="3D3D3D"/>
                </a:solidFill>
              </a:rPr>
              <a:t>Top-tier </a:t>
            </a:r>
            <a:r>
              <a:rPr lang="ko-KR" altLang="en-US" sz="1400" b="1" dirty="0">
                <a:solidFill>
                  <a:srgbClr val="3D3D3D"/>
                </a:solidFill>
              </a:rPr>
              <a:t>변압기 제조 및 공급업체로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대상회사의 글로벌 시장경쟁력 제고를 위한 </a:t>
            </a:r>
            <a:r>
              <a:rPr lang="en-US" altLang="ko-KR" sz="1400" b="1" dirty="0">
                <a:solidFill>
                  <a:srgbClr val="3D3D3D"/>
                </a:solidFill>
              </a:rPr>
              <a:t>Growth</a:t>
            </a:r>
            <a:r>
              <a:rPr lang="ko-KR" altLang="en-US" sz="1400" b="1" dirty="0">
                <a:solidFill>
                  <a:srgbClr val="3D3D3D"/>
                </a:solidFill>
              </a:rPr>
              <a:t> </a:t>
            </a:r>
            <a:r>
              <a:rPr lang="en-US" altLang="ko-KR" sz="1400" b="1" dirty="0">
                <a:solidFill>
                  <a:srgbClr val="3D3D3D"/>
                </a:solidFill>
              </a:rPr>
              <a:t>Capital </a:t>
            </a:r>
            <a:r>
              <a:rPr lang="ko-KR" altLang="en-US" sz="1400" b="1" dirty="0">
                <a:solidFill>
                  <a:srgbClr val="3D3D3D"/>
                </a:solidFill>
              </a:rPr>
              <a:t>투자 유치</a:t>
            </a:r>
            <a:r>
              <a:rPr lang="en-US" altLang="ko-KR" sz="1400" dirty="0">
                <a:solidFill>
                  <a:srgbClr val="3D3D3D"/>
                </a:solidFill>
              </a:rPr>
              <a:t>(</a:t>
            </a:r>
            <a:r>
              <a:rPr lang="ko-KR" altLang="en-US" sz="1400" dirty="0">
                <a:solidFill>
                  <a:srgbClr val="3D3D3D"/>
                </a:solidFill>
              </a:rPr>
              <a:t>이하 </a:t>
            </a:r>
            <a:r>
              <a:rPr lang="en-US" altLang="ko-KR" sz="1400" dirty="0">
                <a:solidFill>
                  <a:srgbClr val="3D3D3D"/>
                </a:solidFill>
              </a:rPr>
              <a:t>“</a:t>
            </a:r>
            <a:r>
              <a:rPr lang="ko-KR" altLang="en-US" sz="1400" dirty="0">
                <a:solidFill>
                  <a:srgbClr val="3D3D3D"/>
                </a:solidFill>
              </a:rPr>
              <a:t>본 거래</a:t>
            </a:r>
            <a:r>
              <a:rPr lang="en-US" altLang="ko-KR" sz="1400" dirty="0">
                <a:solidFill>
                  <a:srgbClr val="3D3D3D"/>
                </a:solidFill>
              </a:rPr>
              <a:t>“)</a:t>
            </a:r>
            <a:r>
              <a:rPr lang="ko-KR" altLang="en-US" sz="1400" b="1" dirty="0">
                <a:solidFill>
                  <a:srgbClr val="3D3D3D"/>
                </a:solidFill>
              </a:rPr>
              <a:t>를 고려하고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0247AB-52C5-F56E-90C1-4070C036D500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대상회사 개요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E3B630-77EA-2505-9BDB-23043E3A9196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본 거래 제안구조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723E12A-A53F-DFE7-D89E-47C52B079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971611"/>
              </p:ext>
            </p:extLst>
          </p:nvPr>
        </p:nvGraphicFramePr>
        <p:xfrm>
          <a:off x="453000" y="2168525"/>
          <a:ext cx="4392000" cy="26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19678019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740998687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6393966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26258973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53806885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회사명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en-US" altLang="ko-KR" sz="1000" b="1" dirty="0">
                          <a:solidFill>
                            <a:srgbClr val="3D3D3D"/>
                          </a:solidFill>
                        </a:rPr>
                        <a:t>S</a:t>
                      </a:r>
                      <a:r>
                        <a:rPr lang="ko-KR" altLang="en-US" sz="1000" b="1" dirty="0">
                          <a:solidFill>
                            <a:srgbClr val="3D3D3D"/>
                          </a:solidFill>
                        </a:rPr>
                        <a:t> 주식회사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4178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설립일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1989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5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일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0141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주요사업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변압기 제조 및 공급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290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소재지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경기도 화성 소재 본사 및 제 </a:t>
                      </a: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1 · 2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공장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미국 </a:t>
                      </a:r>
                      <a:r>
                        <a:rPr lang="ko-KR" altLang="en-US" sz="1000" b="0" dirty="0" err="1">
                          <a:solidFill>
                            <a:srgbClr val="3D3D3D"/>
                          </a:solidFill>
                        </a:rPr>
                        <a:t>오클라호마시티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 소재 미국 공장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544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재무현황</a:t>
                      </a:r>
                      <a:endParaRPr lang="en-US" altLang="ko-KR" sz="1000" b="1" dirty="0">
                        <a:solidFill>
                          <a:srgbClr val="11244A"/>
                        </a:solidFill>
                      </a:endParaRP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en-US" altLang="ko-KR" sz="800" b="0" dirty="0">
                          <a:solidFill>
                            <a:srgbClr val="11244A"/>
                          </a:solidFill>
                        </a:rPr>
                        <a:t>(2024</a:t>
                      </a:r>
                      <a:r>
                        <a:rPr lang="ko-KR" altLang="en-US" sz="800" b="0" dirty="0">
                          <a:solidFill>
                            <a:srgbClr val="11244A"/>
                          </a:solidFill>
                        </a:rPr>
                        <a:t>년 별도기준</a:t>
                      </a:r>
                      <a:r>
                        <a:rPr lang="en-US" altLang="ko-KR" sz="800" b="0" dirty="0">
                          <a:solidFill>
                            <a:srgbClr val="11244A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rgbClr val="11244A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자산총계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부채총계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순자산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591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278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313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108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매출액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영업이익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EBITDA</a:t>
                      </a:r>
                      <a:endParaRPr lang="ko-KR" altLang="en-US" sz="1000" b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631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89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108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20021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en-US" altLang="ko-KR" sz="1000" b="1" dirty="0">
                          <a:solidFill>
                            <a:srgbClr val="11244A"/>
                          </a:solidFill>
                        </a:rPr>
                        <a:t>Pro-Forma</a:t>
                      </a: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연결손익</a:t>
                      </a:r>
                      <a:r>
                        <a:rPr lang="en-US" altLang="ko-KR" sz="1000" b="1" baseline="30000" dirty="0">
                          <a:solidFill>
                            <a:srgbClr val="11244A"/>
                          </a:solidFill>
                        </a:rPr>
                        <a:t>(1)</a:t>
                      </a: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en-US" altLang="ko-KR" sz="800" b="0" dirty="0">
                          <a:solidFill>
                            <a:srgbClr val="11244A"/>
                          </a:solidFill>
                        </a:rPr>
                        <a:t>(2024</a:t>
                      </a:r>
                      <a:r>
                        <a:rPr lang="ko-KR" altLang="en-US" sz="800" b="0" dirty="0">
                          <a:solidFill>
                            <a:srgbClr val="11244A"/>
                          </a:solidFill>
                        </a:rPr>
                        <a:t>년 기준</a:t>
                      </a:r>
                      <a:r>
                        <a:rPr lang="en-US" altLang="ko-KR" sz="800" b="0" dirty="0">
                          <a:solidFill>
                            <a:srgbClr val="11244A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rgbClr val="11244A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연결 매출액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연결 영업이익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연결 </a:t>
                      </a: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EBITDA</a:t>
                      </a:r>
                      <a:endParaRPr lang="ko-KR" altLang="en-US" sz="1000" b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r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636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0" indent="0" algn="r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98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marL="0" indent="0" algn="r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118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104818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0DDE09B7-6453-0AC6-FF25-F4789EF69FFA}"/>
              </a:ext>
            </a:extLst>
          </p:cNvPr>
          <p:cNvSpPr txBox="1"/>
          <p:nvPr/>
        </p:nvSpPr>
        <p:spPr>
          <a:xfrm>
            <a:off x="5060999" y="4466719"/>
            <a:ext cx="4391999" cy="365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/>
              <a:t>본 거래는 </a:t>
            </a:r>
            <a:r>
              <a:rPr lang="ko-KR" altLang="en-US" sz="1000" b="1" u="sng" spc="-30" dirty="0">
                <a:solidFill>
                  <a:srgbClr val="0F3A32"/>
                </a:solidFill>
              </a:rPr>
              <a:t>국내 </a:t>
            </a:r>
            <a:r>
              <a:rPr lang="en-US" altLang="ko-KR" sz="1000" b="1" u="sng" spc="-30" dirty="0">
                <a:solidFill>
                  <a:srgbClr val="0F3A32"/>
                </a:solidFill>
              </a:rPr>
              <a:t>Top-tier </a:t>
            </a:r>
            <a:r>
              <a:rPr lang="ko-KR" altLang="en-US" sz="1000" b="1" u="sng" spc="-30" dirty="0">
                <a:solidFill>
                  <a:srgbClr val="0F3A32"/>
                </a:solidFill>
              </a:rPr>
              <a:t>변압기 제조 </a:t>
            </a:r>
            <a:r>
              <a:rPr lang="en-US" altLang="ko-KR" sz="1000" b="1" u="sng" spc="-30" dirty="0">
                <a:solidFill>
                  <a:srgbClr val="0F3A32"/>
                </a:solidFill>
              </a:rPr>
              <a:t>· </a:t>
            </a:r>
            <a:r>
              <a:rPr lang="ko-KR" altLang="en-US" sz="1000" b="1" u="sng" spc="-30" dirty="0">
                <a:solidFill>
                  <a:srgbClr val="0F3A32"/>
                </a:solidFill>
              </a:rPr>
              <a:t>공급업체에 대한 </a:t>
            </a:r>
            <a:r>
              <a:rPr lang="en-US" altLang="ko-KR" sz="1000" b="1" u="sng" spc="-30" dirty="0">
                <a:solidFill>
                  <a:srgbClr val="0F3A32"/>
                </a:solidFill>
              </a:rPr>
              <a:t>Growth Capital </a:t>
            </a:r>
            <a:r>
              <a:rPr lang="ko-KR" altLang="en-US" sz="1000" b="1" u="sng" spc="-30" dirty="0">
                <a:solidFill>
                  <a:srgbClr val="0F3A32"/>
                </a:solidFill>
              </a:rPr>
              <a:t>투자</a:t>
            </a:r>
            <a:r>
              <a:rPr lang="ko-KR" altLang="en-US" sz="1000" spc="-30" dirty="0"/>
              <a:t> 거래임</a:t>
            </a:r>
            <a:endParaRPr lang="en-US" altLang="ko-KR" sz="1000" spc="-30" dirty="0"/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/>
              <a:t>구체적인 투자 구조</a:t>
            </a:r>
            <a:r>
              <a:rPr lang="en-US" altLang="ko-KR" sz="1000" spc="-30" dirty="0"/>
              <a:t>, </a:t>
            </a:r>
            <a:r>
              <a:rPr lang="ko-KR" altLang="en-US" sz="1000" spc="-30" dirty="0"/>
              <a:t>조건 및 투자 후 구매법인 통합방안 등은 협의 가능함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A4FC13B-A64B-DF84-42D9-3A1D02D9ABD3}"/>
              </a:ext>
            </a:extLst>
          </p:cNvPr>
          <p:cNvGrpSpPr/>
          <p:nvPr/>
        </p:nvGrpSpPr>
        <p:grpSpPr>
          <a:xfrm>
            <a:off x="5456999" y="2285256"/>
            <a:ext cx="3600000" cy="1944000"/>
            <a:chOff x="5456999" y="2168525"/>
            <a:chExt cx="3600000" cy="1944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0E128A4-51F2-3A25-6C97-C652E9CF4A91}"/>
                </a:ext>
              </a:extLst>
            </p:cNvPr>
            <p:cNvSpPr/>
            <p:nvPr/>
          </p:nvSpPr>
          <p:spPr>
            <a:xfrm>
              <a:off x="6356999" y="3680525"/>
              <a:ext cx="900000" cy="432000"/>
            </a:xfrm>
            <a:prstGeom prst="rect">
              <a:avLst/>
            </a:prstGeom>
            <a:solidFill>
              <a:srgbClr val="26C260"/>
            </a:solidFill>
            <a:ln w="6350">
              <a:solidFill>
                <a:srgbClr val="26C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S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사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사업법인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B8344E7-5A29-FB38-7A1F-48830001C69F}"/>
                </a:ext>
              </a:extLst>
            </p:cNvPr>
            <p:cNvSpPr/>
            <p:nvPr/>
          </p:nvSpPr>
          <p:spPr>
            <a:xfrm>
              <a:off x="7256999" y="2168525"/>
              <a:ext cx="900000" cy="432000"/>
            </a:xfrm>
            <a:prstGeom prst="rect">
              <a:avLst/>
            </a:prstGeom>
            <a:solidFill>
              <a:srgbClr val="1C8F57"/>
            </a:solidFill>
            <a:ln w="6350">
              <a:solidFill>
                <a:srgbClr val="1C8F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</a:rPr>
                <a:t>회장 및 특수관계인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2BCFDB1-4CE2-3F78-AE2A-B7DC3E389B5C}"/>
                </a:ext>
              </a:extLst>
            </p:cNvPr>
            <p:cNvSpPr/>
            <p:nvPr/>
          </p:nvSpPr>
          <p:spPr>
            <a:xfrm>
              <a:off x="8156999" y="3680525"/>
              <a:ext cx="900000" cy="432000"/>
            </a:xfrm>
            <a:prstGeom prst="rect">
              <a:avLst/>
            </a:prstGeom>
            <a:solidFill>
              <a:srgbClr val="A3E96B"/>
            </a:solidFill>
            <a:ln w="6350">
              <a:solidFill>
                <a:srgbClr val="A3E9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N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사</a:t>
              </a:r>
              <a:endParaRPr lang="en-US" altLang="ko-KR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구매법인</a:t>
              </a:r>
            </a:p>
          </p:txBody>
        </p: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AC19BE3D-43D6-33DC-54E9-67FAD61F3302}"/>
                </a:ext>
              </a:extLst>
            </p:cNvPr>
            <p:cNvCxnSpPr>
              <a:stCxn id="11" idx="2"/>
              <a:endCxn id="5" idx="0"/>
            </p:cNvCxnSpPr>
            <p:nvPr/>
          </p:nvCxnSpPr>
          <p:spPr>
            <a:xfrm rot="5400000">
              <a:off x="6716999" y="2690525"/>
              <a:ext cx="1080000" cy="900000"/>
            </a:xfrm>
            <a:prstGeom prst="bentConnector3">
              <a:avLst/>
            </a:prstGeom>
            <a:ln w="6350">
              <a:solidFill>
                <a:srgbClr val="6A6A6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695FB5DA-2F20-0DB6-F77C-1BBC89115367}"/>
                </a:ext>
              </a:extLst>
            </p:cNvPr>
            <p:cNvCxnSpPr>
              <a:stCxn id="11" idx="2"/>
              <a:endCxn id="14" idx="0"/>
            </p:cNvCxnSpPr>
            <p:nvPr/>
          </p:nvCxnSpPr>
          <p:spPr>
            <a:xfrm rot="16200000" flipH="1">
              <a:off x="7616999" y="2690525"/>
              <a:ext cx="1080000" cy="900000"/>
            </a:xfrm>
            <a:prstGeom prst="bentConnector3">
              <a:avLst/>
            </a:prstGeom>
            <a:ln w="6350">
              <a:solidFill>
                <a:srgbClr val="6A6A6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A2D093-4DDE-6393-B1C5-D7409DA57246}"/>
                </a:ext>
              </a:extLst>
            </p:cNvPr>
            <p:cNvSpPr txBox="1"/>
            <p:nvPr/>
          </p:nvSpPr>
          <p:spPr>
            <a:xfrm>
              <a:off x="6942307" y="3353675"/>
              <a:ext cx="408766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000" dirty="0"/>
                <a:t>약 </a:t>
              </a:r>
              <a:r>
                <a:rPr lang="en-US" altLang="ko-KR" sz="1000" dirty="0"/>
                <a:t>90%</a:t>
              </a:r>
              <a:endParaRPr lang="ko-KR" altLang="en-US" sz="1000" dirty="0" err="1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D0C9E9-D11F-E27C-0CDC-FAAFA4840E5E}"/>
                </a:ext>
              </a:extLst>
            </p:cNvPr>
            <p:cNvSpPr txBox="1"/>
            <p:nvPr/>
          </p:nvSpPr>
          <p:spPr>
            <a:xfrm>
              <a:off x="8736398" y="3353675"/>
              <a:ext cx="320601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000" dirty="0"/>
                <a:t>100%</a:t>
              </a:r>
              <a:endParaRPr lang="ko-KR" altLang="en-US" sz="1000" dirty="0" err="1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09023924-CD24-44DA-F730-4E998494A2E8}"/>
                </a:ext>
              </a:extLst>
            </p:cNvPr>
            <p:cNvCxnSpPr>
              <a:stCxn id="14" idx="1"/>
              <a:endCxn id="5" idx="3"/>
            </p:cNvCxnSpPr>
            <p:nvPr/>
          </p:nvCxnSpPr>
          <p:spPr>
            <a:xfrm flipH="1">
              <a:off x="7256999" y="3896525"/>
              <a:ext cx="900000" cy="0"/>
            </a:xfrm>
            <a:prstGeom prst="straightConnector1">
              <a:avLst/>
            </a:prstGeom>
            <a:ln w="6350">
              <a:solidFill>
                <a:srgbClr val="6A6A6A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6EAAAD-B302-5A30-FD74-452BD4948A06}"/>
                </a:ext>
              </a:extLst>
            </p:cNvPr>
            <p:cNvSpPr txBox="1"/>
            <p:nvPr/>
          </p:nvSpPr>
          <p:spPr>
            <a:xfrm>
              <a:off x="7473762" y="3953472"/>
              <a:ext cx="466474" cy="12644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800" dirty="0"/>
                <a:t>원재료 납품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87435F5-EE77-C14A-9AE7-06B32ABB6A05}"/>
                </a:ext>
              </a:extLst>
            </p:cNvPr>
            <p:cNvSpPr/>
            <p:nvPr/>
          </p:nvSpPr>
          <p:spPr>
            <a:xfrm>
              <a:off x="5456999" y="2168525"/>
              <a:ext cx="900000" cy="432000"/>
            </a:xfrm>
            <a:prstGeom prst="rect">
              <a:avLst/>
            </a:prstGeom>
            <a:solidFill>
              <a:srgbClr val="2082FF"/>
            </a:solidFill>
            <a:ln w="6350">
              <a:solidFill>
                <a:srgbClr val="2082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</a:rPr>
                <a:t>잠재적 투자자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5CBCEF1A-A04C-B7B8-91E2-EEDE371FCCF9}"/>
                </a:ext>
              </a:extLst>
            </p:cNvPr>
            <p:cNvCxnSpPr>
              <a:stCxn id="30" idx="2"/>
              <a:endCxn id="5" idx="1"/>
            </p:cNvCxnSpPr>
            <p:nvPr/>
          </p:nvCxnSpPr>
          <p:spPr>
            <a:xfrm rot="16200000" flipH="1">
              <a:off x="5483999" y="3023525"/>
              <a:ext cx="1296000" cy="450000"/>
            </a:xfrm>
            <a:prstGeom prst="bentConnector2">
              <a:avLst/>
            </a:prstGeom>
            <a:ln w="19050">
              <a:solidFill>
                <a:srgbClr val="2082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4F883-B01F-C585-CB91-46D7E5B0E54D}"/>
                </a:ext>
              </a:extLst>
            </p:cNvPr>
            <p:cNvSpPr txBox="1"/>
            <p:nvPr/>
          </p:nvSpPr>
          <p:spPr>
            <a:xfrm>
              <a:off x="6035954" y="2892219"/>
              <a:ext cx="450444" cy="4966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000" b="1" dirty="0">
                  <a:solidFill>
                    <a:srgbClr val="2082FF"/>
                  </a:solidFill>
                </a:rPr>
                <a:t>Growth</a:t>
              </a:r>
            </a:p>
            <a:p>
              <a:pPr algn="l">
                <a:lnSpc>
                  <a:spcPct val="110000"/>
                </a:lnSpc>
              </a:pPr>
              <a:r>
                <a:rPr lang="en-US" altLang="ko-KR" sz="1000" b="1" dirty="0">
                  <a:solidFill>
                    <a:srgbClr val="2082FF"/>
                  </a:solidFill>
                </a:rPr>
                <a:t>Capital</a:t>
              </a:r>
            </a:p>
            <a:p>
              <a:pPr algn="l">
                <a:lnSpc>
                  <a:spcPct val="110000"/>
                </a:lnSpc>
              </a:pPr>
              <a:r>
                <a:rPr lang="ko-KR" altLang="en-US" sz="1000" b="1" dirty="0">
                  <a:solidFill>
                    <a:srgbClr val="2082FF"/>
                  </a:solidFill>
                </a:rPr>
                <a:t>투자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8027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B0398D40-A3EB-B59E-C0FB-2559FBB6990E}"/>
              </a:ext>
            </a:extLst>
          </p:cNvPr>
          <p:cNvSpPr/>
          <p:nvPr/>
        </p:nvSpPr>
        <p:spPr>
          <a:xfrm>
            <a:off x="4458000" y="3608525"/>
            <a:ext cx="1944000" cy="151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529E5A-560A-2890-D49E-9560B6601A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Target Positioning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4C000B-644C-FF8D-E46C-1A209BC1C4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5D625-3D36-EDEB-E96B-F94E2DEE483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05951-6406-0518-EB68-88D9DF745172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전력계통 내 배전 단계의 필수 전력기기인 변압기를 생산하고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최대 </a:t>
            </a:r>
            <a:r>
              <a:rPr lang="en-US" altLang="ko-KR" sz="1400" b="1" dirty="0">
                <a:solidFill>
                  <a:srgbClr val="3D3D3D"/>
                </a:solidFill>
              </a:rPr>
              <a:t>72.5kV</a:t>
            </a:r>
            <a:r>
              <a:rPr lang="ko-KR" altLang="en-US" sz="1400" b="1" dirty="0">
                <a:solidFill>
                  <a:srgbClr val="3D3D3D"/>
                </a:solidFill>
              </a:rPr>
              <a:t>급 </a:t>
            </a:r>
            <a:r>
              <a:rPr lang="ko-KR" altLang="en-US" sz="1400" b="1" dirty="0" err="1">
                <a:solidFill>
                  <a:srgbClr val="3D3D3D"/>
                </a:solidFill>
              </a:rPr>
              <a:t>중고압</a:t>
            </a:r>
            <a:r>
              <a:rPr lang="ko-KR" altLang="en-US" sz="1400" b="1" dirty="0">
                <a:solidFill>
                  <a:srgbClr val="3D3D3D"/>
                </a:solidFill>
              </a:rPr>
              <a:t> 전력을 수용가에서 즉시 사용 가능한 저압으로 강압하는 </a:t>
            </a:r>
            <a:r>
              <a:rPr lang="en-US" altLang="ko-KR" sz="1400" b="1" dirty="0">
                <a:solidFill>
                  <a:srgbClr val="3D3D3D"/>
                </a:solidFill>
              </a:rPr>
              <a:t>Full-Range</a:t>
            </a:r>
            <a:r>
              <a:rPr lang="ko-KR" altLang="en-US" sz="1400" b="1" dirty="0">
                <a:solidFill>
                  <a:srgbClr val="3D3D3D"/>
                </a:solidFill>
              </a:rPr>
              <a:t>의 배전 변압기 라인업을 보유하고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2E3C65-672F-645D-05DB-BFECD4378EE1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전력계통 내 대상회사 </a:t>
            </a:r>
            <a:r>
              <a:rPr lang="ko-KR" altLang="en-US" sz="1200" b="1">
                <a:solidFill>
                  <a:schemeClr val="bg1"/>
                </a:solidFill>
              </a:rPr>
              <a:t>핵심 사업영역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857995D8-A523-B39F-9240-F95DDAA492C0}"/>
              </a:ext>
            </a:extLst>
          </p:cNvPr>
          <p:cNvSpPr/>
          <p:nvPr/>
        </p:nvSpPr>
        <p:spPr>
          <a:xfrm>
            <a:off x="453000" y="2168525"/>
            <a:ext cx="1548000" cy="288000"/>
          </a:xfrm>
          <a:prstGeom prst="homePlate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발전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9" name="화살표: 갈매기형 수장 38">
            <a:extLst>
              <a:ext uri="{FF2B5EF4-FFF2-40B4-BE49-F238E27FC236}">
                <a16:creationId xmlns:a16="http://schemas.microsoft.com/office/drawing/2014/main" id="{E58C1FFA-CF2F-2870-CF3E-660E5A4B3FCC}"/>
              </a:ext>
            </a:extLst>
          </p:cNvPr>
          <p:cNvSpPr/>
          <p:nvPr/>
        </p:nvSpPr>
        <p:spPr>
          <a:xfrm>
            <a:off x="1956000" y="2168525"/>
            <a:ext cx="1548000" cy="288000"/>
          </a:xfrm>
          <a:prstGeom prst="chevron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송전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화살표: 갈매기형 수장 39">
            <a:extLst>
              <a:ext uri="{FF2B5EF4-FFF2-40B4-BE49-F238E27FC236}">
                <a16:creationId xmlns:a16="http://schemas.microsoft.com/office/drawing/2014/main" id="{5B4F332A-01D0-67A9-C16D-0B4A736296AF}"/>
              </a:ext>
            </a:extLst>
          </p:cNvPr>
          <p:cNvSpPr/>
          <p:nvPr/>
        </p:nvSpPr>
        <p:spPr>
          <a:xfrm>
            <a:off x="3459000" y="2168525"/>
            <a:ext cx="2988000" cy="288000"/>
          </a:xfrm>
          <a:prstGeom prst="chevron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변전</a:t>
            </a:r>
          </a:p>
        </p:txBody>
      </p:sp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E4C2BF62-A577-8AB9-C220-776191B99AD5}"/>
              </a:ext>
            </a:extLst>
          </p:cNvPr>
          <p:cNvSpPr/>
          <p:nvPr/>
        </p:nvSpPr>
        <p:spPr>
          <a:xfrm>
            <a:off x="6402000" y="2168525"/>
            <a:ext cx="1548000" cy="288000"/>
          </a:xfrm>
          <a:prstGeom prst="chevron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배전</a:t>
            </a: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09AEF73D-1727-D579-6963-68E2546A9A31}"/>
              </a:ext>
            </a:extLst>
          </p:cNvPr>
          <p:cNvSpPr/>
          <p:nvPr/>
        </p:nvSpPr>
        <p:spPr>
          <a:xfrm>
            <a:off x="7905000" y="2168525"/>
            <a:ext cx="1548000" cy="288000"/>
          </a:xfrm>
          <a:prstGeom prst="chevron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수용가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D08F4C-A42D-3098-EBB9-8237084D927A}"/>
              </a:ext>
            </a:extLst>
          </p:cNvPr>
          <p:cNvSpPr txBox="1"/>
          <p:nvPr/>
        </p:nvSpPr>
        <p:spPr>
          <a:xfrm>
            <a:off x="452438" y="2600525"/>
            <a:ext cx="1404562" cy="32733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000" spc="-30" dirty="0"/>
              <a:t>화력</a:t>
            </a:r>
            <a:r>
              <a:rPr lang="en-US" altLang="ko-KR" sz="1000" spc="-30" dirty="0"/>
              <a:t>, </a:t>
            </a:r>
            <a:r>
              <a:rPr lang="ko-KR" altLang="en-US" sz="1000" spc="-30" dirty="0"/>
              <a:t>수력</a:t>
            </a:r>
            <a:r>
              <a:rPr lang="en-US" altLang="ko-KR" sz="1000" spc="-30" dirty="0"/>
              <a:t>, </a:t>
            </a:r>
            <a:r>
              <a:rPr lang="ko-KR" altLang="en-US" sz="1000" spc="-30" dirty="0"/>
              <a:t>원자력</a:t>
            </a:r>
            <a:r>
              <a:rPr lang="en-US" altLang="ko-KR" sz="1000" spc="-30" dirty="0"/>
              <a:t>, </a:t>
            </a:r>
            <a:r>
              <a:rPr lang="ko-KR" altLang="en-US" sz="1000" spc="-30" dirty="0"/>
              <a:t>신재생 등 에너지원 통한 전력 발전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6BDA84-8801-1825-8F94-20029FF807EF}"/>
              </a:ext>
            </a:extLst>
          </p:cNvPr>
          <p:cNvSpPr txBox="1"/>
          <p:nvPr/>
        </p:nvSpPr>
        <p:spPr>
          <a:xfrm>
            <a:off x="1956000" y="2600525"/>
            <a:ext cx="1404561" cy="32733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000" spc="-30" dirty="0"/>
              <a:t>발전된 전기를 각 변전소 및 수요처까지 수송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0F0F00-43D9-630B-4C01-CD6A9FC1E25E}"/>
              </a:ext>
            </a:extLst>
          </p:cNvPr>
          <p:cNvSpPr txBox="1"/>
          <p:nvPr/>
        </p:nvSpPr>
        <p:spPr>
          <a:xfrm>
            <a:off x="3459000" y="2600525"/>
            <a:ext cx="2881362" cy="15805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000" spc="-30" dirty="0"/>
              <a:t>송전된 전기를 지역 배전에 적합한 중 </a:t>
            </a:r>
            <a:r>
              <a:rPr lang="en-US" altLang="ko-KR" sz="1000" spc="-30" dirty="0"/>
              <a:t>· </a:t>
            </a:r>
            <a:r>
              <a:rPr lang="ko-KR" altLang="en-US" sz="1000" spc="-30" dirty="0" err="1"/>
              <a:t>저전압으로</a:t>
            </a:r>
            <a:r>
              <a:rPr lang="ko-KR" altLang="en-US" sz="1000" spc="-30" dirty="0"/>
              <a:t> 변환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107E164-70F8-F320-017E-E41B370AD634}"/>
              </a:ext>
            </a:extLst>
          </p:cNvPr>
          <p:cNvSpPr txBox="1"/>
          <p:nvPr/>
        </p:nvSpPr>
        <p:spPr>
          <a:xfrm>
            <a:off x="6402000" y="2600525"/>
            <a:ext cx="1404561" cy="15805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000" spc="-30" dirty="0" err="1"/>
              <a:t>변압된</a:t>
            </a:r>
            <a:r>
              <a:rPr lang="ko-KR" altLang="en-US" sz="1000" spc="-30" dirty="0"/>
              <a:t> 전기를 </a:t>
            </a:r>
            <a:r>
              <a:rPr lang="ko-KR" altLang="en-US" sz="1000" spc="-30" dirty="0" err="1"/>
              <a:t>수요처</a:t>
            </a:r>
            <a:r>
              <a:rPr lang="ko-KR" altLang="en-US" sz="1000" spc="-30" dirty="0"/>
              <a:t> 분배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1F106F-CA76-C364-BC24-EED0497602FD}"/>
              </a:ext>
            </a:extLst>
          </p:cNvPr>
          <p:cNvSpPr txBox="1"/>
          <p:nvPr/>
        </p:nvSpPr>
        <p:spPr>
          <a:xfrm>
            <a:off x="7905000" y="2600525"/>
            <a:ext cx="1404561" cy="15805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000" spc="-30" dirty="0"/>
              <a:t>다양한 수요처의 전기 사용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8A5D39A-DDB3-4C99-1F4E-41262E6EF7C5}"/>
              </a:ext>
            </a:extLst>
          </p:cNvPr>
          <p:cNvCxnSpPr>
            <a:cxnSpLocks/>
          </p:cNvCxnSpPr>
          <p:nvPr/>
        </p:nvCxnSpPr>
        <p:spPr>
          <a:xfrm>
            <a:off x="453000" y="2960525"/>
            <a:ext cx="9000000" cy="0"/>
          </a:xfrm>
          <a:prstGeom prst="line">
            <a:avLst/>
          </a:prstGeom>
          <a:ln w="635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EE681BD-2E38-29D4-3D97-EF1AB92527AC}"/>
              </a:ext>
            </a:extLst>
          </p:cNvPr>
          <p:cNvCxnSpPr>
            <a:cxnSpLocks/>
          </p:cNvCxnSpPr>
          <p:nvPr/>
        </p:nvCxnSpPr>
        <p:spPr>
          <a:xfrm>
            <a:off x="1956000" y="2600525"/>
            <a:ext cx="0" cy="2520000"/>
          </a:xfrm>
          <a:prstGeom prst="line">
            <a:avLst/>
          </a:prstGeom>
          <a:ln w="635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15AE43A-AC90-B0AD-8AE1-10F32D094817}"/>
              </a:ext>
            </a:extLst>
          </p:cNvPr>
          <p:cNvCxnSpPr>
            <a:cxnSpLocks/>
          </p:cNvCxnSpPr>
          <p:nvPr/>
        </p:nvCxnSpPr>
        <p:spPr>
          <a:xfrm>
            <a:off x="3459000" y="2600525"/>
            <a:ext cx="0" cy="2520000"/>
          </a:xfrm>
          <a:prstGeom prst="line">
            <a:avLst/>
          </a:prstGeom>
          <a:ln w="635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1460A6C-2F1A-FD19-B865-0B87ED6FA4FD}"/>
              </a:ext>
            </a:extLst>
          </p:cNvPr>
          <p:cNvCxnSpPr>
            <a:cxnSpLocks/>
          </p:cNvCxnSpPr>
          <p:nvPr/>
        </p:nvCxnSpPr>
        <p:spPr>
          <a:xfrm>
            <a:off x="6402000" y="2600525"/>
            <a:ext cx="0" cy="2520000"/>
          </a:xfrm>
          <a:prstGeom prst="line">
            <a:avLst/>
          </a:prstGeom>
          <a:ln w="635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2E8D7AE-79B8-9C6E-76F1-50AF3506D1C8}"/>
              </a:ext>
            </a:extLst>
          </p:cNvPr>
          <p:cNvCxnSpPr>
            <a:cxnSpLocks/>
          </p:cNvCxnSpPr>
          <p:nvPr/>
        </p:nvCxnSpPr>
        <p:spPr>
          <a:xfrm>
            <a:off x="7905000" y="2600525"/>
            <a:ext cx="0" cy="2520000"/>
          </a:xfrm>
          <a:prstGeom prst="line">
            <a:avLst/>
          </a:prstGeom>
          <a:ln w="635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그래픽 36">
            <a:extLst>
              <a:ext uri="{FF2B5EF4-FFF2-40B4-BE49-F238E27FC236}">
                <a16:creationId xmlns:a16="http://schemas.microsoft.com/office/drawing/2014/main" id="{C6DA878E-D623-4CBF-2AEE-60E777C27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2000" y="3716525"/>
            <a:ext cx="432000" cy="432000"/>
          </a:xfrm>
          <a:prstGeom prst="rect">
            <a:avLst/>
          </a:prstGeom>
        </p:spPr>
      </p:pic>
      <p:pic>
        <p:nvPicPr>
          <p:cNvPr id="48" name="그래픽 47">
            <a:extLst>
              <a:ext uri="{FF2B5EF4-FFF2-40B4-BE49-F238E27FC236}">
                <a16:creationId xmlns:a16="http://schemas.microsoft.com/office/drawing/2014/main" id="{0EE6974B-EA57-8E82-3F2C-21810351E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7000" y="3068525"/>
            <a:ext cx="360000" cy="360000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E74DA2E1-B163-8E7A-8A2A-7440363746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27000" y="3752525"/>
            <a:ext cx="360000" cy="360000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6BD5178A-5E77-8B66-270C-499676288A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27000" y="4436525"/>
            <a:ext cx="360000" cy="360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8E52178B-1ADC-4636-C5F5-734B2E22B7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83000" y="3716525"/>
            <a:ext cx="432000" cy="4320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24CBEC42-4BAF-B768-9C9F-B43430537E51}"/>
              </a:ext>
            </a:extLst>
          </p:cNvPr>
          <p:cNvSpPr txBox="1"/>
          <p:nvPr/>
        </p:nvSpPr>
        <p:spPr>
          <a:xfrm>
            <a:off x="989089" y="4206468"/>
            <a:ext cx="331822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2A2A2A"/>
                </a:solidFill>
              </a:rPr>
              <a:t>발전소</a:t>
            </a:r>
          </a:p>
        </p:txBody>
      </p:sp>
      <p:pic>
        <p:nvPicPr>
          <p:cNvPr id="77" name="그래픽 76">
            <a:extLst>
              <a:ext uri="{FF2B5EF4-FFF2-40B4-BE49-F238E27FC236}">
                <a16:creationId xmlns:a16="http://schemas.microsoft.com/office/drawing/2014/main" id="{1B3616A9-4114-4CC6-1BD6-2F53B138F9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9000" y="3716525"/>
            <a:ext cx="432000" cy="4320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5F215675-E541-1EF9-F13C-862CB9E39715}"/>
              </a:ext>
            </a:extLst>
          </p:cNvPr>
          <p:cNvSpPr txBox="1"/>
          <p:nvPr/>
        </p:nvSpPr>
        <p:spPr>
          <a:xfrm>
            <a:off x="2492091" y="4206468"/>
            <a:ext cx="331822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>
                <a:solidFill>
                  <a:srgbClr val="2A2A2A"/>
                </a:solidFill>
              </a:rPr>
              <a:t>송전망</a:t>
            </a:r>
            <a:endParaRPr lang="ko-KR" altLang="en-US" sz="1000" b="1" dirty="0">
              <a:solidFill>
                <a:srgbClr val="2A2A2A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2F2FB8D-C505-477D-D591-AB116EEB36E0}"/>
              </a:ext>
            </a:extLst>
          </p:cNvPr>
          <p:cNvSpPr txBox="1"/>
          <p:nvPr/>
        </p:nvSpPr>
        <p:spPr>
          <a:xfrm>
            <a:off x="3732901" y="4206468"/>
            <a:ext cx="532198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1C8F57"/>
                </a:solidFill>
              </a:rPr>
              <a:t>1</a:t>
            </a:r>
            <a:r>
              <a:rPr lang="ko-KR" altLang="en-US" sz="1000" b="1" dirty="0">
                <a:solidFill>
                  <a:srgbClr val="1C8F57"/>
                </a:solidFill>
              </a:rPr>
              <a:t>차 변전소</a:t>
            </a:r>
          </a:p>
        </p:txBody>
      </p:sp>
      <p:pic>
        <p:nvPicPr>
          <p:cNvPr id="87" name="그래픽 86">
            <a:extLst>
              <a:ext uri="{FF2B5EF4-FFF2-40B4-BE49-F238E27FC236}">
                <a16:creationId xmlns:a16="http://schemas.microsoft.com/office/drawing/2014/main" id="{2E2F044B-5280-3F3F-EF78-4E54B24418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83000" y="3716525"/>
            <a:ext cx="432000" cy="43200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EBC19DB-A655-D0F2-182B-B98EC0054C79}"/>
              </a:ext>
            </a:extLst>
          </p:cNvPr>
          <p:cNvSpPr txBox="1"/>
          <p:nvPr/>
        </p:nvSpPr>
        <p:spPr>
          <a:xfrm>
            <a:off x="4624084" y="4206468"/>
            <a:ext cx="549831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1C8F57"/>
                </a:solidFill>
              </a:rPr>
              <a:t>2</a:t>
            </a:r>
            <a:r>
              <a:rPr lang="ko-KR" altLang="en-US" sz="1000" b="1" dirty="0">
                <a:solidFill>
                  <a:srgbClr val="1C8F57"/>
                </a:solidFill>
              </a:rPr>
              <a:t>차 변전소</a:t>
            </a:r>
          </a:p>
        </p:txBody>
      </p:sp>
      <p:pic>
        <p:nvPicPr>
          <p:cNvPr id="89" name="그래픽 88">
            <a:extLst>
              <a:ext uri="{FF2B5EF4-FFF2-40B4-BE49-F238E27FC236}">
                <a16:creationId xmlns:a16="http://schemas.microsoft.com/office/drawing/2014/main" id="{BA4A9BD8-EB86-0D13-26D3-55B273562F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83000" y="4364525"/>
            <a:ext cx="432000" cy="43200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AAB10175-994C-CAF0-7C77-06D60BEE6CDE}"/>
              </a:ext>
            </a:extLst>
          </p:cNvPr>
          <p:cNvSpPr txBox="1"/>
          <p:nvPr/>
        </p:nvSpPr>
        <p:spPr>
          <a:xfrm>
            <a:off x="5508054" y="4854468"/>
            <a:ext cx="581891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C8F57"/>
                </a:solidFill>
              </a:rPr>
              <a:t>주상 변압기</a:t>
            </a:r>
          </a:p>
        </p:txBody>
      </p:sp>
      <p:pic>
        <p:nvPicPr>
          <p:cNvPr id="54" name="그래픽 53">
            <a:extLst>
              <a:ext uri="{FF2B5EF4-FFF2-40B4-BE49-F238E27FC236}">
                <a16:creationId xmlns:a16="http://schemas.microsoft.com/office/drawing/2014/main" id="{E4099B5E-935A-1ABF-CCAB-96E88CB352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24000" y="3068525"/>
            <a:ext cx="360000" cy="3600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6DCC2C7D-2AF5-21CC-0C19-F1830223BB02}"/>
              </a:ext>
            </a:extLst>
          </p:cNvPr>
          <p:cNvSpPr txBox="1"/>
          <p:nvPr/>
        </p:nvSpPr>
        <p:spPr>
          <a:xfrm>
            <a:off x="6877765" y="3486468"/>
            <a:ext cx="442430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2A2A2A"/>
                </a:solidFill>
              </a:rPr>
              <a:t>배전기기</a:t>
            </a:r>
          </a:p>
        </p:txBody>
      </p:sp>
      <p:pic>
        <p:nvPicPr>
          <p:cNvPr id="100" name="그래픽 99">
            <a:extLst>
              <a:ext uri="{FF2B5EF4-FFF2-40B4-BE49-F238E27FC236}">
                <a16:creationId xmlns:a16="http://schemas.microsoft.com/office/drawing/2014/main" id="{4C653D8E-0FFF-514D-1841-9D03A05F41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24000" y="3752525"/>
            <a:ext cx="360000" cy="36000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347C561F-FC56-B29E-9C0F-70756A3FDB97}"/>
              </a:ext>
            </a:extLst>
          </p:cNvPr>
          <p:cNvSpPr txBox="1"/>
          <p:nvPr/>
        </p:nvSpPr>
        <p:spPr>
          <a:xfrm>
            <a:off x="6877765" y="4170468"/>
            <a:ext cx="442430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2A2A2A"/>
                </a:solidFill>
              </a:rPr>
              <a:t>배전기기</a:t>
            </a:r>
          </a:p>
        </p:txBody>
      </p:sp>
      <p:pic>
        <p:nvPicPr>
          <p:cNvPr id="103" name="그래픽 102">
            <a:extLst>
              <a:ext uri="{FF2B5EF4-FFF2-40B4-BE49-F238E27FC236}">
                <a16:creationId xmlns:a16="http://schemas.microsoft.com/office/drawing/2014/main" id="{7F4C533F-D9C7-7B2C-2838-9AFDF591E6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24000" y="4436525"/>
            <a:ext cx="360000" cy="36000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0277F2AB-E3C8-8D94-5F26-78528BF2B276}"/>
              </a:ext>
            </a:extLst>
          </p:cNvPr>
          <p:cNvSpPr txBox="1"/>
          <p:nvPr/>
        </p:nvSpPr>
        <p:spPr>
          <a:xfrm>
            <a:off x="6877765" y="4854468"/>
            <a:ext cx="442430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2A2A2A"/>
                </a:solidFill>
              </a:rPr>
              <a:t>배전기기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CDCE0BF-42BC-FD38-B50F-C40347041127}"/>
              </a:ext>
            </a:extLst>
          </p:cNvPr>
          <p:cNvSpPr txBox="1"/>
          <p:nvPr/>
        </p:nvSpPr>
        <p:spPr>
          <a:xfrm>
            <a:off x="8385785" y="3486468"/>
            <a:ext cx="442430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2A2A2A"/>
                </a:solidFill>
              </a:rPr>
              <a:t>대형공장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1359C6B-78BD-26AD-0E11-6A998FE73FA6}"/>
              </a:ext>
            </a:extLst>
          </p:cNvPr>
          <p:cNvSpPr txBox="1"/>
          <p:nvPr/>
        </p:nvSpPr>
        <p:spPr>
          <a:xfrm>
            <a:off x="8385785" y="4170468"/>
            <a:ext cx="442430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>
                <a:solidFill>
                  <a:srgbClr val="2A2A2A"/>
                </a:solidFill>
              </a:rPr>
              <a:t>대형건물</a:t>
            </a:r>
            <a:endParaRPr lang="ko-KR" altLang="en-US" sz="1000" b="1" dirty="0">
              <a:solidFill>
                <a:srgbClr val="2A2A2A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EC3C748-588F-D3B1-9B00-C3140B078AE8}"/>
              </a:ext>
            </a:extLst>
          </p:cNvPr>
          <p:cNvSpPr txBox="1"/>
          <p:nvPr/>
        </p:nvSpPr>
        <p:spPr>
          <a:xfrm>
            <a:off x="8385785" y="4854468"/>
            <a:ext cx="442430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2A2A2A"/>
                </a:solidFill>
              </a:rPr>
              <a:t>일반가정</a:t>
            </a:r>
          </a:p>
        </p:txBody>
      </p:sp>
      <p:sp>
        <p:nvSpPr>
          <p:cNvPr id="110" name="화살표: 오른쪽 109">
            <a:extLst>
              <a:ext uri="{FF2B5EF4-FFF2-40B4-BE49-F238E27FC236}">
                <a16:creationId xmlns:a16="http://schemas.microsoft.com/office/drawing/2014/main" id="{380BDB09-F686-079A-D0AB-524708CF8630}"/>
              </a:ext>
            </a:extLst>
          </p:cNvPr>
          <p:cNvSpPr/>
          <p:nvPr/>
        </p:nvSpPr>
        <p:spPr>
          <a:xfrm>
            <a:off x="1438500" y="3892950"/>
            <a:ext cx="936000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1" name="화살표: 오른쪽 110">
            <a:extLst>
              <a:ext uri="{FF2B5EF4-FFF2-40B4-BE49-F238E27FC236}">
                <a16:creationId xmlns:a16="http://schemas.microsoft.com/office/drawing/2014/main" id="{7E2F3233-5769-DC3D-4AA4-B8364DB56019}"/>
              </a:ext>
            </a:extLst>
          </p:cNvPr>
          <p:cNvSpPr/>
          <p:nvPr/>
        </p:nvSpPr>
        <p:spPr>
          <a:xfrm>
            <a:off x="2932500" y="3892950"/>
            <a:ext cx="792000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2" name="화살표: 오른쪽 111">
            <a:extLst>
              <a:ext uri="{FF2B5EF4-FFF2-40B4-BE49-F238E27FC236}">
                <a16:creationId xmlns:a16="http://schemas.microsoft.com/office/drawing/2014/main" id="{0D2C2FA6-7253-3E7C-A599-2B802701BA94}"/>
              </a:ext>
            </a:extLst>
          </p:cNvPr>
          <p:cNvSpPr/>
          <p:nvPr/>
        </p:nvSpPr>
        <p:spPr>
          <a:xfrm>
            <a:off x="4305000" y="3892950"/>
            <a:ext cx="288000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3" name="화살표: 오른쪽 112">
            <a:extLst>
              <a:ext uri="{FF2B5EF4-FFF2-40B4-BE49-F238E27FC236}">
                <a16:creationId xmlns:a16="http://schemas.microsoft.com/office/drawing/2014/main" id="{0D9C4CB0-A908-FFCD-85EC-36844949D46F}"/>
              </a:ext>
            </a:extLst>
          </p:cNvPr>
          <p:cNvSpPr/>
          <p:nvPr/>
        </p:nvSpPr>
        <p:spPr>
          <a:xfrm>
            <a:off x="5225877" y="3892950"/>
            <a:ext cx="1620000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4" name="화살표: 오른쪽 113">
            <a:extLst>
              <a:ext uri="{FF2B5EF4-FFF2-40B4-BE49-F238E27FC236}">
                <a16:creationId xmlns:a16="http://schemas.microsoft.com/office/drawing/2014/main" id="{11D89808-F3BD-7B57-1172-548EF875720E}"/>
              </a:ext>
            </a:extLst>
          </p:cNvPr>
          <p:cNvSpPr/>
          <p:nvPr/>
        </p:nvSpPr>
        <p:spPr>
          <a:xfrm>
            <a:off x="7395862" y="3892950"/>
            <a:ext cx="936000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CA466D2-14A3-1F88-0384-6BB2113C5A55}"/>
              </a:ext>
            </a:extLst>
          </p:cNvPr>
          <p:cNvSpPr/>
          <p:nvPr/>
        </p:nvSpPr>
        <p:spPr>
          <a:xfrm>
            <a:off x="3963000" y="3234156"/>
            <a:ext cx="72000" cy="402744"/>
          </a:xfrm>
          <a:prstGeom prst="rect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6" name="화살표: 오른쪽 115">
            <a:extLst>
              <a:ext uri="{FF2B5EF4-FFF2-40B4-BE49-F238E27FC236}">
                <a16:creationId xmlns:a16="http://schemas.microsoft.com/office/drawing/2014/main" id="{FAD4B430-A32D-D752-E707-8A4D0C7F5CAB}"/>
              </a:ext>
            </a:extLst>
          </p:cNvPr>
          <p:cNvSpPr/>
          <p:nvPr/>
        </p:nvSpPr>
        <p:spPr>
          <a:xfrm>
            <a:off x="3963000" y="3176525"/>
            <a:ext cx="2882877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D1C725A-3A6A-21C7-0AE0-E01A6F0014CE}"/>
              </a:ext>
            </a:extLst>
          </p:cNvPr>
          <p:cNvSpPr/>
          <p:nvPr/>
        </p:nvSpPr>
        <p:spPr>
          <a:xfrm>
            <a:off x="4863000" y="4435294"/>
            <a:ext cx="72000" cy="196238"/>
          </a:xfrm>
          <a:prstGeom prst="rect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8" name="화살표: 오른쪽 117">
            <a:extLst>
              <a:ext uri="{FF2B5EF4-FFF2-40B4-BE49-F238E27FC236}">
                <a16:creationId xmlns:a16="http://schemas.microsoft.com/office/drawing/2014/main" id="{1211FFA1-E405-6B26-3332-CDFB7E432F08}"/>
              </a:ext>
            </a:extLst>
          </p:cNvPr>
          <p:cNvSpPr/>
          <p:nvPr/>
        </p:nvSpPr>
        <p:spPr>
          <a:xfrm>
            <a:off x="7395862" y="3176525"/>
            <a:ext cx="936000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9" name="화살표: 오른쪽 118">
            <a:extLst>
              <a:ext uri="{FF2B5EF4-FFF2-40B4-BE49-F238E27FC236}">
                <a16:creationId xmlns:a16="http://schemas.microsoft.com/office/drawing/2014/main" id="{C85057BE-8C55-6AC6-C5CE-0600A8A2F5E2}"/>
              </a:ext>
            </a:extLst>
          </p:cNvPr>
          <p:cNvSpPr/>
          <p:nvPr/>
        </p:nvSpPr>
        <p:spPr>
          <a:xfrm>
            <a:off x="7395862" y="4544525"/>
            <a:ext cx="936000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E66168D9-CBDA-367F-4251-8F968FDEDDE6}"/>
              </a:ext>
            </a:extLst>
          </p:cNvPr>
          <p:cNvSpPr/>
          <p:nvPr/>
        </p:nvSpPr>
        <p:spPr>
          <a:xfrm>
            <a:off x="6089945" y="4544525"/>
            <a:ext cx="755932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22A94147-5183-6FC1-D9BA-F78A7DE0BEF8}"/>
              </a:ext>
            </a:extLst>
          </p:cNvPr>
          <p:cNvSpPr/>
          <p:nvPr/>
        </p:nvSpPr>
        <p:spPr>
          <a:xfrm>
            <a:off x="4862999" y="4544525"/>
            <a:ext cx="673651" cy="144000"/>
          </a:xfrm>
          <a:prstGeom prst="rightArrow">
            <a:avLst/>
          </a:prstGeom>
          <a:solidFill>
            <a:srgbClr val="A3E96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16CAD08-E7FB-0ED4-B9CE-9E1123A5B175}"/>
              </a:ext>
            </a:extLst>
          </p:cNvPr>
          <p:cNvSpPr txBox="1"/>
          <p:nvPr/>
        </p:nvSpPr>
        <p:spPr>
          <a:xfrm>
            <a:off x="1438500" y="3767382"/>
            <a:ext cx="500137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800" i="1" dirty="0"/>
              <a:t>765kV </a:t>
            </a:r>
            <a:r>
              <a:rPr lang="ko-KR" altLang="en-US" sz="800" i="1" dirty="0" err="1"/>
              <a:t>승압</a:t>
            </a:r>
            <a:endParaRPr lang="ko-KR" altLang="en-US" sz="800" i="1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7577542-32D6-AAB5-9B4A-74A94AA51471}"/>
              </a:ext>
            </a:extLst>
          </p:cNvPr>
          <p:cNvSpPr txBox="1"/>
          <p:nvPr/>
        </p:nvSpPr>
        <p:spPr>
          <a:xfrm>
            <a:off x="2932500" y="3767382"/>
            <a:ext cx="466474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800" i="1" dirty="0" err="1"/>
              <a:t>초고압</a:t>
            </a:r>
            <a:r>
              <a:rPr lang="ko-KR" altLang="en-US" sz="800" i="1" dirty="0"/>
              <a:t> 송전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C541FB3-9521-0A3C-1419-F6CD4DFACCE1}"/>
              </a:ext>
            </a:extLst>
          </p:cNvPr>
          <p:cNvSpPr txBox="1"/>
          <p:nvPr/>
        </p:nvSpPr>
        <p:spPr>
          <a:xfrm>
            <a:off x="3963000" y="3044623"/>
            <a:ext cx="841577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800" b="1" i="1" dirty="0">
                <a:solidFill>
                  <a:srgbClr val="1C8F57"/>
                </a:solidFill>
              </a:rPr>
              <a:t>72.5 ~ 154kV </a:t>
            </a:r>
            <a:r>
              <a:rPr lang="ko-KR" altLang="en-US" sz="800" b="1" i="1" dirty="0">
                <a:solidFill>
                  <a:srgbClr val="1C8F57"/>
                </a:solidFill>
              </a:rPr>
              <a:t>강압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2AB6D9E-51F0-3A0A-64D3-CFE288FAD0E5}"/>
              </a:ext>
            </a:extLst>
          </p:cNvPr>
          <p:cNvSpPr txBox="1"/>
          <p:nvPr/>
        </p:nvSpPr>
        <p:spPr>
          <a:xfrm>
            <a:off x="5225877" y="3767382"/>
            <a:ext cx="827150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800" b="1" i="1" dirty="0">
                <a:solidFill>
                  <a:srgbClr val="1C8F57"/>
                </a:solidFill>
              </a:rPr>
              <a:t>6.6 ~ 22.9kV </a:t>
            </a:r>
            <a:r>
              <a:rPr lang="ko-KR" altLang="en-US" sz="800" b="1" i="1" dirty="0">
                <a:solidFill>
                  <a:srgbClr val="1C8F57"/>
                </a:solidFill>
              </a:rPr>
              <a:t>강압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4FB46FA-A21B-7F71-B322-A9CA084FAE43}"/>
              </a:ext>
            </a:extLst>
          </p:cNvPr>
          <p:cNvSpPr txBox="1"/>
          <p:nvPr/>
        </p:nvSpPr>
        <p:spPr>
          <a:xfrm>
            <a:off x="6089945" y="4418080"/>
            <a:ext cx="780663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800" b="1" i="1" dirty="0">
                <a:solidFill>
                  <a:srgbClr val="1C8F57"/>
                </a:solidFill>
              </a:rPr>
              <a:t>220 ~ 380V </a:t>
            </a:r>
            <a:r>
              <a:rPr lang="ko-KR" altLang="en-US" sz="800" b="1" i="1" dirty="0">
                <a:solidFill>
                  <a:srgbClr val="1C8F57"/>
                </a:solidFill>
              </a:rPr>
              <a:t>강압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AF8DC95-3532-1361-508F-70B9998D2ABF}"/>
              </a:ext>
            </a:extLst>
          </p:cNvPr>
          <p:cNvSpPr txBox="1"/>
          <p:nvPr/>
        </p:nvSpPr>
        <p:spPr>
          <a:xfrm>
            <a:off x="4458000" y="5131064"/>
            <a:ext cx="4030676" cy="57143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dirty="0">
                <a:solidFill>
                  <a:srgbClr val="0F3A32"/>
                </a:solidFill>
              </a:rPr>
              <a:t>대상회사 핵심 사업영역</a:t>
            </a:r>
            <a:endParaRPr lang="en-US" altLang="ko-KR" sz="1000" b="1" dirty="0">
              <a:solidFill>
                <a:srgbClr val="0F3A32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rgbClr val="0F3A32"/>
                </a:solidFill>
              </a:rPr>
              <a:t>최대 </a:t>
            </a:r>
            <a:r>
              <a:rPr lang="en-US" altLang="ko-KR" sz="1000" dirty="0">
                <a:solidFill>
                  <a:srgbClr val="0F3A32"/>
                </a:solidFill>
              </a:rPr>
              <a:t>72.5kV</a:t>
            </a:r>
            <a:r>
              <a:rPr lang="ko-KR" altLang="en-US" sz="1000" dirty="0">
                <a:solidFill>
                  <a:srgbClr val="0F3A32"/>
                </a:solidFill>
              </a:rPr>
              <a:t>급 </a:t>
            </a:r>
            <a:r>
              <a:rPr lang="ko-KR" altLang="en-US" sz="1000" dirty="0" err="1">
                <a:solidFill>
                  <a:srgbClr val="0F3A32"/>
                </a:solidFill>
              </a:rPr>
              <a:t>중고압</a:t>
            </a:r>
            <a:r>
              <a:rPr lang="ko-KR" altLang="en-US" sz="1000" dirty="0">
                <a:solidFill>
                  <a:srgbClr val="0F3A32"/>
                </a:solidFill>
              </a:rPr>
              <a:t> 전력을 수용가에서 즉시 사용가능한 저압으로 강압하는</a:t>
            </a:r>
            <a:r>
              <a:rPr lang="en-US" altLang="ko-KR" sz="1000" dirty="0">
                <a:solidFill>
                  <a:srgbClr val="0F3A32"/>
                </a:solidFill>
              </a:rPr>
              <a:t> Full-Range</a:t>
            </a:r>
            <a:r>
              <a:rPr lang="ko-KR" altLang="en-US" sz="1000" dirty="0">
                <a:solidFill>
                  <a:srgbClr val="0F3A32"/>
                </a:solidFill>
              </a:rPr>
              <a:t>의 배전 변압기 라인업 보유</a:t>
            </a:r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C2EB91B4-5C74-F32D-9217-109148078B67}"/>
              </a:ext>
            </a:extLst>
          </p:cNvPr>
          <p:cNvCxnSpPr>
            <a:cxnSpLocks/>
          </p:cNvCxnSpPr>
          <p:nvPr/>
        </p:nvCxnSpPr>
        <p:spPr>
          <a:xfrm>
            <a:off x="453000" y="5120525"/>
            <a:ext cx="9000000" cy="0"/>
          </a:xfrm>
          <a:prstGeom prst="line">
            <a:avLst/>
          </a:prstGeom>
          <a:ln w="635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41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43B7-5DAD-BE8B-085F-7AA651DB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F26D091-DE36-1FA3-4A9A-D8EF7F810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Investment Highlights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FDD443-1A55-12CB-A0A3-9B8159C080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F17366-6EC1-8539-EDBF-8BF2D5A0834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7CD24-AF28-47C7-9318-3DCB27019727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국내 </a:t>
            </a:r>
            <a:r>
              <a:rPr lang="ko-KR" altLang="en-US" sz="1400" b="1" dirty="0" err="1">
                <a:solidFill>
                  <a:srgbClr val="3D3D3D"/>
                </a:solidFill>
              </a:rPr>
              <a:t>중저압</a:t>
            </a:r>
            <a:r>
              <a:rPr lang="ko-KR" altLang="en-US" sz="1400" b="1" dirty="0">
                <a:solidFill>
                  <a:srgbClr val="3D3D3D"/>
                </a:solidFill>
              </a:rPr>
              <a:t>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배전용 변압기 제조업체 중 유일하게 미국 현지 공장 설립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운영을 통해 압도적인 가격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납기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영업 경쟁력을 보유하고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이를 통해 미국 변압기 시장 내 슈퍼사이클의 가장 직접적인 수혜를 받을 것으로 전망됩니다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690DDE-AD41-0802-B331-153AA12F70D6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대상회사 주요 투자 하이라이트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220AFE-42F3-D287-A89F-E0B11BFA1A9E}"/>
              </a:ext>
            </a:extLst>
          </p:cNvPr>
          <p:cNvSpPr>
            <a:spLocks/>
          </p:cNvSpPr>
          <p:nvPr/>
        </p:nvSpPr>
        <p:spPr>
          <a:xfrm>
            <a:off x="453000" y="2168525"/>
            <a:ext cx="720000" cy="720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300"/>
              </a:spcBef>
              <a:spcAft>
                <a:spcPts val="400"/>
              </a:spcAft>
            </a:pPr>
            <a:r>
              <a:rPr lang="en-US" altLang="ko-KR" b="1" dirty="0">
                <a:solidFill>
                  <a:schemeClr val="bg1"/>
                </a:solidFill>
                <a:latin typeface="+mj-lt"/>
                <a:ea typeface="+mj-ea"/>
              </a:rPr>
              <a:t>01</a:t>
            </a:r>
            <a:endParaRPr lang="en-US" altLang="ko-KR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C842F0-CAD1-FC77-9B49-5B13F30BDCB1}"/>
              </a:ext>
            </a:extLst>
          </p:cNvPr>
          <p:cNvSpPr>
            <a:spLocks/>
          </p:cNvSpPr>
          <p:nvPr/>
        </p:nvSpPr>
        <p:spPr>
          <a:xfrm>
            <a:off x="453000" y="3068525"/>
            <a:ext cx="720000" cy="720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300"/>
              </a:spcBef>
              <a:spcAft>
                <a:spcPts val="400"/>
              </a:spcAft>
            </a:pPr>
            <a:r>
              <a:rPr lang="en-US" altLang="ko-KR" b="1" dirty="0">
                <a:solidFill>
                  <a:schemeClr val="bg1"/>
                </a:solidFill>
                <a:latin typeface="+mj-lt"/>
                <a:ea typeface="+mj-ea"/>
              </a:rPr>
              <a:t>02</a:t>
            </a:r>
            <a:endParaRPr lang="en-US" altLang="ko-KR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1F0621-0403-C914-36C6-1A2305F8DD89}"/>
              </a:ext>
            </a:extLst>
          </p:cNvPr>
          <p:cNvSpPr>
            <a:spLocks/>
          </p:cNvSpPr>
          <p:nvPr/>
        </p:nvSpPr>
        <p:spPr>
          <a:xfrm>
            <a:off x="453000" y="3986353"/>
            <a:ext cx="720000" cy="720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300"/>
              </a:spcBef>
              <a:spcAft>
                <a:spcPts val="400"/>
              </a:spcAft>
            </a:pPr>
            <a:r>
              <a:rPr lang="en-US" altLang="ko-KR" b="1" dirty="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en-US" altLang="ko-KR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E9C25C7-8AE6-356E-644D-A7DD8249D106}"/>
              </a:ext>
            </a:extLst>
          </p:cNvPr>
          <p:cNvGrpSpPr/>
          <p:nvPr/>
        </p:nvGrpSpPr>
        <p:grpSpPr>
          <a:xfrm>
            <a:off x="5061000" y="2168525"/>
            <a:ext cx="4392000" cy="3456000"/>
            <a:chOff x="452999" y="2168525"/>
            <a:chExt cx="4392000" cy="3456000"/>
          </a:xfrm>
        </p:grpSpPr>
        <p:pic>
          <p:nvPicPr>
            <p:cNvPr id="13" name="그림 13" descr="Factory.jpg">
              <a:extLst>
                <a:ext uri="{FF2B5EF4-FFF2-40B4-BE49-F238E27FC236}">
                  <a16:creationId xmlns:a16="http://schemas.microsoft.com/office/drawing/2014/main" id="{FD7CF628-8575-3457-6C6A-9AC3FD0FD2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27" t="8574" r="12593"/>
            <a:stretch>
              <a:fillRect/>
            </a:stretch>
          </p:blipFill>
          <p:spPr bwMode="auto">
            <a:xfrm>
              <a:off x="452999" y="2168525"/>
              <a:ext cx="4392000" cy="345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CD65A2-99AD-25E2-1FEE-F008B70364C0}"/>
                </a:ext>
              </a:extLst>
            </p:cNvPr>
            <p:cNvSpPr txBox="1"/>
            <p:nvPr/>
          </p:nvSpPr>
          <p:spPr>
            <a:xfrm>
              <a:off x="3608516" y="2168525"/>
              <a:ext cx="1236483" cy="230760"/>
            </a:xfrm>
            <a:prstGeom prst="rect">
              <a:avLst/>
            </a:prstGeom>
            <a:noFill/>
          </p:spPr>
          <p:txBody>
            <a:bodyPr wrap="none" lIns="0" tIns="72000" rIns="72000" bIns="0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대상회사 미국공장 전경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7A1B-1789-7F30-B021-758AAC929D8B}"/>
              </a:ext>
            </a:extLst>
          </p:cNvPr>
          <p:cNvSpPr>
            <a:spLocks/>
          </p:cNvSpPr>
          <p:nvPr/>
        </p:nvSpPr>
        <p:spPr>
          <a:xfrm>
            <a:off x="452438" y="4868525"/>
            <a:ext cx="720000" cy="720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300"/>
              </a:spcBef>
              <a:spcAft>
                <a:spcPts val="400"/>
              </a:spcAft>
            </a:pPr>
            <a:r>
              <a:rPr lang="en-US" altLang="ko-KR" b="1" dirty="0">
                <a:solidFill>
                  <a:schemeClr val="bg1"/>
                </a:solidFill>
                <a:latin typeface="+mj-lt"/>
                <a:ea typeface="+mj-ea"/>
              </a:rPr>
              <a:t>04</a:t>
            </a:r>
            <a:endParaRPr lang="en-US" altLang="ko-KR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296141-6D1B-9923-738C-A4A7AB3C0050}"/>
              </a:ext>
            </a:extLst>
          </p:cNvPr>
          <p:cNvSpPr txBox="1"/>
          <p:nvPr/>
        </p:nvSpPr>
        <p:spPr>
          <a:xfrm>
            <a:off x="1173000" y="2235336"/>
            <a:ext cx="3672000" cy="586379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전력 사용량 증가에 따른 신규 설비 증설 </a:t>
            </a:r>
            <a:r>
              <a:rPr lang="en-US" altLang="ko-KR" sz="1000" b="1" dirty="0">
                <a:solidFill>
                  <a:srgbClr val="1C8F57"/>
                </a:solidFill>
              </a:rPr>
              <a:t>· </a:t>
            </a:r>
            <a:r>
              <a:rPr lang="ko-KR" altLang="en-US" sz="1000" b="1" dirty="0">
                <a:solidFill>
                  <a:srgbClr val="1C8F57"/>
                </a:solidFill>
              </a:rPr>
              <a:t>노후화 설비 교체 수요 급증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/>
              <a:t>AI </a:t>
            </a:r>
            <a:r>
              <a:rPr lang="ko-KR" altLang="en-US" sz="1000" dirty="0"/>
              <a:t>보급으로 인한 미국 내 전력사용량 증가로</a:t>
            </a:r>
            <a:r>
              <a:rPr lang="en-US" altLang="ko-KR" sz="1000" dirty="0"/>
              <a:t>, </a:t>
            </a:r>
            <a:r>
              <a:rPr lang="ko-KR" altLang="en-US" sz="1000" dirty="0"/>
              <a:t>신규 변압기 수요 증가</a:t>
            </a:r>
            <a:endParaRPr lang="en-US" altLang="ko-KR" sz="1000" dirty="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내용연수에 근접한 노후설비 증가로</a:t>
            </a:r>
            <a:r>
              <a:rPr lang="en-US" altLang="ko-KR" sz="1000" dirty="0"/>
              <a:t>, </a:t>
            </a:r>
            <a:r>
              <a:rPr lang="ko-KR" altLang="en-US" sz="1000" dirty="0"/>
              <a:t>미국 내</a:t>
            </a:r>
            <a:r>
              <a:rPr lang="en-US" altLang="ko-KR" sz="1000" dirty="0"/>
              <a:t> </a:t>
            </a:r>
            <a:r>
              <a:rPr lang="ko-KR" altLang="en-US" sz="1000" dirty="0"/>
              <a:t>설비 현대화 투자 확대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F2AC7-BB65-B1CE-3218-91013A49472C}"/>
              </a:ext>
            </a:extLst>
          </p:cNvPr>
          <p:cNvSpPr txBox="1"/>
          <p:nvPr/>
        </p:nvSpPr>
        <p:spPr>
          <a:xfrm>
            <a:off x="1173000" y="3135336"/>
            <a:ext cx="3672000" cy="586379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최대 </a:t>
            </a:r>
            <a:r>
              <a:rPr lang="en-US" altLang="ko-KR" sz="1000" b="1" dirty="0">
                <a:solidFill>
                  <a:srgbClr val="1C8F57"/>
                </a:solidFill>
              </a:rPr>
              <a:t>72.5kV</a:t>
            </a:r>
            <a:r>
              <a:rPr lang="ko-KR" altLang="en-US" sz="1000" b="1" dirty="0">
                <a:solidFill>
                  <a:srgbClr val="1C8F57"/>
                </a:solidFill>
              </a:rPr>
              <a:t>급 제품까지 생산 가능한 </a:t>
            </a:r>
            <a:r>
              <a:rPr lang="en-US" altLang="ko-KR" sz="1000" b="1" dirty="0">
                <a:solidFill>
                  <a:srgbClr val="1C8F57"/>
                </a:solidFill>
              </a:rPr>
              <a:t>Full-Range </a:t>
            </a:r>
            <a:r>
              <a:rPr lang="ko-KR" altLang="en-US" sz="1000" b="1" dirty="0">
                <a:solidFill>
                  <a:srgbClr val="1C8F57"/>
                </a:solidFill>
              </a:rPr>
              <a:t>포트폴리오 보유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미국 내 신규 </a:t>
            </a:r>
            <a:r>
              <a:rPr lang="en-US" altLang="ko-KR" sz="1000" dirty="0"/>
              <a:t>· </a:t>
            </a:r>
            <a:r>
              <a:rPr lang="ko-KR" altLang="en-US" sz="1000" dirty="0"/>
              <a:t>교체 수요 소화 가능한 다양한 제품 생산 가능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/>
              <a:t>1989</a:t>
            </a:r>
            <a:r>
              <a:rPr lang="ko-KR" altLang="en-US" sz="1000" dirty="0"/>
              <a:t>년 설립 후 </a:t>
            </a:r>
            <a:r>
              <a:rPr lang="en-US" altLang="ko-KR" sz="1000" dirty="0"/>
              <a:t>37</a:t>
            </a:r>
            <a:r>
              <a:rPr lang="ko-KR" altLang="en-US" sz="1000" dirty="0"/>
              <a:t>년 이상 축적한 변압기 제조 </a:t>
            </a:r>
            <a:r>
              <a:rPr lang="en-US" altLang="ko-KR" sz="1000" dirty="0"/>
              <a:t>· </a:t>
            </a:r>
            <a:r>
              <a:rPr lang="ko-KR" altLang="en-US" sz="1000" dirty="0"/>
              <a:t>공급 노하우 보유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BAF94C-508A-B2DA-BA0F-CAC10D32481A}"/>
              </a:ext>
            </a:extLst>
          </p:cNvPr>
          <p:cNvSpPr txBox="1"/>
          <p:nvPr/>
        </p:nvSpPr>
        <p:spPr>
          <a:xfrm>
            <a:off x="1173000" y="3968525"/>
            <a:ext cx="3672000" cy="755656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국내 유일의 미국 공장 운영을 통한 압도적 경쟁우위 구축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미국 현지 조립 </a:t>
            </a:r>
            <a:r>
              <a:rPr lang="en-US" altLang="ko-KR" sz="1000" dirty="0"/>
              <a:t>· </a:t>
            </a:r>
            <a:r>
              <a:rPr lang="ko-KR" altLang="en-US" sz="1000" dirty="0"/>
              <a:t>납품을 통한 가격 </a:t>
            </a:r>
            <a:r>
              <a:rPr lang="en-US" altLang="ko-KR" sz="1000" dirty="0"/>
              <a:t>· </a:t>
            </a:r>
            <a:r>
              <a:rPr lang="ko-KR" altLang="en-US" sz="1000" dirty="0"/>
              <a:t>납기 </a:t>
            </a:r>
            <a:r>
              <a:rPr lang="en-US" altLang="ko-KR" sz="1000" dirty="0"/>
              <a:t>· </a:t>
            </a:r>
            <a:r>
              <a:rPr lang="ko-KR" altLang="en-US" sz="1000" dirty="0"/>
              <a:t>영업 경쟁력 확보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/>
              <a:t>AEP, </a:t>
            </a:r>
            <a:r>
              <a:rPr lang="ko-KR" altLang="en-US" sz="1000" dirty="0" err="1"/>
              <a:t>버스셔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해서웨이</a:t>
            </a:r>
            <a:r>
              <a:rPr lang="ko-KR" altLang="en-US" sz="1000" dirty="0"/>
              <a:t> 등 미국 대형 </a:t>
            </a:r>
            <a:r>
              <a:rPr lang="ko-KR" altLang="en-US" sz="1000" dirty="0" err="1"/>
              <a:t>전력청</a:t>
            </a:r>
            <a:r>
              <a:rPr lang="ko-KR" altLang="en-US" sz="1000" dirty="0"/>
              <a:t> 고객과의 장기 </a:t>
            </a:r>
            <a:r>
              <a:rPr lang="en-US" altLang="ko-KR" sz="1000" dirty="0"/>
              <a:t>Track Record</a:t>
            </a:r>
            <a:r>
              <a:rPr lang="ko-KR" altLang="en-US" sz="1000" dirty="0"/>
              <a:t>를 활용한 시장 점유율 확대 용이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D80369-443F-389E-989B-BB697464CE8B}"/>
              </a:ext>
            </a:extLst>
          </p:cNvPr>
          <p:cNvSpPr txBox="1"/>
          <p:nvPr/>
        </p:nvSpPr>
        <p:spPr>
          <a:xfrm>
            <a:off x="1173000" y="4868525"/>
            <a:ext cx="3672000" cy="755656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안정적 재무구조에 기반한 단계별 성장 로드맵 수립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/>
              <a:t>2035</a:t>
            </a:r>
            <a:r>
              <a:rPr lang="ko-KR" altLang="en-US" sz="1000" dirty="0"/>
              <a:t>년까지 단계별 침투 전략을 통해 매출 </a:t>
            </a:r>
            <a:r>
              <a:rPr lang="en-US" altLang="ko-KR" sz="1000" dirty="0"/>
              <a:t>10</a:t>
            </a:r>
            <a:r>
              <a:rPr lang="ko-KR" altLang="en-US" sz="1000" dirty="0"/>
              <a:t>억 달러 달성 계획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/>
              <a:t>2024</a:t>
            </a:r>
            <a:r>
              <a:rPr lang="ko-KR" altLang="en-US" sz="1000" dirty="0"/>
              <a:t>년 매출액 </a:t>
            </a:r>
            <a:r>
              <a:rPr lang="en-US" altLang="ko-KR" sz="1000" dirty="0"/>
              <a:t>636</a:t>
            </a:r>
            <a:r>
              <a:rPr lang="ko-KR" altLang="en-US" sz="1000" dirty="0"/>
              <a:t>억원 </a:t>
            </a:r>
            <a:r>
              <a:rPr lang="en-US" altLang="ko-KR" sz="1000" dirty="0"/>
              <a:t>· EBITDA 118</a:t>
            </a:r>
            <a:r>
              <a:rPr lang="ko-KR" altLang="en-US" sz="1000" dirty="0"/>
              <a:t>억원 기록하여</a:t>
            </a:r>
            <a:r>
              <a:rPr lang="en-US" altLang="ko-KR" sz="1000" dirty="0"/>
              <a:t>, </a:t>
            </a:r>
            <a:r>
              <a:rPr lang="ko-KR" altLang="en-US" sz="1000" dirty="0"/>
              <a:t>향후 미국사업 확대를 위한 안정적 재무 기반 확립</a:t>
            </a:r>
          </a:p>
        </p:txBody>
      </p:sp>
    </p:spTree>
    <p:extLst>
      <p:ext uri="{BB962C8B-B14F-4D97-AF65-F5344CB8AC3E}">
        <p14:creationId xmlns:p14="http://schemas.microsoft.com/office/powerpoint/2010/main" val="122848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8FB2-3C04-5F42-07FF-47CA608B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70381A2-640D-50FD-4A00-07CDB59B9FEA}"/>
              </a:ext>
            </a:extLst>
          </p:cNvPr>
          <p:cNvGrpSpPr>
            <a:grpSpLocks noChangeAspect="1"/>
          </p:cNvGrpSpPr>
          <p:nvPr/>
        </p:nvGrpSpPr>
        <p:grpSpPr>
          <a:xfrm>
            <a:off x="452438" y="549275"/>
            <a:ext cx="4097136" cy="360000"/>
            <a:chOff x="728591" y="3660843"/>
            <a:chExt cx="8448818" cy="742366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24D322DF-F5DA-7041-03F0-DA9F5173A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80217" y="3719209"/>
              <a:ext cx="3597192" cy="684000"/>
            </a:xfrm>
            <a:prstGeom prst="rect">
              <a:avLst/>
            </a:prstGeom>
          </p:spPr>
        </p:pic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B48BDFC2-8358-57A3-22E5-D03EAC4D6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8591" y="3660843"/>
              <a:ext cx="4851615" cy="540000"/>
            </a:xfrm>
            <a:prstGeom prst="rect">
              <a:avLst/>
            </a:prstGeom>
          </p:spPr>
        </p:pic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A1B1C88-B15F-4570-5E7E-0256FA3EE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07968"/>
              </p:ext>
            </p:extLst>
          </p:nvPr>
        </p:nvGraphicFramePr>
        <p:xfrm>
          <a:off x="344438" y="2168525"/>
          <a:ext cx="352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F3A32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Market Opportunity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Target Highlights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cs"/>
                        </a:rPr>
                        <a:t>Financial Summary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UITE Heavy"/>
                        <a:ea typeface="SUITE Heavy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2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22BAD3-EFBE-230E-B179-8C1D75A2225C}"/>
              </a:ext>
            </a:extLst>
          </p:cNvPr>
          <p:cNvSpPr txBox="1"/>
          <p:nvPr/>
        </p:nvSpPr>
        <p:spPr>
          <a:xfrm>
            <a:off x="452438" y="1368847"/>
            <a:ext cx="3247684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CONTENTS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095598A3-9E5E-61B8-2D89-1D5E64B77DFC}"/>
              </a:ext>
            </a:extLst>
          </p:cNvPr>
          <p:cNvSpPr txBox="1">
            <a:spLocks/>
          </p:cNvSpPr>
          <p:nvPr/>
        </p:nvSpPr>
        <p:spPr>
          <a:xfrm>
            <a:off x="452999" y="6177279"/>
            <a:ext cx="1548501" cy="13144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800" dirty="0">
                <a:latin typeface="+mj-lt"/>
                <a:ea typeface="+mj-ea"/>
              </a:rPr>
              <a:t>Strictly Private &amp; Confidential</a:t>
            </a:r>
            <a:endParaRPr lang="ko-KR" altLang="en-US" sz="8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799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BA6E-AA47-A420-DA82-7803CD1E1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BC2590-8EFD-9433-45FC-82DF7F7F20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Global</a:t>
            </a:r>
            <a:r>
              <a:rPr lang="ko-KR" altLang="en-US" dirty="0"/>
              <a:t> </a:t>
            </a:r>
            <a:r>
              <a:rPr lang="en-US" altLang="ko-KR" dirty="0"/>
              <a:t>Market</a:t>
            </a:r>
            <a:r>
              <a:rPr lang="ko-KR" altLang="en-US" dirty="0"/>
              <a:t> </a:t>
            </a:r>
            <a:r>
              <a:rPr lang="en-US" altLang="ko-KR" dirty="0"/>
              <a:t>Outlook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9247B3-C2F1-2030-8D9C-DCA523A177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Global </a:t>
            </a:r>
            <a:r>
              <a:rPr lang="en-US" altLang="ko-KR"/>
              <a:t>Market Insights.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324A6-7279-29C9-8A15-2E23720765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CE889-F789-DD9A-BF30-FF88C8993DF2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글로벌 변압기 시장은 </a:t>
            </a:r>
            <a:r>
              <a:rPr lang="en-US" altLang="ko-KR" sz="1400" b="1" dirty="0">
                <a:solidFill>
                  <a:srgbClr val="3D3D3D"/>
                </a:solidFill>
              </a:rPr>
              <a:t>2034</a:t>
            </a:r>
            <a:r>
              <a:rPr lang="ko-KR" altLang="en-US" sz="1400" b="1" dirty="0">
                <a:solidFill>
                  <a:srgbClr val="3D3D3D"/>
                </a:solidFill>
              </a:rPr>
              <a:t>년까지 연간 </a:t>
            </a:r>
            <a:r>
              <a:rPr lang="en-US" altLang="ko-KR" sz="1400" b="1" dirty="0">
                <a:solidFill>
                  <a:srgbClr val="3D3D3D"/>
                </a:solidFill>
              </a:rPr>
              <a:t>6.6% </a:t>
            </a:r>
            <a:r>
              <a:rPr lang="ko-KR" altLang="en-US" sz="1400" b="1" dirty="0">
                <a:solidFill>
                  <a:srgbClr val="3D3D3D"/>
                </a:solidFill>
              </a:rPr>
              <a:t>성장할 것으로 전망되며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특히 </a:t>
            </a:r>
            <a:r>
              <a:rPr lang="en-US" altLang="ko-KR" sz="1400" b="1" dirty="0">
                <a:solidFill>
                  <a:srgbClr val="3D3D3D"/>
                </a:solidFill>
              </a:rPr>
              <a:t>AI </a:t>
            </a:r>
            <a:r>
              <a:rPr lang="ko-KR" altLang="en-US" sz="1400" b="1" dirty="0">
                <a:solidFill>
                  <a:srgbClr val="3D3D3D"/>
                </a:solidFill>
              </a:rPr>
              <a:t>슈퍼사이클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전기차 판매량 증가 등 전력 사용량 급증과 노후 설비 교체시기가 맞물린 미국 시장이 동기간 연간 </a:t>
            </a:r>
            <a:r>
              <a:rPr lang="en-US" altLang="ko-KR" sz="1400" b="1" dirty="0">
                <a:solidFill>
                  <a:srgbClr val="3D3D3D"/>
                </a:solidFill>
              </a:rPr>
              <a:t>7.7% </a:t>
            </a:r>
            <a:r>
              <a:rPr lang="ko-KR" altLang="en-US" sz="1400" b="1" dirty="0">
                <a:solidFill>
                  <a:srgbClr val="3D3D3D"/>
                </a:solidFill>
              </a:rPr>
              <a:t>성장하여 글로벌 시장 성장을 견인할 것으로 예상됩니다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983855-2382-9526-7FA7-3C24486D8FC8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글로벌 변압기 시장 전망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7F0E90-5FED-7E5B-A597-084FFA54C361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변압기 시장 주요 </a:t>
            </a:r>
            <a:r>
              <a:rPr lang="en-US" altLang="ko-KR" sz="1200" b="1" dirty="0">
                <a:solidFill>
                  <a:schemeClr val="bg1"/>
                </a:solidFill>
              </a:rPr>
              <a:t>Driver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4D30874-FBC4-C900-1B7C-C3EB41CA99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9930864"/>
              </p:ext>
            </p:extLst>
          </p:nvPr>
        </p:nvGraphicFramePr>
        <p:xfrm>
          <a:off x="361560" y="2168525"/>
          <a:ext cx="460800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9245A38-D239-B429-A84A-3ECCDF77010A}"/>
              </a:ext>
            </a:extLst>
          </p:cNvPr>
          <p:cNvSpPr txBox="1"/>
          <p:nvPr/>
        </p:nvSpPr>
        <p:spPr>
          <a:xfrm>
            <a:off x="-1371600" y="5240205"/>
            <a:ext cx="1277363" cy="442035"/>
          </a:xfrm>
          <a:prstGeom prst="rect">
            <a:avLst/>
          </a:prstGeom>
          <a:solidFill>
            <a:srgbClr val="E6FDD6"/>
          </a:solidFill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800" dirty="0">
                <a:hlinkClick r:id="rId3"/>
              </a:rPr>
              <a:t>변압기 시장 규모</a:t>
            </a:r>
            <a:r>
              <a:rPr lang="en-US" altLang="ko-KR" sz="800" dirty="0">
                <a:hlinkClick r:id="rId3"/>
              </a:rPr>
              <a:t>, </a:t>
            </a:r>
            <a:r>
              <a:rPr lang="ko-KR" altLang="en-US" sz="800" dirty="0">
                <a:hlinkClick r:id="rId3"/>
              </a:rPr>
              <a:t>산업 점유율 보고서 </a:t>
            </a:r>
            <a:r>
              <a:rPr lang="en-US" altLang="ko-KR" sz="800" dirty="0">
                <a:hlinkClick r:id="rId3"/>
              </a:rPr>
              <a:t>2025-2034</a:t>
            </a:r>
            <a:endParaRPr lang="en-US" altLang="ko-KR" sz="800" dirty="0"/>
          </a:p>
          <a:p>
            <a:r>
              <a:rPr lang="en-US" altLang="ko-KR" sz="800" dirty="0"/>
              <a:t>Global</a:t>
            </a:r>
            <a:r>
              <a:rPr lang="ko-KR" altLang="en-US" sz="800" dirty="0"/>
              <a:t> </a:t>
            </a:r>
            <a:r>
              <a:rPr lang="en-US" altLang="ko-KR" sz="800" dirty="0"/>
              <a:t>Market</a:t>
            </a:r>
            <a:r>
              <a:rPr lang="ko-KR" altLang="en-US" sz="800" dirty="0"/>
              <a:t> </a:t>
            </a:r>
            <a:r>
              <a:rPr lang="en-US" altLang="ko-KR" sz="800" dirty="0"/>
              <a:t>Insights</a:t>
            </a:r>
            <a:endParaRPr lang="ko-KR" alt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6DE43-0660-7FE7-3B85-DCEE722D63FE}"/>
              </a:ext>
            </a:extLst>
          </p:cNvPr>
          <p:cNvSpPr txBox="1"/>
          <p:nvPr/>
        </p:nvSpPr>
        <p:spPr>
          <a:xfrm>
            <a:off x="4085125" y="1780991"/>
            <a:ext cx="759875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 err="1">
                <a:solidFill>
                  <a:schemeClr val="bg1"/>
                </a:solidFill>
              </a:rPr>
              <a:t>십억달러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BA4DD3-6059-FC8E-8840-D135409C99F5}"/>
              </a:ext>
            </a:extLst>
          </p:cNvPr>
          <p:cNvSpPr txBox="1"/>
          <p:nvPr/>
        </p:nvSpPr>
        <p:spPr>
          <a:xfrm>
            <a:off x="595313" y="2268132"/>
            <a:ext cx="1195840" cy="4966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08000">
              <a:lnSpc>
                <a:spcPct val="110000"/>
              </a:lnSpc>
            </a:pPr>
            <a:r>
              <a:rPr lang="ko-KR" altLang="en-US" sz="1000" b="1" dirty="0">
                <a:solidFill>
                  <a:srgbClr val="0F3A32"/>
                </a:solidFill>
              </a:rPr>
              <a:t>연평균 성장률</a:t>
            </a:r>
            <a:endParaRPr lang="en-US" altLang="ko-KR" sz="1000" b="1" dirty="0">
              <a:solidFill>
                <a:srgbClr val="0F3A32"/>
              </a:solidFill>
            </a:endParaRPr>
          </a:p>
          <a:p>
            <a:pPr marL="171450" indent="-171450" algn="l" defTabSz="1080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1000" dirty="0"/>
              <a:t>글로벌 시장</a:t>
            </a:r>
            <a:r>
              <a:rPr lang="en-US" altLang="ko-KR" sz="1000" dirty="0"/>
              <a:t>		</a:t>
            </a:r>
            <a:r>
              <a:rPr lang="en-US" altLang="ko-KR" sz="1000" b="1" dirty="0"/>
              <a:t>6.6%</a:t>
            </a:r>
          </a:p>
          <a:p>
            <a:pPr marL="171450" indent="-171450" algn="l" defTabSz="1080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1000" dirty="0"/>
              <a:t>미국 시장</a:t>
            </a:r>
            <a:r>
              <a:rPr lang="en-US" altLang="ko-KR" sz="1000" dirty="0"/>
              <a:t>			</a:t>
            </a:r>
            <a:r>
              <a:rPr lang="en-US" altLang="ko-KR" sz="1000" b="1" dirty="0"/>
              <a:t>7.7%</a:t>
            </a:r>
            <a:endParaRPr lang="ko-KR" altLang="en-US" sz="1000" b="1" dirty="0" err="1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5AE6B3-F042-BC15-52BD-5A387C540F97}"/>
              </a:ext>
            </a:extLst>
          </p:cNvPr>
          <p:cNvSpPr/>
          <p:nvPr/>
        </p:nvSpPr>
        <p:spPr>
          <a:xfrm>
            <a:off x="5061000" y="2168525"/>
            <a:ext cx="4392000" cy="115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미국 정부 정책 리스크 최소화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트럼프 정부의 미국 우선주의 정책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대응력 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국내 업체 중 유일한 </a:t>
            </a:r>
            <a:r>
              <a:rPr lang="en-US" altLang="ko-KR" sz="1000" dirty="0">
                <a:solidFill>
                  <a:schemeClr val="tx1"/>
                </a:solidFill>
              </a:rPr>
              <a:t>“Made in USA” </a:t>
            </a:r>
            <a:r>
              <a:rPr lang="ko-KR" altLang="en-US" sz="1000" dirty="0">
                <a:solidFill>
                  <a:schemeClr val="tx1"/>
                </a:solidFill>
              </a:rPr>
              <a:t>제품 공급원으로 입찰 경쟁력 강화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대미 관세 변동성 리스크 부담 완화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대미 관세 정책 변화 및 수출 규제 리스크로부터 자유로운 공급망 구축 가능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D70BC6-E7C3-F024-F2EB-2AE0C6DE20CC}"/>
              </a:ext>
            </a:extLst>
          </p:cNvPr>
          <p:cNvSpPr/>
          <p:nvPr/>
        </p:nvSpPr>
        <p:spPr>
          <a:xfrm>
            <a:off x="5061000" y="3464525"/>
            <a:ext cx="4392000" cy="115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전기차 충전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</a:rPr>
              <a:t>태양광  </a:t>
            </a:r>
            <a:r>
              <a:rPr lang="en-US" altLang="ko-KR" sz="1000" b="1" dirty="0">
                <a:solidFill>
                  <a:schemeClr val="tx1"/>
                </a:solidFill>
              </a:rPr>
              <a:t>· ESS </a:t>
            </a:r>
            <a:r>
              <a:rPr lang="ko-KR" altLang="en-US" sz="1000" b="1" dirty="0">
                <a:solidFill>
                  <a:schemeClr val="tx1"/>
                </a:solidFill>
              </a:rPr>
              <a:t>등 </a:t>
            </a:r>
            <a:r>
              <a:rPr lang="en-US" altLang="ko-KR" sz="1000" b="1" dirty="0">
                <a:solidFill>
                  <a:schemeClr val="tx1"/>
                </a:solidFill>
              </a:rPr>
              <a:t>Electrification</a:t>
            </a:r>
            <a:r>
              <a:rPr lang="ko-KR" altLang="en-US" sz="1000" b="1" dirty="0">
                <a:solidFill>
                  <a:schemeClr val="tx1"/>
                </a:solidFill>
              </a:rPr>
              <a:t>에 따른 변압기 수요 증대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EV Chasm</a:t>
            </a:r>
            <a:r>
              <a:rPr lang="ko-KR" altLang="en-US" sz="1000" dirty="0">
                <a:solidFill>
                  <a:schemeClr val="tx1"/>
                </a:solidFill>
              </a:rPr>
              <a:t>에도 불구한 지속적인 전기차 판매량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연간 성장률 저하에도 불구한 판매량 증가로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가정 내 충전 수요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AI, </a:t>
            </a:r>
            <a:r>
              <a:rPr lang="ko-KR" altLang="en-US" sz="1000" dirty="0">
                <a:solidFill>
                  <a:schemeClr val="tx1"/>
                </a:solidFill>
              </a:rPr>
              <a:t>전기차 등 전력 사용량 증가에 신속 대응 가능한 에너지원으로 태양광 급부상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텍사스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중서부 지역 중심의 신규 태양광 단지 증설에 따른 변압기 수요 증대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073567-F98C-12D0-7F8F-1668FC6F69E5}"/>
              </a:ext>
            </a:extLst>
          </p:cNvPr>
          <p:cNvSpPr/>
          <p:nvPr/>
        </p:nvSpPr>
        <p:spPr>
          <a:xfrm>
            <a:off x="5061000" y="4760525"/>
            <a:ext cx="4392000" cy="115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전국적인 송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 err="1">
                <a:solidFill>
                  <a:schemeClr val="tx1"/>
                </a:solidFill>
              </a:rPr>
              <a:t>배전망</a:t>
            </a:r>
            <a:r>
              <a:rPr lang="ko-KR" altLang="en-US" sz="1000" b="1" dirty="0">
                <a:solidFill>
                  <a:schemeClr val="tx1"/>
                </a:solidFill>
              </a:rPr>
              <a:t> 노후화로 인한 지속적인 교체 수요 발생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미국 내 운영 중인 </a:t>
            </a:r>
            <a:r>
              <a:rPr lang="en-US" altLang="ko-KR" sz="1000" dirty="0">
                <a:solidFill>
                  <a:schemeClr val="tx1"/>
                </a:solidFill>
              </a:rPr>
              <a:t>34.5kV </a:t>
            </a:r>
            <a:r>
              <a:rPr lang="ko-KR" altLang="en-US" sz="1000" dirty="0">
                <a:solidFill>
                  <a:schemeClr val="tx1"/>
                </a:solidFill>
              </a:rPr>
              <a:t>이하 </a:t>
            </a:r>
            <a:r>
              <a:rPr lang="ko-KR" altLang="en-US" sz="1000" dirty="0" err="1">
                <a:solidFill>
                  <a:schemeClr val="tx1"/>
                </a:solidFill>
              </a:rPr>
              <a:t>중저압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배전용 변압기의 </a:t>
            </a:r>
            <a:r>
              <a:rPr lang="en-US" altLang="ko-KR" sz="1000" dirty="0">
                <a:solidFill>
                  <a:schemeClr val="tx1"/>
                </a:solidFill>
              </a:rPr>
              <a:t>50%</a:t>
            </a:r>
            <a:r>
              <a:rPr lang="ko-KR" altLang="en-US" sz="1000" dirty="0">
                <a:solidFill>
                  <a:schemeClr val="tx1"/>
                </a:solidFill>
              </a:rPr>
              <a:t>가 연령 </a:t>
            </a:r>
            <a:r>
              <a:rPr lang="en-US" altLang="ko-KR" sz="1000" dirty="0">
                <a:solidFill>
                  <a:schemeClr val="tx1"/>
                </a:solidFill>
              </a:rPr>
              <a:t>33</a:t>
            </a:r>
            <a:r>
              <a:rPr lang="ko-KR" altLang="en-US" sz="1000" dirty="0">
                <a:solidFill>
                  <a:schemeClr val="tx1"/>
                </a:solidFill>
              </a:rPr>
              <a:t>년 초과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전체 </a:t>
            </a:r>
            <a:r>
              <a:rPr lang="en-US" altLang="ko-KR" sz="1000" dirty="0">
                <a:solidFill>
                  <a:schemeClr val="tx1"/>
                </a:solidFill>
              </a:rPr>
              <a:t>6~8</a:t>
            </a:r>
            <a:r>
              <a:rPr lang="ko-KR" altLang="en-US" sz="1000" dirty="0">
                <a:solidFill>
                  <a:schemeClr val="tx1"/>
                </a:solidFill>
              </a:rPr>
              <a:t>천만 대 중 최소 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천만 대 이상이 내용연수 초과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근접으로 교체 필요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미국 연방정부 주도의 지속적인 노후 설비 현대화 투자로 신규 변압기 수요 창출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노후화 전력 설비에 대한 투자액은 </a:t>
            </a:r>
            <a:r>
              <a:rPr lang="en-US" altLang="ko-KR" sz="1000" dirty="0">
                <a:solidFill>
                  <a:schemeClr val="tx1"/>
                </a:solidFill>
              </a:rPr>
              <a:t>2026</a:t>
            </a:r>
            <a:r>
              <a:rPr lang="ko-KR" altLang="en-US" sz="1000" dirty="0">
                <a:solidFill>
                  <a:schemeClr val="tx1"/>
                </a:solidFill>
              </a:rPr>
              <a:t>년 약 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천억 달러로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지속 확대 전망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6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35B4-A0C4-6734-CB06-E0DA557B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DB5C2CD-B903-1588-3F62-901D728E8E84}"/>
              </a:ext>
            </a:extLst>
          </p:cNvPr>
          <p:cNvCxnSpPr>
            <a:cxnSpLocks/>
          </p:cNvCxnSpPr>
          <p:nvPr/>
        </p:nvCxnSpPr>
        <p:spPr>
          <a:xfrm>
            <a:off x="2440454" y="2247486"/>
            <a:ext cx="0" cy="2556000"/>
          </a:xfrm>
          <a:prstGeom prst="line">
            <a:avLst/>
          </a:prstGeom>
          <a:ln w="19050">
            <a:solidFill>
              <a:srgbClr val="26C2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8F01C961-DCF5-7527-4BFE-28F8B6CF390D}"/>
              </a:ext>
            </a:extLst>
          </p:cNvPr>
          <p:cNvCxnSpPr>
            <a:cxnSpLocks/>
          </p:cNvCxnSpPr>
          <p:nvPr/>
        </p:nvCxnSpPr>
        <p:spPr>
          <a:xfrm>
            <a:off x="3602456" y="2247486"/>
            <a:ext cx="0" cy="2556000"/>
          </a:xfrm>
          <a:prstGeom prst="line">
            <a:avLst/>
          </a:prstGeom>
          <a:ln w="19050">
            <a:solidFill>
              <a:srgbClr val="26C2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EE6FF43-CBCE-5A87-3CC5-4D9C4957C9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Market Driver - (1) AI Supercycle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2EF43-C1BB-6FC1-0370-81F3C24726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US Energy Information Administration</a:t>
            </a:r>
            <a:r>
              <a:rPr lang="en-US" altLang="ko-KR"/>
              <a:t>, Goldman Sachs.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ECB03-30E6-B1C0-27F2-7978A3B335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A2B49-DD27-F93A-0350-DB841AEAFDBC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2022</a:t>
            </a:r>
            <a:r>
              <a:rPr lang="ko-KR" altLang="en-US" sz="1400" b="1" dirty="0">
                <a:solidFill>
                  <a:srgbClr val="3D3D3D"/>
                </a:solidFill>
              </a:rPr>
              <a:t>년 </a:t>
            </a:r>
            <a:r>
              <a:rPr lang="en-US" altLang="ko-KR" sz="1400" b="1" dirty="0">
                <a:solidFill>
                  <a:srgbClr val="3D3D3D"/>
                </a:solidFill>
              </a:rPr>
              <a:t>ChatGPT </a:t>
            </a:r>
            <a:r>
              <a:rPr lang="ko-KR" altLang="en-US" sz="1400" b="1" dirty="0">
                <a:solidFill>
                  <a:srgbClr val="3D3D3D"/>
                </a:solidFill>
              </a:rPr>
              <a:t>출시 이후 생성형 </a:t>
            </a:r>
            <a:r>
              <a:rPr lang="en-US" altLang="ko-KR" sz="1400" b="1" dirty="0">
                <a:solidFill>
                  <a:srgbClr val="3D3D3D"/>
                </a:solidFill>
              </a:rPr>
              <a:t>AI </a:t>
            </a:r>
            <a:r>
              <a:rPr lang="ko-KR" altLang="en-US" sz="1400" b="1" dirty="0">
                <a:solidFill>
                  <a:srgbClr val="3D3D3D"/>
                </a:solidFill>
              </a:rPr>
              <a:t>보급 확대에 따라 미국 내 전력사용량은 지속 증가하고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특히 대량의 전력 수요가 발생하는 데이터센터 증설로 인해 </a:t>
            </a:r>
            <a:r>
              <a:rPr lang="en-US" altLang="ko-KR" sz="1400" b="1" dirty="0">
                <a:solidFill>
                  <a:srgbClr val="3D3D3D"/>
                </a:solidFill>
              </a:rPr>
              <a:t>2040</a:t>
            </a:r>
            <a:r>
              <a:rPr lang="ko-KR" altLang="en-US" sz="1400" b="1" dirty="0">
                <a:solidFill>
                  <a:srgbClr val="3D3D3D"/>
                </a:solidFill>
              </a:rPr>
              <a:t>년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전력사용량은 </a:t>
            </a:r>
            <a:r>
              <a:rPr lang="en-US" altLang="ko-KR" sz="1400" b="1" dirty="0">
                <a:solidFill>
                  <a:srgbClr val="3D3D3D"/>
                </a:solidFill>
              </a:rPr>
              <a:t>2025</a:t>
            </a:r>
            <a:r>
              <a:rPr lang="ko-KR" altLang="en-US" sz="1400" b="1" dirty="0">
                <a:solidFill>
                  <a:srgbClr val="3D3D3D"/>
                </a:solidFill>
              </a:rPr>
              <a:t>년 수준의 </a:t>
            </a:r>
            <a:r>
              <a:rPr lang="en-US" altLang="ko-KR" sz="1400" b="1" dirty="0">
                <a:solidFill>
                  <a:srgbClr val="3D3D3D"/>
                </a:solidFill>
              </a:rPr>
              <a:t>1.5</a:t>
            </a:r>
            <a:r>
              <a:rPr lang="ko-KR" altLang="en-US" sz="1400" b="1" dirty="0">
                <a:solidFill>
                  <a:srgbClr val="3D3D3D"/>
                </a:solidFill>
              </a:rPr>
              <a:t>배 이상인 </a:t>
            </a:r>
            <a:r>
              <a:rPr lang="en-US" altLang="ko-KR" sz="1400" b="1" dirty="0">
                <a:solidFill>
                  <a:srgbClr val="3D3D3D"/>
                </a:solidFill>
              </a:rPr>
              <a:t>6,000TWh</a:t>
            </a:r>
            <a:r>
              <a:rPr lang="ko-KR" altLang="en-US" sz="1400" b="1" dirty="0">
                <a:solidFill>
                  <a:srgbClr val="3D3D3D"/>
                </a:solidFill>
              </a:rPr>
              <a:t>까지 증가 전망됩니다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393845-1EF7-26F2-E418-25E5D08B9AFB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미국 내 연도별 전력사용량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16A521-08ED-421A-16EA-31ECD9175F9C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내 데이터센터 설비 수요 및 용량</a:t>
            </a:r>
          </a:p>
        </p:txBody>
      </p:sp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804F2E8E-52A0-BF19-8997-B16F20E019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7704873"/>
              </p:ext>
            </p:extLst>
          </p:nvPr>
        </p:nvGraphicFramePr>
        <p:xfrm>
          <a:off x="453000" y="2168525"/>
          <a:ext cx="4392000" cy="29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9D7280-923E-4400-623E-F29B21C5BF05}"/>
              </a:ext>
            </a:extLst>
          </p:cNvPr>
          <p:cNvSpPr txBox="1"/>
          <p:nvPr/>
        </p:nvSpPr>
        <p:spPr>
          <a:xfrm>
            <a:off x="3711626" y="1780991"/>
            <a:ext cx="1133374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 err="1">
                <a:solidFill>
                  <a:schemeClr val="bg1"/>
                </a:solidFill>
              </a:rPr>
              <a:t>테라와트시</a:t>
            </a:r>
            <a:r>
              <a:rPr lang="en-US" altLang="ko-KR" sz="800" dirty="0">
                <a:solidFill>
                  <a:schemeClr val="bg1"/>
                </a:solidFill>
              </a:rPr>
              <a:t>(TWh))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E1C1D6D-B6AC-079C-D998-AFB388FFCB2C}"/>
              </a:ext>
            </a:extLst>
          </p:cNvPr>
          <p:cNvSpPr/>
          <p:nvPr/>
        </p:nvSpPr>
        <p:spPr>
          <a:xfrm>
            <a:off x="5061000" y="5217556"/>
            <a:ext cx="4392000" cy="7309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생성형 </a:t>
            </a:r>
            <a:r>
              <a:rPr lang="en-US" altLang="ko-KR" sz="1000" dirty="0">
                <a:solidFill>
                  <a:schemeClr val="tx1"/>
                </a:solidFill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</a:rPr>
              <a:t>보급에 따라 고용량 연산 처리 및 자료 저장을 위한 데이터센터 수요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미국 내 데이터센터 설비 수요는 </a:t>
            </a:r>
            <a:r>
              <a:rPr lang="en-US" altLang="ko-KR" sz="1000" dirty="0">
                <a:solidFill>
                  <a:schemeClr val="tx1"/>
                </a:solidFill>
              </a:rPr>
              <a:t>2024</a:t>
            </a:r>
            <a:r>
              <a:rPr lang="ko-KR" altLang="en-US" sz="1000" dirty="0">
                <a:solidFill>
                  <a:schemeClr val="tx1"/>
                </a:solidFill>
              </a:rPr>
              <a:t>년 </a:t>
            </a:r>
            <a:r>
              <a:rPr lang="en-US" altLang="ko-KR" sz="1000" dirty="0">
                <a:solidFill>
                  <a:schemeClr val="tx1"/>
                </a:solidFill>
              </a:rPr>
              <a:t>30GW</a:t>
            </a:r>
            <a:r>
              <a:rPr lang="ko-KR" altLang="en-US" sz="1000" dirty="0">
                <a:solidFill>
                  <a:schemeClr val="tx1"/>
                </a:solidFill>
              </a:rPr>
              <a:t>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약 </a:t>
            </a:r>
            <a:r>
              <a:rPr lang="en-US" altLang="ko-KR" sz="1000" dirty="0">
                <a:solidFill>
                  <a:schemeClr val="tx1"/>
                </a:solidFill>
              </a:rPr>
              <a:t>9GW</a:t>
            </a:r>
            <a:r>
              <a:rPr lang="ko-KR" altLang="en-US" sz="1000" dirty="0">
                <a:solidFill>
                  <a:schemeClr val="tx1"/>
                </a:solidFill>
              </a:rPr>
              <a:t>의 공급 부족 발생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생성형 </a:t>
            </a:r>
            <a:r>
              <a:rPr lang="en-US" altLang="ko-KR" sz="1000" dirty="0">
                <a:solidFill>
                  <a:schemeClr val="tx1"/>
                </a:solidFill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</a:rPr>
              <a:t>고도화에 따라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데이터센터 수요는 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년 내 기존 수요의 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배 이상 증가 예상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지속적인 공급부족 해소를 위한 데이터센터 신설로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전력사용량 급증 전망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E37AE06-E6A5-24B6-6533-501517713B89}"/>
              </a:ext>
            </a:extLst>
          </p:cNvPr>
          <p:cNvSpPr/>
          <p:nvPr/>
        </p:nvSpPr>
        <p:spPr>
          <a:xfrm>
            <a:off x="453000" y="5217556"/>
            <a:ext cx="4392000" cy="7309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2020</a:t>
            </a:r>
            <a:r>
              <a:rPr lang="ko-KR" altLang="en-US" sz="1000" dirty="0">
                <a:solidFill>
                  <a:schemeClr val="tx1"/>
                </a:solidFill>
              </a:rPr>
              <a:t>년 이후 미국 내 전력사용량은 연평균 </a:t>
            </a:r>
            <a:r>
              <a:rPr lang="en-US" altLang="ko-KR" sz="1000" dirty="0">
                <a:solidFill>
                  <a:schemeClr val="tx1"/>
                </a:solidFill>
              </a:rPr>
              <a:t>2.1%</a:t>
            </a:r>
            <a:r>
              <a:rPr lang="ko-KR" altLang="en-US" sz="1000" dirty="0">
                <a:solidFill>
                  <a:schemeClr val="tx1"/>
                </a:solidFill>
              </a:rPr>
              <a:t>의 속도로 지속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2025</a:t>
            </a:r>
            <a:r>
              <a:rPr lang="ko-KR" altLang="en-US" sz="1000" dirty="0">
                <a:solidFill>
                  <a:schemeClr val="tx1"/>
                </a:solidFill>
              </a:rPr>
              <a:t>년 사용량은 </a:t>
            </a:r>
            <a:r>
              <a:rPr lang="en-US" altLang="ko-KR" sz="1000" dirty="0">
                <a:solidFill>
                  <a:schemeClr val="tx1"/>
                </a:solidFill>
              </a:rPr>
              <a:t>4,198TWh</a:t>
            </a:r>
            <a:r>
              <a:rPr lang="ko-KR" altLang="en-US" sz="1000" dirty="0">
                <a:solidFill>
                  <a:schemeClr val="tx1"/>
                </a:solidFill>
              </a:rPr>
              <a:t>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역대 최대 사용량 기록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생성형 </a:t>
            </a:r>
            <a:r>
              <a:rPr lang="en-US" altLang="ko-KR" sz="1000" dirty="0">
                <a:solidFill>
                  <a:schemeClr val="tx1"/>
                </a:solidFill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</a:rPr>
              <a:t>사용량 증가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모델 고도화에 따른 전력수요 지속 증가 전망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2030</a:t>
            </a:r>
            <a:r>
              <a:rPr lang="ko-KR" altLang="en-US" sz="1000" dirty="0">
                <a:solidFill>
                  <a:schemeClr val="tx1"/>
                </a:solidFill>
              </a:rPr>
              <a:t>년 </a:t>
            </a:r>
            <a:r>
              <a:rPr lang="en-US" altLang="ko-KR" sz="1000" dirty="0">
                <a:solidFill>
                  <a:schemeClr val="tx1"/>
                </a:solidFill>
              </a:rPr>
              <a:t>5,000TWh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</a:rPr>
              <a:t>2040</a:t>
            </a:r>
            <a:r>
              <a:rPr lang="ko-KR" altLang="en-US" sz="1000" dirty="0">
                <a:solidFill>
                  <a:schemeClr val="tx1"/>
                </a:solidFill>
              </a:rPr>
              <a:t>년 </a:t>
            </a:r>
            <a:r>
              <a:rPr lang="en-US" altLang="ko-KR" sz="1000" dirty="0">
                <a:solidFill>
                  <a:schemeClr val="tx1"/>
                </a:solidFill>
              </a:rPr>
              <a:t>6,000TWh </a:t>
            </a:r>
            <a:r>
              <a:rPr lang="ko-KR" altLang="en-US" sz="1000" dirty="0">
                <a:solidFill>
                  <a:schemeClr val="tx1"/>
                </a:solidFill>
              </a:rPr>
              <a:t>이상으로 가속화 예상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CE8AAA-657C-67B2-1FE2-DB5B3C89F637}"/>
              </a:ext>
            </a:extLst>
          </p:cNvPr>
          <p:cNvSpPr txBox="1"/>
          <p:nvPr/>
        </p:nvSpPr>
        <p:spPr>
          <a:xfrm>
            <a:off x="1348783" y="2272610"/>
            <a:ext cx="1091671" cy="327334"/>
          </a:xfrm>
          <a:prstGeom prst="rect">
            <a:avLst/>
          </a:prstGeom>
          <a:noFill/>
        </p:spPr>
        <p:txBody>
          <a:bodyPr wrap="none" lIns="0" tIns="0" rIns="54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b="1" dirty="0">
                <a:solidFill>
                  <a:srgbClr val="26C260"/>
                </a:solidFill>
              </a:rPr>
              <a:t>2016</a:t>
            </a:r>
            <a:r>
              <a:rPr lang="ko-KR" altLang="en-US" sz="1000" b="1" dirty="0">
                <a:solidFill>
                  <a:srgbClr val="26C260"/>
                </a:solidFill>
              </a:rPr>
              <a:t>년</a:t>
            </a:r>
            <a:endParaRPr lang="en-US" altLang="ko-KR" sz="1000" b="1" dirty="0">
              <a:solidFill>
                <a:srgbClr val="26C260"/>
              </a:solidFill>
            </a:endParaRPr>
          </a:p>
          <a:p>
            <a:pPr algn="r">
              <a:lnSpc>
                <a:spcPct val="110000"/>
              </a:lnSpc>
            </a:pPr>
            <a:r>
              <a:rPr lang="ko-KR" altLang="en-US" sz="1000" dirty="0"/>
              <a:t>알파고 </a:t>
            </a:r>
            <a:r>
              <a:rPr lang="en-US" altLang="ko-KR" sz="1000" dirty="0"/>
              <a:t>- </a:t>
            </a:r>
            <a:r>
              <a:rPr lang="ko-KR" altLang="en-US" sz="1000" dirty="0" err="1"/>
              <a:t>이세돌</a:t>
            </a:r>
            <a:r>
              <a:rPr lang="ko-KR" altLang="en-US" sz="1000" dirty="0"/>
              <a:t> 대국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C936FF-1074-AD88-A0A9-3184BF298199}"/>
              </a:ext>
            </a:extLst>
          </p:cNvPr>
          <p:cNvSpPr txBox="1"/>
          <p:nvPr/>
        </p:nvSpPr>
        <p:spPr>
          <a:xfrm>
            <a:off x="2775280" y="2272610"/>
            <a:ext cx="827176" cy="327334"/>
          </a:xfrm>
          <a:prstGeom prst="rect">
            <a:avLst/>
          </a:prstGeom>
          <a:noFill/>
        </p:spPr>
        <p:txBody>
          <a:bodyPr wrap="none" lIns="0" tIns="0" rIns="54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b="1" dirty="0">
                <a:solidFill>
                  <a:srgbClr val="26C260"/>
                </a:solidFill>
              </a:rPr>
              <a:t>2022</a:t>
            </a:r>
            <a:r>
              <a:rPr lang="ko-KR" altLang="en-US" sz="1000" b="1" dirty="0">
                <a:solidFill>
                  <a:srgbClr val="26C260"/>
                </a:solidFill>
              </a:rPr>
              <a:t>년</a:t>
            </a:r>
            <a:endParaRPr lang="en-US" altLang="ko-KR" sz="1000" b="1" dirty="0">
              <a:solidFill>
                <a:srgbClr val="26C260"/>
              </a:solidFill>
            </a:endParaRPr>
          </a:p>
          <a:p>
            <a:pPr algn="r">
              <a:lnSpc>
                <a:spcPct val="110000"/>
              </a:lnSpc>
            </a:pPr>
            <a:r>
              <a:rPr lang="en-US" altLang="ko-KR" sz="1000" dirty="0"/>
              <a:t>ChatGPT</a:t>
            </a:r>
            <a:r>
              <a:rPr lang="ko-KR" altLang="en-US" sz="1000" dirty="0"/>
              <a:t> 출시</a:t>
            </a:r>
          </a:p>
        </p:txBody>
      </p: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E7B13626-BE67-2E95-DC7B-8EBB7F99A0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5836793"/>
              </p:ext>
            </p:extLst>
          </p:nvPr>
        </p:nvGraphicFramePr>
        <p:xfrm>
          <a:off x="5060999" y="2168525"/>
          <a:ext cx="4392000" cy="29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ECC20D61-D36C-AF5F-7ADE-61C3612388DE}"/>
              </a:ext>
            </a:extLst>
          </p:cNvPr>
          <p:cNvSpPr txBox="1"/>
          <p:nvPr/>
        </p:nvSpPr>
        <p:spPr>
          <a:xfrm>
            <a:off x="8367715" y="1780991"/>
            <a:ext cx="1085284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 err="1">
                <a:solidFill>
                  <a:schemeClr val="bg1"/>
                </a:solidFill>
              </a:rPr>
              <a:t>기가와트시</a:t>
            </a:r>
            <a:r>
              <a:rPr lang="en-US" altLang="ko-KR" sz="800" dirty="0">
                <a:solidFill>
                  <a:schemeClr val="bg1"/>
                </a:solidFill>
              </a:rPr>
              <a:t>(GW))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E1147B-C01B-393D-04A8-7A2F1AD247A2}"/>
              </a:ext>
            </a:extLst>
          </p:cNvPr>
          <p:cNvSpPr txBox="1"/>
          <p:nvPr/>
        </p:nvSpPr>
        <p:spPr>
          <a:xfrm>
            <a:off x="10027650" y="6204103"/>
            <a:ext cx="1639536" cy="600164"/>
          </a:xfrm>
          <a:prstGeom prst="rect">
            <a:avLst/>
          </a:prstGeom>
          <a:solidFill>
            <a:srgbClr val="E6FDD6"/>
          </a:solidFill>
        </p:spPr>
        <p:txBody>
          <a:bodyPr wrap="square">
            <a:spAutoFit/>
          </a:bodyPr>
          <a:lstStyle/>
          <a:p>
            <a:r>
              <a:rPr lang="en-US" altLang="ko-KR" sz="1100">
                <a:hlinkClick r:id="rId4"/>
              </a:rPr>
              <a:t>Chart: The Shortage of U.S. </a:t>
            </a:r>
            <a:r>
              <a:rPr lang="en-US" altLang="ko-KR" sz="1100" dirty="0">
                <a:hlinkClick r:id="rId4"/>
              </a:rPr>
              <a:t>Data Center Capacity (2023–2028P)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6710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8A64-2584-9872-BA6A-434363AE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0DA4AA-552F-F4F8-1AAC-6D0E3F0E42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Market Driver - (2) Electrification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AE6991-B286-A1BB-46AA-83EB4AFA7B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International Energy Agency, US Energy Information Administration.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368715-CF26-C6B5-6485-7B1D7C57C6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060CA-4767-2419-83B9-C741EB0C1AF7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AI </a:t>
            </a:r>
            <a:r>
              <a:rPr lang="ko-KR" altLang="en-US" sz="1400" b="1" dirty="0">
                <a:solidFill>
                  <a:srgbClr val="3D3D3D"/>
                </a:solidFill>
              </a:rPr>
              <a:t>슈퍼사이클 외에도 전기차 판매량 증가에 따른 충전 인프라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전력 소모량 급증으로 인한 변압기 수요가 지속 확대되고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이러한 전력 사용량에 대응하기 위한 태양광 설비 증설 확대도 미국 내 변압기 수요 상승을 견인하고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F75F55-5DD4-3587-8206-7240AC359A70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내 연간 전기차 판매량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547716-8144-7399-A8EC-DEFAEC94A9D7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내 태양광 </a:t>
            </a:r>
            <a:r>
              <a:rPr lang="ko-KR" altLang="en-US" sz="1200" b="1">
                <a:solidFill>
                  <a:schemeClr val="bg1"/>
                </a:solidFill>
              </a:rPr>
              <a:t>에너지 발전용량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21A51874-DDF6-3CA4-F2AC-E47CFC32FF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512328"/>
              </p:ext>
            </p:extLst>
          </p:nvPr>
        </p:nvGraphicFramePr>
        <p:xfrm>
          <a:off x="453000" y="2168524"/>
          <a:ext cx="4392000" cy="29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83EB68-92FC-08F4-29F8-8E6CEF86C0C1}"/>
              </a:ext>
            </a:extLst>
          </p:cNvPr>
          <p:cNvSpPr txBox="1"/>
          <p:nvPr/>
        </p:nvSpPr>
        <p:spPr>
          <a:xfrm>
            <a:off x="4173292" y="1780991"/>
            <a:ext cx="671708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 err="1">
                <a:solidFill>
                  <a:schemeClr val="bg1"/>
                </a:solidFill>
              </a:rPr>
              <a:t>백만대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977578-164C-7954-383C-31ED9A830FD1}"/>
              </a:ext>
            </a:extLst>
          </p:cNvPr>
          <p:cNvSpPr txBox="1"/>
          <p:nvPr/>
        </p:nvSpPr>
        <p:spPr>
          <a:xfrm>
            <a:off x="8693124" y="1780991"/>
            <a:ext cx="759875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 err="1">
                <a:solidFill>
                  <a:schemeClr val="bg1"/>
                </a:solidFill>
              </a:rPr>
              <a:t>기가와트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96D9951C-C5CE-AB6A-00AA-8EBEDFCCDC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194257"/>
              </p:ext>
            </p:extLst>
          </p:nvPr>
        </p:nvGraphicFramePr>
        <p:xfrm>
          <a:off x="5060999" y="2168524"/>
          <a:ext cx="4392000" cy="29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BC433658-7889-B663-048D-C8B30CD43FAC}"/>
              </a:ext>
            </a:extLst>
          </p:cNvPr>
          <p:cNvSpPr/>
          <p:nvPr/>
        </p:nvSpPr>
        <p:spPr>
          <a:xfrm>
            <a:off x="5061000" y="5217556"/>
            <a:ext cx="4392000" cy="7309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지속적인 전력 수요 증가에 가장 빠르게 대응 가능한 에너지원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2025</a:t>
            </a:r>
            <a:r>
              <a:rPr lang="ko-KR" altLang="en-US" sz="1000" dirty="0">
                <a:solidFill>
                  <a:schemeClr val="tx1"/>
                </a:solidFill>
              </a:rPr>
              <a:t>년 신규 발전설비의 </a:t>
            </a:r>
            <a:r>
              <a:rPr lang="en-US" altLang="ko-KR" sz="1000" dirty="0">
                <a:solidFill>
                  <a:schemeClr val="tx1"/>
                </a:solidFill>
              </a:rPr>
              <a:t>60%</a:t>
            </a:r>
            <a:r>
              <a:rPr lang="ko-KR" altLang="en-US" sz="1000" dirty="0">
                <a:solidFill>
                  <a:schemeClr val="tx1"/>
                </a:solidFill>
              </a:rPr>
              <a:t> 이상이 태양광으로 구성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텍사스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중서부 등 태양광 효율 우수 지역 중심의 빠른 확산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태양광 발전 증가에 따라 </a:t>
            </a:r>
            <a:r>
              <a:rPr lang="en-US" altLang="ko-KR" sz="1000" dirty="0">
                <a:solidFill>
                  <a:schemeClr val="tx1"/>
                </a:solidFill>
              </a:rPr>
              <a:t>ESS </a:t>
            </a:r>
            <a:r>
              <a:rPr lang="ko-KR" altLang="en-US" sz="1000" dirty="0">
                <a:solidFill>
                  <a:schemeClr val="tx1"/>
                </a:solidFill>
              </a:rPr>
              <a:t>수요도 지속 증가하여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변압기 수요 견인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E2002B-6260-8528-7D3B-D6B784981411}"/>
              </a:ext>
            </a:extLst>
          </p:cNvPr>
          <p:cNvSpPr/>
          <p:nvPr/>
        </p:nvSpPr>
        <p:spPr>
          <a:xfrm>
            <a:off x="453000" y="5217556"/>
            <a:ext cx="4392000" cy="7309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EV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Chasm</a:t>
            </a:r>
            <a:r>
              <a:rPr lang="ko-KR" altLang="en-US" sz="1000" dirty="0">
                <a:solidFill>
                  <a:schemeClr val="tx1"/>
                </a:solidFill>
              </a:rPr>
              <a:t>에도 불구한 지속적인 전기차 판매량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2024</a:t>
            </a:r>
            <a:r>
              <a:rPr lang="ko-KR" altLang="en-US" sz="1000" dirty="0">
                <a:solidFill>
                  <a:schemeClr val="tx1"/>
                </a:solidFill>
              </a:rPr>
              <a:t>년 판매량은 </a:t>
            </a:r>
            <a:r>
              <a:rPr lang="en-US" altLang="ko-KR" sz="1000" dirty="0">
                <a:solidFill>
                  <a:schemeClr val="tx1"/>
                </a:solidFill>
              </a:rPr>
              <a:t>1.5</a:t>
            </a:r>
            <a:r>
              <a:rPr lang="ko-KR" altLang="en-US" sz="1000" dirty="0">
                <a:solidFill>
                  <a:schemeClr val="tx1"/>
                </a:solidFill>
              </a:rPr>
              <a:t>백만대로 전년 대비 </a:t>
            </a:r>
            <a:r>
              <a:rPr lang="en-US" altLang="ko-KR" sz="1000" dirty="0">
                <a:solidFill>
                  <a:schemeClr val="tx1"/>
                </a:solidFill>
              </a:rPr>
              <a:t>7% </a:t>
            </a:r>
            <a:r>
              <a:rPr lang="ko-KR" altLang="en-US" sz="1000" dirty="0">
                <a:solidFill>
                  <a:schemeClr val="tx1"/>
                </a:solidFill>
              </a:rPr>
              <a:t>증가하였으며</a:t>
            </a:r>
            <a:r>
              <a:rPr lang="en-US" altLang="ko-KR" sz="1000" dirty="0">
                <a:solidFill>
                  <a:schemeClr val="tx1"/>
                </a:solidFill>
              </a:rPr>
              <a:t>, 2025</a:t>
            </a:r>
            <a:r>
              <a:rPr lang="ko-KR" altLang="en-US" sz="1000" dirty="0">
                <a:solidFill>
                  <a:schemeClr val="tx1"/>
                </a:solidFill>
              </a:rPr>
              <a:t>년 지속 전망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누적 판매량 증가에 따른 충전 인프라 수요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전력 소모량 급증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전미 전기차 대수가 </a:t>
            </a:r>
            <a:r>
              <a:rPr lang="en-US" altLang="ko-KR" sz="1000" dirty="0">
                <a:solidFill>
                  <a:schemeClr val="tx1"/>
                </a:solidFill>
              </a:rPr>
              <a:t>7</a:t>
            </a:r>
            <a:r>
              <a:rPr lang="ko-KR" altLang="en-US" sz="1000" dirty="0">
                <a:solidFill>
                  <a:schemeClr val="tx1"/>
                </a:solidFill>
              </a:rPr>
              <a:t>백만대를 초과함에 따라 가정 내 전기차 충전 수요 증가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14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EA9F8-A55A-9B44-B62D-FBFDA501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CDE2AC-0279-0449-8F69-4E8ADC48F7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Market Driver - (3) Aging Grid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DF8B20-17C4-7ED7-A65E-281A005EF2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Deloitte, National Renewable Energy Laboratory.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53207A-F6B0-6CC1-E298-702B8795BD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ABBC3-1FC8-63AD-B3EC-6083CF74281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이러한 전력사용량 증가는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미국 내 송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 err="1">
                <a:solidFill>
                  <a:srgbClr val="3D3D3D"/>
                </a:solidFill>
              </a:rPr>
              <a:t>배전망</a:t>
            </a:r>
            <a:r>
              <a:rPr lang="ko-KR" altLang="en-US" sz="1400" b="1" dirty="0">
                <a:solidFill>
                  <a:srgbClr val="3D3D3D"/>
                </a:solidFill>
              </a:rPr>
              <a:t> 설비의 노후화 심화에 따른 전력공급 병목현상 및 대규모 정전사태에 대한 리스크 증가로 이어지고 있어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향후 </a:t>
            </a:r>
            <a:r>
              <a:rPr lang="en-US" altLang="ko-KR" sz="1400" b="1" dirty="0">
                <a:solidFill>
                  <a:srgbClr val="3D3D3D"/>
                </a:solidFill>
              </a:rPr>
              <a:t>20 - 30</a:t>
            </a:r>
            <a:r>
              <a:rPr lang="ko-KR" altLang="en-US" sz="1400" b="1" dirty="0">
                <a:solidFill>
                  <a:srgbClr val="3D3D3D"/>
                </a:solidFill>
              </a:rPr>
              <a:t>년간 노후 송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 err="1">
                <a:solidFill>
                  <a:srgbClr val="3D3D3D"/>
                </a:solidFill>
              </a:rPr>
              <a:t>배전망</a:t>
            </a:r>
            <a:r>
              <a:rPr lang="ko-KR" altLang="en-US" sz="1400" b="1" dirty="0">
                <a:solidFill>
                  <a:srgbClr val="3D3D3D"/>
                </a:solidFill>
              </a:rPr>
              <a:t> 현대화를 위한 투자 확대가 지속될 것으로 전망됩니다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D1B475-63B6-2829-5E2C-9A5F328CD2D9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미국 내 연도별 전력산업 투자 규모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177A7D-8BBC-302C-5142-B6D6D9610136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내 </a:t>
            </a:r>
            <a:r>
              <a:rPr lang="ko-KR" altLang="en-US" sz="1200" b="1" dirty="0" err="1">
                <a:solidFill>
                  <a:schemeClr val="bg1"/>
                </a:solidFill>
              </a:rPr>
              <a:t>중저압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배전용 변압기 연령</a:t>
            </a:r>
            <a:r>
              <a:rPr lang="en-US" altLang="ko-KR" sz="1000" dirty="0">
                <a:solidFill>
                  <a:schemeClr val="bg1"/>
                </a:solidFill>
              </a:rPr>
              <a:t>(2023</a:t>
            </a:r>
            <a:r>
              <a:rPr lang="ko-KR" altLang="en-US" sz="1000" dirty="0">
                <a:solidFill>
                  <a:schemeClr val="bg1"/>
                </a:solidFill>
              </a:rPr>
              <a:t>년 기준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27CBE063-5072-6CE5-97C8-B0EF30545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838151"/>
              </p:ext>
            </p:extLst>
          </p:nvPr>
        </p:nvGraphicFramePr>
        <p:xfrm>
          <a:off x="453000" y="2169950"/>
          <a:ext cx="4392000" cy="29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A28CF87-8806-FE9C-8790-D51B2005801C}"/>
              </a:ext>
            </a:extLst>
          </p:cNvPr>
          <p:cNvSpPr txBox="1"/>
          <p:nvPr/>
        </p:nvSpPr>
        <p:spPr>
          <a:xfrm>
            <a:off x="4085125" y="1780991"/>
            <a:ext cx="759875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 err="1">
                <a:solidFill>
                  <a:schemeClr val="bg1"/>
                </a:solidFill>
              </a:rPr>
              <a:t>십억달러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pic>
        <p:nvPicPr>
          <p:cNvPr id="22" name="그림 21" descr="그래프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9F5AEE-B049-48D1-F8B9-EF31D61846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9" r="731"/>
          <a:stretch>
            <a:fillRect/>
          </a:stretch>
        </p:blipFill>
        <p:spPr>
          <a:xfrm>
            <a:off x="5061000" y="2176330"/>
            <a:ext cx="4392000" cy="295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EFEC32-96F3-7EC3-B146-A5D7AF5743E8}"/>
              </a:ext>
            </a:extLst>
          </p:cNvPr>
          <p:cNvSpPr txBox="1"/>
          <p:nvPr/>
        </p:nvSpPr>
        <p:spPr>
          <a:xfrm>
            <a:off x="8957621" y="1780991"/>
            <a:ext cx="495378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%)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9E2FFC-EEF2-9C2F-60D9-159EEE0B4805}"/>
              </a:ext>
            </a:extLst>
          </p:cNvPr>
          <p:cNvSpPr/>
          <p:nvPr/>
        </p:nvSpPr>
        <p:spPr>
          <a:xfrm>
            <a:off x="5061000" y="5217556"/>
            <a:ext cx="4392000" cy="7309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미국 내 운영 중인 </a:t>
            </a:r>
            <a:r>
              <a:rPr lang="en-US" altLang="ko-KR" sz="1000" dirty="0">
                <a:solidFill>
                  <a:schemeClr val="tx1"/>
                </a:solidFill>
              </a:rPr>
              <a:t>34.5kV </a:t>
            </a:r>
            <a:r>
              <a:rPr lang="ko-KR" altLang="en-US" sz="1000" dirty="0">
                <a:solidFill>
                  <a:schemeClr val="tx1"/>
                </a:solidFill>
              </a:rPr>
              <a:t>이하 </a:t>
            </a:r>
            <a:r>
              <a:rPr lang="ko-KR" altLang="en-US" sz="1000" dirty="0" err="1">
                <a:solidFill>
                  <a:schemeClr val="tx1"/>
                </a:solidFill>
              </a:rPr>
              <a:t>중저압</a:t>
            </a:r>
            <a:r>
              <a:rPr lang="ko-KR" altLang="en-US" sz="1000" dirty="0">
                <a:solidFill>
                  <a:schemeClr val="tx1"/>
                </a:solidFill>
              </a:rPr>
              <a:t> 배전기의 </a:t>
            </a:r>
            <a:r>
              <a:rPr lang="en-US" altLang="ko-KR" sz="1000" dirty="0">
                <a:solidFill>
                  <a:schemeClr val="tx1"/>
                </a:solidFill>
              </a:rPr>
              <a:t>50%</a:t>
            </a:r>
            <a:r>
              <a:rPr lang="ko-KR" altLang="en-US" sz="1000" dirty="0">
                <a:solidFill>
                  <a:schemeClr val="tx1"/>
                </a:solidFill>
              </a:rPr>
              <a:t>가 연령 </a:t>
            </a:r>
            <a:r>
              <a:rPr lang="en-US" altLang="ko-KR" sz="1000" dirty="0">
                <a:solidFill>
                  <a:schemeClr val="tx1"/>
                </a:solidFill>
              </a:rPr>
              <a:t>33</a:t>
            </a:r>
            <a:r>
              <a:rPr lang="ko-KR" altLang="en-US" sz="1000" dirty="0">
                <a:solidFill>
                  <a:schemeClr val="tx1"/>
                </a:solidFill>
              </a:rPr>
              <a:t>년 경과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전체 </a:t>
            </a:r>
            <a:r>
              <a:rPr lang="en-US" altLang="ko-KR" sz="1000" dirty="0">
                <a:solidFill>
                  <a:schemeClr val="tx1"/>
                </a:solidFill>
              </a:rPr>
              <a:t>6 ~ 8</a:t>
            </a:r>
            <a:r>
              <a:rPr lang="ko-KR" altLang="en-US" sz="1000" dirty="0">
                <a:solidFill>
                  <a:schemeClr val="tx1"/>
                </a:solidFill>
              </a:rPr>
              <a:t>천만 대 중 최소 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천만 대 이상이 </a:t>
            </a:r>
            <a:r>
              <a:rPr lang="en-US" altLang="ko-KR" sz="1000" dirty="0">
                <a:solidFill>
                  <a:schemeClr val="tx1"/>
                </a:solidFill>
              </a:rPr>
              <a:t>33</a:t>
            </a:r>
            <a:r>
              <a:rPr lang="ko-KR" altLang="en-US" sz="1000" dirty="0">
                <a:solidFill>
                  <a:schemeClr val="tx1"/>
                </a:solidFill>
              </a:rPr>
              <a:t>년 이상의 노후화 장비로 분석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글로벌 시장 내 변압기 공급 부족에 따른 설비 노후화 지속 예상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장비 교체는 연 </a:t>
            </a:r>
            <a:r>
              <a:rPr lang="en-US" altLang="ko-KR" sz="1000" dirty="0">
                <a:solidFill>
                  <a:schemeClr val="tx1"/>
                </a:solidFill>
              </a:rPr>
              <a:t>1.5 - 2.4</a:t>
            </a:r>
            <a:r>
              <a:rPr lang="ko-KR" altLang="en-US" sz="1000" dirty="0">
                <a:solidFill>
                  <a:schemeClr val="tx1"/>
                </a:solidFill>
              </a:rPr>
              <a:t>백만 대</a:t>
            </a:r>
            <a:r>
              <a:rPr lang="en-US" altLang="ko-KR" sz="800" dirty="0">
                <a:solidFill>
                  <a:schemeClr val="tx1"/>
                </a:solidFill>
              </a:rPr>
              <a:t>(2.5 - 3%)</a:t>
            </a:r>
            <a:r>
              <a:rPr lang="ko-KR" altLang="en-US" sz="1000" dirty="0">
                <a:solidFill>
                  <a:schemeClr val="tx1"/>
                </a:solidFill>
              </a:rPr>
              <a:t>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최소 </a:t>
            </a:r>
            <a:r>
              <a:rPr lang="en-US" altLang="ko-KR" sz="1000" dirty="0">
                <a:solidFill>
                  <a:schemeClr val="tx1"/>
                </a:solidFill>
              </a:rPr>
              <a:t>2050</a:t>
            </a:r>
            <a:r>
              <a:rPr lang="ko-KR" altLang="en-US" sz="1000" dirty="0">
                <a:solidFill>
                  <a:schemeClr val="tx1"/>
                </a:solidFill>
              </a:rPr>
              <a:t>년까지 지속 교체 필요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7203C47-4CF7-17B8-B8A4-26652E713BF4}"/>
              </a:ext>
            </a:extLst>
          </p:cNvPr>
          <p:cNvSpPr/>
          <p:nvPr/>
        </p:nvSpPr>
        <p:spPr>
          <a:xfrm>
            <a:off x="453000" y="5217556"/>
            <a:ext cx="4392000" cy="7309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미국 내 송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 err="1">
                <a:solidFill>
                  <a:schemeClr val="tx1"/>
                </a:solidFill>
              </a:rPr>
              <a:t>배전망</a:t>
            </a:r>
            <a:r>
              <a:rPr lang="ko-KR" altLang="en-US" sz="1000" dirty="0">
                <a:solidFill>
                  <a:schemeClr val="tx1"/>
                </a:solidFill>
              </a:rPr>
              <a:t> 설비 노후화로 인한 전력공급 병목 현상 지속 발생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노후화로 인한 설비 신뢰도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안정성 감소로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기상이변에 따른 정전사태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미국 연방정부의 지속적인 노후 설비 현대화 투자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2026</a:t>
            </a:r>
            <a:r>
              <a:rPr lang="ko-KR" altLang="en-US" sz="1000" dirty="0">
                <a:solidFill>
                  <a:schemeClr val="tx1"/>
                </a:solidFill>
              </a:rPr>
              <a:t>년 예상 투자액은 약 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천억 달러로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지속적인 투자 확대 전망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8E18BA-B52D-7850-7738-D4C63F7FC248}"/>
              </a:ext>
            </a:extLst>
          </p:cNvPr>
          <p:cNvSpPr txBox="1"/>
          <p:nvPr/>
        </p:nvSpPr>
        <p:spPr>
          <a:xfrm>
            <a:off x="-1349375" y="6164725"/>
            <a:ext cx="1247775" cy="630942"/>
          </a:xfrm>
          <a:prstGeom prst="rect">
            <a:avLst/>
          </a:prstGeom>
          <a:solidFill>
            <a:srgbClr val="E6FDD6"/>
          </a:solidFill>
        </p:spPr>
        <p:txBody>
          <a:bodyPr wrap="square">
            <a:spAutoFit/>
          </a:bodyPr>
          <a:lstStyle/>
          <a:p>
            <a:r>
              <a:rPr lang="en-US" altLang="ko-KR" sz="700" dirty="0">
                <a:hlinkClick r:id="rId4"/>
              </a:rPr>
              <a:t>Distribution Transformer Demand: Understanding Demand Segmentation, Drivers, and Management Through 2050</a:t>
            </a:r>
            <a:endParaRPr lang="ko-KR" altLang="en-US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915CAF-7218-5086-5E5D-348DBF017D85}"/>
              </a:ext>
            </a:extLst>
          </p:cNvPr>
          <p:cNvSpPr txBox="1"/>
          <p:nvPr/>
        </p:nvSpPr>
        <p:spPr>
          <a:xfrm>
            <a:off x="-1349375" y="5503006"/>
            <a:ext cx="1247775" cy="461665"/>
          </a:xfrm>
          <a:prstGeom prst="rect">
            <a:avLst/>
          </a:prstGeom>
          <a:solidFill>
            <a:srgbClr val="E6FDD6"/>
          </a:solidFill>
        </p:spPr>
        <p:txBody>
          <a:bodyPr wrap="square">
            <a:spAutoFit/>
          </a:bodyPr>
          <a:lstStyle/>
          <a:p>
            <a:r>
              <a:rPr lang="en-US" altLang="ko-KR" sz="800" dirty="0">
                <a:hlinkClick r:id="rId5"/>
              </a:rPr>
              <a:t>Funding the growth in the US power sector | Deloitte Insights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369800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6A536-B200-06E1-6641-1331BA66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9F6D861-193E-EBEC-0133-064A0217F5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Opportunity for Korean Suppliers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68ABFD-C056-52D9-BB07-4C0E4965F6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</a:t>
            </a:r>
            <a:r>
              <a:rPr lang="ko-KR" altLang="en-US" dirty="0"/>
              <a:t>액체절연식 변압기</a:t>
            </a:r>
            <a:r>
              <a:rPr lang="en-US" altLang="ko-KR" dirty="0"/>
              <a:t>(Liquid dielectric transformers) </a:t>
            </a:r>
            <a:r>
              <a:rPr lang="ko-KR" altLang="en-US" dirty="0"/>
              <a:t>수입액</a:t>
            </a:r>
            <a:r>
              <a:rPr lang="en-US" altLang="ko-KR" dirty="0"/>
              <a:t>. Source:</a:t>
            </a:r>
            <a:r>
              <a:rPr lang="ko-KR" altLang="en-US" dirty="0"/>
              <a:t> </a:t>
            </a:r>
            <a:r>
              <a:rPr lang="en-US" altLang="ko-KR" dirty="0"/>
              <a:t>International</a:t>
            </a:r>
            <a:r>
              <a:rPr lang="ko-KR" altLang="en-US" dirty="0"/>
              <a:t> </a:t>
            </a:r>
            <a:r>
              <a:rPr lang="en-US" altLang="ko-KR" dirty="0"/>
              <a:t>Trade</a:t>
            </a:r>
            <a:r>
              <a:rPr lang="ko-KR" altLang="en-US" dirty="0"/>
              <a:t> </a:t>
            </a:r>
            <a:r>
              <a:rPr lang="en-US" altLang="ko-KR" dirty="0"/>
              <a:t>Center.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726861-BCC4-2925-5801-058B82CC506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D3887-B391-3CD1-A94A-C41E14B4650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변압기 시장은 고품질의 원재료 확보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숙련된 작업자 투입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및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장기간 </a:t>
            </a:r>
            <a:r>
              <a:rPr lang="en-US" altLang="ko-KR" sz="1400" b="1" dirty="0">
                <a:solidFill>
                  <a:srgbClr val="3D3D3D"/>
                </a:solidFill>
              </a:rPr>
              <a:t>R&amp;D </a:t>
            </a:r>
            <a:r>
              <a:rPr lang="ko-KR" altLang="en-US" sz="1400" b="1" dirty="0">
                <a:solidFill>
                  <a:srgbClr val="3D3D3D"/>
                </a:solidFill>
              </a:rPr>
              <a:t>투자 필요성에 따라 기술적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구조적 진입 장벽이 높으며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이에 따라 미국발 변압기 수요 증대의 수혜는 검증된 </a:t>
            </a:r>
            <a:r>
              <a:rPr lang="en-US" altLang="ko-KR" sz="1400" b="1" dirty="0">
                <a:solidFill>
                  <a:srgbClr val="3D3D3D"/>
                </a:solidFill>
              </a:rPr>
              <a:t>Track Record</a:t>
            </a:r>
            <a:r>
              <a:rPr lang="ko-KR" altLang="en-US" sz="1400" b="1" dirty="0">
                <a:solidFill>
                  <a:srgbClr val="3D3D3D"/>
                </a:solidFill>
              </a:rPr>
              <a:t>를 보유한 국내 제조업체에 집중될 것으로 기대됩니다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3F8280-C3FA-6EB7-D43B-26830D82D3E2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국가별 대미 </a:t>
            </a:r>
            <a:r>
              <a:rPr lang="ko-KR" altLang="en-US" sz="1200" b="1">
                <a:solidFill>
                  <a:schemeClr val="bg1"/>
                </a:solidFill>
              </a:rPr>
              <a:t>변압기 수출액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(1)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977E36-EF31-E8D2-360E-570BDA792636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구조적인 공급 부족으로 인한 국산 제품의 시장 기회</a:t>
            </a: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C9824011-AC8A-0727-FD8A-352F1635A7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454691"/>
              </p:ext>
            </p:extLst>
          </p:nvPr>
        </p:nvGraphicFramePr>
        <p:xfrm>
          <a:off x="453000" y="2168525"/>
          <a:ext cx="4392000" cy="378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800F69C-2466-4D48-4726-B9B36932219C}"/>
              </a:ext>
            </a:extLst>
          </p:cNvPr>
          <p:cNvSpPr txBox="1"/>
          <p:nvPr/>
        </p:nvSpPr>
        <p:spPr>
          <a:xfrm>
            <a:off x="4085125" y="1780991"/>
            <a:ext cx="759875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백만달러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5F676F4-09B5-7991-333D-BC30C5983E26}"/>
              </a:ext>
            </a:extLst>
          </p:cNvPr>
          <p:cNvCxnSpPr/>
          <p:nvPr/>
        </p:nvCxnSpPr>
        <p:spPr>
          <a:xfrm>
            <a:off x="1234282" y="5292725"/>
            <a:ext cx="360000" cy="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90B59B3-6BC0-065D-B9A4-7CDB5B89A7F2}"/>
              </a:ext>
            </a:extLst>
          </p:cNvPr>
          <p:cNvCxnSpPr>
            <a:cxnSpLocks/>
          </p:cNvCxnSpPr>
          <p:nvPr/>
        </p:nvCxnSpPr>
        <p:spPr>
          <a:xfrm flipH="1">
            <a:off x="2058195" y="5119406"/>
            <a:ext cx="360000" cy="180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A90E9CE-229E-34EF-F302-B65EEDF3AC6E}"/>
              </a:ext>
            </a:extLst>
          </p:cNvPr>
          <p:cNvCxnSpPr>
            <a:cxnSpLocks/>
          </p:cNvCxnSpPr>
          <p:nvPr/>
        </p:nvCxnSpPr>
        <p:spPr>
          <a:xfrm flipH="1">
            <a:off x="2879727" y="4956073"/>
            <a:ext cx="360000" cy="162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E5FC208-A134-DCBF-25AE-482C41795843}"/>
              </a:ext>
            </a:extLst>
          </p:cNvPr>
          <p:cNvCxnSpPr>
            <a:cxnSpLocks/>
          </p:cNvCxnSpPr>
          <p:nvPr/>
        </p:nvCxnSpPr>
        <p:spPr>
          <a:xfrm flipH="1">
            <a:off x="3699030" y="4837009"/>
            <a:ext cx="360000" cy="1152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87DF577-2661-51BF-0E0B-EE02C8775791}"/>
              </a:ext>
            </a:extLst>
          </p:cNvPr>
          <p:cNvCxnSpPr>
            <a:cxnSpLocks/>
          </p:cNvCxnSpPr>
          <p:nvPr/>
        </p:nvCxnSpPr>
        <p:spPr>
          <a:xfrm flipH="1">
            <a:off x="3699030" y="4327420"/>
            <a:ext cx="360000" cy="3888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1F39A51-D624-DBE9-2779-37D76FC1DDA0}"/>
              </a:ext>
            </a:extLst>
          </p:cNvPr>
          <p:cNvCxnSpPr>
            <a:cxnSpLocks/>
          </p:cNvCxnSpPr>
          <p:nvPr/>
        </p:nvCxnSpPr>
        <p:spPr>
          <a:xfrm flipH="1">
            <a:off x="2879727" y="4716154"/>
            <a:ext cx="360000" cy="306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E827E4B-1BE4-DBAD-B0E8-5452DE4C6C62}"/>
              </a:ext>
            </a:extLst>
          </p:cNvPr>
          <p:cNvCxnSpPr>
            <a:cxnSpLocks/>
          </p:cNvCxnSpPr>
          <p:nvPr/>
        </p:nvCxnSpPr>
        <p:spPr>
          <a:xfrm flipH="1">
            <a:off x="2058195" y="5029406"/>
            <a:ext cx="360000" cy="1800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B7FD3FC-60F9-955F-BE7D-D9B83AB26BA0}"/>
              </a:ext>
            </a:extLst>
          </p:cNvPr>
          <p:cNvCxnSpPr>
            <a:cxnSpLocks/>
          </p:cNvCxnSpPr>
          <p:nvPr/>
        </p:nvCxnSpPr>
        <p:spPr>
          <a:xfrm flipH="1">
            <a:off x="1234282" y="5216549"/>
            <a:ext cx="360000" cy="10800"/>
          </a:xfrm>
          <a:prstGeom prst="line">
            <a:avLst/>
          </a:prstGeom>
          <a:ln w="6350">
            <a:solidFill>
              <a:srgbClr val="1C8F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954E26D-CD94-99B9-71B8-AFF2AB245CF8}"/>
              </a:ext>
            </a:extLst>
          </p:cNvPr>
          <p:cNvCxnSpPr>
            <a:cxnSpLocks/>
          </p:cNvCxnSpPr>
          <p:nvPr/>
        </p:nvCxnSpPr>
        <p:spPr>
          <a:xfrm>
            <a:off x="1234282" y="4841687"/>
            <a:ext cx="360000" cy="10800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466CD29-D081-A05B-1BD9-A3B93E2A0064}"/>
              </a:ext>
            </a:extLst>
          </p:cNvPr>
          <p:cNvCxnSpPr>
            <a:cxnSpLocks/>
          </p:cNvCxnSpPr>
          <p:nvPr/>
        </p:nvCxnSpPr>
        <p:spPr>
          <a:xfrm flipH="1">
            <a:off x="2058195" y="4565062"/>
            <a:ext cx="360000" cy="288000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1031194-20E2-A80D-969D-B6F880186390}"/>
              </a:ext>
            </a:extLst>
          </p:cNvPr>
          <p:cNvCxnSpPr>
            <a:cxnSpLocks/>
          </p:cNvCxnSpPr>
          <p:nvPr/>
        </p:nvCxnSpPr>
        <p:spPr>
          <a:xfrm flipH="1">
            <a:off x="2879727" y="3884278"/>
            <a:ext cx="360000" cy="684000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A36897F-57A0-2A9B-F52D-BED226CE6B8F}"/>
              </a:ext>
            </a:extLst>
          </p:cNvPr>
          <p:cNvCxnSpPr>
            <a:cxnSpLocks/>
          </p:cNvCxnSpPr>
          <p:nvPr/>
        </p:nvCxnSpPr>
        <p:spPr>
          <a:xfrm flipH="1">
            <a:off x="3699030" y="3038509"/>
            <a:ext cx="360000" cy="846000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9C236458-B9E2-E04D-428B-F6D105066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982014"/>
              </p:ext>
            </p:extLst>
          </p:nvPr>
        </p:nvGraphicFramePr>
        <p:xfrm>
          <a:off x="5060999" y="2168525"/>
          <a:ext cx="43920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72143109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1958700833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변압기 생산 단계별 진입장벽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95064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설계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세계 각국 전력계통에 맞춘 규격화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표준화로 모델 변경 어려움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안정성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신뢰도 확보 위한 상용화 수준의 기술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R&amp;D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에 장기간 소요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7454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조달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전력 손실을 최소화하는 고품질의 방향성 전기강판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(GOES)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필요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GOES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는 고부가가치 제품으로 독일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한국 등 선진국 생산 품목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1495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latinLnBrk="1">
                        <a:lnSpc>
                          <a:spcPct val="110000"/>
                        </a:lnSpc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제조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권선을 코어에 감는 수작업으로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이상의 숙련된 작업자 필수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부품 특성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맞춤형 생산 위해 자동화 및 모듈화 한계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310902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16319136-BD0A-272C-8152-75CF290C1F5F}"/>
              </a:ext>
            </a:extLst>
          </p:cNvPr>
          <p:cNvSpPr/>
          <p:nvPr/>
        </p:nvSpPr>
        <p:spPr>
          <a:xfrm>
            <a:off x="5061000" y="4614536"/>
            <a:ext cx="4392000" cy="133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높은 기술적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</a:rPr>
              <a:t>구조적 진입장벽에 따른 기존 국내 제조업체의 시장 수혜 기대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고품질 원자재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높은 제조전문성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다품종 소량생산 특성에 따른 높은 진입장벽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장기간 변압기 생산 역량을 구축해온 국내 제조업체의 경쟁우위 강화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중 무역갈등에 따라 중국 제조사의 미국 시장 진입 제한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가장 강력한 경쟁국의 시장진입 차단에 따라 국내 제조업체의 시장기회 증대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FEFCBD92-7E30-F9F2-1DC0-DB64491CBCF2}"/>
              </a:ext>
            </a:extLst>
          </p:cNvPr>
          <p:cNvSpPr/>
          <p:nvPr/>
        </p:nvSpPr>
        <p:spPr>
          <a:xfrm rot="10800000">
            <a:off x="6262377" y="4309531"/>
            <a:ext cx="2160000" cy="180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07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2F59-E21F-34E8-751D-3FE69A02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D093705-F815-7F9C-2813-D5DEC19519D0}"/>
              </a:ext>
            </a:extLst>
          </p:cNvPr>
          <p:cNvGrpSpPr>
            <a:grpSpLocks noChangeAspect="1"/>
          </p:cNvGrpSpPr>
          <p:nvPr/>
        </p:nvGrpSpPr>
        <p:grpSpPr>
          <a:xfrm>
            <a:off x="452438" y="549275"/>
            <a:ext cx="4097136" cy="360000"/>
            <a:chOff x="728591" y="3660843"/>
            <a:chExt cx="8448818" cy="742366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33D4F342-0734-F334-5F53-32AB267DA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80217" y="3719209"/>
              <a:ext cx="3597192" cy="684000"/>
            </a:xfrm>
            <a:prstGeom prst="rect">
              <a:avLst/>
            </a:prstGeom>
          </p:spPr>
        </p:pic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7D29F413-060B-75C1-8B4A-ED9CC4090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8591" y="3660843"/>
              <a:ext cx="4851615" cy="540000"/>
            </a:xfrm>
            <a:prstGeom prst="rect">
              <a:avLst/>
            </a:prstGeom>
          </p:spPr>
        </p:pic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B4E7A7-6637-AD6A-0D23-A8C356284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418694"/>
              </p:ext>
            </p:extLst>
          </p:nvPr>
        </p:nvGraphicFramePr>
        <p:xfrm>
          <a:off x="344438" y="2168525"/>
          <a:ext cx="352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Market Opportunity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F3A32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Target Highlights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cs"/>
                        </a:rPr>
                        <a:t>Financial Summary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UITE Heavy"/>
                        <a:ea typeface="SUITE Heavy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2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5AA6BC-BC19-4640-CDE1-DC3E58D35259}"/>
              </a:ext>
            </a:extLst>
          </p:cNvPr>
          <p:cNvSpPr txBox="1"/>
          <p:nvPr/>
        </p:nvSpPr>
        <p:spPr>
          <a:xfrm>
            <a:off x="452438" y="1368847"/>
            <a:ext cx="3247684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CONTENTS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CDC40A3C-E778-BBFC-C958-3E95A4A40B58}"/>
              </a:ext>
            </a:extLst>
          </p:cNvPr>
          <p:cNvSpPr txBox="1">
            <a:spLocks/>
          </p:cNvSpPr>
          <p:nvPr/>
        </p:nvSpPr>
        <p:spPr>
          <a:xfrm>
            <a:off x="452999" y="6177279"/>
            <a:ext cx="1548501" cy="13144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800" dirty="0">
                <a:latin typeface="+mj-lt"/>
                <a:ea typeface="+mj-ea"/>
              </a:rPr>
              <a:t>Strictly Private &amp; Confidential</a:t>
            </a:r>
            <a:endParaRPr lang="ko-KR" altLang="en-US" sz="8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41323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68FD-38BA-F8BF-7A2F-365EAB5D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ED0816-326A-D225-9AE7-9D6A1F2054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Full-Range Product Portfolio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25CED3-33A5-01DC-BC6B-3310BE6548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7B4D7-23E0-2457-D48F-1B38DFC6BE5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950F7-84FF-907F-B1FC-49E65CB22028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최대 </a:t>
            </a:r>
            <a:r>
              <a:rPr lang="en-US" altLang="ko-KR" sz="1400" b="1" dirty="0">
                <a:solidFill>
                  <a:srgbClr val="3D3D3D"/>
                </a:solidFill>
              </a:rPr>
              <a:t>72.5kV</a:t>
            </a:r>
            <a:r>
              <a:rPr lang="ko-KR" altLang="en-US" sz="1400" b="1" dirty="0">
                <a:solidFill>
                  <a:srgbClr val="3D3D3D"/>
                </a:solidFill>
              </a:rPr>
              <a:t>급 </a:t>
            </a:r>
            <a:r>
              <a:rPr lang="ko-KR" altLang="en-US" sz="1400" b="1" dirty="0" err="1">
                <a:solidFill>
                  <a:srgbClr val="3D3D3D"/>
                </a:solidFill>
              </a:rPr>
              <a:t>중고압</a:t>
            </a:r>
            <a:r>
              <a:rPr lang="ko-KR" altLang="en-US" sz="1400" b="1" dirty="0">
                <a:solidFill>
                  <a:srgbClr val="3D3D3D"/>
                </a:solidFill>
              </a:rPr>
              <a:t> 전력을 수용가에서 즉시 사용가능한 </a:t>
            </a:r>
            <a:r>
              <a:rPr lang="en-US" altLang="ko-KR" sz="1400" b="1" dirty="0">
                <a:solidFill>
                  <a:srgbClr val="3D3D3D"/>
                </a:solidFill>
              </a:rPr>
              <a:t>120 ~ 440V</a:t>
            </a:r>
            <a:r>
              <a:rPr lang="ko-KR" altLang="en-US" sz="1400" b="1" dirty="0">
                <a:solidFill>
                  <a:srgbClr val="3D3D3D"/>
                </a:solidFill>
              </a:rPr>
              <a:t>의 저압으로 강압하는 </a:t>
            </a:r>
            <a:r>
              <a:rPr lang="en-US" altLang="ko-KR" sz="1400" b="1" dirty="0">
                <a:solidFill>
                  <a:srgbClr val="3D3D3D"/>
                </a:solidFill>
              </a:rPr>
              <a:t>Full-Range</a:t>
            </a:r>
            <a:r>
              <a:rPr lang="ko-KR" altLang="en-US" sz="1400" b="1" dirty="0">
                <a:solidFill>
                  <a:srgbClr val="3D3D3D"/>
                </a:solidFill>
              </a:rPr>
              <a:t>의 제품을 지상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주상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몰드형 등 설치 위치에 적합한 형태로 제작하고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8B1EC3-1CC4-EB6D-7ECD-2F86ADEE99A8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변압기 제품 포트폴리오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52A0461-BE7D-246B-2E3C-4EAB9F754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377682"/>
              </p:ext>
            </p:extLst>
          </p:nvPr>
        </p:nvGraphicFramePr>
        <p:xfrm>
          <a:off x="453000" y="2168525"/>
          <a:ext cx="900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83922560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34424196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423782847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56227477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67393186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전력용 변압기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지상 변압기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주상 변압기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몰드 변압기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43306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제품 외관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38577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제품 특징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72.5kV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의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중고압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전력용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신뢰도 높은 절연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냉각구조 설계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전원부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외부 노출이 없음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지하 케이블로 송전되는 시설 적합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전신주 설치 변압기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해외 수출용 제품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소형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경량화 가능 변압기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고층 빌딩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지하 상가 등 실내 설치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5088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차 정격전압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72.5kV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3.3 / 6.6 / 22.9kV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7.62 / 13.2kV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3.3 / 6.6 / 22.9kV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898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차 정격전압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저압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(LV)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220 / 440V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120 / 240V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220 / 380V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9920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적용 규격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IEC, ANSI, IEEE, JIS, JEC, KS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등 글로벌 주요 국가별 표준 규격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83398"/>
                  </a:ext>
                </a:extLst>
              </a:tr>
            </a:tbl>
          </a:graphicData>
        </a:graphic>
      </p:graphicFrame>
      <p:pic>
        <p:nvPicPr>
          <p:cNvPr id="13" name="그림 12" descr="건물, 용기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4E29F8-89DD-B0D7-EE42-B60FC9FDDF5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1000" y="2564523"/>
            <a:ext cx="1764000" cy="1584000"/>
          </a:xfrm>
          <a:prstGeom prst="rect">
            <a:avLst/>
          </a:prstGeom>
        </p:spPr>
      </p:pic>
      <p:pic>
        <p:nvPicPr>
          <p:cNvPr id="27" name="그림 14">
            <a:extLst>
              <a:ext uri="{FF2B5EF4-FFF2-40B4-BE49-F238E27FC236}">
                <a16:creationId xmlns:a16="http://schemas.microsoft.com/office/drawing/2014/main" id="{01F0BD32-640C-F6A1-E0BF-92102BDF74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21001" y="2564524"/>
            <a:ext cx="1764000" cy="15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E79E63E-79AA-2978-5D50-E0E346726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103" y="2564523"/>
            <a:ext cx="1761897" cy="158509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9D55216-5472-F50A-9FCD-F58A62CB9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103" y="2564523"/>
            <a:ext cx="1761897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15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EB297-3A29-795A-9FE4-5C3C1A8E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4B3E268-B8B2-39A7-AABA-09018DDA86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Competitive Landscape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0C5B4B-5793-F90A-B64F-C486986C34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00D2B-0C9A-9BA9-CE7A-0A426F8B7C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EA579-7817-3090-3EC3-D2BC14E38876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변압기 시장 내 중압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배전 변압기 플레이어로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국내 및 글로벌 시장 내 지역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민간 </a:t>
            </a:r>
            <a:r>
              <a:rPr lang="ko-KR" altLang="en-US" sz="1400" b="1" dirty="0" err="1">
                <a:solidFill>
                  <a:srgbClr val="3D3D3D"/>
                </a:solidFill>
              </a:rPr>
              <a:t>전력청</a:t>
            </a:r>
            <a:r>
              <a:rPr lang="ko-KR" altLang="en-US" sz="1400" b="1" dirty="0">
                <a:solidFill>
                  <a:srgbClr val="3D3D3D"/>
                </a:solidFill>
              </a:rPr>
              <a:t> 등의 고객을 대상으로 산일전기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 err="1">
                <a:solidFill>
                  <a:srgbClr val="3D3D3D"/>
                </a:solidFill>
              </a:rPr>
              <a:t>제룡전기</a:t>
            </a:r>
            <a:r>
              <a:rPr lang="en-US" altLang="ko-KR" sz="1400" b="1" dirty="0">
                <a:solidFill>
                  <a:srgbClr val="3D3D3D"/>
                </a:solidFill>
              </a:rPr>
              <a:t>, KP</a:t>
            </a:r>
            <a:r>
              <a:rPr lang="ko-KR" altLang="en-US" sz="1400" b="1" dirty="0">
                <a:solidFill>
                  <a:srgbClr val="3D3D3D"/>
                </a:solidFill>
              </a:rPr>
              <a:t>일렉트릭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 err="1">
                <a:solidFill>
                  <a:srgbClr val="3D3D3D"/>
                </a:solidFill>
              </a:rPr>
              <a:t>엘파워텍</a:t>
            </a:r>
            <a:r>
              <a:rPr lang="ko-KR" altLang="en-US" sz="1400" b="1" dirty="0">
                <a:solidFill>
                  <a:srgbClr val="3D3D3D"/>
                </a:solidFill>
              </a:rPr>
              <a:t> 등과 경쟁하고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D81327-0D7D-DF5F-3E72-6270948B7507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정격전압 범위별 변압기 종류 및 </a:t>
            </a:r>
            <a:r>
              <a:rPr lang="ko-KR" altLang="en-US" sz="1200" b="1">
                <a:solidFill>
                  <a:schemeClr val="bg1"/>
                </a:solidFill>
              </a:rPr>
              <a:t>주요 제조사 현황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0C7A4FD-6FB2-92E0-580E-C4AAC04F9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854463"/>
              </p:ext>
            </p:extLst>
          </p:nvPr>
        </p:nvGraphicFramePr>
        <p:xfrm>
          <a:off x="453000" y="2168525"/>
          <a:ext cx="9000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83922560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34424196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423782847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56227477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67393186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0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200"/>
                        </a:spcAft>
                      </a:pPr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</a:rPr>
                        <a:t>초고압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 변압기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고압 변압기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중압 변압기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배전 변압기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4330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latinLnBrk="0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변압기 특징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345 ~ 765kV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또는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1,110kV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이상의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초고압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전압 변압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중장거리 송전을 위한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초고압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변전소에 설치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115 ~ 230kV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의 전압 변압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중단거리 송전을 위한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차 변전소에 설치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34.5 ~ 115kV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의 전압 변압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고압 송전망에서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배전망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분배를 위한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차 변전소에 설치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2.5 ~ 35kV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의 전압 변압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일반 가정 등 최종 사용자에게 전력 송전 시 사용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0888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latinLnBrk="0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주요 국내 제조사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latinLnBrk="0"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HD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현대일렉트릭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효성중공업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LS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일렉트릭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일진전기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endParaRPr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대상회사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산일전기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제룡전기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KP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일렉트릭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엘파워텍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LS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파워솔루션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동미전기공업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파워맥스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국제전기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신성이엔티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992074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A5BB95-7DDD-6CBC-1670-2DF042C0A97C}"/>
              </a:ext>
            </a:extLst>
          </p:cNvPr>
          <p:cNvSpPr/>
          <p:nvPr/>
        </p:nvSpPr>
        <p:spPr>
          <a:xfrm>
            <a:off x="5494020" y="2168525"/>
            <a:ext cx="3958979" cy="1872000"/>
          </a:xfrm>
          <a:prstGeom prst="rect">
            <a:avLst/>
          </a:prstGeom>
          <a:noFill/>
          <a:ln w="19050">
            <a:solidFill>
              <a:srgbClr val="1C8F5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53E99-566D-2332-3A25-0EBD4625A0E8}"/>
              </a:ext>
            </a:extLst>
          </p:cNvPr>
          <p:cNvSpPr txBox="1"/>
          <p:nvPr/>
        </p:nvSpPr>
        <p:spPr>
          <a:xfrm>
            <a:off x="6888413" y="1930418"/>
            <a:ext cx="1170192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000" b="1">
                <a:solidFill>
                  <a:srgbClr val="1C8F57"/>
                </a:solidFill>
              </a:rPr>
              <a:t>대상회사 핵심 경쟁영역</a:t>
            </a:r>
            <a:endParaRPr lang="ko-KR" altLang="en-US" sz="1000" b="1" dirty="0" err="1">
              <a:solidFill>
                <a:srgbClr val="1C8F57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86DEB6-81C4-56C4-4FAC-A23418E70D3D}"/>
              </a:ext>
            </a:extLst>
          </p:cNvPr>
          <p:cNvSpPr/>
          <p:nvPr/>
        </p:nvSpPr>
        <p:spPr>
          <a:xfrm>
            <a:off x="453000" y="4220837"/>
            <a:ext cx="9000000" cy="1224000"/>
          </a:xfrm>
          <a:prstGeom prst="rect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 err="1">
                <a:solidFill>
                  <a:schemeClr val="bg1"/>
                </a:solidFill>
              </a:rPr>
              <a:t>초고압</a:t>
            </a:r>
            <a:r>
              <a:rPr lang="ko-KR" altLang="en-US" sz="1000" b="1" dirty="0">
                <a:solidFill>
                  <a:schemeClr val="bg1"/>
                </a:solidFill>
              </a:rPr>
              <a:t> · 고압 </a:t>
            </a:r>
            <a:r>
              <a:rPr lang="en-US" altLang="ko-KR" sz="1000" b="1" dirty="0">
                <a:solidFill>
                  <a:schemeClr val="bg1"/>
                </a:solidFill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</a:rPr>
              <a:t>중압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배전 변압기 시장 간 차이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 err="1">
                <a:solidFill>
                  <a:schemeClr val="bg1"/>
                </a:solidFill>
              </a:rPr>
              <a:t>초고압</a:t>
            </a:r>
            <a:r>
              <a:rPr lang="ko-KR" altLang="en-US" sz="1000" dirty="0">
                <a:solidFill>
                  <a:schemeClr val="bg1"/>
                </a:solidFill>
              </a:rPr>
              <a:t> · 고압 변압기 시장의 경우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대규모 설비 투자와 고도의 설계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</a:rPr>
              <a:t>시공 역량이 요구되는 수주형 장치산업으로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소수의 글로벌 대형 중공업사가 과점 체제를 유지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bg1"/>
                </a:solidFill>
              </a:rPr>
              <a:t>주요 고객사는 국가단위 </a:t>
            </a:r>
            <a:r>
              <a:rPr lang="ko-KR" altLang="en-US" sz="1000" dirty="0" err="1">
                <a:solidFill>
                  <a:schemeClr val="bg1"/>
                </a:solidFill>
              </a:rPr>
              <a:t>기간망</a:t>
            </a:r>
            <a:r>
              <a:rPr lang="ko-KR" altLang="en-US" sz="1000" dirty="0">
                <a:solidFill>
                  <a:schemeClr val="bg1"/>
                </a:solidFill>
              </a:rPr>
              <a:t> 사업자</a:t>
            </a:r>
            <a:r>
              <a:rPr lang="en-US" altLang="ko-KR" sz="1000" dirty="0">
                <a:solidFill>
                  <a:schemeClr val="bg1"/>
                </a:solidFill>
              </a:rPr>
              <a:t>(EPCC)</a:t>
            </a:r>
            <a:r>
              <a:rPr lang="ko-KR" altLang="en-US" sz="1000" dirty="0">
                <a:solidFill>
                  <a:schemeClr val="bg1"/>
                </a:solidFill>
              </a:rPr>
              <a:t>로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지속적인 수주를 위한 대기업의 영업 및 고객대응 인프라가 필수적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bg1"/>
                </a:solidFill>
              </a:rPr>
              <a:t>중압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</a:rPr>
              <a:t>배전 변압기 시장의 경우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다품종 소량 생산과 납기 대응력이 핵심인 고객 밀착형 산업으로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소형화 및 표준화된 대량 생산 기술 보유한 중견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</a:rPr>
              <a:t>중소업체로 구성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marL="357188" marR="0" lvl="0" indent="-1714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Pretendard" panose="02000503000000020004" pitchFamily="50" charset="-127"/>
              <a:buChar char="-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주요 고객사는 지역 및 민간 전력사업자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산업단지 및 주거단지 개발업체 등으로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다양한 고객 요구 수용과 빠른 리드타임 </a:t>
            </a:r>
            <a:r>
              <a:rPr lang="en-US" altLang="ko-KR" sz="1000" dirty="0">
                <a:solidFill>
                  <a:schemeClr val="bg1"/>
                </a:solidFill>
                <a:latin typeface="Pretendard"/>
                <a:ea typeface="Pretendard"/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  <a:latin typeface="Pretendard"/>
                <a:ea typeface="Pretendard"/>
              </a:rPr>
              <a:t>현장 대응 역량이 필수적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947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D68AA0C-AA63-99A3-1355-6093B1D8ED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 dirty="0"/>
              <a:t>US Production Advantage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9BA0CE-FE2B-2342-6181-8F58BFB47B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</a:t>
            </a:r>
            <a:r>
              <a:rPr lang="ko-KR" altLang="en-US" dirty="0"/>
              <a:t> </a:t>
            </a:r>
            <a:r>
              <a:rPr lang="en-US" altLang="ko-KR" dirty="0"/>
              <a:t>(1) 2024</a:t>
            </a:r>
            <a:r>
              <a:rPr lang="ko-KR" altLang="en-US" dirty="0"/>
              <a:t>년 기준으로</a:t>
            </a:r>
            <a:r>
              <a:rPr lang="en-US" altLang="ko-KR" dirty="0"/>
              <a:t>, </a:t>
            </a:r>
            <a:r>
              <a:rPr lang="ko-KR" altLang="en-US" dirty="0"/>
              <a:t>대상회사는 </a:t>
            </a:r>
            <a:r>
              <a:rPr lang="en-US" altLang="ko-KR" dirty="0"/>
              <a:t>S</a:t>
            </a:r>
            <a:r>
              <a:rPr lang="ko-KR" altLang="en-US" dirty="0"/>
              <a:t>사 및 </a:t>
            </a:r>
            <a:r>
              <a:rPr lang="en-US" altLang="ko-KR" dirty="0"/>
              <a:t>N</a:t>
            </a:r>
            <a:r>
              <a:rPr lang="ko-KR" altLang="en-US" dirty="0"/>
              <a:t>사 연결 </a:t>
            </a:r>
            <a:r>
              <a:rPr lang="en-US" altLang="ko-KR" dirty="0"/>
              <a:t>Pro-Forma </a:t>
            </a:r>
            <a:r>
              <a:rPr lang="ko-KR" altLang="en-US" dirty="0"/>
              <a:t>기준</a:t>
            </a:r>
            <a:r>
              <a:rPr lang="en-US" altLang="ko-KR" dirty="0"/>
              <a:t>. Source: DART.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279F9E-011E-EFCA-D21D-E3614EC12F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435B59-1989-E41B-C6CB-E70D04A4B8C0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주요 중압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배전 변압기 제조사 현황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D989932-AE1E-D6E1-5815-38721420F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551380"/>
              </p:ext>
            </p:extLst>
          </p:nvPr>
        </p:nvGraphicFramePr>
        <p:xfrm>
          <a:off x="453000" y="2168525"/>
          <a:ext cx="4392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8198613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727620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151013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26642887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662862332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재무실적</a:t>
                      </a:r>
                      <a:r>
                        <a:rPr lang="en-US" altLang="ko-KR" sz="1000" b="1" baseline="30000" dirty="0">
                          <a:solidFill>
                            <a:schemeClr val="bg1"/>
                          </a:solidFill>
                        </a:rPr>
                        <a:t>(1)</a:t>
                      </a:r>
                      <a:endParaRPr lang="ko-KR" altLang="en-US" sz="1000" b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생산공장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924388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매출액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영업이익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국내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해외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74211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대상회사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636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98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○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05342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산일전기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3,340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1,092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C8F5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63491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제룡전기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2,627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978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62718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KP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일렉트릭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2,098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584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54237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엘파워텍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1,268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349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71625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LS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파워솔루션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1,096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136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65529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동미전기공업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1,044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377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74841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파워맥스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798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8163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국제전기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730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02772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신성이엔티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636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180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81293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우진전기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569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45039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조일성업전기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388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45801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쌍용전기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214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53506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동방전기공업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193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○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X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23584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F058048-541C-0F7F-2E8E-73C8D96F64D5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국내 중압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배전 변압기 제조사 중 미국 현지 공장을 설립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운영 중인 유일한 업체로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향후 미국 시장을 중심으로 한 글로벌 변압기 수요 증가의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수혜가 구조적으로 집중되는 경쟁우위를 확보하고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456683-A530-DD9A-57EF-A931B4205067}"/>
              </a:ext>
            </a:extLst>
          </p:cNvPr>
          <p:cNvSpPr/>
          <p:nvPr/>
        </p:nvSpPr>
        <p:spPr>
          <a:xfrm>
            <a:off x="5061000" y="2168525"/>
            <a:ext cx="4392000" cy="115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미국 정부 정책 리스크 최소화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트럼프 정부의 미국 우선주의 정책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대응력 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국내 업체 중 유일한 </a:t>
            </a:r>
            <a:r>
              <a:rPr lang="en-US" altLang="ko-KR" sz="1000" dirty="0">
                <a:solidFill>
                  <a:schemeClr val="tx1"/>
                </a:solidFill>
              </a:rPr>
              <a:t>“Made in USA” </a:t>
            </a:r>
            <a:r>
              <a:rPr lang="ko-KR" altLang="en-US" sz="1000" dirty="0">
                <a:solidFill>
                  <a:schemeClr val="tx1"/>
                </a:solidFill>
              </a:rPr>
              <a:t>제품 공급원으로 입찰 경쟁력 강화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대미 관세 변동성 리스크 부담 완화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대미 관세 정책 변화 및 수출 규제 리스크로부터 자유로운 공급망 구축 가능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36DB67-3EEC-4913-BFC5-90D0BBE3FB45}"/>
              </a:ext>
            </a:extLst>
          </p:cNvPr>
          <p:cNvSpPr/>
          <p:nvPr/>
        </p:nvSpPr>
        <p:spPr>
          <a:xfrm>
            <a:off x="5061000" y="3464525"/>
            <a:ext cx="4392000" cy="115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현지 고객 대응 및 물류 역량 강화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국내 생산품 대비 압도적인 리드타임 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4-6</a:t>
            </a:r>
            <a:r>
              <a:rPr lang="ko-KR" altLang="en-US" sz="1000" dirty="0">
                <a:solidFill>
                  <a:schemeClr val="tx1"/>
                </a:solidFill>
              </a:rPr>
              <a:t>주 소요되는 국내 생산 </a:t>
            </a:r>
            <a:r>
              <a:rPr lang="en-US" altLang="ko-KR" sz="1000" dirty="0">
                <a:solidFill>
                  <a:schemeClr val="tx1"/>
                </a:solidFill>
              </a:rPr>
              <a:t>- </a:t>
            </a:r>
            <a:r>
              <a:rPr lang="ko-KR" altLang="en-US" sz="1000" dirty="0">
                <a:solidFill>
                  <a:schemeClr val="tx1"/>
                </a:solidFill>
              </a:rPr>
              <a:t>해상 운송 대비 단기간 내 제품 인도 가능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현지 밀착형 고객 대응 및 사후관리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 err="1">
                <a:solidFill>
                  <a:schemeClr val="tx1"/>
                </a:solidFill>
              </a:rPr>
              <a:t>전력청</a:t>
            </a:r>
            <a:r>
              <a:rPr lang="ko-KR" altLang="en-US" sz="1000" dirty="0">
                <a:solidFill>
                  <a:schemeClr val="tx1"/>
                </a:solidFill>
              </a:rPr>
              <a:t> 등 현지 고객 대상 실시간 기술지원 및 긴급 유지보수 대응 체계 운영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9479C1-5B4D-D91C-618D-8E81AEAE19CA}"/>
              </a:ext>
            </a:extLst>
          </p:cNvPr>
          <p:cNvSpPr/>
          <p:nvPr/>
        </p:nvSpPr>
        <p:spPr>
          <a:xfrm>
            <a:off x="5061000" y="4760525"/>
            <a:ext cx="4392000" cy="115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시장 선점 효과 통한 브랜드 인지도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</a:rPr>
              <a:t>영업 역량 제고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미국 메이저 </a:t>
            </a:r>
            <a:r>
              <a:rPr lang="ko-KR" altLang="en-US" sz="1000" dirty="0" err="1">
                <a:solidFill>
                  <a:schemeClr val="tx1"/>
                </a:solidFill>
              </a:rPr>
              <a:t>전력청</a:t>
            </a:r>
            <a:r>
              <a:rPr lang="en-US" altLang="ko-KR" sz="1000" dirty="0">
                <a:solidFill>
                  <a:schemeClr val="tx1"/>
                </a:solidFill>
              </a:rPr>
              <a:t>(IOU)</a:t>
            </a:r>
            <a:r>
              <a:rPr lang="ko-KR" altLang="en-US" sz="1000" dirty="0">
                <a:solidFill>
                  <a:schemeClr val="tx1"/>
                </a:solidFill>
              </a:rPr>
              <a:t>과의 영업 네트워크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단순 수출기업을 넘어선 현지 파트너로서 기존 고객 유지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신규 고객 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현지화 전략을 통한 </a:t>
            </a:r>
            <a:r>
              <a:rPr lang="en-US" altLang="ko-KR" sz="1000" dirty="0">
                <a:solidFill>
                  <a:schemeClr val="tx1"/>
                </a:solidFill>
              </a:rPr>
              <a:t>First-Mover </a:t>
            </a:r>
            <a:r>
              <a:rPr lang="ko-KR" altLang="en-US" sz="1000" dirty="0">
                <a:solidFill>
                  <a:schemeClr val="tx1"/>
                </a:solidFill>
              </a:rPr>
              <a:t>장점 극대화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경쟁사 대비 수년 앞선 현지 투자로 진입장벽 구축 기대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153AC8-60E4-61EA-C707-778AB1715DB3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미국 공장 운영을 통한 압도적 경쟁우위 확보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85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0C9D4-F39F-8485-6043-B7135AB72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C1C07D6-952C-95BE-8D97-5272B96275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US Market </a:t>
            </a:r>
            <a:r>
              <a:rPr lang="en-US" altLang="ko-KR"/>
              <a:t>Track Record &amp; Pipeline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B70E43-C621-5C6D-D7C5-74ABFFFE0F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19407F-58D0-F725-9C3A-3D8703969D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76B32-E787-6525-DB76-A86ECF4B595B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</a:t>
            </a:r>
            <a:r>
              <a:rPr lang="en-US" altLang="ko-KR" sz="1400" b="1" dirty="0">
                <a:solidFill>
                  <a:srgbClr val="3D3D3D"/>
                </a:solidFill>
              </a:rPr>
              <a:t> AEP, BHE </a:t>
            </a:r>
            <a:r>
              <a:rPr lang="ko-KR" altLang="en-US" sz="1400" b="1" dirty="0">
                <a:solidFill>
                  <a:srgbClr val="3D3D3D"/>
                </a:solidFill>
              </a:rPr>
              <a:t>등 미국 내 최대 규모의 전력사업자 대상 우수 </a:t>
            </a:r>
            <a:r>
              <a:rPr lang="en-US" altLang="ko-KR" sz="1400" b="1" dirty="0">
                <a:solidFill>
                  <a:srgbClr val="3D3D3D"/>
                </a:solidFill>
              </a:rPr>
              <a:t>Track Record</a:t>
            </a:r>
            <a:r>
              <a:rPr lang="ko-KR" altLang="en-US" sz="1400" b="1" dirty="0">
                <a:solidFill>
                  <a:srgbClr val="3D3D3D"/>
                </a:solidFill>
              </a:rPr>
              <a:t>를 기반으로 </a:t>
            </a:r>
            <a:r>
              <a:rPr lang="en-US" altLang="ko-KR" sz="1400" b="1" dirty="0">
                <a:solidFill>
                  <a:srgbClr val="3D3D3D"/>
                </a:solidFill>
              </a:rPr>
              <a:t>OGE, CenterPoint, O&amp;R </a:t>
            </a:r>
            <a:r>
              <a:rPr lang="ko-KR" altLang="en-US" sz="1400" b="1" dirty="0">
                <a:solidFill>
                  <a:srgbClr val="3D3D3D"/>
                </a:solidFill>
              </a:rPr>
              <a:t>등 다양한 지역 사업자 대상의 신규 수주에 성공하며 미국 시장 내 파이프라인을 지속 확대하고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FDAB00-90D2-2A34-835A-2ADF2D04BE92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주요 </a:t>
            </a:r>
            <a:r>
              <a:rPr lang="ko-KR" altLang="en-US" sz="1200" b="1" dirty="0" err="1">
                <a:solidFill>
                  <a:schemeClr val="bg1"/>
                </a:solidFill>
              </a:rPr>
              <a:t>전력청</a:t>
            </a:r>
            <a:r>
              <a:rPr lang="ko-KR" altLang="en-US" sz="1200" b="1" dirty="0">
                <a:solidFill>
                  <a:schemeClr val="bg1"/>
                </a:solidFill>
              </a:rPr>
              <a:t> 납품 이력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및 수주 잔고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152298B-D37D-B10F-1A3D-E1CEAA9DB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190698"/>
              </p:ext>
            </p:extLst>
          </p:nvPr>
        </p:nvGraphicFramePr>
        <p:xfrm>
          <a:off x="453000" y="2176875"/>
          <a:ext cx="900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3027044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1190062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01597195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5106057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2101938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20758365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87660840"/>
                    </a:ext>
                  </a:extLst>
                </a:gridCol>
              </a:tblGrid>
              <a:tr h="252000">
                <a:tc gridSpan="2"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발주처</a:t>
                      </a:r>
                    </a:p>
                  </a:txBody>
                  <a:tcPr marL="7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납품 시기</a:t>
                      </a: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3467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</a:rPr>
                        <a:t>발주처명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상세사항</a:t>
                      </a: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2022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2023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2026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이후</a:t>
                      </a:r>
                    </a:p>
                  </a:txBody>
                  <a:tcPr marL="72000" marR="36000" marT="0" marB="0" anchor="ctr">
                    <a:lnL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27668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미국 최대 규모의 전력사업자 중 하나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오하이오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텍사스 등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개 주에서 약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550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만 가구에 전력 공급</a:t>
                      </a: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25781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오클라호마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아칸소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기반 전력사업자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대상회사 미국공장 접근성 우수</a:t>
                      </a: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75823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워런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버핏의 버크셔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해서웨이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자회사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미국 내 광범위한 전력 네트워크 운영</a:t>
                      </a: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80794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텍사스주 휴스턴 지역 전력사업자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도시 지역 기반의 변압기 증설 수요 高</a:t>
                      </a: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38677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뉴욕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뉴저지 북부 기반 전력사업자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노후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전력망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교체 수요 집중 지역</a:t>
                      </a: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3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346514"/>
                  </a:ext>
                </a:extLst>
              </a:tr>
            </a:tbl>
          </a:graphicData>
        </a:graphic>
      </p:graphicFrame>
      <p:pic>
        <p:nvPicPr>
          <p:cNvPr id="15" name="그래픽 14">
            <a:extLst>
              <a:ext uri="{FF2B5EF4-FFF2-40B4-BE49-F238E27FC236}">
                <a16:creationId xmlns:a16="http://schemas.microsoft.com/office/drawing/2014/main" id="{1DAE49F9-5EEC-7572-14BA-2B15998AE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000" y="2780525"/>
            <a:ext cx="840648" cy="432000"/>
          </a:xfrm>
          <a:prstGeom prst="rect">
            <a:avLst/>
          </a:prstGeom>
        </p:spPr>
      </p:pic>
      <p:pic>
        <p:nvPicPr>
          <p:cNvPr id="19460" name="Picture 4" descr="OG&amp;E - Home">
            <a:extLst>
              <a:ext uri="{FF2B5EF4-FFF2-40B4-BE49-F238E27FC236}">
                <a16:creationId xmlns:a16="http://schemas.microsoft.com/office/drawing/2014/main" id="{73DD82CB-1146-8AE6-B33D-BFA6C6E706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" t="10323" r="6296" b="9812"/>
          <a:stretch>
            <a:fillRect/>
          </a:stretch>
        </p:blipFill>
        <p:spPr bwMode="auto">
          <a:xfrm>
            <a:off x="561000" y="3518525"/>
            <a:ext cx="949673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239E5807-A1F4-9E7E-1B19-F2DD62676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00" y="4177691"/>
            <a:ext cx="1188000" cy="229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4" name="Picture 8" descr="CenterPoint Energy">
            <a:extLst>
              <a:ext uri="{FF2B5EF4-FFF2-40B4-BE49-F238E27FC236}">
                <a16:creationId xmlns:a16="http://schemas.microsoft.com/office/drawing/2014/main" id="{D0D0EAA3-AE7D-BA7F-6689-D53FD7F1E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00" y="4760525"/>
            <a:ext cx="1007999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6" name="Picture 10" descr="Contact Us | Orange &amp; Rockland">
            <a:extLst>
              <a:ext uri="{FF2B5EF4-FFF2-40B4-BE49-F238E27FC236}">
                <a16:creationId xmlns:a16="http://schemas.microsoft.com/office/drawing/2014/main" id="{E9C02C32-2314-020D-CD4D-96E8B5267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00" y="5503475"/>
            <a:ext cx="1260000" cy="1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0E9A937F-B965-5A3D-DF18-BBF820747809}"/>
              </a:ext>
            </a:extLst>
          </p:cNvPr>
          <p:cNvSpPr/>
          <p:nvPr/>
        </p:nvSpPr>
        <p:spPr>
          <a:xfrm>
            <a:off x="4053000" y="2780525"/>
            <a:ext cx="5399999" cy="432000"/>
          </a:xfrm>
          <a:prstGeom prst="rightArrow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3DFFAEC4-3CC6-4DED-F4C0-AB4383129F42}"/>
              </a:ext>
            </a:extLst>
          </p:cNvPr>
          <p:cNvSpPr/>
          <p:nvPr/>
        </p:nvSpPr>
        <p:spPr>
          <a:xfrm>
            <a:off x="4053000" y="2780525"/>
            <a:ext cx="3240000" cy="432000"/>
          </a:xfrm>
          <a:prstGeom prst="rightArrow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CC7168-E1CB-5049-BE39-0A9D8AF173E2}"/>
              </a:ext>
            </a:extLst>
          </p:cNvPr>
          <p:cNvSpPr txBox="1"/>
          <p:nvPr/>
        </p:nvSpPr>
        <p:spPr>
          <a:xfrm>
            <a:off x="4053000" y="2933303"/>
            <a:ext cx="899853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주상변압기 </a:t>
            </a:r>
            <a:r>
              <a:rPr lang="en-US" altLang="ko-KR" sz="800" dirty="0">
                <a:solidFill>
                  <a:schemeClr val="bg1"/>
                </a:solidFill>
              </a:rPr>
              <a:t>8,500</a:t>
            </a:r>
            <a:r>
              <a:rPr lang="ko-KR" altLang="en-US" sz="800" dirty="0">
                <a:solidFill>
                  <a:schemeClr val="bg1"/>
                </a:solidFill>
              </a:rPr>
              <a:t>대</a:t>
            </a: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9A831638-D68E-0EC8-F4C4-680F54648A55}"/>
              </a:ext>
            </a:extLst>
          </p:cNvPr>
          <p:cNvSpPr/>
          <p:nvPr/>
        </p:nvSpPr>
        <p:spPr>
          <a:xfrm>
            <a:off x="4053000" y="3428525"/>
            <a:ext cx="5399999" cy="432000"/>
          </a:xfrm>
          <a:prstGeom prst="rightArrow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BF8C26D8-1820-14F2-9EA0-8FC5D67A585D}"/>
              </a:ext>
            </a:extLst>
          </p:cNvPr>
          <p:cNvSpPr/>
          <p:nvPr/>
        </p:nvSpPr>
        <p:spPr>
          <a:xfrm>
            <a:off x="4053000" y="3428525"/>
            <a:ext cx="4320000" cy="432000"/>
          </a:xfrm>
          <a:prstGeom prst="rightArrow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A70BC1-7BC5-1FA8-1B55-F2E772B2D6D5}"/>
              </a:ext>
            </a:extLst>
          </p:cNvPr>
          <p:cNvSpPr txBox="1"/>
          <p:nvPr/>
        </p:nvSpPr>
        <p:spPr>
          <a:xfrm>
            <a:off x="4053000" y="3581303"/>
            <a:ext cx="1850434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주상변압기 </a:t>
            </a:r>
            <a:r>
              <a:rPr lang="en-US" altLang="ko-KR" sz="800" dirty="0">
                <a:solidFill>
                  <a:schemeClr val="bg1"/>
                </a:solidFill>
              </a:rPr>
              <a:t>5,600</a:t>
            </a:r>
            <a:r>
              <a:rPr lang="ko-KR" altLang="en-US" sz="800" dirty="0">
                <a:solidFill>
                  <a:schemeClr val="bg1"/>
                </a:solidFill>
              </a:rPr>
              <a:t>여대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패드변압기 </a:t>
            </a:r>
            <a:r>
              <a:rPr lang="en-US" altLang="ko-KR" sz="800" dirty="0">
                <a:solidFill>
                  <a:schemeClr val="bg1"/>
                </a:solidFill>
              </a:rPr>
              <a:t>1,000</a:t>
            </a:r>
            <a:r>
              <a:rPr lang="ko-KR" altLang="en-US" sz="800" dirty="0">
                <a:solidFill>
                  <a:schemeClr val="bg1"/>
                </a:solidFill>
              </a:rPr>
              <a:t>대</a:t>
            </a: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02804CC0-3E5B-D700-1BB1-D177CE2D2112}"/>
              </a:ext>
            </a:extLst>
          </p:cNvPr>
          <p:cNvSpPr/>
          <p:nvPr/>
        </p:nvSpPr>
        <p:spPr>
          <a:xfrm>
            <a:off x="7292998" y="4724525"/>
            <a:ext cx="2160000" cy="432000"/>
          </a:xfrm>
          <a:prstGeom prst="rightArrow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213BB4E-8625-9A13-C03D-7183B032784A}"/>
              </a:ext>
            </a:extLst>
          </p:cNvPr>
          <p:cNvSpPr/>
          <p:nvPr/>
        </p:nvSpPr>
        <p:spPr>
          <a:xfrm>
            <a:off x="7293000" y="4724525"/>
            <a:ext cx="1080000" cy="432000"/>
          </a:xfrm>
          <a:prstGeom prst="rightArrow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D26000-25C3-EF76-AD11-4D3B9D099478}"/>
              </a:ext>
            </a:extLst>
          </p:cNvPr>
          <p:cNvSpPr txBox="1"/>
          <p:nvPr/>
        </p:nvSpPr>
        <p:spPr>
          <a:xfrm>
            <a:off x="7293000" y="4877303"/>
            <a:ext cx="930310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3</a:t>
            </a:r>
            <a:r>
              <a:rPr lang="ko-KR" altLang="en-US" sz="800" dirty="0">
                <a:solidFill>
                  <a:schemeClr val="bg1"/>
                </a:solidFill>
              </a:rPr>
              <a:t>상 패드변압기 </a:t>
            </a:r>
            <a:r>
              <a:rPr lang="en-US" altLang="ko-KR" sz="800" dirty="0">
                <a:solidFill>
                  <a:schemeClr val="bg1"/>
                </a:solidFill>
              </a:rPr>
              <a:t>32</a:t>
            </a:r>
            <a:r>
              <a:rPr lang="ko-KR" altLang="en-US" sz="800" dirty="0">
                <a:solidFill>
                  <a:schemeClr val="bg1"/>
                </a:solidFill>
              </a:rPr>
              <a:t>대</a:t>
            </a: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86B920A0-82A5-B1B3-6731-3BDB4CFF3B4F}"/>
              </a:ext>
            </a:extLst>
          </p:cNvPr>
          <p:cNvSpPr/>
          <p:nvPr/>
        </p:nvSpPr>
        <p:spPr>
          <a:xfrm>
            <a:off x="8373000" y="5372525"/>
            <a:ext cx="1080000" cy="432000"/>
          </a:xfrm>
          <a:prstGeom prst="rightArrow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A10FFD-34C4-5F06-D2D0-B1C64B5EE12F}"/>
              </a:ext>
            </a:extLst>
          </p:cNvPr>
          <p:cNvSpPr txBox="1"/>
          <p:nvPr/>
        </p:nvSpPr>
        <p:spPr>
          <a:xfrm>
            <a:off x="8373000" y="5525303"/>
            <a:ext cx="869396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3</a:t>
            </a:r>
            <a:r>
              <a:rPr lang="ko-KR" altLang="en-US" sz="800" dirty="0">
                <a:solidFill>
                  <a:schemeClr val="bg1"/>
                </a:solidFill>
              </a:rPr>
              <a:t>상 패드변압기 </a:t>
            </a:r>
            <a:r>
              <a:rPr lang="en-US" altLang="ko-KR" sz="800" dirty="0">
                <a:solidFill>
                  <a:schemeClr val="bg1"/>
                </a:solidFill>
              </a:rPr>
              <a:t>4</a:t>
            </a:r>
            <a:r>
              <a:rPr lang="ko-KR" altLang="en-US" sz="800" dirty="0">
                <a:solidFill>
                  <a:schemeClr val="bg1"/>
                </a:solidFill>
              </a:rPr>
              <a:t>대</a:t>
            </a:r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B48D24F7-6EC2-D5E2-3C45-1BABEBBB8F4F}"/>
              </a:ext>
            </a:extLst>
          </p:cNvPr>
          <p:cNvSpPr/>
          <p:nvPr/>
        </p:nvSpPr>
        <p:spPr>
          <a:xfrm>
            <a:off x="8223310" y="4076525"/>
            <a:ext cx="1229690" cy="432000"/>
          </a:xfrm>
          <a:prstGeom prst="rightArrow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15110A-FA14-326B-1B12-DA19E7A77E36}"/>
              </a:ext>
            </a:extLst>
          </p:cNvPr>
          <p:cNvSpPr txBox="1"/>
          <p:nvPr/>
        </p:nvSpPr>
        <p:spPr>
          <a:xfrm>
            <a:off x="8373000" y="4229303"/>
            <a:ext cx="976156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800" spc="-70" dirty="0">
                <a:solidFill>
                  <a:schemeClr val="bg1"/>
                </a:solidFill>
              </a:rPr>
              <a:t>패드</a:t>
            </a:r>
            <a:r>
              <a:rPr lang="en-US" altLang="ko-KR" sz="800" spc="-70" dirty="0">
                <a:solidFill>
                  <a:schemeClr val="bg1"/>
                </a:solidFill>
              </a:rPr>
              <a:t>·</a:t>
            </a:r>
            <a:r>
              <a:rPr lang="ko-KR" altLang="en-US" sz="800" spc="-70" dirty="0">
                <a:solidFill>
                  <a:schemeClr val="bg1"/>
                </a:solidFill>
              </a:rPr>
              <a:t>주상변압기 </a:t>
            </a:r>
            <a:r>
              <a:rPr lang="en-US" altLang="ko-KR" sz="800" spc="-70" dirty="0">
                <a:solidFill>
                  <a:schemeClr val="bg1"/>
                </a:solidFill>
              </a:rPr>
              <a:t>600</a:t>
            </a:r>
            <a:r>
              <a:rPr lang="ko-KR" altLang="en-US" sz="800" spc="-70" dirty="0">
                <a:solidFill>
                  <a:schemeClr val="bg1"/>
                </a:solidFill>
              </a:rPr>
              <a:t>여대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B31D80-7E30-BE26-22FA-1615F798EEA3}"/>
              </a:ext>
            </a:extLst>
          </p:cNvPr>
          <p:cNvSpPr txBox="1"/>
          <p:nvPr/>
        </p:nvSpPr>
        <p:spPr>
          <a:xfrm>
            <a:off x="8373000" y="3581303"/>
            <a:ext cx="971988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패드변압기 </a:t>
            </a:r>
            <a:r>
              <a:rPr lang="en-US" altLang="ko-KR" sz="800" dirty="0">
                <a:solidFill>
                  <a:schemeClr val="bg1"/>
                </a:solidFill>
              </a:rPr>
              <a:t>1,800</a:t>
            </a:r>
            <a:r>
              <a:rPr lang="ko-KR" altLang="en-US" sz="800" dirty="0">
                <a:solidFill>
                  <a:schemeClr val="bg1"/>
                </a:solidFill>
              </a:rPr>
              <a:t>여대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8EB6F4-8D69-4D97-365D-BF37A20EE87C}"/>
              </a:ext>
            </a:extLst>
          </p:cNvPr>
          <p:cNvSpPr txBox="1"/>
          <p:nvPr/>
        </p:nvSpPr>
        <p:spPr>
          <a:xfrm>
            <a:off x="8373000" y="2933303"/>
            <a:ext cx="652991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800" i="1" dirty="0">
                <a:solidFill>
                  <a:srgbClr val="0F3A32"/>
                </a:solidFill>
              </a:rPr>
              <a:t>추가 발주 추진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52EC82-F34E-CCFD-E40D-D3CCB96E4A01}"/>
              </a:ext>
            </a:extLst>
          </p:cNvPr>
          <p:cNvSpPr txBox="1"/>
          <p:nvPr/>
        </p:nvSpPr>
        <p:spPr>
          <a:xfrm>
            <a:off x="8373000" y="4877303"/>
            <a:ext cx="652991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800" i="1" dirty="0">
                <a:solidFill>
                  <a:srgbClr val="0F3A32"/>
                </a:solidFill>
              </a:rPr>
              <a:t>추가 발주 추진</a:t>
            </a:r>
          </a:p>
        </p:txBody>
      </p: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16F0B302-4460-3DC9-0894-62D2E63A6297}"/>
              </a:ext>
            </a:extLst>
          </p:cNvPr>
          <p:cNvSpPr/>
          <p:nvPr/>
        </p:nvSpPr>
        <p:spPr>
          <a:xfrm>
            <a:off x="6213000" y="4076525"/>
            <a:ext cx="2160000" cy="432000"/>
          </a:xfrm>
          <a:prstGeom prst="rightArrow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7CE067C9-7B42-24B0-1B98-59FD520B1ACF}"/>
              </a:ext>
            </a:extLst>
          </p:cNvPr>
          <p:cNvSpPr/>
          <p:nvPr/>
        </p:nvSpPr>
        <p:spPr>
          <a:xfrm>
            <a:off x="6213000" y="4076525"/>
            <a:ext cx="1080000" cy="432000"/>
          </a:xfrm>
          <a:prstGeom prst="rightArrow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18F40C-8809-1253-AAD5-4D884FC08CAD}"/>
              </a:ext>
            </a:extLst>
          </p:cNvPr>
          <p:cNvSpPr txBox="1"/>
          <p:nvPr/>
        </p:nvSpPr>
        <p:spPr>
          <a:xfrm>
            <a:off x="6213000" y="4229303"/>
            <a:ext cx="882220" cy="12644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주상변압기 </a:t>
            </a:r>
            <a:r>
              <a:rPr lang="en-US" altLang="ko-KR" sz="800" dirty="0">
                <a:solidFill>
                  <a:schemeClr val="bg1"/>
                </a:solidFill>
              </a:rPr>
              <a:t>1,500</a:t>
            </a:r>
            <a:r>
              <a:rPr lang="ko-KR" altLang="en-US" sz="800" dirty="0">
                <a:solidFill>
                  <a:schemeClr val="bg1"/>
                </a:solidFill>
              </a:rPr>
              <a:t>대</a:t>
            </a:r>
          </a:p>
        </p:txBody>
      </p:sp>
    </p:spTree>
    <p:extLst>
      <p:ext uri="{BB962C8B-B14F-4D97-AF65-F5344CB8AC3E}">
        <p14:creationId xmlns:p14="http://schemas.microsoft.com/office/powerpoint/2010/main" val="3097119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8855C7-9CCE-3D8C-54BD-1074D7DF07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</a:t>
            </a:r>
            <a:r>
              <a:rPr lang="ko-KR" altLang="en-US" dirty="0"/>
              <a:t> </a:t>
            </a:r>
            <a:r>
              <a:rPr lang="en-US" altLang="ko-KR" dirty="0"/>
              <a:t>Production</a:t>
            </a:r>
            <a:r>
              <a:rPr lang="ko-KR" altLang="en-US" dirty="0"/>
              <a:t> </a:t>
            </a:r>
            <a:r>
              <a:rPr lang="en-US" altLang="ko-KR" dirty="0"/>
              <a:t>Strategy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6AC1F-E77B-C13D-E90B-B1513E4869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6048E7-6AE0-10C1-2CD7-C69A789EA2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CCF74-C7E6-C331-C035-F8214FA0FE62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대상회사의 설비 가동률은 현재 약 </a:t>
            </a:r>
            <a:r>
              <a:rPr lang="en-US" altLang="ko-KR" sz="1400" b="1" dirty="0">
                <a:solidFill>
                  <a:srgbClr val="3D3D3D"/>
                </a:solidFill>
              </a:rPr>
              <a:t>33% </a:t>
            </a:r>
            <a:r>
              <a:rPr lang="ko-KR" altLang="en-US" sz="1400" b="1" dirty="0">
                <a:solidFill>
                  <a:srgbClr val="3D3D3D"/>
                </a:solidFill>
              </a:rPr>
              <a:t>수준으로 미국 시장 점유율 확대에 따른 발주물량 증가는 충분히 소화 가능하며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향후 국내 생산 후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미국 현지 조립 체계를 강화하여 주요 국내 경쟁사 대비 우수한 가격경쟁력 확보가 가능할 것으로 기대됩니다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4C0ADA-0B51-F2ED-815B-0D4317183AB2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국내 및 미국 생산설비 개요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EEE026C-6981-970B-2D14-E60A7466E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199899"/>
              </p:ext>
            </p:extLst>
          </p:nvPr>
        </p:nvGraphicFramePr>
        <p:xfrm>
          <a:off x="453000" y="2168525"/>
          <a:ext cx="9000000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839225605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134424196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37828475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67393186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화성 제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공장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화성 제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공장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미국 오클라호마 공장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43306"/>
                  </a:ext>
                </a:extLst>
              </a:tr>
              <a:tr h="1656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공장 전경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3857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소재지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경기도 화성시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남양읍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경기도 화성시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장안면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미국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오클라호마주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오클라호마시티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508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면적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7,410m</a:t>
                      </a:r>
                      <a:r>
                        <a:rPr lang="en-US" altLang="ko-KR" sz="10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26,000m</a:t>
                      </a:r>
                      <a:r>
                        <a:rPr kumimoji="0" lang="en-US" altLang="ko-KR" sz="10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2</a:t>
                      </a:r>
                      <a:endParaRPr kumimoji="0" lang="ko-KR" altLang="en-US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4,676m</a:t>
                      </a:r>
                      <a:r>
                        <a:rPr kumimoji="0" lang="en-US" altLang="ko-KR" sz="10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2</a:t>
                      </a:r>
                      <a:endParaRPr kumimoji="0" lang="ko-KR" altLang="en-US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898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설립일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434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Capacity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연간 지상 변압기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24,000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주상 변압기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6,000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 생산 가능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9920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가동률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연간 지상 변압기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9,000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(37.5%)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주상 변압기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1,000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(16.6%)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생산 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402926"/>
                  </a:ext>
                </a:extLst>
              </a:tr>
            </a:tbl>
          </a:graphicData>
        </a:graphic>
      </p:graphicFrame>
      <p:pic>
        <p:nvPicPr>
          <p:cNvPr id="11" name="그림 13" descr="Factory.jpg">
            <a:extLst>
              <a:ext uri="{FF2B5EF4-FFF2-40B4-BE49-F238E27FC236}">
                <a16:creationId xmlns:a16="http://schemas.microsoft.com/office/drawing/2014/main" id="{ECE54CB5-069D-814E-0CB6-07EF4B19E4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7" t="23122" r="7708" b="1043"/>
          <a:stretch>
            <a:fillRect/>
          </a:stretch>
        </p:blipFill>
        <p:spPr bwMode="auto">
          <a:xfrm>
            <a:off x="6861000" y="2492525"/>
            <a:ext cx="2484000" cy="151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1A4BAA7E-9915-2849-7CBC-8BF55799983B}"/>
              </a:ext>
            </a:extLst>
          </p:cNvPr>
          <p:cNvGrpSpPr/>
          <p:nvPr/>
        </p:nvGrpSpPr>
        <p:grpSpPr>
          <a:xfrm>
            <a:off x="4161000" y="2492525"/>
            <a:ext cx="2484000" cy="1511999"/>
            <a:chOff x="4161000" y="2528526"/>
            <a:chExt cx="2484000" cy="1511999"/>
          </a:xfrm>
        </p:grpSpPr>
        <p:pic>
          <p:nvPicPr>
            <p:cNvPr id="19" name="그림 2">
              <a:extLst>
                <a:ext uri="{FF2B5EF4-FFF2-40B4-BE49-F238E27FC236}">
                  <a16:creationId xmlns:a16="http://schemas.microsoft.com/office/drawing/2014/main" id="{68066229-012B-6678-F26A-6A0DD63597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2" r="12845" b="19682"/>
            <a:stretch>
              <a:fillRect/>
            </a:stretch>
          </p:blipFill>
          <p:spPr bwMode="auto">
            <a:xfrm>
              <a:off x="4161000" y="2528526"/>
              <a:ext cx="2484000" cy="1511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D333653-2BC4-77E8-EB10-4672AA981B63}"/>
                </a:ext>
              </a:extLst>
            </p:cNvPr>
            <p:cNvSpPr/>
            <p:nvPr/>
          </p:nvSpPr>
          <p:spPr>
            <a:xfrm rot="1320000">
              <a:off x="5835049" y="3045325"/>
              <a:ext cx="533570" cy="105218"/>
            </a:xfrm>
            <a:prstGeom prst="rect">
              <a:avLst/>
            </a:prstGeom>
            <a:solidFill>
              <a:srgbClr val="A3ABB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7B7E51F-190A-685C-7725-FA7DC065D950}"/>
              </a:ext>
            </a:extLst>
          </p:cNvPr>
          <p:cNvGrpSpPr/>
          <p:nvPr/>
        </p:nvGrpSpPr>
        <p:grpSpPr>
          <a:xfrm>
            <a:off x="1461000" y="2492525"/>
            <a:ext cx="2484000" cy="1512000"/>
            <a:chOff x="1461000" y="2672526"/>
            <a:chExt cx="2484000" cy="151200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632908B-5DE9-2FFA-6A95-C2F2623558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32" t="7126" r="10233" b="24242"/>
            <a:stretch>
              <a:fillRect/>
            </a:stretch>
          </p:blipFill>
          <p:spPr bwMode="auto">
            <a:xfrm>
              <a:off x="1461000" y="2672526"/>
              <a:ext cx="2484000" cy="151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3E8CD7C-514B-24C1-A4D7-C22CF23A4212}"/>
                </a:ext>
              </a:extLst>
            </p:cNvPr>
            <p:cNvSpPr/>
            <p:nvPr/>
          </p:nvSpPr>
          <p:spPr>
            <a:xfrm>
              <a:off x="2243138" y="3571875"/>
              <a:ext cx="319087" cy="48574"/>
            </a:xfrm>
            <a:prstGeom prst="rect">
              <a:avLst/>
            </a:prstGeom>
            <a:solidFill>
              <a:srgbClr val="A9B1B3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54C8FC-1330-2FBE-E8E6-7B0F11E3E98E}"/>
              </a:ext>
            </a:extLst>
          </p:cNvPr>
          <p:cNvSpPr/>
          <p:nvPr/>
        </p:nvSpPr>
        <p:spPr>
          <a:xfrm>
            <a:off x="453000" y="5445950"/>
            <a:ext cx="9000000" cy="504000"/>
          </a:xfrm>
          <a:prstGeom prst="rect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핵심 기술력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노하우가 요구되는 생산 공정은 한국에서 진행한 후 미국 공장에서 완제품 조립하여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효율적인 납기 관리 및 </a:t>
            </a:r>
            <a:r>
              <a:rPr lang="en-US" altLang="ko-KR" sz="1000" b="1" dirty="0">
                <a:solidFill>
                  <a:schemeClr val="bg1"/>
                </a:solidFill>
              </a:rPr>
              <a:t>IRA </a:t>
            </a:r>
            <a:r>
              <a:rPr lang="ko-KR" altLang="en-US" sz="1000" b="1" dirty="0">
                <a:solidFill>
                  <a:schemeClr val="bg1"/>
                </a:solidFill>
              </a:rPr>
              <a:t>회피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향후 미국 공장의 자체 생산 </a:t>
            </a:r>
            <a:r>
              <a:rPr lang="en-US" altLang="ko-KR" sz="1000" b="1" dirty="0">
                <a:solidFill>
                  <a:schemeClr val="bg1"/>
                </a:solidFill>
              </a:rPr>
              <a:t>Capacity </a:t>
            </a:r>
            <a:r>
              <a:rPr lang="ko-KR" altLang="en-US" sz="1000" b="1" dirty="0">
                <a:solidFill>
                  <a:schemeClr val="bg1"/>
                </a:solidFill>
              </a:rPr>
              <a:t>확대하여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한국 생산 </a:t>
            </a:r>
            <a:r>
              <a:rPr lang="en-US" altLang="ko-KR" sz="1000" b="1" dirty="0">
                <a:solidFill>
                  <a:schemeClr val="bg1"/>
                </a:solidFill>
              </a:rPr>
              <a:t>45% : </a:t>
            </a:r>
            <a:r>
              <a:rPr lang="ko-KR" altLang="en-US" sz="1000" b="1" dirty="0">
                <a:solidFill>
                  <a:schemeClr val="bg1"/>
                </a:solidFill>
              </a:rPr>
              <a:t>미국 생산 </a:t>
            </a:r>
            <a:r>
              <a:rPr lang="en-US" altLang="ko-KR" sz="1000" b="1" dirty="0">
                <a:solidFill>
                  <a:schemeClr val="bg1"/>
                </a:solidFill>
              </a:rPr>
              <a:t>55%</a:t>
            </a:r>
            <a:r>
              <a:rPr lang="ko-KR" altLang="en-US" sz="1000" b="1" dirty="0">
                <a:solidFill>
                  <a:schemeClr val="bg1"/>
                </a:solidFill>
              </a:rPr>
              <a:t>로 미국 현지 생산 비중 확대 추진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현지시장 경쟁력 증대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332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A39F-5A1C-D746-092A-C348D8A2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85A62358-4CF1-F39F-2D85-B11AEBD139EE}"/>
              </a:ext>
            </a:extLst>
          </p:cNvPr>
          <p:cNvSpPr/>
          <p:nvPr/>
        </p:nvSpPr>
        <p:spPr>
          <a:xfrm>
            <a:off x="2469000" y="3213950"/>
            <a:ext cx="4932000" cy="504000"/>
          </a:xfrm>
          <a:prstGeom prst="rightArrow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497CE3-E598-CFB7-4F01-6401F4A1C8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US Market Growth </a:t>
            </a:r>
            <a:r>
              <a:rPr lang="en-US" altLang="ko-KR" dirty="0"/>
              <a:t>Roadmap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AC2B32-AE41-E951-393F-891279D8B4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246D27-8D7E-F32A-2572-CF1C5E7DD8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E0E43-83E0-DCC3-5AC7-C991B096527B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국내 유일의 미국 현지 공장을 운영 중인 변압기 제조업체로서 가격 경쟁력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빠른 납기 및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신속한 현지 대응 역량을 활용하여 향후 </a:t>
            </a:r>
            <a:r>
              <a:rPr lang="en-US" altLang="ko-KR" sz="1400" b="1" dirty="0">
                <a:solidFill>
                  <a:srgbClr val="3D3D3D"/>
                </a:solidFill>
              </a:rPr>
              <a:t>10</a:t>
            </a:r>
            <a:r>
              <a:rPr lang="ko-KR" altLang="en-US" sz="1400" b="1" dirty="0">
                <a:solidFill>
                  <a:srgbClr val="3D3D3D"/>
                </a:solidFill>
              </a:rPr>
              <a:t>년 내로 미국 시장 내 연간 매출액 </a:t>
            </a:r>
            <a:r>
              <a:rPr lang="en-US" altLang="ko-KR" sz="1400" b="1" dirty="0">
                <a:solidFill>
                  <a:srgbClr val="3D3D3D"/>
                </a:solidFill>
              </a:rPr>
              <a:t>10</a:t>
            </a:r>
            <a:r>
              <a:rPr lang="ko-KR" altLang="en-US" sz="1400" b="1" dirty="0">
                <a:solidFill>
                  <a:srgbClr val="3D3D3D"/>
                </a:solidFill>
              </a:rPr>
              <a:t>억 달러 이상 달성을 계획하고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77617-EAAD-CA06-3C91-5EE80C16D010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미국시장 선도 위한 중장기 성장 전략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로드맵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B85365-C3F5-0053-2623-DEEA8FABF16D}"/>
              </a:ext>
            </a:extLst>
          </p:cNvPr>
          <p:cNvSpPr/>
          <p:nvPr/>
        </p:nvSpPr>
        <p:spPr>
          <a:xfrm>
            <a:off x="453000" y="2168525"/>
            <a:ext cx="2016000" cy="288000"/>
          </a:xfrm>
          <a:prstGeom prst="rect">
            <a:avLst/>
          </a:prstGeom>
          <a:solidFill>
            <a:srgbClr val="26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핵심 시장 전략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8CEC6B-7329-74A8-61F2-56771D913288}"/>
              </a:ext>
            </a:extLst>
          </p:cNvPr>
          <p:cNvSpPr/>
          <p:nvPr/>
        </p:nvSpPr>
        <p:spPr>
          <a:xfrm>
            <a:off x="2733000" y="2168525"/>
            <a:ext cx="2016000" cy="288000"/>
          </a:xfrm>
          <a:prstGeom prst="rect">
            <a:avLst/>
          </a:prstGeom>
          <a:solidFill>
            <a:srgbClr val="26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>
                <a:solidFill>
                  <a:schemeClr val="bg1"/>
                </a:solidFill>
              </a:rPr>
              <a:t>단기 로드맵</a:t>
            </a:r>
            <a:r>
              <a:rPr lang="en-US" altLang="ko-KR" sz="800" dirty="0">
                <a:solidFill>
                  <a:schemeClr val="bg1"/>
                </a:solidFill>
              </a:rPr>
              <a:t>(2025 - 2027)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565F8B-B150-519A-459C-11B49364404A}"/>
              </a:ext>
            </a:extLst>
          </p:cNvPr>
          <p:cNvSpPr/>
          <p:nvPr/>
        </p:nvSpPr>
        <p:spPr>
          <a:xfrm>
            <a:off x="5013000" y="2168525"/>
            <a:ext cx="2016000" cy="288000"/>
          </a:xfrm>
          <a:prstGeom prst="rect">
            <a:avLst/>
          </a:prstGeom>
          <a:solidFill>
            <a:srgbClr val="26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중기 로드맵</a:t>
            </a:r>
            <a:r>
              <a:rPr lang="en-US" altLang="ko-KR" sz="800" dirty="0">
                <a:solidFill>
                  <a:schemeClr val="bg1"/>
                </a:solidFill>
              </a:rPr>
              <a:t>(2028 - 2030)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A75ED1-A507-D88C-7111-33F9B817779C}"/>
              </a:ext>
            </a:extLst>
          </p:cNvPr>
          <p:cNvSpPr/>
          <p:nvPr/>
        </p:nvSpPr>
        <p:spPr>
          <a:xfrm>
            <a:off x="7437000" y="2168525"/>
            <a:ext cx="2016000" cy="288000"/>
          </a:xfrm>
          <a:prstGeom prst="rect">
            <a:avLst/>
          </a:prstGeom>
          <a:solidFill>
            <a:srgbClr val="26C2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장기 로드맵</a:t>
            </a:r>
            <a:r>
              <a:rPr lang="en-US" altLang="ko-KR" sz="800" dirty="0">
                <a:solidFill>
                  <a:schemeClr val="bg1"/>
                </a:solidFill>
              </a:rPr>
              <a:t>(2031 - 2035)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C0A0208-B1BB-A870-3CE8-BA16500CFC86}"/>
              </a:ext>
            </a:extLst>
          </p:cNvPr>
          <p:cNvSpPr/>
          <p:nvPr/>
        </p:nvSpPr>
        <p:spPr>
          <a:xfrm>
            <a:off x="453000" y="2565950"/>
            <a:ext cx="2016000" cy="1800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0" rtlCol="0" anchor="t"/>
          <a:lstStyle/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spc="-30" dirty="0">
                <a:solidFill>
                  <a:schemeClr val="bg1"/>
                </a:solidFill>
              </a:rPr>
              <a:t>기존 </a:t>
            </a:r>
            <a:r>
              <a:rPr lang="en-US" altLang="ko-KR" sz="1000" b="1" spc="-30" dirty="0">
                <a:solidFill>
                  <a:schemeClr val="bg1"/>
                </a:solidFill>
              </a:rPr>
              <a:t>Tier 1 </a:t>
            </a:r>
            <a:r>
              <a:rPr lang="ko-KR" altLang="en-US" sz="1000" b="1" spc="-30" dirty="0">
                <a:solidFill>
                  <a:schemeClr val="bg1"/>
                </a:solidFill>
              </a:rPr>
              <a:t>대비 </a:t>
            </a:r>
            <a:r>
              <a:rPr lang="en-US" altLang="ko-KR" sz="1000" b="1" spc="-30" dirty="0">
                <a:solidFill>
                  <a:schemeClr val="bg1"/>
                </a:solidFill>
              </a:rPr>
              <a:t>15 ~ 20% </a:t>
            </a:r>
            <a:r>
              <a:rPr lang="ko-KR" altLang="en-US" sz="1000" b="1" spc="-30" dirty="0">
                <a:solidFill>
                  <a:schemeClr val="bg1"/>
                </a:solidFill>
              </a:rPr>
              <a:t>이상 가격경쟁력 확보</a:t>
            </a:r>
            <a:endParaRPr lang="en-US" altLang="ko-KR" sz="1000" b="1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000" b="1" spc="-30" dirty="0">
                <a:solidFill>
                  <a:schemeClr val="bg1"/>
                </a:solidFill>
              </a:rPr>
              <a:t>16 ~ 20</a:t>
            </a:r>
            <a:r>
              <a:rPr lang="ko-KR" altLang="en-US" sz="1000" b="1" spc="-30" dirty="0">
                <a:solidFill>
                  <a:schemeClr val="bg1"/>
                </a:solidFill>
              </a:rPr>
              <a:t>주 이내 납기 준수</a:t>
            </a:r>
            <a:endParaRPr lang="en-US" altLang="ko-KR" sz="1000" b="1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spc="-30" dirty="0">
                <a:solidFill>
                  <a:schemeClr val="bg1"/>
                </a:solidFill>
              </a:rPr>
              <a:t>지상 </a:t>
            </a:r>
            <a:r>
              <a:rPr lang="en-US" altLang="ko-KR" sz="1000" b="1" spc="-30" dirty="0">
                <a:solidFill>
                  <a:schemeClr val="bg1"/>
                </a:solidFill>
              </a:rPr>
              <a:t>· </a:t>
            </a:r>
            <a:r>
              <a:rPr lang="ko-KR" altLang="en-US" sz="1000" b="1" spc="-30" dirty="0">
                <a:solidFill>
                  <a:schemeClr val="bg1"/>
                </a:solidFill>
              </a:rPr>
              <a:t>주상 변압기 등 핵심 제품 집중</a:t>
            </a:r>
            <a:endParaRPr lang="en-US" altLang="ko-KR" sz="1000" b="1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spc="-30" dirty="0">
                <a:solidFill>
                  <a:schemeClr val="bg1"/>
                </a:solidFill>
              </a:rPr>
              <a:t>한국 생산 후 미국 현지 조립 체계 강화 통한 </a:t>
            </a:r>
            <a:r>
              <a:rPr lang="en-US" altLang="ko-KR" sz="1000" b="1" spc="-30" dirty="0">
                <a:solidFill>
                  <a:schemeClr val="bg1"/>
                </a:solidFill>
              </a:rPr>
              <a:t>IRA </a:t>
            </a:r>
            <a:r>
              <a:rPr lang="ko-KR" altLang="en-US" sz="1000" b="1" spc="-30" dirty="0">
                <a:solidFill>
                  <a:schemeClr val="bg1"/>
                </a:solidFill>
              </a:rPr>
              <a:t>회피</a:t>
            </a:r>
            <a:endParaRPr lang="en-US" altLang="ko-KR" sz="1000" b="1" spc="-30" dirty="0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520F7B-052B-EC4A-530E-8A2C651C2005}"/>
              </a:ext>
            </a:extLst>
          </p:cNvPr>
          <p:cNvSpPr/>
          <p:nvPr/>
        </p:nvSpPr>
        <p:spPr>
          <a:xfrm>
            <a:off x="2733000" y="2599530"/>
            <a:ext cx="2016000" cy="180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0" rtlCol="0" anchor="t"/>
          <a:lstStyle/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tx1"/>
                </a:solidFill>
              </a:rPr>
              <a:t>미국 신규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전력청</a:t>
            </a:r>
            <a:r>
              <a:rPr lang="ko-KR" altLang="en-US" sz="1000" b="1" dirty="0">
                <a:solidFill>
                  <a:schemeClr val="tx1"/>
                </a:solidFill>
              </a:rPr>
              <a:t> 추가 확보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357188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기존 대형 거래처 외에 신규 수주 통한 매출처 다변화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tx1"/>
                </a:solidFill>
              </a:rPr>
              <a:t>미국 공장 기능 강화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357188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각 고객사별 비상재고 보관 및 </a:t>
            </a:r>
            <a:r>
              <a:rPr lang="en-US" altLang="ko-KR" sz="1000" dirty="0">
                <a:solidFill>
                  <a:schemeClr val="tx1"/>
                </a:solidFill>
              </a:rPr>
              <a:t>A/S </a:t>
            </a:r>
            <a:r>
              <a:rPr lang="ko-KR" altLang="en-US" sz="1000" dirty="0">
                <a:solidFill>
                  <a:schemeClr val="tx1"/>
                </a:solidFill>
              </a:rPr>
              <a:t>센터 운영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현지 완제품 조립 역량 강화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C4487B-D603-F612-9901-57EADA49AA3D}"/>
              </a:ext>
            </a:extLst>
          </p:cNvPr>
          <p:cNvSpPr/>
          <p:nvPr/>
        </p:nvSpPr>
        <p:spPr>
          <a:xfrm>
            <a:off x="5013000" y="2599530"/>
            <a:ext cx="2016000" cy="180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0" rtlCol="0" anchor="t"/>
          <a:lstStyle/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tx1"/>
                </a:solidFill>
              </a:rPr>
              <a:t>미국 현지 생산역량 강화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357188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한국 </a:t>
            </a:r>
            <a:r>
              <a:rPr lang="en-US" altLang="ko-KR" sz="1000" dirty="0">
                <a:solidFill>
                  <a:schemeClr val="tx1"/>
                </a:solidFill>
              </a:rPr>
              <a:t>45% + </a:t>
            </a:r>
            <a:r>
              <a:rPr lang="ko-KR" altLang="en-US" sz="1000" dirty="0">
                <a:solidFill>
                  <a:schemeClr val="tx1"/>
                </a:solidFill>
              </a:rPr>
              <a:t>미국 </a:t>
            </a:r>
            <a:r>
              <a:rPr lang="en-US" altLang="ko-KR" sz="1000" dirty="0">
                <a:solidFill>
                  <a:schemeClr val="tx1"/>
                </a:solidFill>
              </a:rPr>
              <a:t>55%</a:t>
            </a:r>
            <a:r>
              <a:rPr lang="ko-KR" altLang="en-US" sz="1000" dirty="0">
                <a:solidFill>
                  <a:schemeClr val="tx1"/>
                </a:solidFill>
              </a:rPr>
              <a:t>의 생산 구조로 현지 경쟁력 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tx1"/>
                </a:solidFill>
              </a:rPr>
              <a:t>미국 시장 매출 증대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357188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2030</a:t>
            </a:r>
            <a:r>
              <a:rPr lang="ko-KR" altLang="en-US" sz="1000" dirty="0">
                <a:solidFill>
                  <a:schemeClr val="tx1"/>
                </a:solidFill>
              </a:rPr>
              <a:t>년까지 연간 미국시장 매출 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억 달러 달성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6A6A5C-A576-2242-2590-41572939CC58}"/>
              </a:ext>
            </a:extLst>
          </p:cNvPr>
          <p:cNvSpPr/>
          <p:nvPr/>
        </p:nvSpPr>
        <p:spPr>
          <a:xfrm>
            <a:off x="7437000" y="2599530"/>
            <a:ext cx="2016000" cy="180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0" rtlCol="0" anchor="t"/>
          <a:lstStyle/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tx1"/>
                </a:solidFill>
              </a:rPr>
              <a:t>현지 변압기 업체로서 점유율 확대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357188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대형 전력청과 소규모 지역 사업자 고객 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시장 점유율 </a:t>
            </a:r>
            <a:r>
              <a:rPr lang="en-US" altLang="ko-KR" sz="1000" dirty="0">
                <a:solidFill>
                  <a:schemeClr val="tx1"/>
                </a:solidFill>
              </a:rPr>
              <a:t>3 - 5% </a:t>
            </a:r>
            <a:r>
              <a:rPr lang="ko-KR" altLang="en-US" sz="1000" dirty="0">
                <a:solidFill>
                  <a:schemeClr val="tx1"/>
                </a:solidFill>
              </a:rPr>
              <a:t>달성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tx1"/>
                </a:solidFill>
              </a:rPr>
              <a:t>미국 시장 매출 극대화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357188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연간 미국시장 매출 </a:t>
            </a:r>
            <a:r>
              <a:rPr lang="en-US" altLang="ko-KR" sz="1000" dirty="0">
                <a:solidFill>
                  <a:schemeClr val="tx1"/>
                </a:solidFill>
              </a:rPr>
              <a:t>10</a:t>
            </a:r>
            <a:r>
              <a:rPr lang="ko-KR" altLang="en-US" sz="1000" dirty="0">
                <a:solidFill>
                  <a:schemeClr val="tx1"/>
                </a:solidFill>
              </a:rPr>
              <a:t>억 달러 이상 달성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지속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A9CE79-7D0F-C7C8-997F-2320BF248880}"/>
              </a:ext>
            </a:extLst>
          </p:cNvPr>
          <p:cNvSpPr/>
          <p:nvPr/>
        </p:nvSpPr>
        <p:spPr>
          <a:xfrm>
            <a:off x="453000" y="4578920"/>
            <a:ext cx="9000000" cy="504000"/>
          </a:xfrm>
          <a:prstGeom prst="rect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국내 변압기 제조업체 중 유일하게 미국 공장을 운영 중으로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이를 활용한 가격 경쟁력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납기 경쟁력 및 현지 영업 경쟁력 확보 가능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b="1" dirty="0">
                <a:solidFill>
                  <a:schemeClr val="bg1"/>
                </a:solidFill>
              </a:rPr>
              <a:t>AEP, Berkshire Hathaway </a:t>
            </a:r>
            <a:r>
              <a:rPr lang="ko-KR" altLang="en-US" sz="1000" b="1" dirty="0">
                <a:solidFill>
                  <a:schemeClr val="bg1"/>
                </a:solidFill>
              </a:rPr>
              <a:t>등 미국 내 대형 </a:t>
            </a:r>
            <a:r>
              <a:rPr lang="ko-KR" altLang="en-US" sz="1000" b="1" dirty="0" err="1">
                <a:solidFill>
                  <a:schemeClr val="bg1"/>
                </a:solidFill>
              </a:rPr>
              <a:t>전력청</a:t>
            </a:r>
            <a:r>
              <a:rPr lang="ko-KR" altLang="en-US" sz="1000" b="1" dirty="0">
                <a:solidFill>
                  <a:schemeClr val="bg1"/>
                </a:solidFill>
              </a:rPr>
              <a:t> 고객 대상의 </a:t>
            </a:r>
            <a:r>
              <a:rPr lang="en-US" altLang="ko-KR" sz="1000" b="1" dirty="0">
                <a:solidFill>
                  <a:schemeClr val="bg1"/>
                </a:solidFill>
              </a:rPr>
              <a:t>Track Record</a:t>
            </a:r>
            <a:r>
              <a:rPr lang="ko-KR" altLang="en-US" sz="1000" b="1" dirty="0">
                <a:solidFill>
                  <a:schemeClr val="bg1"/>
                </a:solidFill>
              </a:rPr>
              <a:t>를 활용한 공격적 신규 수주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시장점유율 확대 전략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455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4A20-DC18-65EB-DBAE-0516E426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2A0BFFD-3559-C186-82EC-6C39F287A19F}"/>
              </a:ext>
            </a:extLst>
          </p:cNvPr>
          <p:cNvGrpSpPr>
            <a:grpSpLocks noChangeAspect="1"/>
          </p:cNvGrpSpPr>
          <p:nvPr/>
        </p:nvGrpSpPr>
        <p:grpSpPr>
          <a:xfrm>
            <a:off x="452438" y="549275"/>
            <a:ext cx="4097136" cy="360000"/>
            <a:chOff x="728591" y="3660843"/>
            <a:chExt cx="8448818" cy="742366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4BEFB1A1-6652-81EF-B103-4F94FEE79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80217" y="3719209"/>
              <a:ext cx="3597192" cy="684000"/>
            </a:xfrm>
            <a:prstGeom prst="rect">
              <a:avLst/>
            </a:prstGeom>
          </p:spPr>
        </p:pic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79C9121B-96FB-C7AD-80F2-9C21B3840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8591" y="3660843"/>
              <a:ext cx="4851615" cy="540000"/>
            </a:xfrm>
            <a:prstGeom prst="rect">
              <a:avLst/>
            </a:prstGeom>
          </p:spPr>
        </p:pic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0211ADE-A31B-6545-D718-B66298B23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91042"/>
              </p:ext>
            </p:extLst>
          </p:nvPr>
        </p:nvGraphicFramePr>
        <p:xfrm>
          <a:off x="344438" y="2168525"/>
          <a:ext cx="352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Market Opportunity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Target Highlights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F3A32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cs"/>
                        </a:rPr>
                        <a:t>Financial Summary</a:t>
                      </a:r>
                      <a:endParaRPr kumimoji="0" lang="en-US" altLang="ko-KR" sz="1400" b="0" i="0" u="none" strike="noStrike" kern="1200" cap="all" spc="0" normalizeH="0" baseline="0" noProof="0" dirty="0">
                        <a:ln>
                          <a:noFill/>
                        </a:ln>
                        <a:solidFill>
                          <a:srgbClr val="0F3A32"/>
                        </a:solidFill>
                        <a:effectLst/>
                        <a:uLnTx/>
                        <a:uFillTx/>
                        <a:latin typeface="SUITE Heavy"/>
                        <a:ea typeface="SUITE Heavy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2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1B344C1-70C6-A62C-9100-C978EC76F73B}"/>
              </a:ext>
            </a:extLst>
          </p:cNvPr>
          <p:cNvSpPr txBox="1"/>
          <p:nvPr/>
        </p:nvSpPr>
        <p:spPr>
          <a:xfrm>
            <a:off x="452438" y="1368847"/>
            <a:ext cx="3247684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CONTENTS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EF866064-5A2C-FE49-AC33-BCC861057616}"/>
              </a:ext>
            </a:extLst>
          </p:cNvPr>
          <p:cNvSpPr txBox="1">
            <a:spLocks/>
          </p:cNvSpPr>
          <p:nvPr/>
        </p:nvSpPr>
        <p:spPr>
          <a:xfrm>
            <a:off x="452999" y="6177279"/>
            <a:ext cx="1548501" cy="13144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800" dirty="0">
                <a:latin typeface="+mj-lt"/>
                <a:ea typeface="+mj-ea"/>
              </a:rPr>
              <a:t>Strictly Private &amp; Confidential</a:t>
            </a:r>
            <a:endParaRPr lang="ko-KR" altLang="en-US" sz="8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35530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88B1-1532-DA30-00BD-1C17B3F6D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61BFE92-9B8D-0075-81CC-B88650B4B7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 dirty="0"/>
              <a:t>S</a:t>
            </a:r>
            <a:r>
              <a:rPr lang="ko-KR" altLang="en-US" dirty="0"/>
              <a:t>사 재무제표 </a:t>
            </a:r>
            <a:r>
              <a:rPr lang="en-US" altLang="ko-KR" dirty="0"/>
              <a:t>- </a:t>
            </a:r>
            <a:r>
              <a:rPr lang="ko-KR" altLang="en-US" dirty="0"/>
              <a:t>재무상태표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0FF0BA-DDB6-2900-518D-C0EFE343D0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DART.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45D76E-5FCA-1552-BE99-AD0740C559D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20</a:t>
            </a:fld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9186506-6E2E-6AFF-5169-5793E034D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088507"/>
              </p:ext>
            </p:extLst>
          </p:nvPr>
        </p:nvGraphicFramePr>
        <p:xfrm>
          <a:off x="453000" y="1196975"/>
          <a:ext cx="9000000" cy="45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16754929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6537666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15853533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24657006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5392268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06767089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단위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백만원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2020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2021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2022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2023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687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유동자산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11,454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14,664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21,467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28,586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20,974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0599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effectLst/>
                          <a:latin typeface="+mn-lt"/>
                          <a:ea typeface="+mn-ea"/>
                        </a:rPr>
                        <a:t>현금및현금성자산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1,908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1,261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1,848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6,371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2,565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9020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매출채권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6,214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8,116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10,012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16,586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12,861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2632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단기대여금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1,346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1,101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713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541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7183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재고자산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1,795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4,117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8,454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4,253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5,261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28012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effectLst/>
                          <a:latin typeface="+mn-lt"/>
                          <a:ea typeface="+mn-ea"/>
                        </a:rPr>
                        <a:t>기타유동자산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191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69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440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836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286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9485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비유동자산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6,422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7,152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18,486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28,011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38,128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121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투자자산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492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704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586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698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5,372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33704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유무형자산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5,794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6,315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17,817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27,134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32,515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698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effectLst/>
                          <a:latin typeface="+mn-lt"/>
                          <a:ea typeface="+mn-ea"/>
                        </a:rPr>
                        <a:t>기타비유동자산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136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134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84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179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241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9456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자산총계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17,876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21,816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39,953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56,597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59,102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2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유동부채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4,037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8,384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20,609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23,165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22,308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085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매입채무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1,836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3,293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4,840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5,821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2,913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3402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단기차입금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1,541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3,160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13,471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12,398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17,219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9153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effectLst/>
                          <a:latin typeface="+mn-lt"/>
                          <a:ea typeface="+mn-ea"/>
                        </a:rPr>
                        <a:t>기타유동부채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661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1,931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2,298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4,947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2,176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6072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비유동부채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2,773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1,492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7,670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9,795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5,457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64567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장기차입금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2,152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692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6,784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8,086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3,099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3611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effectLst/>
                          <a:latin typeface="+mn-lt"/>
                          <a:ea typeface="+mn-ea"/>
                        </a:rPr>
                        <a:t>기타비유동부채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621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800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886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1,708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2,359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70804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부채총계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6,810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9,876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28,279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32,960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27,766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2255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자본총계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11,066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11,941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11,674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23,637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31,336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682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189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22099-4B2F-33CE-A3AC-B932F114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2D0F4E3-C528-92EF-65C8-519F3F71C7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 dirty="0"/>
              <a:t>S</a:t>
            </a:r>
            <a:r>
              <a:rPr lang="ko-KR" altLang="en-US" dirty="0"/>
              <a:t>사 재무제표 </a:t>
            </a:r>
            <a:r>
              <a:rPr lang="en-US" altLang="ko-KR" dirty="0"/>
              <a:t>- </a:t>
            </a:r>
            <a:r>
              <a:rPr lang="ko-KR" altLang="en-US" dirty="0"/>
              <a:t>손익계산서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C2E96C-9C80-BF64-8582-A3958718C4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DART.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5264E-633C-04B0-78F5-C3EF6CC7B7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21</a:t>
            </a:fld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BFF1584-73CD-2D1D-1B96-0C7F6D63E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94397"/>
              </p:ext>
            </p:extLst>
          </p:nvPr>
        </p:nvGraphicFramePr>
        <p:xfrm>
          <a:off x="453000" y="1196975"/>
          <a:ext cx="9000000" cy="468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167549297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6537666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15853533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24657006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5392268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806767089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단위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백만원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2020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2021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2022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2023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68775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매출액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23,406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27,404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33,723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71,097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63,073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893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제품매출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21,877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26,443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33,445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70,923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62,220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544825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공사매출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1,529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961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278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174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677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391472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임대료수입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112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94159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태양광발전수입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64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27227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매출원가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19,479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23,067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28,169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47,101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42,421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059923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제품매출원가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18,669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22,046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27,878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46,881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41,632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90207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N</a:t>
                      </a:r>
                      <a:r>
                        <a:rPr lang="ko-KR" altLang="en-US" sz="1000" b="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사 매입거래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8,140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54477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공사원가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810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1,021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290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221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789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26320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매출총이익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3,927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4,338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5,554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23,995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20,653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7183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%GP</a:t>
                      </a:r>
                      <a:endParaRPr lang="en-US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17%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16%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16%</a:t>
                      </a:r>
                      <a:endParaRPr lang="en-US" altLang="ko-KR" sz="1000" b="0" i="1" u="none" strike="noStrike" baseline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34%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33%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28012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판관비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2,794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3,295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4,503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10,793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11,796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948511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인건비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908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1,290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1,215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3,855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5,143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1213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경상연구개발비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790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928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1,172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1,482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1,334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33704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운반비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1,696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2,714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698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effectLst/>
                          <a:latin typeface="+mn-lt"/>
                          <a:ea typeface="+mn-ea"/>
                        </a:rPr>
                        <a:t>상각비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214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268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76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85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137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945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effectLst/>
                          <a:latin typeface="+mn-lt"/>
                          <a:ea typeface="+mn-ea"/>
                        </a:rPr>
                        <a:t>기타경비</a:t>
                      </a: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effectLst/>
                          <a:latin typeface="+mn-lt"/>
                          <a:ea typeface="+mn-ea"/>
                        </a:rPr>
                        <a:t>880</a:t>
                      </a:r>
                      <a:endParaRPr lang="en-US" altLang="ko-KR" sz="100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805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2,037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3,674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effectLst/>
                          <a:latin typeface="+mn-lt"/>
                          <a:ea typeface="+mn-ea"/>
                        </a:rPr>
                        <a:t>2,468</a:t>
                      </a:r>
                      <a:endParaRPr lang="en-US" altLang="ko-KR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289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영업이익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1,133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1,043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1,051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13,202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8,856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39533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%OP</a:t>
                      </a:r>
                      <a:endParaRPr lang="en-US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5%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4%</a:t>
                      </a:r>
                      <a:endParaRPr lang="en-US" altLang="ko-KR" sz="1000" b="0" i="1" u="none" strike="noStrike" baseline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3%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19%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14%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0850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당기순이익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971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871</a:t>
                      </a:r>
                      <a:endParaRPr lang="en-US" altLang="ko-KR" sz="1000" b="1" i="0" u="none" strike="noStrike" baseline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596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12,621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7,697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645671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%NI</a:t>
                      </a:r>
                      <a:endParaRPr lang="en-US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4%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3%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2%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18%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12%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361110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EBITDA</a:t>
                      </a:r>
                      <a:endParaRPr 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1,744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1,673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1,451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14,119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10,783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22555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%EBITDA</a:t>
                      </a:r>
                      <a:endParaRPr lang="en-US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7%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6%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4%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20%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17%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682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635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A16431-D6A7-B2F5-251A-A61BD23C31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 dirty="0"/>
              <a:t>N</a:t>
            </a:r>
            <a:r>
              <a:rPr lang="ko-KR" altLang="en-US" dirty="0"/>
              <a:t>사 재무제표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28D308-5952-A8B8-E60D-5361A61383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/>
              <a:t>대상회사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F2441-2351-4E8D-D94B-A0C2F2883DA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22</a:t>
            </a:fld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695F29D-9903-004D-593E-FF0C65E39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500741"/>
              </p:ext>
            </p:extLst>
          </p:nvPr>
        </p:nvGraphicFramePr>
        <p:xfrm>
          <a:off x="453000" y="1196975"/>
          <a:ext cx="4392000" cy="428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247409364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75321320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r>
                        <a:rPr lang="en-US" altLang="ko-KR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백만원</a:t>
                      </a:r>
                      <a:r>
                        <a:rPr lang="en-US" altLang="ko-KR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10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2024</a:t>
                      </a:r>
                      <a:endParaRPr lang="en-US" altLang="ko-KR" sz="10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76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i="0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1,642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37933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현금및현금성자산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475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86843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매출채권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1,105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28202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재고자산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63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566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비유동자산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382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878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투자자산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120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58493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유무형자산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249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272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기타비유동자산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13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0364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자산총계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2,024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082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유동부채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939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0082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매입채무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25739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미지급금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842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97226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기타유동부채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97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2888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비유동부채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64619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부채총계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939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8215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자본총계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1,084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86795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07E0D8F-14CC-DB33-87AD-DC6DDB282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648768"/>
              </p:ext>
            </p:extLst>
          </p:nvPr>
        </p:nvGraphicFramePr>
        <p:xfrm>
          <a:off x="5061000" y="1196975"/>
          <a:ext cx="4392000" cy="428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247409364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75321320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r>
                        <a:rPr lang="en-US" altLang="ko-KR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백만원</a:t>
                      </a:r>
                      <a:r>
                        <a:rPr lang="en-US" altLang="ko-KR" sz="10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10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2024</a:t>
                      </a:r>
                      <a:endParaRPr lang="en-US" altLang="ko-KR" sz="10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76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매출액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8,728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7500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제품매출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8,728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7582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  <a:r>
                        <a:rPr lang="ko-KR" altLang="en-US" sz="1000" b="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사 매출거래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8,140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31387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매출원가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7,446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3898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제품매출원가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7,446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25709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매출총이익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1,282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7752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%GP</a:t>
                      </a:r>
                      <a:endParaRPr lang="en-US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15%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695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판관비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297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1832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인건비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195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8734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기타경비</a:t>
                      </a: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102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57188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영업이익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984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25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%OP</a:t>
                      </a:r>
                      <a:endParaRPr lang="en-US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11%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7102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당기순이익</a:t>
                      </a:r>
                      <a:endParaRPr lang="ko-KR" alt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984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7095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%NI</a:t>
                      </a:r>
                      <a:endParaRPr lang="en-US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11%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76595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EBITDA</a:t>
                      </a:r>
                      <a:endParaRPr lang="en-US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1,003</a:t>
                      </a:r>
                      <a:endParaRPr lang="en-US" altLang="ko-KR" sz="10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761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%EBITDA</a:t>
                      </a:r>
                      <a:endParaRPr lang="en-US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11%</a:t>
                      </a:r>
                      <a:endParaRPr lang="en-US" altLang="ko-KR" sz="10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47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593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A3933-4C85-864C-473E-665E2FD5DC6E}"/>
              </a:ext>
            </a:extLst>
          </p:cNvPr>
          <p:cNvSpPr txBox="1"/>
          <p:nvPr/>
        </p:nvSpPr>
        <p:spPr>
          <a:xfrm>
            <a:off x="452438" y="5131928"/>
            <a:ext cx="2297104" cy="117679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 defTabSz="252000">
              <a:lnSpc>
                <a:spcPct val="110000"/>
              </a:lnSpc>
              <a:spcAft>
                <a:spcPts val="1200"/>
              </a:spcAft>
            </a:pPr>
            <a:r>
              <a:rPr lang="ko-KR" altLang="en-US" sz="1200" b="1" dirty="0" err="1">
                <a:solidFill>
                  <a:schemeClr val="bg1"/>
                </a:solidFill>
              </a:rPr>
              <a:t>앤더슨컨설팅인코포레이티드</a:t>
            </a:r>
            <a:r>
              <a:rPr lang="ko-KR" altLang="en-US" sz="1200" b="1" dirty="0">
                <a:solidFill>
                  <a:schemeClr val="bg1"/>
                </a:solidFill>
              </a:rPr>
              <a:t> 주식회사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algn="l" defTabSz="252000">
              <a:lnSpc>
                <a:spcPct val="11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서울특별시 서초구 강남대로 </a:t>
            </a:r>
            <a:r>
              <a:rPr lang="en-US" altLang="ko-KR" sz="1000" dirty="0">
                <a:solidFill>
                  <a:schemeClr val="bg1"/>
                </a:solidFill>
              </a:rPr>
              <a:t>531</a:t>
            </a:r>
          </a:p>
          <a:p>
            <a:pPr algn="l" defTabSz="252000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</a:rPr>
              <a:t>B722</a:t>
            </a:r>
            <a:r>
              <a:rPr lang="ko-KR" altLang="en-US" sz="1000" dirty="0">
                <a:solidFill>
                  <a:schemeClr val="bg1"/>
                </a:solidFill>
              </a:rPr>
              <a:t>빌딩 </a:t>
            </a:r>
            <a:r>
              <a:rPr lang="en-US" altLang="ko-KR" sz="1000" dirty="0">
                <a:solidFill>
                  <a:schemeClr val="bg1"/>
                </a:solidFill>
              </a:rPr>
              <a:t>15</a:t>
            </a:r>
            <a:r>
              <a:rPr lang="ko-KR" altLang="en-US" sz="1000" dirty="0">
                <a:solidFill>
                  <a:schemeClr val="bg1"/>
                </a:solidFill>
              </a:rPr>
              <a:t>층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l" defTabSz="252000">
              <a:lnSpc>
                <a:spcPct val="110000"/>
              </a:lnSpc>
              <a:spcBef>
                <a:spcPts val="1200"/>
              </a:spcBef>
            </a:pPr>
            <a:r>
              <a:rPr lang="en-US" altLang="ko-KR" sz="1000" dirty="0">
                <a:solidFill>
                  <a:schemeClr val="bg1"/>
                </a:solidFill>
              </a:rPr>
              <a:t>Tel.		02 2135 5860</a:t>
            </a:r>
          </a:p>
          <a:p>
            <a:pPr algn="l" defTabSz="252000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</a:rPr>
              <a:t>Fax.		02 2135 5867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1D2C59-EFB0-DDC0-65E9-BF959C9EAAFF}"/>
              </a:ext>
            </a:extLst>
          </p:cNvPr>
          <p:cNvSpPr txBox="1"/>
          <p:nvPr/>
        </p:nvSpPr>
        <p:spPr>
          <a:xfrm>
            <a:off x="4133996" y="5131928"/>
            <a:ext cx="1897955" cy="117679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 defTabSz="252000">
              <a:lnSpc>
                <a:spcPct val="110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/>
                </a:solidFill>
              </a:rPr>
              <a:t>주식회사 </a:t>
            </a:r>
            <a:r>
              <a:rPr lang="ko-KR" altLang="en-US" sz="1200" b="1" dirty="0" err="1">
                <a:solidFill>
                  <a:schemeClr val="bg1"/>
                </a:solidFill>
              </a:rPr>
              <a:t>페트라브릿지파트너스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algn="l" defTabSz="252000">
              <a:lnSpc>
                <a:spcPct val="11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서울특별시 강남구 테헤란로 </a:t>
            </a:r>
            <a:r>
              <a:rPr lang="en-US" altLang="ko-KR" sz="1000" dirty="0">
                <a:solidFill>
                  <a:schemeClr val="bg1"/>
                </a:solidFill>
              </a:rPr>
              <a:t>521</a:t>
            </a:r>
          </a:p>
          <a:p>
            <a:pPr algn="l" defTabSz="252000">
              <a:lnSpc>
                <a:spcPct val="110000"/>
              </a:lnSpc>
            </a:pPr>
            <a:r>
              <a:rPr lang="ko-KR" altLang="en-US" sz="1000" dirty="0" err="1">
                <a:solidFill>
                  <a:schemeClr val="bg1"/>
                </a:solidFill>
              </a:rPr>
              <a:t>파르나스타워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29</a:t>
            </a:r>
            <a:r>
              <a:rPr lang="ko-KR" altLang="en-US" sz="1000" dirty="0">
                <a:solidFill>
                  <a:schemeClr val="bg1"/>
                </a:solidFill>
              </a:rPr>
              <a:t>층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l" defTabSz="252000">
              <a:lnSpc>
                <a:spcPct val="110000"/>
              </a:lnSpc>
              <a:spcBef>
                <a:spcPts val="1200"/>
              </a:spcBef>
            </a:pPr>
            <a:r>
              <a:rPr lang="en-US" altLang="ko-KR" sz="1000" dirty="0">
                <a:solidFill>
                  <a:schemeClr val="bg1"/>
                </a:solidFill>
              </a:rPr>
              <a:t>Tel.		02 6953 9930</a:t>
            </a:r>
          </a:p>
          <a:p>
            <a:pPr algn="l" defTabSz="252000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</a:rPr>
              <a:t>Fax.		02 6442 9930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24" name="그래픽 23">
            <a:extLst>
              <a:ext uri="{FF2B5EF4-FFF2-40B4-BE49-F238E27FC236}">
                <a16:creationId xmlns:a16="http://schemas.microsoft.com/office/drawing/2014/main" id="{3502E8FC-A4D5-8B34-F32A-8B6434261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3996" y="4483928"/>
            <a:ext cx="1406250" cy="3600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8A7584C7-6ADC-A3FF-AF35-C01DDA67364E}"/>
              </a:ext>
            </a:extLst>
          </p:cNvPr>
          <p:cNvGrpSpPr>
            <a:grpSpLocks noChangeAspect="1"/>
          </p:cNvGrpSpPr>
          <p:nvPr/>
        </p:nvGrpSpPr>
        <p:grpSpPr>
          <a:xfrm>
            <a:off x="452438" y="549275"/>
            <a:ext cx="4097136" cy="360000"/>
            <a:chOff x="728591" y="3660843"/>
            <a:chExt cx="8448818" cy="742366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E2ECC481-CF59-93E4-61B0-22954E4E7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0217" y="3719209"/>
              <a:ext cx="3597192" cy="684000"/>
            </a:xfrm>
            <a:prstGeom prst="rect">
              <a:avLst/>
            </a:prstGeom>
          </p:spPr>
        </p:pic>
        <p:pic>
          <p:nvPicPr>
            <p:cNvPr id="11" name="Picture 5">
              <a:extLst>
                <a:ext uri="{FF2B5EF4-FFF2-40B4-BE49-F238E27FC236}">
                  <a16:creationId xmlns:a16="http://schemas.microsoft.com/office/drawing/2014/main" id="{4A6297B5-2EAD-AD60-0326-576A061CB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8591" y="3660843"/>
              <a:ext cx="4851615" cy="540000"/>
            </a:xfrm>
            <a:prstGeom prst="rect">
              <a:avLst/>
            </a:prstGeom>
          </p:spPr>
        </p:pic>
      </p:grpSp>
      <p:pic>
        <p:nvPicPr>
          <p:cNvPr id="12" name="Picture 5">
            <a:extLst>
              <a:ext uri="{FF2B5EF4-FFF2-40B4-BE49-F238E27FC236}">
                <a16:creationId xmlns:a16="http://schemas.microsoft.com/office/drawing/2014/main" id="{675116DC-DC95-9334-0793-D4462EB4B9C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38" y="4502863"/>
            <a:ext cx="2352723" cy="261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1D25B5-83F3-EF25-6C4A-D4C7B919EACC}"/>
              </a:ext>
            </a:extLst>
          </p:cNvPr>
          <p:cNvSpPr txBox="1"/>
          <p:nvPr/>
        </p:nvSpPr>
        <p:spPr>
          <a:xfrm>
            <a:off x="4133996" y="1449387"/>
            <a:ext cx="1662315" cy="60087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80000">
              <a:lnSpc>
                <a:spcPct val="110000"/>
              </a:lnSpc>
              <a:spcAft>
                <a:spcPts val="900"/>
              </a:spcAft>
            </a:pPr>
            <a:r>
              <a:rPr lang="en-US" altLang="ko-KR" sz="900" dirty="0">
                <a:solidFill>
                  <a:schemeClr val="bg1"/>
                </a:solidFill>
                <a:latin typeface="+mj-lt"/>
                <a:ea typeface="+mj-ea"/>
              </a:rPr>
              <a:t>PETRABRIDGE PARTNERS</a:t>
            </a:r>
          </a:p>
          <a:p>
            <a:pPr algn="l" defTabSz="180000">
              <a:lnSpc>
                <a:spcPct val="110000"/>
              </a:lnSpc>
              <a:spcAft>
                <a:spcPts val="300"/>
              </a:spcAft>
            </a:pPr>
            <a:r>
              <a:rPr lang="ko-KR" altLang="en-US" sz="900" dirty="0">
                <a:solidFill>
                  <a:schemeClr val="bg1"/>
                </a:solidFill>
              </a:rPr>
              <a:t>김 양 태  대표</a:t>
            </a:r>
            <a:r>
              <a:rPr lang="en-US" altLang="ko-KR" sz="900" dirty="0">
                <a:solidFill>
                  <a:schemeClr val="bg1"/>
                </a:solidFill>
              </a:rPr>
              <a:t>		ytkim@amic.kr</a:t>
            </a:r>
          </a:p>
          <a:p>
            <a:pPr algn="l" defTabSz="180000">
              <a:lnSpc>
                <a:spcPct val="110000"/>
              </a:lnSpc>
              <a:spcAft>
                <a:spcPts val="300"/>
              </a:spcAft>
            </a:pPr>
            <a:r>
              <a:rPr lang="ko-KR" altLang="en-US" sz="900" dirty="0">
                <a:solidFill>
                  <a:schemeClr val="bg1"/>
                </a:solidFill>
              </a:rPr>
              <a:t>조 우 상  이사</a:t>
            </a:r>
            <a:r>
              <a:rPr lang="en-US" altLang="ko-KR" sz="900" dirty="0">
                <a:solidFill>
                  <a:schemeClr val="bg1"/>
                </a:solidFill>
              </a:rPr>
              <a:t>		wsjo@amic.kr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D63B4-72A4-9AFA-7A8A-BBDB6925627B}"/>
              </a:ext>
            </a:extLst>
          </p:cNvPr>
          <p:cNvSpPr txBox="1"/>
          <p:nvPr/>
        </p:nvSpPr>
        <p:spPr>
          <a:xfrm>
            <a:off x="452438" y="1449387"/>
            <a:ext cx="3098605" cy="79169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80000">
              <a:lnSpc>
                <a:spcPct val="110000"/>
              </a:lnSpc>
              <a:spcAft>
                <a:spcPts val="900"/>
              </a:spcAft>
            </a:pPr>
            <a:r>
              <a:rPr lang="en-US" altLang="ko-KR" sz="900" dirty="0">
                <a:solidFill>
                  <a:schemeClr val="bg1"/>
                </a:solidFill>
                <a:latin typeface="+mj-lt"/>
                <a:ea typeface="+mj-ea"/>
              </a:rPr>
              <a:t>ANDERSEN CONSULTING</a:t>
            </a:r>
          </a:p>
          <a:p>
            <a:pPr algn="l" defTabSz="180000">
              <a:lnSpc>
                <a:spcPct val="110000"/>
              </a:lnSpc>
              <a:spcAft>
                <a:spcPts val="300"/>
              </a:spcAft>
            </a:pPr>
            <a:r>
              <a:rPr lang="ko-KR" altLang="en-US" sz="900" dirty="0">
                <a:solidFill>
                  <a:schemeClr val="bg1"/>
                </a:solidFill>
              </a:rPr>
              <a:t>류 재 욱  대표</a:t>
            </a:r>
            <a:r>
              <a:rPr lang="en-US" altLang="ko-KR" sz="900" dirty="0">
                <a:solidFill>
                  <a:schemeClr val="bg1"/>
                </a:solidFill>
              </a:rPr>
              <a:t>		jaewook.yoo@andersenconsulting.com</a:t>
            </a:r>
          </a:p>
          <a:p>
            <a:pPr defTabSz="180000">
              <a:lnSpc>
                <a:spcPct val="110000"/>
              </a:lnSpc>
              <a:spcAft>
                <a:spcPts val="300"/>
              </a:spcAft>
            </a:pPr>
            <a:r>
              <a:rPr lang="ko-KR" altLang="en-US" sz="900" dirty="0">
                <a:solidFill>
                  <a:schemeClr val="bg1"/>
                </a:solidFill>
              </a:rPr>
              <a:t>윤 권 현  대표</a:t>
            </a:r>
            <a:r>
              <a:rPr lang="en-US" altLang="ko-KR" sz="900" dirty="0">
                <a:solidFill>
                  <a:schemeClr val="bg1"/>
                </a:solidFill>
              </a:rPr>
              <a:t>		kwonhyun.yoon@andersenconsulting.com</a:t>
            </a:r>
          </a:p>
          <a:p>
            <a:pPr defTabSz="180000">
              <a:lnSpc>
                <a:spcPct val="110000"/>
              </a:lnSpc>
              <a:spcAft>
                <a:spcPts val="300"/>
              </a:spcAft>
            </a:pPr>
            <a:r>
              <a:rPr lang="ko-KR" altLang="en-US" sz="900" dirty="0">
                <a:solidFill>
                  <a:schemeClr val="bg1"/>
                </a:solidFill>
              </a:rPr>
              <a:t>곽 원 식  파트너</a:t>
            </a:r>
            <a:r>
              <a:rPr lang="en-US" altLang="ko-KR" sz="900" dirty="0">
                <a:solidFill>
                  <a:schemeClr val="bg1"/>
                </a:solidFill>
              </a:rPr>
              <a:t>		</a:t>
            </a:r>
            <a:r>
              <a:rPr lang="en-US" altLang="ko-KR" sz="900" dirty="0" err="1">
                <a:solidFill>
                  <a:schemeClr val="bg1"/>
                </a:solidFill>
              </a:rPr>
              <a:t>wonsik.kwak</a:t>
            </a:r>
            <a:r>
              <a:rPr lang="en-US" altLang="ko-KR" sz="900" dirty="0">
                <a:solidFill>
                  <a:schemeClr val="bg1"/>
                </a:solidFill>
              </a:rPr>
              <a:t>@ andersenconsulting.com</a:t>
            </a:r>
          </a:p>
        </p:txBody>
      </p:sp>
    </p:spTree>
    <p:extLst>
      <p:ext uri="{BB962C8B-B14F-4D97-AF65-F5344CB8AC3E}">
        <p14:creationId xmlns:p14="http://schemas.microsoft.com/office/powerpoint/2010/main" val="280577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AMIC_PETRA">
      <a:dk1>
        <a:srgbClr val="2A2A2A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SUITE Heavy"/>
        <a:ea typeface="SUITE Heavy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1FF"/>
        </a:solidFill>
        <a:ln w="6350">
          <a:solidFill>
            <a:srgbClr val="6A6A6A"/>
          </a:solidFill>
        </a:ln>
      </a:spPr>
      <a:bodyPr lIns="0" tIns="0" rIns="0" bIns="0"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6A6A6A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33937</TotalTime>
  <Words>3826</Words>
  <Application>Microsoft Office PowerPoint</Application>
  <PresentationFormat>A4 용지(210x297mm)</PresentationFormat>
  <Paragraphs>877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Pretendard</vt:lpstr>
      <vt:lpstr>SUIT Medium</vt:lpstr>
      <vt:lpstr>SUITE Heavy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WooSang</dc:creator>
  <cp:lastModifiedBy>Woosang Jo</cp:lastModifiedBy>
  <cp:revision>811</cp:revision>
  <cp:lastPrinted>2025-12-22T07:04:28Z</cp:lastPrinted>
  <dcterms:created xsi:type="dcterms:W3CDTF">2025-05-07T02:47:43Z</dcterms:created>
  <dcterms:modified xsi:type="dcterms:W3CDTF">2026-01-19T15:01:54Z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