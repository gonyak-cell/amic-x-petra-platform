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410" r:id="rId2"/>
    <p:sldId id="480" r:id="rId3"/>
    <p:sldId id="481" r:id="rId4"/>
    <p:sldId id="482" r:id="rId5"/>
    <p:sldId id="483" r:id="rId6"/>
    <p:sldId id="485" r:id="rId7"/>
    <p:sldId id="486" r:id="rId8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2" pos="5955" userDrawn="1">
          <p15:clr>
            <a:srgbClr val="A4A3A4"/>
          </p15:clr>
        </p15:guide>
        <p15:guide id="15" orient="horz" pos="1253" userDrawn="1">
          <p15:clr>
            <a:srgbClr val="A4A3A4"/>
          </p15:clr>
        </p15:guide>
        <p15:guide id="18" orient="horz" pos="1366" userDrawn="1">
          <p15:clr>
            <a:srgbClr val="A4A3A4"/>
          </p15:clr>
        </p15:guide>
        <p15:guide id="19" orient="horz" pos="37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C260"/>
    <a:srgbClr val="B0B0B0"/>
    <a:srgbClr val="1C8F57"/>
    <a:srgbClr val="A3E96B"/>
    <a:srgbClr val="6A6A6A"/>
    <a:srgbClr val="F2F2F2"/>
    <a:srgbClr val="E6FDD6"/>
    <a:srgbClr val="0F3A32"/>
    <a:srgbClr val="FF3838"/>
    <a:srgbClr val="FF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75" autoAdjust="0"/>
    <p:restoredTop sz="97384" autoAdjust="0"/>
  </p:normalViewPr>
  <p:slideViewPr>
    <p:cSldViewPr snapToGrid="0" showGuides="1">
      <p:cViewPr>
        <p:scale>
          <a:sx n="100" d="100"/>
          <a:sy n="100" d="100"/>
        </p:scale>
        <p:origin x="3756" y="1314"/>
      </p:cViewPr>
      <p:guideLst>
        <p:guide pos="5955"/>
        <p:guide orient="horz" pos="1253"/>
        <p:guide orient="horz" pos="1366"/>
        <p:guide orient="horz" pos="374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09" d="100"/>
          <a:sy n="109" d="100"/>
        </p:scale>
        <p:origin x="523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거래건수</c:v>
                </c:pt>
              </c:strCache>
            </c:strRef>
          </c:tx>
          <c:spPr>
            <a:solidFill>
              <a:srgbClr val="26C2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0" tIns="0" rIns="0" bIns="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25 Q1</c:v>
                </c:pt>
              </c:strCache>
            </c:strRef>
          </c:cat>
          <c:val>
            <c:numRef>
              <c:f>Sheet1!$B$2:$B$12</c:f>
              <c:numCache>
                <c:formatCode>#,##0;\(#,##0\);"-"</c:formatCode>
                <c:ptCount val="11"/>
                <c:pt idx="0">
                  <c:v>105.41666666666666</c:v>
                </c:pt>
                <c:pt idx="1">
                  <c:v>113.66666666666667</c:v>
                </c:pt>
                <c:pt idx="2">
                  <c:v>107.25</c:v>
                </c:pt>
                <c:pt idx="3">
                  <c:v>147.125</c:v>
                </c:pt>
                <c:pt idx="4">
                  <c:v>173.70833333333334</c:v>
                </c:pt>
                <c:pt idx="5">
                  <c:v>231.45833333333334</c:v>
                </c:pt>
                <c:pt idx="6">
                  <c:v>349.25</c:v>
                </c:pt>
                <c:pt idx="7">
                  <c:v>294.70833333333331</c:v>
                </c:pt>
                <c:pt idx="8">
                  <c:v>156.75</c:v>
                </c:pt>
                <c:pt idx="9">
                  <c:v>172.33333333333334</c:v>
                </c:pt>
                <c:pt idx="10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66-4491-B29A-99B2455858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437636127"/>
        <c:axId val="1437636607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</c:v>
                </c:pt>
              </c:strCache>
            </c:strRef>
          </c:tx>
          <c:spPr>
            <a:ln w="19050" cap="rnd">
              <a:solidFill>
                <a:srgbClr val="1C8F57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9050">
                <a:solidFill>
                  <a:srgbClr val="1C8F57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0" tIns="0" rIns="0" bIns="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25 Q1</c:v>
                </c:pt>
              </c:strCache>
            </c:strRef>
          </c:cat>
          <c:val>
            <c:numRef>
              <c:f>Sheet1!$C$2:$C$12</c:f>
              <c:numCache>
                <c:formatCode>0%</c:formatCode>
                <c:ptCount val="11"/>
                <c:pt idx="0">
                  <c:v>-0.11538461538461553</c:v>
                </c:pt>
                <c:pt idx="1">
                  <c:v>7.8260869565217606E-2</c:v>
                </c:pt>
                <c:pt idx="2">
                  <c:v>-5.6451612903225867E-2</c:v>
                </c:pt>
                <c:pt idx="3">
                  <c:v>0.37179487179487181</c:v>
                </c:pt>
                <c:pt idx="4">
                  <c:v>0.18068535825545173</c:v>
                </c:pt>
                <c:pt idx="5">
                  <c:v>0.33245382585751981</c:v>
                </c:pt>
                <c:pt idx="6">
                  <c:v>0.50891089108910892</c:v>
                </c:pt>
                <c:pt idx="7">
                  <c:v>-0.15616797900262469</c:v>
                </c:pt>
                <c:pt idx="8">
                  <c:v>-0.4681181959564541</c:v>
                </c:pt>
                <c:pt idx="9">
                  <c:v>9.9415204678362734E-2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66-4491-B29A-99B2455858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4002095"/>
        <c:axId val="484001615"/>
      </c:lineChart>
      <c:catAx>
        <c:axId val="14376361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6A6A6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37636607"/>
        <c:crosses val="autoZero"/>
        <c:auto val="1"/>
        <c:lblAlgn val="ctr"/>
        <c:lblOffset val="100"/>
        <c:noMultiLvlLbl val="0"/>
      </c:catAx>
      <c:valAx>
        <c:axId val="1437636607"/>
        <c:scaling>
          <c:orientation val="minMax"/>
          <c:max val="500"/>
          <c:min val="0"/>
        </c:scaling>
        <c:delete val="0"/>
        <c:axPos val="l"/>
        <c:numFmt formatCode="#,##0;\(#,##0\);&quot;-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37636127"/>
        <c:crosses val="autoZero"/>
        <c:crossBetween val="between"/>
      </c:valAx>
      <c:valAx>
        <c:axId val="484001615"/>
        <c:scaling>
          <c:orientation val="minMax"/>
          <c:max val="0.60000000000000009"/>
          <c:min val="-2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84002095"/>
        <c:crosses val="max"/>
        <c:crossBetween val="between"/>
      </c:valAx>
      <c:catAx>
        <c:axId val="48400209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840016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26C260"/>
            </a:solidFill>
            <a:ln>
              <a:noFill/>
            </a:ln>
            <a:effectLst/>
          </c:spPr>
          <c:invertIfNegative val="0"/>
          <c:dLbls>
            <c:dLbl>
              <c:idx val="7"/>
              <c:tx>
                <c:rich>
                  <a:bodyPr/>
                  <a:lstStyle/>
                  <a:p>
                    <a:r>
                      <a:rPr lang="en-US" altLang="ko-KR"/>
                      <a:t>69.1</a:t>
                    </a:r>
                    <a:endParaRPr lang="en-US" altLang="ko-KR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957-4103-8A49-43A6DAE4ACD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0" tIns="0" rIns="0" bIns="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22 Q1</c:v>
                </c:pt>
                <c:pt idx="1">
                  <c:v>22 Q2</c:v>
                </c:pt>
                <c:pt idx="2">
                  <c:v>22 Q3</c:v>
                </c:pt>
                <c:pt idx="3">
                  <c:v>22 Q4</c:v>
                </c:pt>
                <c:pt idx="4">
                  <c:v>23 Q1</c:v>
                </c:pt>
                <c:pt idx="5">
                  <c:v>23 Q2</c:v>
                </c:pt>
                <c:pt idx="6">
                  <c:v>23 Q3</c:v>
                </c:pt>
                <c:pt idx="7">
                  <c:v>23 Q4</c:v>
                </c:pt>
                <c:pt idx="8">
                  <c:v>24 Q1</c:v>
                </c:pt>
                <c:pt idx="9">
                  <c:v>24 Q2</c:v>
                </c:pt>
                <c:pt idx="10">
                  <c:v>24 Q3</c:v>
                </c:pt>
                <c:pt idx="11">
                  <c:v>24 Q4</c:v>
                </c:pt>
                <c:pt idx="12">
                  <c:v>25 Q1</c:v>
                </c:pt>
              </c:strCache>
            </c:strRef>
          </c:cat>
          <c:val>
            <c:numRef>
              <c:f>Sheet1!$B$2:$B$14</c:f>
              <c:numCache>
                <c:formatCode>#,##0.0;\(#,##0.0\);"-"</c:formatCode>
                <c:ptCount val="13"/>
                <c:pt idx="0">
                  <c:v>11.1</c:v>
                </c:pt>
                <c:pt idx="1">
                  <c:v>16.3</c:v>
                </c:pt>
                <c:pt idx="2">
                  <c:v>7.1</c:v>
                </c:pt>
                <c:pt idx="3">
                  <c:v>4.9000000000000004</c:v>
                </c:pt>
                <c:pt idx="4">
                  <c:v>0.7</c:v>
                </c:pt>
                <c:pt idx="5">
                  <c:v>0.6</c:v>
                </c:pt>
                <c:pt idx="6">
                  <c:v>6.2</c:v>
                </c:pt>
                <c:pt idx="7">
                  <c:v>30</c:v>
                </c:pt>
                <c:pt idx="8">
                  <c:v>3.2</c:v>
                </c:pt>
                <c:pt idx="9">
                  <c:v>0.7</c:v>
                </c:pt>
                <c:pt idx="10">
                  <c:v>0.6</c:v>
                </c:pt>
                <c:pt idx="11">
                  <c:v>4.9000000000000004</c:v>
                </c:pt>
                <c:pt idx="12">
                  <c:v>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57-4103-8A49-43A6DAE4A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143449520"/>
        <c:axId val="1143444240"/>
      </c:barChart>
      <c:catAx>
        <c:axId val="1143449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6A6A6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43444240"/>
        <c:crosses val="autoZero"/>
        <c:auto val="1"/>
        <c:lblAlgn val="ctr"/>
        <c:lblOffset val="100"/>
        <c:noMultiLvlLbl val="0"/>
      </c:catAx>
      <c:valAx>
        <c:axId val="1143444240"/>
        <c:scaling>
          <c:orientation val="minMax"/>
          <c:max val="33"/>
          <c:min val="0"/>
        </c:scaling>
        <c:delete val="0"/>
        <c:axPos val="l"/>
        <c:numFmt formatCode="#,##0.0;\(#,##0.0\);&quot;-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43449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SPAC 상장</c:v>
                </c:pt>
              </c:strCache>
            </c:strRef>
          </c:tx>
          <c:spPr>
            <a:solidFill>
              <a:srgbClr val="1C8F5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0" tIns="0" rIns="0" bIns="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</c:v>
                </c:pt>
                <c:pt idx="1">
                  <c:v>248</c:v>
                </c:pt>
                <c:pt idx="2">
                  <c:v>613</c:v>
                </c:pt>
                <c:pt idx="3">
                  <c:v>86</c:v>
                </c:pt>
                <c:pt idx="4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BA-4355-82AA-C34E8FC2AB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SPAC 합병상장</c:v>
                </c:pt>
              </c:strCache>
            </c:strRef>
          </c:tx>
          <c:spPr>
            <a:solidFill>
              <a:srgbClr val="A3E96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0" tIns="0" rIns="0" bIns="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28</c:v>
                </c:pt>
                <c:pt idx="1">
                  <c:v>64</c:v>
                </c:pt>
                <c:pt idx="2">
                  <c:v>200</c:v>
                </c:pt>
                <c:pt idx="3">
                  <c:v>102</c:v>
                </c:pt>
                <c:pt idx="4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BA-4355-82AA-C34E8FC2AB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overlap val="-25"/>
        <c:axId val="1575585295"/>
        <c:axId val="1575608335"/>
      </c:barChart>
      <c:catAx>
        <c:axId val="157558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6A6A6A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75608335"/>
        <c:crosses val="autoZero"/>
        <c:auto val="1"/>
        <c:lblAlgn val="ctr"/>
        <c:lblOffset val="100"/>
        <c:noMultiLvlLbl val="0"/>
      </c:catAx>
      <c:valAx>
        <c:axId val="157560833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755852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B12D9F9-0D73-FA9C-9567-0D2EDC03F2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DDC3307-0AD4-BB88-7BEB-A583A8AF2E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B6DD3-10D0-4E94-9B57-485DC69B4E9D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6F0FCC-8CED-378C-8460-87FCC68F3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0BFFF3-C18E-475B-3D21-266D273E39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BFF77-EDF0-439C-A29E-838A93E026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43772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17BD4-412C-4036-BA3A-F77995BB0B9D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4B846C-C851-40D6-90BA-1F97CB71F5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793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6386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암초, 어둠, 야외, 자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290648-4A35-8FE1-E072-FF4D31F961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8" b="58305"/>
          <a:stretch>
            <a:fillRect/>
          </a:stretch>
        </p:blipFill>
        <p:spPr>
          <a:xfrm>
            <a:off x="0" y="0"/>
            <a:ext cx="9907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56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PG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EBACC888-D2EC-7094-B366-60B6782248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01000" y="6087781"/>
            <a:ext cx="252000" cy="153888"/>
          </a:xfrm>
          <a:prstGeom prst="rect">
            <a:avLst/>
          </a:prstGeom>
        </p:spPr>
        <p:txBody>
          <a:bodyPr vert="horz" wrap="square" lIns="72000" tIns="0" rIns="0" bIns="0" rtlCol="0" anchor="ctr">
            <a:spAutoFit/>
          </a:bodyPr>
          <a:lstStyle>
            <a:lvl1pPr algn="r">
              <a:defRPr lang="ko-KR" altLang="en-US" sz="1000" b="0" smtClean="0">
                <a:solidFill>
                  <a:srgbClr val="0F3A32"/>
                </a:solidFill>
              </a:defRPr>
            </a:lvl1pPr>
          </a:lstStyle>
          <a:p>
            <a:fld id="{C053318C-A610-4AA5-9FF7-26630BAA1E31}" type="slidenum">
              <a:rPr lang="en-US" altLang="ko-KR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02635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3" orient="horz" pos="3748" userDrawn="1">
          <p15:clr>
            <a:srgbClr val="FBAE40"/>
          </p15:clr>
        </p15:guide>
        <p15:guide id="4" orient="horz" pos="57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0B4FD9E0-5AC5-F0E3-DE1A-246AD9F4CC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000" y="549275"/>
            <a:ext cx="9000000" cy="4308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none" spc="-30" baseline="0">
                <a:solidFill>
                  <a:srgbClr val="0F3A3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altLang="ko-KR" dirty="0"/>
              <a:t>Page Title</a:t>
            </a:r>
            <a:endParaRPr lang="ko-KR" altLang="en-US" dirty="0"/>
          </a:p>
        </p:txBody>
      </p:sp>
      <p:sp>
        <p:nvSpPr>
          <p:cNvPr id="7" name="텍스트 개체 틀 12">
            <a:extLst>
              <a:ext uri="{FF2B5EF4-FFF2-40B4-BE49-F238E27FC236}">
                <a16:creationId xmlns:a16="http://schemas.microsoft.com/office/drawing/2014/main" id="{1BE9C345-FBCC-E1A7-EB5D-A1BCA98A6A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75163" y="6020725"/>
            <a:ext cx="6845837" cy="288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altLang="ko-KR" dirty="0"/>
              <a:t>Footnote Box</a:t>
            </a:r>
            <a:endParaRPr lang="ko-KR" altLang="en-US" dirty="0"/>
          </a:p>
        </p:txBody>
      </p: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EBACC888-D2EC-7094-B366-60B6782248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01000" y="6087781"/>
            <a:ext cx="252000" cy="153888"/>
          </a:xfrm>
          <a:prstGeom prst="rect">
            <a:avLst/>
          </a:prstGeom>
        </p:spPr>
        <p:txBody>
          <a:bodyPr vert="horz" wrap="square" lIns="72000" tIns="0" rIns="0" bIns="0" rtlCol="0" anchor="ctr">
            <a:spAutoFit/>
          </a:bodyPr>
          <a:lstStyle>
            <a:lvl1pPr algn="r">
              <a:defRPr lang="ko-KR" altLang="en-US" sz="1000" b="0" smtClean="0">
                <a:solidFill>
                  <a:srgbClr val="0F3A32"/>
                </a:solidFill>
              </a:defRPr>
            </a:lvl1pPr>
          </a:lstStyle>
          <a:p>
            <a:fld id="{C053318C-A610-4AA5-9FF7-26630BAA1E31}" type="slidenum">
              <a:rPr lang="en-US" altLang="ko-KR" smtClean="0"/>
              <a:pPr/>
              <a:t>‹#›</a:t>
            </a:fld>
            <a:endParaRPr lang="en-US" dirty="0"/>
          </a:p>
        </p:txBody>
      </p:sp>
      <p:pic>
        <p:nvPicPr>
          <p:cNvPr id="23" name="그래픽 22">
            <a:extLst>
              <a:ext uri="{FF2B5EF4-FFF2-40B4-BE49-F238E27FC236}">
                <a16:creationId xmlns:a16="http://schemas.microsoft.com/office/drawing/2014/main" id="{993F8B13-CA41-9FF3-CEB3-9890383AC2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000" y="6074725"/>
            <a:ext cx="1362163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69169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orient="horz" pos="754" userDrawn="1">
          <p15:clr>
            <a:srgbClr val="FBAE40"/>
          </p15:clr>
        </p15:guide>
        <p15:guide id="3" orient="horz" pos="3748" userDrawn="1">
          <p15:clr>
            <a:srgbClr val="FBAE40"/>
          </p15:clr>
        </p15:guide>
        <p15:guide id="5" orient="horz" pos="618" userDrawn="1">
          <p15:clr>
            <a:srgbClr val="FBAE40"/>
          </p15:clr>
        </p15:guide>
        <p15:guide id="6" orient="horz" pos="107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_w/Anders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0B4FD9E0-5AC5-F0E3-DE1A-246AD9F4CC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000" y="549275"/>
            <a:ext cx="9000000" cy="4308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none" spc="-30" baseline="0">
                <a:solidFill>
                  <a:srgbClr val="0F3A3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altLang="ko-KR" dirty="0"/>
              <a:t>Page Title</a:t>
            </a:r>
            <a:endParaRPr lang="ko-KR" altLang="en-US" dirty="0"/>
          </a:p>
        </p:txBody>
      </p:sp>
      <p:sp>
        <p:nvSpPr>
          <p:cNvPr id="7" name="텍스트 개체 틀 12">
            <a:extLst>
              <a:ext uri="{FF2B5EF4-FFF2-40B4-BE49-F238E27FC236}">
                <a16:creationId xmlns:a16="http://schemas.microsoft.com/office/drawing/2014/main" id="{1BE9C345-FBCC-E1A7-EB5D-A1BCA98A6A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58425" y="6020725"/>
            <a:ext cx="6062575" cy="288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altLang="ko-KR" dirty="0"/>
              <a:t>Footnote Box</a:t>
            </a:r>
            <a:endParaRPr lang="ko-KR" altLang="en-US" dirty="0"/>
          </a:p>
        </p:txBody>
      </p: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EBACC888-D2EC-7094-B366-60B6782248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01000" y="6087781"/>
            <a:ext cx="252000" cy="153888"/>
          </a:xfrm>
          <a:prstGeom prst="rect">
            <a:avLst/>
          </a:prstGeom>
        </p:spPr>
        <p:txBody>
          <a:bodyPr vert="horz" wrap="square" lIns="72000" tIns="0" rIns="0" bIns="0" rtlCol="0" anchor="ctr">
            <a:spAutoFit/>
          </a:bodyPr>
          <a:lstStyle>
            <a:lvl1pPr algn="r">
              <a:defRPr lang="ko-KR" altLang="en-US" sz="1000" b="0" smtClean="0">
                <a:solidFill>
                  <a:srgbClr val="0F3A32"/>
                </a:solidFill>
              </a:defRPr>
            </a:lvl1pPr>
          </a:lstStyle>
          <a:p>
            <a:fld id="{C053318C-A610-4AA5-9FF7-26630BAA1E31}" type="slidenum">
              <a:rPr lang="en-US" altLang="ko-KR" smtClean="0"/>
              <a:pPr/>
              <a:t>‹#›</a:t>
            </a:fld>
            <a:endParaRPr 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5573DDD-4F45-9398-6499-D7269C13777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53000" y="6056725"/>
            <a:ext cx="2253425" cy="198000"/>
            <a:chOff x="623889" y="598933"/>
            <a:chExt cx="8448818" cy="742366"/>
          </a:xfrm>
        </p:grpSpPr>
        <p:pic>
          <p:nvPicPr>
            <p:cNvPr id="12" name="그래픽 11">
              <a:extLst>
                <a:ext uri="{FF2B5EF4-FFF2-40B4-BE49-F238E27FC236}">
                  <a16:creationId xmlns:a16="http://schemas.microsoft.com/office/drawing/2014/main" id="{14CBB4AF-4B62-C23D-1FEF-2929F5B529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75515" y="657299"/>
              <a:ext cx="3597192" cy="684000"/>
            </a:xfrm>
            <a:prstGeom prst="rect">
              <a:avLst/>
            </a:prstGeom>
          </p:spPr>
        </p:pic>
        <p:pic>
          <p:nvPicPr>
            <p:cNvPr id="13" name="Picture 8">
              <a:extLst>
                <a:ext uri="{FF2B5EF4-FFF2-40B4-BE49-F238E27FC236}">
                  <a16:creationId xmlns:a16="http://schemas.microsoft.com/office/drawing/2014/main" id="{7EC1F7B2-C3E5-42D9-50BF-71B37DC6A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3889" y="598933"/>
              <a:ext cx="4851626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828621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orient="horz" pos="754">
          <p15:clr>
            <a:srgbClr val="FBAE40"/>
          </p15:clr>
        </p15:guide>
        <p15:guide id="3" orient="horz" pos="3748">
          <p15:clr>
            <a:srgbClr val="FBAE40"/>
          </p15:clr>
        </p15:guide>
        <p15:guide id="5" orient="horz" pos="618">
          <p15:clr>
            <a:srgbClr val="FBAE40"/>
          </p15:clr>
        </p15:guide>
        <p15:guide id="6" orient="horz" pos="107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그룹 56">
            <a:extLst>
              <a:ext uri="{FF2B5EF4-FFF2-40B4-BE49-F238E27FC236}">
                <a16:creationId xmlns:a16="http://schemas.microsoft.com/office/drawing/2014/main" id="{DC2C7A55-5541-E072-FACF-5B951038D15E}"/>
              </a:ext>
            </a:extLst>
          </p:cNvPr>
          <p:cNvGrpSpPr/>
          <p:nvPr userDrawn="1"/>
        </p:nvGrpSpPr>
        <p:grpSpPr>
          <a:xfrm>
            <a:off x="-1332000" y="0"/>
            <a:ext cx="1260000" cy="5147998"/>
            <a:chOff x="-1332000" y="251999"/>
            <a:chExt cx="1260000" cy="5147998"/>
          </a:xfrm>
        </p:grpSpPr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6A9B4B0E-E4CB-BEB4-725A-783E0C8E451B}"/>
                </a:ext>
              </a:extLst>
            </p:cNvPr>
            <p:cNvGrpSpPr/>
            <p:nvPr userDrawn="1"/>
          </p:nvGrpSpPr>
          <p:grpSpPr>
            <a:xfrm>
              <a:off x="-1332000" y="251999"/>
              <a:ext cx="1260000" cy="1440000"/>
              <a:chOff x="-1332000" y="251999"/>
              <a:chExt cx="1260000" cy="1440000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0FBDDD21-17AA-9039-4C59-66C46717204B}"/>
                  </a:ext>
                </a:extLst>
              </p:cNvPr>
              <p:cNvSpPr/>
              <p:nvPr userDrawn="1"/>
            </p:nvSpPr>
            <p:spPr>
              <a:xfrm>
                <a:off x="-1332000" y="251999"/>
                <a:ext cx="1260000" cy="576000"/>
              </a:xfrm>
              <a:prstGeom prst="rect">
                <a:avLst/>
              </a:prstGeom>
              <a:solidFill>
                <a:srgbClr val="0F3A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Signature Green</a:t>
                </a:r>
              </a:p>
              <a:p>
                <a:pPr algn="l"/>
                <a:r>
                  <a:rPr lang="en-US" altLang="ko-KR" sz="800" b="0" dirty="0">
                    <a:solidFill>
                      <a:schemeClr val="bg1"/>
                    </a:solidFill>
                  </a:rPr>
                  <a:t>Primary Color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5BAA68D9-0007-1137-8E9E-65F8F249E8B3}"/>
                  </a:ext>
                </a:extLst>
              </p:cNvPr>
              <p:cNvSpPr/>
              <p:nvPr userDrawn="1"/>
            </p:nvSpPr>
            <p:spPr>
              <a:xfrm>
                <a:off x="-1332000" y="1115999"/>
                <a:ext cx="1260000" cy="576000"/>
              </a:xfrm>
              <a:prstGeom prst="rect">
                <a:avLst/>
              </a:prstGeom>
              <a:solidFill>
                <a:srgbClr val="26C2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Highlight Green</a:t>
                </a:r>
              </a:p>
              <a:p>
                <a:pPr algn="l"/>
                <a:r>
                  <a:rPr lang="en-US" altLang="ko-KR" sz="800" dirty="0">
                    <a:solidFill>
                      <a:schemeClr val="bg1"/>
                    </a:solidFill>
                  </a:rPr>
                  <a:t>Primary Color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ED47E68C-019C-8A2F-492D-27B9D3AF84EE}"/>
                  </a:ext>
                </a:extLst>
              </p:cNvPr>
              <p:cNvSpPr/>
              <p:nvPr userDrawn="1"/>
            </p:nvSpPr>
            <p:spPr>
              <a:xfrm>
                <a:off x="-1332000" y="827999"/>
                <a:ext cx="252000" cy="288000"/>
              </a:xfrm>
              <a:prstGeom prst="rect">
                <a:avLst/>
              </a:prstGeom>
              <a:solidFill>
                <a:srgbClr val="E6FDD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760D7CC4-4A15-5FED-68A7-1993F1727F1B}"/>
                  </a:ext>
                </a:extLst>
              </p:cNvPr>
              <p:cNvSpPr/>
              <p:nvPr userDrawn="1"/>
            </p:nvSpPr>
            <p:spPr>
              <a:xfrm>
                <a:off x="-828000" y="827999"/>
                <a:ext cx="252000" cy="288000"/>
              </a:xfrm>
              <a:prstGeom prst="rect">
                <a:avLst/>
              </a:prstGeom>
              <a:solidFill>
                <a:srgbClr val="26C2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31388674-7E06-90B3-8CC9-C5FBE25B5A8D}"/>
                  </a:ext>
                </a:extLst>
              </p:cNvPr>
              <p:cNvSpPr/>
              <p:nvPr userDrawn="1"/>
            </p:nvSpPr>
            <p:spPr>
              <a:xfrm>
                <a:off x="-576000" y="827999"/>
                <a:ext cx="252000" cy="288000"/>
              </a:xfrm>
              <a:prstGeom prst="rect">
                <a:avLst/>
              </a:prstGeom>
              <a:solidFill>
                <a:srgbClr val="1C8F5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2E15722A-1E25-70E9-8E06-B675AE8E502C}"/>
                  </a:ext>
                </a:extLst>
              </p:cNvPr>
              <p:cNvSpPr/>
              <p:nvPr userDrawn="1"/>
            </p:nvSpPr>
            <p:spPr>
              <a:xfrm>
                <a:off x="-324000" y="827999"/>
                <a:ext cx="252000" cy="288000"/>
              </a:xfrm>
              <a:prstGeom prst="rect">
                <a:avLst/>
              </a:prstGeom>
              <a:solidFill>
                <a:srgbClr val="0F3A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CA4CDF29-3C6C-C492-9A89-838C3E6FCC2A}"/>
                  </a:ext>
                </a:extLst>
              </p:cNvPr>
              <p:cNvSpPr/>
              <p:nvPr userDrawn="1"/>
            </p:nvSpPr>
            <p:spPr>
              <a:xfrm>
                <a:off x="-1080000" y="827999"/>
                <a:ext cx="252000" cy="288000"/>
              </a:xfrm>
              <a:prstGeom prst="rect">
                <a:avLst/>
              </a:prstGeom>
              <a:solidFill>
                <a:srgbClr val="A3E9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5D6BC0DD-AA10-0C54-2348-EEC86A9525F4}"/>
                </a:ext>
              </a:extLst>
            </p:cNvPr>
            <p:cNvGrpSpPr/>
            <p:nvPr userDrawn="1"/>
          </p:nvGrpSpPr>
          <p:grpSpPr>
            <a:xfrm>
              <a:off x="-1332000" y="1871998"/>
              <a:ext cx="1260000" cy="1440000"/>
              <a:chOff x="-1332000" y="1799999"/>
              <a:chExt cx="1260000" cy="1440000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BEBFBD1D-995E-1E73-010F-50D3B0E83929}"/>
                  </a:ext>
                </a:extLst>
              </p:cNvPr>
              <p:cNvSpPr/>
              <p:nvPr userDrawn="1"/>
            </p:nvSpPr>
            <p:spPr>
              <a:xfrm>
                <a:off x="-1332000" y="1799999"/>
                <a:ext cx="1260000" cy="576000"/>
              </a:xfrm>
              <a:prstGeom prst="rect">
                <a:avLst/>
              </a:prstGeom>
              <a:solidFill>
                <a:srgbClr val="2A2A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Dark Gray</a:t>
                </a:r>
              </a:p>
              <a:p>
                <a:pPr algn="l"/>
                <a:r>
                  <a:rPr lang="en-US" altLang="ko-KR" sz="800" b="0" dirty="0">
                    <a:solidFill>
                      <a:schemeClr val="bg1"/>
                    </a:solidFill>
                  </a:rPr>
                  <a:t>Text Color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6440A180-6C32-2570-A740-930E8D9B706B}"/>
                  </a:ext>
                </a:extLst>
              </p:cNvPr>
              <p:cNvSpPr/>
              <p:nvPr userDrawn="1"/>
            </p:nvSpPr>
            <p:spPr>
              <a:xfrm>
                <a:off x="-1332000" y="2663999"/>
                <a:ext cx="1260000" cy="576000"/>
              </a:xfrm>
              <a:prstGeom prst="rect">
                <a:avLst/>
              </a:prstGeom>
              <a:solidFill>
                <a:srgbClr val="6A6A6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Mid Gray</a:t>
                </a:r>
              </a:p>
              <a:p>
                <a:pPr algn="l"/>
                <a:r>
                  <a:rPr lang="en-US" altLang="ko-KR" sz="800" dirty="0">
                    <a:solidFill>
                      <a:schemeClr val="bg1"/>
                    </a:solidFill>
                  </a:rPr>
                  <a:t>Line Color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9409EDCF-481E-435E-718F-1CC9D7D51B2F}"/>
                  </a:ext>
                </a:extLst>
              </p:cNvPr>
              <p:cNvSpPr/>
              <p:nvPr userDrawn="1"/>
            </p:nvSpPr>
            <p:spPr>
              <a:xfrm>
                <a:off x="-1332000" y="2375999"/>
                <a:ext cx="252000" cy="288000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DB6F4259-DC9C-A7E1-E051-7D220EC304A7}"/>
                  </a:ext>
                </a:extLst>
              </p:cNvPr>
              <p:cNvSpPr/>
              <p:nvPr userDrawn="1"/>
            </p:nvSpPr>
            <p:spPr>
              <a:xfrm>
                <a:off x="-828000" y="2375999"/>
                <a:ext cx="252000" cy="288000"/>
              </a:xfrm>
              <a:prstGeom prst="rect">
                <a:avLst/>
              </a:prstGeom>
              <a:solidFill>
                <a:srgbClr val="6A6A6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F3781F1C-B0CE-957D-45AE-27111159DD3D}"/>
                  </a:ext>
                </a:extLst>
              </p:cNvPr>
              <p:cNvSpPr/>
              <p:nvPr userDrawn="1"/>
            </p:nvSpPr>
            <p:spPr>
              <a:xfrm>
                <a:off x="-576000" y="2375999"/>
                <a:ext cx="252000" cy="288000"/>
              </a:xfrm>
              <a:prstGeom prst="rect">
                <a:avLst/>
              </a:prstGeom>
              <a:solidFill>
                <a:srgbClr val="3A3A3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68F6B58C-2C33-8060-3265-CAEA9C07CF35}"/>
                  </a:ext>
                </a:extLst>
              </p:cNvPr>
              <p:cNvSpPr/>
              <p:nvPr userDrawn="1"/>
            </p:nvSpPr>
            <p:spPr>
              <a:xfrm>
                <a:off x="-324000" y="2375999"/>
                <a:ext cx="252000" cy="288000"/>
              </a:xfrm>
              <a:prstGeom prst="rect">
                <a:avLst/>
              </a:prstGeom>
              <a:solidFill>
                <a:srgbClr val="2A2A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35F1958F-E80E-E3AB-0F20-4F04A89ED80C}"/>
                  </a:ext>
                </a:extLst>
              </p:cNvPr>
              <p:cNvSpPr/>
              <p:nvPr userDrawn="1"/>
            </p:nvSpPr>
            <p:spPr>
              <a:xfrm>
                <a:off x="-1080000" y="2375999"/>
                <a:ext cx="252000" cy="288000"/>
              </a:xfrm>
              <a:prstGeom prst="rect">
                <a:avLst/>
              </a:prstGeom>
              <a:solidFill>
                <a:srgbClr val="B0B0B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ADF573A2-D377-75AA-94BE-1431A1250DA9}"/>
                </a:ext>
              </a:extLst>
            </p:cNvPr>
            <p:cNvGrpSpPr/>
            <p:nvPr userDrawn="1"/>
          </p:nvGrpSpPr>
          <p:grpSpPr>
            <a:xfrm>
              <a:off x="-1332000" y="3491998"/>
              <a:ext cx="1260000" cy="864000"/>
              <a:chOff x="-1332000" y="3491998"/>
              <a:chExt cx="1260000" cy="864000"/>
            </a:xfrm>
          </p:grpSpPr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33F5513E-EA52-4A9E-918D-65D6DA5AC603}"/>
                  </a:ext>
                </a:extLst>
              </p:cNvPr>
              <p:cNvSpPr/>
              <p:nvPr userDrawn="1"/>
            </p:nvSpPr>
            <p:spPr>
              <a:xfrm>
                <a:off x="-1332000" y="3491998"/>
                <a:ext cx="1260000" cy="576000"/>
              </a:xfrm>
              <a:prstGeom prst="rect">
                <a:avLst/>
              </a:prstGeom>
              <a:solidFill>
                <a:srgbClr val="FF3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Highlight Red</a:t>
                </a:r>
              </a:p>
              <a:p>
                <a:pPr algn="l"/>
                <a:r>
                  <a:rPr lang="en-US" altLang="ko-KR" sz="800" b="0" dirty="0">
                    <a:solidFill>
                      <a:schemeClr val="bg1"/>
                    </a:solidFill>
                  </a:rPr>
                  <a:t>Sub Highlighter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EFE9F0A4-6AFC-6162-CD7E-F91270632D24}"/>
                  </a:ext>
                </a:extLst>
              </p:cNvPr>
              <p:cNvSpPr/>
              <p:nvPr userDrawn="1"/>
            </p:nvSpPr>
            <p:spPr>
              <a:xfrm>
                <a:off x="-1332000" y="4067998"/>
                <a:ext cx="252000" cy="288000"/>
              </a:xfrm>
              <a:prstGeom prst="rect">
                <a:avLst/>
              </a:prstGeom>
              <a:solidFill>
                <a:srgbClr val="FFECE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0D16E1DD-6F4F-B14D-0CC9-A41731A6DAFD}"/>
                  </a:ext>
                </a:extLst>
              </p:cNvPr>
              <p:cNvSpPr/>
              <p:nvPr userDrawn="1"/>
            </p:nvSpPr>
            <p:spPr>
              <a:xfrm>
                <a:off x="-828000" y="4067998"/>
                <a:ext cx="252000" cy="288000"/>
              </a:xfrm>
              <a:prstGeom prst="rect">
                <a:avLst/>
              </a:prstGeom>
              <a:solidFill>
                <a:srgbClr val="FF3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46F6BF42-34B7-D0AE-EAF4-6AB933B7626F}"/>
                  </a:ext>
                </a:extLst>
              </p:cNvPr>
              <p:cNvSpPr/>
              <p:nvPr userDrawn="1"/>
            </p:nvSpPr>
            <p:spPr>
              <a:xfrm>
                <a:off x="-576000" y="4067998"/>
                <a:ext cx="252000" cy="288000"/>
              </a:xfrm>
              <a:prstGeom prst="rect">
                <a:avLst/>
              </a:prstGeom>
              <a:solidFill>
                <a:srgbClr val="CC1E1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5ED8F846-327B-E64A-6409-91C0320EFC7F}"/>
                  </a:ext>
                </a:extLst>
              </p:cNvPr>
              <p:cNvSpPr/>
              <p:nvPr userDrawn="1"/>
            </p:nvSpPr>
            <p:spPr>
              <a:xfrm>
                <a:off x="-324000" y="4067998"/>
                <a:ext cx="252000" cy="288000"/>
              </a:xfrm>
              <a:prstGeom prst="rect">
                <a:avLst/>
              </a:prstGeom>
              <a:solidFill>
                <a:srgbClr val="7A0E0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524FD4E0-95A7-9B35-3797-F2C2D9AF4CB6}"/>
                  </a:ext>
                </a:extLst>
              </p:cNvPr>
              <p:cNvSpPr/>
              <p:nvPr userDrawn="1"/>
            </p:nvSpPr>
            <p:spPr>
              <a:xfrm>
                <a:off x="-1080000" y="4067998"/>
                <a:ext cx="252000" cy="288000"/>
              </a:xfrm>
              <a:prstGeom prst="rect">
                <a:avLst/>
              </a:prstGeom>
              <a:solidFill>
                <a:srgbClr val="FF9A9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E5F24E7A-A3A7-8789-C4C3-1072BFA9257E}"/>
                </a:ext>
              </a:extLst>
            </p:cNvPr>
            <p:cNvGrpSpPr/>
            <p:nvPr userDrawn="1"/>
          </p:nvGrpSpPr>
          <p:grpSpPr>
            <a:xfrm>
              <a:off x="-1332000" y="4535997"/>
              <a:ext cx="1260000" cy="864000"/>
              <a:chOff x="-1332000" y="4535997"/>
              <a:chExt cx="1260000" cy="864000"/>
            </a:xfrm>
          </p:grpSpPr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1D2C58AB-90B4-524A-B1DC-F11DD04CC494}"/>
                  </a:ext>
                </a:extLst>
              </p:cNvPr>
              <p:cNvSpPr/>
              <p:nvPr userDrawn="1"/>
            </p:nvSpPr>
            <p:spPr>
              <a:xfrm>
                <a:off x="-1332000" y="4535997"/>
                <a:ext cx="1260000" cy="576000"/>
              </a:xfrm>
              <a:prstGeom prst="rect">
                <a:avLst/>
              </a:prstGeom>
              <a:solidFill>
                <a:srgbClr val="208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Highlight Blue</a:t>
                </a:r>
              </a:p>
              <a:p>
                <a:pPr algn="l"/>
                <a:r>
                  <a:rPr lang="en-US" altLang="ko-KR" sz="800" dirty="0">
                    <a:solidFill>
                      <a:schemeClr val="bg1"/>
                    </a:solidFill>
                  </a:rPr>
                  <a:t>Sub Highlighter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B39D6648-E04D-845B-4453-383C1FB3568D}"/>
                  </a:ext>
                </a:extLst>
              </p:cNvPr>
              <p:cNvSpPr/>
              <p:nvPr userDrawn="1"/>
            </p:nvSpPr>
            <p:spPr>
              <a:xfrm>
                <a:off x="-1332000" y="5111997"/>
                <a:ext cx="252000" cy="288000"/>
              </a:xfrm>
              <a:prstGeom prst="rect">
                <a:avLst/>
              </a:prstGeom>
              <a:solidFill>
                <a:srgbClr val="E3F1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2ED123F4-424D-20D0-1DEB-41A5B1D56E22}"/>
                  </a:ext>
                </a:extLst>
              </p:cNvPr>
              <p:cNvSpPr/>
              <p:nvPr userDrawn="1"/>
            </p:nvSpPr>
            <p:spPr>
              <a:xfrm>
                <a:off x="-828000" y="5111997"/>
                <a:ext cx="252000" cy="288000"/>
              </a:xfrm>
              <a:prstGeom prst="rect">
                <a:avLst/>
              </a:prstGeom>
              <a:solidFill>
                <a:srgbClr val="208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7583118E-ED62-931B-5F6B-35471B66C178}"/>
                  </a:ext>
                </a:extLst>
              </p:cNvPr>
              <p:cNvSpPr/>
              <p:nvPr userDrawn="1"/>
            </p:nvSpPr>
            <p:spPr>
              <a:xfrm>
                <a:off x="-576000" y="5111997"/>
                <a:ext cx="252000" cy="288000"/>
              </a:xfrm>
              <a:prstGeom prst="rect">
                <a:avLst/>
              </a:prstGeom>
              <a:solidFill>
                <a:srgbClr val="166A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F1FFE7F6-E2AD-5437-E63B-51D62A7FB2B5}"/>
                  </a:ext>
                </a:extLst>
              </p:cNvPr>
              <p:cNvSpPr/>
              <p:nvPr userDrawn="1"/>
            </p:nvSpPr>
            <p:spPr>
              <a:xfrm>
                <a:off x="-324000" y="5111997"/>
                <a:ext cx="252000" cy="288000"/>
              </a:xfrm>
              <a:prstGeom prst="rect">
                <a:avLst/>
              </a:prstGeom>
              <a:solidFill>
                <a:srgbClr val="08316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3B515338-9C5D-CEAA-95E3-1C1186B69108}"/>
                  </a:ext>
                </a:extLst>
              </p:cNvPr>
              <p:cNvSpPr/>
              <p:nvPr userDrawn="1"/>
            </p:nvSpPr>
            <p:spPr>
              <a:xfrm>
                <a:off x="-1080000" y="5111997"/>
                <a:ext cx="252000" cy="288000"/>
              </a:xfrm>
              <a:prstGeom prst="rect">
                <a:avLst/>
              </a:prstGeom>
              <a:solidFill>
                <a:srgbClr val="8AC5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6857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1" r:id="rId2"/>
    <p:sldLayoutId id="2147483669" r:id="rId3"/>
    <p:sldLayoutId id="2147483668" r:id="rId4"/>
    <p:sldLayoutId id="2147483670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6" userDrawn="1">
          <p15:clr>
            <a:srgbClr val="F26B43"/>
          </p15:clr>
        </p15:guide>
        <p15:guide id="2" pos="285" userDrawn="1">
          <p15:clr>
            <a:srgbClr val="F26B43"/>
          </p15:clr>
        </p15:guide>
        <p15:guide id="3" pos="5955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990BFB-7BA5-FB4A-9A92-976181A75BB0}"/>
              </a:ext>
            </a:extLst>
          </p:cNvPr>
          <p:cNvSpPr txBox="1"/>
          <p:nvPr/>
        </p:nvSpPr>
        <p:spPr>
          <a:xfrm>
            <a:off x="7514969" y="685766"/>
            <a:ext cx="1938031" cy="15901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000" dirty="0">
                <a:solidFill>
                  <a:schemeClr val="bg1"/>
                </a:solidFill>
                <a:latin typeface="+mj-lt"/>
                <a:ea typeface="+mj-ea"/>
              </a:rPr>
              <a:t>Strictly Private &amp; Confidential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3F83FA-073A-032F-7A95-7322545686A5}"/>
              </a:ext>
            </a:extLst>
          </p:cNvPr>
          <p:cNvSpPr txBox="1"/>
          <p:nvPr/>
        </p:nvSpPr>
        <p:spPr>
          <a:xfrm>
            <a:off x="452438" y="2930402"/>
            <a:ext cx="5119991" cy="5539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ko-KR" sz="4000" spc="-50" dirty="0">
                <a:solidFill>
                  <a:schemeClr val="bg1"/>
                </a:solidFill>
                <a:latin typeface="+mj-lt"/>
                <a:ea typeface="+mj-ea"/>
              </a:rPr>
              <a:t>DISCUSSION MEMO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2D4F5B-7215-AC37-69C3-D84C6BA481DD}"/>
              </a:ext>
            </a:extLst>
          </p:cNvPr>
          <p:cNvSpPr txBox="1"/>
          <p:nvPr/>
        </p:nvSpPr>
        <p:spPr>
          <a:xfrm>
            <a:off x="452438" y="4592197"/>
            <a:ext cx="1215076" cy="2215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ko-KR" sz="1600" spc="-50" dirty="0">
                <a:solidFill>
                  <a:schemeClr val="bg1"/>
                </a:solidFill>
                <a:latin typeface="SUIT Medium" pitchFamily="50" charset="-127"/>
                <a:ea typeface="SUIT Medium" pitchFamily="50" charset="-127"/>
              </a:rPr>
              <a:t>January 2025</a:t>
            </a:r>
            <a:endParaRPr lang="ko-KR" altLang="en-US" sz="1600" spc="-50" dirty="0">
              <a:solidFill>
                <a:schemeClr val="bg1"/>
              </a:solidFill>
              <a:latin typeface="SUIT Medium" pitchFamily="50" charset="-127"/>
              <a:ea typeface="SUIT Medium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910C79C1-EDBE-55FD-A146-AFBF6F6B29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999" y="549275"/>
            <a:ext cx="2459748" cy="432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9BBD16-D630-0547-4F44-897A7A2A63C4}"/>
              </a:ext>
            </a:extLst>
          </p:cNvPr>
          <p:cNvSpPr txBox="1"/>
          <p:nvPr/>
        </p:nvSpPr>
        <p:spPr>
          <a:xfrm>
            <a:off x="452438" y="3484400"/>
            <a:ext cx="4825039" cy="3323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ko-KR" sz="2400" spc="-50" dirty="0">
                <a:solidFill>
                  <a:schemeClr val="bg1"/>
                </a:solidFill>
                <a:latin typeface="SUIT Medium" pitchFamily="50" charset="-127"/>
                <a:ea typeface="SUIT Medium" pitchFamily="50" charset="-127"/>
              </a:rPr>
              <a:t>Global Game M&amp;A &amp; IPO Overview</a:t>
            </a:r>
            <a:endParaRPr lang="ko-KR" altLang="en-US" sz="2400" spc="-50" dirty="0">
              <a:solidFill>
                <a:schemeClr val="bg1"/>
              </a:solidFill>
              <a:latin typeface="SUIT Medium" pitchFamily="50" charset="-127"/>
              <a:ea typeface="SUIT Medium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6357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0277E9C-1C40-1859-3073-C75B45486F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(1) </a:t>
            </a:r>
            <a:r>
              <a:rPr lang="ko-KR" altLang="en-US" dirty="0"/>
              <a:t>글로벌 </a:t>
            </a:r>
            <a:r>
              <a:rPr lang="en-US" altLang="ko-KR" dirty="0"/>
              <a:t>M&amp;A </a:t>
            </a:r>
            <a:r>
              <a:rPr lang="ko-KR" altLang="en-US" dirty="0"/>
              <a:t>시장의 회복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D86F8B-1402-BE4F-A52E-85BD558C555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Source: Statistica, DDM, KPMG </a:t>
            </a:r>
            <a:r>
              <a:rPr lang="ko-KR" altLang="en-US" dirty="0"/>
              <a:t>경제연구원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BD5847-98B1-26EC-0EFE-7B7FA1FCEBB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2CBEAA-A15C-753B-8765-B17ED7720078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글로벌 게임 산업 </a:t>
            </a:r>
            <a:r>
              <a:rPr lang="en-US" altLang="ko-KR" sz="1400" b="1" dirty="0">
                <a:solidFill>
                  <a:srgbClr val="3D3D3D"/>
                </a:solidFill>
              </a:rPr>
              <a:t>M&amp;A </a:t>
            </a:r>
            <a:r>
              <a:rPr lang="ko-KR" altLang="en-US" sz="1400" b="1" dirty="0">
                <a:solidFill>
                  <a:srgbClr val="3D3D3D"/>
                </a:solidFill>
              </a:rPr>
              <a:t>시장은 </a:t>
            </a:r>
            <a:r>
              <a:rPr lang="en-US" altLang="ko-KR" sz="1400" b="1" dirty="0">
                <a:solidFill>
                  <a:srgbClr val="3D3D3D"/>
                </a:solidFill>
              </a:rPr>
              <a:t>2021</a:t>
            </a:r>
            <a:r>
              <a:rPr lang="ko-KR" altLang="en-US" sz="1400" b="1" dirty="0">
                <a:solidFill>
                  <a:srgbClr val="3D3D3D"/>
                </a:solidFill>
              </a:rPr>
              <a:t>년 이후 글로벌 경기침체의 영향으로 지속적인 하락세를 보였으나 </a:t>
            </a:r>
            <a:r>
              <a:rPr lang="en-US" altLang="ko-KR" sz="1400" b="1" dirty="0">
                <a:solidFill>
                  <a:srgbClr val="3D3D3D"/>
                </a:solidFill>
              </a:rPr>
              <a:t>2024</a:t>
            </a:r>
            <a:r>
              <a:rPr lang="ko-KR" altLang="en-US" sz="1400" b="1" dirty="0">
                <a:solidFill>
                  <a:srgbClr val="3D3D3D"/>
                </a:solidFill>
              </a:rPr>
              <a:t>년부터 회복세를 보이고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 2025</a:t>
            </a:r>
            <a:r>
              <a:rPr lang="ko-KR" altLang="en-US" sz="1400" b="1" dirty="0">
                <a:solidFill>
                  <a:srgbClr val="3D3D3D"/>
                </a:solidFill>
              </a:rPr>
              <a:t>년 </a:t>
            </a:r>
            <a:r>
              <a:rPr lang="en-US" altLang="ko-KR" sz="1400" b="1" dirty="0">
                <a:solidFill>
                  <a:srgbClr val="3D3D3D"/>
                </a:solidFill>
              </a:rPr>
              <a:t>1</a:t>
            </a:r>
            <a:r>
              <a:rPr lang="ko-KR" altLang="en-US" sz="1400" b="1" dirty="0">
                <a:solidFill>
                  <a:srgbClr val="3D3D3D"/>
                </a:solidFill>
              </a:rPr>
              <a:t>분기에도 글로벌 게임 산업 </a:t>
            </a:r>
            <a:r>
              <a:rPr lang="en-US" altLang="ko-KR" sz="1400" b="1" dirty="0">
                <a:solidFill>
                  <a:srgbClr val="3D3D3D"/>
                </a:solidFill>
              </a:rPr>
              <a:t>M&amp;A </a:t>
            </a:r>
            <a:r>
              <a:rPr lang="ko-KR" altLang="en-US" sz="1400" b="1" dirty="0">
                <a:solidFill>
                  <a:srgbClr val="3D3D3D"/>
                </a:solidFill>
              </a:rPr>
              <a:t>거래는 총 </a:t>
            </a:r>
            <a:r>
              <a:rPr lang="en-US" altLang="ko-KR" sz="1400" b="1" dirty="0">
                <a:solidFill>
                  <a:srgbClr val="3D3D3D"/>
                </a:solidFill>
              </a:rPr>
              <a:t>55</a:t>
            </a:r>
            <a:r>
              <a:rPr lang="ko-KR" altLang="en-US" sz="1400" b="1" dirty="0">
                <a:solidFill>
                  <a:srgbClr val="3D3D3D"/>
                </a:solidFill>
              </a:rPr>
              <a:t>건으로 확대되는 추세가 이어지고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52E3E7E-3264-EC5F-0CB3-19EFC4067F7E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연도별 글로벌 게임 산업 </a:t>
            </a:r>
            <a:r>
              <a:rPr lang="en-US" altLang="ko-KR" sz="1200" b="1" dirty="0">
                <a:solidFill>
                  <a:schemeClr val="bg1"/>
                </a:solidFill>
              </a:rPr>
              <a:t>M&amp;A </a:t>
            </a:r>
            <a:r>
              <a:rPr lang="ko-KR" altLang="en-US" sz="1200" b="1" dirty="0">
                <a:solidFill>
                  <a:schemeClr val="bg1"/>
                </a:solidFill>
              </a:rPr>
              <a:t>거래 건수</a:t>
            </a:r>
          </a:p>
        </p:txBody>
      </p:sp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F585C861-60A1-D18C-49EA-E7EBFCFE59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2095339"/>
              </p:ext>
            </p:extLst>
          </p:nvPr>
        </p:nvGraphicFramePr>
        <p:xfrm>
          <a:off x="452999" y="2168524"/>
          <a:ext cx="8999999" cy="3781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605A14D-B451-5BAD-796B-120CFE44986A}"/>
              </a:ext>
            </a:extLst>
          </p:cNvPr>
          <p:cNvSpPr txBox="1"/>
          <p:nvPr/>
        </p:nvSpPr>
        <p:spPr>
          <a:xfrm>
            <a:off x="4208557" y="1780991"/>
            <a:ext cx="636443" cy="126445"/>
          </a:xfrm>
          <a:prstGeom prst="rect">
            <a:avLst/>
          </a:prstGeom>
          <a:noFill/>
        </p:spPr>
        <p:txBody>
          <a:bodyPr wrap="none" lIns="0" tIns="0" rIns="10800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단위</a:t>
            </a:r>
            <a:r>
              <a:rPr lang="en-US" altLang="ko-KR" sz="800" dirty="0">
                <a:solidFill>
                  <a:schemeClr val="bg1"/>
                </a:solidFill>
              </a:rPr>
              <a:t>: </a:t>
            </a:r>
            <a:r>
              <a:rPr lang="ko-KR" altLang="en-US" sz="800" dirty="0">
                <a:solidFill>
                  <a:schemeClr val="bg1"/>
                </a:solidFill>
              </a:rPr>
              <a:t>건</a:t>
            </a:r>
            <a:r>
              <a:rPr lang="en-US" altLang="ko-KR" sz="800" dirty="0">
                <a:solidFill>
                  <a:schemeClr val="bg1"/>
                </a:solidFill>
              </a:rPr>
              <a:t>, %)</a:t>
            </a:r>
            <a:endParaRPr lang="ko-KR" altLang="en-US" sz="8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114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B3432-4D73-1621-7F32-424C09190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81072DA-C3BE-EC05-701A-704B9EC804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(1) </a:t>
            </a:r>
            <a:r>
              <a:rPr lang="ko-KR" altLang="en-US" dirty="0"/>
              <a:t>글로벌 </a:t>
            </a:r>
            <a:r>
              <a:rPr lang="en-US" altLang="ko-KR" dirty="0"/>
              <a:t>M&amp;A </a:t>
            </a:r>
            <a:r>
              <a:rPr lang="ko-KR" altLang="en-US" dirty="0"/>
              <a:t>거래액 추이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9978B2-6317-3BB1-A833-D9C1B85889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Source: Statistica, </a:t>
            </a:r>
            <a:r>
              <a:rPr lang="en-US" altLang="ko-KR" dirty="0" err="1"/>
              <a:t>InvestGame</a:t>
            </a:r>
            <a:r>
              <a:rPr lang="en-US" altLang="ko-KR" dirty="0"/>
              <a:t>, KPMG </a:t>
            </a:r>
            <a:r>
              <a:rPr lang="ko-KR" altLang="en-US" dirty="0"/>
              <a:t>경제연구원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BC04E2-FD9C-AA42-6C62-3AB779DE3D3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1D56B9-8A63-DC35-32DE-D2867D3773B3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분기별 글로벌 게임 산업의 </a:t>
            </a:r>
            <a:r>
              <a:rPr lang="en-US" altLang="ko-KR" sz="1400" b="1" dirty="0">
                <a:solidFill>
                  <a:srgbClr val="3D3D3D"/>
                </a:solidFill>
              </a:rPr>
              <a:t>2025</a:t>
            </a:r>
            <a:r>
              <a:rPr lang="ko-KR" altLang="en-US" sz="1400" b="1" dirty="0">
                <a:solidFill>
                  <a:srgbClr val="3D3D3D"/>
                </a:solidFill>
              </a:rPr>
              <a:t>년 </a:t>
            </a:r>
            <a:r>
              <a:rPr lang="en-US" altLang="ko-KR" sz="1400" b="1" dirty="0">
                <a:solidFill>
                  <a:srgbClr val="3D3D3D"/>
                </a:solidFill>
              </a:rPr>
              <a:t>1</a:t>
            </a:r>
            <a:r>
              <a:rPr lang="ko-KR" altLang="en-US" sz="1400" b="1" dirty="0">
                <a:solidFill>
                  <a:srgbClr val="3D3D3D"/>
                </a:solidFill>
              </a:rPr>
              <a:t>분기 </a:t>
            </a:r>
            <a:r>
              <a:rPr lang="en-US" altLang="ko-KR" sz="1400" b="1" dirty="0">
                <a:solidFill>
                  <a:srgbClr val="3D3D3D"/>
                </a:solidFill>
              </a:rPr>
              <a:t>M&amp;A </a:t>
            </a:r>
            <a:r>
              <a:rPr lang="ko-KR" altLang="en-US" sz="1400" b="1" dirty="0">
                <a:solidFill>
                  <a:srgbClr val="3D3D3D"/>
                </a:solidFill>
              </a:rPr>
              <a:t>거래액 규모는 </a:t>
            </a:r>
            <a:r>
              <a:rPr lang="en-US" altLang="ko-KR" sz="1400" b="1" dirty="0">
                <a:solidFill>
                  <a:srgbClr val="3D3D3D"/>
                </a:solidFill>
              </a:rPr>
              <a:t>66</a:t>
            </a:r>
            <a:r>
              <a:rPr lang="ko-KR" altLang="en-US" sz="1400" b="1" dirty="0">
                <a:solidFill>
                  <a:srgbClr val="3D3D3D"/>
                </a:solidFill>
              </a:rPr>
              <a:t>억 달러로 </a:t>
            </a:r>
            <a:r>
              <a:rPr lang="en-US" altLang="ko-KR" sz="1400" b="1" dirty="0">
                <a:solidFill>
                  <a:srgbClr val="3D3D3D"/>
                </a:solidFill>
              </a:rPr>
              <a:t>2023</a:t>
            </a:r>
            <a:r>
              <a:rPr lang="ko-KR" altLang="en-US" sz="1400" b="1" dirty="0">
                <a:solidFill>
                  <a:srgbClr val="3D3D3D"/>
                </a:solidFill>
              </a:rPr>
              <a:t>년 역대 최고가 거래인 마이크로소프트의 </a:t>
            </a:r>
            <a:r>
              <a:rPr lang="ko-KR" altLang="en-US" sz="1400" b="1" dirty="0" err="1">
                <a:solidFill>
                  <a:srgbClr val="3D3D3D"/>
                </a:solidFill>
              </a:rPr>
              <a:t>액티비전</a:t>
            </a:r>
            <a:r>
              <a:rPr lang="ko-KR" altLang="en-US" sz="1400" b="1" dirty="0">
                <a:solidFill>
                  <a:srgbClr val="3D3D3D"/>
                </a:solidFill>
              </a:rPr>
              <a:t> 블리자드 인수 건을 제외하면 </a:t>
            </a:r>
            <a:r>
              <a:rPr lang="en-US" altLang="ko-KR" sz="1400" b="1" dirty="0">
                <a:solidFill>
                  <a:srgbClr val="3D3D3D"/>
                </a:solidFill>
              </a:rPr>
              <a:t>2022</a:t>
            </a:r>
            <a:r>
              <a:rPr lang="ko-KR" altLang="en-US" sz="1400" b="1" dirty="0">
                <a:solidFill>
                  <a:srgbClr val="3D3D3D"/>
                </a:solidFill>
              </a:rPr>
              <a:t>년 </a:t>
            </a:r>
            <a:r>
              <a:rPr lang="en-US" altLang="ko-KR" sz="1400" b="1" dirty="0">
                <a:solidFill>
                  <a:srgbClr val="3D3D3D"/>
                </a:solidFill>
              </a:rPr>
              <a:t>3</a:t>
            </a:r>
            <a:r>
              <a:rPr lang="ko-KR" altLang="en-US" sz="1400" b="1" dirty="0">
                <a:solidFill>
                  <a:srgbClr val="3D3D3D"/>
                </a:solidFill>
              </a:rPr>
              <a:t>분기 이후 최대 수준을 기록하였습니다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6B54EE-C1CB-3726-9F3A-7B257120DB13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글로벌 게임 산업 분기별 </a:t>
            </a:r>
            <a:r>
              <a:rPr lang="en-US" altLang="ko-KR" sz="1200" b="1" dirty="0">
                <a:solidFill>
                  <a:schemeClr val="bg1"/>
                </a:solidFill>
              </a:rPr>
              <a:t>M&amp;A </a:t>
            </a:r>
            <a:r>
              <a:rPr lang="ko-KR" altLang="en-US" sz="1200" b="1" dirty="0">
                <a:solidFill>
                  <a:schemeClr val="bg1"/>
                </a:solidFill>
              </a:rPr>
              <a:t>거래액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6D49AE-68C6-58A6-96FD-C860BD868456}"/>
              </a:ext>
            </a:extLst>
          </p:cNvPr>
          <p:cNvSpPr txBox="1"/>
          <p:nvPr/>
        </p:nvSpPr>
        <p:spPr>
          <a:xfrm>
            <a:off x="4085125" y="1780991"/>
            <a:ext cx="759875" cy="126445"/>
          </a:xfrm>
          <a:prstGeom prst="rect">
            <a:avLst/>
          </a:prstGeom>
          <a:noFill/>
        </p:spPr>
        <p:txBody>
          <a:bodyPr wrap="none" lIns="0" tIns="0" rIns="10800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단위</a:t>
            </a:r>
            <a:r>
              <a:rPr lang="en-US" altLang="ko-KR" sz="800" dirty="0">
                <a:solidFill>
                  <a:schemeClr val="bg1"/>
                </a:solidFill>
              </a:rPr>
              <a:t>: </a:t>
            </a:r>
            <a:r>
              <a:rPr lang="ko-KR" altLang="en-US" sz="800" dirty="0" err="1">
                <a:solidFill>
                  <a:schemeClr val="bg1"/>
                </a:solidFill>
              </a:rPr>
              <a:t>십억달러</a:t>
            </a:r>
            <a:r>
              <a:rPr lang="en-US" altLang="ko-KR" sz="800" dirty="0">
                <a:solidFill>
                  <a:schemeClr val="bg1"/>
                </a:solidFill>
              </a:rPr>
              <a:t>)</a:t>
            </a:r>
            <a:endParaRPr lang="ko-KR" altLang="en-US" sz="800" dirty="0" err="1">
              <a:solidFill>
                <a:schemeClr val="bg1"/>
              </a:solidFill>
            </a:endParaRPr>
          </a:p>
        </p:txBody>
      </p:sp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6617486E-49F9-537E-CA92-64BF9B063C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504863"/>
              </p:ext>
            </p:extLst>
          </p:nvPr>
        </p:nvGraphicFramePr>
        <p:xfrm>
          <a:off x="453000" y="2168525"/>
          <a:ext cx="9000000" cy="3781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5EEAB9E9-142D-8BAF-37F6-C8F83193CAB9}"/>
              </a:ext>
            </a:extLst>
          </p:cNvPr>
          <p:cNvCxnSpPr>
            <a:cxnSpLocks/>
          </p:cNvCxnSpPr>
          <p:nvPr/>
        </p:nvCxnSpPr>
        <p:spPr>
          <a:xfrm flipV="1">
            <a:off x="7643674" y="4509345"/>
            <a:ext cx="1338401" cy="574204"/>
          </a:xfrm>
          <a:prstGeom prst="straightConnector1">
            <a:avLst/>
          </a:prstGeom>
          <a:ln w="6350">
            <a:solidFill>
              <a:srgbClr val="26C26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4CC0F62-462B-F955-7A93-5E21A5C8E482}"/>
              </a:ext>
            </a:extLst>
          </p:cNvPr>
          <p:cNvSpPr txBox="1"/>
          <p:nvPr/>
        </p:nvSpPr>
        <p:spPr>
          <a:xfrm rot="20160000">
            <a:off x="7633186" y="4630445"/>
            <a:ext cx="1160574" cy="15805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000" b="1" dirty="0">
                <a:solidFill>
                  <a:srgbClr val="26C260"/>
                </a:solidFill>
              </a:rPr>
              <a:t>최근 </a:t>
            </a:r>
            <a:r>
              <a:rPr lang="en-US" altLang="ko-KR" sz="1000" b="1" dirty="0">
                <a:solidFill>
                  <a:srgbClr val="26C260"/>
                </a:solidFill>
              </a:rPr>
              <a:t>2</a:t>
            </a:r>
            <a:r>
              <a:rPr lang="ko-KR" altLang="en-US" sz="1000" b="1" dirty="0">
                <a:solidFill>
                  <a:srgbClr val="26C260"/>
                </a:solidFill>
              </a:rPr>
              <a:t>분기 연속 상승세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96E3443-4645-24F8-EF87-EE976C8EE607}"/>
              </a:ext>
            </a:extLst>
          </p:cNvPr>
          <p:cNvGrpSpPr/>
          <p:nvPr/>
        </p:nvGrpSpPr>
        <p:grpSpPr>
          <a:xfrm rot="20400000">
            <a:off x="5382030" y="3378111"/>
            <a:ext cx="468000" cy="54000"/>
            <a:chOff x="3733800" y="-639254"/>
            <a:chExt cx="360000" cy="54000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F9790DD5-C5F0-BD89-641E-C3B306A7F9FE}"/>
                </a:ext>
              </a:extLst>
            </p:cNvPr>
            <p:cNvSpPr/>
            <p:nvPr/>
          </p:nvSpPr>
          <p:spPr>
            <a:xfrm>
              <a:off x="3733800" y="-639254"/>
              <a:ext cx="360000" cy="5400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8E842B2E-67BB-2B28-4749-17204A798E31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-639254"/>
              <a:ext cx="360000" cy="0"/>
            </a:xfrm>
            <a:prstGeom prst="line">
              <a:avLst/>
            </a:prstGeom>
            <a:ln w="6350">
              <a:solidFill>
                <a:srgbClr val="6A6A6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4BE7F914-EA14-E754-FAC3-9DC2AE96AED2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-585254"/>
              <a:ext cx="360000" cy="0"/>
            </a:xfrm>
            <a:prstGeom prst="line">
              <a:avLst/>
            </a:prstGeom>
            <a:ln w="6350">
              <a:solidFill>
                <a:srgbClr val="6A6A6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44536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A51D5-75C1-7907-3697-0759246A7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D82EFD7-F9B0-B3EA-C369-2931081BF9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(1) </a:t>
            </a:r>
            <a:r>
              <a:rPr lang="ko-KR" altLang="en-US" dirty="0"/>
              <a:t>주요 글로벌 </a:t>
            </a:r>
            <a:r>
              <a:rPr lang="en-US" altLang="ko-KR" dirty="0"/>
              <a:t>M&amp;A </a:t>
            </a:r>
            <a:r>
              <a:rPr lang="ko-KR" altLang="en-US" dirty="0"/>
              <a:t>현황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E96DC1-5606-36C8-6C79-8D30584CC8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Source:</a:t>
            </a:r>
            <a:r>
              <a:rPr lang="ko-KR" altLang="en-US" dirty="0"/>
              <a:t> 주요 언론보도</a:t>
            </a:r>
            <a:r>
              <a:rPr lang="en-US" altLang="ko-KR" dirty="0"/>
              <a:t>, KPMG </a:t>
            </a:r>
            <a:r>
              <a:rPr lang="ko-KR" altLang="en-US" dirty="0"/>
              <a:t>경제연구원</a:t>
            </a:r>
            <a:r>
              <a:rPr lang="en-US" altLang="ko-KR" dirty="0"/>
              <a:t>. Note: </a:t>
            </a:r>
            <a:r>
              <a:rPr lang="ko-KR" altLang="en-US" dirty="0"/>
              <a:t>거래일자는 발표일 기준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7A38DC-7B93-7BFF-7857-A75D0903497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C666A9-8E39-3B30-B191-7B80752AEFFA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글로벌 게임 산업 </a:t>
            </a:r>
            <a:r>
              <a:rPr lang="en-US" altLang="ko-KR" sz="1400" b="1" dirty="0">
                <a:solidFill>
                  <a:srgbClr val="3D3D3D"/>
                </a:solidFill>
              </a:rPr>
              <a:t>M&amp;A </a:t>
            </a:r>
            <a:r>
              <a:rPr lang="ko-KR" altLang="en-US" sz="1400" b="1" dirty="0">
                <a:solidFill>
                  <a:srgbClr val="3D3D3D"/>
                </a:solidFill>
              </a:rPr>
              <a:t>시장은 </a:t>
            </a:r>
            <a:r>
              <a:rPr lang="en-US" altLang="ko-KR" sz="1400" b="1" dirty="0">
                <a:solidFill>
                  <a:srgbClr val="3D3D3D"/>
                </a:solidFill>
              </a:rPr>
              <a:t>2024</a:t>
            </a:r>
            <a:r>
              <a:rPr lang="ko-KR" altLang="en-US" sz="1400" b="1" dirty="0">
                <a:solidFill>
                  <a:srgbClr val="3D3D3D"/>
                </a:solidFill>
              </a:rPr>
              <a:t>년부터 다시금 활발한 움직임을 보이기 시작하였으며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특히 국내 게임 기업 중 </a:t>
            </a:r>
            <a:r>
              <a:rPr lang="ko-KR" altLang="en-US" sz="1400" b="1" dirty="0" err="1">
                <a:solidFill>
                  <a:srgbClr val="3D3D3D"/>
                </a:solidFill>
              </a:rPr>
              <a:t>크래프톤과</a:t>
            </a:r>
            <a:r>
              <a:rPr lang="ko-KR" altLang="en-US" sz="1400" b="1" dirty="0">
                <a:solidFill>
                  <a:srgbClr val="3D3D3D"/>
                </a:solidFill>
              </a:rPr>
              <a:t> </a:t>
            </a:r>
            <a:r>
              <a:rPr lang="ko-KR" altLang="en-US" sz="1400" b="1" dirty="0" err="1">
                <a:solidFill>
                  <a:srgbClr val="3D3D3D"/>
                </a:solidFill>
              </a:rPr>
              <a:t>엔씨소프트가</a:t>
            </a:r>
            <a:r>
              <a:rPr lang="ko-KR" altLang="en-US" sz="1400" b="1" dirty="0">
                <a:solidFill>
                  <a:srgbClr val="3D3D3D"/>
                </a:solidFill>
              </a:rPr>
              <a:t> 신규 게임 개발 스튜디오 인수를 적극 추진하였습니다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35E0DC5-9CC8-11EC-A81B-355135889E5A}"/>
              </a:ext>
            </a:extLst>
          </p:cNvPr>
          <p:cNvSpPr/>
          <p:nvPr/>
        </p:nvSpPr>
        <p:spPr>
          <a:xfrm>
            <a:off x="453000" y="1700213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2024</a:t>
            </a:r>
            <a:r>
              <a:rPr lang="ko-KR" altLang="en-US" sz="1200" b="1" dirty="0">
                <a:solidFill>
                  <a:schemeClr val="bg1"/>
                </a:solidFill>
              </a:rPr>
              <a:t>년 이후 주요 글로벌 게임 산업 </a:t>
            </a:r>
            <a:r>
              <a:rPr lang="en-US" altLang="ko-KR" sz="1200" b="1" dirty="0">
                <a:solidFill>
                  <a:schemeClr val="bg1"/>
                </a:solidFill>
              </a:rPr>
              <a:t>M&amp;A </a:t>
            </a:r>
            <a:r>
              <a:rPr lang="ko-KR" altLang="en-US" sz="1200" b="1" dirty="0">
                <a:solidFill>
                  <a:schemeClr val="bg1"/>
                </a:solidFill>
              </a:rPr>
              <a:t>거래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527E10F4-E046-9062-1734-441159E58F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45495"/>
              </p:ext>
            </p:extLst>
          </p:nvPr>
        </p:nvGraphicFramePr>
        <p:xfrm>
          <a:off x="453000" y="2168525"/>
          <a:ext cx="9000000" cy="368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000">
                  <a:extLst>
                    <a:ext uri="{9D8B030D-6E8A-4147-A177-3AD203B41FA5}">
                      <a16:colId xmlns:a16="http://schemas.microsoft.com/office/drawing/2014/main" val="222779645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1780247241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785068492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3049611999"/>
                    </a:ext>
                  </a:extLst>
                </a:gridCol>
                <a:gridCol w="5004000">
                  <a:extLst>
                    <a:ext uri="{9D8B030D-6E8A-4147-A177-3AD203B41FA5}">
                      <a16:colId xmlns:a16="http://schemas.microsoft.com/office/drawing/2014/main" val="235339774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거래일자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인수기업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피인수기업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투자금액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내용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01469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2025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크래프톤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넵튠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1,650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 원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0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지분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39%)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게임 개발 및 퍼블리싱 사업을 영위하는 기업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넵튠의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카카오게임즈가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보유한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39.37%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상당 지분을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크래프톤이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인수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latinLnBrk="0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크래프톤은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해당 계약 전 자사가 보유 중인 주식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3.16%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를 포함해 총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42.53%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지분 보유 최대주주가 됨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81844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2025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크래프톤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노틸러스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모바일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1,375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만 달러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크래프톤은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인도에 위치한 자사의 현지 법인을 통해 현지에서 인기가 높은 크리켓 게임을 개발하는 게임 개발사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노틸러스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모바일의 지분을 인수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11274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2025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스코플리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나이언틱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0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게임 부문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35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 달러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사우디아라비아 국부펀드가 소유한 모바일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게임사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스코플리가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'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포켓몬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GO', '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몬스터헌터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나우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'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등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AR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기반 게임 서비스 운영기업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나이언틱의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게임 부문을 인수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342137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2024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텐센트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쿠로게임즈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비공개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2017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년 설립된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서브컬쳐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분야 게임 제작 기업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쿠로게임즈를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중국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테크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기업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텐센트가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인수</a:t>
                      </a:r>
                    </a:p>
                    <a:p>
                      <a:pPr marL="171450" indent="-171450" latinLnBrk="0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텐센트는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기존 그룹 내 보유한 글로벌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게임사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라이엇게임즈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슈퍼셀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등과 함께 멀티 스튜디오 체제로 게임 사업을 운영할 전망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674311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2024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소니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카도카와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500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억 엔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0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지분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10%)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콘솔 게임 플랫폼을 운영하는 일본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테크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기업 소니는 게임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만화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애니메이션 등 종합 콘텐츠 유통 기업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카도카와의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신주 인수를 통해 최대주주로 등극</a:t>
                      </a:r>
                    </a:p>
                    <a:p>
                      <a:pPr marL="171450" indent="-171450" latinLnBrk="0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중국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테크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기업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텐센트와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카도카와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신주 인수를 위한 경쟁이 있었던 것으로 알려짐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2561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2024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크래프톤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탱고게임웍스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비공개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국내 게임 기업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크래프톤이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일본 게임 기업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탱고게임웍스를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인수</a:t>
                      </a:r>
                    </a:p>
                    <a:p>
                      <a:pPr marL="171450" indent="-171450" latinLnBrk="0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미국 빅테크 기업 마이크로소프트 산하에 있던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탱고게임웍스가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폐업하는 과정에서 해당 기업의 개발인력과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IP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를 인수하는 방식으로 자원 확보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63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2024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엔씨소프트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문로버게임즈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350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만 달러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국내 게임 기업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엔씨소프트는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년 설립된 스웨덴 게임 개발사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문로버게임즈에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신규 게임 개발을 위한 프로젝트 자금 지원을 위한 투자를 진행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312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1113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B8167-64C2-B094-F5D0-C9A84E4C1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0DE00B5-134C-7FEE-9733-1533894210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(1) </a:t>
            </a:r>
            <a:r>
              <a:rPr lang="ko-KR" altLang="en-US" dirty="0"/>
              <a:t>주요 글로벌 </a:t>
            </a:r>
            <a:r>
              <a:rPr lang="en-US" altLang="ko-KR" dirty="0"/>
              <a:t>M&amp;A </a:t>
            </a:r>
            <a:r>
              <a:rPr lang="ko-KR" altLang="en-US" dirty="0"/>
              <a:t>핵심 트렌드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34C5D2-17B9-ABBD-1D70-CBC90CDB7A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Source:</a:t>
            </a:r>
            <a:r>
              <a:rPr lang="ko-KR" altLang="en-US" dirty="0"/>
              <a:t> 주요 언론보도</a:t>
            </a:r>
            <a:r>
              <a:rPr lang="en-US" altLang="ko-KR" dirty="0"/>
              <a:t>, KPMG </a:t>
            </a:r>
            <a:r>
              <a:rPr lang="ko-KR" altLang="en-US" dirty="0"/>
              <a:t>경제연구원</a:t>
            </a:r>
            <a:r>
              <a:rPr lang="en-US" altLang="ko-KR" dirty="0"/>
              <a:t>. Note: </a:t>
            </a:r>
            <a:r>
              <a:rPr lang="ko-KR" altLang="en-US" dirty="0"/>
              <a:t>거래일자는 발표일 기준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DD435F-B776-259D-F33A-A087C54BF0B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99282E-593F-0B25-C995-9CAFC353350B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최근 글로벌 게임 산업 </a:t>
            </a:r>
            <a:r>
              <a:rPr lang="en-US" altLang="ko-KR" sz="1400" b="1" dirty="0">
                <a:solidFill>
                  <a:srgbClr val="3D3D3D"/>
                </a:solidFill>
              </a:rPr>
              <a:t>M&amp;A </a:t>
            </a:r>
            <a:r>
              <a:rPr lang="ko-KR" altLang="en-US" sz="1400" b="1" dirty="0">
                <a:solidFill>
                  <a:srgbClr val="3D3D3D"/>
                </a:solidFill>
              </a:rPr>
              <a:t>거래는 </a:t>
            </a:r>
            <a:r>
              <a:rPr lang="en-US" altLang="ko-KR" sz="1400" b="1" dirty="0">
                <a:solidFill>
                  <a:srgbClr val="3D3D3D"/>
                </a:solidFill>
              </a:rPr>
              <a:t>(1) </a:t>
            </a:r>
            <a:r>
              <a:rPr lang="ko-KR" altLang="en-US" sz="1400" b="1" dirty="0">
                <a:solidFill>
                  <a:srgbClr val="3D3D3D"/>
                </a:solidFill>
              </a:rPr>
              <a:t>인기 </a:t>
            </a:r>
            <a:r>
              <a:rPr lang="en-US" altLang="ko-KR" sz="1400" b="1" dirty="0">
                <a:solidFill>
                  <a:srgbClr val="3D3D3D"/>
                </a:solidFill>
              </a:rPr>
              <a:t>IP</a:t>
            </a:r>
            <a:r>
              <a:rPr lang="ko-KR" altLang="en-US" sz="1400" b="1" dirty="0">
                <a:solidFill>
                  <a:srgbClr val="3D3D3D"/>
                </a:solidFill>
              </a:rPr>
              <a:t>를 확보한 기업에 투자하여 </a:t>
            </a:r>
            <a:r>
              <a:rPr lang="en-US" altLang="ko-KR" sz="1400" b="1" dirty="0">
                <a:solidFill>
                  <a:srgbClr val="3D3D3D"/>
                </a:solidFill>
              </a:rPr>
              <a:t>IP </a:t>
            </a:r>
            <a:r>
              <a:rPr lang="ko-KR" altLang="en-US" sz="1400" b="1" dirty="0">
                <a:solidFill>
                  <a:srgbClr val="3D3D3D"/>
                </a:solidFill>
              </a:rPr>
              <a:t>다변화를 도모하는 사례와 </a:t>
            </a:r>
            <a:r>
              <a:rPr lang="en-US" altLang="ko-KR" sz="1400" b="1" dirty="0">
                <a:solidFill>
                  <a:srgbClr val="3D3D3D"/>
                </a:solidFill>
              </a:rPr>
              <a:t>(2) </a:t>
            </a:r>
            <a:r>
              <a:rPr lang="ko-KR" altLang="en-US" sz="1400" b="1" dirty="0">
                <a:solidFill>
                  <a:srgbClr val="3D3D3D"/>
                </a:solidFill>
              </a:rPr>
              <a:t>특화된 기술 영역을 가진 기업을 인수하여 다양한 카테고리의 게임 개발을 위한 기술을 확보하고자 하는 사례가 핵심 트렌드로 이루어지고 있습니다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4A5F91-3003-B606-663A-F04AAFCBC602}"/>
              </a:ext>
            </a:extLst>
          </p:cNvPr>
          <p:cNvSpPr/>
          <p:nvPr/>
        </p:nvSpPr>
        <p:spPr>
          <a:xfrm>
            <a:off x="452999" y="1701138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글로벌 게임 산업 </a:t>
            </a:r>
            <a:r>
              <a:rPr lang="en-US" altLang="ko-KR" sz="1200" b="1" dirty="0">
                <a:solidFill>
                  <a:schemeClr val="bg1"/>
                </a:solidFill>
              </a:rPr>
              <a:t>M&amp;A</a:t>
            </a:r>
            <a:r>
              <a:rPr lang="ko-KR" altLang="en-US" sz="1200" b="1" dirty="0">
                <a:solidFill>
                  <a:schemeClr val="bg1"/>
                </a:solidFill>
              </a:rPr>
              <a:t> 핵심 트렌드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112EE56-484E-5287-E951-7217B6DDC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411410"/>
              </p:ext>
            </p:extLst>
          </p:nvPr>
        </p:nvGraphicFramePr>
        <p:xfrm>
          <a:off x="6464999" y="2168525"/>
          <a:ext cx="2988000" cy="28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000">
                  <a:extLst>
                    <a:ext uri="{9D8B030D-6E8A-4147-A177-3AD203B41FA5}">
                      <a16:colId xmlns:a16="http://schemas.microsoft.com/office/drawing/2014/main" val="2194558601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817662604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1817749039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거래일자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인수기업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피인수기업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4881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2025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크래프톤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넵튠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51279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2025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크래프톤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노틸러스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모바일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6592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2024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텐센트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쿠로게임즈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9143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2024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소니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카도카와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4582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2024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크래프톤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탱고게임웍스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3126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2024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엔씨소프트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문로버게임즈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92584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2025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스코플리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나이언틱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게임 부문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15224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41872FE6-A65C-BB2A-5B22-2516EF2CBB3A}"/>
              </a:ext>
            </a:extLst>
          </p:cNvPr>
          <p:cNvSpPr/>
          <p:nvPr/>
        </p:nvSpPr>
        <p:spPr>
          <a:xfrm>
            <a:off x="1388999" y="2168525"/>
            <a:ext cx="4320000" cy="1332000"/>
          </a:xfrm>
          <a:prstGeom prst="rect">
            <a:avLst/>
          </a:prstGeom>
          <a:solidFill>
            <a:schemeClr val="bg1"/>
          </a:solidFill>
          <a:ln w="19050">
            <a:solidFill>
              <a:srgbClr val="1C8F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108000" bIns="0" rtlCol="0" anchor="ctr"/>
          <a:lstStyle/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chemeClr val="tx1"/>
                </a:solidFill>
              </a:rPr>
              <a:t>인기 게임 </a:t>
            </a:r>
            <a:r>
              <a:rPr lang="en-US" altLang="ko-KR" sz="1000" dirty="0">
                <a:solidFill>
                  <a:schemeClr val="tx1"/>
                </a:solidFill>
              </a:rPr>
              <a:t>IP</a:t>
            </a:r>
            <a:r>
              <a:rPr lang="ko-KR" altLang="en-US" sz="1000" dirty="0">
                <a:solidFill>
                  <a:schemeClr val="tx1"/>
                </a:solidFill>
              </a:rPr>
              <a:t>를 확보하고 있는 게임 기업의 인수를 통해 </a:t>
            </a:r>
            <a:r>
              <a:rPr lang="en-US" altLang="ko-KR" sz="1000" dirty="0">
                <a:solidFill>
                  <a:schemeClr val="tx1"/>
                </a:solidFill>
              </a:rPr>
              <a:t>IP </a:t>
            </a:r>
            <a:r>
              <a:rPr lang="ko-KR" altLang="en-US" sz="1000" dirty="0">
                <a:solidFill>
                  <a:schemeClr val="tx1"/>
                </a:solidFill>
              </a:rPr>
              <a:t>기반의 사업 영역 확장을 도모하며</a:t>
            </a:r>
            <a:r>
              <a:rPr lang="en-US" altLang="ko-KR" sz="1000" dirty="0">
                <a:solidFill>
                  <a:schemeClr val="tx1"/>
                </a:solidFill>
              </a:rPr>
              <a:t>, IP </a:t>
            </a:r>
            <a:r>
              <a:rPr lang="ko-KR" altLang="en-US" sz="1000" dirty="0">
                <a:solidFill>
                  <a:schemeClr val="tx1"/>
                </a:solidFill>
              </a:rPr>
              <a:t>다변화를 글로벌 현지 투자로 모색하는 경향 또한 나타남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chemeClr val="tx1"/>
                </a:solidFill>
              </a:rPr>
              <a:t>기존 인수 기업의 게임 개발 영역이 아닌 새로운 영역에 게임을 개발하는 기업에 투자하여 멀티 스튜디오 체계 구축 등으로 카테고리 다변화 노력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AD2AD52-0EB8-1518-8D7F-51809A150CB0}"/>
              </a:ext>
            </a:extLst>
          </p:cNvPr>
          <p:cNvSpPr/>
          <p:nvPr/>
        </p:nvSpPr>
        <p:spPr>
          <a:xfrm>
            <a:off x="1388998" y="3644525"/>
            <a:ext cx="4320001" cy="1332000"/>
          </a:xfrm>
          <a:prstGeom prst="rect">
            <a:avLst/>
          </a:prstGeom>
          <a:solidFill>
            <a:schemeClr val="bg1"/>
          </a:solidFill>
          <a:ln w="19050">
            <a:solidFill>
              <a:srgbClr val="A3E9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108000" bIns="0" rtlCol="0" anchor="ctr"/>
          <a:lstStyle/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chemeClr val="tx1"/>
                </a:solidFill>
              </a:rPr>
              <a:t>게임 개발 환경을 다양화 할 수 있는 </a:t>
            </a:r>
            <a:r>
              <a:rPr lang="en-US" altLang="ko-KR" sz="1000" dirty="0">
                <a:solidFill>
                  <a:schemeClr val="tx1"/>
                </a:solidFill>
              </a:rPr>
              <a:t>AR </a:t>
            </a:r>
            <a:r>
              <a:rPr lang="ko-KR" altLang="en-US" sz="1000" dirty="0">
                <a:solidFill>
                  <a:schemeClr val="tx1"/>
                </a:solidFill>
              </a:rPr>
              <a:t>등 특화된 기술 영역을 보유한 피인수기업을 인수하여 신규 게임 개발 영역의 확대를 도모</a:t>
            </a: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chemeClr val="tx1"/>
                </a:solidFill>
              </a:rPr>
              <a:t>다양한 카테고리 게임에 대한 수요가 다변화됨에 따라 게임 개발 영역 확대를 위한 기술 확보 노력이 이어질 것으로 전망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B6A33AB-6DBD-D6C5-0B90-E8BDAA359BB4}"/>
              </a:ext>
            </a:extLst>
          </p:cNvPr>
          <p:cNvSpPr/>
          <p:nvPr/>
        </p:nvSpPr>
        <p:spPr>
          <a:xfrm>
            <a:off x="452999" y="2168525"/>
            <a:ext cx="936000" cy="1332000"/>
          </a:xfrm>
          <a:prstGeom prst="rect">
            <a:avLst/>
          </a:prstGeom>
          <a:solidFill>
            <a:srgbClr val="1C8F57"/>
          </a:solidFill>
          <a:ln w="19050">
            <a:solidFill>
              <a:srgbClr val="1C8F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chemeClr val="bg1"/>
                </a:solidFill>
              </a:rPr>
              <a:t>IP</a:t>
            </a:r>
            <a:r>
              <a:rPr lang="ko-KR" altLang="en-US" sz="1200" b="1" dirty="0">
                <a:solidFill>
                  <a:schemeClr val="bg1"/>
                </a:solidFill>
              </a:rPr>
              <a:t> 다변화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D95A5C0-DA60-C6C5-D2C7-100BA4830DD2}"/>
              </a:ext>
            </a:extLst>
          </p:cNvPr>
          <p:cNvSpPr/>
          <p:nvPr/>
        </p:nvSpPr>
        <p:spPr>
          <a:xfrm>
            <a:off x="452999" y="3644525"/>
            <a:ext cx="936000" cy="1332000"/>
          </a:xfrm>
          <a:prstGeom prst="rect">
            <a:avLst/>
          </a:prstGeom>
          <a:solidFill>
            <a:srgbClr val="A3E96B"/>
          </a:solidFill>
          <a:ln w="19050">
            <a:solidFill>
              <a:srgbClr val="A3E9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기술 확보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4301F1E-5518-EE9E-B520-90D025F284FE}"/>
              </a:ext>
            </a:extLst>
          </p:cNvPr>
          <p:cNvSpPr/>
          <p:nvPr/>
        </p:nvSpPr>
        <p:spPr>
          <a:xfrm>
            <a:off x="6464999" y="2456525"/>
            <a:ext cx="2987999" cy="2156400"/>
          </a:xfrm>
          <a:prstGeom prst="rect">
            <a:avLst/>
          </a:prstGeom>
          <a:noFill/>
          <a:ln w="19050">
            <a:solidFill>
              <a:srgbClr val="1C8F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AE9866E-75A7-B3C3-3C23-28D296897BED}"/>
              </a:ext>
            </a:extLst>
          </p:cNvPr>
          <p:cNvSpPr/>
          <p:nvPr/>
        </p:nvSpPr>
        <p:spPr>
          <a:xfrm>
            <a:off x="6464999" y="4620125"/>
            <a:ext cx="2987999" cy="356400"/>
          </a:xfrm>
          <a:prstGeom prst="rect">
            <a:avLst/>
          </a:prstGeom>
          <a:noFill/>
          <a:ln w="19050">
            <a:solidFill>
              <a:srgbClr val="A3E9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2DC08F0A-8CC4-1208-D19C-96C31B0116E6}"/>
              </a:ext>
            </a:extLst>
          </p:cNvPr>
          <p:cNvCxnSpPr>
            <a:cxnSpLocks/>
            <a:stCxn id="14" idx="3"/>
            <a:endCxn id="19" idx="1"/>
          </p:cNvCxnSpPr>
          <p:nvPr/>
        </p:nvCxnSpPr>
        <p:spPr>
          <a:xfrm>
            <a:off x="5708999" y="4310525"/>
            <a:ext cx="756000" cy="487800"/>
          </a:xfrm>
          <a:prstGeom prst="bentConnector3">
            <a:avLst/>
          </a:prstGeom>
          <a:ln w="19050">
            <a:solidFill>
              <a:srgbClr val="A3E96B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6A074268-E146-BACE-ABBB-5BCF52CF0767}"/>
              </a:ext>
            </a:extLst>
          </p:cNvPr>
          <p:cNvCxnSpPr>
            <a:stCxn id="13" idx="3"/>
            <a:endCxn id="11" idx="1"/>
          </p:cNvCxnSpPr>
          <p:nvPr/>
        </p:nvCxnSpPr>
        <p:spPr>
          <a:xfrm>
            <a:off x="5708999" y="2834525"/>
            <a:ext cx="756000" cy="738000"/>
          </a:xfrm>
          <a:prstGeom prst="bentConnector3">
            <a:avLst/>
          </a:prstGeom>
          <a:ln w="19050">
            <a:solidFill>
              <a:srgbClr val="1C8F57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712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D0AEDDA-3982-EFC5-D0CA-079E97E8FF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(2) </a:t>
            </a:r>
            <a:r>
              <a:rPr lang="ko-KR" altLang="en-US" dirty="0"/>
              <a:t>미국 자본시장 상장 방법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D4AE7B-5A7E-7FD1-D23B-2D4EA2534D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Source: KPMG.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310FA5-691C-B106-6C46-1047B3A8BC0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C8C2BE-47AC-9C2D-84CD-2EF3D7CD44BE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미국 자본시장 내 상장 방법은 크게 </a:t>
            </a:r>
            <a:r>
              <a:rPr lang="en-US" altLang="ko-KR" sz="1400" b="1" dirty="0">
                <a:solidFill>
                  <a:srgbClr val="3D3D3D"/>
                </a:solidFill>
              </a:rPr>
              <a:t>IPO, </a:t>
            </a:r>
            <a:r>
              <a:rPr lang="ko-KR" altLang="en-US" sz="1400" b="1" dirty="0" err="1">
                <a:solidFill>
                  <a:srgbClr val="3D3D3D"/>
                </a:solidFill>
              </a:rPr>
              <a:t>직상장</a:t>
            </a:r>
            <a:r>
              <a:rPr lang="ko-KR" altLang="en-US" sz="1400" b="1" dirty="0">
                <a:solidFill>
                  <a:srgbClr val="3D3D3D"/>
                </a:solidFill>
              </a:rPr>
              <a:t> 및 </a:t>
            </a:r>
            <a:r>
              <a:rPr lang="en-US" altLang="ko-KR" sz="1400" b="1" dirty="0">
                <a:solidFill>
                  <a:srgbClr val="3D3D3D"/>
                </a:solidFill>
              </a:rPr>
              <a:t>SPAC </a:t>
            </a:r>
            <a:r>
              <a:rPr lang="ko-KR" altLang="en-US" sz="1400" b="1" dirty="0">
                <a:solidFill>
                  <a:srgbClr val="3D3D3D"/>
                </a:solidFill>
              </a:rPr>
              <a:t>합병상장으로 구분되며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특히 </a:t>
            </a:r>
            <a:r>
              <a:rPr lang="en-US" altLang="ko-KR" sz="1400" b="1" dirty="0">
                <a:solidFill>
                  <a:srgbClr val="3D3D3D"/>
                </a:solidFill>
              </a:rPr>
              <a:t>COVID-19 </a:t>
            </a:r>
            <a:r>
              <a:rPr lang="ko-KR" altLang="en-US" sz="1400" b="1" dirty="0">
                <a:solidFill>
                  <a:srgbClr val="3D3D3D"/>
                </a:solidFill>
              </a:rPr>
              <a:t>팬데믹 이후 시장 내 유동성 증가에 따른 </a:t>
            </a:r>
            <a:r>
              <a:rPr lang="en-US" altLang="ko-KR" sz="1400" b="1" dirty="0">
                <a:solidFill>
                  <a:srgbClr val="3D3D3D"/>
                </a:solidFill>
              </a:rPr>
              <a:t>SPAC </a:t>
            </a:r>
            <a:r>
              <a:rPr lang="ko-KR" altLang="en-US" sz="1400" b="1" dirty="0">
                <a:solidFill>
                  <a:srgbClr val="3D3D3D"/>
                </a:solidFill>
              </a:rPr>
              <a:t>투자 증가로 상장절차 및 기간이 </a:t>
            </a:r>
            <a:r>
              <a:rPr lang="en-US" altLang="ko-KR" sz="1400" b="1" dirty="0">
                <a:solidFill>
                  <a:srgbClr val="3D3D3D"/>
                </a:solidFill>
              </a:rPr>
              <a:t>3 ~ 6</a:t>
            </a:r>
            <a:r>
              <a:rPr lang="ko-KR" altLang="en-US" sz="1400" b="1" dirty="0">
                <a:solidFill>
                  <a:srgbClr val="3D3D3D"/>
                </a:solidFill>
              </a:rPr>
              <a:t>개월 내로 간소한 </a:t>
            </a:r>
            <a:r>
              <a:rPr lang="en-US" altLang="ko-KR" sz="1400" b="1" dirty="0">
                <a:solidFill>
                  <a:srgbClr val="3D3D3D"/>
                </a:solidFill>
              </a:rPr>
              <a:t>SPAC </a:t>
            </a:r>
            <a:r>
              <a:rPr lang="ko-KR" altLang="en-US" sz="1400" b="1" dirty="0">
                <a:solidFill>
                  <a:srgbClr val="3D3D3D"/>
                </a:solidFill>
              </a:rPr>
              <a:t>합병상장이 크게 증가하였습니다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5B431B2-2174-3202-5907-97E93077EE48}"/>
              </a:ext>
            </a:extLst>
          </p:cNvPr>
          <p:cNvSpPr/>
          <p:nvPr/>
        </p:nvSpPr>
        <p:spPr>
          <a:xfrm>
            <a:off x="452999" y="1701138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미국 자본시장 상장 방법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1C33552-2958-62A0-4091-B389706E34B3}"/>
              </a:ext>
            </a:extLst>
          </p:cNvPr>
          <p:cNvSpPr/>
          <p:nvPr/>
        </p:nvSpPr>
        <p:spPr>
          <a:xfrm>
            <a:off x="5060999" y="1701138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미국 </a:t>
            </a:r>
            <a:r>
              <a:rPr lang="en-US" altLang="ko-KR" sz="1200" b="1" dirty="0">
                <a:solidFill>
                  <a:schemeClr val="bg1"/>
                </a:solidFill>
              </a:rPr>
              <a:t>SPAC </a:t>
            </a:r>
            <a:r>
              <a:rPr lang="ko-KR" altLang="en-US" sz="1200" b="1" dirty="0">
                <a:solidFill>
                  <a:schemeClr val="bg1"/>
                </a:solidFill>
              </a:rPr>
              <a:t>시장 및 </a:t>
            </a:r>
            <a:r>
              <a:rPr lang="en-US" altLang="ko-KR" sz="1200" b="1" dirty="0">
                <a:solidFill>
                  <a:schemeClr val="bg1"/>
                </a:solidFill>
              </a:rPr>
              <a:t>SPAC </a:t>
            </a:r>
            <a:r>
              <a:rPr lang="ko-KR" altLang="en-US" sz="1200" b="1" dirty="0">
                <a:solidFill>
                  <a:schemeClr val="bg1"/>
                </a:solidFill>
              </a:rPr>
              <a:t>상장 현황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B94C3F4-420C-827D-AED1-0F884F9E3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401514"/>
              </p:ext>
            </p:extLst>
          </p:nvPr>
        </p:nvGraphicFramePr>
        <p:xfrm>
          <a:off x="452999" y="2168525"/>
          <a:ext cx="4392000" cy="3748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194558601"/>
                    </a:ext>
                  </a:extLst>
                </a:gridCol>
                <a:gridCol w="1908000">
                  <a:extLst>
                    <a:ext uri="{9D8B030D-6E8A-4147-A177-3AD203B41FA5}">
                      <a16:colId xmlns:a16="http://schemas.microsoft.com/office/drawing/2014/main" val="817662604"/>
                    </a:ext>
                  </a:extLst>
                </a:gridCol>
                <a:gridCol w="1908000">
                  <a:extLst>
                    <a:ext uri="{9D8B030D-6E8A-4147-A177-3AD203B41FA5}">
                      <a16:colId xmlns:a16="http://schemas.microsoft.com/office/drawing/2014/main" val="1817749039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상장방법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장점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단점</a:t>
                      </a:r>
                    </a:p>
                  </a:txBody>
                  <a:tcPr marL="36000" marR="360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4881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00" b="1" dirty="0">
                          <a:solidFill>
                            <a:srgbClr val="26C260"/>
                          </a:solidFill>
                        </a:rPr>
                        <a:t>IPO</a:t>
                      </a:r>
                    </a:p>
                    <a:p>
                      <a:pPr latinLnBrk="0"/>
                      <a:r>
                        <a:rPr lang="ko-KR" altLang="en-US" sz="1000" b="1" dirty="0">
                          <a:solidFill>
                            <a:srgbClr val="26C260"/>
                          </a:solidFill>
                        </a:rPr>
                        <a:t>공모</a:t>
                      </a:r>
                    </a:p>
                  </a:txBody>
                  <a:tcPr marL="36000" marR="36000" marT="54000" marB="54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lnSpc>
                          <a:spcPct val="110000"/>
                        </a:lnSpc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미국 자본시장 내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IPO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를 통한 기업 브랜드 인지도 제고 가능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0">
                        <a:lnSpc>
                          <a:spcPct val="110000"/>
                        </a:lnSpc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기존 주주의 구주매출 통한 즉시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Cash Exit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실현 가능</a:t>
                      </a:r>
                    </a:p>
                  </a:txBody>
                  <a:tcPr marL="36000" marR="36000" marT="54000" marB="54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lnSpc>
                          <a:spcPct val="110000"/>
                        </a:lnSpc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복잡한 상장 절차로 인해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12 ~ 18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개월 이상의 기간 소요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0">
                        <a:lnSpc>
                          <a:spcPct val="110000"/>
                        </a:lnSpc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상장 수수료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주간사 수수료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IPO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컨설팅 비용 등 높은 비용 소요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0">
                        <a:lnSpc>
                          <a:spcPct val="110000"/>
                        </a:lnSpc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공모 흥행여부에 따른 자금조달의 불확실성 존재</a:t>
                      </a:r>
                    </a:p>
                  </a:txBody>
                  <a:tcPr marL="36000" marR="36000" marT="54000" marB="54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51279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000" b="1" dirty="0" err="1">
                          <a:solidFill>
                            <a:srgbClr val="26C260"/>
                          </a:solidFill>
                        </a:rPr>
                        <a:t>직상장</a:t>
                      </a:r>
                      <a:endParaRPr lang="ko-KR" altLang="en-US" sz="1000" b="1" dirty="0">
                        <a:solidFill>
                          <a:srgbClr val="26C260"/>
                        </a:solidFill>
                      </a:endParaRPr>
                    </a:p>
                  </a:txBody>
                  <a:tcPr marL="36000" marR="36000" marT="54000" marB="54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lnSpc>
                          <a:spcPct val="110000"/>
                        </a:lnSpc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기존 주주의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Lock-up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조항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의무인수 물량 조항 등이 없어 유동성 및 형평성 확보 용이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0">
                        <a:lnSpc>
                          <a:spcPct val="110000"/>
                        </a:lnSpc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공모 수수료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대기기간 등이 없어 비교적 신속한 절차 진행 가능</a:t>
                      </a:r>
                    </a:p>
                  </a:txBody>
                  <a:tcPr marL="36000" marR="36000" marT="54000" marB="54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lnSpc>
                          <a:spcPct val="110000"/>
                        </a:lnSpc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미국 내 별도의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Road Show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를 거치지 않아 홍보 효과 제한적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0">
                        <a:lnSpc>
                          <a:spcPct val="110000"/>
                        </a:lnSpc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Lock-up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조항의 부재로 인한 초기 주가 변동성 확대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0">
                        <a:lnSpc>
                          <a:spcPct val="110000"/>
                        </a:lnSpc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상장요건 충족이 비교적 어려움</a:t>
                      </a:r>
                    </a:p>
                  </a:txBody>
                  <a:tcPr marL="36000" marR="36000" marT="54000" marB="54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6592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00" b="1" dirty="0">
                          <a:solidFill>
                            <a:srgbClr val="26C260"/>
                          </a:solidFill>
                        </a:rPr>
                        <a:t>SPAC</a:t>
                      </a:r>
                    </a:p>
                    <a:p>
                      <a:pPr latinLnBrk="0"/>
                      <a:r>
                        <a:rPr lang="ko-KR" altLang="en-US" sz="1000" b="1" dirty="0">
                          <a:solidFill>
                            <a:srgbClr val="26C260"/>
                          </a:solidFill>
                        </a:rPr>
                        <a:t>합병상장</a:t>
                      </a:r>
                      <a:endParaRPr lang="en-US" altLang="ko-KR" sz="1000" b="1" dirty="0">
                        <a:solidFill>
                          <a:srgbClr val="26C260"/>
                        </a:solidFill>
                      </a:endParaRPr>
                    </a:p>
                  </a:txBody>
                  <a:tcPr marL="36000" marR="36000" marT="54000" marB="54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lnSpc>
                          <a:spcPct val="110000"/>
                        </a:lnSpc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IPO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및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직상장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대비 간소한 상장절차로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6 ~ 12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개월 내 신속한 상장 가능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0">
                        <a:lnSpc>
                          <a:spcPct val="110000"/>
                        </a:lnSpc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SPAC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합병을 통한 상장으로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SPAC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보유 현금 즉시 확보 가능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0">
                        <a:lnSpc>
                          <a:spcPct val="110000"/>
                        </a:lnSpc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협의 대상자가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SPAC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뿐으로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의사결정의 유연성 높음</a:t>
                      </a:r>
                    </a:p>
                  </a:txBody>
                  <a:tcPr marL="36000" marR="36000" marT="54000" marB="54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lnSpc>
                          <a:spcPct val="110000"/>
                        </a:lnSpc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SPAC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투자자의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Redeem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요청 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SPAC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자금 유출 가능성 존재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0">
                        <a:lnSpc>
                          <a:spcPct val="110000"/>
                        </a:lnSpc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합병대상법인의 경우 일반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IPO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대비 높은 비용 발생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0">
                        <a:lnSpc>
                          <a:spcPct val="110000"/>
                        </a:lnSpc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합병대상법인의 사업 및 재무 실적에 따라 보다 높은 주가 하락 가능성 존재</a:t>
                      </a:r>
                    </a:p>
                  </a:txBody>
                  <a:tcPr marL="36000" marR="36000" marT="54000" marB="54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A6A6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A6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152240"/>
                  </a:ext>
                </a:extLst>
              </a:tr>
            </a:tbl>
          </a:graphicData>
        </a:graphic>
      </p:graphicFrame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99AFCC5E-E9D5-0AB8-ECAD-E4D53C9911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9950713"/>
              </p:ext>
            </p:extLst>
          </p:nvPr>
        </p:nvGraphicFramePr>
        <p:xfrm>
          <a:off x="5060999" y="2160318"/>
          <a:ext cx="4392000" cy="385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2CE40A6-5C15-BE13-A964-3A60CDF14B57}"/>
              </a:ext>
            </a:extLst>
          </p:cNvPr>
          <p:cNvSpPr txBox="1"/>
          <p:nvPr/>
        </p:nvSpPr>
        <p:spPr>
          <a:xfrm>
            <a:off x="8983268" y="1780991"/>
            <a:ext cx="469731" cy="126445"/>
          </a:xfrm>
          <a:prstGeom prst="rect">
            <a:avLst/>
          </a:prstGeom>
          <a:noFill/>
        </p:spPr>
        <p:txBody>
          <a:bodyPr wrap="none" lIns="0" tIns="0" rIns="108000" bIns="0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800" dirty="0">
                <a:solidFill>
                  <a:schemeClr val="bg1"/>
                </a:solidFill>
              </a:rPr>
              <a:t>(</a:t>
            </a:r>
            <a:r>
              <a:rPr lang="ko-KR" altLang="en-US" sz="800" dirty="0">
                <a:solidFill>
                  <a:schemeClr val="bg1"/>
                </a:solidFill>
              </a:rPr>
              <a:t>단위</a:t>
            </a:r>
            <a:r>
              <a:rPr lang="en-US" altLang="ko-KR" sz="800" dirty="0">
                <a:solidFill>
                  <a:schemeClr val="bg1"/>
                </a:solidFill>
              </a:rPr>
              <a:t>:</a:t>
            </a:r>
            <a:r>
              <a:rPr lang="ko-KR" altLang="en-US" sz="800" dirty="0">
                <a:solidFill>
                  <a:schemeClr val="bg1"/>
                </a:solidFill>
              </a:rPr>
              <a:t>건</a:t>
            </a:r>
            <a:r>
              <a:rPr lang="en-US" altLang="ko-KR" sz="800" dirty="0">
                <a:solidFill>
                  <a:schemeClr val="bg1"/>
                </a:solidFill>
              </a:rPr>
              <a:t>)</a:t>
            </a:r>
            <a:endParaRPr lang="ko-KR" altLang="en-US" sz="8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037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7DA7A-45A4-C6A8-4EEA-3EBBE9123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F2E23F0-80AC-E408-0B2E-6B862529A0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(2) </a:t>
            </a:r>
            <a:r>
              <a:rPr lang="ko-KR" altLang="en-US" dirty="0"/>
              <a:t>미국 </a:t>
            </a:r>
            <a:r>
              <a:rPr lang="en-US" altLang="ko-KR" dirty="0"/>
              <a:t>SPAC </a:t>
            </a:r>
            <a:r>
              <a:rPr lang="ko-KR" altLang="en-US" dirty="0"/>
              <a:t>합병 상장 주요 절차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6E9680-3DA6-A872-3DE4-FE89E500A44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7B6DDF-7D0E-329A-CC9C-BB46AC010D7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53318C-A610-4AA5-9FF7-26630BAA1E31}" type="slidenum">
              <a:rPr lang="en-US" altLang="ko-KR" smtClean="0"/>
              <a:pPr/>
              <a:t>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696917-29BA-B2FE-2B8D-54DB0386AB14}"/>
              </a:ext>
            </a:extLst>
          </p:cNvPr>
          <p:cNvSpPr txBox="1"/>
          <p:nvPr/>
        </p:nvSpPr>
        <p:spPr>
          <a:xfrm>
            <a:off x="453000" y="981075"/>
            <a:ext cx="8999999" cy="45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ko-KR" altLang="en-US" sz="1400" b="1" dirty="0">
                <a:solidFill>
                  <a:srgbClr val="3D3D3D"/>
                </a:solidFill>
              </a:rPr>
              <a:t>미국 </a:t>
            </a:r>
            <a:r>
              <a:rPr lang="en-US" altLang="ko-KR" sz="1400" b="1" dirty="0">
                <a:solidFill>
                  <a:srgbClr val="3D3D3D"/>
                </a:solidFill>
              </a:rPr>
              <a:t>SPAC </a:t>
            </a:r>
            <a:r>
              <a:rPr lang="ko-KR" altLang="en-US" sz="1400" b="1" dirty="0">
                <a:solidFill>
                  <a:srgbClr val="3D3D3D"/>
                </a:solidFill>
              </a:rPr>
              <a:t>합병 상장의 경우 합병대상 </a:t>
            </a:r>
            <a:r>
              <a:rPr lang="en-US" altLang="ko-KR" sz="1400" b="1" dirty="0">
                <a:solidFill>
                  <a:srgbClr val="3D3D3D"/>
                </a:solidFill>
              </a:rPr>
              <a:t>SPAC </a:t>
            </a:r>
            <a:r>
              <a:rPr lang="ko-KR" altLang="en-US" sz="1400" b="1" dirty="0">
                <a:solidFill>
                  <a:srgbClr val="3D3D3D"/>
                </a:solidFill>
              </a:rPr>
              <a:t>후보 확보 후 약 </a:t>
            </a:r>
            <a:r>
              <a:rPr lang="en-US" altLang="ko-KR" sz="1400" b="1" dirty="0">
                <a:solidFill>
                  <a:srgbClr val="3D3D3D"/>
                </a:solidFill>
              </a:rPr>
              <a:t>6-9</a:t>
            </a:r>
            <a:r>
              <a:rPr lang="ko-KR" altLang="en-US" sz="1400" b="1" dirty="0">
                <a:solidFill>
                  <a:srgbClr val="3D3D3D"/>
                </a:solidFill>
              </a:rPr>
              <a:t>개월의 기간이 소요되며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양사간 실사</a:t>
            </a:r>
            <a:r>
              <a:rPr lang="en-US" altLang="ko-KR" sz="1400" b="1" dirty="0">
                <a:solidFill>
                  <a:srgbClr val="3D3D3D"/>
                </a:solidFill>
              </a:rPr>
              <a:t>, </a:t>
            </a:r>
            <a:r>
              <a:rPr lang="ko-KR" altLang="en-US" sz="1400" b="1" dirty="0">
                <a:solidFill>
                  <a:srgbClr val="3D3D3D"/>
                </a:solidFill>
              </a:rPr>
              <a:t>합병계약 체결</a:t>
            </a:r>
            <a:r>
              <a:rPr lang="en-US" altLang="ko-KR" sz="1400" b="1" dirty="0">
                <a:solidFill>
                  <a:srgbClr val="3D3D3D"/>
                </a:solidFill>
              </a:rPr>
              <a:t>, SEC Filing </a:t>
            </a:r>
            <a:r>
              <a:rPr lang="ko-KR" altLang="en-US" sz="1400" b="1" dirty="0">
                <a:solidFill>
                  <a:srgbClr val="3D3D3D"/>
                </a:solidFill>
              </a:rPr>
              <a:t>작성 </a:t>
            </a:r>
            <a:r>
              <a:rPr lang="en-US" altLang="ko-KR" sz="1400" b="1" dirty="0">
                <a:solidFill>
                  <a:srgbClr val="3D3D3D"/>
                </a:solidFill>
              </a:rPr>
              <a:t>· </a:t>
            </a:r>
            <a:r>
              <a:rPr lang="ko-KR" altLang="en-US" sz="1400" b="1" dirty="0">
                <a:solidFill>
                  <a:srgbClr val="3D3D3D"/>
                </a:solidFill>
              </a:rPr>
              <a:t>제출 및 </a:t>
            </a:r>
            <a:r>
              <a:rPr lang="en-US" altLang="ko-KR" sz="1400" b="1" dirty="0">
                <a:solidFill>
                  <a:srgbClr val="3D3D3D"/>
                </a:solidFill>
              </a:rPr>
              <a:t>Comment </a:t>
            </a:r>
            <a:r>
              <a:rPr lang="ko-KR" altLang="en-US" sz="1400" b="1" dirty="0">
                <a:solidFill>
                  <a:srgbClr val="3D3D3D"/>
                </a:solidFill>
              </a:rPr>
              <a:t>대응 등의 </a:t>
            </a:r>
            <a:r>
              <a:rPr lang="en-US" altLang="ko-KR" sz="1400" b="1" dirty="0">
                <a:solidFill>
                  <a:srgbClr val="3D3D3D"/>
                </a:solidFill>
              </a:rPr>
              <a:t>SPAC </a:t>
            </a:r>
            <a:r>
              <a:rPr lang="ko-KR" altLang="en-US" sz="1400" b="1" dirty="0">
                <a:solidFill>
                  <a:srgbClr val="3D3D3D"/>
                </a:solidFill>
              </a:rPr>
              <a:t>합병상장 절차 수행을 위한 다양한 </a:t>
            </a:r>
            <a:r>
              <a:rPr lang="ko-KR" altLang="en-US" sz="1400" b="1" dirty="0" err="1">
                <a:solidFill>
                  <a:srgbClr val="3D3D3D"/>
                </a:solidFill>
              </a:rPr>
              <a:t>자문사</a:t>
            </a:r>
            <a:r>
              <a:rPr lang="ko-KR" altLang="en-US" sz="1400" b="1" dirty="0">
                <a:solidFill>
                  <a:srgbClr val="3D3D3D"/>
                </a:solidFill>
              </a:rPr>
              <a:t> 선임이 필요합니다</a:t>
            </a:r>
            <a:r>
              <a:rPr lang="en-US" altLang="ko-KR" sz="1400" b="1" dirty="0">
                <a:solidFill>
                  <a:srgbClr val="3D3D3D"/>
                </a:solidFill>
              </a:rPr>
              <a:t>.</a:t>
            </a:r>
            <a:endParaRPr lang="ko-KR" altLang="en-US" sz="1400" b="1" dirty="0">
              <a:solidFill>
                <a:srgbClr val="3D3D3D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2D4F46C-8FD2-AD5C-12C7-B3500BADBFFA}"/>
              </a:ext>
            </a:extLst>
          </p:cNvPr>
          <p:cNvSpPr/>
          <p:nvPr/>
        </p:nvSpPr>
        <p:spPr>
          <a:xfrm>
            <a:off x="452999" y="1701138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미국 </a:t>
            </a:r>
            <a:r>
              <a:rPr lang="en-US" altLang="ko-KR" sz="1200" b="1" dirty="0">
                <a:solidFill>
                  <a:schemeClr val="bg1"/>
                </a:solidFill>
              </a:rPr>
              <a:t>SPAC </a:t>
            </a:r>
            <a:r>
              <a:rPr lang="ko-KR" altLang="en-US" sz="1200" b="1" dirty="0">
                <a:solidFill>
                  <a:schemeClr val="bg1"/>
                </a:solidFill>
              </a:rPr>
              <a:t>합병 상장을 위한 주요 절차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31FC2FE-7916-1F5E-92EE-18755D91CA0D}"/>
              </a:ext>
            </a:extLst>
          </p:cNvPr>
          <p:cNvSpPr/>
          <p:nvPr/>
        </p:nvSpPr>
        <p:spPr>
          <a:xfrm>
            <a:off x="5060999" y="1701138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미국 </a:t>
            </a:r>
            <a:r>
              <a:rPr lang="en-US" altLang="ko-KR" sz="1200" b="1" dirty="0">
                <a:solidFill>
                  <a:schemeClr val="bg1"/>
                </a:solidFill>
              </a:rPr>
              <a:t>SPAC </a:t>
            </a:r>
            <a:r>
              <a:rPr lang="ko-KR" altLang="en-US" sz="1200" b="1" dirty="0">
                <a:solidFill>
                  <a:schemeClr val="bg1"/>
                </a:solidFill>
              </a:rPr>
              <a:t>합병 상장 시 필요 </a:t>
            </a:r>
            <a:r>
              <a:rPr lang="ko-KR" altLang="en-US" sz="1200" b="1" dirty="0" err="1">
                <a:solidFill>
                  <a:schemeClr val="bg1"/>
                </a:solidFill>
              </a:rPr>
              <a:t>자문사</a:t>
            </a:r>
            <a:r>
              <a:rPr lang="ko-KR" altLang="en-US" sz="1200" b="1" dirty="0">
                <a:solidFill>
                  <a:schemeClr val="bg1"/>
                </a:solidFill>
              </a:rPr>
              <a:t> 및 주요 역할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900312-4FD3-EF8C-0B83-E097860EC43D}"/>
              </a:ext>
            </a:extLst>
          </p:cNvPr>
          <p:cNvSpPr txBox="1"/>
          <p:nvPr/>
        </p:nvSpPr>
        <p:spPr>
          <a:xfrm>
            <a:off x="1316999" y="2199336"/>
            <a:ext cx="3528000" cy="586379"/>
          </a:xfrm>
          <a:prstGeom prst="rect">
            <a:avLst/>
          </a:prstGeom>
          <a:noFill/>
        </p:spPr>
        <p:txBody>
          <a:bodyPr wrap="square" lIns="180000" tIns="0" rIns="0" bIns="0" rtlCol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100"/>
              </a:spcAft>
            </a:pPr>
            <a:r>
              <a:rPr lang="ko-KR" altLang="en-US" sz="1000" b="1" dirty="0">
                <a:solidFill>
                  <a:srgbClr val="1C8F57"/>
                </a:solidFill>
              </a:rPr>
              <a:t>합병대상 </a:t>
            </a:r>
            <a:r>
              <a:rPr lang="en-US" altLang="ko-KR" sz="1000" b="1" dirty="0">
                <a:solidFill>
                  <a:srgbClr val="1C8F57"/>
                </a:solidFill>
              </a:rPr>
              <a:t>SPAC </a:t>
            </a:r>
            <a:r>
              <a:rPr lang="ko-KR" altLang="en-US" sz="1000" b="1" dirty="0">
                <a:solidFill>
                  <a:srgbClr val="1C8F57"/>
                </a:solidFill>
              </a:rPr>
              <a:t>검토 및 확보</a:t>
            </a:r>
            <a:endParaRPr lang="en-US" altLang="ko-KR" sz="1000" b="1" dirty="0">
              <a:solidFill>
                <a:srgbClr val="1C8F57"/>
              </a:solidFill>
            </a:endParaRPr>
          </a:p>
          <a:p>
            <a:pPr marL="171450" indent="-171450" algn="l">
              <a:lnSpc>
                <a:spcPct val="11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000" dirty="0"/>
              <a:t>최소 합병요건</a:t>
            </a:r>
            <a:r>
              <a:rPr lang="en-US" altLang="ko-KR" sz="1000" dirty="0"/>
              <a:t>, </a:t>
            </a:r>
            <a:r>
              <a:rPr lang="ko-KR" altLang="en-US" sz="1000" dirty="0"/>
              <a:t>만기 등 고려한 적정 </a:t>
            </a:r>
            <a:r>
              <a:rPr lang="en-US" altLang="ko-KR" sz="1000" dirty="0"/>
              <a:t>SPAC </a:t>
            </a:r>
            <a:r>
              <a:rPr lang="ko-KR" altLang="en-US" sz="1000" dirty="0"/>
              <a:t>검토</a:t>
            </a:r>
            <a:endParaRPr lang="en-US" altLang="ko-KR" sz="1000" dirty="0"/>
          </a:p>
          <a:p>
            <a:pPr marL="171450" indent="-171450" algn="l">
              <a:lnSpc>
                <a:spcPct val="11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000" dirty="0"/>
              <a:t>해당 </a:t>
            </a:r>
            <a:r>
              <a:rPr lang="en-US" altLang="ko-KR" sz="1000" dirty="0"/>
              <a:t>SPAC</a:t>
            </a:r>
            <a:r>
              <a:rPr lang="ko-KR" altLang="en-US" sz="1000" dirty="0"/>
              <a:t>의 </a:t>
            </a:r>
            <a:r>
              <a:rPr lang="en-US" altLang="ko-KR" sz="1000" dirty="0"/>
              <a:t>Sponsor</a:t>
            </a:r>
            <a:r>
              <a:rPr lang="ko-KR" altLang="en-US" sz="1000" dirty="0"/>
              <a:t>와 합병 관련 협의 및 </a:t>
            </a:r>
            <a:r>
              <a:rPr lang="en-US" altLang="ko-KR" sz="1000" dirty="0"/>
              <a:t>Consensus </a:t>
            </a:r>
            <a:r>
              <a:rPr lang="ko-KR" altLang="en-US" sz="1000" dirty="0"/>
              <a:t>확보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9643845-1477-B4A4-942D-2BA298F6F12C}"/>
              </a:ext>
            </a:extLst>
          </p:cNvPr>
          <p:cNvSpPr/>
          <p:nvPr/>
        </p:nvSpPr>
        <p:spPr>
          <a:xfrm>
            <a:off x="452999" y="2168525"/>
            <a:ext cx="864000" cy="648000"/>
          </a:xfrm>
          <a:prstGeom prst="rect">
            <a:avLst/>
          </a:prstGeom>
          <a:solidFill>
            <a:srgbClr val="26C260"/>
          </a:solidFill>
          <a:ln w="6350">
            <a:solidFill>
              <a:srgbClr val="26C2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D-12 ~ 7</a:t>
            </a:r>
            <a:r>
              <a:rPr lang="ko-KR" altLang="en-US" sz="1000" b="1" dirty="0">
                <a:solidFill>
                  <a:schemeClr val="bg1"/>
                </a:solidFill>
              </a:rPr>
              <a:t>개월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8146FD-43E4-C231-B5B7-09FAE5150682}"/>
              </a:ext>
            </a:extLst>
          </p:cNvPr>
          <p:cNvSpPr txBox="1"/>
          <p:nvPr/>
        </p:nvSpPr>
        <p:spPr>
          <a:xfrm>
            <a:off x="1316999" y="2982692"/>
            <a:ext cx="3528000" cy="586379"/>
          </a:xfrm>
          <a:prstGeom prst="rect">
            <a:avLst/>
          </a:prstGeom>
          <a:noFill/>
        </p:spPr>
        <p:txBody>
          <a:bodyPr wrap="square" lIns="180000" tIns="0" rIns="0" bIns="0" rtlCol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100"/>
              </a:spcAft>
            </a:pPr>
            <a:r>
              <a:rPr lang="ko-KR" altLang="en-US" sz="1000" b="1" dirty="0">
                <a:solidFill>
                  <a:srgbClr val="1C8F57"/>
                </a:solidFill>
              </a:rPr>
              <a:t>상호 실사 및 합병계약 체결</a:t>
            </a:r>
            <a:endParaRPr lang="en-US" altLang="ko-KR" sz="1000" b="1" dirty="0">
              <a:solidFill>
                <a:srgbClr val="1C8F57"/>
              </a:solidFill>
            </a:endParaRPr>
          </a:p>
          <a:p>
            <a:pPr marL="171450" indent="-171450" algn="l">
              <a:lnSpc>
                <a:spcPct val="11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000" dirty="0"/>
              <a:t>상호 </a:t>
            </a:r>
            <a:r>
              <a:rPr lang="en-US" altLang="ko-KR" sz="1000" dirty="0"/>
              <a:t>NDA </a:t>
            </a:r>
            <a:r>
              <a:rPr lang="ko-KR" altLang="en-US" sz="1000" dirty="0"/>
              <a:t>체결 후 합병대상 </a:t>
            </a:r>
            <a:r>
              <a:rPr lang="en-US" altLang="ko-KR" sz="1000" dirty="0"/>
              <a:t>SPAC</a:t>
            </a:r>
            <a:r>
              <a:rPr lang="ko-KR" altLang="en-US" sz="1000" dirty="0"/>
              <a:t>의 실사 대응</a:t>
            </a:r>
            <a:endParaRPr lang="en-US" altLang="ko-KR" sz="1000" dirty="0"/>
          </a:p>
          <a:p>
            <a:pPr marL="171450" indent="-171450" algn="l">
              <a:lnSpc>
                <a:spcPct val="11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000" dirty="0"/>
              <a:t>합병대상 </a:t>
            </a:r>
            <a:r>
              <a:rPr lang="en-US" altLang="ko-KR" sz="1000" dirty="0"/>
              <a:t>SPAC</a:t>
            </a:r>
            <a:r>
              <a:rPr lang="ko-KR" altLang="en-US" sz="1000" dirty="0"/>
              <a:t>의 </a:t>
            </a:r>
            <a:r>
              <a:rPr lang="en-US" altLang="ko-KR" sz="1000" dirty="0"/>
              <a:t>LOI </a:t>
            </a:r>
            <a:r>
              <a:rPr lang="ko-KR" altLang="en-US" sz="1000" dirty="0"/>
              <a:t>제출 후 양사간 합병계약 체결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4FAA28-35A4-32FB-3D49-10C7AFDC5E87}"/>
              </a:ext>
            </a:extLst>
          </p:cNvPr>
          <p:cNvSpPr txBox="1"/>
          <p:nvPr/>
        </p:nvSpPr>
        <p:spPr>
          <a:xfrm>
            <a:off x="1316999" y="3766048"/>
            <a:ext cx="3528000" cy="586379"/>
          </a:xfrm>
          <a:prstGeom prst="rect">
            <a:avLst/>
          </a:prstGeom>
          <a:noFill/>
        </p:spPr>
        <p:txBody>
          <a:bodyPr wrap="square" lIns="180000" tIns="0" rIns="0" bIns="0" rtlCol="0" anchor="ctr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100"/>
              </a:spcAft>
            </a:pPr>
            <a:r>
              <a:rPr lang="en-US" altLang="ko-KR" sz="1000" b="1" dirty="0">
                <a:solidFill>
                  <a:srgbClr val="1C8F57"/>
                </a:solidFill>
              </a:rPr>
              <a:t>SEC Filing </a:t>
            </a:r>
            <a:r>
              <a:rPr lang="ko-KR" altLang="en-US" sz="1000" b="1" dirty="0">
                <a:solidFill>
                  <a:srgbClr val="1C8F57"/>
                </a:solidFill>
              </a:rPr>
              <a:t>준비</a:t>
            </a:r>
            <a:endParaRPr lang="en-US" altLang="ko-KR" sz="1000" b="1" dirty="0">
              <a:solidFill>
                <a:srgbClr val="1C8F57"/>
              </a:solidFill>
            </a:endParaRPr>
          </a:p>
          <a:p>
            <a:pPr marL="171450" indent="-171450" algn="l">
              <a:lnSpc>
                <a:spcPct val="11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000" dirty="0"/>
              <a:t>감사보고서 포함 </a:t>
            </a:r>
            <a:r>
              <a:rPr lang="en-US" altLang="ko-KR" sz="1000" dirty="0"/>
              <a:t>SEC Filing </a:t>
            </a:r>
            <a:r>
              <a:rPr lang="ko-KR" altLang="en-US" sz="1000" dirty="0"/>
              <a:t>준비</a:t>
            </a:r>
            <a:endParaRPr lang="en-US" altLang="ko-KR" sz="1000" dirty="0"/>
          </a:p>
          <a:p>
            <a:pPr marL="171450" indent="-171450" algn="l">
              <a:lnSpc>
                <a:spcPct val="11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000" dirty="0"/>
              <a:t>상장자격에 따라 </a:t>
            </a:r>
            <a:r>
              <a:rPr lang="en-US" altLang="ko-KR" sz="1000" dirty="0"/>
              <a:t>Form S-1 (</a:t>
            </a:r>
            <a:r>
              <a:rPr lang="ko-KR" altLang="en-US" sz="1000" dirty="0"/>
              <a:t>미국기업</a:t>
            </a:r>
            <a:r>
              <a:rPr lang="en-US" altLang="ko-KR" sz="1000" dirty="0"/>
              <a:t>) </a:t>
            </a:r>
            <a:r>
              <a:rPr lang="ko-KR" altLang="en-US" sz="1000" dirty="0"/>
              <a:t>또는 </a:t>
            </a:r>
            <a:r>
              <a:rPr lang="en-US" altLang="ko-KR" sz="1000" dirty="0"/>
              <a:t>F-1 (</a:t>
            </a:r>
            <a:r>
              <a:rPr lang="ko-KR" altLang="en-US" sz="1000" dirty="0"/>
              <a:t>외국기업</a:t>
            </a:r>
            <a:r>
              <a:rPr lang="en-US" altLang="ko-KR" sz="1000" dirty="0"/>
              <a:t>) </a:t>
            </a:r>
            <a:r>
              <a:rPr lang="ko-KR" altLang="en-US" sz="1000" dirty="0"/>
              <a:t>적용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49231A-2FCB-8FAB-EE42-D1B941B8E553}"/>
              </a:ext>
            </a:extLst>
          </p:cNvPr>
          <p:cNvSpPr txBox="1"/>
          <p:nvPr/>
        </p:nvSpPr>
        <p:spPr>
          <a:xfrm>
            <a:off x="1316999" y="4549404"/>
            <a:ext cx="3528000" cy="586379"/>
          </a:xfrm>
          <a:prstGeom prst="rect">
            <a:avLst/>
          </a:prstGeom>
          <a:noFill/>
        </p:spPr>
        <p:txBody>
          <a:bodyPr wrap="square" lIns="180000" tIns="0" rIns="0" bIns="0" rtlCol="0" anchor="ctr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100"/>
              </a:spcAft>
            </a:pPr>
            <a:r>
              <a:rPr lang="en-US" altLang="ko-KR" sz="1000" b="1" dirty="0">
                <a:solidFill>
                  <a:srgbClr val="1C8F57"/>
                </a:solidFill>
              </a:rPr>
              <a:t>SEC Filing </a:t>
            </a:r>
            <a:r>
              <a:rPr lang="ko-KR" altLang="en-US" sz="1000" b="1" dirty="0">
                <a:solidFill>
                  <a:srgbClr val="1C8F57"/>
                </a:solidFill>
              </a:rPr>
              <a:t>제출 및 </a:t>
            </a:r>
            <a:r>
              <a:rPr lang="en-US" altLang="ko-KR" sz="1000" b="1" dirty="0">
                <a:solidFill>
                  <a:srgbClr val="1C8F57"/>
                </a:solidFill>
              </a:rPr>
              <a:t>Comment </a:t>
            </a:r>
            <a:r>
              <a:rPr lang="ko-KR" altLang="en-US" sz="1000" b="1" dirty="0">
                <a:solidFill>
                  <a:srgbClr val="1C8F57"/>
                </a:solidFill>
              </a:rPr>
              <a:t>대응</a:t>
            </a:r>
            <a:endParaRPr lang="en-US" altLang="ko-KR" sz="1000" b="1" dirty="0">
              <a:solidFill>
                <a:srgbClr val="1C8F57"/>
              </a:solidFill>
            </a:endParaRPr>
          </a:p>
          <a:p>
            <a:pPr marL="171450" indent="-171450" algn="l">
              <a:lnSpc>
                <a:spcPct val="11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000" dirty="0"/>
              <a:t>SEC Filing </a:t>
            </a:r>
            <a:r>
              <a:rPr lang="ko-KR" altLang="en-US" sz="1000" dirty="0"/>
              <a:t>제출 후 </a:t>
            </a:r>
            <a:r>
              <a:rPr lang="en-US" altLang="ko-KR" sz="1000" dirty="0"/>
              <a:t>SEC</a:t>
            </a:r>
            <a:r>
              <a:rPr lang="ko-KR" altLang="en-US" sz="1000" dirty="0"/>
              <a:t>의 서면 질의응답</a:t>
            </a:r>
            <a:r>
              <a:rPr lang="en-US" altLang="ko-KR" sz="1000" dirty="0"/>
              <a:t>(Comment) </a:t>
            </a:r>
            <a:r>
              <a:rPr lang="ko-KR" altLang="en-US" sz="1000" dirty="0"/>
              <a:t>대응</a:t>
            </a:r>
            <a:endParaRPr lang="en-US" altLang="ko-KR" sz="1000" dirty="0"/>
          </a:p>
          <a:p>
            <a:pPr marL="171450" indent="-171450" algn="l">
              <a:lnSpc>
                <a:spcPct val="11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000" dirty="0"/>
              <a:t>미국 </a:t>
            </a:r>
            <a:r>
              <a:rPr lang="en-US" altLang="ko-KR" sz="1000" dirty="0"/>
              <a:t>· </a:t>
            </a:r>
            <a:r>
              <a:rPr lang="ko-KR" altLang="en-US" sz="1000" dirty="0"/>
              <a:t>글로벌 시장 </a:t>
            </a:r>
            <a:r>
              <a:rPr lang="en-US" altLang="ko-KR" sz="1000" dirty="0"/>
              <a:t>Road Show </a:t>
            </a:r>
            <a:r>
              <a:rPr lang="ko-KR" altLang="en-US" sz="1000" dirty="0"/>
              <a:t>등 통한 </a:t>
            </a:r>
            <a:r>
              <a:rPr lang="en-US" altLang="ko-KR" sz="1000" dirty="0"/>
              <a:t>PIPE </a:t>
            </a:r>
            <a:r>
              <a:rPr lang="ko-KR" altLang="en-US" sz="1000" dirty="0"/>
              <a:t>투자 유치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51AD80-DCAC-EBF4-C95E-084903BBA860}"/>
              </a:ext>
            </a:extLst>
          </p:cNvPr>
          <p:cNvSpPr txBox="1"/>
          <p:nvPr/>
        </p:nvSpPr>
        <p:spPr>
          <a:xfrm>
            <a:off x="1316999" y="5332761"/>
            <a:ext cx="3528000" cy="586379"/>
          </a:xfrm>
          <a:prstGeom prst="rect">
            <a:avLst/>
          </a:prstGeom>
          <a:noFill/>
        </p:spPr>
        <p:txBody>
          <a:bodyPr wrap="square" lIns="180000" tIns="0" rIns="0" bIns="0" rtlCol="0" anchor="ctr">
            <a:sp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100"/>
              </a:spcAft>
            </a:pPr>
            <a:r>
              <a:rPr lang="en-US" altLang="ko-KR" sz="1000" b="1" dirty="0">
                <a:solidFill>
                  <a:srgbClr val="1C8F57"/>
                </a:solidFill>
              </a:rPr>
              <a:t>SEC </a:t>
            </a:r>
            <a:r>
              <a:rPr lang="ko-KR" altLang="en-US" sz="1000" b="1" dirty="0">
                <a:solidFill>
                  <a:srgbClr val="1C8F57"/>
                </a:solidFill>
              </a:rPr>
              <a:t>승인</a:t>
            </a:r>
            <a:r>
              <a:rPr lang="en-US" altLang="ko-KR" sz="1000" b="1" dirty="0">
                <a:solidFill>
                  <a:srgbClr val="1C8F57"/>
                </a:solidFill>
              </a:rPr>
              <a:t>, </a:t>
            </a:r>
            <a:r>
              <a:rPr lang="ko-KR" altLang="en-US" sz="1000" b="1" dirty="0">
                <a:solidFill>
                  <a:srgbClr val="1C8F57"/>
                </a:solidFill>
              </a:rPr>
              <a:t>주주총회 승인 및 </a:t>
            </a:r>
            <a:r>
              <a:rPr lang="en-US" altLang="ko-KR" sz="1000" b="1" dirty="0">
                <a:solidFill>
                  <a:srgbClr val="1C8F57"/>
                </a:solidFill>
              </a:rPr>
              <a:t>NASDAQ </a:t>
            </a:r>
            <a:r>
              <a:rPr lang="ko-KR" altLang="en-US" sz="1000" b="1" dirty="0">
                <a:solidFill>
                  <a:srgbClr val="1C8F57"/>
                </a:solidFill>
              </a:rPr>
              <a:t>승인</a:t>
            </a:r>
            <a:endParaRPr lang="en-US" altLang="ko-KR" sz="1000" b="1" dirty="0">
              <a:solidFill>
                <a:srgbClr val="1C8F57"/>
              </a:solidFill>
            </a:endParaRPr>
          </a:p>
          <a:p>
            <a:pPr marL="171450" indent="-171450" algn="l">
              <a:lnSpc>
                <a:spcPct val="11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000" dirty="0"/>
              <a:t>SEC </a:t>
            </a:r>
            <a:r>
              <a:rPr lang="ko-KR" altLang="en-US" sz="1000" dirty="0"/>
              <a:t>승인 후 </a:t>
            </a:r>
            <a:r>
              <a:rPr lang="en-US" altLang="ko-KR" sz="1000" dirty="0"/>
              <a:t>SPAC </a:t>
            </a:r>
            <a:r>
              <a:rPr lang="ko-KR" altLang="en-US" sz="1000" dirty="0"/>
              <a:t>및 대상회사</a:t>
            </a:r>
            <a:r>
              <a:rPr lang="en-US" altLang="ko-KR" sz="1000" dirty="0"/>
              <a:t> </a:t>
            </a:r>
            <a:r>
              <a:rPr lang="ko-KR" altLang="en-US" sz="1000" dirty="0"/>
              <a:t>주주총회 통한 합병 승인</a:t>
            </a:r>
            <a:endParaRPr lang="en-US" altLang="ko-KR" sz="1000" dirty="0"/>
          </a:p>
          <a:p>
            <a:pPr marL="171450" indent="-171450" algn="l">
              <a:lnSpc>
                <a:spcPct val="11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000" dirty="0"/>
              <a:t>NASDAQ </a:t>
            </a:r>
            <a:r>
              <a:rPr lang="ko-KR" altLang="en-US" sz="1000" dirty="0"/>
              <a:t>거래소 최종 승인 후 </a:t>
            </a:r>
            <a:r>
              <a:rPr lang="en-US" altLang="ko-KR" sz="1000" dirty="0"/>
              <a:t>Ticker </a:t>
            </a:r>
            <a:r>
              <a:rPr lang="ko-KR" altLang="en-US" sz="1000" dirty="0"/>
              <a:t>변경 </a:t>
            </a:r>
            <a:r>
              <a:rPr lang="en-US" altLang="ko-KR" sz="1000" dirty="0"/>
              <a:t>· </a:t>
            </a:r>
            <a:r>
              <a:rPr lang="ko-KR" altLang="en-US" sz="1000" dirty="0"/>
              <a:t>거래 개시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A091385-BF29-D49F-5D50-3E2B35A0E5DC}"/>
              </a:ext>
            </a:extLst>
          </p:cNvPr>
          <p:cNvSpPr/>
          <p:nvPr/>
        </p:nvSpPr>
        <p:spPr>
          <a:xfrm>
            <a:off x="452999" y="2951881"/>
            <a:ext cx="864000" cy="648000"/>
          </a:xfrm>
          <a:prstGeom prst="rect">
            <a:avLst/>
          </a:prstGeom>
          <a:solidFill>
            <a:srgbClr val="26C260"/>
          </a:solidFill>
          <a:ln w="6350">
            <a:solidFill>
              <a:srgbClr val="26C2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D-7 ~ 6</a:t>
            </a:r>
            <a:r>
              <a:rPr lang="ko-KR" altLang="en-US" sz="1000" b="1" dirty="0">
                <a:solidFill>
                  <a:schemeClr val="bg1"/>
                </a:solidFill>
              </a:rPr>
              <a:t>개월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E9ADB46-D713-5F98-A9FB-A0DC54CF1996}"/>
              </a:ext>
            </a:extLst>
          </p:cNvPr>
          <p:cNvSpPr/>
          <p:nvPr/>
        </p:nvSpPr>
        <p:spPr>
          <a:xfrm>
            <a:off x="452999" y="3735237"/>
            <a:ext cx="864000" cy="648000"/>
          </a:xfrm>
          <a:prstGeom prst="rect">
            <a:avLst/>
          </a:prstGeom>
          <a:solidFill>
            <a:srgbClr val="26C260"/>
          </a:solidFill>
          <a:ln w="6350">
            <a:solidFill>
              <a:srgbClr val="26C2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D-6 ~ 4</a:t>
            </a:r>
            <a:r>
              <a:rPr lang="ko-KR" altLang="en-US" sz="1000" b="1" dirty="0">
                <a:solidFill>
                  <a:schemeClr val="bg1"/>
                </a:solidFill>
              </a:rPr>
              <a:t>개월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45D3C36-517B-FD39-80F6-CBB07019F11B}"/>
              </a:ext>
            </a:extLst>
          </p:cNvPr>
          <p:cNvSpPr/>
          <p:nvPr/>
        </p:nvSpPr>
        <p:spPr>
          <a:xfrm>
            <a:off x="452999" y="4518593"/>
            <a:ext cx="864000" cy="648000"/>
          </a:xfrm>
          <a:prstGeom prst="rect">
            <a:avLst/>
          </a:prstGeom>
          <a:solidFill>
            <a:srgbClr val="26C260"/>
          </a:solidFill>
          <a:ln w="6350">
            <a:solidFill>
              <a:srgbClr val="26C2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D-4 ~ 1</a:t>
            </a:r>
            <a:r>
              <a:rPr lang="ko-KR" altLang="en-US" sz="1000" b="1" dirty="0">
                <a:solidFill>
                  <a:schemeClr val="bg1"/>
                </a:solidFill>
              </a:rPr>
              <a:t>개월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10A82B7-843A-DF7E-7F25-32A47E393CFC}"/>
              </a:ext>
            </a:extLst>
          </p:cNvPr>
          <p:cNvSpPr/>
          <p:nvPr/>
        </p:nvSpPr>
        <p:spPr>
          <a:xfrm>
            <a:off x="452999" y="5301950"/>
            <a:ext cx="864000" cy="648000"/>
          </a:xfrm>
          <a:prstGeom prst="rect">
            <a:avLst/>
          </a:prstGeom>
          <a:solidFill>
            <a:srgbClr val="26C260"/>
          </a:solidFill>
          <a:ln w="6350">
            <a:solidFill>
              <a:srgbClr val="26C2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D-1</a:t>
            </a:r>
            <a:r>
              <a:rPr lang="ko-KR" altLang="en-US" sz="1000" b="1" dirty="0">
                <a:solidFill>
                  <a:schemeClr val="bg1"/>
                </a:solidFill>
              </a:rPr>
              <a:t>개월 </a:t>
            </a:r>
            <a:endParaRPr lang="en-US" altLang="ko-KR" sz="1000" b="1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b="1" dirty="0">
                <a:solidFill>
                  <a:schemeClr val="bg1"/>
                </a:solidFill>
              </a:rPr>
              <a:t>~ D-Day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2" name="이등변 삼각형 21">
            <a:extLst>
              <a:ext uri="{FF2B5EF4-FFF2-40B4-BE49-F238E27FC236}">
                <a16:creationId xmlns:a16="http://schemas.microsoft.com/office/drawing/2014/main" id="{0A2698A6-5D21-CD62-D863-F1108E64D1BF}"/>
              </a:ext>
            </a:extLst>
          </p:cNvPr>
          <p:cNvSpPr/>
          <p:nvPr/>
        </p:nvSpPr>
        <p:spPr>
          <a:xfrm rot="10800000">
            <a:off x="740999" y="2839203"/>
            <a:ext cx="288000" cy="90000"/>
          </a:xfrm>
          <a:prstGeom prst="triangle">
            <a:avLst/>
          </a:prstGeom>
          <a:solidFill>
            <a:srgbClr val="B0B0B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4" name="이등변 삼각형 23">
            <a:extLst>
              <a:ext uri="{FF2B5EF4-FFF2-40B4-BE49-F238E27FC236}">
                <a16:creationId xmlns:a16="http://schemas.microsoft.com/office/drawing/2014/main" id="{8C4A2A0D-0647-19F8-5DDD-9892F129F4D2}"/>
              </a:ext>
            </a:extLst>
          </p:cNvPr>
          <p:cNvSpPr/>
          <p:nvPr/>
        </p:nvSpPr>
        <p:spPr>
          <a:xfrm rot="10800000">
            <a:off x="740999" y="3622559"/>
            <a:ext cx="288000" cy="90000"/>
          </a:xfrm>
          <a:prstGeom prst="triangle">
            <a:avLst/>
          </a:prstGeom>
          <a:solidFill>
            <a:srgbClr val="B0B0B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5" name="이등변 삼각형 24">
            <a:extLst>
              <a:ext uri="{FF2B5EF4-FFF2-40B4-BE49-F238E27FC236}">
                <a16:creationId xmlns:a16="http://schemas.microsoft.com/office/drawing/2014/main" id="{6B47ABCC-DBF4-B7B0-2331-D253E2C1035E}"/>
              </a:ext>
            </a:extLst>
          </p:cNvPr>
          <p:cNvSpPr/>
          <p:nvPr/>
        </p:nvSpPr>
        <p:spPr>
          <a:xfrm rot="10800000">
            <a:off x="741000" y="4405915"/>
            <a:ext cx="288000" cy="90000"/>
          </a:xfrm>
          <a:prstGeom prst="triangle">
            <a:avLst/>
          </a:prstGeom>
          <a:solidFill>
            <a:srgbClr val="B0B0B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6" name="이등변 삼각형 25">
            <a:extLst>
              <a:ext uri="{FF2B5EF4-FFF2-40B4-BE49-F238E27FC236}">
                <a16:creationId xmlns:a16="http://schemas.microsoft.com/office/drawing/2014/main" id="{AB98DFF7-9ACC-F22E-23D5-391C4CEA65FB}"/>
              </a:ext>
            </a:extLst>
          </p:cNvPr>
          <p:cNvSpPr/>
          <p:nvPr/>
        </p:nvSpPr>
        <p:spPr>
          <a:xfrm rot="10800000">
            <a:off x="741000" y="5189271"/>
            <a:ext cx="288000" cy="90000"/>
          </a:xfrm>
          <a:prstGeom prst="triangle">
            <a:avLst/>
          </a:prstGeom>
          <a:solidFill>
            <a:srgbClr val="B0B0B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AE436D0-4F71-BF52-9AD0-83ECA8F07277}"/>
              </a:ext>
            </a:extLst>
          </p:cNvPr>
          <p:cNvSpPr/>
          <p:nvPr/>
        </p:nvSpPr>
        <p:spPr>
          <a:xfrm>
            <a:off x="5060999" y="2168525"/>
            <a:ext cx="4392001" cy="864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300"/>
              </a:spcBef>
              <a:spcAft>
                <a:spcPts val="400"/>
              </a:spcAft>
            </a:pPr>
            <a:r>
              <a:rPr lang="ko-KR" altLang="en-US" sz="1000" b="1" dirty="0">
                <a:solidFill>
                  <a:schemeClr val="tx1"/>
                </a:solidFill>
              </a:rPr>
              <a:t>회계법인 </a:t>
            </a:r>
            <a:r>
              <a:rPr lang="en-US" altLang="ko-KR" sz="1000" b="1" dirty="0">
                <a:solidFill>
                  <a:schemeClr val="tx1"/>
                </a:solidFill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</a:rPr>
              <a:t>국내 및 미국 현지</a:t>
            </a:r>
            <a:r>
              <a:rPr lang="en-US" altLang="ko-KR" sz="1000" b="1" dirty="0">
                <a:solidFill>
                  <a:schemeClr val="tx1"/>
                </a:solidFill>
              </a:rPr>
              <a:t>)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상장자격에 따른 </a:t>
            </a:r>
            <a:r>
              <a:rPr lang="en-US" altLang="ko-KR" sz="1000" dirty="0">
                <a:solidFill>
                  <a:schemeClr val="tx1"/>
                </a:solidFill>
              </a:rPr>
              <a:t>US GAAP </a:t>
            </a:r>
            <a:r>
              <a:rPr lang="ko-KR" altLang="en-US" sz="1000" dirty="0">
                <a:solidFill>
                  <a:schemeClr val="tx1"/>
                </a:solidFill>
              </a:rPr>
              <a:t>또는 </a:t>
            </a:r>
            <a:r>
              <a:rPr lang="en-US" altLang="ko-KR" sz="1000" dirty="0">
                <a:solidFill>
                  <a:schemeClr val="tx1"/>
                </a:solidFill>
              </a:rPr>
              <a:t>IFRS </a:t>
            </a:r>
            <a:r>
              <a:rPr lang="ko-KR" altLang="en-US" sz="1000" dirty="0">
                <a:solidFill>
                  <a:schemeClr val="tx1"/>
                </a:solidFill>
              </a:rPr>
              <a:t>감사 준비 및 회계감사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대응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ko-KR" sz="1000" dirty="0">
                <a:solidFill>
                  <a:schemeClr val="tx1"/>
                </a:solidFill>
              </a:rPr>
              <a:t>De-SPAC </a:t>
            </a:r>
            <a:r>
              <a:rPr lang="ko-KR" altLang="en-US" sz="1000" dirty="0">
                <a:solidFill>
                  <a:schemeClr val="tx1"/>
                </a:solidFill>
              </a:rPr>
              <a:t>구조에 따른 세무효과 검토 및 </a:t>
            </a:r>
            <a:r>
              <a:rPr lang="en-US" altLang="ko-KR" sz="1000" dirty="0">
                <a:solidFill>
                  <a:schemeClr val="tx1"/>
                </a:solidFill>
              </a:rPr>
              <a:t>BCA </a:t>
            </a:r>
            <a:r>
              <a:rPr lang="ko-KR" altLang="en-US" sz="1000" dirty="0">
                <a:solidFill>
                  <a:schemeClr val="tx1"/>
                </a:solidFill>
              </a:rPr>
              <a:t>검토</a:t>
            </a: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ko-KR" sz="1000" dirty="0">
                <a:solidFill>
                  <a:schemeClr val="tx1"/>
                </a:solidFill>
              </a:rPr>
              <a:t>Accounting Memo </a:t>
            </a:r>
            <a:r>
              <a:rPr lang="ko-KR" altLang="en-US" sz="1000" dirty="0">
                <a:solidFill>
                  <a:schemeClr val="tx1"/>
                </a:solidFill>
              </a:rPr>
              <a:t>포함한 </a:t>
            </a:r>
            <a:r>
              <a:rPr lang="en-US" altLang="ko-KR" sz="1000" dirty="0">
                <a:solidFill>
                  <a:schemeClr val="tx1"/>
                </a:solidFill>
              </a:rPr>
              <a:t>SEC Filing </a:t>
            </a:r>
            <a:r>
              <a:rPr lang="ko-KR" altLang="en-US" sz="1000" dirty="0">
                <a:solidFill>
                  <a:schemeClr val="tx1"/>
                </a:solidFill>
              </a:rPr>
              <a:t>작성 지원 및 자문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95F2956-6489-2F71-3232-4214749CB7ED}"/>
              </a:ext>
            </a:extLst>
          </p:cNvPr>
          <p:cNvSpPr/>
          <p:nvPr/>
        </p:nvSpPr>
        <p:spPr>
          <a:xfrm>
            <a:off x="5060999" y="3141000"/>
            <a:ext cx="4392001" cy="864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300"/>
              </a:spcBef>
              <a:spcAft>
                <a:spcPts val="400"/>
              </a:spcAft>
            </a:pPr>
            <a:r>
              <a:rPr lang="ko-KR" altLang="en-US" sz="1000" b="1" dirty="0">
                <a:solidFill>
                  <a:schemeClr val="tx1"/>
                </a:solidFill>
              </a:rPr>
              <a:t>법무법인 </a:t>
            </a:r>
            <a:r>
              <a:rPr lang="en-US" altLang="ko-KR" sz="1000" b="1" dirty="0">
                <a:solidFill>
                  <a:schemeClr val="tx1"/>
                </a:solidFill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</a:rPr>
              <a:t>국내 및 미국 현지</a:t>
            </a:r>
            <a:r>
              <a:rPr lang="en-US" altLang="ko-KR" sz="1000" b="1" dirty="0">
                <a:solidFill>
                  <a:schemeClr val="tx1"/>
                </a:solidFill>
              </a:rPr>
              <a:t>)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외국기업 자격 여부 등 포함한 </a:t>
            </a:r>
            <a:r>
              <a:rPr lang="en-US" altLang="ko-KR" sz="1000" dirty="0">
                <a:solidFill>
                  <a:schemeClr val="tx1"/>
                </a:solidFill>
              </a:rPr>
              <a:t>De-SPAC </a:t>
            </a:r>
            <a:r>
              <a:rPr lang="ko-KR" altLang="en-US" sz="1000" dirty="0">
                <a:solidFill>
                  <a:schemeClr val="tx1"/>
                </a:solidFill>
              </a:rPr>
              <a:t>조건 및 구조 검토</a:t>
            </a: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합병대상 </a:t>
            </a:r>
            <a:r>
              <a:rPr lang="en-US" altLang="ko-KR" sz="1000" dirty="0">
                <a:solidFill>
                  <a:schemeClr val="tx1"/>
                </a:solidFill>
              </a:rPr>
              <a:t>SPAC</a:t>
            </a:r>
            <a:r>
              <a:rPr lang="ko-KR" altLang="en-US" sz="1000" dirty="0">
                <a:solidFill>
                  <a:schemeClr val="tx1"/>
                </a:solidFill>
              </a:rPr>
              <a:t>과 </a:t>
            </a:r>
            <a:r>
              <a:rPr lang="en-US" altLang="ko-KR" sz="1000" dirty="0">
                <a:solidFill>
                  <a:schemeClr val="tx1"/>
                </a:solidFill>
              </a:rPr>
              <a:t>NDA, LOI, MOU, </a:t>
            </a:r>
            <a:r>
              <a:rPr lang="ko-KR" altLang="en-US" sz="1000" dirty="0">
                <a:solidFill>
                  <a:schemeClr val="tx1"/>
                </a:solidFill>
              </a:rPr>
              <a:t>합병계약서 등 계약사항 작성 및 검토</a:t>
            </a: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ko-KR" sz="1000" dirty="0">
                <a:solidFill>
                  <a:schemeClr val="tx1"/>
                </a:solidFill>
              </a:rPr>
              <a:t>SEC Filing </a:t>
            </a:r>
            <a:r>
              <a:rPr lang="ko-KR" altLang="en-US" sz="1000" dirty="0">
                <a:solidFill>
                  <a:schemeClr val="tx1"/>
                </a:solidFill>
              </a:rPr>
              <a:t>작성 및 </a:t>
            </a:r>
            <a:r>
              <a:rPr lang="en-US" altLang="ko-KR" sz="1000" dirty="0">
                <a:solidFill>
                  <a:schemeClr val="tx1"/>
                </a:solidFill>
              </a:rPr>
              <a:t>SEC Comment </a:t>
            </a:r>
            <a:r>
              <a:rPr lang="ko-KR" altLang="en-US" sz="1000" dirty="0">
                <a:solidFill>
                  <a:schemeClr val="tx1"/>
                </a:solidFill>
              </a:rPr>
              <a:t>대응 주관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A2A769B-5523-17FF-B078-3AB763E727CA}"/>
              </a:ext>
            </a:extLst>
          </p:cNvPr>
          <p:cNvSpPr/>
          <p:nvPr/>
        </p:nvSpPr>
        <p:spPr>
          <a:xfrm>
            <a:off x="5060999" y="4113475"/>
            <a:ext cx="4392001" cy="864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300"/>
              </a:spcBef>
              <a:spcAft>
                <a:spcPts val="400"/>
              </a:spcAft>
            </a:pPr>
            <a:r>
              <a:rPr lang="ko-KR" altLang="en-US" sz="1000" b="1" dirty="0">
                <a:solidFill>
                  <a:schemeClr val="tx1"/>
                </a:solidFill>
              </a:rPr>
              <a:t>증권사 </a:t>
            </a:r>
            <a:r>
              <a:rPr lang="en-US" altLang="ko-KR" sz="1000" b="1" dirty="0">
                <a:solidFill>
                  <a:schemeClr val="tx1"/>
                </a:solidFill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</a:rPr>
              <a:t>미국 현지</a:t>
            </a:r>
            <a:r>
              <a:rPr lang="en-US" altLang="ko-KR" sz="1000" b="1" dirty="0">
                <a:solidFill>
                  <a:schemeClr val="tx1"/>
                </a:solidFill>
              </a:rPr>
              <a:t>)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미국 내 합병대상 </a:t>
            </a:r>
            <a:r>
              <a:rPr lang="en-US" altLang="ko-KR" sz="1000" dirty="0">
                <a:solidFill>
                  <a:schemeClr val="tx1"/>
                </a:solidFill>
              </a:rPr>
              <a:t>SPAC </a:t>
            </a:r>
            <a:r>
              <a:rPr lang="ko-KR" altLang="en-US" sz="1000" dirty="0">
                <a:solidFill>
                  <a:schemeClr val="tx1"/>
                </a:solidFill>
              </a:rPr>
              <a:t>검토 및 적정 합병대상 </a:t>
            </a:r>
            <a:r>
              <a:rPr lang="en-US" altLang="ko-KR" sz="1000" dirty="0">
                <a:solidFill>
                  <a:schemeClr val="tx1"/>
                </a:solidFill>
              </a:rPr>
              <a:t>SPAC </a:t>
            </a:r>
            <a:r>
              <a:rPr lang="ko-KR" altLang="en-US" sz="1000" dirty="0">
                <a:solidFill>
                  <a:schemeClr val="tx1"/>
                </a:solidFill>
              </a:rPr>
              <a:t>확보</a:t>
            </a: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미국 및 글로벌 시장 내 </a:t>
            </a:r>
            <a:r>
              <a:rPr lang="en-US" altLang="ko-KR" sz="1000" dirty="0">
                <a:solidFill>
                  <a:schemeClr val="tx1"/>
                </a:solidFill>
              </a:rPr>
              <a:t>PIPE </a:t>
            </a:r>
            <a:r>
              <a:rPr lang="ko-KR" altLang="en-US" sz="1000" dirty="0">
                <a:solidFill>
                  <a:schemeClr val="tx1"/>
                </a:solidFill>
              </a:rPr>
              <a:t>투자 유치 위한 주간사 역할 수행</a:t>
            </a:r>
          </a:p>
          <a:p>
            <a:pPr marL="358775" indent="-171450">
              <a:spcBef>
                <a:spcPts val="300"/>
              </a:spcBef>
              <a:buFont typeface="Pretendard" panose="02000503000000020004" pitchFamily="50" charset="-127"/>
              <a:buChar char="-"/>
            </a:pPr>
            <a:r>
              <a:rPr lang="en-US" altLang="ko-KR" sz="1000" dirty="0">
                <a:solidFill>
                  <a:schemeClr val="tx1"/>
                </a:solidFill>
              </a:rPr>
              <a:t>PIPE </a:t>
            </a:r>
            <a:r>
              <a:rPr lang="ko-KR" altLang="en-US" sz="1000" dirty="0">
                <a:solidFill>
                  <a:schemeClr val="tx1"/>
                </a:solidFill>
              </a:rPr>
              <a:t>투자</a:t>
            </a:r>
            <a:r>
              <a:rPr lang="en-US" altLang="ko-KR" sz="1000" dirty="0">
                <a:solidFill>
                  <a:schemeClr val="tx1"/>
                </a:solidFill>
              </a:rPr>
              <a:t>: </a:t>
            </a:r>
            <a:r>
              <a:rPr lang="ko-KR" altLang="en-US" sz="1000" dirty="0">
                <a:solidFill>
                  <a:schemeClr val="tx1"/>
                </a:solidFill>
              </a:rPr>
              <a:t>기존 </a:t>
            </a:r>
            <a:r>
              <a:rPr lang="en-US" altLang="ko-KR" sz="1000" dirty="0">
                <a:solidFill>
                  <a:schemeClr val="tx1"/>
                </a:solidFill>
              </a:rPr>
              <a:t>SPAC </a:t>
            </a:r>
            <a:r>
              <a:rPr lang="ko-KR" altLang="en-US" sz="1000" dirty="0">
                <a:solidFill>
                  <a:schemeClr val="tx1"/>
                </a:solidFill>
              </a:rPr>
              <a:t>투자자의 회수를 고려한 유동성 확보 목적의 사모투자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0606762-A059-A4EE-23A9-1944CB7124AA}"/>
              </a:ext>
            </a:extLst>
          </p:cNvPr>
          <p:cNvSpPr/>
          <p:nvPr/>
        </p:nvSpPr>
        <p:spPr>
          <a:xfrm>
            <a:off x="5060999" y="5085950"/>
            <a:ext cx="4392001" cy="864000"/>
          </a:xfrm>
          <a:prstGeom prst="rect">
            <a:avLst/>
          </a:prstGeom>
          <a:solidFill>
            <a:srgbClr val="E6FDD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>
              <a:spcBef>
                <a:spcPts val="300"/>
              </a:spcBef>
              <a:spcAft>
                <a:spcPts val="400"/>
              </a:spcAft>
            </a:pPr>
            <a:r>
              <a:rPr lang="ko-KR" altLang="en-US" sz="1000" b="1" dirty="0">
                <a:solidFill>
                  <a:schemeClr val="tx1"/>
                </a:solidFill>
              </a:rPr>
              <a:t>기타 </a:t>
            </a:r>
            <a:r>
              <a:rPr lang="ko-KR" altLang="en-US" sz="1000" b="1" dirty="0" err="1">
                <a:solidFill>
                  <a:schemeClr val="tx1"/>
                </a:solidFill>
              </a:rPr>
              <a:t>자문사</a:t>
            </a:r>
            <a:r>
              <a:rPr lang="ko-KR" altLang="en-US" sz="1000" b="1" dirty="0">
                <a:solidFill>
                  <a:schemeClr val="tx1"/>
                </a:solidFill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</a:rPr>
              <a:t>국내 및 미국 현지</a:t>
            </a:r>
            <a:r>
              <a:rPr lang="en-US" altLang="ko-KR" sz="1000" b="1" dirty="0">
                <a:solidFill>
                  <a:schemeClr val="tx1"/>
                </a:solidFill>
              </a:rPr>
              <a:t>)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en-US" altLang="ko-KR" sz="1000" dirty="0">
                <a:solidFill>
                  <a:schemeClr val="tx1"/>
                </a:solidFill>
              </a:rPr>
              <a:t>IR </a:t>
            </a:r>
            <a:r>
              <a:rPr lang="ko-KR" altLang="en-US" sz="1000" dirty="0">
                <a:solidFill>
                  <a:schemeClr val="tx1"/>
                </a:solidFill>
              </a:rPr>
              <a:t>에이전시</a:t>
            </a:r>
            <a:r>
              <a:rPr lang="en-US" altLang="ko-KR" sz="1000" dirty="0">
                <a:solidFill>
                  <a:schemeClr val="tx1"/>
                </a:solidFill>
              </a:rPr>
              <a:t>: </a:t>
            </a:r>
            <a:r>
              <a:rPr lang="ko-KR" altLang="en-US" sz="1000" dirty="0">
                <a:solidFill>
                  <a:schemeClr val="tx1"/>
                </a:solidFill>
              </a:rPr>
              <a:t>미국 현지 언론보도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인터뷰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증권사 </a:t>
            </a:r>
            <a:r>
              <a:rPr lang="en-US" altLang="ko-KR" sz="1000" dirty="0">
                <a:solidFill>
                  <a:schemeClr val="tx1"/>
                </a:solidFill>
              </a:rPr>
              <a:t>Coverage </a:t>
            </a:r>
            <a:r>
              <a:rPr lang="ko-KR" altLang="en-US" sz="1000" dirty="0">
                <a:solidFill>
                  <a:schemeClr val="tx1"/>
                </a:solidFill>
              </a:rPr>
              <a:t>등 </a:t>
            </a:r>
            <a:r>
              <a:rPr lang="en-US" altLang="ko-KR" sz="1000" dirty="0">
                <a:solidFill>
                  <a:schemeClr val="tx1"/>
                </a:solidFill>
              </a:rPr>
              <a:t>IR </a:t>
            </a:r>
            <a:r>
              <a:rPr lang="ko-KR" altLang="en-US" sz="1000" dirty="0">
                <a:solidFill>
                  <a:schemeClr val="tx1"/>
                </a:solidFill>
              </a:rPr>
              <a:t>활동 지원</a:t>
            </a:r>
          </a:p>
          <a:p>
            <a:pPr marL="171450" indent="-17145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schemeClr val="tx1"/>
                </a:solidFill>
              </a:rPr>
              <a:t>독립평가기관</a:t>
            </a:r>
            <a:r>
              <a:rPr lang="en-US" altLang="ko-KR" sz="1000" dirty="0">
                <a:solidFill>
                  <a:schemeClr val="tx1"/>
                </a:solidFill>
              </a:rPr>
              <a:t>: SPAC</a:t>
            </a:r>
            <a:r>
              <a:rPr lang="ko-KR" altLang="en-US" sz="1000" dirty="0">
                <a:solidFill>
                  <a:schemeClr val="tx1"/>
                </a:solidFill>
              </a:rPr>
              <a:t>과 합병계약 체결 위한 공정가치 평가보고서 작성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379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AMIC_PETRA">
      <a:dk1>
        <a:srgbClr val="2A2A2A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2">
      <a:majorFont>
        <a:latin typeface="SUITE Heavy"/>
        <a:ea typeface="SUITE Heavy"/>
        <a:cs typeface=""/>
      </a:majorFont>
      <a:minorFont>
        <a:latin typeface="Pretendard"/>
        <a:ea typeface="Pretendar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3F1FF"/>
        </a:solidFill>
        <a:ln w="6350">
          <a:solidFill>
            <a:srgbClr val="6A6A6A"/>
          </a:solidFill>
        </a:ln>
      </a:spPr>
      <a:bodyPr lIns="0" tIns="0" rIns="0" bIns="0" rtlCol="0" anchor="ctr"/>
      <a:lstStyle>
        <a:defPPr algn="ctr">
          <a:defRPr sz="10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6A6A6A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110000"/>
          </a:lnSpc>
          <a:defRPr sz="1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31528</TotalTime>
  <Words>1317</Words>
  <Application>Microsoft Office PowerPoint</Application>
  <PresentationFormat>A4 용지(210x297mm)</PresentationFormat>
  <Paragraphs>178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Pretendard</vt:lpstr>
      <vt:lpstr>SUIT Medium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 WooSang</dc:creator>
  <cp:lastModifiedBy>Woosang Jo</cp:lastModifiedBy>
  <cp:revision>681</cp:revision>
  <cp:lastPrinted>2025-12-22T07:04:28Z</cp:lastPrinted>
  <dcterms:created xsi:type="dcterms:W3CDTF">2025-05-07T02:47:43Z</dcterms:created>
  <dcterms:modified xsi:type="dcterms:W3CDTF">2026-01-16T04:13:19Z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2025-05-07T02:47:43Z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98aec3aa-eeb3-4a62-8855-86f648c2b350</vt:lpwstr>
  </property>
  <property fmtid="{D5CDD505-2E9C-101B-9397-08002B2CF9AE}" pid="7" name="MSIP_Label_defa4170-0d19-0005-0004-bc88714345d2_ActionId">
    <vt:lpwstr>32e90476-9ae9-4ff3-95c1-e213571716bc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