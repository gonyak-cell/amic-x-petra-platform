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410" r:id="rId2"/>
    <p:sldId id="469" r:id="rId3"/>
    <p:sldId id="468" r:id="rId4"/>
    <p:sldId id="500" r:id="rId5"/>
    <p:sldId id="504" r:id="rId6"/>
    <p:sldId id="505" r:id="rId7"/>
    <p:sldId id="477" r:id="rId8"/>
    <p:sldId id="506" r:id="rId9"/>
    <p:sldId id="512" r:id="rId10"/>
    <p:sldId id="513" r:id="rId11"/>
    <p:sldId id="507" r:id="rId12"/>
    <p:sldId id="508" r:id="rId13"/>
    <p:sldId id="479" r:id="rId14"/>
    <p:sldId id="517" r:id="rId15"/>
    <p:sldId id="521" r:id="rId16"/>
    <p:sldId id="514" r:id="rId17"/>
    <p:sldId id="525" r:id="rId18"/>
    <p:sldId id="516" r:id="rId19"/>
    <p:sldId id="520" r:id="rId20"/>
    <p:sldId id="481" r:id="rId21"/>
    <p:sldId id="527" r:id="rId22"/>
    <p:sldId id="511" r:id="rId23"/>
    <p:sldId id="518" r:id="rId24"/>
    <p:sldId id="519" r:id="rId25"/>
    <p:sldId id="409" r:id="rId26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5" orient="horz" pos="1366" userDrawn="1">
          <p15:clr>
            <a:srgbClr val="A4A3A4"/>
          </p15:clr>
        </p15:guide>
        <p15:guide id="18" pos="3188" userDrawn="1">
          <p15:clr>
            <a:srgbClr val="A4A3A4"/>
          </p15:clr>
        </p15:guide>
        <p15:guide id="23" orient="horz" pos="1661" userDrawn="1">
          <p15:clr>
            <a:srgbClr val="A4A3A4"/>
          </p15:clr>
        </p15:guide>
        <p15:guide id="26" orient="horz" pos="3521" userDrawn="1">
          <p15:clr>
            <a:srgbClr val="A4A3A4"/>
          </p15:clr>
        </p15:guide>
        <p15:guide id="27" orient="horz" pos="3113" userDrawn="1">
          <p15:clr>
            <a:srgbClr val="A4A3A4"/>
          </p15:clr>
        </p15:guide>
        <p15:guide id="28" pos="3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260"/>
    <a:srgbClr val="A3E96B"/>
    <a:srgbClr val="E6FDD6"/>
    <a:srgbClr val="1C8F57"/>
    <a:srgbClr val="6A6A6A"/>
    <a:srgbClr val="B0B0B0"/>
    <a:srgbClr val="FF3838"/>
    <a:srgbClr val="0F3A32"/>
    <a:srgbClr val="F2F2F2"/>
    <a:srgbClr val="A9B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75" autoAdjust="0"/>
    <p:restoredTop sz="97384" autoAdjust="0"/>
  </p:normalViewPr>
  <p:slideViewPr>
    <p:cSldViewPr snapToGrid="0" showGuides="1">
      <p:cViewPr>
        <p:scale>
          <a:sx n="100" d="100"/>
          <a:sy n="100" d="100"/>
        </p:scale>
        <p:origin x="3756" y="1314"/>
      </p:cViewPr>
      <p:guideLst>
        <p:guide orient="horz" pos="1366"/>
        <p:guide pos="3188"/>
        <p:guide orient="horz" pos="1661"/>
        <p:guide orient="horz" pos="3521"/>
        <p:guide orient="horz" pos="3113"/>
        <p:guide pos="339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09" d="100"/>
          <a:sy n="109" d="100"/>
        </p:scale>
        <p:origin x="523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내수</c:v>
                </c:pt>
              </c:strCache>
            </c:strRef>
          </c:tx>
          <c:spPr>
            <a:solidFill>
              <a:srgbClr val="1C8F5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Sheet1!$A$7:$A$11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Sheet1!$B$7:$B$11</c:f>
              <c:numCache>
                <c:formatCode>#,##0;\(#,##0\);"-"</c:formatCode>
                <c:ptCount val="5"/>
                <c:pt idx="0">
                  <c:v>629.22479199999998</c:v>
                </c:pt>
                <c:pt idx="1">
                  <c:v>658.24493199999995</c:v>
                </c:pt>
                <c:pt idx="2">
                  <c:v>675.64468799999997</c:v>
                </c:pt>
                <c:pt idx="3">
                  <c:v>729.05224899999996</c:v>
                </c:pt>
                <c:pt idx="4">
                  <c:v>743.87846200000001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A3-4303-B7D0-6D4D6BB99B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수출</c:v>
                </c:pt>
              </c:strCache>
            </c:strRef>
          </c:tx>
          <c:spPr>
            <a:solidFill>
              <a:srgbClr val="A3E96B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A3E96B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10800" tIns="10800" rIns="10800" bIns="1080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Sheet1!$A$7:$A$11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Sheet1!$C$7:$C$11</c:f>
              <c:numCache>
                <c:formatCode>#,##0;\(#,##0\);"-"</c:formatCode>
                <c:ptCount val="5"/>
                <c:pt idx="0">
                  <c:v>24.197519881990001</c:v>
                </c:pt>
                <c:pt idx="1">
                  <c:v>18.051761060219995</c:v>
                </c:pt>
                <c:pt idx="2">
                  <c:v>22.6799410474</c:v>
                </c:pt>
                <c:pt idx="3">
                  <c:v>20.01860855592</c:v>
                </c:pt>
                <c:pt idx="4">
                  <c:v>25.069142678839999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A3-4303-B7D0-6D4D6BB99B5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합계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Sheet1!$A$7:$A$11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Sheet1!$D$7:$D$11</c:f>
              <c:numCache>
                <c:formatCode>#,##0;\(#,##0\);"-"</c:formatCode>
                <c:ptCount val="5"/>
                <c:pt idx="0">
                  <c:v>653.42231188199003</c:v>
                </c:pt>
                <c:pt idx="1">
                  <c:v>676.29669306021992</c:v>
                </c:pt>
                <c:pt idx="2">
                  <c:v>698.32462904739998</c:v>
                </c:pt>
                <c:pt idx="3">
                  <c:v>749.07085755591993</c:v>
                </c:pt>
                <c:pt idx="4">
                  <c:v>768.94760467883998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A3-4303-B7D0-6D4D6BB99B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134727103"/>
        <c:axId val="1134720863"/>
      </c:barChart>
      <c:catAx>
        <c:axId val="1134727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34720863"/>
        <c:crosses val="autoZero"/>
        <c:auto val="1"/>
        <c:lblAlgn val="ctr"/>
        <c:lblOffset val="100"/>
        <c:noMultiLvlLbl val="0"/>
      </c:catAx>
      <c:valAx>
        <c:axId val="1134720863"/>
        <c:scaling>
          <c:orientation val="minMax"/>
          <c:max val="1000"/>
          <c:min val="0"/>
        </c:scaling>
        <c:delete val="0"/>
        <c:axPos val="l"/>
        <c:numFmt formatCode="#,##0;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347271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2"/>
        <c:delete val="1"/>
      </c:legendEntry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일반음식점</c:v>
                </c:pt>
              </c:strCache>
            </c:strRef>
          </c:tx>
          <c:spPr>
            <a:solidFill>
              <a:srgbClr val="1C8F5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#,##0;\(#,##0\);"-"</c:formatCode>
                <c:ptCount val="5"/>
                <c:pt idx="0">
                  <c:v>79.968200999999993</c:v>
                </c:pt>
                <c:pt idx="1">
                  <c:v>83.099999000000011</c:v>
                </c:pt>
                <c:pt idx="2">
                  <c:v>95.25718000000002</c:v>
                </c:pt>
                <c:pt idx="3">
                  <c:v>99.834758000000008</c:v>
                </c:pt>
                <c:pt idx="4">
                  <c:v>95.933276551365722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6B-4D0A-9F9A-AB966588EB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프랜차이즈</c:v>
                </c:pt>
              </c:strCache>
            </c:strRef>
          </c:tx>
          <c:spPr>
            <a:solidFill>
              <a:srgbClr val="26C2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#,##0;\(#,##0\);"-"</c:formatCode>
                <c:ptCount val="5"/>
                <c:pt idx="0">
                  <c:v>27.311603999999996</c:v>
                </c:pt>
                <c:pt idx="1">
                  <c:v>33.913111999999998</c:v>
                </c:pt>
                <c:pt idx="2">
                  <c:v>41.397577999999996</c:v>
                </c:pt>
                <c:pt idx="3">
                  <c:v>46.871592000000007</c:v>
                </c:pt>
                <c:pt idx="4">
                  <c:v>51.091999999999999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6B-4D0A-9F9A-AB966588EB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위탁급식</c:v>
                </c:pt>
              </c:strCache>
            </c:strRef>
          </c:tx>
          <c:spPr>
            <a:solidFill>
              <a:srgbClr val="A3E96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Sheet1!$D$2:$D$6</c:f>
              <c:numCache>
                <c:formatCode>#,##0;\(#,##0\);"-"</c:formatCode>
                <c:ptCount val="5"/>
                <c:pt idx="0">
                  <c:v>9.8212299999999999</c:v>
                </c:pt>
                <c:pt idx="1">
                  <c:v>10.75798</c:v>
                </c:pt>
                <c:pt idx="2">
                  <c:v>11.684422</c:v>
                </c:pt>
                <c:pt idx="3">
                  <c:v>12.331627000000001</c:v>
                </c:pt>
                <c:pt idx="4">
                  <c:v>13.77326845970442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6B-4D0A-9F9A-AB966588EB4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합계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Sheet1!$E$2:$E$6</c:f>
              <c:numCache>
                <c:formatCode>#,##0;\(#,##0\);"-"</c:formatCode>
                <c:ptCount val="5"/>
                <c:pt idx="0">
                  <c:v>117.10103499999998</c:v>
                </c:pt>
                <c:pt idx="1">
                  <c:v>127.77109100000001</c:v>
                </c:pt>
                <c:pt idx="2">
                  <c:v>148.33918000000003</c:v>
                </c:pt>
                <c:pt idx="3">
                  <c:v>159.03797700000001</c:v>
                </c:pt>
                <c:pt idx="4">
                  <c:v>160.79854501107013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36B-4D0A-9F9A-AB966588EB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641479776"/>
        <c:axId val="641480736"/>
      </c:barChart>
      <c:catAx>
        <c:axId val="64147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1480736"/>
        <c:crosses val="autoZero"/>
        <c:auto val="1"/>
        <c:lblAlgn val="ctr"/>
        <c:lblOffset val="100"/>
        <c:noMultiLvlLbl val="0"/>
      </c:catAx>
      <c:valAx>
        <c:axId val="641480736"/>
        <c:scaling>
          <c:orientation val="minMax"/>
          <c:max val="220"/>
          <c:min val="0"/>
        </c:scaling>
        <c:delete val="0"/>
        <c:axPos val="l"/>
        <c:numFmt formatCode="#,##0;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1479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3"/>
        <c:delete val="1"/>
      </c:legendEntry>
      <c:layout>
        <c:manualLayout>
          <c:xMode val="edge"/>
          <c:yMode val="edge"/>
          <c:x val="0.39319330601092894"/>
          <c:y val="2.0151133501259445E-2"/>
          <c:w val="0.53169148451730419"/>
          <c:h val="5.81617798353909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라면</c:v>
                </c:pt>
              </c:strCache>
            </c:strRef>
          </c:tx>
          <c:spPr>
            <a:ln w="19050" cap="rnd">
              <a:solidFill>
                <a:srgbClr val="0F3A32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0F3A3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F3A3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Sheet1!$A$3:$A$7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Sheet1!$B$3:$B$7</c:f>
              <c:numCache>
                <c:formatCode>#,##0;\(#,##0\);"-"</c:formatCode>
                <c:ptCount val="5"/>
                <c:pt idx="0">
                  <c:v>687.107122</c:v>
                </c:pt>
                <c:pt idx="1">
                  <c:v>786.26194799999996</c:v>
                </c:pt>
                <c:pt idx="2">
                  <c:v>1011.432879</c:v>
                </c:pt>
                <c:pt idx="3">
                  <c:v>1009.023988</c:v>
                </c:pt>
                <c:pt idx="4">
                  <c:v>1186.3291280000001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D6-471F-9AFD-F8E016ED13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즉석·편의식품</c:v>
                </c:pt>
              </c:strCache>
            </c:strRef>
          </c:tx>
          <c:spPr>
            <a:ln w="19050" cap="rnd">
              <a:solidFill>
                <a:srgbClr val="1C8F57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1C8F57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1C8F57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Sheet1!$A$3:$A$7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Sheet1!$C$3:$C$7</c:f>
              <c:numCache>
                <c:formatCode>#,##0;\(#,##0\);"-"</c:formatCode>
                <c:ptCount val="5"/>
                <c:pt idx="0">
                  <c:v>195.11373800000001</c:v>
                </c:pt>
                <c:pt idx="1">
                  <c:v>198.74928299999999</c:v>
                </c:pt>
                <c:pt idx="2">
                  <c:v>645.90531099999998</c:v>
                </c:pt>
                <c:pt idx="3">
                  <c:v>664.99439199999995</c:v>
                </c:pt>
                <c:pt idx="4">
                  <c:v>832.403367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D6-471F-9AFD-F8E016ED13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김치</c:v>
                </c:pt>
              </c:strCache>
            </c:strRef>
          </c:tx>
          <c:spPr>
            <a:ln w="19050" cap="rnd">
              <a:solidFill>
                <a:srgbClr val="26C260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26C260"/>
                </a:solidFill>
              </a:ln>
              <a:effectLst/>
            </c:spPr>
          </c:marker>
          <c:dLbls>
            <c:dLbl>
              <c:idx val="0"/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1D1-4A34-9C78-3836C68A3391}"/>
                </c:ext>
              </c:extLst>
            </c:dLbl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AD6-471F-9AFD-F8E016ED1322}"/>
                </c:ext>
              </c:extLst>
            </c:dLbl>
            <c:dLbl>
              <c:idx val="2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AD6-471F-9AFD-F8E016ED13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26C26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Sheet1!$A$3:$A$7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Sheet1!$D$3:$D$7</c:f>
              <c:numCache>
                <c:formatCode>#,##0;\(#,##0\);"-"</c:formatCode>
                <c:ptCount val="5"/>
                <c:pt idx="0">
                  <c:v>136.55497800000001</c:v>
                </c:pt>
                <c:pt idx="1">
                  <c:v>143.43567200000001</c:v>
                </c:pt>
                <c:pt idx="2">
                  <c:v>136.40651</c:v>
                </c:pt>
                <c:pt idx="3">
                  <c:v>198.74562700000001</c:v>
                </c:pt>
                <c:pt idx="4">
                  <c:v>154.56554800000001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AD6-471F-9AFD-F8E016ED132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소스·조미료</c:v>
                </c:pt>
              </c:strCache>
            </c:strRef>
          </c:tx>
          <c:spPr>
            <a:ln w="19050" cap="rnd">
              <a:solidFill>
                <a:srgbClr val="6A6A6A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6A6A6A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5.966530054644756E-3"/>
                  <c:y val="-3.0470164609053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D1-4A34-9C78-3836C68A3391}"/>
                </c:ext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D6-471F-9AFD-F8E016ED13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6A6A6A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Sheet1!$A$3:$A$7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Sheet1!$E$3:$E$7</c:f>
              <c:numCache>
                <c:formatCode>#,##0;\(#,##0\);"-"</c:formatCode>
                <c:ptCount val="5"/>
                <c:pt idx="0">
                  <c:v>125.197413</c:v>
                </c:pt>
                <c:pt idx="1">
                  <c:v>156.89438699999999</c:v>
                </c:pt>
                <c:pt idx="2">
                  <c:v>154.64147399999999</c:v>
                </c:pt>
                <c:pt idx="3">
                  <c:v>135.36222900000001</c:v>
                </c:pt>
                <c:pt idx="4">
                  <c:v>143.68486100000001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AD6-471F-9AFD-F8E016ED1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2257135"/>
        <c:axId val="2042253295"/>
      </c:lineChart>
      <c:catAx>
        <c:axId val="2042257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42253295"/>
        <c:crosses val="autoZero"/>
        <c:auto val="1"/>
        <c:lblAlgn val="ctr"/>
        <c:lblOffset val="100"/>
        <c:noMultiLvlLbl val="0"/>
      </c:catAx>
      <c:valAx>
        <c:axId val="2042253295"/>
        <c:scaling>
          <c:orientation val="minMax"/>
          <c:max val="1300"/>
          <c:min val="0"/>
        </c:scaling>
        <c:delete val="0"/>
        <c:axPos val="l"/>
        <c:numFmt formatCode="#,##0;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42257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재배면적</c:v>
                </c:pt>
              </c:strCache>
            </c:strRef>
          </c:tx>
          <c:spPr>
            <a:solidFill>
              <a:srgbClr val="1C8F5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Sheet1!$A$3:$A$8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Sheet1!$B$3:$B$8</c:f>
              <c:numCache>
                <c:formatCode>#,##0;\(#,##0\);"-"</c:formatCode>
                <c:ptCount val="6"/>
                <c:pt idx="0">
                  <c:v>31146</c:v>
                </c:pt>
                <c:pt idx="1">
                  <c:v>33373</c:v>
                </c:pt>
                <c:pt idx="2">
                  <c:v>29770</c:v>
                </c:pt>
                <c:pt idx="3">
                  <c:v>27132</c:v>
                </c:pt>
                <c:pt idx="4">
                  <c:v>26430</c:v>
                </c:pt>
                <c:pt idx="5">
                  <c:v>25743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EF-4D7A-BBE9-6E423F3CE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673047567"/>
        <c:axId val="67305284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생산량</c:v>
                </c:pt>
              </c:strCache>
            </c:strRef>
          </c:tx>
          <c:spPr>
            <a:ln w="19050" cap="rnd">
              <a:solidFill>
                <a:srgbClr val="26C260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26C260"/>
                </a:solidFill>
              </a:ln>
              <a:effectLst/>
            </c:spPr>
          </c:marker>
          <c:dLbls>
            <c:numFmt formatCode="#,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Sheet1!$A$3:$A$8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Sheet1!$C$3:$C$8</c:f>
              <c:numCache>
                <c:formatCode>#,##0;\(#,##0\);"-"</c:formatCode>
                <c:ptCount val="6"/>
                <c:pt idx="0">
                  <c:v>60076</c:v>
                </c:pt>
                <c:pt idx="1">
                  <c:v>92757</c:v>
                </c:pt>
                <c:pt idx="2">
                  <c:v>68984</c:v>
                </c:pt>
                <c:pt idx="3">
                  <c:v>61665</c:v>
                </c:pt>
                <c:pt idx="4">
                  <c:v>68074</c:v>
                </c:pt>
                <c:pt idx="5">
                  <c:v>61449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2EF-4D7A-BBE9-6E423F3CE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65207151"/>
        <c:axId val="265206671"/>
      </c:lineChart>
      <c:catAx>
        <c:axId val="673047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3052847"/>
        <c:crosses val="autoZero"/>
        <c:auto val="1"/>
        <c:lblAlgn val="ctr"/>
        <c:lblOffset val="100"/>
        <c:noMultiLvlLbl val="0"/>
      </c:catAx>
      <c:valAx>
        <c:axId val="673052847"/>
        <c:scaling>
          <c:orientation val="minMax"/>
          <c:max val="60000"/>
          <c:min val="0"/>
        </c:scaling>
        <c:delete val="0"/>
        <c:axPos val="l"/>
        <c:numFmt formatCode="#,##0;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3047567"/>
        <c:crosses val="autoZero"/>
        <c:crossBetween val="between"/>
      </c:valAx>
      <c:valAx>
        <c:axId val="265206671"/>
        <c:scaling>
          <c:orientation val="minMax"/>
          <c:max val="105000"/>
          <c:min val="-40000"/>
        </c:scaling>
        <c:delete val="0"/>
        <c:axPos val="r"/>
        <c:numFmt formatCode="#,##0;\(#,##0\);&quot;-&quot;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65207151"/>
        <c:crosses val="max"/>
        <c:crossBetween val="between"/>
      </c:valAx>
      <c:catAx>
        <c:axId val="26520715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6520667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연결 매출액</c:v>
                </c:pt>
              </c:strCache>
            </c:strRef>
          </c:tx>
          <c:spPr>
            <a:solidFill>
              <a:srgbClr val="1C8F5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#,##0;\(#,##0\);"-"</c:formatCode>
                <c:ptCount val="5"/>
                <c:pt idx="0">
                  <c:v>173.32</c:v>
                </c:pt>
                <c:pt idx="1">
                  <c:v>201.14</c:v>
                </c:pt>
                <c:pt idx="2">
                  <c:v>242.01</c:v>
                </c:pt>
                <c:pt idx="3">
                  <c:v>267.63</c:v>
                </c:pt>
                <c:pt idx="4">
                  <c:v>337.22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DD-47CC-91D6-53356F723B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연결 EBITDA</c:v>
                </c:pt>
              </c:strCache>
            </c:strRef>
          </c:tx>
          <c:spPr>
            <a:solidFill>
              <a:srgbClr val="A3E96B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6.8878888888888892E-2"/>
                </c:manualLayout>
              </c:layout>
              <c:spPr>
                <a:solidFill>
                  <a:srgbClr val="A3E96B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7DD-47CC-91D6-53356F723BF1}"/>
                </c:ext>
              </c:extLst>
            </c:dLbl>
            <c:dLbl>
              <c:idx val="1"/>
              <c:layout>
                <c:manualLayout>
                  <c:x val="0"/>
                  <c:y val="9.1002222222222096E-2"/>
                </c:manualLayout>
              </c:layout>
              <c:spPr>
                <a:solidFill>
                  <a:srgbClr val="A3E96B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7DD-47CC-91D6-53356F723BF1}"/>
                </c:ext>
              </c:extLst>
            </c:dLbl>
            <c:dLbl>
              <c:idx val="2"/>
              <c:layout>
                <c:manualLayout>
                  <c:x val="1.0602488326678944E-16"/>
                  <c:y val="0.11216865926908681"/>
                </c:manualLayout>
              </c:layout>
              <c:spPr>
                <a:solidFill>
                  <a:srgbClr val="A3E96B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7DD-47CC-91D6-53356F723BF1}"/>
                </c:ext>
              </c:extLst>
            </c:dLbl>
            <c:dLbl>
              <c:idx val="3"/>
              <c:layout>
                <c:manualLayout>
                  <c:x val="-1.0602488326678944E-16"/>
                  <c:y val="0.11288888888888876"/>
                </c:manualLayout>
              </c:layout>
              <c:spPr>
                <a:solidFill>
                  <a:srgbClr val="A3E96B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3E3-44B7-BA15-F31B0DFC0375}"/>
                </c:ext>
              </c:extLst>
            </c:dLbl>
            <c:dLbl>
              <c:idx val="4"/>
              <c:layout>
                <c:manualLayout>
                  <c:x val="-1.0602488326678944E-16"/>
                  <c:y val="0.10583333333333333"/>
                </c:manualLayout>
              </c:layout>
              <c:spPr>
                <a:solidFill>
                  <a:srgbClr val="A3E96B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E3-44B7-BA15-F31B0DFC0375}"/>
                </c:ext>
              </c:extLst>
            </c:dLbl>
            <c:spPr>
              <a:solidFill>
                <a:srgbClr val="A3E96B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#,##0;\(#,##0\);"-"</c:formatCode>
                <c:ptCount val="5"/>
                <c:pt idx="0">
                  <c:v>12.56</c:v>
                </c:pt>
                <c:pt idx="1">
                  <c:v>27.19</c:v>
                </c:pt>
                <c:pt idx="2">
                  <c:v>33.22</c:v>
                </c:pt>
                <c:pt idx="3">
                  <c:v>34.82</c:v>
                </c:pt>
                <c:pt idx="4">
                  <c:v>36.58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DD-47CC-91D6-53356F723B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75"/>
        <c:axId val="665430224"/>
        <c:axId val="665424464"/>
      </c:barChart>
      <c:catAx>
        <c:axId val="66543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65424464"/>
        <c:crosses val="autoZero"/>
        <c:auto val="1"/>
        <c:lblAlgn val="ctr"/>
        <c:lblOffset val="100"/>
        <c:noMultiLvlLbl val="0"/>
      </c:catAx>
      <c:valAx>
        <c:axId val="665424464"/>
        <c:scaling>
          <c:orientation val="minMax"/>
        </c:scaling>
        <c:delete val="0"/>
        <c:axPos val="l"/>
        <c:numFmt formatCode="#,##0;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65430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 w="63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1C8F57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69D-46F8-8960-DF43FEA1315A}"/>
              </c:ext>
            </c:extLst>
          </c:dPt>
          <c:dPt>
            <c:idx val="1"/>
            <c:bubble3D val="0"/>
            <c:spPr>
              <a:solidFill>
                <a:srgbClr val="26C260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69D-46F8-8960-DF43FEA1315A}"/>
              </c:ext>
            </c:extLst>
          </c:dPt>
          <c:dPt>
            <c:idx val="2"/>
            <c:bubble3D val="0"/>
            <c:spPr>
              <a:solidFill>
                <a:srgbClr val="A3E96B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69D-46F8-8960-DF43FEA1315A}"/>
              </c:ext>
            </c:extLst>
          </c:dPt>
          <c:cat>
            <c:strRef>
              <c:f>Sheet1!$A$2:$A$4</c:f>
              <c:strCache>
                <c:ptCount val="3"/>
                <c:pt idx="0">
                  <c:v>국산</c:v>
                </c:pt>
                <c:pt idx="1">
                  <c:v>중국산</c:v>
                </c:pt>
                <c:pt idx="2">
                  <c:v>베트남산/기타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0.32100000000000001</c:v>
                </c:pt>
                <c:pt idx="1">
                  <c:v>0.63700000000000001</c:v>
                </c:pt>
                <c:pt idx="2">
                  <c:v>4.2000000000000003E-2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9D-46F8-8960-DF43FEA131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 w="63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1C8F57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B4D-4C17-8E05-F2845933FEA5}"/>
              </c:ext>
            </c:extLst>
          </c:dPt>
          <c:dPt>
            <c:idx val="1"/>
            <c:bubble3D val="0"/>
            <c:spPr>
              <a:solidFill>
                <a:srgbClr val="26C260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B4D-4C17-8E05-F2845933FEA5}"/>
              </c:ext>
            </c:extLst>
          </c:dPt>
          <c:dPt>
            <c:idx val="2"/>
            <c:bubble3D val="0"/>
            <c:spPr>
              <a:solidFill>
                <a:srgbClr val="A3E96B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B4D-4C17-8E05-F2845933FEA5}"/>
              </c:ext>
            </c:extLst>
          </c:dPt>
          <c:cat>
            <c:strRef>
              <c:f>Sheet1!$A$2:$A$4</c:f>
              <c:strCache>
                <c:ptCount val="3"/>
                <c:pt idx="0">
                  <c:v>국산</c:v>
                </c:pt>
                <c:pt idx="1">
                  <c:v>중국산</c:v>
                </c:pt>
                <c:pt idx="2">
                  <c:v>베트남산/기타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0.32100000000000001</c:v>
                </c:pt>
                <c:pt idx="1">
                  <c:v>0.63700000000000001</c:v>
                </c:pt>
                <c:pt idx="2">
                  <c:v>4.2000000000000003E-2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4D-4C17-8E05-F2845933FE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 w="63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1C8F57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057-4A5F-B9F7-DC4619B894B9}"/>
              </c:ext>
            </c:extLst>
          </c:dPt>
          <c:dPt>
            <c:idx val="1"/>
            <c:bubble3D val="0"/>
            <c:spPr>
              <a:solidFill>
                <a:srgbClr val="26C260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057-4A5F-B9F7-DC4619B894B9}"/>
              </c:ext>
            </c:extLst>
          </c:dPt>
          <c:dPt>
            <c:idx val="2"/>
            <c:bubble3D val="0"/>
            <c:spPr>
              <a:solidFill>
                <a:srgbClr val="A3E96B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057-4A5F-B9F7-DC4619B894B9}"/>
              </c:ext>
            </c:extLst>
          </c:dPt>
          <c:dPt>
            <c:idx val="3"/>
            <c:bubble3D val="0"/>
            <c:spPr>
              <a:solidFill>
                <a:srgbClr val="E6FDD6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057-4A5F-B9F7-DC4619B894B9}"/>
              </c:ext>
            </c:extLst>
          </c:dPt>
          <c:dPt>
            <c:idx val="4"/>
            <c:bubble3D val="0"/>
            <c:spPr>
              <a:solidFill>
                <a:srgbClr val="B0B0B0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5DC-4306-8208-D36394D5D333}"/>
              </c:ext>
            </c:extLst>
          </c:dPt>
          <c:cat>
            <c:strRef>
              <c:f>Sheet1!$A$2:$A$6</c:f>
              <c:strCache>
                <c:ptCount val="5"/>
                <c:pt idx="0">
                  <c:v>현대그린푸드</c:v>
                </c:pt>
                <c:pt idx="1">
                  <c:v>삼성웰스토리</c:v>
                </c:pt>
                <c:pt idx="2">
                  <c:v>아워홈</c:v>
                </c:pt>
                <c:pt idx="3">
                  <c:v>CJ프레시웨이</c:v>
                </c:pt>
                <c:pt idx="4">
                  <c:v>기타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0.19600000000000001</c:v>
                </c:pt>
                <c:pt idx="1">
                  <c:v>0.152</c:v>
                </c:pt>
                <c:pt idx="2">
                  <c:v>0.122</c:v>
                </c:pt>
                <c:pt idx="3">
                  <c:v>0.10100000000000001</c:v>
                </c:pt>
                <c:pt idx="4">
                  <c:v>0.42900000000000005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057-4A5F-B9F7-DC4619B894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 w="63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1C8F57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F7A-4E50-BD13-ACB2946BDE50}"/>
              </c:ext>
            </c:extLst>
          </c:dPt>
          <c:dPt>
            <c:idx val="1"/>
            <c:bubble3D val="0"/>
            <c:spPr>
              <a:solidFill>
                <a:srgbClr val="26C260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F7A-4E50-BD13-ACB2946BDE50}"/>
              </c:ext>
            </c:extLst>
          </c:dPt>
          <c:dPt>
            <c:idx val="2"/>
            <c:bubble3D val="0"/>
            <c:spPr>
              <a:solidFill>
                <a:srgbClr val="A3E96B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F7A-4E50-BD13-ACB2946BDE50}"/>
              </c:ext>
            </c:extLst>
          </c:dPt>
          <c:dPt>
            <c:idx val="3"/>
            <c:bubble3D val="0"/>
            <c:spPr>
              <a:solidFill>
                <a:srgbClr val="E6FDD6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F7A-4E50-BD13-ACB2946BDE50}"/>
              </c:ext>
            </c:extLst>
          </c:dPt>
          <c:dPt>
            <c:idx val="4"/>
            <c:bubble3D val="0"/>
            <c:spPr>
              <a:solidFill>
                <a:srgbClr val="B0B0B0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2F4-43A6-B6A4-4AD804A4179B}"/>
              </c:ext>
            </c:extLst>
          </c:dPt>
          <c:cat>
            <c:strRef>
              <c:f>Sheet1!$A$2:$A$6</c:f>
              <c:strCache>
                <c:ptCount val="5"/>
                <c:pt idx="0">
                  <c:v>현대그린푸드</c:v>
                </c:pt>
                <c:pt idx="1">
                  <c:v>삼성웰스토리</c:v>
                </c:pt>
                <c:pt idx="2">
                  <c:v>아워홈</c:v>
                </c:pt>
                <c:pt idx="3">
                  <c:v>CJ프레시웨이</c:v>
                </c:pt>
                <c:pt idx="4">
                  <c:v>기타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0.19600000000000001</c:v>
                </c:pt>
                <c:pt idx="1">
                  <c:v>0.152</c:v>
                </c:pt>
                <c:pt idx="2">
                  <c:v>0.122</c:v>
                </c:pt>
                <c:pt idx="3">
                  <c:v>0.10100000000000001</c:v>
                </c:pt>
                <c:pt idx="4">
                  <c:v>0.42899999999999999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F7A-4E50-BD13-ACB2946BDE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안전재고</c:v>
                </c:pt>
              </c:strCache>
            </c:strRef>
          </c:tx>
          <c:spPr>
            <a:solidFill>
              <a:srgbClr val="1C8F5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10800" tIns="10800" rIns="10800" bIns="1080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#,##0;\(#,##0\);"-"</c:formatCode>
                <c:ptCount val="5"/>
                <c:pt idx="0">
                  <c:v>8.65</c:v>
                </c:pt>
                <c:pt idx="1">
                  <c:v>11.89</c:v>
                </c:pt>
                <c:pt idx="2">
                  <c:v>14.38</c:v>
                </c:pt>
                <c:pt idx="3">
                  <c:v>16.809999999999999</c:v>
                </c:pt>
                <c:pt idx="4">
                  <c:v>22.1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25-4C1E-9093-9ECD8C01D5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비축재고</c:v>
                </c:pt>
              </c:strCache>
            </c:strRef>
          </c:tx>
          <c:spPr>
            <a:solidFill>
              <a:srgbClr val="A3E96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#,##0;\(#,##0\);"-"</c:formatCode>
                <c:ptCount val="5"/>
                <c:pt idx="1">
                  <c:v>39.22</c:v>
                </c:pt>
                <c:pt idx="2">
                  <c:v>39.700000000000003</c:v>
                </c:pt>
                <c:pt idx="3">
                  <c:v>83.77</c:v>
                </c:pt>
                <c:pt idx="4">
                  <c:v>87.21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25-4C1E-9093-9ECD8C01D5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재고자산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Sheet1!$D$2:$D$6</c:f>
              <c:numCache>
                <c:formatCode>#,##0;\(#,##0\);"-"</c:formatCode>
                <c:ptCount val="5"/>
                <c:pt idx="0">
                  <c:v>8.65</c:v>
                </c:pt>
                <c:pt idx="1">
                  <c:v>51.11</c:v>
                </c:pt>
                <c:pt idx="2">
                  <c:v>54.08</c:v>
                </c:pt>
                <c:pt idx="3">
                  <c:v>100.58</c:v>
                </c:pt>
                <c:pt idx="4">
                  <c:v>109.31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225-4C1E-9093-9ECD8C01D5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629168047"/>
        <c:axId val="1629175727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월평균매출원가</c:v>
                </c:pt>
              </c:strCache>
            </c:strRef>
          </c:tx>
          <c:spPr>
            <a:ln w="19050" cap="rnd">
              <a:solidFill>
                <a:srgbClr val="26C260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26C2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Sheet1!$E$2:$E$6</c:f>
              <c:numCache>
                <c:formatCode>#,##0;\(#,##0\);"-"</c:formatCode>
                <c:ptCount val="5"/>
                <c:pt idx="0">
                  <c:v>11.01</c:v>
                </c:pt>
                <c:pt idx="1">
                  <c:v>11.89</c:v>
                </c:pt>
                <c:pt idx="2">
                  <c:v>14.38</c:v>
                </c:pt>
                <c:pt idx="3">
                  <c:v>16.809999999999999</c:v>
                </c:pt>
                <c:pt idx="4">
                  <c:v>22.1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225-4C1E-9093-9ECD8C01D5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8891776"/>
        <c:axId val="108891296"/>
      </c:lineChart>
      <c:catAx>
        <c:axId val="1629168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29175727"/>
        <c:crosses val="autoZero"/>
        <c:auto val="1"/>
        <c:lblAlgn val="ctr"/>
        <c:lblOffset val="100"/>
        <c:noMultiLvlLbl val="0"/>
      </c:catAx>
      <c:valAx>
        <c:axId val="1629175727"/>
        <c:scaling>
          <c:orientation val="minMax"/>
          <c:max val="160"/>
          <c:min val="0"/>
        </c:scaling>
        <c:delete val="0"/>
        <c:axPos val="l"/>
        <c:numFmt formatCode="#,##0;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29168047"/>
        <c:crosses val="autoZero"/>
        <c:crossBetween val="between"/>
      </c:valAx>
      <c:valAx>
        <c:axId val="108891296"/>
        <c:scaling>
          <c:orientation val="minMax"/>
          <c:max val="25"/>
          <c:min val="-20"/>
        </c:scaling>
        <c:delete val="0"/>
        <c:axPos val="r"/>
        <c:numFmt formatCode="#,##0;\(#,##0\);&quot;-&quot;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8891776"/>
        <c:crosses val="max"/>
        <c:crossBetween val="between"/>
      </c:valAx>
      <c:catAx>
        <c:axId val="10889177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88912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B12D9F9-0D73-FA9C-9567-0D2EDC03F2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DC3307-0AD4-BB88-7BEB-A583A8AF2E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B6DD3-10D0-4E94-9B57-485DC69B4E9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6F0FCC-8CED-378C-8460-87FCC68F3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0BFFF3-C18E-475B-3D21-266D273E39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BFF77-EDF0-439C-A29E-838A93E02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4377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17BD4-412C-4036-BA3A-F77995BB0B9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B846C-C851-40D6-90BA-1F97CB71F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9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38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암초, 어둠, 야외, 자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290648-4A35-8FE1-E072-FF4D31F96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8" b="58305"/>
          <a:stretch>
            <a:fillRect/>
          </a:stretch>
        </p:blipFill>
        <p:spPr>
          <a:xfrm>
            <a:off x="0" y="0"/>
            <a:ext cx="990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6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PG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2635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orient="horz" pos="3748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75163" y="6020725"/>
            <a:ext cx="6845837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993F8B13-CA41-9FF3-CEB3-9890383AC2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0" y="6074725"/>
            <a:ext cx="1362163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916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5" orient="horz" pos="618" userDrawn="1">
          <p15:clr>
            <a:srgbClr val="FBAE40"/>
          </p15:clr>
        </p15:guide>
        <p15:guide id="6" orient="horz" pos="107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w/Ander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58425" y="6020725"/>
            <a:ext cx="6062575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5573DDD-4F45-9398-6499-D7269C13777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3000" y="6056725"/>
            <a:ext cx="2253425" cy="198000"/>
            <a:chOff x="623889" y="598933"/>
            <a:chExt cx="8448818" cy="742366"/>
          </a:xfrm>
        </p:grpSpPr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14CBB4AF-4B62-C23D-1FEF-2929F5B52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75515" y="657299"/>
              <a:ext cx="3597192" cy="684000"/>
            </a:xfrm>
            <a:prstGeom prst="rect">
              <a:avLst/>
            </a:prstGeom>
          </p:spPr>
        </p:pic>
        <p:pic>
          <p:nvPicPr>
            <p:cNvPr id="13" name="Picture 8">
              <a:extLst>
                <a:ext uri="{FF2B5EF4-FFF2-40B4-BE49-F238E27FC236}">
                  <a16:creationId xmlns:a16="http://schemas.microsoft.com/office/drawing/2014/main" id="{7EC1F7B2-C3E5-42D9-50BF-71B37DC6A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3889" y="598933"/>
              <a:ext cx="4851626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82862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>
          <p15:clr>
            <a:srgbClr val="FBAE40"/>
          </p15:clr>
        </p15:guide>
        <p15:guide id="3" orient="horz" pos="3748">
          <p15:clr>
            <a:srgbClr val="FBAE40"/>
          </p15:clr>
        </p15:guide>
        <p15:guide id="5" orient="horz" pos="618">
          <p15:clr>
            <a:srgbClr val="FBAE40"/>
          </p15:clr>
        </p15:guide>
        <p15:guide id="6" orient="horz" pos="107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그룹 56">
            <a:extLst>
              <a:ext uri="{FF2B5EF4-FFF2-40B4-BE49-F238E27FC236}">
                <a16:creationId xmlns:a16="http://schemas.microsoft.com/office/drawing/2014/main" id="{DC2C7A55-5541-E072-FACF-5B951038D15E}"/>
              </a:ext>
            </a:extLst>
          </p:cNvPr>
          <p:cNvGrpSpPr/>
          <p:nvPr userDrawn="1"/>
        </p:nvGrpSpPr>
        <p:grpSpPr>
          <a:xfrm>
            <a:off x="-1332000" y="0"/>
            <a:ext cx="1260000" cy="5147998"/>
            <a:chOff x="-1332000" y="251999"/>
            <a:chExt cx="1260000" cy="5147998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6A9B4B0E-E4CB-BEB4-725A-783E0C8E451B}"/>
                </a:ext>
              </a:extLst>
            </p:cNvPr>
            <p:cNvGrpSpPr/>
            <p:nvPr userDrawn="1"/>
          </p:nvGrpSpPr>
          <p:grpSpPr>
            <a:xfrm>
              <a:off x="-1332000" y="251999"/>
              <a:ext cx="1260000" cy="1440000"/>
              <a:chOff x="-1332000" y="251999"/>
              <a:chExt cx="1260000" cy="144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FBDDD21-17AA-9039-4C59-66C46717204B}"/>
                  </a:ext>
                </a:extLst>
              </p:cNvPr>
              <p:cNvSpPr/>
              <p:nvPr userDrawn="1"/>
            </p:nvSpPr>
            <p:spPr>
              <a:xfrm>
                <a:off x="-1332000" y="251999"/>
                <a:ext cx="1260000" cy="576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Signature Green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BAA68D9-0007-1137-8E9E-65F8F249E8B3}"/>
                  </a:ext>
                </a:extLst>
              </p:cNvPr>
              <p:cNvSpPr/>
              <p:nvPr userDrawn="1"/>
            </p:nvSpPr>
            <p:spPr>
              <a:xfrm>
                <a:off x="-1332000" y="1115999"/>
                <a:ext cx="1260000" cy="576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Green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D47E68C-019C-8A2F-492D-27B9D3AF84EE}"/>
                  </a:ext>
                </a:extLst>
              </p:cNvPr>
              <p:cNvSpPr/>
              <p:nvPr userDrawn="1"/>
            </p:nvSpPr>
            <p:spPr>
              <a:xfrm>
                <a:off x="-1332000" y="827999"/>
                <a:ext cx="252000" cy="288000"/>
              </a:xfrm>
              <a:prstGeom prst="rect">
                <a:avLst/>
              </a:prstGeom>
              <a:solidFill>
                <a:srgbClr val="E6FD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760D7CC4-4A15-5FED-68A7-1993F1727F1B}"/>
                  </a:ext>
                </a:extLst>
              </p:cNvPr>
              <p:cNvSpPr/>
              <p:nvPr userDrawn="1"/>
            </p:nvSpPr>
            <p:spPr>
              <a:xfrm>
                <a:off x="-828000" y="827999"/>
                <a:ext cx="252000" cy="288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1388674-7E06-90B3-8CC9-C5FBE25B5A8D}"/>
                  </a:ext>
                </a:extLst>
              </p:cNvPr>
              <p:cNvSpPr/>
              <p:nvPr userDrawn="1"/>
            </p:nvSpPr>
            <p:spPr>
              <a:xfrm>
                <a:off x="-576000" y="827999"/>
                <a:ext cx="252000" cy="288000"/>
              </a:xfrm>
              <a:prstGeom prst="rect">
                <a:avLst/>
              </a:prstGeom>
              <a:solidFill>
                <a:srgbClr val="1C8F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E15722A-1E25-70E9-8E06-B675AE8E502C}"/>
                  </a:ext>
                </a:extLst>
              </p:cNvPr>
              <p:cNvSpPr/>
              <p:nvPr userDrawn="1"/>
            </p:nvSpPr>
            <p:spPr>
              <a:xfrm>
                <a:off x="-324000" y="827999"/>
                <a:ext cx="252000" cy="288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CA4CDF29-3C6C-C492-9A89-838C3E6FCC2A}"/>
                  </a:ext>
                </a:extLst>
              </p:cNvPr>
              <p:cNvSpPr/>
              <p:nvPr userDrawn="1"/>
            </p:nvSpPr>
            <p:spPr>
              <a:xfrm>
                <a:off x="-1080000" y="827999"/>
                <a:ext cx="252000" cy="288000"/>
              </a:xfrm>
              <a:prstGeom prst="rect">
                <a:avLst/>
              </a:prstGeom>
              <a:solidFill>
                <a:srgbClr val="A3E9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D6BC0DD-AA10-0C54-2348-EEC86A9525F4}"/>
                </a:ext>
              </a:extLst>
            </p:cNvPr>
            <p:cNvGrpSpPr/>
            <p:nvPr userDrawn="1"/>
          </p:nvGrpSpPr>
          <p:grpSpPr>
            <a:xfrm>
              <a:off x="-1332000" y="1871998"/>
              <a:ext cx="1260000" cy="1440000"/>
              <a:chOff x="-1332000" y="1799999"/>
              <a:chExt cx="1260000" cy="1440000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EBFBD1D-995E-1E73-010F-50D3B0E83929}"/>
                  </a:ext>
                </a:extLst>
              </p:cNvPr>
              <p:cNvSpPr/>
              <p:nvPr userDrawn="1"/>
            </p:nvSpPr>
            <p:spPr>
              <a:xfrm>
                <a:off x="-1332000" y="1799999"/>
                <a:ext cx="1260000" cy="576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Dark Gray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Text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440A180-6C32-2570-A740-930E8D9B706B}"/>
                  </a:ext>
                </a:extLst>
              </p:cNvPr>
              <p:cNvSpPr/>
              <p:nvPr userDrawn="1"/>
            </p:nvSpPr>
            <p:spPr>
              <a:xfrm>
                <a:off x="-1332000" y="2663999"/>
                <a:ext cx="1260000" cy="576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Mid Gray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Line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409EDCF-481E-435E-718F-1CC9D7D51B2F}"/>
                  </a:ext>
                </a:extLst>
              </p:cNvPr>
              <p:cNvSpPr/>
              <p:nvPr userDrawn="1"/>
            </p:nvSpPr>
            <p:spPr>
              <a:xfrm>
                <a:off x="-1332000" y="2375999"/>
                <a:ext cx="252000" cy="28800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B6F4259-DC9C-A7E1-E051-7D220EC304A7}"/>
                  </a:ext>
                </a:extLst>
              </p:cNvPr>
              <p:cNvSpPr/>
              <p:nvPr userDrawn="1"/>
            </p:nvSpPr>
            <p:spPr>
              <a:xfrm>
                <a:off x="-828000" y="2375999"/>
                <a:ext cx="252000" cy="288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F3781F1C-B0CE-957D-45AE-27111159DD3D}"/>
                  </a:ext>
                </a:extLst>
              </p:cNvPr>
              <p:cNvSpPr/>
              <p:nvPr userDrawn="1"/>
            </p:nvSpPr>
            <p:spPr>
              <a:xfrm>
                <a:off x="-576000" y="2375999"/>
                <a:ext cx="252000" cy="288000"/>
              </a:xfrm>
              <a:prstGeom prst="rect">
                <a:avLst/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8F6B58C-2C33-8060-3265-CAEA9C07CF35}"/>
                  </a:ext>
                </a:extLst>
              </p:cNvPr>
              <p:cNvSpPr/>
              <p:nvPr userDrawn="1"/>
            </p:nvSpPr>
            <p:spPr>
              <a:xfrm>
                <a:off x="-324000" y="2375999"/>
                <a:ext cx="252000" cy="288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35F1958F-E80E-E3AB-0F20-4F04A89ED80C}"/>
                  </a:ext>
                </a:extLst>
              </p:cNvPr>
              <p:cNvSpPr/>
              <p:nvPr userDrawn="1"/>
            </p:nvSpPr>
            <p:spPr>
              <a:xfrm>
                <a:off x="-1080000" y="2375999"/>
                <a:ext cx="252000" cy="288000"/>
              </a:xfrm>
              <a:prstGeom prst="rect">
                <a:avLst/>
              </a:prstGeom>
              <a:solidFill>
                <a:srgbClr val="B0B0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DF573A2-D377-75AA-94BE-1431A1250DA9}"/>
                </a:ext>
              </a:extLst>
            </p:cNvPr>
            <p:cNvGrpSpPr/>
            <p:nvPr userDrawn="1"/>
          </p:nvGrpSpPr>
          <p:grpSpPr>
            <a:xfrm>
              <a:off x="-1332000" y="3491998"/>
              <a:ext cx="1260000" cy="864000"/>
              <a:chOff x="-1332000" y="3491998"/>
              <a:chExt cx="1260000" cy="86400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33F5513E-EA52-4A9E-918D-65D6DA5AC603}"/>
                  </a:ext>
                </a:extLst>
              </p:cNvPr>
              <p:cNvSpPr/>
              <p:nvPr userDrawn="1"/>
            </p:nvSpPr>
            <p:spPr>
              <a:xfrm>
                <a:off x="-1332000" y="3491998"/>
                <a:ext cx="1260000" cy="576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Red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EFE9F0A4-6AFC-6162-CD7E-F91270632D24}"/>
                  </a:ext>
                </a:extLst>
              </p:cNvPr>
              <p:cNvSpPr/>
              <p:nvPr userDrawn="1"/>
            </p:nvSpPr>
            <p:spPr>
              <a:xfrm>
                <a:off x="-1332000" y="4067998"/>
                <a:ext cx="252000" cy="288000"/>
              </a:xfrm>
              <a:prstGeom prst="rect">
                <a:avLst/>
              </a:prstGeom>
              <a:solidFill>
                <a:srgbClr val="FFECE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D16E1DD-6F4F-B14D-0CC9-A41731A6DAFD}"/>
                  </a:ext>
                </a:extLst>
              </p:cNvPr>
              <p:cNvSpPr/>
              <p:nvPr userDrawn="1"/>
            </p:nvSpPr>
            <p:spPr>
              <a:xfrm>
                <a:off x="-828000" y="4067998"/>
                <a:ext cx="252000" cy="288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46F6BF42-34B7-D0AE-EAF4-6AB933B7626F}"/>
                  </a:ext>
                </a:extLst>
              </p:cNvPr>
              <p:cNvSpPr/>
              <p:nvPr userDrawn="1"/>
            </p:nvSpPr>
            <p:spPr>
              <a:xfrm>
                <a:off x="-576000" y="4067998"/>
                <a:ext cx="252000" cy="288000"/>
              </a:xfrm>
              <a:prstGeom prst="rect">
                <a:avLst/>
              </a:prstGeom>
              <a:solidFill>
                <a:srgbClr val="CC1E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5ED8F846-327B-E64A-6409-91C0320EFC7F}"/>
                  </a:ext>
                </a:extLst>
              </p:cNvPr>
              <p:cNvSpPr/>
              <p:nvPr userDrawn="1"/>
            </p:nvSpPr>
            <p:spPr>
              <a:xfrm>
                <a:off x="-324000" y="4067998"/>
                <a:ext cx="252000" cy="288000"/>
              </a:xfrm>
              <a:prstGeom prst="rect">
                <a:avLst/>
              </a:prstGeom>
              <a:solidFill>
                <a:srgbClr val="7A0E0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524FD4E0-95A7-9B35-3797-F2C2D9AF4CB6}"/>
                  </a:ext>
                </a:extLst>
              </p:cNvPr>
              <p:cNvSpPr/>
              <p:nvPr userDrawn="1"/>
            </p:nvSpPr>
            <p:spPr>
              <a:xfrm>
                <a:off x="-1080000" y="4067998"/>
                <a:ext cx="252000" cy="288000"/>
              </a:xfrm>
              <a:prstGeom prst="rect">
                <a:avLst/>
              </a:prstGeom>
              <a:solidFill>
                <a:srgbClr val="FF9A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E5F24E7A-A3A7-8789-C4C3-1072BFA9257E}"/>
                </a:ext>
              </a:extLst>
            </p:cNvPr>
            <p:cNvGrpSpPr/>
            <p:nvPr userDrawn="1"/>
          </p:nvGrpSpPr>
          <p:grpSpPr>
            <a:xfrm>
              <a:off x="-1332000" y="4535997"/>
              <a:ext cx="1260000" cy="864000"/>
              <a:chOff x="-1332000" y="4535997"/>
              <a:chExt cx="1260000" cy="864000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1D2C58AB-90B4-524A-B1DC-F11DD04CC494}"/>
                  </a:ext>
                </a:extLst>
              </p:cNvPr>
              <p:cNvSpPr/>
              <p:nvPr userDrawn="1"/>
            </p:nvSpPr>
            <p:spPr>
              <a:xfrm>
                <a:off x="-1332000" y="4535997"/>
                <a:ext cx="1260000" cy="576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Blue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B39D6648-E04D-845B-4453-383C1FB3568D}"/>
                  </a:ext>
                </a:extLst>
              </p:cNvPr>
              <p:cNvSpPr/>
              <p:nvPr userDrawn="1"/>
            </p:nvSpPr>
            <p:spPr>
              <a:xfrm>
                <a:off x="-1332000" y="5111997"/>
                <a:ext cx="252000" cy="288000"/>
              </a:xfrm>
              <a:prstGeom prst="rect">
                <a:avLst/>
              </a:prstGeom>
              <a:solidFill>
                <a:srgbClr val="E3F1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ED123F4-424D-20D0-1DEB-41A5B1D56E22}"/>
                  </a:ext>
                </a:extLst>
              </p:cNvPr>
              <p:cNvSpPr/>
              <p:nvPr userDrawn="1"/>
            </p:nvSpPr>
            <p:spPr>
              <a:xfrm>
                <a:off x="-828000" y="5111997"/>
                <a:ext cx="252000" cy="288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7583118E-ED62-931B-5F6B-35471B66C178}"/>
                  </a:ext>
                </a:extLst>
              </p:cNvPr>
              <p:cNvSpPr/>
              <p:nvPr userDrawn="1"/>
            </p:nvSpPr>
            <p:spPr>
              <a:xfrm>
                <a:off x="-576000" y="5111997"/>
                <a:ext cx="252000" cy="288000"/>
              </a:xfrm>
              <a:prstGeom prst="rect">
                <a:avLst/>
              </a:prstGeom>
              <a:solidFill>
                <a:srgbClr val="166A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F1FFE7F6-E2AD-5437-E63B-51D62A7FB2B5}"/>
                  </a:ext>
                </a:extLst>
              </p:cNvPr>
              <p:cNvSpPr/>
              <p:nvPr userDrawn="1"/>
            </p:nvSpPr>
            <p:spPr>
              <a:xfrm>
                <a:off x="-324000" y="5111997"/>
                <a:ext cx="252000" cy="288000"/>
              </a:xfrm>
              <a:prstGeom prst="rect">
                <a:avLst/>
              </a:prstGeom>
              <a:solidFill>
                <a:srgbClr val="0831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B515338-9C5D-CEAA-95E3-1C1186B69108}"/>
                  </a:ext>
                </a:extLst>
              </p:cNvPr>
              <p:cNvSpPr/>
              <p:nvPr userDrawn="1"/>
            </p:nvSpPr>
            <p:spPr>
              <a:xfrm>
                <a:off x="-1080000" y="5111997"/>
                <a:ext cx="252000" cy="288000"/>
              </a:xfrm>
              <a:prstGeom prst="rect">
                <a:avLst/>
              </a:prstGeom>
              <a:solidFill>
                <a:srgbClr val="8AC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7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1" r:id="rId2"/>
    <p:sldLayoutId id="2147483669" r:id="rId3"/>
    <p:sldLayoutId id="2147483668" r:id="rId4"/>
    <p:sldLayoutId id="214748367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285" userDrawn="1">
          <p15:clr>
            <a:srgbClr val="F26B43"/>
          </p15:clr>
        </p15:guide>
        <p15:guide id="3" pos="5955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7.png"/><Relationship Id="rId18" Type="http://schemas.openxmlformats.org/officeDocument/2006/relationships/image" Target="../media/image20.png"/><Relationship Id="rId26" Type="http://schemas.openxmlformats.org/officeDocument/2006/relationships/image" Target="../media/image25.png"/><Relationship Id="rId3" Type="http://schemas.openxmlformats.org/officeDocument/2006/relationships/image" Target="../media/image11.png"/><Relationship Id="rId21" Type="http://schemas.openxmlformats.org/officeDocument/2006/relationships/image" Target="../media/image22.png"/><Relationship Id="rId7" Type="http://schemas.microsoft.com/office/2007/relationships/hdphoto" Target="../media/hdphoto2.wdp"/><Relationship Id="rId12" Type="http://schemas.microsoft.com/office/2007/relationships/hdphoto" Target="../media/hdphoto4.wdp"/><Relationship Id="rId17" Type="http://schemas.microsoft.com/office/2007/relationships/hdphoto" Target="../media/hdphoto6.wdp"/><Relationship Id="rId25" Type="http://schemas.openxmlformats.org/officeDocument/2006/relationships/image" Target="../media/image24.png"/><Relationship Id="rId2" Type="http://schemas.openxmlformats.org/officeDocument/2006/relationships/image" Target="../media/image10.pn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24" Type="http://schemas.microsoft.com/office/2007/relationships/hdphoto" Target="../media/hdphoto9.wdp"/><Relationship Id="rId32" Type="http://schemas.openxmlformats.org/officeDocument/2006/relationships/chart" Target="../charts/chart7.xml"/><Relationship Id="rId5" Type="http://schemas.openxmlformats.org/officeDocument/2006/relationships/image" Target="../media/image12.png"/><Relationship Id="rId15" Type="http://schemas.openxmlformats.org/officeDocument/2006/relationships/image" Target="../media/image18.png"/><Relationship Id="rId23" Type="http://schemas.openxmlformats.org/officeDocument/2006/relationships/image" Target="../media/image23.png"/><Relationship Id="rId28" Type="http://schemas.openxmlformats.org/officeDocument/2006/relationships/image" Target="../media/image26.png"/><Relationship Id="rId10" Type="http://schemas.openxmlformats.org/officeDocument/2006/relationships/image" Target="../media/image15.png"/><Relationship Id="rId19" Type="http://schemas.microsoft.com/office/2007/relationships/hdphoto" Target="../media/hdphoto7.wdp"/><Relationship Id="rId31" Type="http://schemas.openxmlformats.org/officeDocument/2006/relationships/chart" Target="../charts/chart6.xml"/><Relationship Id="rId4" Type="http://schemas.microsoft.com/office/2007/relationships/hdphoto" Target="../media/hdphoto1.wdp"/><Relationship Id="rId9" Type="http://schemas.microsoft.com/office/2007/relationships/hdphoto" Target="../media/hdphoto3.wdp"/><Relationship Id="rId14" Type="http://schemas.microsoft.com/office/2007/relationships/hdphoto" Target="../media/hdphoto5.wdp"/><Relationship Id="rId22" Type="http://schemas.microsoft.com/office/2007/relationships/hdphoto" Target="../media/hdphoto8.wdp"/><Relationship Id="rId27" Type="http://schemas.microsoft.com/office/2007/relationships/hdphoto" Target="../media/hdphoto10.wdp"/><Relationship Id="rId30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jpeg"/><Relationship Id="rId18" Type="http://schemas.openxmlformats.org/officeDocument/2006/relationships/image" Target="../media/image43.png"/><Relationship Id="rId3" Type="http://schemas.openxmlformats.org/officeDocument/2006/relationships/chart" Target="../charts/chart9.xml"/><Relationship Id="rId7" Type="http://schemas.openxmlformats.org/officeDocument/2006/relationships/image" Target="../media/image32.png"/><Relationship Id="rId12" Type="http://schemas.openxmlformats.org/officeDocument/2006/relationships/image" Target="../media/image37.jpeg"/><Relationship Id="rId17" Type="http://schemas.openxmlformats.org/officeDocument/2006/relationships/image" Target="../media/image42.png"/><Relationship Id="rId2" Type="http://schemas.openxmlformats.org/officeDocument/2006/relationships/chart" Target="../charts/chart8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png"/><Relationship Id="rId15" Type="http://schemas.openxmlformats.org/officeDocument/2006/relationships/image" Target="../media/image40.jpeg"/><Relationship Id="rId10" Type="http://schemas.openxmlformats.org/officeDocument/2006/relationships/image" Target="../media/image35.png"/><Relationship Id="rId4" Type="http://schemas.openxmlformats.org/officeDocument/2006/relationships/image" Target="../media/image29.jpe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svg"/><Relationship Id="rId12" Type="http://schemas.openxmlformats.org/officeDocument/2006/relationships/image" Target="../media/image54.svg"/><Relationship Id="rId2" Type="http://schemas.openxmlformats.org/officeDocument/2006/relationships/image" Target="../media/image44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990BFB-7BA5-FB4A-9A92-976181A75BB0}"/>
              </a:ext>
            </a:extLst>
          </p:cNvPr>
          <p:cNvSpPr txBox="1"/>
          <p:nvPr/>
        </p:nvSpPr>
        <p:spPr>
          <a:xfrm>
            <a:off x="7514969" y="649766"/>
            <a:ext cx="1938031" cy="15901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dirty="0">
                <a:solidFill>
                  <a:schemeClr val="bg1"/>
                </a:solidFill>
                <a:latin typeface="+mj-lt"/>
                <a:ea typeface="+mj-ea"/>
              </a:rPr>
              <a:t>Strictly Private &amp;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3FCE1-8EF2-5177-9928-EF8D18944D42}"/>
              </a:ext>
            </a:extLst>
          </p:cNvPr>
          <p:cNvSpPr txBox="1"/>
          <p:nvPr/>
        </p:nvSpPr>
        <p:spPr>
          <a:xfrm>
            <a:off x="452438" y="3484400"/>
            <a:ext cx="1838645" cy="3323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2400" spc="-50">
                <a:solidFill>
                  <a:schemeClr val="bg1"/>
                </a:solidFill>
                <a:latin typeface="SUIT Medium" pitchFamily="50" charset="-127"/>
                <a:ea typeface="SUIT Medium" pitchFamily="50" charset="-127"/>
              </a:rPr>
              <a:t>Teaser Memo</a:t>
            </a:r>
            <a:endParaRPr lang="ko-KR" altLang="en-US" sz="2400" spc="-50" dirty="0">
              <a:solidFill>
                <a:schemeClr val="bg1"/>
              </a:solidFill>
              <a:latin typeface="SUIT Medium" pitchFamily="50" charset="-127"/>
              <a:ea typeface="SUIT Medium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F83FA-073A-032F-7A95-7322545686A5}"/>
              </a:ext>
            </a:extLst>
          </p:cNvPr>
          <p:cNvSpPr txBox="1"/>
          <p:nvPr/>
        </p:nvSpPr>
        <p:spPr>
          <a:xfrm>
            <a:off x="452438" y="2930402"/>
            <a:ext cx="4174220" cy="5539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4000" spc="-50" dirty="0">
                <a:solidFill>
                  <a:schemeClr val="bg1"/>
                </a:solidFill>
                <a:latin typeface="+mj-lt"/>
                <a:ea typeface="+mj-ea"/>
              </a:rPr>
              <a:t>PROJECT SPICY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2D4F5B-7215-AC37-69C3-D84C6BA481DD}"/>
              </a:ext>
            </a:extLst>
          </p:cNvPr>
          <p:cNvSpPr txBox="1"/>
          <p:nvPr/>
        </p:nvSpPr>
        <p:spPr>
          <a:xfrm>
            <a:off x="452438" y="4592197"/>
            <a:ext cx="1287212" cy="2215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1600" spc="-50" dirty="0">
                <a:solidFill>
                  <a:schemeClr val="bg1"/>
                </a:solidFill>
                <a:latin typeface="SUIT Medium" pitchFamily="50" charset="-127"/>
                <a:ea typeface="SUIT Medium" pitchFamily="50" charset="-127"/>
              </a:rPr>
              <a:t>February 2026</a:t>
            </a:r>
            <a:endParaRPr lang="ko-KR" altLang="en-US" sz="1600" spc="-50" dirty="0">
              <a:solidFill>
                <a:schemeClr val="bg1"/>
              </a:solidFill>
              <a:latin typeface="SUIT Medium" pitchFamily="50" charset="-127"/>
              <a:ea typeface="SUIT Medium" pitchFamily="50" charset="-127"/>
            </a:endParaRP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A104B3D6-FEA0-B5C1-74A1-EB1D0954A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97" y="549275"/>
            <a:ext cx="2724328" cy="360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BBF0376-D1A3-7D9D-C0E2-CD3A862B594A}"/>
              </a:ext>
            </a:extLst>
          </p:cNvPr>
          <p:cNvSpPr/>
          <p:nvPr/>
        </p:nvSpPr>
        <p:spPr>
          <a:xfrm>
            <a:off x="-940340" y="979251"/>
            <a:ext cx="557719" cy="538264"/>
          </a:xfrm>
          <a:prstGeom prst="rect">
            <a:avLst/>
          </a:prstGeom>
          <a:solidFill>
            <a:srgbClr val="0F3A32"/>
          </a:solidFill>
          <a:ln w="6350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35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91887-597E-B440-94F3-388F81F7C253}"/>
              </a:ext>
            </a:extLst>
          </p:cNvPr>
          <p:cNvSpPr txBox="1"/>
          <p:nvPr/>
        </p:nvSpPr>
        <p:spPr>
          <a:xfrm>
            <a:off x="453000" y="549275"/>
            <a:ext cx="1415452" cy="2856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dirty="0">
                <a:solidFill>
                  <a:schemeClr val="bg1"/>
                </a:solidFill>
                <a:latin typeface="+mj-lt"/>
                <a:ea typeface="+mj-ea"/>
              </a:rPr>
              <a:t>DISCLAIMER</a:t>
            </a:r>
            <a:endParaRPr lang="ko-KR" altLang="en-US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A8063-FFF5-D606-E1C8-B67A11F0CE47}"/>
              </a:ext>
            </a:extLst>
          </p:cNvPr>
          <p:cNvSpPr txBox="1"/>
          <p:nvPr/>
        </p:nvSpPr>
        <p:spPr>
          <a:xfrm>
            <a:off x="452999" y="1089025"/>
            <a:ext cx="4320613" cy="32696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800" dirty="0">
                <a:solidFill>
                  <a:schemeClr val="bg1"/>
                </a:solidFill>
              </a:rPr>
              <a:t>본 자료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이하 </a:t>
            </a:r>
            <a:r>
              <a:rPr lang="en-US" altLang="ko-KR" sz="800" dirty="0">
                <a:solidFill>
                  <a:schemeClr val="bg1"/>
                </a:solidFill>
              </a:rPr>
              <a:t>“</a:t>
            </a: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TM”)</a:t>
            </a:r>
            <a:r>
              <a:rPr lang="ko-KR" altLang="en-US" sz="800" dirty="0">
                <a:solidFill>
                  <a:schemeClr val="bg1"/>
                </a:solidFill>
              </a:rPr>
              <a:t>는 주식회사 </a:t>
            </a:r>
            <a:r>
              <a:rPr lang="en-US" altLang="ko-KR" sz="800" dirty="0">
                <a:solidFill>
                  <a:schemeClr val="bg1"/>
                </a:solidFill>
              </a:rPr>
              <a:t>H</a:t>
            </a:r>
            <a:r>
              <a:rPr lang="ko-KR" altLang="en-US" sz="800" dirty="0">
                <a:solidFill>
                  <a:schemeClr val="bg1"/>
                </a:solidFill>
              </a:rPr>
              <a:t> 농업회사법인 및 주식회사 </a:t>
            </a:r>
            <a:r>
              <a:rPr lang="en-US" altLang="ko-KR" sz="800" dirty="0">
                <a:solidFill>
                  <a:schemeClr val="bg1"/>
                </a:solidFill>
              </a:rPr>
              <a:t>E </a:t>
            </a:r>
            <a:r>
              <a:rPr lang="ko-KR" altLang="en-US" sz="800" dirty="0">
                <a:solidFill>
                  <a:schemeClr val="bg1"/>
                </a:solidFill>
              </a:rPr>
              <a:t>농업회사법인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이하 총칭하여 </a:t>
            </a:r>
            <a:r>
              <a:rPr lang="en-US" altLang="ko-KR" sz="800" dirty="0">
                <a:solidFill>
                  <a:schemeClr val="bg1"/>
                </a:solidFill>
              </a:rPr>
              <a:t>“</a:t>
            </a:r>
            <a:r>
              <a:rPr lang="ko-KR" altLang="en-US" sz="800" dirty="0">
                <a:solidFill>
                  <a:schemeClr val="bg1"/>
                </a:solidFill>
              </a:rPr>
              <a:t>대상회사</a:t>
            </a:r>
            <a:r>
              <a:rPr lang="en-US" altLang="ko-KR" sz="800" dirty="0">
                <a:solidFill>
                  <a:schemeClr val="bg1"/>
                </a:solidFill>
              </a:rPr>
              <a:t>”)</a:t>
            </a:r>
            <a:r>
              <a:rPr lang="ko-KR" altLang="en-US" sz="800" dirty="0">
                <a:solidFill>
                  <a:schemeClr val="bg1"/>
                </a:solidFill>
              </a:rPr>
              <a:t>에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ko-KR" altLang="en-US" sz="800" dirty="0">
                <a:solidFill>
                  <a:schemeClr val="bg1"/>
                </a:solidFill>
              </a:rPr>
              <a:t>대한 잠재적인 투자 또는 관련된 거래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이하</a:t>
            </a:r>
            <a:r>
              <a:rPr lang="en-US" altLang="ko-KR" sz="800" dirty="0">
                <a:solidFill>
                  <a:schemeClr val="bg1"/>
                </a:solidFill>
              </a:rPr>
              <a:t> “</a:t>
            </a:r>
            <a:r>
              <a:rPr lang="ko-KR" altLang="en-US" sz="800" dirty="0">
                <a:solidFill>
                  <a:schemeClr val="bg1"/>
                </a:solidFill>
              </a:rPr>
              <a:t>본 거래</a:t>
            </a:r>
            <a:r>
              <a:rPr lang="en-US" altLang="ko-KR" sz="800" dirty="0">
                <a:solidFill>
                  <a:schemeClr val="bg1"/>
                </a:solidFill>
              </a:rPr>
              <a:t>“)</a:t>
            </a:r>
            <a:r>
              <a:rPr lang="ko-KR" altLang="en-US" sz="800" dirty="0">
                <a:solidFill>
                  <a:schemeClr val="bg1"/>
                </a:solidFill>
              </a:rPr>
              <a:t>에 관한 일반적인 이해를 돕기 위한 참고자료로서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주식회사 </a:t>
            </a:r>
            <a:r>
              <a:rPr lang="ko-KR" altLang="en-US" sz="800" dirty="0" err="1">
                <a:solidFill>
                  <a:schemeClr val="bg1"/>
                </a:solidFill>
              </a:rPr>
              <a:t>페트라브릿지파트너스</a:t>
            </a: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이하 총칭하여 </a:t>
            </a:r>
            <a:r>
              <a:rPr lang="en-US" altLang="ko-KR" sz="800" dirty="0">
                <a:solidFill>
                  <a:schemeClr val="bg1"/>
                </a:solidFill>
              </a:rPr>
              <a:t>“</a:t>
            </a:r>
            <a:r>
              <a:rPr lang="ko-KR" altLang="en-US" sz="800" dirty="0">
                <a:solidFill>
                  <a:schemeClr val="bg1"/>
                </a:solidFill>
              </a:rPr>
              <a:t>작성자</a:t>
            </a:r>
            <a:r>
              <a:rPr lang="en-US" altLang="ko-KR" sz="800" dirty="0">
                <a:solidFill>
                  <a:schemeClr val="bg1"/>
                </a:solidFill>
              </a:rPr>
              <a:t>“)</a:t>
            </a:r>
            <a:r>
              <a:rPr lang="ko-KR" altLang="en-US" sz="800" dirty="0">
                <a:solidFill>
                  <a:schemeClr val="bg1"/>
                </a:solidFill>
              </a:rPr>
              <a:t>가 대상회사로부터 </a:t>
            </a:r>
            <a:r>
              <a:rPr lang="ko-KR" altLang="en-US" sz="800" b="1" u="sng" dirty="0">
                <a:solidFill>
                  <a:schemeClr val="bg1"/>
                </a:solidFill>
              </a:rPr>
              <a:t>본 거래에 관한 공식적인 자문 또는 투자유치 주관</a:t>
            </a:r>
            <a:r>
              <a:rPr lang="en-US" altLang="ko-KR" sz="800" b="1" u="sng" dirty="0">
                <a:solidFill>
                  <a:schemeClr val="bg1"/>
                </a:solidFill>
              </a:rPr>
              <a:t>(Mandate)</a:t>
            </a:r>
            <a:r>
              <a:rPr lang="ko-KR" altLang="en-US" sz="800" b="1" u="sng" dirty="0">
                <a:solidFill>
                  <a:schemeClr val="bg1"/>
                </a:solidFill>
              </a:rPr>
              <a:t>을 부여 받지 아니한 상태에서</a:t>
            </a:r>
            <a:r>
              <a:rPr lang="en-US" altLang="ko-KR" sz="800" b="1" u="sng" dirty="0">
                <a:solidFill>
                  <a:schemeClr val="bg1"/>
                </a:solidFill>
              </a:rPr>
              <a:t> </a:t>
            </a:r>
            <a:r>
              <a:rPr lang="ko-KR" altLang="en-US" sz="800" b="1" u="sng" dirty="0">
                <a:solidFill>
                  <a:schemeClr val="bg1"/>
                </a:solidFill>
              </a:rPr>
              <a:t>작성자의 독립적인 분석과 판단에 따라 작성한 자료</a:t>
            </a:r>
            <a:r>
              <a:rPr lang="ko-KR" altLang="en-US" sz="800" dirty="0">
                <a:solidFill>
                  <a:schemeClr val="bg1"/>
                </a:solidFill>
              </a:rPr>
              <a:t>입니다</a:t>
            </a:r>
            <a:r>
              <a:rPr lang="en-US" altLang="ko-KR" sz="800" dirty="0">
                <a:solidFill>
                  <a:schemeClr val="bg1"/>
                </a:solidFill>
              </a:rPr>
              <a:t>. </a:t>
            </a:r>
            <a:r>
              <a:rPr lang="ko-KR" altLang="en-US" sz="800" dirty="0">
                <a:solidFill>
                  <a:schemeClr val="bg1"/>
                </a:solidFill>
              </a:rPr>
              <a:t>따라서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TM</a:t>
            </a:r>
            <a:r>
              <a:rPr lang="ko-KR" altLang="en-US" sz="800" dirty="0">
                <a:solidFill>
                  <a:schemeClr val="bg1"/>
                </a:solidFill>
              </a:rPr>
              <a:t>의 작성 및 제공은 대상회사 또는 그 주주가 본 거래를 추진하거나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제</a:t>
            </a:r>
            <a:r>
              <a:rPr lang="en-US" altLang="ko-KR" sz="800" dirty="0">
                <a:solidFill>
                  <a:schemeClr val="bg1"/>
                </a:solidFill>
              </a:rPr>
              <a:t>3</a:t>
            </a:r>
            <a:r>
              <a:rPr lang="ko-KR" altLang="en-US" sz="800" dirty="0">
                <a:solidFill>
                  <a:schemeClr val="bg1"/>
                </a:solidFill>
              </a:rPr>
              <a:t>자에게 투자를 제안하거나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특정 조건의 거래를 확정하였음을 의미하지 않습니다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TM</a:t>
            </a:r>
            <a:r>
              <a:rPr lang="ko-KR" altLang="en-US" sz="800" dirty="0">
                <a:solidFill>
                  <a:schemeClr val="bg1"/>
                </a:solidFill>
              </a:rPr>
              <a:t>은 대상회사와 본 거래에 대한 예비적인 검토를 위한 참고자료로 제공되는 것으로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투자자에게 어떠한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ko-KR" altLang="en-US" sz="800" dirty="0">
                <a:solidFill>
                  <a:schemeClr val="bg1"/>
                </a:solidFill>
              </a:rPr>
              <a:t>법률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회계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세무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ko-KR" altLang="en-US" sz="800" dirty="0">
                <a:solidFill>
                  <a:schemeClr val="bg1"/>
                </a:solidFill>
              </a:rPr>
              <a:t>또는 기타 전문적인 자문을 제공하기 위한 목적은 아닙니다</a:t>
            </a:r>
            <a:r>
              <a:rPr lang="en-US" altLang="ko-KR" sz="800" dirty="0">
                <a:solidFill>
                  <a:schemeClr val="bg1"/>
                </a:solidFill>
              </a:rPr>
              <a:t>. </a:t>
            </a:r>
            <a:r>
              <a:rPr lang="ko-KR" altLang="en-US" sz="800" dirty="0">
                <a:solidFill>
                  <a:schemeClr val="bg1"/>
                </a:solidFill>
              </a:rPr>
              <a:t>투자자는 본 </a:t>
            </a:r>
            <a:r>
              <a:rPr lang="en-US" altLang="ko-KR" sz="800" dirty="0">
                <a:solidFill>
                  <a:schemeClr val="bg1"/>
                </a:solidFill>
              </a:rPr>
              <a:t>TM</a:t>
            </a:r>
            <a:r>
              <a:rPr lang="ko-KR" altLang="en-US" sz="800" dirty="0">
                <a:solidFill>
                  <a:schemeClr val="bg1"/>
                </a:solidFill>
              </a:rPr>
              <a:t>에 포함된 정보를 참고자료로만 활용하여야 하며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최종적인 의사 결정은 투자자 본인의 책임 하에 독립적인 검토 및 필요 시 외부 전문자문을 통해 이루어져야 합니다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TM</a:t>
            </a:r>
            <a:r>
              <a:rPr lang="ko-KR" altLang="en-US" sz="800" dirty="0">
                <a:solidFill>
                  <a:schemeClr val="bg1"/>
                </a:solidFill>
              </a:rPr>
              <a:t>에 포함된 정보는 공개자료 및 대상회사의 협조 하에 제공된 자료 등을 바탕으로 작성되었으나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그 정확성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완전성 또는 최신성에 대하여 작성자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대상회사 또는 그 주주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임직원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관계사 등은 명시적이든 묵시적이든 어떠한 진술이나 보장도 하지 않으며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이에 관하여 일체의 법적 책임을 부담하지 않습니다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TM</a:t>
            </a:r>
            <a:r>
              <a:rPr lang="ko-KR" altLang="en-US" sz="800" dirty="0">
                <a:solidFill>
                  <a:schemeClr val="bg1"/>
                </a:solidFill>
              </a:rPr>
              <a:t>은 본 거래에 관심을 가질 수 있는 제한된 수의 잠재적 투자자에게만 제공되는 자료로서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작성자의 사전 서면동의 없이 제</a:t>
            </a:r>
            <a:r>
              <a:rPr lang="en-US" altLang="ko-KR" sz="800" dirty="0">
                <a:solidFill>
                  <a:schemeClr val="bg1"/>
                </a:solidFill>
              </a:rPr>
              <a:t>3</a:t>
            </a:r>
            <a:r>
              <a:rPr lang="ko-KR" altLang="en-US" sz="800" dirty="0">
                <a:solidFill>
                  <a:schemeClr val="bg1"/>
                </a:solidFill>
              </a:rPr>
              <a:t>자에게 제공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복제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배포 또는 유출되어서는 아니 됩니다</a:t>
            </a:r>
            <a:r>
              <a:rPr lang="en-US" altLang="ko-KR" sz="800" dirty="0">
                <a:solidFill>
                  <a:schemeClr val="bg1"/>
                </a:solidFill>
              </a:rPr>
              <a:t>. </a:t>
            </a:r>
            <a:r>
              <a:rPr lang="ko-KR" altLang="en-US" sz="800" dirty="0">
                <a:solidFill>
                  <a:schemeClr val="bg1"/>
                </a:solidFill>
              </a:rPr>
              <a:t>또한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본 </a:t>
            </a:r>
            <a:r>
              <a:rPr lang="en-US" altLang="ko-KR" sz="800" dirty="0">
                <a:solidFill>
                  <a:schemeClr val="bg1"/>
                </a:solidFill>
              </a:rPr>
              <a:t>TM</a:t>
            </a:r>
            <a:r>
              <a:rPr lang="ko-KR" altLang="en-US" sz="800" dirty="0">
                <a:solidFill>
                  <a:schemeClr val="bg1"/>
                </a:solidFill>
              </a:rPr>
              <a:t>의 내용은 사전 통지 없이 변경될 수 있으며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그러한 변경 사항에 대한 인지 여부는 전적으로 투자자의 책임임을 유의하시기 바랍니다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endParaRPr lang="en-US" altLang="ko-KR" sz="800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r>
              <a:rPr lang="en-US" altLang="ko-KR" sz="800" dirty="0">
                <a:solidFill>
                  <a:schemeClr val="bg1"/>
                </a:solidFill>
              </a:rPr>
              <a:t>2026</a:t>
            </a:r>
            <a:r>
              <a:rPr lang="ko-KR" altLang="en-US" sz="800" dirty="0">
                <a:solidFill>
                  <a:schemeClr val="bg1"/>
                </a:solidFill>
              </a:rPr>
              <a:t>년 </a:t>
            </a:r>
            <a:r>
              <a:rPr lang="en-US" altLang="ko-KR" sz="800" dirty="0">
                <a:solidFill>
                  <a:schemeClr val="bg1"/>
                </a:solidFill>
              </a:rPr>
              <a:t>2</a:t>
            </a:r>
            <a:r>
              <a:rPr lang="ko-KR" altLang="en-US" sz="800" dirty="0">
                <a:solidFill>
                  <a:schemeClr val="bg1"/>
                </a:solidFill>
              </a:rPr>
              <a:t>월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Aft>
                <a:spcPts val="600"/>
              </a:spcAft>
            </a:pPr>
            <a:endParaRPr lang="en-US" altLang="ko-KR" sz="800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Aft>
                <a:spcPts val="300"/>
              </a:spcAft>
            </a:pPr>
            <a:r>
              <a:rPr lang="ko-KR" altLang="en-US" sz="1000" b="1" dirty="0">
                <a:solidFill>
                  <a:schemeClr val="bg1"/>
                </a:solidFill>
              </a:rPr>
              <a:t>주식회사 </a:t>
            </a:r>
            <a:r>
              <a:rPr lang="ko-KR" altLang="en-US" sz="1000" b="1" dirty="0" err="1">
                <a:solidFill>
                  <a:schemeClr val="bg1"/>
                </a:solidFill>
              </a:rPr>
              <a:t>페트라브릿지파트너스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730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4DC923B-5B66-2319-7D80-EA07DCD8B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397758"/>
              </p:ext>
            </p:extLst>
          </p:nvPr>
        </p:nvGraphicFramePr>
        <p:xfrm>
          <a:off x="344438" y="2168525"/>
          <a:ext cx="3528000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all" spc="0" baseline="0" dirty="0">
                          <a:solidFill>
                            <a:srgbClr val="0F3A32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400" b="0" kern="120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all" spc="0" baseline="0" dirty="0">
                          <a:solidFill>
                            <a:srgbClr val="0F3A32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400" b="0" kern="120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Market Opportunity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Target Highlights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cs"/>
                        </a:rPr>
                        <a:t>Financial Summary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UITE Heavy"/>
                        <a:ea typeface="SUITE Heavy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277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CDC6F78-4D81-811A-834B-E3353E5EA294}"/>
              </a:ext>
            </a:extLst>
          </p:cNvPr>
          <p:cNvSpPr txBox="1"/>
          <p:nvPr/>
        </p:nvSpPr>
        <p:spPr>
          <a:xfrm>
            <a:off x="452438" y="1368847"/>
            <a:ext cx="3247684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CONTENTS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229E4FC0-B5E1-0C09-EA6E-630666878326}"/>
              </a:ext>
            </a:extLst>
          </p:cNvPr>
          <p:cNvSpPr txBox="1">
            <a:spLocks/>
          </p:cNvSpPr>
          <p:nvPr/>
        </p:nvSpPr>
        <p:spPr>
          <a:xfrm>
            <a:off x="452999" y="6177279"/>
            <a:ext cx="1548501" cy="131446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indent="0" defTabSz="914400" latinLnBrk="1">
              <a:lnSpc>
                <a:spcPts val="11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aseline="0">
                <a:solidFill>
                  <a:schemeClr val="bg1"/>
                </a:solidFill>
                <a:latin typeface="Outfit" pitchFamily="2" charset="0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800" dirty="0">
                <a:latin typeface="+mj-lt"/>
                <a:ea typeface="+mj-ea"/>
              </a:rPr>
              <a:t>Strictly Private &amp; Confidential</a:t>
            </a:r>
            <a:endParaRPr lang="ko-KR" altLang="en-US" sz="800" dirty="0">
              <a:latin typeface="+mj-lt"/>
              <a:ea typeface="+mj-ea"/>
            </a:endParaRPr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83CA104A-429E-6067-3DE3-229544C26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97" y="549275"/>
            <a:ext cx="272432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5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88CCBD4-78A9-FBD0-0805-5611F79510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Execution summary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59CF25-82FA-3E47-9914-2562AAAB7B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 (1) H</a:t>
            </a:r>
            <a:r>
              <a:rPr lang="ko-KR" altLang="en-US" dirty="0"/>
              <a:t> 농업회사법인과 </a:t>
            </a:r>
            <a:r>
              <a:rPr lang="en-US" altLang="ko-KR" dirty="0"/>
              <a:t>E </a:t>
            </a:r>
            <a:r>
              <a:rPr lang="ko-KR" altLang="en-US" dirty="0"/>
              <a:t>농업회사법인의 연결 재무제표 작성을 가정한 </a:t>
            </a:r>
            <a:r>
              <a:rPr lang="en-US" altLang="ko-KR" dirty="0"/>
              <a:t>Pro-Forma </a:t>
            </a:r>
            <a:r>
              <a:rPr lang="ko-KR" altLang="en-US" dirty="0"/>
              <a:t>손익으로</a:t>
            </a:r>
            <a:r>
              <a:rPr lang="en-US" altLang="ko-KR" dirty="0"/>
              <a:t>, 2024</a:t>
            </a:r>
            <a:r>
              <a:rPr lang="ko-KR" altLang="en-US" dirty="0"/>
              <a:t>년 기준 양사간 매출 </a:t>
            </a:r>
            <a:r>
              <a:rPr lang="en-US" altLang="ko-KR" dirty="0"/>
              <a:t>· </a:t>
            </a:r>
            <a:r>
              <a:rPr lang="ko-KR" altLang="en-US" dirty="0"/>
              <a:t>매입 거래는 없음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38EEA1-317A-B8C5-54F6-2A2C180F4C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FDD48E-C17C-B798-A552-1DF96374020C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대상회사 개요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45462D-E1AD-5A87-4154-4F094C38C505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본 거래 제안구조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B4D0A0-F64F-FBF9-6A8D-324477D830C7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400" b="1" dirty="0">
                <a:solidFill>
                  <a:srgbClr val="3D3D3D"/>
                </a:solidFill>
              </a:rPr>
              <a:t>H </a:t>
            </a:r>
            <a:r>
              <a:rPr lang="ko-KR" altLang="en-US" sz="1400" b="1" dirty="0">
                <a:solidFill>
                  <a:srgbClr val="3D3D3D"/>
                </a:solidFill>
              </a:rPr>
              <a:t>농업회사법인과 </a:t>
            </a:r>
            <a:r>
              <a:rPr lang="en-US" altLang="ko-KR" sz="1400" b="1" dirty="0">
                <a:solidFill>
                  <a:srgbClr val="3D3D3D"/>
                </a:solidFill>
              </a:rPr>
              <a:t>E </a:t>
            </a:r>
            <a:r>
              <a:rPr lang="ko-KR" altLang="en-US" sz="1400" b="1" dirty="0">
                <a:solidFill>
                  <a:srgbClr val="3D3D3D"/>
                </a:solidFill>
              </a:rPr>
              <a:t>농업회사법인</a:t>
            </a:r>
            <a:r>
              <a:rPr lang="en-US" altLang="ko-KR" sz="1100" dirty="0">
                <a:solidFill>
                  <a:srgbClr val="3D3D3D"/>
                </a:solidFill>
              </a:rPr>
              <a:t>(</a:t>
            </a:r>
            <a:r>
              <a:rPr lang="ko-KR" altLang="en-US" sz="1100" dirty="0">
                <a:solidFill>
                  <a:srgbClr val="3D3D3D"/>
                </a:solidFill>
              </a:rPr>
              <a:t>이하 양사 총칭하여 </a:t>
            </a:r>
            <a:r>
              <a:rPr lang="en-US" altLang="ko-KR" sz="1100" dirty="0">
                <a:solidFill>
                  <a:srgbClr val="3D3D3D"/>
                </a:solidFill>
              </a:rPr>
              <a:t>“</a:t>
            </a:r>
            <a:r>
              <a:rPr lang="ko-KR" altLang="en-US" sz="1100" b="1" u="sng" dirty="0">
                <a:solidFill>
                  <a:srgbClr val="1C8F57"/>
                </a:solidFill>
              </a:rPr>
              <a:t>대상회사</a:t>
            </a:r>
            <a:r>
              <a:rPr lang="en-US" altLang="ko-KR" sz="1100" dirty="0">
                <a:solidFill>
                  <a:srgbClr val="3D3D3D"/>
                </a:solidFill>
              </a:rPr>
              <a:t>“)</a:t>
            </a:r>
            <a:r>
              <a:rPr lang="ko-KR" altLang="en-US" sz="1400" b="1" dirty="0">
                <a:solidFill>
                  <a:srgbClr val="3D3D3D"/>
                </a:solidFill>
              </a:rPr>
              <a:t>은 경기도 평택과 충청남도 천안 소재 국내 </a:t>
            </a:r>
            <a:r>
              <a:rPr lang="en-US" altLang="ko-KR" sz="1400" b="1" dirty="0">
                <a:solidFill>
                  <a:srgbClr val="3D3D3D"/>
                </a:solidFill>
              </a:rPr>
              <a:t>Top-tier </a:t>
            </a:r>
            <a:r>
              <a:rPr lang="ko-KR" altLang="en-US" sz="1400" b="1" dirty="0">
                <a:solidFill>
                  <a:srgbClr val="3D3D3D"/>
                </a:solidFill>
              </a:rPr>
              <a:t>고춧가루 제조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유통업체로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현재 </a:t>
            </a:r>
            <a:r>
              <a:rPr lang="en-US" altLang="ko-KR" sz="1400" b="1" dirty="0">
                <a:solidFill>
                  <a:srgbClr val="3D3D3D"/>
                </a:solidFill>
              </a:rPr>
              <a:t>FI </a:t>
            </a:r>
            <a:r>
              <a:rPr lang="ko-KR" altLang="en-US" sz="1400" b="1" dirty="0">
                <a:solidFill>
                  <a:srgbClr val="3D3D3D"/>
                </a:solidFill>
              </a:rPr>
              <a:t>최대주주와 설립자 보유 지분을 포함한 경영권 지분 매각</a:t>
            </a:r>
            <a:r>
              <a:rPr lang="en-US" altLang="ko-KR" sz="1100" dirty="0">
                <a:solidFill>
                  <a:srgbClr val="3D3D3D"/>
                </a:solidFill>
              </a:rPr>
              <a:t>(</a:t>
            </a:r>
            <a:r>
              <a:rPr lang="ko-KR" altLang="en-US" sz="1100" dirty="0">
                <a:solidFill>
                  <a:srgbClr val="3D3D3D"/>
                </a:solidFill>
              </a:rPr>
              <a:t>이하 </a:t>
            </a:r>
            <a:r>
              <a:rPr lang="en-US" altLang="ko-KR" sz="1100" dirty="0">
                <a:solidFill>
                  <a:srgbClr val="3D3D3D"/>
                </a:solidFill>
              </a:rPr>
              <a:t>“</a:t>
            </a:r>
            <a:r>
              <a:rPr lang="ko-KR" altLang="en-US" sz="1100" b="1" u="sng" dirty="0">
                <a:solidFill>
                  <a:srgbClr val="1C8F57"/>
                </a:solidFill>
              </a:rPr>
              <a:t>본 거래</a:t>
            </a:r>
            <a:r>
              <a:rPr lang="en-US" altLang="ko-KR" sz="1100" dirty="0">
                <a:solidFill>
                  <a:srgbClr val="3D3D3D"/>
                </a:solidFill>
              </a:rPr>
              <a:t>“)</a:t>
            </a:r>
            <a:r>
              <a:rPr lang="ko-KR" altLang="en-US" sz="1400" b="1" dirty="0">
                <a:solidFill>
                  <a:srgbClr val="3D3D3D"/>
                </a:solidFill>
              </a:rPr>
              <a:t>를 고려하고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A906DC-AAC1-7BA2-1177-8D141AA251A5}"/>
              </a:ext>
            </a:extLst>
          </p:cNvPr>
          <p:cNvSpPr txBox="1"/>
          <p:nvPr/>
        </p:nvSpPr>
        <p:spPr>
          <a:xfrm>
            <a:off x="5060999" y="5438719"/>
            <a:ext cx="4391999" cy="36580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/>
              <a:t>본 거래는 </a:t>
            </a:r>
            <a:r>
              <a:rPr lang="ko-KR" altLang="en-US" sz="1000" b="1" u="sng" spc="-30" dirty="0">
                <a:solidFill>
                  <a:srgbClr val="1C8F57"/>
                </a:solidFill>
              </a:rPr>
              <a:t>국내 </a:t>
            </a:r>
            <a:r>
              <a:rPr lang="en-US" altLang="ko-KR" sz="1000" b="1" u="sng" spc="-30" dirty="0">
                <a:solidFill>
                  <a:srgbClr val="1C8F57"/>
                </a:solidFill>
              </a:rPr>
              <a:t>Top-tier </a:t>
            </a:r>
            <a:r>
              <a:rPr lang="ko-KR" altLang="en-US" sz="1000" b="1" u="sng" spc="-30" dirty="0">
                <a:solidFill>
                  <a:srgbClr val="1C8F57"/>
                </a:solidFill>
              </a:rPr>
              <a:t>고춧가루 제조 </a:t>
            </a:r>
            <a:r>
              <a:rPr lang="en-US" altLang="ko-KR" sz="1000" b="1" u="sng" spc="-30" dirty="0">
                <a:solidFill>
                  <a:srgbClr val="1C8F57"/>
                </a:solidFill>
              </a:rPr>
              <a:t>· </a:t>
            </a:r>
            <a:r>
              <a:rPr lang="ko-KR" altLang="en-US" sz="1000" b="1" u="sng" spc="-30" dirty="0">
                <a:solidFill>
                  <a:srgbClr val="1C8F57"/>
                </a:solidFill>
              </a:rPr>
              <a:t>유통업체에 대한 경영권 지분 매각 거래</a:t>
            </a:r>
            <a:r>
              <a:rPr lang="ko-KR" altLang="en-US" sz="1000" spc="-30" dirty="0"/>
              <a:t> 제안임</a:t>
            </a:r>
            <a:endParaRPr lang="en-US" altLang="ko-KR" sz="1000" spc="-30" dirty="0"/>
          </a:p>
          <a:p>
            <a:pPr marL="171450" indent="-171450" algn="l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spc="-30" dirty="0"/>
              <a:t>구체적인 거래 대상 지분율</a:t>
            </a:r>
            <a:r>
              <a:rPr lang="en-US" altLang="ko-KR" sz="1000" spc="-30" dirty="0"/>
              <a:t>, </a:t>
            </a:r>
            <a:r>
              <a:rPr lang="ko-KR" altLang="en-US" sz="1000" spc="-30" dirty="0"/>
              <a:t>거래구조 및</a:t>
            </a:r>
            <a:r>
              <a:rPr lang="en-US" altLang="ko-KR" sz="1000" spc="-30" dirty="0"/>
              <a:t> </a:t>
            </a:r>
            <a:r>
              <a:rPr lang="ko-KR" altLang="en-US" sz="1000" spc="-30" dirty="0"/>
              <a:t>조건 등은 추후 상세 협의 가능함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EEA0D77-45DE-627C-0F16-F0ECA8496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823623"/>
              </p:ext>
            </p:extLst>
          </p:nvPr>
        </p:nvGraphicFramePr>
        <p:xfrm>
          <a:off x="453000" y="2168525"/>
          <a:ext cx="4392000" cy="36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890793053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44209373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4185118405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53467793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406755986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00140522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H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사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회사명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주식회사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H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농업회사법인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71612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설립일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1985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(M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농산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), 2009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(H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농업회사법인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65453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소재지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경기도 평택시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팽성읍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8589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주요사업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국산 고춧가루 제조 및 유통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62006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재무현황</a:t>
                      </a:r>
                      <a:endParaRPr lang="en-US" altLang="ko-KR" sz="1000" b="1" dirty="0">
                        <a:solidFill>
                          <a:srgbClr val="1C8F57"/>
                        </a:solidFill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rgbClr val="1C8F57"/>
                          </a:solidFill>
                        </a:rPr>
                        <a:t>(FY24 </a:t>
                      </a:r>
                      <a:r>
                        <a:rPr lang="ko-KR" altLang="en-US" sz="800" b="0" dirty="0">
                          <a:solidFill>
                            <a:srgbClr val="1C8F57"/>
                          </a:solidFill>
                        </a:rPr>
                        <a:t>기준</a:t>
                      </a:r>
                      <a:r>
                        <a:rPr lang="en-US" altLang="ko-KR" sz="800" b="0" dirty="0">
                          <a:solidFill>
                            <a:srgbClr val="1C8F57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자산총계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부채총계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순자산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173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116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매출액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영업이익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EBITDA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121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5.4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6.2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9119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E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사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회사명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주식회사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E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농업회사법인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68187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설립일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18327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소재지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충청남도 천안시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성환읍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01417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주요사업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수입산 고춧가루 제조 및 유통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054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재무현황</a:t>
                      </a:r>
                      <a:endParaRPr lang="en-US" altLang="ko-KR" sz="1000" b="1" dirty="0">
                        <a:solidFill>
                          <a:srgbClr val="1C8F57"/>
                        </a:solidFill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rgbClr val="1C8F57"/>
                          </a:solidFill>
                        </a:rPr>
                        <a:t>(FY24 </a:t>
                      </a:r>
                      <a:r>
                        <a:rPr lang="ko-KR" altLang="en-US" sz="800" b="0" dirty="0">
                          <a:solidFill>
                            <a:srgbClr val="1C8F57"/>
                          </a:solidFill>
                        </a:rPr>
                        <a:t>기준</a:t>
                      </a:r>
                      <a:r>
                        <a:rPr lang="en-US" altLang="ko-KR" sz="800" b="0" dirty="0">
                          <a:solidFill>
                            <a:srgbClr val="1C8F57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자산총계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부채총계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순자산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210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109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매출액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영업이익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EBITDA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216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456462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Pro-Forma 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연결손익</a:t>
                      </a:r>
                      <a:endParaRPr lang="en-US" altLang="ko-KR" sz="1000" b="1" dirty="0">
                        <a:solidFill>
                          <a:srgbClr val="1C8F57"/>
                        </a:solidFill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rgbClr val="1C8F57"/>
                          </a:solidFill>
                        </a:rPr>
                        <a:t>(FY24 </a:t>
                      </a:r>
                      <a:r>
                        <a:rPr lang="ko-KR" altLang="en-US" sz="800" b="0" dirty="0">
                          <a:solidFill>
                            <a:srgbClr val="1C8F57"/>
                          </a:solidFill>
                        </a:rPr>
                        <a:t>기준</a:t>
                      </a:r>
                      <a:r>
                        <a:rPr lang="en-US" altLang="ko-KR" sz="800" b="0" dirty="0">
                          <a:solidFill>
                            <a:srgbClr val="1C8F57"/>
                          </a:solidFill>
                        </a:rPr>
                        <a:t>)</a:t>
                      </a:r>
                      <a:r>
                        <a:rPr lang="en-US" altLang="ko-KR" sz="800" b="0" baseline="30000" dirty="0">
                          <a:solidFill>
                            <a:srgbClr val="1C8F57"/>
                          </a:solidFill>
                        </a:rPr>
                        <a:t>(1)</a:t>
                      </a:r>
                      <a:endParaRPr lang="ko-KR" altLang="en-US" sz="800" b="0" baseline="30000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매출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영업이익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EBITDA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337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27582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813E77-A0C4-FC05-C40D-EC82E5468C9A}"/>
              </a:ext>
            </a:extLst>
          </p:cNvPr>
          <p:cNvSpPr/>
          <p:nvPr/>
        </p:nvSpPr>
        <p:spPr>
          <a:xfrm>
            <a:off x="5636999" y="4652875"/>
            <a:ext cx="1080000" cy="432000"/>
          </a:xfrm>
          <a:prstGeom prst="rect">
            <a:avLst/>
          </a:prstGeom>
          <a:solidFill>
            <a:srgbClr val="26C260"/>
          </a:solidFill>
          <a:ln w="6350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H</a:t>
            </a:r>
            <a:r>
              <a:rPr lang="ko-KR" altLang="en-US" sz="1000" b="1" dirty="0">
                <a:solidFill>
                  <a:schemeClr val="bg1"/>
                </a:solidFill>
              </a:rPr>
              <a:t>사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국산 제품 제조 </a:t>
            </a:r>
            <a:r>
              <a:rPr lang="en-US" altLang="ko-KR" sz="800" dirty="0">
                <a:solidFill>
                  <a:schemeClr val="bg1"/>
                </a:solidFill>
              </a:rPr>
              <a:t>· </a:t>
            </a:r>
            <a:r>
              <a:rPr lang="ko-KR" altLang="en-US" sz="800" dirty="0">
                <a:solidFill>
                  <a:schemeClr val="bg1"/>
                </a:solidFill>
              </a:rPr>
              <a:t>유통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E2939CE-6518-266B-88F6-CF284C9C06B6}"/>
              </a:ext>
            </a:extLst>
          </p:cNvPr>
          <p:cNvSpPr/>
          <p:nvPr/>
        </p:nvSpPr>
        <p:spPr>
          <a:xfrm>
            <a:off x="7796999" y="2384875"/>
            <a:ext cx="1080000" cy="432000"/>
          </a:xfrm>
          <a:prstGeom prst="rect">
            <a:avLst/>
          </a:prstGeom>
          <a:solidFill>
            <a:srgbClr val="6A6A6A"/>
          </a:solidFill>
          <a:ln w="6350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r>
              <a:rPr lang="ko-KR" altLang="en-US" sz="1000" b="1" dirty="0">
                <a:solidFill>
                  <a:schemeClr val="bg1"/>
                </a:solidFill>
              </a:rPr>
              <a:t>대주주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설립자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8FAEA3-A809-ACD4-C0C2-FB2921350127}"/>
              </a:ext>
            </a:extLst>
          </p:cNvPr>
          <p:cNvSpPr/>
          <p:nvPr/>
        </p:nvSpPr>
        <p:spPr>
          <a:xfrm>
            <a:off x="7796999" y="4652875"/>
            <a:ext cx="1080000" cy="432000"/>
          </a:xfrm>
          <a:prstGeom prst="rect">
            <a:avLst/>
          </a:prstGeom>
          <a:solidFill>
            <a:srgbClr val="26C260"/>
          </a:solidFill>
          <a:ln w="6350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E</a:t>
            </a:r>
            <a:r>
              <a:rPr lang="ko-KR" altLang="en-US" sz="1000" b="1" dirty="0">
                <a:solidFill>
                  <a:schemeClr val="bg1"/>
                </a:solidFill>
              </a:rPr>
              <a:t>사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수입산 제품 제조 </a:t>
            </a:r>
            <a:r>
              <a:rPr lang="en-US" altLang="ko-KR" sz="800" dirty="0">
                <a:solidFill>
                  <a:schemeClr val="bg1"/>
                </a:solidFill>
              </a:rPr>
              <a:t>· </a:t>
            </a:r>
            <a:r>
              <a:rPr lang="ko-KR" altLang="en-US" sz="800" dirty="0">
                <a:solidFill>
                  <a:schemeClr val="bg1"/>
                </a:solidFill>
              </a:rPr>
              <a:t>유통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F432BB-3A59-7270-CFBD-19BB19EADB37}"/>
              </a:ext>
            </a:extLst>
          </p:cNvPr>
          <p:cNvSpPr txBox="1"/>
          <p:nvPr/>
        </p:nvSpPr>
        <p:spPr>
          <a:xfrm>
            <a:off x="5792559" y="4332506"/>
            <a:ext cx="258084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dirty="0"/>
              <a:t>70%</a:t>
            </a:r>
            <a:endParaRPr lang="ko-KR" altLang="en-US" sz="1000" dirty="0" err="1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4D9DBA0-B11B-06CF-F36C-8FF57596E7C9}"/>
              </a:ext>
            </a:extLst>
          </p:cNvPr>
          <p:cNvSpPr/>
          <p:nvPr/>
        </p:nvSpPr>
        <p:spPr>
          <a:xfrm>
            <a:off x="5636999" y="2384875"/>
            <a:ext cx="1080000" cy="432000"/>
          </a:xfrm>
          <a:prstGeom prst="rect">
            <a:avLst/>
          </a:prstGeom>
          <a:solidFill>
            <a:srgbClr val="1C8F57"/>
          </a:solidFill>
          <a:ln w="63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최대주주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bg1"/>
                </a:solidFill>
              </a:rPr>
              <a:t>재무적</a:t>
            </a:r>
            <a:r>
              <a:rPr lang="ko-KR" altLang="en-US" sz="800" dirty="0">
                <a:solidFill>
                  <a:schemeClr val="bg1"/>
                </a:solidFill>
              </a:rPr>
              <a:t> 투자자</a:t>
            </a: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7A217F0A-B763-2FC3-F4FB-3A0AE157A14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66999" y="2726875"/>
            <a:ext cx="1836000" cy="2016000"/>
          </a:xfrm>
          <a:prstGeom prst="bentConnector3">
            <a:avLst>
              <a:gd name="adj1" fmla="val 42089"/>
            </a:avLst>
          </a:prstGeom>
          <a:ln w="6350">
            <a:solidFill>
              <a:srgbClr val="1C8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09B4BEF-0EFA-5B30-6C44-987617FA4A58}"/>
              </a:ext>
            </a:extLst>
          </p:cNvPr>
          <p:cNvCxnSpPr>
            <a:cxnSpLocks/>
          </p:cNvCxnSpPr>
          <p:nvPr/>
        </p:nvCxnSpPr>
        <p:spPr>
          <a:xfrm>
            <a:off x="6176999" y="2816875"/>
            <a:ext cx="0" cy="1836000"/>
          </a:xfrm>
          <a:prstGeom prst="line">
            <a:avLst/>
          </a:prstGeom>
          <a:ln w="6350">
            <a:solidFill>
              <a:srgbClr val="1C8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0752A20-C805-8D09-20FB-FD946F8737A7}"/>
              </a:ext>
            </a:extLst>
          </p:cNvPr>
          <p:cNvCxnSpPr>
            <a:cxnSpLocks/>
          </p:cNvCxnSpPr>
          <p:nvPr/>
        </p:nvCxnSpPr>
        <p:spPr>
          <a:xfrm>
            <a:off x="8336999" y="2816875"/>
            <a:ext cx="0" cy="1836000"/>
          </a:xfrm>
          <a:prstGeom prst="line">
            <a:avLst/>
          </a:prstGeom>
          <a:ln w="6350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6225D67C-883C-9422-1E93-C9AD0F207187}"/>
              </a:ext>
            </a:extLst>
          </p:cNvPr>
          <p:cNvCxnSpPr>
            <a:cxnSpLocks/>
          </p:cNvCxnSpPr>
          <p:nvPr/>
        </p:nvCxnSpPr>
        <p:spPr>
          <a:xfrm rot="5400000">
            <a:off x="6410999" y="2726875"/>
            <a:ext cx="1836000" cy="2016000"/>
          </a:xfrm>
          <a:prstGeom prst="bentConnector3">
            <a:avLst>
              <a:gd name="adj1" fmla="val 57912"/>
            </a:avLst>
          </a:prstGeom>
          <a:ln w="6350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C8E380A-41A6-5FF8-0BF0-AB823B2AAEA5}"/>
              </a:ext>
            </a:extLst>
          </p:cNvPr>
          <p:cNvSpPr txBox="1"/>
          <p:nvPr/>
        </p:nvSpPr>
        <p:spPr>
          <a:xfrm>
            <a:off x="6441297" y="4332506"/>
            <a:ext cx="266098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000" dirty="0"/>
              <a:t>30%</a:t>
            </a:r>
            <a:endParaRPr lang="ko-KR" altLang="en-US" sz="1000" dirty="0" err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22ED6-CC96-3924-D518-D5E2626FF1D7}"/>
              </a:ext>
            </a:extLst>
          </p:cNvPr>
          <p:cNvSpPr txBox="1"/>
          <p:nvPr/>
        </p:nvSpPr>
        <p:spPr>
          <a:xfrm>
            <a:off x="7807581" y="4332506"/>
            <a:ext cx="258084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dirty="0"/>
              <a:t>77%</a:t>
            </a:r>
            <a:endParaRPr lang="ko-KR" altLang="en-US" sz="1000" dirty="0" err="1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860DAB-A3B3-29CB-66AB-33EF76D48FC1}"/>
              </a:ext>
            </a:extLst>
          </p:cNvPr>
          <p:cNvSpPr txBox="1"/>
          <p:nvPr/>
        </p:nvSpPr>
        <p:spPr>
          <a:xfrm>
            <a:off x="8456319" y="4332506"/>
            <a:ext cx="264496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1000" dirty="0"/>
              <a:t>23%</a:t>
            </a:r>
            <a:endParaRPr lang="ko-KR" altLang="en-US" sz="1000" dirty="0" err="1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3CBFB97-B9A1-7BE1-1999-6CB8F0E71EB2}"/>
              </a:ext>
            </a:extLst>
          </p:cNvPr>
          <p:cNvSpPr/>
          <p:nvPr/>
        </p:nvSpPr>
        <p:spPr>
          <a:xfrm>
            <a:off x="5564999" y="2312875"/>
            <a:ext cx="3384000" cy="576000"/>
          </a:xfrm>
          <a:prstGeom prst="rect">
            <a:avLst/>
          </a:prstGeom>
          <a:noFill/>
          <a:ln w="19050">
            <a:solidFill>
              <a:srgbClr val="1C8F5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199E71-CB24-606B-A73A-F5CDFE33781B}"/>
              </a:ext>
            </a:extLst>
          </p:cNvPr>
          <p:cNvSpPr txBox="1"/>
          <p:nvPr/>
        </p:nvSpPr>
        <p:spPr>
          <a:xfrm>
            <a:off x="6837814" y="2971725"/>
            <a:ext cx="838371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000" b="1" dirty="0">
                <a:solidFill>
                  <a:srgbClr val="1C8F57"/>
                </a:solidFill>
              </a:rPr>
              <a:t>본 거래 대상지분</a:t>
            </a:r>
          </a:p>
        </p:txBody>
      </p:sp>
    </p:spTree>
    <p:extLst>
      <p:ext uri="{BB962C8B-B14F-4D97-AF65-F5344CB8AC3E}">
        <p14:creationId xmlns:p14="http://schemas.microsoft.com/office/powerpoint/2010/main" val="541141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2D33F21-9155-8E46-7AF5-B8D181EAE7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Target Positioning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9FB443-3656-9633-2836-E83C3DAE49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AD5233-EAB8-8DDB-EBCC-31130C0F2A9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7" name="화살표: 오각형 6">
            <a:extLst>
              <a:ext uri="{FF2B5EF4-FFF2-40B4-BE49-F238E27FC236}">
                <a16:creationId xmlns:a16="http://schemas.microsoft.com/office/drawing/2014/main" id="{0A76F4A6-544E-9797-6D8F-51998CB53CA8}"/>
              </a:ext>
            </a:extLst>
          </p:cNvPr>
          <p:cNvSpPr/>
          <p:nvPr/>
        </p:nvSpPr>
        <p:spPr>
          <a:xfrm>
            <a:off x="453000" y="2168525"/>
            <a:ext cx="2952000" cy="288000"/>
          </a:xfrm>
          <a:prstGeom prst="homePlate">
            <a:avLst/>
          </a:prstGeom>
          <a:solidFill>
            <a:srgbClr val="1C8F57"/>
          </a:solidFill>
          <a:ln w="63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원재료 조달</a:t>
            </a: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18E00468-E378-E429-47AD-742150AE7B7B}"/>
              </a:ext>
            </a:extLst>
          </p:cNvPr>
          <p:cNvSpPr/>
          <p:nvPr/>
        </p:nvSpPr>
        <p:spPr>
          <a:xfrm>
            <a:off x="3477282" y="2168525"/>
            <a:ext cx="2952000" cy="288000"/>
          </a:xfrm>
          <a:prstGeom prst="chevron">
            <a:avLst/>
          </a:prstGeom>
          <a:solidFill>
            <a:srgbClr val="1C8F57"/>
          </a:solidFill>
          <a:ln w="63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제조</a:t>
            </a: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A1CDF16C-33F9-821A-7E1B-17F98346828B}"/>
              </a:ext>
            </a:extLst>
          </p:cNvPr>
          <p:cNvSpPr/>
          <p:nvPr/>
        </p:nvSpPr>
        <p:spPr>
          <a:xfrm>
            <a:off x="6501563" y="2168525"/>
            <a:ext cx="2952000" cy="288000"/>
          </a:xfrm>
          <a:prstGeom prst="chevron">
            <a:avLst/>
          </a:prstGeom>
          <a:solidFill>
            <a:srgbClr val="1C8F57"/>
          </a:solidFill>
          <a:ln w="63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가공 </a:t>
            </a:r>
            <a:r>
              <a:rPr lang="en-US" altLang="ko-KR" sz="1000" b="1" dirty="0">
                <a:solidFill>
                  <a:schemeClr val="bg1"/>
                </a:solidFill>
              </a:rPr>
              <a:t>· </a:t>
            </a:r>
            <a:r>
              <a:rPr lang="ko-KR" altLang="en-US" sz="1000" b="1" dirty="0">
                <a:solidFill>
                  <a:schemeClr val="bg1"/>
                </a:solidFill>
              </a:rPr>
              <a:t>유통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E54C36-13C2-904C-8F48-3AC5B4DC8696}"/>
              </a:ext>
            </a:extLst>
          </p:cNvPr>
          <p:cNvSpPr/>
          <p:nvPr/>
        </p:nvSpPr>
        <p:spPr>
          <a:xfrm>
            <a:off x="453000" y="1700213"/>
            <a:ext cx="5040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국내 고춧가루 제조 </a:t>
            </a:r>
            <a:r>
              <a:rPr lang="en-US" altLang="ko-KR" sz="1200" b="1" dirty="0">
                <a:solidFill>
                  <a:schemeClr val="bg1"/>
                </a:solidFill>
              </a:rPr>
              <a:t>· </a:t>
            </a:r>
            <a:r>
              <a:rPr lang="ko-KR" altLang="en-US" sz="1200" b="1" dirty="0">
                <a:solidFill>
                  <a:schemeClr val="bg1"/>
                </a:solidFill>
              </a:rPr>
              <a:t>유통 </a:t>
            </a:r>
            <a:r>
              <a:rPr lang="en-US" altLang="ko-KR" sz="1200" b="1" dirty="0">
                <a:solidFill>
                  <a:schemeClr val="bg1"/>
                </a:solidFill>
              </a:rPr>
              <a:t>Value Chain </a:t>
            </a:r>
            <a:r>
              <a:rPr lang="ko-KR" altLang="en-US" sz="1200" b="1" dirty="0">
                <a:solidFill>
                  <a:schemeClr val="bg1"/>
                </a:solidFill>
              </a:rPr>
              <a:t>내 대상회사 </a:t>
            </a:r>
            <a:r>
              <a:rPr lang="en-US" altLang="ko-KR" sz="1200" b="1" dirty="0">
                <a:solidFill>
                  <a:schemeClr val="bg1"/>
                </a:solidFill>
              </a:rPr>
              <a:t>Positioning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D25116-85DA-FBA9-C698-C5806DB2925F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 국산 </a:t>
            </a:r>
            <a:r>
              <a:rPr lang="ko-KR" altLang="en-US" sz="1400" b="1" dirty="0" err="1">
                <a:solidFill>
                  <a:srgbClr val="3D3D3D"/>
                </a:solidFill>
              </a:rPr>
              <a:t>건고추</a:t>
            </a:r>
            <a:r>
              <a:rPr lang="ko-KR" altLang="en-US" sz="1400" b="1" dirty="0">
                <a:solidFill>
                  <a:srgbClr val="3D3D3D"/>
                </a:solidFill>
              </a:rPr>
              <a:t> 및 수입산 냉동고추를 분쇄하여 고춧가루를 제조하는 식자재 제조업체로</a:t>
            </a:r>
            <a:r>
              <a:rPr lang="en-US" altLang="ko-KR" sz="1400" b="1" dirty="0">
                <a:solidFill>
                  <a:srgbClr val="3D3D3D"/>
                </a:solidFill>
              </a:rPr>
              <a:t>, CJ</a:t>
            </a:r>
            <a:r>
              <a:rPr lang="ko-KR" altLang="en-US" sz="1400" b="1" dirty="0" err="1">
                <a:solidFill>
                  <a:srgbClr val="3D3D3D"/>
                </a:solidFill>
              </a:rPr>
              <a:t>프레시웨이</a:t>
            </a:r>
            <a:r>
              <a:rPr lang="en-US" altLang="ko-KR" sz="1400" b="1" dirty="0">
                <a:solidFill>
                  <a:srgbClr val="3D3D3D"/>
                </a:solidFill>
              </a:rPr>
              <a:t>, SPC</a:t>
            </a:r>
            <a:r>
              <a:rPr lang="ko-KR" altLang="en-US" sz="1400" b="1" dirty="0" err="1">
                <a:solidFill>
                  <a:srgbClr val="3D3D3D"/>
                </a:solidFill>
              </a:rPr>
              <a:t>삼립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 err="1">
                <a:solidFill>
                  <a:srgbClr val="3D3D3D"/>
                </a:solidFill>
              </a:rPr>
              <a:t>화미</a:t>
            </a:r>
            <a:r>
              <a:rPr lang="ko-KR" altLang="en-US" sz="1400" b="1" dirty="0">
                <a:solidFill>
                  <a:srgbClr val="3D3D3D"/>
                </a:solidFill>
              </a:rPr>
              <a:t> 등 다양한 단체급식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식품업체에 고품질 고춧가루를 납품하고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7B3D5E6-91D1-09B6-5BB1-696C818490FC}"/>
              </a:ext>
            </a:extLst>
          </p:cNvPr>
          <p:cNvCxnSpPr>
            <a:cxnSpLocks/>
          </p:cNvCxnSpPr>
          <p:nvPr/>
        </p:nvCxnSpPr>
        <p:spPr>
          <a:xfrm>
            <a:off x="3369003" y="2565400"/>
            <a:ext cx="0" cy="3384000"/>
          </a:xfrm>
          <a:prstGeom prst="line">
            <a:avLst/>
          </a:prstGeom>
          <a:ln w="6350">
            <a:solidFill>
              <a:srgbClr val="B0B0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DC079B1-C48D-91DD-4107-2FB7207EFA7C}"/>
              </a:ext>
            </a:extLst>
          </p:cNvPr>
          <p:cNvCxnSpPr>
            <a:cxnSpLocks/>
          </p:cNvCxnSpPr>
          <p:nvPr/>
        </p:nvCxnSpPr>
        <p:spPr>
          <a:xfrm>
            <a:off x="6393284" y="2565400"/>
            <a:ext cx="0" cy="3384000"/>
          </a:xfrm>
          <a:prstGeom prst="line">
            <a:avLst/>
          </a:prstGeom>
          <a:ln w="6350">
            <a:solidFill>
              <a:srgbClr val="B0B0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CF7A2B5-CADF-E215-67BC-5F06F314D6F6}"/>
              </a:ext>
            </a:extLst>
          </p:cNvPr>
          <p:cNvSpPr/>
          <p:nvPr/>
        </p:nvSpPr>
        <p:spPr>
          <a:xfrm>
            <a:off x="6681283" y="4149062"/>
            <a:ext cx="2448000" cy="900000"/>
          </a:xfrm>
          <a:prstGeom prst="rect">
            <a:avLst/>
          </a:prstGeom>
          <a:noFill/>
          <a:ln w="19050">
            <a:solidFill>
              <a:srgbClr val="26C2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1D75E82-0DD2-8466-2AF5-5BD763C54AB2}"/>
              </a:ext>
            </a:extLst>
          </p:cNvPr>
          <p:cNvSpPr/>
          <p:nvPr/>
        </p:nvSpPr>
        <p:spPr>
          <a:xfrm>
            <a:off x="6681283" y="2745400"/>
            <a:ext cx="2448000" cy="1368000"/>
          </a:xfrm>
          <a:prstGeom prst="rect">
            <a:avLst/>
          </a:prstGeom>
          <a:noFill/>
          <a:ln w="19050">
            <a:solidFill>
              <a:srgbClr val="1C8F5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7AF0AE2-47ED-516E-1611-1BCBA76A6216}"/>
              </a:ext>
            </a:extLst>
          </p:cNvPr>
          <p:cNvSpPr/>
          <p:nvPr/>
        </p:nvSpPr>
        <p:spPr>
          <a:xfrm>
            <a:off x="560861" y="3033400"/>
            <a:ext cx="1080000" cy="576000"/>
          </a:xfrm>
          <a:prstGeom prst="rect">
            <a:avLst/>
          </a:prstGeom>
          <a:solidFill>
            <a:srgbClr val="F2F2F2"/>
          </a:solidFill>
          <a:ln w="6350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국내 고추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재배농가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4F316E7-0D4E-F96E-5A57-7425036AB4DA}"/>
              </a:ext>
            </a:extLst>
          </p:cNvPr>
          <p:cNvSpPr/>
          <p:nvPr/>
        </p:nvSpPr>
        <p:spPr>
          <a:xfrm>
            <a:off x="2072861" y="3033400"/>
            <a:ext cx="1080000" cy="576000"/>
          </a:xfrm>
          <a:prstGeom prst="rect">
            <a:avLst/>
          </a:prstGeom>
          <a:solidFill>
            <a:srgbClr val="F2F2F2"/>
          </a:solidFill>
          <a:ln w="6350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국산 </a:t>
            </a:r>
            <a:r>
              <a:rPr lang="ko-KR" altLang="en-US" sz="1000" b="1" dirty="0" err="1">
                <a:solidFill>
                  <a:schemeClr val="tx1"/>
                </a:solidFill>
              </a:rPr>
              <a:t>건고추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도매 </a:t>
            </a:r>
            <a:r>
              <a:rPr lang="en-US" altLang="ko-KR" sz="1000" b="1" dirty="0">
                <a:solidFill>
                  <a:schemeClr val="tx1"/>
                </a:solidFill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</a:rPr>
              <a:t> 유통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FB446FF-4B07-C512-6F24-6F5EC90B4CD4}"/>
              </a:ext>
            </a:extLst>
          </p:cNvPr>
          <p:cNvSpPr/>
          <p:nvPr/>
        </p:nvSpPr>
        <p:spPr>
          <a:xfrm>
            <a:off x="560861" y="4185400"/>
            <a:ext cx="1080000" cy="576000"/>
          </a:xfrm>
          <a:prstGeom prst="rect">
            <a:avLst/>
          </a:prstGeom>
          <a:solidFill>
            <a:srgbClr val="F2F2F2"/>
          </a:solidFill>
          <a:ln w="6350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해외 고추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재배농가</a:t>
            </a:r>
            <a:endParaRPr lang="en-US" altLang="ko-KR" sz="1000" b="1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08FC196-F9F7-3F27-A1F1-AAEF49BB8D38}"/>
              </a:ext>
            </a:extLst>
          </p:cNvPr>
          <p:cNvSpPr/>
          <p:nvPr/>
        </p:nvSpPr>
        <p:spPr>
          <a:xfrm>
            <a:off x="2072861" y="4185400"/>
            <a:ext cx="1080000" cy="576000"/>
          </a:xfrm>
          <a:prstGeom prst="rect">
            <a:avLst/>
          </a:prstGeom>
          <a:solidFill>
            <a:srgbClr val="F2F2F2"/>
          </a:solidFill>
          <a:ln w="6350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냉동고추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수입 </a:t>
            </a:r>
            <a:r>
              <a:rPr lang="en-US" altLang="ko-KR" sz="1000" b="1" dirty="0">
                <a:solidFill>
                  <a:schemeClr val="tx1"/>
                </a:solidFill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</a:rPr>
              <a:t> 유통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011C9B-DEF4-A07A-1017-D5A17E7FAAE7}"/>
              </a:ext>
            </a:extLst>
          </p:cNvPr>
          <p:cNvSpPr/>
          <p:nvPr/>
        </p:nvSpPr>
        <p:spPr>
          <a:xfrm>
            <a:off x="3585143" y="4185400"/>
            <a:ext cx="1080000" cy="576000"/>
          </a:xfrm>
          <a:prstGeom prst="rect">
            <a:avLst/>
          </a:prstGeom>
          <a:solidFill>
            <a:srgbClr val="A3E96B"/>
          </a:solidFill>
          <a:ln w="6350">
            <a:solidFill>
              <a:srgbClr val="A3E9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냉동고추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해동 </a:t>
            </a:r>
            <a:r>
              <a:rPr lang="en-US" altLang="ko-KR" sz="1000" b="1" dirty="0">
                <a:solidFill>
                  <a:schemeClr val="tx1"/>
                </a:solidFill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</a:rPr>
              <a:t>건조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8F6A0B-D8AC-34E1-6F1B-10CD73A1036E}"/>
              </a:ext>
            </a:extLst>
          </p:cNvPr>
          <p:cNvSpPr/>
          <p:nvPr/>
        </p:nvSpPr>
        <p:spPr>
          <a:xfrm>
            <a:off x="5097143" y="3609400"/>
            <a:ext cx="1080000" cy="576000"/>
          </a:xfrm>
          <a:prstGeom prst="rect">
            <a:avLst/>
          </a:prstGeom>
          <a:solidFill>
            <a:srgbClr val="26C260"/>
          </a:solidFill>
          <a:ln w="6350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고춧가루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분쇄 </a:t>
            </a:r>
            <a:r>
              <a:rPr lang="en-US" altLang="ko-KR" sz="1000" b="1" dirty="0">
                <a:solidFill>
                  <a:schemeClr val="bg1"/>
                </a:solidFill>
              </a:rPr>
              <a:t>· </a:t>
            </a:r>
            <a:r>
              <a:rPr lang="ko-KR" altLang="en-US" sz="1000" b="1" dirty="0">
                <a:solidFill>
                  <a:schemeClr val="bg1"/>
                </a:solidFill>
              </a:rPr>
              <a:t>제조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511B23A-DEDE-6DF2-ABCF-D044C2E5E580}"/>
              </a:ext>
            </a:extLst>
          </p:cNvPr>
          <p:cNvSpPr/>
          <p:nvPr/>
        </p:nvSpPr>
        <p:spPr>
          <a:xfrm>
            <a:off x="6717283" y="2781400"/>
            <a:ext cx="2376000" cy="360000"/>
          </a:xfrm>
          <a:prstGeom prst="rect">
            <a:avLst/>
          </a:prstGeom>
          <a:solidFill>
            <a:srgbClr val="A3E96B"/>
          </a:solidFill>
          <a:ln w="6350">
            <a:solidFill>
              <a:srgbClr val="A3E9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단체급식 </a:t>
            </a:r>
            <a:r>
              <a:rPr lang="en-US" altLang="ko-KR" sz="1000" b="1" dirty="0">
                <a:solidFill>
                  <a:schemeClr val="tx1"/>
                </a:solidFill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</a:rPr>
              <a:t>외식업체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학교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직장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군대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일반식당 식자재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9FB4C96-BA15-867E-2FB0-8288A74734E9}"/>
              </a:ext>
            </a:extLst>
          </p:cNvPr>
          <p:cNvSpPr/>
          <p:nvPr/>
        </p:nvSpPr>
        <p:spPr>
          <a:xfrm>
            <a:off x="6717283" y="3249400"/>
            <a:ext cx="2376000" cy="360000"/>
          </a:xfrm>
          <a:prstGeom prst="rect">
            <a:avLst/>
          </a:prstGeom>
          <a:solidFill>
            <a:srgbClr val="A3E96B"/>
          </a:solidFill>
          <a:ln w="6350">
            <a:solidFill>
              <a:srgbClr val="A3E9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가공식품 제조업체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김치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소스 </a:t>
            </a:r>
            <a:r>
              <a:rPr lang="en-US" altLang="ko-KR" sz="800" dirty="0">
                <a:solidFill>
                  <a:schemeClr val="tx1"/>
                </a:solidFill>
              </a:rPr>
              <a:t>· </a:t>
            </a:r>
            <a:r>
              <a:rPr lang="ko-KR" altLang="en-US" sz="800" dirty="0">
                <a:solidFill>
                  <a:schemeClr val="tx1"/>
                </a:solidFill>
              </a:rPr>
              <a:t>조미료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즉석 </a:t>
            </a:r>
            <a:r>
              <a:rPr lang="en-US" altLang="ko-KR" sz="800" dirty="0">
                <a:solidFill>
                  <a:schemeClr val="tx1"/>
                </a:solidFill>
              </a:rPr>
              <a:t>· </a:t>
            </a:r>
            <a:r>
              <a:rPr lang="ko-KR" altLang="en-US" sz="800" dirty="0">
                <a:solidFill>
                  <a:schemeClr val="tx1"/>
                </a:solidFill>
              </a:rPr>
              <a:t>냉동식품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원재료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C1C62C-3C90-6ED8-074C-2E5544ABA6F8}"/>
              </a:ext>
            </a:extLst>
          </p:cNvPr>
          <p:cNvSpPr/>
          <p:nvPr/>
        </p:nvSpPr>
        <p:spPr>
          <a:xfrm>
            <a:off x="6717283" y="3717400"/>
            <a:ext cx="2376000" cy="360000"/>
          </a:xfrm>
          <a:prstGeom prst="rect">
            <a:avLst/>
          </a:prstGeom>
          <a:solidFill>
            <a:srgbClr val="A3E96B"/>
          </a:solidFill>
          <a:ln w="6350">
            <a:solidFill>
              <a:srgbClr val="A3E9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대형 유통업체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(PB</a:t>
            </a:r>
            <a:r>
              <a:rPr lang="ko-KR" altLang="en-US" sz="800" dirty="0">
                <a:solidFill>
                  <a:schemeClr val="tx1"/>
                </a:solidFill>
              </a:rPr>
              <a:t>상품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3A80188-CBC1-2951-6668-126D7F9CCC9C}"/>
              </a:ext>
            </a:extLst>
          </p:cNvPr>
          <p:cNvSpPr/>
          <p:nvPr/>
        </p:nvSpPr>
        <p:spPr>
          <a:xfrm>
            <a:off x="6717283" y="4185400"/>
            <a:ext cx="2376000" cy="360000"/>
          </a:xfrm>
          <a:prstGeom prst="rect">
            <a:avLst/>
          </a:prstGeom>
          <a:solidFill>
            <a:srgbClr val="E6FDD6"/>
          </a:solidFill>
          <a:ln w="6350">
            <a:solidFill>
              <a:srgbClr val="E6FD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식자재 중간 유통업체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(B2B2C </a:t>
            </a:r>
            <a:r>
              <a:rPr lang="ko-KR" altLang="en-US" sz="800" dirty="0">
                <a:solidFill>
                  <a:schemeClr val="tx1"/>
                </a:solidFill>
              </a:rPr>
              <a:t>완제품 유통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34BF13-35E5-C991-05A2-63CE4DA94B39}"/>
              </a:ext>
            </a:extLst>
          </p:cNvPr>
          <p:cNvSpPr/>
          <p:nvPr/>
        </p:nvSpPr>
        <p:spPr>
          <a:xfrm>
            <a:off x="6717283" y="4653400"/>
            <a:ext cx="2376000" cy="360000"/>
          </a:xfrm>
          <a:prstGeom prst="rect">
            <a:avLst/>
          </a:prstGeom>
          <a:solidFill>
            <a:srgbClr val="E6FDD6"/>
          </a:solidFill>
          <a:ln w="6350">
            <a:solidFill>
              <a:srgbClr val="E6FD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홈쇼핑 </a:t>
            </a:r>
            <a:r>
              <a:rPr lang="en-US" altLang="ko-KR" sz="1000" b="1" dirty="0">
                <a:solidFill>
                  <a:schemeClr val="tx1"/>
                </a:solidFill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</a:rPr>
              <a:t>일반 소매 유통업체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(B2C </a:t>
            </a:r>
            <a:r>
              <a:rPr lang="ko-KR" altLang="en-US" sz="800" dirty="0">
                <a:solidFill>
                  <a:schemeClr val="tx1"/>
                </a:solidFill>
              </a:rPr>
              <a:t>완제품 유통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E2470801-5FB4-758B-5BC0-91BE31D94945}"/>
              </a:ext>
            </a:extLst>
          </p:cNvPr>
          <p:cNvCxnSpPr>
            <a:cxnSpLocks/>
          </p:cNvCxnSpPr>
          <p:nvPr/>
        </p:nvCxnSpPr>
        <p:spPr>
          <a:xfrm>
            <a:off x="1640861" y="3321400"/>
            <a:ext cx="432000" cy="0"/>
          </a:xfrm>
          <a:prstGeom prst="straightConnector1">
            <a:avLst/>
          </a:prstGeom>
          <a:ln w="6350">
            <a:solidFill>
              <a:srgbClr val="6A6A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12A7A7C-35AF-F869-E39A-3F5423C35020}"/>
              </a:ext>
            </a:extLst>
          </p:cNvPr>
          <p:cNvCxnSpPr>
            <a:cxnSpLocks/>
          </p:cNvCxnSpPr>
          <p:nvPr/>
        </p:nvCxnSpPr>
        <p:spPr>
          <a:xfrm>
            <a:off x="1640861" y="4473400"/>
            <a:ext cx="432000" cy="0"/>
          </a:xfrm>
          <a:prstGeom prst="straightConnector1">
            <a:avLst/>
          </a:prstGeom>
          <a:ln w="6350">
            <a:solidFill>
              <a:srgbClr val="6A6A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6F8BDB69-4E94-8B50-1E0C-C271B2915BD4}"/>
              </a:ext>
            </a:extLst>
          </p:cNvPr>
          <p:cNvCxnSpPr>
            <a:cxnSpLocks/>
          </p:cNvCxnSpPr>
          <p:nvPr/>
        </p:nvCxnSpPr>
        <p:spPr>
          <a:xfrm>
            <a:off x="3152861" y="3321400"/>
            <a:ext cx="1944282" cy="576000"/>
          </a:xfrm>
          <a:prstGeom prst="bentConnector3">
            <a:avLst>
              <a:gd name="adj1" fmla="val 88922"/>
            </a:avLst>
          </a:prstGeom>
          <a:ln w="6350">
            <a:solidFill>
              <a:srgbClr val="6A6A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C9DBB547-8151-4191-F3E7-1076D4DA15C2}"/>
              </a:ext>
            </a:extLst>
          </p:cNvPr>
          <p:cNvCxnSpPr>
            <a:cxnSpLocks/>
          </p:cNvCxnSpPr>
          <p:nvPr/>
        </p:nvCxnSpPr>
        <p:spPr>
          <a:xfrm flipV="1">
            <a:off x="4665143" y="3897400"/>
            <a:ext cx="432000" cy="576000"/>
          </a:xfrm>
          <a:prstGeom prst="bentConnector3">
            <a:avLst/>
          </a:prstGeom>
          <a:ln w="6350">
            <a:solidFill>
              <a:srgbClr val="6A6A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8C8CEA92-59A0-2395-C6B8-77BF9166B74C}"/>
              </a:ext>
            </a:extLst>
          </p:cNvPr>
          <p:cNvCxnSpPr>
            <a:cxnSpLocks/>
          </p:cNvCxnSpPr>
          <p:nvPr/>
        </p:nvCxnSpPr>
        <p:spPr>
          <a:xfrm>
            <a:off x="3152861" y="4473400"/>
            <a:ext cx="432282" cy="0"/>
          </a:xfrm>
          <a:prstGeom prst="straightConnector1">
            <a:avLst/>
          </a:prstGeom>
          <a:ln w="6350">
            <a:solidFill>
              <a:srgbClr val="6A6A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5A997C95-D0BE-7822-2C7F-8DD7927E9735}"/>
              </a:ext>
            </a:extLst>
          </p:cNvPr>
          <p:cNvCxnSpPr>
            <a:cxnSpLocks/>
          </p:cNvCxnSpPr>
          <p:nvPr/>
        </p:nvCxnSpPr>
        <p:spPr>
          <a:xfrm flipV="1">
            <a:off x="6177143" y="2961400"/>
            <a:ext cx="504000" cy="936000"/>
          </a:xfrm>
          <a:prstGeom prst="bentConnector3">
            <a:avLst/>
          </a:prstGeom>
          <a:ln w="6350">
            <a:solidFill>
              <a:srgbClr val="6A6A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DEC33BD8-C9AE-9386-92F8-074EA348AF94}"/>
              </a:ext>
            </a:extLst>
          </p:cNvPr>
          <p:cNvCxnSpPr>
            <a:cxnSpLocks/>
          </p:cNvCxnSpPr>
          <p:nvPr/>
        </p:nvCxnSpPr>
        <p:spPr>
          <a:xfrm>
            <a:off x="6177143" y="3897400"/>
            <a:ext cx="504000" cy="936000"/>
          </a:xfrm>
          <a:prstGeom prst="bentConnector3">
            <a:avLst/>
          </a:prstGeom>
          <a:ln w="6350">
            <a:solidFill>
              <a:srgbClr val="6A6A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30C4DFBE-5E8C-8EB4-4B48-56EC56C92E1D}"/>
              </a:ext>
            </a:extLst>
          </p:cNvPr>
          <p:cNvCxnSpPr>
            <a:cxnSpLocks/>
          </p:cNvCxnSpPr>
          <p:nvPr/>
        </p:nvCxnSpPr>
        <p:spPr>
          <a:xfrm flipV="1">
            <a:off x="6177143" y="3429400"/>
            <a:ext cx="504000" cy="468000"/>
          </a:xfrm>
          <a:prstGeom prst="bentConnector3">
            <a:avLst/>
          </a:prstGeom>
          <a:ln w="6350">
            <a:solidFill>
              <a:srgbClr val="6A6A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8358A8EA-F660-74E2-8E8B-4EC8DC8A7199}"/>
              </a:ext>
            </a:extLst>
          </p:cNvPr>
          <p:cNvCxnSpPr>
            <a:cxnSpLocks/>
          </p:cNvCxnSpPr>
          <p:nvPr/>
        </p:nvCxnSpPr>
        <p:spPr>
          <a:xfrm>
            <a:off x="6177143" y="3897400"/>
            <a:ext cx="504000" cy="468000"/>
          </a:xfrm>
          <a:prstGeom prst="bentConnector3">
            <a:avLst/>
          </a:prstGeom>
          <a:ln w="6350">
            <a:solidFill>
              <a:srgbClr val="6A6A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1029134-BA6B-1714-6ABA-333B030DD7BB}"/>
              </a:ext>
            </a:extLst>
          </p:cNvPr>
          <p:cNvCxnSpPr>
            <a:cxnSpLocks/>
          </p:cNvCxnSpPr>
          <p:nvPr/>
        </p:nvCxnSpPr>
        <p:spPr>
          <a:xfrm>
            <a:off x="6177143" y="3897400"/>
            <a:ext cx="504000" cy="0"/>
          </a:xfrm>
          <a:prstGeom prst="straightConnector1">
            <a:avLst/>
          </a:prstGeom>
          <a:ln w="6350">
            <a:solidFill>
              <a:srgbClr val="6A6A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897959F-C488-5B63-867F-7F714E9502AC}"/>
              </a:ext>
            </a:extLst>
          </p:cNvPr>
          <p:cNvSpPr txBox="1"/>
          <p:nvPr/>
        </p:nvSpPr>
        <p:spPr>
          <a:xfrm>
            <a:off x="5089228" y="3464779"/>
            <a:ext cx="838371" cy="144621"/>
          </a:xfrm>
          <a:prstGeom prst="rect">
            <a:avLst/>
          </a:prstGeom>
          <a:noFill/>
        </p:spPr>
        <p:txBody>
          <a:bodyPr wrap="none" lIns="0" tIns="0" rIns="0" bIns="18000" rtlCol="0">
            <a:spAutoFit/>
          </a:bodyPr>
          <a:lstStyle/>
          <a:p>
            <a:pPr marL="108000" indent="-10800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ko-KR" altLang="en-US" sz="800" b="1" dirty="0">
                <a:solidFill>
                  <a:srgbClr val="26C260"/>
                </a:solidFill>
              </a:rPr>
              <a:t>대상회사 사업영역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AF42B6-9B24-9655-ED2D-1AC75D7F561A}"/>
              </a:ext>
            </a:extLst>
          </p:cNvPr>
          <p:cNvSpPr txBox="1"/>
          <p:nvPr/>
        </p:nvSpPr>
        <p:spPr>
          <a:xfrm>
            <a:off x="3585143" y="4040779"/>
            <a:ext cx="838371" cy="144621"/>
          </a:xfrm>
          <a:prstGeom prst="rect">
            <a:avLst/>
          </a:prstGeom>
          <a:noFill/>
        </p:spPr>
        <p:txBody>
          <a:bodyPr wrap="none" lIns="0" tIns="0" rIns="0" bIns="18000" rtlCol="0">
            <a:spAutoFit/>
          </a:bodyPr>
          <a:lstStyle/>
          <a:p>
            <a:pPr marL="108000" indent="-10800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ko-KR" altLang="en-US" sz="800" b="1" dirty="0">
                <a:solidFill>
                  <a:srgbClr val="26C260"/>
                </a:solidFill>
              </a:rPr>
              <a:t>대상회사 협력업체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5B161E-6F8E-8886-BCA3-5F98F0111FAA}"/>
              </a:ext>
            </a:extLst>
          </p:cNvPr>
          <p:cNvSpPr txBox="1"/>
          <p:nvPr/>
        </p:nvSpPr>
        <p:spPr>
          <a:xfrm>
            <a:off x="6681283" y="2600779"/>
            <a:ext cx="1062791" cy="144621"/>
          </a:xfrm>
          <a:prstGeom prst="rect">
            <a:avLst/>
          </a:prstGeom>
          <a:noFill/>
        </p:spPr>
        <p:txBody>
          <a:bodyPr wrap="none" lIns="0" tIns="0" rIns="0" bIns="18000" rtlCol="0">
            <a:spAutoFit/>
          </a:bodyPr>
          <a:lstStyle/>
          <a:p>
            <a:pPr marL="108000" indent="-10800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ko-KR" altLang="en-US" sz="800" b="1" dirty="0">
                <a:solidFill>
                  <a:srgbClr val="26C260"/>
                </a:solidFill>
              </a:rPr>
              <a:t>대상회사 핵심 타겟 시장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31E6603-2486-1B24-E7BE-58035B3511B6}"/>
              </a:ext>
            </a:extLst>
          </p:cNvPr>
          <p:cNvSpPr txBox="1"/>
          <p:nvPr/>
        </p:nvSpPr>
        <p:spPr>
          <a:xfrm>
            <a:off x="6681283" y="5049061"/>
            <a:ext cx="1062791" cy="144621"/>
          </a:xfrm>
          <a:prstGeom prst="rect">
            <a:avLst/>
          </a:prstGeom>
          <a:noFill/>
        </p:spPr>
        <p:txBody>
          <a:bodyPr wrap="none" lIns="0" tIns="18000" rIns="0" bIns="0" rtlCol="0">
            <a:spAutoFit/>
          </a:bodyPr>
          <a:lstStyle/>
          <a:p>
            <a:pPr marL="108000" indent="-10800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ko-KR" altLang="en-US" sz="800" b="1" dirty="0">
                <a:solidFill>
                  <a:srgbClr val="26C260"/>
                </a:solidFill>
              </a:rPr>
              <a:t>대상회사 확장 추진 시장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EF4592F-6223-D983-23E9-D917B08041E2}"/>
              </a:ext>
            </a:extLst>
          </p:cNvPr>
          <p:cNvSpPr/>
          <p:nvPr/>
        </p:nvSpPr>
        <p:spPr>
          <a:xfrm>
            <a:off x="452999" y="5337174"/>
            <a:ext cx="2807725" cy="612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경상도 지역 중</a:t>
            </a:r>
            <a:r>
              <a:rPr lang="en-US" altLang="ko-KR" sz="1000" dirty="0">
                <a:solidFill>
                  <a:schemeClr val="tx1"/>
                </a:solidFill>
              </a:rPr>
              <a:t>·</a:t>
            </a:r>
            <a:r>
              <a:rPr lang="ko-KR" altLang="en-US" sz="1000" dirty="0">
                <a:solidFill>
                  <a:schemeClr val="tx1"/>
                </a:solidFill>
              </a:rPr>
              <a:t>도매상 통한 국산 </a:t>
            </a:r>
            <a:r>
              <a:rPr lang="ko-KR" altLang="en-US" sz="1000" dirty="0" err="1">
                <a:solidFill>
                  <a:schemeClr val="tx1"/>
                </a:solidFill>
              </a:rPr>
              <a:t>건고추</a:t>
            </a:r>
            <a:r>
              <a:rPr lang="ko-KR" altLang="en-US" sz="1000" dirty="0">
                <a:solidFill>
                  <a:schemeClr val="tx1"/>
                </a:solidFill>
              </a:rPr>
              <a:t> 수급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대형 수입업체 통한 수입산 냉동고추 수급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3376B8C-4B9F-8F59-1459-1DC7AC170B85}"/>
              </a:ext>
            </a:extLst>
          </p:cNvPr>
          <p:cNvSpPr/>
          <p:nvPr/>
        </p:nvSpPr>
        <p:spPr>
          <a:xfrm>
            <a:off x="3477281" y="5337174"/>
            <a:ext cx="2807725" cy="612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스마트 </a:t>
            </a:r>
            <a:r>
              <a:rPr lang="en-US" altLang="ko-KR" sz="1000" dirty="0">
                <a:solidFill>
                  <a:schemeClr val="tx1"/>
                </a:solidFill>
              </a:rPr>
              <a:t>HACCP </a:t>
            </a:r>
            <a:r>
              <a:rPr lang="ko-KR" altLang="en-US" sz="1000" dirty="0">
                <a:solidFill>
                  <a:schemeClr val="tx1"/>
                </a:solidFill>
              </a:rPr>
              <a:t>인증 기반 선도적 제조역량 보유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수입산 냉동고추 </a:t>
            </a:r>
            <a:r>
              <a:rPr lang="ko-KR" altLang="en-US" sz="1000" dirty="0" err="1">
                <a:solidFill>
                  <a:schemeClr val="tx1"/>
                </a:solidFill>
              </a:rPr>
              <a:t>전처리</a:t>
            </a:r>
            <a:r>
              <a:rPr lang="ko-KR" altLang="en-US" sz="1000" dirty="0">
                <a:solidFill>
                  <a:schemeClr val="tx1"/>
                </a:solidFill>
              </a:rPr>
              <a:t> 공정은 협력업체 활용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D556990-EA56-1849-3F91-C096258E6CED}"/>
              </a:ext>
            </a:extLst>
          </p:cNvPr>
          <p:cNvSpPr/>
          <p:nvPr/>
        </p:nvSpPr>
        <p:spPr>
          <a:xfrm>
            <a:off x="6501563" y="5337174"/>
            <a:ext cx="2807725" cy="612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단체급식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가공식품</a:t>
            </a:r>
            <a:r>
              <a:rPr lang="en-US" altLang="ko-KR" sz="1000" dirty="0">
                <a:solidFill>
                  <a:schemeClr val="tx1"/>
                </a:solidFill>
              </a:rPr>
              <a:t>, PB</a:t>
            </a:r>
            <a:r>
              <a:rPr lang="ko-KR" altLang="en-US" sz="1000" dirty="0">
                <a:solidFill>
                  <a:schemeClr val="tx1"/>
                </a:solidFill>
              </a:rPr>
              <a:t>상품 등 다양한 </a:t>
            </a:r>
            <a:r>
              <a:rPr lang="en-US" altLang="ko-KR" sz="1000" dirty="0">
                <a:solidFill>
                  <a:schemeClr val="tx1"/>
                </a:solidFill>
              </a:rPr>
              <a:t>B2B </a:t>
            </a:r>
            <a:r>
              <a:rPr lang="ko-KR" altLang="en-US" sz="1000" dirty="0">
                <a:solidFill>
                  <a:schemeClr val="tx1"/>
                </a:solidFill>
              </a:rPr>
              <a:t>납품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향후 홈쇼핑 등 </a:t>
            </a:r>
            <a:r>
              <a:rPr lang="en-US" altLang="ko-KR" sz="1000" dirty="0">
                <a:solidFill>
                  <a:schemeClr val="tx1"/>
                </a:solidFill>
              </a:rPr>
              <a:t>B2C </a:t>
            </a:r>
            <a:r>
              <a:rPr lang="ko-KR" altLang="en-US" sz="1000" dirty="0">
                <a:solidFill>
                  <a:schemeClr val="tx1"/>
                </a:solidFill>
              </a:rPr>
              <a:t>채널 진출 통한 확장 추진</a:t>
            </a:r>
          </a:p>
        </p:txBody>
      </p:sp>
    </p:spTree>
    <p:extLst>
      <p:ext uri="{BB962C8B-B14F-4D97-AF65-F5344CB8AC3E}">
        <p14:creationId xmlns:p14="http://schemas.microsoft.com/office/powerpoint/2010/main" val="754302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AD357-DFD3-36D6-6EF2-2ED672620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초록마을 :: 나와 가장 가까운 유기농친환경 마켓">
            <a:extLst>
              <a:ext uri="{FF2B5EF4-FFF2-40B4-BE49-F238E27FC236}">
                <a16:creationId xmlns:a16="http://schemas.microsoft.com/office/drawing/2014/main" id="{A025D415-74A1-69C5-A5F2-0F17E7AEBD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800" y="2168526"/>
            <a:ext cx="4068199" cy="3781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E68D42A-1543-4106-1A29-D9414AF372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Investment Highlights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5F683D-8FE7-69D3-F11C-1FABF9FAB9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A42190-0309-B3DA-9127-3984130CDF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CC5994-2D82-B24B-E21F-A03C6EC09D0A}"/>
              </a:ext>
            </a:extLst>
          </p:cNvPr>
          <p:cNvSpPr/>
          <p:nvPr/>
        </p:nvSpPr>
        <p:spPr>
          <a:xfrm>
            <a:off x="453000" y="1700213"/>
            <a:ext cx="5040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대상회사 주요 투자 하이라이트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BF47425-5859-B2A3-4A02-E51F1F6F7CD7}"/>
              </a:ext>
            </a:extLst>
          </p:cNvPr>
          <p:cNvGrpSpPr/>
          <p:nvPr/>
        </p:nvGrpSpPr>
        <p:grpSpPr>
          <a:xfrm>
            <a:off x="453000" y="2168525"/>
            <a:ext cx="4607438" cy="648000"/>
            <a:chOff x="453000" y="2168525"/>
            <a:chExt cx="4607438" cy="6480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63A7A06-7FBA-4958-81C6-265B06A17403}"/>
                </a:ext>
              </a:extLst>
            </p:cNvPr>
            <p:cNvSpPr>
              <a:spLocks/>
            </p:cNvSpPr>
            <p:nvPr/>
          </p:nvSpPr>
          <p:spPr>
            <a:xfrm>
              <a:off x="453000" y="2168525"/>
              <a:ext cx="648000" cy="648000"/>
            </a:xfrm>
            <a:prstGeom prst="rect">
              <a:avLst/>
            </a:prstGeom>
            <a:solidFill>
              <a:srgbClr val="26C26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Bef>
                  <a:spcPts val="300"/>
                </a:spcBef>
                <a:spcAft>
                  <a:spcPts val="400"/>
                </a:spcAft>
              </a:pPr>
              <a:r>
                <a:rPr lang="en-US" altLang="ko-KR" b="1" dirty="0">
                  <a:solidFill>
                    <a:schemeClr val="bg1"/>
                  </a:solidFill>
                  <a:latin typeface="+mj-lt"/>
                  <a:ea typeface="+mj-ea"/>
                </a:rPr>
                <a:t>01</a:t>
              </a:r>
              <a:endParaRPr lang="en-US" altLang="ko-KR" sz="1200" dirty="0">
                <a:solidFill>
                  <a:schemeClr val="bg1"/>
                </a:solidFill>
                <a:latin typeface="+mj-lt"/>
                <a:ea typeface="+mj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B02E1F7-A88D-7829-6BD7-C4F280246EA3}"/>
                </a:ext>
              </a:extLst>
            </p:cNvPr>
            <p:cNvSpPr txBox="1"/>
            <p:nvPr/>
          </p:nvSpPr>
          <p:spPr>
            <a:xfrm>
              <a:off x="1100438" y="2199336"/>
              <a:ext cx="3960000" cy="586379"/>
            </a:xfrm>
            <a:prstGeom prst="rect">
              <a:avLst/>
            </a:prstGeom>
            <a:noFill/>
          </p:spPr>
          <p:txBody>
            <a:bodyPr wrap="square" lIns="18000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200"/>
                </a:spcBef>
                <a:spcAft>
                  <a:spcPts val="300"/>
                </a:spcAft>
              </a:pPr>
              <a:r>
                <a:rPr lang="ko-KR" altLang="en-US" sz="1000" b="1" dirty="0">
                  <a:solidFill>
                    <a:srgbClr val="1C8F57"/>
                  </a:solidFill>
                </a:rPr>
                <a:t>핵심 식자재로서 구조적으로 안정적인 수요 시장</a:t>
              </a:r>
              <a:endParaRPr lang="en-US" altLang="ko-KR" sz="1000" b="1" dirty="0">
                <a:solidFill>
                  <a:srgbClr val="1C8F57"/>
                </a:solidFill>
              </a:endParaRPr>
            </a:p>
            <a:p>
              <a:pPr marL="171450" indent="-171450" algn="l">
                <a:lnSpc>
                  <a:spcPct val="110000"/>
                </a:lnSpc>
                <a:spcBef>
                  <a:spcPts val="200"/>
                </a:spcBef>
                <a:buFont typeface="Wingdings" panose="05000000000000000000" pitchFamily="2" charset="2"/>
                <a:buChar char="§"/>
              </a:pPr>
              <a:r>
                <a:rPr lang="ko-KR" altLang="en-US" sz="1000" dirty="0"/>
                <a:t>한식의 필수적인 식자재로 경기 변동 영향이 제한적인 안정적 수요 창출</a:t>
              </a:r>
              <a:endParaRPr lang="en-US" altLang="ko-KR" sz="1000" dirty="0"/>
            </a:p>
            <a:p>
              <a:pPr marL="171450" indent="-171450" algn="l">
                <a:lnSpc>
                  <a:spcPct val="110000"/>
                </a:lnSpc>
                <a:spcBef>
                  <a:spcPts val="200"/>
                </a:spcBef>
                <a:buFont typeface="Wingdings" panose="05000000000000000000" pitchFamily="2" charset="2"/>
                <a:buChar char="§"/>
              </a:pPr>
              <a:r>
                <a:rPr lang="ko-KR" altLang="en-US" sz="1000" dirty="0"/>
                <a:t>분절된 산업구조 속 규모 </a:t>
              </a:r>
              <a:r>
                <a:rPr lang="en-US" altLang="ko-KR" sz="1000" dirty="0"/>
                <a:t>·</a:t>
              </a:r>
              <a:r>
                <a:rPr lang="ko-KR" altLang="en-US" sz="1000" dirty="0"/>
                <a:t> 품질 경쟁력을 갖춘 상위 제조사 중심 기회 집중</a:t>
              </a:r>
              <a:endParaRPr lang="en-US" altLang="ko-KR" sz="1000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7D03196-C93B-21D0-43E7-B24C2618CBD2}"/>
              </a:ext>
            </a:extLst>
          </p:cNvPr>
          <p:cNvGrpSpPr/>
          <p:nvPr/>
        </p:nvGrpSpPr>
        <p:grpSpPr>
          <a:xfrm>
            <a:off x="453000" y="2951881"/>
            <a:ext cx="4607438" cy="648000"/>
            <a:chOff x="453000" y="3068525"/>
            <a:chExt cx="4607438" cy="6480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9E71CE5-D8F9-7CD5-1DAE-F4361F2B98BD}"/>
                </a:ext>
              </a:extLst>
            </p:cNvPr>
            <p:cNvSpPr>
              <a:spLocks/>
            </p:cNvSpPr>
            <p:nvPr/>
          </p:nvSpPr>
          <p:spPr>
            <a:xfrm>
              <a:off x="453000" y="3068525"/>
              <a:ext cx="648000" cy="648000"/>
            </a:xfrm>
            <a:prstGeom prst="rect">
              <a:avLst/>
            </a:prstGeom>
            <a:solidFill>
              <a:srgbClr val="26C26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Bef>
                  <a:spcPts val="300"/>
                </a:spcBef>
                <a:spcAft>
                  <a:spcPts val="400"/>
                </a:spcAft>
              </a:pPr>
              <a:r>
                <a:rPr lang="en-US" altLang="ko-KR" b="1" dirty="0">
                  <a:solidFill>
                    <a:schemeClr val="bg1"/>
                  </a:solidFill>
                  <a:latin typeface="+mj-lt"/>
                  <a:ea typeface="+mj-ea"/>
                </a:rPr>
                <a:t>02</a:t>
              </a:r>
              <a:endParaRPr lang="en-US" altLang="ko-KR" sz="1200" dirty="0">
                <a:solidFill>
                  <a:schemeClr val="bg1"/>
                </a:solidFill>
                <a:latin typeface="+mj-lt"/>
                <a:ea typeface="+mj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B6157C-F157-CA4F-AA43-2E3A470B5035}"/>
                </a:ext>
              </a:extLst>
            </p:cNvPr>
            <p:cNvSpPr txBox="1"/>
            <p:nvPr/>
          </p:nvSpPr>
          <p:spPr>
            <a:xfrm>
              <a:off x="1100438" y="3099336"/>
              <a:ext cx="3960000" cy="586379"/>
            </a:xfrm>
            <a:prstGeom prst="rect">
              <a:avLst/>
            </a:prstGeom>
            <a:noFill/>
          </p:spPr>
          <p:txBody>
            <a:bodyPr wrap="square" lIns="180000" tIns="0" rIns="0" bIns="0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200"/>
                </a:spcBef>
                <a:spcAft>
                  <a:spcPts val="300"/>
                </a:spcAft>
              </a:pPr>
              <a:r>
                <a:rPr lang="ko-KR" altLang="en-US" sz="1000" b="1" dirty="0">
                  <a:solidFill>
                    <a:srgbClr val="1C8F57"/>
                  </a:solidFill>
                </a:rPr>
                <a:t>외식산업 대형화 및 </a:t>
              </a:r>
              <a:r>
                <a:rPr lang="en-US" altLang="ko-KR" sz="1000" b="1" dirty="0">
                  <a:solidFill>
                    <a:srgbClr val="1C8F57"/>
                  </a:solidFill>
                </a:rPr>
                <a:t>K-</a:t>
              </a:r>
              <a:r>
                <a:rPr lang="ko-KR" altLang="en-US" sz="1000" b="1" dirty="0" err="1">
                  <a:solidFill>
                    <a:srgbClr val="1C8F57"/>
                  </a:solidFill>
                </a:rPr>
                <a:t>푸드</a:t>
              </a:r>
              <a:r>
                <a:rPr lang="ko-KR" altLang="en-US" sz="1000" b="1" dirty="0">
                  <a:solidFill>
                    <a:srgbClr val="1C8F57"/>
                  </a:solidFill>
                </a:rPr>
                <a:t> 수출 확대로 인한 </a:t>
              </a:r>
              <a:r>
                <a:rPr lang="en-US" altLang="ko-KR" sz="1000" b="1" dirty="0">
                  <a:solidFill>
                    <a:srgbClr val="1C8F57"/>
                  </a:solidFill>
                </a:rPr>
                <a:t>Upside Potential </a:t>
              </a:r>
              <a:r>
                <a:rPr lang="ko-KR" altLang="en-US" sz="1000" b="1" dirty="0">
                  <a:solidFill>
                    <a:srgbClr val="1C8F57"/>
                  </a:solidFill>
                </a:rPr>
                <a:t>확대</a:t>
              </a:r>
              <a:endParaRPr lang="en-US" altLang="ko-KR" sz="1000" b="1" dirty="0">
                <a:solidFill>
                  <a:srgbClr val="1C8F57"/>
                </a:solidFill>
              </a:endParaRPr>
            </a:p>
            <a:p>
              <a:pPr marL="171450" indent="-171450">
                <a:lnSpc>
                  <a:spcPct val="110000"/>
                </a:lnSpc>
                <a:spcBef>
                  <a:spcPts val="200"/>
                </a:spcBef>
                <a:buFont typeface="Wingdings" panose="05000000000000000000" pitchFamily="2" charset="2"/>
                <a:buChar char="§"/>
              </a:pPr>
              <a:r>
                <a:rPr lang="ko-KR" altLang="en-US" sz="1000" spc="-30" dirty="0"/>
                <a:t>단체급식 </a:t>
              </a:r>
              <a:r>
                <a:rPr lang="en-US" altLang="ko-KR" sz="1000" spc="-30" dirty="0"/>
                <a:t>· </a:t>
              </a:r>
              <a:r>
                <a:rPr lang="ko-KR" altLang="en-US" sz="1000" spc="-30" dirty="0"/>
                <a:t>프랜차이즈 중심 시장 재편에 따른 표준화 </a:t>
              </a:r>
              <a:r>
                <a:rPr lang="en-US" altLang="ko-KR" sz="1000" spc="-30" dirty="0"/>
                <a:t>· </a:t>
              </a:r>
              <a:r>
                <a:rPr lang="ko-KR" altLang="en-US" sz="1000" spc="-30" dirty="0"/>
                <a:t>대량 식자재 수요 증가</a:t>
              </a:r>
              <a:endParaRPr lang="en-US" altLang="ko-KR" sz="1000" spc="-30" dirty="0"/>
            </a:p>
            <a:p>
              <a:pPr marL="171450" indent="-171450">
                <a:lnSpc>
                  <a:spcPct val="110000"/>
                </a:lnSpc>
                <a:spcBef>
                  <a:spcPts val="200"/>
                </a:spcBef>
                <a:buFont typeface="Wingdings" panose="05000000000000000000" pitchFamily="2" charset="2"/>
                <a:buChar char="§"/>
              </a:pPr>
              <a:r>
                <a:rPr lang="ko-KR" altLang="en-US" sz="1000" dirty="0"/>
                <a:t>글로벌 </a:t>
              </a:r>
              <a:r>
                <a:rPr lang="en-US" altLang="ko-KR" sz="1000" dirty="0"/>
                <a:t>K-</a:t>
              </a:r>
              <a:r>
                <a:rPr lang="ko-KR" altLang="en-US" sz="1000" dirty="0" err="1"/>
                <a:t>푸드</a:t>
              </a:r>
              <a:r>
                <a:rPr lang="ko-KR" altLang="en-US" sz="1000" dirty="0"/>
                <a:t> 확산에 연동된 핵심 원재료 수요의 구조적 성장 지속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40C1B11-7054-F83D-72EC-D1A6EAF1CC91}"/>
              </a:ext>
            </a:extLst>
          </p:cNvPr>
          <p:cNvGrpSpPr/>
          <p:nvPr/>
        </p:nvGrpSpPr>
        <p:grpSpPr>
          <a:xfrm>
            <a:off x="453000" y="3735237"/>
            <a:ext cx="4643438" cy="648000"/>
            <a:chOff x="453000" y="3968525"/>
            <a:chExt cx="4643438" cy="6480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C7DFC14-A223-5C97-CA81-6CDFC285EE2D}"/>
                </a:ext>
              </a:extLst>
            </p:cNvPr>
            <p:cNvSpPr>
              <a:spLocks/>
            </p:cNvSpPr>
            <p:nvPr/>
          </p:nvSpPr>
          <p:spPr>
            <a:xfrm>
              <a:off x="453000" y="3968525"/>
              <a:ext cx="648000" cy="648000"/>
            </a:xfrm>
            <a:prstGeom prst="rect">
              <a:avLst/>
            </a:prstGeom>
            <a:solidFill>
              <a:srgbClr val="26C26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Bef>
                  <a:spcPts val="300"/>
                </a:spcBef>
                <a:spcAft>
                  <a:spcPts val="400"/>
                </a:spcAft>
              </a:pPr>
              <a:r>
                <a:rPr lang="en-US" altLang="ko-KR" b="1" dirty="0">
                  <a:solidFill>
                    <a:schemeClr val="bg1"/>
                  </a:solidFill>
                  <a:latin typeface="+mj-lt"/>
                  <a:ea typeface="+mj-ea"/>
                </a:rPr>
                <a:t>03</a:t>
              </a:r>
              <a:endParaRPr lang="en-US" altLang="ko-KR" sz="1200" dirty="0">
                <a:solidFill>
                  <a:schemeClr val="bg1"/>
                </a:solidFill>
                <a:latin typeface="+mj-lt"/>
                <a:ea typeface="+mj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733C965-E135-D454-3BBB-C88158639FDC}"/>
                </a:ext>
              </a:extLst>
            </p:cNvPr>
            <p:cNvSpPr txBox="1"/>
            <p:nvPr/>
          </p:nvSpPr>
          <p:spPr>
            <a:xfrm>
              <a:off x="1100438" y="3999336"/>
              <a:ext cx="3996000" cy="586379"/>
            </a:xfrm>
            <a:prstGeom prst="rect">
              <a:avLst/>
            </a:prstGeom>
            <a:noFill/>
          </p:spPr>
          <p:txBody>
            <a:bodyPr wrap="square" lIns="180000" tIns="0" rIns="0" bIns="0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200"/>
                </a:spcBef>
                <a:spcAft>
                  <a:spcPts val="300"/>
                </a:spcAft>
              </a:pPr>
              <a:r>
                <a:rPr lang="en-US" altLang="ko-KR" sz="1000" b="1" dirty="0">
                  <a:solidFill>
                    <a:srgbClr val="1C8F57"/>
                  </a:solidFill>
                </a:rPr>
                <a:t>Dual Brand</a:t>
              </a:r>
              <a:r>
                <a:rPr lang="ko-KR" altLang="en-US" sz="1000" b="1" dirty="0">
                  <a:solidFill>
                    <a:srgbClr val="1C8F57"/>
                  </a:solidFill>
                </a:rPr>
                <a:t> 기반 전방 수요 전반을 커버하는 차별화된 사업구조</a:t>
              </a:r>
              <a:endParaRPr lang="en-US" altLang="ko-KR" sz="1000" b="1" dirty="0">
                <a:solidFill>
                  <a:srgbClr val="1C8F57"/>
                </a:solidFill>
              </a:endParaRPr>
            </a:p>
            <a:p>
              <a:pPr marL="171450" indent="-171450">
                <a:lnSpc>
                  <a:spcPct val="110000"/>
                </a:lnSpc>
                <a:spcBef>
                  <a:spcPts val="200"/>
                </a:spcBef>
                <a:buFont typeface="Wingdings" panose="05000000000000000000" pitchFamily="2" charset="2"/>
                <a:buChar char="§"/>
              </a:pPr>
              <a:r>
                <a:rPr lang="ko-KR" altLang="en-US" sz="1000" spc="-30" dirty="0"/>
                <a:t>국산 프리미엄부터 수입산 가성비 제품까지 아우르는 확장형 제품 포트폴리오</a:t>
              </a:r>
              <a:endParaRPr lang="en-US" altLang="ko-KR" sz="1000" spc="-30" dirty="0"/>
            </a:p>
            <a:p>
              <a:pPr marL="171450" indent="-171450">
                <a:lnSpc>
                  <a:spcPct val="110000"/>
                </a:lnSpc>
                <a:spcBef>
                  <a:spcPts val="200"/>
                </a:spcBef>
                <a:buFont typeface="Wingdings" panose="05000000000000000000" pitchFamily="2" charset="2"/>
                <a:buChar char="§"/>
              </a:pPr>
              <a:r>
                <a:rPr lang="ko-KR" altLang="en-US" sz="1000" dirty="0"/>
                <a:t>대형 식품 </a:t>
              </a:r>
              <a:r>
                <a:rPr lang="en-US" altLang="ko-KR" sz="1000" dirty="0"/>
                <a:t>· </a:t>
              </a:r>
              <a:r>
                <a:rPr lang="ko-KR" altLang="en-US" sz="1000" dirty="0"/>
                <a:t>급식 </a:t>
              </a:r>
              <a:r>
                <a:rPr lang="en-US" altLang="ko-KR" sz="1000" dirty="0"/>
                <a:t>· </a:t>
              </a:r>
              <a:r>
                <a:rPr lang="ko-KR" altLang="en-US" sz="1000" dirty="0"/>
                <a:t>외식업체 고객 대응이 가능한 </a:t>
              </a:r>
              <a:r>
                <a:rPr lang="en-US" altLang="ko-KR" sz="1000" dirty="0"/>
                <a:t>B2B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Total Solution </a:t>
              </a:r>
              <a:r>
                <a:rPr lang="ko-KR" altLang="en-US" sz="1000" dirty="0"/>
                <a:t>제공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2B94B26-16CB-1230-0AC3-54103A28B97B}"/>
              </a:ext>
            </a:extLst>
          </p:cNvPr>
          <p:cNvGrpSpPr/>
          <p:nvPr/>
        </p:nvGrpSpPr>
        <p:grpSpPr>
          <a:xfrm>
            <a:off x="452438" y="4518593"/>
            <a:ext cx="4608000" cy="648000"/>
            <a:chOff x="452438" y="4868525"/>
            <a:chExt cx="4608000" cy="6480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1A1452C-CD0D-D7C5-79F4-DB200FF1594F}"/>
                </a:ext>
              </a:extLst>
            </p:cNvPr>
            <p:cNvSpPr>
              <a:spLocks/>
            </p:cNvSpPr>
            <p:nvPr/>
          </p:nvSpPr>
          <p:spPr>
            <a:xfrm>
              <a:off x="452438" y="4868525"/>
              <a:ext cx="648000" cy="648000"/>
            </a:xfrm>
            <a:prstGeom prst="rect">
              <a:avLst/>
            </a:prstGeom>
            <a:solidFill>
              <a:srgbClr val="26C26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Bef>
                  <a:spcPts val="300"/>
                </a:spcBef>
                <a:spcAft>
                  <a:spcPts val="400"/>
                </a:spcAft>
              </a:pPr>
              <a:r>
                <a:rPr lang="en-US" altLang="ko-KR" b="1" dirty="0">
                  <a:solidFill>
                    <a:schemeClr val="bg1"/>
                  </a:solidFill>
                  <a:latin typeface="+mj-lt"/>
                  <a:ea typeface="+mj-ea"/>
                </a:rPr>
                <a:t>04</a:t>
              </a:r>
              <a:endParaRPr lang="en-US" altLang="ko-KR" sz="1200" dirty="0">
                <a:solidFill>
                  <a:schemeClr val="bg1"/>
                </a:solidFill>
                <a:latin typeface="+mj-lt"/>
                <a:ea typeface="+mj-ea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ECCAF2-D933-0C19-E86D-0C0A5B2C0D75}"/>
                </a:ext>
              </a:extLst>
            </p:cNvPr>
            <p:cNvSpPr txBox="1"/>
            <p:nvPr/>
          </p:nvSpPr>
          <p:spPr>
            <a:xfrm>
              <a:off x="1100438" y="4899336"/>
              <a:ext cx="3960000" cy="586379"/>
            </a:xfrm>
            <a:prstGeom prst="rect">
              <a:avLst/>
            </a:prstGeom>
            <a:noFill/>
          </p:spPr>
          <p:txBody>
            <a:bodyPr wrap="square" lIns="180000" tIns="0" rIns="0" bIns="0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200"/>
                </a:spcBef>
                <a:spcAft>
                  <a:spcPts val="300"/>
                </a:spcAft>
              </a:pPr>
              <a:r>
                <a:rPr lang="ko-KR" altLang="en-US" sz="1000" b="1" dirty="0">
                  <a:solidFill>
                    <a:srgbClr val="1C8F57"/>
                  </a:solidFill>
                </a:rPr>
                <a:t>업계 선도적인 제조 인프라 및 </a:t>
              </a:r>
              <a:r>
                <a:rPr lang="ko-KR" altLang="en-US" sz="1000" b="1" dirty="0" err="1">
                  <a:solidFill>
                    <a:srgbClr val="1C8F57"/>
                  </a:solidFill>
                </a:rPr>
                <a:t>선제적</a:t>
              </a:r>
              <a:r>
                <a:rPr lang="ko-KR" altLang="en-US" sz="1000" b="1" dirty="0">
                  <a:solidFill>
                    <a:srgbClr val="1C8F57"/>
                  </a:solidFill>
                </a:rPr>
                <a:t> 원가 대응 역량</a:t>
              </a:r>
              <a:endParaRPr lang="en-US" altLang="ko-KR" sz="1000" b="1" dirty="0">
                <a:solidFill>
                  <a:srgbClr val="1C8F57"/>
                </a:solidFill>
              </a:endParaRPr>
            </a:p>
            <a:p>
              <a:pPr marL="171450" indent="-171450">
                <a:lnSpc>
                  <a:spcPct val="110000"/>
                </a:lnSpc>
                <a:spcBef>
                  <a:spcPts val="200"/>
                </a:spcBef>
                <a:buFont typeface="Wingdings" panose="05000000000000000000" pitchFamily="2" charset="2"/>
                <a:buChar char="§"/>
              </a:pPr>
              <a:r>
                <a:rPr lang="ko-KR" altLang="en-US" sz="1000" dirty="0"/>
                <a:t>스마트 </a:t>
              </a:r>
              <a:r>
                <a:rPr lang="en-US" altLang="ko-KR" sz="1000" dirty="0"/>
                <a:t>HACCP </a:t>
              </a:r>
              <a:r>
                <a:rPr lang="ko-KR" altLang="en-US" sz="1000" dirty="0"/>
                <a:t>등 글로벌 표준 기반의 고도화된 품질</a:t>
              </a:r>
              <a:r>
                <a:rPr lang="en-US" altLang="ko-KR" sz="1000" dirty="0"/>
                <a:t> · </a:t>
              </a:r>
              <a:r>
                <a:rPr lang="ko-KR" altLang="en-US" sz="1000" dirty="0"/>
                <a:t>생산체계 구축</a:t>
              </a:r>
              <a:endParaRPr lang="en-US" altLang="ko-KR" sz="1000" dirty="0"/>
            </a:p>
            <a:p>
              <a:pPr marL="171450" indent="-171450">
                <a:lnSpc>
                  <a:spcPct val="110000"/>
                </a:lnSpc>
                <a:spcBef>
                  <a:spcPts val="200"/>
                </a:spcBef>
                <a:buFont typeface="Wingdings" panose="05000000000000000000" pitchFamily="2" charset="2"/>
                <a:buChar char="§"/>
              </a:pPr>
              <a:r>
                <a:rPr lang="ko-KR" altLang="en-US" sz="1000" dirty="0"/>
                <a:t>장기 네트워크 기반 </a:t>
              </a:r>
              <a:r>
                <a:rPr lang="ko-KR" altLang="en-US" sz="1000" dirty="0" err="1"/>
                <a:t>선제적</a:t>
              </a:r>
              <a:r>
                <a:rPr lang="ko-KR" altLang="en-US" sz="1000" dirty="0"/>
                <a:t> 원재료 비축을 통한 수익성 방어 구조 확보</a:t>
              </a:r>
              <a:endParaRPr lang="en-US" altLang="ko-KR" sz="10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B0FDED2-6FC0-94EE-720C-A04C51A93B65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 </a:t>
            </a:r>
            <a:r>
              <a:rPr lang="ko-KR" altLang="en-US" sz="1400" b="1" dirty="0">
                <a:solidFill>
                  <a:srgbClr val="26C260"/>
                </a:solidFill>
              </a:rPr>
              <a:t>국내 고춧가루 시장의 </a:t>
            </a:r>
            <a:r>
              <a:rPr lang="en-US" altLang="ko-KR" sz="1400" b="1" dirty="0">
                <a:solidFill>
                  <a:srgbClr val="26C260"/>
                </a:solidFill>
              </a:rPr>
              <a:t>Top-3 Player</a:t>
            </a:r>
            <a:r>
              <a:rPr lang="ko-KR" altLang="en-US" sz="1400" b="1" dirty="0">
                <a:solidFill>
                  <a:srgbClr val="26C260"/>
                </a:solidFill>
              </a:rPr>
              <a:t>이자 스마트 </a:t>
            </a:r>
            <a:r>
              <a:rPr lang="en-US" altLang="ko-KR" sz="1400" b="1" dirty="0">
                <a:solidFill>
                  <a:srgbClr val="26C260"/>
                </a:solidFill>
              </a:rPr>
              <a:t>HACCP </a:t>
            </a:r>
            <a:r>
              <a:rPr lang="ko-KR" altLang="en-US" sz="1400" b="1" dirty="0">
                <a:solidFill>
                  <a:srgbClr val="26C260"/>
                </a:solidFill>
              </a:rPr>
              <a:t>인증을 선제적으로 확보한 </a:t>
            </a:r>
            <a:r>
              <a:rPr lang="en-US" altLang="ko-KR" sz="1400" b="1" dirty="0">
                <a:solidFill>
                  <a:srgbClr val="26C260"/>
                </a:solidFill>
              </a:rPr>
              <a:t>Category Killer</a:t>
            </a:r>
            <a:r>
              <a:rPr lang="ko-KR" altLang="en-US" sz="1400" b="1" dirty="0">
                <a:solidFill>
                  <a:srgbClr val="3D3D3D"/>
                </a:solidFill>
              </a:rPr>
              <a:t>로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차별화된 제품 경쟁력과 업계 선도적 제조 인프라를 보유하고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수직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수평적인 확장을 통해 중장기 성장성과 수익성 실현이 기대됩니다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2DF95F4-11F0-1626-E43A-59B4472A5103}"/>
              </a:ext>
            </a:extLst>
          </p:cNvPr>
          <p:cNvGrpSpPr/>
          <p:nvPr/>
        </p:nvGrpSpPr>
        <p:grpSpPr>
          <a:xfrm>
            <a:off x="452438" y="5301950"/>
            <a:ext cx="4608000" cy="648000"/>
            <a:chOff x="452438" y="5301950"/>
            <a:chExt cx="4608000" cy="64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1B19795-D1EE-8CAB-CED6-7587D879A478}"/>
                </a:ext>
              </a:extLst>
            </p:cNvPr>
            <p:cNvSpPr>
              <a:spLocks/>
            </p:cNvSpPr>
            <p:nvPr/>
          </p:nvSpPr>
          <p:spPr>
            <a:xfrm>
              <a:off x="452438" y="5301950"/>
              <a:ext cx="648000" cy="648000"/>
            </a:xfrm>
            <a:prstGeom prst="rect">
              <a:avLst/>
            </a:prstGeom>
            <a:solidFill>
              <a:srgbClr val="26C26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Bef>
                  <a:spcPts val="300"/>
                </a:spcBef>
                <a:spcAft>
                  <a:spcPts val="400"/>
                </a:spcAft>
              </a:pPr>
              <a:r>
                <a:rPr lang="en-US" altLang="ko-KR" b="1" dirty="0">
                  <a:solidFill>
                    <a:schemeClr val="bg1"/>
                  </a:solidFill>
                  <a:latin typeface="+mj-lt"/>
                  <a:ea typeface="+mj-ea"/>
                </a:rPr>
                <a:t>05</a:t>
              </a:r>
              <a:endParaRPr lang="en-US" altLang="ko-KR" sz="1200" dirty="0">
                <a:solidFill>
                  <a:schemeClr val="bg1"/>
                </a:solidFill>
                <a:latin typeface="+mj-lt"/>
                <a:ea typeface="+mj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230D77E-7CCA-4C2E-3D60-E60985440BB4}"/>
                </a:ext>
              </a:extLst>
            </p:cNvPr>
            <p:cNvSpPr txBox="1"/>
            <p:nvPr/>
          </p:nvSpPr>
          <p:spPr>
            <a:xfrm>
              <a:off x="1100438" y="5332761"/>
              <a:ext cx="3960000" cy="586379"/>
            </a:xfrm>
            <a:prstGeom prst="rect">
              <a:avLst/>
            </a:prstGeom>
            <a:noFill/>
          </p:spPr>
          <p:txBody>
            <a:bodyPr wrap="square" lIns="180000" tIns="0" rIns="0" bIns="0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200"/>
                </a:spcBef>
                <a:spcAft>
                  <a:spcPts val="300"/>
                </a:spcAft>
              </a:pPr>
              <a:r>
                <a:rPr lang="ko-KR" altLang="en-US" sz="1000" b="1" dirty="0">
                  <a:solidFill>
                    <a:srgbClr val="1C8F57"/>
                  </a:solidFill>
                </a:rPr>
                <a:t>수직 </a:t>
              </a:r>
              <a:r>
                <a:rPr lang="en-US" altLang="ko-KR" sz="1000" b="1" dirty="0">
                  <a:solidFill>
                    <a:srgbClr val="1C8F57"/>
                  </a:solidFill>
                </a:rPr>
                <a:t>· </a:t>
              </a:r>
              <a:r>
                <a:rPr lang="ko-KR" altLang="en-US" sz="1000" b="1" dirty="0">
                  <a:solidFill>
                    <a:srgbClr val="1C8F57"/>
                  </a:solidFill>
                </a:rPr>
                <a:t>수평적 확장을 통한 추가적인 성장 잠재력 보유</a:t>
              </a:r>
              <a:endParaRPr lang="en-US" altLang="ko-KR" sz="1000" b="1" dirty="0">
                <a:solidFill>
                  <a:srgbClr val="1C8F57"/>
                </a:solidFill>
              </a:endParaRPr>
            </a:p>
            <a:p>
              <a:pPr marL="171450" indent="-171450">
                <a:lnSpc>
                  <a:spcPct val="110000"/>
                </a:lnSpc>
                <a:spcBef>
                  <a:spcPts val="200"/>
                </a:spcBef>
                <a:buFont typeface="Wingdings" panose="05000000000000000000" pitchFamily="2" charset="2"/>
                <a:buChar char="§"/>
              </a:pPr>
              <a:r>
                <a:rPr lang="en-US" altLang="ko-KR" sz="1000" dirty="0"/>
                <a:t>B2C </a:t>
              </a:r>
              <a:r>
                <a:rPr lang="ko-KR" altLang="en-US" sz="1000" dirty="0"/>
                <a:t>채널 확장을 통한 매출 다각화 및 브랜드 경쟁력 강화</a:t>
              </a:r>
              <a:endParaRPr lang="en-US" altLang="ko-KR" sz="1000" dirty="0"/>
            </a:p>
            <a:p>
              <a:pPr marL="171450" indent="-171450">
                <a:lnSpc>
                  <a:spcPct val="110000"/>
                </a:lnSpc>
                <a:spcBef>
                  <a:spcPts val="200"/>
                </a:spcBef>
                <a:buFont typeface="Wingdings" panose="05000000000000000000" pitchFamily="2" charset="2"/>
                <a:buChar char="§"/>
              </a:pPr>
              <a:r>
                <a:rPr lang="en-US" altLang="ko-KR" sz="1000" dirty="0"/>
                <a:t>Value Chain </a:t>
              </a:r>
              <a:r>
                <a:rPr lang="ko-KR" altLang="en-US" sz="1000" dirty="0"/>
                <a:t>내재화 및 </a:t>
              </a:r>
              <a:r>
                <a:rPr lang="en-US" altLang="ko-KR" sz="1000" dirty="0"/>
                <a:t>Bolt-On </a:t>
              </a:r>
              <a:r>
                <a:rPr lang="ko-KR" altLang="en-US" sz="1000" dirty="0"/>
                <a:t>통한 외형 성장과 수익성 동시 확대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274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38FB2-3C04-5F42-07FF-47CA608B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A1B1C88-B15F-4570-5E7E-0256FA3EE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107968"/>
              </p:ext>
            </p:extLst>
          </p:nvPr>
        </p:nvGraphicFramePr>
        <p:xfrm>
          <a:off x="344438" y="2168525"/>
          <a:ext cx="3528000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400" b="0" kern="120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400" b="0" kern="120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all" spc="0" baseline="0" dirty="0">
                          <a:solidFill>
                            <a:srgbClr val="0F3A32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400" b="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0F3A32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Market Opportunity</a:t>
                      </a:r>
                      <a:endParaRPr lang="ko-KR" altLang="en-US" sz="1400" b="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Target Highlights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cs"/>
                        </a:rPr>
                        <a:t>Financial Summary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UITE Heavy"/>
                        <a:ea typeface="SUITE Heavy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277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A22BAD3-EFBE-230E-B179-8C1D75A2225C}"/>
              </a:ext>
            </a:extLst>
          </p:cNvPr>
          <p:cNvSpPr txBox="1"/>
          <p:nvPr/>
        </p:nvSpPr>
        <p:spPr>
          <a:xfrm>
            <a:off x="452438" y="1368847"/>
            <a:ext cx="3247684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CONTENTS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095598A3-9E5E-61B8-2D89-1D5E64B77DFC}"/>
              </a:ext>
            </a:extLst>
          </p:cNvPr>
          <p:cNvSpPr txBox="1">
            <a:spLocks/>
          </p:cNvSpPr>
          <p:nvPr/>
        </p:nvSpPr>
        <p:spPr>
          <a:xfrm>
            <a:off x="452999" y="6177279"/>
            <a:ext cx="1548501" cy="131446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indent="0" defTabSz="914400" latinLnBrk="1">
              <a:lnSpc>
                <a:spcPts val="11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aseline="0">
                <a:solidFill>
                  <a:schemeClr val="bg1"/>
                </a:solidFill>
                <a:latin typeface="Outfit" pitchFamily="2" charset="0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800" dirty="0">
                <a:latin typeface="+mj-lt"/>
                <a:ea typeface="+mj-ea"/>
              </a:rPr>
              <a:t>Strictly Private &amp; Confidential</a:t>
            </a:r>
            <a:endParaRPr lang="ko-KR" altLang="en-US" sz="800" dirty="0">
              <a:latin typeface="+mj-lt"/>
              <a:ea typeface="+mj-ea"/>
            </a:endParaRP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D5762144-C93D-0B83-2B74-CFE3E092B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97" y="549275"/>
            <a:ext cx="272432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92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17EBE69-C181-513C-5825-E518C165FB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Market Outlook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BACB1A-9140-C4E9-F2EB-7F32666D17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/>
              <a:t>Source: ‘</a:t>
            </a:r>
            <a:r>
              <a:rPr lang="ko-KR" altLang="en-US"/>
              <a:t>식품 및 식품첨가물 생산실적</a:t>
            </a:r>
            <a:r>
              <a:rPr lang="en-US" altLang="ko-KR"/>
              <a:t>‘, </a:t>
            </a:r>
            <a:r>
              <a:rPr lang="ko-KR" altLang="en-US"/>
              <a:t>식품의약품안전처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6C196-A0A0-CEF5-F2DA-7EB1BBB004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C88034-64F6-72D5-32E4-B98EA78D3996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국내 생산 고춧가루 내수 및 수출 판매액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F1987E-E791-8715-7165-77931F1575F9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수요 및 공급 측면 주요 시장 </a:t>
            </a:r>
            <a:r>
              <a:rPr lang="en-US" altLang="ko-KR" sz="1200" b="1" dirty="0">
                <a:solidFill>
                  <a:schemeClr val="bg1"/>
                </a:solidFill>
              </a:rPr>
              <a:t>Driver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A7714B-E1DA-DF25-CA1C-56037076DBEC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국내 고춧가루 시장은 안정적 성장 기조 속에서 전방 산업의 대형화 및 글로벌 수요 확대에 따라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대형 </a:t>
            </a:r>
            <a:r>
              <a:rPr lang="en-US" altLang="ko-KR" sz="1400" b="1" dirty="0">
                <a:solidFill>
                  <a:srgbClr val="3D3D3D"/>
                </a:solidFill>
              </a:rPr>
              <a:t>B2B </a:t>
            </a:r>
            <a:r>
              <a:rPr lang="ko-KR" altLang="en-US" sz="1400" b="1" dirty="0">
                <a:solidFill>
                  <a:srgbClr val="3D3D3D"/>
                </a:solidFill>
              </a:rPr>
              <a:t>수요</a:t>
            </a:r>
            <a:r>
              <a:rPr lang="en-US" altLang="ko-KR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>
                <a:solidFill>
                  <a:srgbClr val="3D3D3D"/>
                </a:solidFill>
              </a:rPr>
              <a:t>대응 역량을 갖춘 상위 제조사 중심으로 시장 재편이 본격화되고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855022BE-DC82-FEA4-1B3B-D82A140D2C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0678305"/>
              </p:ext>
            </p:extLst>
          </p:nvPr>
        </p:nvGraphicFramePr>
        <p:xfrm>
          <a:off x="452438" y="2168526"/>
          <a:ext cx="4392000" cy="38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11192E8-2528-4882-D265-E354C98AF077}"/>
              </a:ext>
            </a:extLst>
          </p:cNvPr>
          <p:cNvCxnSpPr>
            <a:cxnSpLocks/>
          </p:cNvCxnSpPr>
          <p:nvPr/>
        </p:nvCxnSpPr>
        <p:spPr>
          <a:xfrm flipV="1">
            <a:off x="910430" y="2505611"/>
            <a:ext cx="3476017" cy="586821"/>
          </a:xfrm>
          <a:prstGeom prst="straightConnector1">
            <a:avLst/>
          </a:prstGeom>
          <a:ln w="15875">
            <a:solidFill>
              <a:srgbClr val="26C2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AA03EA1-7FBA-CA1A-4EE6-B57740BC36E9}"/>
              </a:ext>
            </a:extLst>
          </p:cNvPr>
          <p:cNvSpPr txBox="1"/>
          <p:nvPr/>
        </p:nvSpPr>
        <p:spPr>
          <a:xfrm rot="-540000">
            <a:off x="2255418" y="2719993"/>
            <a:ext cx="786040" cy="15805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rgbClr val="26C260"/>
                </a:solidFill>
              </a:rPr>
              <a:t>CAGR 4.2%</a:t>
            </a:r>
            <a:endParaRPr lang="ko-KR" altLang="en-US" sz="1000" b="1" dirty="0" err="1">
              <a:solidFill>
                <a:srgbClr val="26C26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27B6C2-8A1E-4CF9-FBBD-B8B68246505D}"/>
              </a:ext>
            </a:extLst>
          </p:cNvPr>
          <p:cNvSpPr/>
          <p:nvPr/>
        </p:nvSpPr>
        <p:spPr>
          <a:xfrm>
            <a:off x="5061000" y="2168525"/>
            <a:ext cx="4392000" cy="828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lang="en-US" altLang="ko-KR" sz="1000" b="1" dirty="0">
                <a:solidFill>
                  <a:schemeClr val="tx1"/>
                </a:solidFill>
              </a:rPr>
              <a:t>[Key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Demand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Driver]</a:t>
            </a:r>
            <a:r>
              <a:rPr lang="ko-KR" altLang="en-US" sz="1000" b="1" dirty="0">
                <a:solidFill>
                  <a:schemeClr val="tx1"/>
                </a:solidFill>
              </a:rPr>
              <a:t> 급식 </a:t>
            </a:r>
            <a:r>
              <a:rPr lang="en-US" altLang="ko-KR" sz="1000" b="1" dirty="0">
                <a:solidFill>
                  <a:schemeClr val="tx1"/>
                </a:solidFill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</a:rPr>
              <a:t>외식산업의 기업화와 </a:t>
            </a:r>
            <a:r>
              <a:rPr lang="en-US" altLang="ko-KR" sz="1000" b="1" dirty="0">
                <a:solidFill>
                  <a:schemeClr val="tx1"/>
                </a:solidFill>
              </a:rPr>
              <a:t>B2B </a:t>
            </a:r>
            <a:r>
              <a:rPr lang="ko-KR" altLang="en-US" sz="1000" b="1" dirty="0">
                <a:solidFill>
                  <a:schemeClr val="tx1"/>
                </a:solidFill>
              </a:rPr>
              <a:t>식자재 시장의 팽창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대형 프랜차이즈 및 위탁급식 중심의 국내 외식산업 구조 개편 가속화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표준화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 err="1">
                <a:solidFill>
                  <a:schemeClr val="tx1"/>
                </a:solidFill>
              </a:rPr>
              <a:t>균일화된</a:t>
            </a:r>
            <a:r>
              <a:rPr lang="ko-KR" altLang="en-US" sz="1000" dirty="0">
                <a:solidFill>
                  <a:schemeClr val="tx1"/>
                </a:solidFill>
              </a:rPr>
              <a:t> 품질의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대량 발주 기반 </a:t>
            </a:r>
            <a:r>
              <a:rPr lang="en-US" altLang="ko-KR" sz="1000" dirty="0">
                <a:solidFill>
                  <a:schemeClr val="tx1"/>
                </a:solidFill>
              </a:rPr>
              <a:t>B2B </a:t>
            </a:r>
            <a:r>
              <a:rPr lang="ko-KR" altLang="en-US" sz="1000" dirty="0">
                <a:solidFill>
                  <a:schemeClr val="tx1"/>
                </a:solidFill>
              </a:rPr>
              <a:t>식자재 조달 수요 확대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400"/>
              </a:spcBef>
              <a:buFont typeface="Pretendard" panose="02000503000000020004" pitchFamily="50" charset="-127"/>
              <a:buChar char="→"/>
            </a:pPr>
            <a:r>
              <a:rPr lang="ko-KR" altLang="en-US" sz="1000" b="1" dirty="0">
                <a:solidFill>
                  <a:srgbClr val="1C8F57"/>
                </a:solidFill>
              </a:rPr>
              <a:t>대량 생산 및 품질관리 역량 보유 제조사의 구조적 시장기회 확대</a:t>
            </a:r>
            <a:endParaRPr lang="en-US" altLang="ko-KR" sz="1000" b="1" dirty="0">
              <a:solidFill>
                <a:srgbClr val="1C8F57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F33749-8E8E-9167-F2EA-1EC15A85FFBA}"/>
              </a:ext>
            </a:extLst>
          </p:cNvPr>
          <p:cNvSpPr/>
          <p:nvPr/>
        </p:nvSpPr>
        <p:spPr>
          <a:xfrm>
            <a:off x="5061000" y="3153000"/>
            <a:ext cx="4392000" cy="828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lang="en-US" altLang="ko-KR" sz="1000" b="1" dirty="0">
                <a:solidFill>
                  <a:schemeClr val="tx1"/>
                </a:solidFill>
              </a:rPr>
              <a:t>[Key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Demand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Driver]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K-</a:t>
            </a:r>
            <a:r>
              <a:rPr lang="ko-KR" altLang="en-US" sz="1000" b="1" dirty="0" err="1">
                <a:solidFill>
                  <a:schemeClr val="tx1"/>
                </a:solidFill>
              </a:rPr>
              <a:t>푸드의</a:t>
            </a:r>
            <a:r>
              <a:rPr lang="ko-KR" altLang="en-US" sz="1000" b="1" dirty="0">
                <a:solidFill>
                  <a:schemeClr val="tx1"/>
                </a:solidFill>
              </a:rPr>
              <a:t> 글로벌 확장에 따른 간접 수출시장의 성장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라면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김치 </a:t>
            </a:r>
            <a:r>
              <a:rPr lang="en-US" altLang="ko-KR" sz="1000" dirty="0">
                <a:solidFill>
                  <a:schemeClr val="tx1"/>
                </a:solidFill>
              </a:rPr>
              <a:t>· HMR </a:t>
            </a:r>
            <a:r>
              <a:rPr lang="ko-KR" altLang="en-US" sz="1000" dirty="0">
                <a:solidFill>
                  <a:schemeClr val="tx1"/>
                </a:solidFill>
              </a:rPr>
              <a:t>등 </a:t>
            </a:r>
            <a:r>
              <a:rPr lang="en-US" altLang="ko-KR" sz="1000" dirty="0">
                <a:solidFill>
                  <a:schemeClr val="tx1"/>
                </a:solidFill>
              </a:rPr>
              <a:t>K-</a:t>
            </a:r>
            <a:r>
              <a:rPr lang="ko-KR" altLang="en-US" sz="1000" dirty="0" err="1">
                <a:solidFill>
                  <a:schemeClr val="tx1"/>
                </a:solidFill>
              </a:rPr>
              <a:t>푸드</a:t>
            </a:r>
            <a:r>
              <a:rPr lang="ko-KR" altLang="en-US" sz="1000" dirty="0">
                <a:solidFill>
                  <a:schemeClr val="tx1"/>
                </a:solidFill>
              </a:rPr>
              <a:t> 수출 확대에 따른 핵심 원재료 수요 동반 성장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글로벌 품질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공급 대응 역량에 기반한 완제품 수출 연계 성장 가속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400"/>
              </a:spcBef>
              <a:buFont typeface="Pretendard" panose="02000503000000020004" pitchFamily="50" charset="-127"/>
              <a:buChar char="→"/>
            </a:pPr>
            <a:r>
              <a:rPr lang="ko-KR" altLang="en-US" sz="1000" b="1" dirty="0">
                <a:solidFill>
                  <a:srgbClr val="1C8F57"/>
                </a:solidFill>
              </a:rPr>
              <a:t>글로벌 납품 대응 역량 보유 제조사 중심 수요 집중 심화</a:t>
            </a:r>
            <a:endParaRPr lang="en-US" altLang="ko-KR" sz="1000" dirty="0">
              <a:solidFill>
                <a:srgbClr val="1C8F57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AB3E06-DB66-A9F2-F344-066A3C1ABA23}"/>
              </a:ext>
            </a:extLst>
          </p:cNvPr>
          <p:cNvSpPr/>
          <p:nvPr/>
        </p:nvSpPr>
        <p:spPr>
          <a:xfrm>
            <a:off x="5061000" y="5121950"/>
            <a:ext cx="4392000" cy="828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lang="en-US" altLang="ko-KR" sz="1000" b="1" dirty="0">
                <a:solidFill>
                  <a:schemeClr val="tx1"/>
                </a:solidFill>
              </a:rPr>
              <a:t>[Key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Supply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Driver]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B2B </a:t>
            </a:r>
            <a:r>
              <a:rPr lang="ko-KR" altLang="en-US" sz="1000" b="1" dirty="0">
                <a:solidFill>
                  <a:schemeClr val="tx1"/>
                </a:solidFill>
              </a:rPr>
              <a:t>수요 확대에 따른 스마트 제조 역량 중요성 증대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분절된 시장 구조 속 규모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인증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품질관리 역량 보유 상위 업체 제한적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스마트 </a:t>
            </a:r>
            <a:r>
              <a:rPr lang="en-US" altLang="ko-KR" sz="1000" dirty="0">
                <a:solidFill>
                  <a:schemeClr val="tx1"/>
                </a:solidFill>
              </a:rPr>
              <a:t>HACCP </a:t>
            </a:r>
            <a:r>
              <a:rPr lang="ko-KR" altLang="en-US" sz="1000" dirty="0">
                <a:solidFill>
                  <a:schemeClr val="tx1"/>
                </a:solidFill>
              </a:rPr>
              <a:t>등 고도화 인증이 대형 </a:t>
            </a:r>
            <a:r>
              <a:rPr lang="en-US" altLang="ko-KR" sz="1000" dirty="0">
                <a:solidFill>
                  <a:schemeClr val="tx1"/>
                </a:solidFill>
              </a:rPr>
              <a:t>B2B </a:t>
            </a:r>
            <a:r>
              <a:rPr lang="ko-KR" altLang="en-US" sz="1000" dirty="0">
                <a:solidFill>
                  <a:schemeClr val="tx1"/>
                </a:solidFill>
              </a:rPr>
              <a:t>납품의 핵심 진입요건화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400"/>
              </a:spcBef>
              <a:buFont typeface="Pretendard" panose="02000503000000020004" pitchFamily="50" charset="-127"/>
              <a:buChar char="→"/>
            </a:pPr>
            <a:r>
              <a:rPr lang="ko-KR" altLang="en-US" sz="1000" b="1" dirty="0">
                <a:solidFill>
                  <a:srgbClr val="1C8F57"/>
                </a:solidFill>
              </a:rPr>
              <a:t>규모 </a:t>
            </a:r>
            <a:r>
              <a:rPr lang="en-US" altLang="ko-KR" sz="1000" b="1" dirty="0">
                <a:solidFill>
                  <a:srgbClr val="1C8F57"/>
                </a:solidFill>
              </a:rPr>
              <a:t>· </a:t>
            </a:r>
            <a:r>
              <a:rPr lang="ko-KR" altLang="en-US" sz="1000" b="1" dirty="0">
                <a:solidFill>
                  <a:srgbClr val="1C8F57"/>
                </a:solidFill>
              </a:rPr>
              <a:t>인증 기반 상위 제조사 중심 국내 대형 </a:t>
            </a:r>
            <a:r>
              <a:rPr lang="en-US" altLang="ko-KR" sz="1000" b="1" dirty="0">
                <a:solidFill>
                  <a:srgbClr val="1C8F57"/>
                </a:solidFill>
              </a:rPr>
              <a:t>B2B </a:t>
            </a:r>
            <a:r>
              <a:rPr lang="ko-KR" altLang="en-US" sz="1000" b="1" dirty="0">
                <a:solidFill>
                  <a:srgbClr val="1C8F57"/>
                </a:solidFill>
              </a:rPr>
              <a:t>조달 구조 고착화</a:t>
            </a:r>
            <a:endParaRPr lang="en-US" altLang="ko-KR" sz="1000" dirty="0">
              <a:solidFill>
                <a:srgbClr val="1C8F57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D110876-F2A6-EEA9-3F79-F7DE3207B9A5}"/>
              </a:ext>
            </a:extLst>
          </p:cNvPr>
          <p:cNvSpPr/>
          <p:nvPr/>
        </p:nvSpPr>
        <p:spPr>
          <a:xfrm>
            <a:off x="5061000" y="4137475"/>
            <a:ext cx="4392000" cy="828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lang="en-US" altLang="ko-KR" sz="1000" b="1" dirty="0">
                <a:solidFill>
                  <a:schemeClr val="tx1"/>
                </a:solidFill>
              </a:rPr>
              <a:t>[Key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Supply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Driver]</a:t>
            </a:r>
            <a:r>
              <a:rPr lang="ko-KR" altLang="en-US" sz="1000" b="1" dirty="0">
                <a:solidFill>
                  <a:schemeClr val="tx1"/>
                </a:solidFill>
              </a:rPr>
              <a:t> 국산 </a:t>
            </a:r>
            <a:r>
              <a:rPr lang="ko-KR" altLang="en-US" sz="1000" b="1" dirty="0" err="1">
                <a:solidFill>
                  <a:schemeClr val="tx1"/>
                </a:solidFill>
              </a:rPr>
              <a:t>건고추</a:t>
            </a:r>
            <a:r>
              <a:rPr lang="ko-KR" altLang="en-US" sz="1000" b="1" dirty="0">
                <a:solidFill>
                  <a:schemeClr val="tx1"/>
                </a:solidFill>
              </a:rPr>
              <a:t> 생산량 감소에 따른 원재료 수급 중요성 증대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국산 </a:t>
            </a:r>
            <a:r>
              <a:rPr lang="ko-KR" altLang="en-US" sz="1000" dirty="0" err="1">
                <a:solidFill>
                  <a:schemeClr val="tx1"/>
                </a:solidFill>
              </a:rPr>
              <a:t>건고추</a:t>
            </a:r>
            <a:r>
              <a:rPr lang="ko-KR" altLang="en-US" sz="1000" dirty="0">
                <a:solidFill>
                  <a:schemeClr val="tx1"/>
                </a:solidFill>
              </a:rPr>
              <a:t> 재배면적 축소에 따른 원재료 공급 불안정성 지속 확대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수입 소싱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재고 운영 기반 원가 대응 역량의 전략적 중요성 부각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400"/>
              </a:spcBef>
              <a:buFont typeface="Pretendard" panose="02000503000000020004" pitchFamily="50" charset="-127"/>
              <a:buChar char="→"/>
            </a:pPr>
            <a:r>
              <a:rPr lang="ko-KR" altLang="en-US" sz="1000" b="1" dirty="0">
                <a:solidFill>
                  <a:srgbClr val="1C8F57"/>
                </a:solidFill>
              </a:rPr>
              <a:t>글로벌 소싱 및 원가 대응 역량을 갖춘 제조사 중심 수익성 격차 확대</a:t>
            </a:r>
            <a:endParaRPr lang="en-US" altLang="ko-KR" sz="1000" dirty="0">
              <a:solidFill>
                <a:srgbClr val="1C8F57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3BE9E3-BC21-1587-C9F0-BEAB13BEA78C}"/>
              </a:ext>
            </a:extLst>
          </p:cNvPr>
          <p:cNvSpPr txBox="1"/>
          <p:nvPr/>
        </p:nvSpPr>
        <p:spPr>
          <a:xfrm>
            <a:off x="4173291" y="1780991"/>
            <a:ext cx="671709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 err="1">
                <a:solidFill>
                  <a:schemeClr val="bg1"/>
                </a:solidFill>
              </a:rPr>
              <a:t>십억원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571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5DE65-6557-5F70-A154-9F0D2744F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670CF1D-1E59-147F-4052-3D18EE0A04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Key Demand Driver - (1) </a:t>
            </a:r>
            <a:r>
              <a:rPr lang="ko-KR" altLang="en-US" dirty="0"/>
              <a:t>급식 </a:t>
            </a:r>
            <a:r>
              <a:rPr lang="en-US" altLang="ko-KR" dirty="0"/>
              <a:t>· </a:t>
            </a:r>
            <a:r>
              <a:rPr lang="ko-KR" altLang="en-US" dirty="0"/>
              <a:t>외식산업의 기업화 · 대형화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B4F2FB-B1D9-ABA3-F8F9-6607D87E6E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‘</a:t>
            </a:r>
            <a:r>
              <a:rPr lang="ko-KR" altLang="en-US" dirty="0"/>
              <a:t>서비스업조사</a:t>
            </a:r>
            <a:r>
              <a:rPr lang="en-US" altLang="ko-KR" dirty="0"/>
              <a:t>‘ </a:t>
            </a:r>
            <a:r>
              <a:rPr lang="ko-KR" altLang="en-US" dirty="0"/>
              <a:t>및 </a:t>
            </a:r>
            <a:r>
              <a:rPr lang="en-US" altLang="ko-KR" dirty="0"/>
              <a:t>‘</a:t>
            </a:r>
            <a:r>
              <a:rPr lang="ko-KR" altLang="en-US" dirty="0"/>
              <a:t>프랜차이즈통계</a:t>
            </a:r>
            <a:r>
              <a:rPr lang="en-US" altLang="ko-KR" dirty="0"/>
              <a:t>‘, </a:t>
            </a:r>
            <a:r>
              <a:rPr lang="ko-KR" altLang="en-US" dirty="0"/>
              <a:t>국가데이터처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83151F-36F7-9A28-0EF2-4367770991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FC88B9-B005-6DEC-B728-C8C985096C5E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국내 외식산업 업종 및 운영형태별 매출액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53C1A8-7218-2675-EBA4-218109CA341A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외식산업의 기업화 </a:t>
            </a:r>
            <a:r>
              <a:rPr lang="en-US" altLang="ko-KR" sz="1200" b="1" dirty="0">
                <a:solidFill>
                  <a:schemeClr val="bg1"/>
                </a:solidFill>
              </a:rPr>
              <a:t>· </a:t>
            </a:r>
            <a:r>
              <a:rPr lang="ko-KR" altLang="en-US" sz="1200" b="1" dirty="0">
                <a:solidFill>
                  <a:schemeClr val="bg1"/>
                </a:solidFill>
              </a:rPr>
              <a:t>대형화에 따른 </a:t>
            </a:r>
            <a:r>
              <a:rPr lang="en-US" altLang="ko-KR" sz="1200" b="1" dirty="0">
                <a:solidFill>
                  <a:schemeClr val="bg1"/>
                </a:solidFill>
              </a:rPr>
              <a:t>B2B </a:t>
            </a:r>
            <a:r>
              <a:rPr lang="ko-KR" altLang="en-US" sz="1200" b="1" dirty="0">
                <a:solidFill>
                  <a:schemeClr val="bg1"/>
                </a:solidFill>
              </a:rPr>
              <a:t>중심의 식자재 수급 확대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36DCE5-B4CF-61DA-6B2A-84D3F4CECBD1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국내 외식산업은 대형 프랜차이즈 및 위탁급식 중심으로 빠르게 재편되고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이에 따라 식자재 조달의 표준화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대량화 및 안정공급 중요성이 높아지고 있어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대량 생산 및 품질관리 역량을 보유한 식자재 제조사의 구조적 성장기회가 확대되고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3151D40B-33E7-933B-8BBC-330D6B155D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0744170"/>
              </p:ext>
            </p:extLst>
          </p:nvPr>
        </p:nvGraphicFramePr>
        <p:xfrm>
          <a:off x="453000" y="2168523"/>
          <a:ext cx="4392000" cy="38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F47C77A-A131-597A-AFD7-5FCBA6C42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259186"/>
              </p:ext>
            </p:extLst>
          </p:nvPr>
        </p:nvGraphicFramePr>
        <p:xfrm>
          <a:off x="453000" y="2168525"/>
          <a:ext cx="144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9297342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85731211"/>
                    </a:ext>
                  </a:extLst>
                </a:gridCol>
              </a:tblGrid>
              <a:tr h="252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연평균 성장률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</a:rPr>
                        <a:t>(CAGR)</a:t>
                      </a:r>
                      <a:endParaRPr lang="ko-KR" altLang="en-US" sz="800" b="0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04672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외식업 전체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+8.3%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67861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위탁급식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+8.8%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92901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프랜차이즈</a:t>
                      </a: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+17.0%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9907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일반음식점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+4.7%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060163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2D8B0833-BEC8-F947-5B24-3B5D57B10611}"/>
              </a:ext>
            </a:extLst>
          </p:cNvPr>
          <p:cNvSpPr/>
          <p:nvPr/>
        </p:nvSpPr>
        <p:spPr>
          <a:xfrm>
            <a:off x="5061000" y="2168525"/>
            <a:ext cx="4392000" cy="1296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대형 프랜차이즈 브랜드 중심의 외식산업 지형 변화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자영업 경쟁 심화 및 </a:t>
            </a:r>
            <a:r>
              <a:rPr lang="ko-KR" altLang="en-US" sz="1000" dirty="0" err="1">
                <a:solidFill>
                  <a:schemeClr val="tx1"/>
                </a:solidFill>
              </a:rPr>
              <a:t>폐업률</a:t>
            </a:r>
            <a:r>
              <a:rPr lang="ko-KR" altLang="en-US" sz="1000" dirty="0">
                <a:solidFill>
                  <a:schemeClr val="tx1"/>
                </a:solidFill>
              </a:rPr>
              <a:t> 상승으로 시스템 기반 프랜차이즈 중심 시장 재편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개별 매장 운영한계 극복을 위한 표준화된 운영모델 기반 창업 선호도 증가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브랜드 품질 </a:t>
            </a:r>
            <a:r>
              <a:rPr lang="ko-KR" altLang="en-US" sz="1000" dirty="0" err="1">
                <a:solidFill>
                  <a:schemeClr val="tx1"/>
                </a:solidFill>
              </a:rPr>
              <a:t>균일성</a:t>
            </a:r>
            <a:r>
              <a:rPr lang="ko-KR" altLang="en-US" sz="1000" dirty="0">
                <a:solidFill>
                  <a:schemeClr val="tx1"/>
                </a:solidFill>
              </a:rPr>
              <a:t> 확보를 위한 표준화 식자재 대량 조달 구조 확산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가공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 err="1">
                <a:solidFill>
                  <a:schemeClr val="tx1"/>
                </a:solidFill>
              </a:rPr>
              <a:t>블렌딩</a:t>
            </a:r>
            <a:r>
              <a:rPr lang="ko-KR" altLang="en-US" sz="1000" dirty="0">
                <a:solidFill>
                  <a:schemeClr val="tx1"/>
                </a:solidFill>
              </a:rPr>
              <a:t> 및 품질관리 역량을 갖춘 공급사 중심으로 조달 집중 심화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63E533D-CB4F-73DA-1224-56E6EBB977DD}"/>
              </a:ext>
            </a:extLst>
          </p:cNvPr>
          <p:cNvSpPr/>
          <p:nvPr/>
        </p:nvSpPr>
        <p:spPr>
          <a:xfrm>
            <a:off x="5061000" y="3573950"/>
            <a:ext cx="4392000" cy="1296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 err="1">
                <a:solidFill>
                  <a:schemeClr val="tx1"/>
                </a:solidFill>
              </a:rPr>
              <a:t>런치플레이션에</a:t>
            </a:r>
            <a:r>
              <a:rPr lang="ko-KR" altLang="en-US" sz="1000" b="1" dirty="0">
                <a:solidFill>
                  <a:schemeClr val="tx1"/>
                </a:solidFill>
              </a:rPr>
              <a:t> 따른 단체급식 시장 성장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외식물가 상승 지속에 따라 기업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학교 등 단체급식 이용수요 증가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비용 효율적 식사 대안으로서 구내식당 및 단체급식 선택 확대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대량조리 환경 확산에 따른 합리적 단가의 대용량 식자재 수요 증가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제한된 예산 및 인력 구조 하에서 </a:t>
            </a:r>
            <a:r>
              <a:rPr lang="ko-KR" altLang="en-US" sz="1000" dirty="0" err="1">
                <a:solidFill>
                  <a:schemeClr val="tx1"/>
                </a:solidFill>
              </a:rPr>
              <a:t>전처리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가공 식자재 의존도 상승 및 공급사 집중도 강화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74D700-497F-AF3E-4CEB-0E210A9B537A}"/>
              </a:ext>
            </a:extLst>
          </p:cNvPr>
          <p:cNvSpPr/>
          <p:nvPr/>
        </p:nvSpPr>
        <p:spPr>
          <a:xfrm>
            <a:off x="5061000" y="5157950"/>
            <a:ext cx="4392000" cy="792000"/>
          </a:xfrm>
          <a:prstGeom prst="rect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en-US" altLang="ko-KR" sz="1000" b="1" dirty="0">
                <a:solidFill>
                  <a:schemeClr val="bg1"/>
                </a:solidFill>
              </a:rPr>
              <a:t>Market Winning Factor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안정적인 대량 생산 </a:t>
            </a:r>
            <a:r>
              <a:rPr lang="en-US" altLang="ko-KR" sz="1000" b="1" dirty="0">
                <a:solidFill>
                  <a:schemeClr val="bg1"/>
                </a:solidFill>
              </a:rPr>
              <a:t>·</a:t>
            </a:r>
            <a:r>
              <a:rPr lang="ko-KR" altLang="en-US" sz="1000" b="1" dirty="0">
                <a:solidFill>
                  <a:schemeClr val="bg1"/>
                </a:solidFill>
              </a:rPr>
              <a:t> 공급 및 품질관리 역량을 갖춘 식자재 제조사의 중요성 확대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b="1" dirty="0">
                <a:solidFill>
                  <a:schemeClr val="bg1"/>
                </a:solidFill>
              </a:rPr>
              <a:t>B2B </a:t>
            </a:r>
            <a:r>
              <a:rPr lang="ko-KR" altLang="en-US" sz="1000" b="1" dirty="0">
                <a:solidFill>
                  <a:schemeClr val="bg1"/>
                </a:solidFill>
              </a:rPr>
              <a:t>고객 기반을 확보한 제조사 중심의 지속적 대량 발주 및 수요 집중 구조 형성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1264908F-6436-6457-13BE-DD6BD8BE9D91}"/>
              </a:ext>
            </a:extLst>
          </p:cNvPr>
          <p:cNvSpPr/>
          <p:nvPr/>
        </p:nvSpPr>
        <p:spPr>
          <a:xfrm rot="10800000">
            <a:off x="6356999" y="4941950"/>
            <a:ext cx="1800000" cy="144000"/>
          </a:xfrm>
          <a:prstGeom prst="triangle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6174CB-71E2-2E31-760B-3F60D46E3930}"/>
              </a:ext>
            </a:extLst>
          </p:cNvPr>
          <p:cNvSpPr txBox="1"/>
          <p:nvPr/>
        </p:nvSpPr>
        <p:spPr>
          <a:xfrm>
            <a:off x="4261456" y="1780991"/>
            <a:ext cx="583544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>
                <a:solidFill>
                  <a:schemeClr val="bg1"/>
                </a:solidFill>
              </a:rPr>
              <a:t>조원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87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27479-7A23-4896-03E3-2BBCAD07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03F4327-41C5-7A4B-CAB2-CA149C8A18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Key Demand Driver - (2) </a:t>
            </a:r>
            <a:r>
              <a:rPr lang="ko-KR" altLang="en-US" dirty="0"/>
              <a:t>글로벌 </a:t>
            </a:r>
            <a:r>
              <a:rPr lang="en-US" altLang="ko-KR" dirty="0"/>
              <a:t>K-</a:t>
            </a:r>
            <a:r>
              <a:rPr lang="ko-KR" altLang="en-US" dirty="0" err="1"/>
              <a:t>푸드</a:t>
            </a:r>
            <a:r>
              <a:rPr lang="ko-KR" altLang="en-US" dirty="0"/>
              <a:t> 수요 증대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8D6638-7E2A-1172-C047-2033D31E80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‘</a:t>
            </a:r>
            <a:r>
              <a:rPr lang="ko-KR" altLang="en-US" dirty="0"/>
              <a:t>식품 및 식품첨가물 생산실적</a:t>
            </a:r>
            <a:r>
              <a:rPr lang="en-US" altLang="ko-KR" dirty="0"/>
              <a:t>‘, </a:t>
            </a:r>
            <a:r>
              <a:rPr lang="ko-KR" altLang="en-US" dirty="0"/>
              <a:t>식품의약품안전처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3BBD87-DF76-5989-D048-E9E3783C345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D296F9-97CB-7497-6C00-078BE6C33EF4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국내 생산 주요 식품 수출 판매액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343470-BC2B-AD48-AEEE-C86DA6002460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K-</a:t>
            </a:r>
            <a:r>
              <a:rPr lang="ko-KR" altLang="en-US" sz="1200" b="1" dirty="0" err="1">
                <a:solidFill>
                  <a:schemeClr val="bg1"/>
                </a:solidFill>
              </a:rPr>
              <a:t>푸드</a:t>
            </a:r>
            <a:r>
              <a:rPr lang="ko-KR" altLang="en-US" sz="1200" b="1" dirty="0">
                <a:solidFill>
                  <a:schemeClr val="bg1"/>
                </a:solidFill>
              </a:rPr>
              <a:t> 수출 확대에 따른 간접 수출기회 확대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68AB7B-B389-9DB2-9868-D766F5AABD48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글로벌 </a:t>
            </a:r>
            <a:r>
              <a:rPr lang="en-US" altLang="ko-KR" sz="1400" b="1" dirty="0">
                <a:solidFill>
                  <a:srgbClr val="3D3D3D"/>
                </a:solidFill>
              </a:rPr>
              <a:t>K-</a:t>
            </a:r>
            <a:r>
              <a:rPr lang="ko-KR" altLang="en-US" sz="1400" b="1" dirty="0" err="1">
                <a:solidFill>
                  <a:srgbClr val="3D3D3D"/>
                </a:solidFill>
              </a:rPr>
              <a:t>푸드</a:t>
            </a:r>
            <a:r>
              <a:rPr lang="ko-KR" altLang="en-US" sz="1400" b="1" dirty="0">
                <a:solidFill>
                  <a:srgbClr val="3D3D3D"/>
                </a:solidFill>
              </a:rPr>
              <a:t> 수요 확대에 따라 라면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김치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즉석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편의식품 등 가공식품 수출이 빠르게 증가하고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이에 따라 고춧가루 등 핵심 원재료 식자재의 안정적 공급 역량이 식품산업 경쟁력의 주요 요소로 부각되고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DF95CBBE-D6BD-EC41-D8CF-3B73CBA12C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610887"/>
              </p:ext>
            </p:extLst>
          </p:nvPr>
        </p:nvGraphicFramePr>
        <p:xfrm>
          <a:off x="453000" y="2168525"/>
          <a:ext cx="4392000" cy="38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CE08CF-C181-9CBA-C1F0-1E2C785DDA56}"/>
              </a:ext>
            </a:extLst>
          </p:cNvPr>
          <p:cNvSpPr/>
          <p:nvPr/>
        </p:nvSpPr>
        <p:spPr>
          <a:xfrm>
            <a:off x="5061000" y="2168525"/>
            <a:ext cx="4392000" cy="1296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en-US" altLang="ko-KR" sz="1000" b="1" dirty="0">
                <a:solidFill>
                  <a:schemeClr val="tx1"/>
                </a:solidFill>
              </a:rPr>
              <a:t>K-</a:t>
            </a:r>
            <a:r>
              <a:rPr lang="ko-KR" altLang="en-US" sz="1000" b="1" dirty="0" err="1">
                <a:solidFill>
                  <a:schemeClr val="tx1"/>
                </a:solidFill>
              </a:rPr>
              <a:t>푸드</a:t>
            </a:r>
            <a:r>
              <a:rPr lang="ko-KR" altLang="en-US" sz="1000" b="1" dirty="0">
                <a:solidFill>
                  <a:schemeClr val="tx1"/>
                </a:solidFill>
              </a:rPr>
              <a:t> 수출 확대에 따른 핵심 식자재 수요 동반 성장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라면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김치</a:t>
            </a:r>
            <a:r>
              <a:rPr lang="en-US" altLang="ko-KR" sz="1000" dirty="0">
                <a:solidFill>
                  <a:schemeClr val="tx1"/>
                </a:solidFill>
              </a:rPr>
              <a:t>, HMR </a:t>
            </a:r>
            <a:r>
              <a:rPr lang="ko-KR" altLang="en-US" sz="1000" dirty="0">
                <a:solidFill>
                  <a:schemeClr val="tx1"/>
                </a:solidFill>
              </a:rPr>
              <a:t>등 주요 </a:t>
            </a:r>
            <a:r>
              <a:rPr lang="en-US" altLang="ko-KR" sz="1000" dirty="0">
                <a:solidFill>
                  <a:schemeClr val="tx1"/>
                </a:solidFill>
              </a:rPr>
              <a:t>K-</a:t>
            </a:r>
            <a:r>
              <a:rPr lang="ko-KR" altLang="en-US" sz="1000" dirty="0" err="1">
                <a:solidFill>
                  <a:schemeClr val="tx1"/>
                </a:solidFill>
              </a:rPr>
              <a:t>푸드의</a:t>
            </a:r>
            <a:r>
              <a:rPr lang="ko-KR" altLang="en-US" sz="1000" dirty="0">
                <a:solidFill>
                  <a:schemeClr val="tx1"/>
                </a:solidFill>
              </a:rPr>
              <a:t> 글로벌 수요 증가에 따른 수출 확대 지속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해외 생산 및 현지화 확대에도 불구하고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핵심 원재료의 국내 공급 의존 구조 유지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가공식품 품질 경쟁력 확보를 위한 표준화된 원재료 식자재 수요 증가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레시피 일관성 및 글로벌 위생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품질기준 충족을 위해 안정적인 생산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공급 역량을 갖춘 식자재 제조사 중요성 부각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FC2E44-3055-5183-0230-A117027489BB}"/>
              </a:ext>
            </a:extLst>
          </p:cNvPr>
          <p:cNvSpPr/>
          <p:nvPr/>
        </p:nvSpPr>
        <p:spPr>
          <a:xfrm>
            <a:off x="5061000" y="3573950"/>
            <a:ext cx="4392000" cy="1296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en-US" altLang="ko-KR" sz="1000" b="1" dirty="0">
                <a:solidFill>
                  <a:schemeClr val="tx1"/>
                </a:solidFill>
              </a:rPr>
              <a:t>K-</a:t>
            </a:r>
            <a:r>
              <a:rPr lang="ko-KR" altLang="en-US" sz="1000" b="1" dirty="0" err="1">
                <a:solidFill>
                  <a:schemeClr val="tx1"/>
                </a:solidFill>
              </a:rPr>
              <a:t>푸드</a:t>
            </a:r>
            <a:r>
              <a:rPr lang="ko-KR" altLang="en-US" sz="1000" b="1" dirty="0">
                <a:solidFill>
                  <a:schemeClr val="tx1"/>
                </a:solidFill>
              </a:rPr>
              <a:t> 핵심 원재료로서 고춧가루의 전략적 중요성 확대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고춧가루는 김치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소스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양념 등 다양한 </a:t>
            </a:r>
            <a:r>
              <a:rPr lang="en-US" altLang="ko-KR" sz="1000" dirty="0">
                <a:solidFill>
                  <a:schemeClr val="tx1"/>
                </a:solidFill>
              </a:rPr>
              <a:t>K-</a:t>
            </a:r>
            <a:r>
              <a:rPr lang="ko-KR" altLang="en-US" sz="1000" dirty="0" err="1">
                <a:solidFill>
                  <a:schemeClr val="tx1"/>
                </a:solidFill>
              </a:rPr>
              <a:t>푸드</a:t>
            </a:r>
            <a:r>
              <a:rPr lang="ko-KR" altLang="en-US" sz="1000" dirty="0">
                <a:solidFill>
                  <a:schemeClr val="tx1"/>
                </a:solidFill>
              </a:rPr>
              <a:t> 제품군에 활용되는 대표 향신료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완제품 수출 증가에 따라 </a:t>
            </a:r>
            <a:r>
              <a:rPr lang="en-US" altLang="ko-KR" sz="1000" dirty="0">
                <a:solidFill>
                  <a:schemeClr val="tx1"/>
                </a:solidFill>
              </a:rPr>
              <a:t>B2B </a:t>
            </a:r>
            <a:r>
              <a:rPr lang="ko-KR" altLang="en-US" sz="1000" dirty="0">
                <a:solidFill>
                  <a:schemeClr val="tx1"/>
                </a:solidFill>
              </a:rPr>
              <a:t>원재료 수요의 구조적인 동반 확대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품질 </a:t>
            </a:r>
            <a:r>
              <a:rPr lang="ko-KR" altLang="en-US" sz="1000" dirty="0" err="1">
                <a:solidFill>
                  <a:schemeClr val="tx1"/>
                </a:solidFill>
              </a:rPr>
              <a:t>균일성</a:t>
            </a:r>
            <a:r>
              <a:rPr lang="ko-KR" altLang="en-US" sz="1000" dirty="0">
                <a:solidFill>
                  <a:schemeClr val="tx1"/>
                </a:solidFill>
              </a:rPr>
              <a:t> 및 대량공급 안정성이 요구되는 산업 특성상 제조 역량을 갖춘 공급사 중심의 조달 구조 형성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글로벌 식품 안전 기준 대응을 위한 위생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품질관리 체계 중요성 지속 상승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277B7A1-5273-81DB-C109-EB7958F164BA}"/>
              </a:ext>
            </a:extLst>
          </p:cNvPr>
          <p:cNvSpPr/>
          <p:nvPr/>
        </p:nvSpPr>
        <p:spPr>
          <a:xfrm>
            <a:off x="5061000" y="5157950"/>
            <a:ext cx="4392000" cy="792000"/>
          </a:xfrm>
          <a:prstGeom prst="rect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en-US" altLang="ko-KR" sz="1000" b="1" dirty="0">
                <a:solidFill>
                  <a:schemeClr val="bg1"/>
                </a:solidFill>
              </a:rPr>
              <a:t>Market Winning Factor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b="1" dirty="0">
                <a:solidFill>
                  <a:schemeClr val="bg1"/>
                </a:solidFill>
              </a:rPr>
              <a:t>K-</a:t>
            </a:r>
            <a:r>
              <a:rPr lang="ko-KR" altLang="en-US" sz="1000" b="1" dirty="0" err="1">
                <a:solidFill>
                  <a:schemeClr val="bg1"/>
                </a:solidFill>
              </a:rPr>
              <a:t>푸드</a:t>
            </a:r>
            <a:r>
              <a:rPr lang="ko-KR" altLang="en-US" sz="1000" b="1" dirty="0">
                <a:solidFill>
                  <a:schemeClr val="bg1"/>
                </a:solidFill>
              </a:rPr>
              <a:t> 수출과 연동된 핵심 원재료 식자재인 고춧가루 수요의 구조적 성장 지속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품질 </a:t>
            </a:r>
            <a:r>
              <a:rPr lang="en-US" altLang="ko-KR" sz="1000" b="1" dirty="0">
                <a:solidFill>
                  <a:schemeClr val="bg1"/>
                </a:solidFill>
              </a:rPr>
              <a:t>· </a:t>
            </a:r>
            <a:r>
              <a:rPr lang="ko-KR" altLang="en-US" sz="1000" b="1" dirty="0">
                <a:solidFill>
                  <a:schemeClr val="bg1"/>
                </a:solidFill>
              </a:rPr>
              <a:t>식품안전 </a:t>
            </a:r>
            <a:r>
              <a:rPr lang="en-US" altLang="ko-KR" sz="1000" b="1" dirty="0">
                <a:solidFill>
                  <a:schemeClr val="bg1"/>
                </a:solidFill>
              </a:rPr>
              <a:t>· </a:t>
            </a:r>
            <a:r>
              <a:rPr lang="ko-KR" altLang="en-US" sz="1000" b="1" dirty="0">
                <a:solidFill>
                  <a:schemeClr val="bg1"/>
                </a:solidFill>
              </a:rPr>
              <a:t>공급안정성을 충족하는 제조사 중심으로 수요 집중 심화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14643533-EE7A-9BE1-6E73-2D6F207C92BD}"/>
              </a:ext>
            </a:extLst>
          </p:cNvPr>
          <p:cNvSpPr/>
          <p:nvPr/>
        </p:nvSpPr>
        <p:spPr>
          <a:xfrm rot="10800000">
            <a:off x="6356999" y="4941950"/>
            <a:ext cx="1800000" cy="144000"/>
          </a:xfrm>
          <a:prstGeom prst="triangle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405BA1-7819-4124-F5CF-47DF23E8D085}"/>
              </a:ext>
            </a:extLst>
          </p:cNvPr>
          <p:cNvSpPr txBox="1"/>
          <p:nvPr/>
        </p:nvSpPr>
        <p:spPr>
          <a:xfrm>
            <a:off x="4085125" y="1780991"/>
            <a:ext cx="759875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>
                <a:solidFill>
                  <a:schemeClr val="bg1"/>
                </a:solidFill>
              </a:rPr>
              <a:t>백만달러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162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3B4DF-1205-99BB-EE15-93074E910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DED10C1-1E5E-598B-C9BA-0FFC8DBEB1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Key Supply Driver </a:t>
            </a:r>
            <a:r>
              <a:rPr lang="en-US" altLang="ko-KR"/>
              <a:t>- (1) </a:t>
            </a:r>
            <a:r>
              <a:rPr lang="ko-KR" altLang="en-US" dirty="0"/>
              <a:t>국산 </a:t>
            </a:r>
            <a:r>
              <a:rPr lang="ko-KR" altLang="en-US" dirty="0" err="1"/>
              <a:t>건고추</a:t>
            </a:r>
            <a:r>
              <a:rPr lang="ko-KR" altLang="en-US" dirty="0"/>
              <a:t> 공급 감소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D71F13-54E5-75EA-4296-6C68E14685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농작물생산조사</a:t>
            </a:r>
            <a:r>
              <a:rPr lang="en-US" altLang="ko-KR" dirty="0"/>
              <a:t>‘, </a:t>
            </a:r>
            <a:r>
              <a:rPr lang="ko-KR" altLang="en-US" dirty="0"/>
              <a:t>국가데이터처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84D4F3-024F-7039-7C22-35E7CAFBA8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592B19-DDCD-68AF-E18D-BBF8A5BB89A3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국산 </a:t>
            </a:r>
            <a:r>
              <a:rPr lang="ko-KR" altLang="en-US" sz="1200" b="1" dirty="0" err="1">
                <a:solidFill>
                  <a:schemeClr val="bg1"/>
                </a:solidFill>
              </a:rPr>
              <a:t>건고추</a:t>
            </a:r>
            <a:r>
              <a:rPr lang="ko-KR" altLang="en-US" sz="1200" b="1" dirty="0">
                <a:solidFill>
                  <a:schemeClr val="bg1"/>
                </a:solidFill>
              </a:rPr>
              <a:t> 재배면적 및 생산량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788C1A6-1C16-8535-A1C5-5B2C19C8ADEE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국내 </a:t>
            </a:r>
            <a:r>
              <a:rPr lang="ko-KR" altLang="en-US" sz="1200" b="1" dirty="0" err="1">
                <a:solidFill>
                  <a:schemeClr val="bg1"/>
                </a:solidFill>
              </a:rPr>
              <a:t>건고추</a:t>
            </a:r>
            <a:r>
              <a:rPr lang="ko-KR" altLang="en-US" sz="1200" b="1" dirty="0">
                <a:solidFill>
                  <a:schemeClr val="bg1"/>
                </a:solidFill>
              </a:rPr>
              <a:t> 공급 감소에 따른 안정적 원재료 조달 중요성 확대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97525-A326-F7EB-5F12-8D74C3B1AB1E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국내 </a:t>
            </a:r>
            <a:r>
              <a:rPr lang="ko-KR" altLang="en-US" sz="1400" b="1" dirty="0" err="1">
                <a:solidFill>
                  <a:srgbClr val="3D3D3D"/>
                </a:solidFill>
              </a:rPr>
              <a:t>건고추</a:t>
            </a:r>
            <a:r>
              <a:rPr lang="ko-KR" altLang="en-US" sz="1400" b="1" dirty="0">
                <a:solidFill>
                  <a:srgbClr val="3D3D3D"/>
                </a:solidFill>
              </a:rPr>
              <a:t> 재배면적 축소로 국산 원재료의 가격 변동성이 심화되고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이에 따라 고춧가루 제조사의 안정적 원재료 조달 능력과 수입 원재료 소싱 기반의 원가 대응 역량이 핵심 경쟁요소로 부각되고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5C9E289F-0015-5793-4188-D9D178258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1038216"/>
              </p:ext>
            </p:extLst>
          </p:nvPr>
        </p:nvGraphicFramePr>
        <p:xfrm>
          <a:off x="453000" y="2168523"/>
          <a:ext cx="4392000" cy="38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2BB360-4398-A55F-BD7B-F724CA0F73D2}"/>
              </a:ext>
            </a:extLst>
          </p:cNvPr>
          <p:cNvSpPr/>
          <p:nvPr/>
        </p:nvSpPr>
        <p:spPr>
          <a:xfrm>
            <a:off x="5061000" y="2168525"/>
            <a:ext cx="4392000" cy="1296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국산 </a:t>
            </a:r>
            <a:r>
              <a:rPr lang="ko-KR" altLang="en-US" sz="1000" b="1" dirty="0" err="1">
                <a:solidFill>
                  <a:schemeClr val="tx1"/>
                </a:solidFill>
              </a:rPr>
              <a:t>건고추</a:t>
            </a:r>
            <a:r>
              <a:rPr lang="ko-KR" altLang="en-US" sz="1000" b="1" dirty="0">
                <a:solidFill>
                  <a:schemeClr val="tx1"/>
                </a:solidFill>
              </a:rPr>
              <a:t> 공급 구조 약화에 따른 원재료 조달 중요성 확대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농가 고령화 및 원가 상승 영향으로 국내 </a:t>
            </a:r>
            <a:r>
              <a:rPr lang="ko-KR" altLang="en-US" sz="1000" dirty="0" err="1">
                <a:solidFill>
                  <a:schemeClr val="tx1"/>
                </a:solidFill>
              </a:rPr>
              <a:t>건고추</a:t>
            </a:r>
            <a:r>
              <a:rPr lang="ko-KR" altLang="en-US" sz="1000" dirty="0">
                <a:solidFill>
                  <a:schemeClr val="tx1"/>
                </a:solidFill>
              </a:rPr>
              <a:t> 재배면적은 구조적 감소 지속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기계화 한계와 인건비 비중 상승으로 국내 생산 기반의 장기적 축소 추세 고착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작황 변동성 확대에 따른 원재료 가격 변동성 심화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수급 불균형 발생 시 도매가격 급등락 반복으로 제조사의 </a:t>
            </a:r>
            <a:r>
              <a:rPr lang="ko-KR" altLang="en-US" sz="1000" dirty="0" err="1">
                <a:solidFill>
                  <a:schemeClr val="tx1"/>
                </a:solidFill>
              </a:rPr>
              <a:t>선제적</a:t>
            </a:r>
            <a:r>
              <a:rPr lang="ko-KR" altLang="en-US" sz="1000" dirty="0">
                <a:solidFill>
                  <a:schemeClr val="tx1"/>
                </a:solidFill>
              </a:rPr>
              <a:t> 원재료 확보 및 재고 운영 역량 중요성 증대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E39510-B575-E7C3-7F6D-9359A4E56080}"/>
              </a:ext>
            </a:extLst>
          </p:cNvPr>
          <p:cNvSpPr/>
          <p:nvPr/>
        </p:nvSpPr>
        <p:spPr>
          <a:xfrm>
            <a:off x="5061000" y="3573950"/>
            <a:ext cx="4392000" cy="1296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수입 원재료 활용 확대와 글로벌 </a:t>
            </a:r>
            <a:r>
              <a:rPr lang="ko-KR" altLang="en-US" sz="1000" b="1" dirty="0" err="1">
                <a:solidFill>
                  <a:schemeClr val="tx1"/>
                </a:solidFill>
              </a:rPr>
              <a:t>소싱역량의</a:t>
            </a:r>
            <a:r>
              <a:rPr lang="ko-KR" altLang="en-US" sz="1000" b="1" dirty="0">
                <a:solidFill>
                  <a:schemeClr val="tx1"/>
                </a:solidFill>
              </a:rPr>
              <a:t> 전략적 중요성 부각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국내 공급 부족 심화로 수입 원재료 비중 구조적 확대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높은 관세의 </a:t>
            </a:r>
            <a:r>
              <a:rPr lang="ko-KR" altLang="en-US" sz="1000" dirty="0" err="1">
                <a:solidFill>
                  <a:schemeClr val="tx1"/>
                </a:solidFill>
              </a:rPr>
              <a:t>건고추</a:t>
            </a:r>
            <a:r>
              <a:rPr lang="ko-KR" altLang="en-US" sz="1000" dirty="0">
                <a:solidFill>
                  <a:schemeClr val="tx1"/>
                </a:solidFill>
              </a:rPr>
              <a:t> 대비 중국산 냉동고추 중심의 수입 구조 정착</a:t>
            </a: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대량 수요처의 원가 대응 과정에서 수입산 활용의 상시화 진행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원산지 믹스 및 조달 전략을 통한 원가 안정화 역량 차별화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글로벌 소싱 역량을 보유한 제조사 중심으로 시장 경쟁력 재편 가속화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00306D-A521-67F3-05BE-8EEBF5EFFABF}"/>
              </a:ext>
            </a:extLst>
          </p:cNvPr>
          <p:cNvSpPr/>
          <p:nvPr/>
        </p:nvSpPr>
        <p:spPr>
          <a:xfrm>
            <a:off x="5061000" y="5157950"/>
            <a:ext cx="4392000" cy="792000"/>
          </a:xfrm>
          <a:prstGeom prst="rect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en-US" altLang="ko-KR" sz="1000" b="1" dirty="0">
                <a:solidFill>
                  <a:schemeClr val="bg1"/>
                </a:solidFill>
              </a:rPr>
              <a:t>Market Winning Factor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국내 </a:t>
            </a:r>
            <a:r>
              <a:rPr lang="ko-KR" altLang="en-US" sz="1000" b="1" dirty="0" err="1">
                <a:solidFill>
                  <a:schemeClr val="bg1"/>
                </a:solidFill>
              </a:rPr>
              <a:t>건고추</a:t>
            </a:r>
            <a:r>
              <a:rPr lang="ko-KR" altLang="en-US" sz="1000" b="1" dirty="0">
                <a:solidFill>
                  <a:schemeClr val="bg1"/>
                </a:solidFill>
              </a:rPr>
              <a:t> 공급 감소에 따라 안정적 원재료 조달 및 재고 운영 역량 중요성 증대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글로벌 소싱 통해 원가 대응 가능한 제조사 중심으로 시장 경쟁력 및 수익성 격차 확대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19A291E2-8D4E-0724-FC2E-160401A2679C}"/>
              </a:ext>
            </a:extLst>
          </p:cNvPr>
          <p:cNvSpPr/>
          <p:nvPr/>
        </p:nvSpPr>
        <p:spPr>
          <a:xfrm rot="10800000">
            <a:off x="6356999" y="4941950"/>
            <a:ext cx="1800000" cy="144000"/>
          </a:xfrm>
          <a:prstGeom prst="triangle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D20688-FA21-89FC-9FE8-69D1717E7F8E}"/>
              </a:ext>
            </a:extLst>
          </p:cNvPr>
          <p:cNvSpPr txBox="1"/>
          <p:nvPr/>
        </p:nvSpPr>
        <p:spPr>
          <a:xfrm>
            <a:off x="3855896" y="1780991"/>
            <a:ext cx="989104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>
                <a:solidFill>
                  <a:schemeClr val="bg1"/>
                </a:solidFill>
              </a:rPr>
              <a:t>헥타르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 err="1">
                <a:solidFill>
                  <a:schemeClr val="bg1"/>
                </a:solidFill>
              </a:rPr>
              <a:t>백만톤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737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5D6D9-84F8-6801-9E10-789F48F5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D8BC09F-ECAA-8E76-97C5-E0A141283F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Key Supply Driver - (2) </a:t>
            </a:r>
            <a:r>
              <a:rPr lang="ko-KR" altLang="en-US" dirty="0"/>
              <a:t>인증</a:t>
            </a:r>
            <a:r>
              <a:rPr lang="en-US" altLang="ko-KR" dirty="0"/>
              <a:t>·</a:t>
            </a:r>
            <a:r>
              <a:rPr lang="ko-KR" altLang="en-US" dirty="0"/>
              <a:t>규모 기반 제조사 수요 집중 심화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76592D-3ADD-D003-4820-67BCDB75CB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 (1) </a:t>
            </a:r>
            <a:r>
              <a:rPr lang="ko-KR" altLang="en-US" dirty="0"/>
              <a:t>업체별 </a:t>
            </a:r>
            <a:r>
              <a:rPr lang="en-US" altLang="ko-KR" dirty="0"/>
              <a:t>2024</a:t>
            </a:r>
            <a:r>
              <a:rPr lang="ko-KR" altLang="en-US" dirty="0"/>
              <a:t>년 재무실적 기준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Source: </a:t>
            </a:r>
            <a:r>
              <a:rPr lang="ko-KR" altLang="en-US" dirty="0" err="1"/>
              <a:t>한국식품안전관리인증원</a:t>
            </a:r>
            <a:r>
              <a:rPr lang="en-US" altLang="ko-KR" dirty="0"/>
              <a:t>; NICE </a:t>
            </a:r>
            <a:r>
              <a:rPr lang="en-US" altLang="ko-KR" dirty="0" err="1"/>
              <a:t>BizLine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64C4A5-10AF-09D0-CAD6-20C34B3EE67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D40CA8-A45F-1BB3-893C-23B4AB65B381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국내 </a:t>
            </a:r>
            <a:r>
              <a:rPr lang="en-US" altLang="ko-KR" sz="1200" b="1" dirty="0">
                <a:solidFill>
                  <a:schemeClr val="bg1"/>
                </a:solidFill>
              </a:rPr>
              <a:t>HACCP </a:t>
            </a:r>
            <a:r>
              <a:rPr lang="ko-KR" altLang="en-US" sz="1200" b="1" dirty="0">
                <a:solidFill>
                  <a:schemeClr val="bg1"/>
                </a:solidFill>
              </a:rPr>
              <a:t>인증 고춧가루 제조업체 현황</a:t>
            </a:r>
            <a:r>
              <a:rPr lang="en-US" altLang="ko-KR" sz="1200" b="1" baseline="30000" dirty="0">
                <a:solidFill>
                  <a:schemeClr val="bg1"/>
                </a:solidFill>
              </a:rPr>
              <a:t>(1)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AADC15-34BF-0840-0837-29A3B15AE89A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제조 역량 </a:t>
            </a:r>
            <a:r>
              <a:rPr lang="en-US" altLang="ko-KR" sz="1200" b="1" dirty="0">
                <a:solidFill>
                  <a:schemeClr val="bg1"/>
                </a:solidFill>
              </a:rPr>
              <a:t>· </a:t>
            </a:r>
            <a:r>
              <a:rPr lang="ko-KR" altLang="en-US" sz="1200" b="1" dirty="0">
                <a:solidFill>
                  <a:schemeClr val="bg1"/>
                </a:solidFill>
              </a:rPr>
              <a:t>인증 기반 상위업체 중심으로 시장 기회 집중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B1F91F-80CF-4472-9124-9F60E16E490B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국내 고춧가루 제조 산업은 다수의 중소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영세업체 중심의 분절된 시장 구조를 보이고 있어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전방시장의 품질 기준 강화와 </a:t>
            </a:r>
            <a:r>
              <a:rPr lang="en-US" altLang="ko-KR" sz="1400" b="1" dirty="0">
                <a:solidFill>
                  <a:srgbClr val="3D3D3D"/>
                </a:solidFill>
              </a:rPr>
              <a:t>B2B </a:t>
            </a:r>
            <a:r>
              <a:rPr lang="ko-KR" altLang="en-US" sz="1400" b="1" dirty="0">
                <a:solidFill>
                  <a:srgbClr val="3D3D3D"/>
                </a:solidFill>
              </a:rPr>
              <a:t>대량 조달 수요 충족이 가능한 인증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규모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품질관리 역량을 갖춘 상위 제조사 중심으로 시장 기회가 집중되고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0B60A27-622F-B398-FAE5-748A7020A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283573"/>
              </p:ext>
            </p:extLst>
          </p:nvPr>
        </p:nvGraphicFramePr>
        <p:xfrm>
          <a:off x="453000" y="2168525"/>
          <a:ext cx="4356000" cy="37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3371320607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19368623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28751321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5777624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90062578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17109083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회사명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매출액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영업이익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영업이익률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스마트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HACCP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76934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한생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344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5.9%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11889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해성푸드텍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342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4.5%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13239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대상회사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337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32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9.4%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인증</a:t>
                      </a: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F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26699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청정식품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307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5.2%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6C26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4711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태양농산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248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4.1%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087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영양고추유통공사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247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4.6%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57050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에이치엔지에프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220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5.0%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99379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괴산군조합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209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(2)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(0.9)%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98439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영양에프앤에스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198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7.3%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62597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다원에프에스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171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1.6%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14254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해우농수산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124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2.2%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38496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정탑농산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118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6.3%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1273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청아띠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113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1.2%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8788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청양식품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112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11.6%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11969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고추나라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111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5.1%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401099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837323-1811-4BC4-94CD-9D252EE8747B}"/>
              </a:ext>
            </a:extLst>
          </p:cNvPr>
          <p:cNvSpPr/>
          <p:nvPr/>
        </p:nvSpPr>
        <p:spPr>
          <a:xfrm>
            <a:off x="5061000" y="2168525"/>
            <a:ext cx="4392000" cy="1296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분절된 공급 구조 속</a:t>
            </a:r>
            <a:r>
              <a:rPr lang="en-US" altLang="ko-KR" sz="1000" b="1" dirty="0">
                <a:solidFill>
                  <a:schemeClr val="tx1"/>
                </a:solidFill>
              </a:rPr>
              <a:t>, ‘</a:t>
            </a:r>
            <a:r>
              <a:rPr lang="ko-KR" altLang="en-US" sz="1000" b="1" dirty="0">
                <a:solidFill>
                  <a:schemeClr val="tx1"/>
                </a:solidFill>
              </a:rPr>
              <a:t>규모 있는 </a:t>
            </a:r>
            <a:r>
              <a:rPr lang="en-US" altLang="ko-KR" sz="1000" b="1" dirty="0">
                <a:solidFill>
                  <a:schemeClr val="tx1"/>
                </a:solidFill>
              </a:rPr>
              <a:t>HACCP </a:t>
            </a:r>
            <a:r>
              <a:rPr lang="ko-KR" altLang="en-US" sz="1000" b="1" dirty="0">
                <a:solidFill>
                  <a:schemeClr val="tx1"/>
                </a:solidFill>
              </a:rPr>
              <a:t>인증 </a:t>
            </a:r>
            <a:r>
              <a:rPr lang="ko-KR" altLang="en-US" sz="1000" b="1" dirty="0" err="1">
                <a:solidFill>
                  <a:schemeClr val="tx1"/>
                </a:solidFill>
              </a:rPr>
              <a:t>제조사’는</a:t>
            </a:r>
            <a:r>
              <a:rPr lang="ko-KR" altLang="en-US" sz="1000" b="1" dirty="0">
                <a:solidFill>
                  <a:schemeClr val="tx1"/>
                </a:solidFill>
              </a:rPr>
              <a:t> 극소수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HACCP </a:t>
            </a:r>
            <a:r>
              <a:rPr lang="ko-KR" altLang="en-US" sz="1000" dirty="0">
                <a:solidFill>
                  <a:schemeClr val="tx1"/>
                </a:solidFill>
              </a:rPr>
              <a:t>인증 고춧가루 제조사는 </a:t>
            </a:r>
            <a:r>
              <a:rPr lang="en-US" altLang="ko-KR" sz="1000" dirty="0">
                <a:solidFill>
                  <a:schemeClr val="tx1"/>
                </a:solidFill>
              </a:rPr>
              <a:t>240</a:t>
            </a:r>
            <a:r>
              <a:rPr lang="ko-KR" altLang="en-US" sz="1000" dirty="0">
                <a:solidFill>
                  <a:schemeClr val="tx1"/>
                </a:solidFill>
              </a:rPr>
              <a:t>여개이나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일정 규모를 갖춘 업체는 제한적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매출 </a:t>
            </a:r>
            <a:r>
              <a:rPr lang="en-US" altLang="ko-KR" sz="1000" dirty="0">
                <a:solidFill>
                  <a:schemeClr val="tx1"/>
                </a:solidFill>
              </a:rPr>
              <a:t>100</a:t>
            </a:r>
            <a:r>
              <a:rPr lang="ko-KR" altLang="en-US" sz="1000" dirty="0">
                <a:solidFill>
                  <a:schemeClr val="tx1"/>
                </a:solidFill>
              </a:rPr>
              <a:t>억원 이상 업체는 약 </a:t>
            </a:r>
            <a:r>
              <a:rPr lang="en-US" altLang="ko-KR" sz="1000" dirty="0">
                <a:solidFill>
                  <a:schemeClr val="tx1"/>
                </a:solidFill>
              </a:rPr>
              <a:t>20</a:t>
            </a:r>
            <a:r>
              <a:rPr lang="ko-KR" altLang="en-US" sz="1000" dirty="0">
                <a:solidFill>
                  <a:schemeClr val="tx1"/>
                </a:solidFill>
              </a:rPr>
              <a:t>개 수준으로 상위권 업체에 발주 물량 집중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대형 수요처는 ‘</a:t>
            </a:r>
            <a:r>
              <a:rPr lang="ko-KR" altLang="en-US" sz="1000" dirty="0" err="1">
                <a:solidFill>
                  <a:schemeClr val="tx1"/>
                </a:solidFill>
              </a:rPr>
              <a:t>가격’보다</a:t>
            </a:r>
            <a:r>
              <a:rPr lang="ko-KR" altLang="en-US" sz="1000" dirty="0">
                <a:solidFill>
                  <a:schemeClr val="tx1"/>
                </a:solidFill>
              </a:rPr>
              <a:t> ‘안정 납기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균일 품질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추적관리’ 요건을 우선 적용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 err="1">
                <a:solidFill>
                  <a:schemeClr val="tx1"/>
                </a:solidFill>
              </a:rPr>
              <a:t>다품목</a:t>
            </a:r>
            <a:r>
              <a:rPr lang="ko-KR" altLang="en-US" sz="1000" dirty="0">
                <a:solidFill>
                  <a:schemeClr val="tx1"/>
                </a:solidFill>
              </a:rPr>
              <a:t> 운영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로트</a:t>
            </a:r>
            <a:r>
              <a:rPr lang="ko-KR" altLang="en-US" sz="1000" dirty="0">
                <a:solidFill>
                  <a:schemeClr val="tx1"/>
                </a:solidFill>
              </a:rPr>
              <a:t> 관리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상시 검사 대응이 가능한 상위 업체로 거래선 재편 가속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B36F608-E773-EA03-3EDC-40687BEB1E42}"/>
              </a:ext>
            </a:extLst>
          </p:cNvPr>
          <p:cNvSpPr/>
          <p:nvPr/>
        </p:nvSpPr>
        <p:spPr>
          <a:xfrm>
            <a:off x="5061000" y="3573950"/>
            <a:ext cx="4392000" cy="1296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스마트 </a:t>
            </a:r>
            <a:r>
              <a:rPr lang="en-US" altLang="ko-KR" sz="1000" b="1" dirty="0">
                <a:solidFill>
                  <a:schemeClr val="tx1"/>
                </a:solidFill>
              </a:rPr>
              <a:t>HACCP </a:t>
            </a:r>
            <a:r>
              <a:rPr lang="ko-KR" altLang="en-US" sz="1000" b="1" dirty="0">
                <a:solidFill>
                  <a:schemeClr val="tx1"/>
                </a:solidFill>
              </a:rPr>
              <a:t>등 고도화 인증이 ‘대형 </a:t>
            </a:r>
            <a:r>
              <a:rPr lang="en-US" altLang="ko-KR" sz="1000" b="1" dirty="0">
                <a:solidFill>
                  <a:schemeClr val="tx1"/>
                </a:solidFill>
              </a:rPr>
              <a:t>B2B </a:t>
            </a:r>
            <a:r>
              <a:rPr lang="ko-KR" altLang="en-US" sz="1000" b="1" dirty="0" err="1">
                <a:solidFill>
                  <a:schemeClr val="tx1"/>
                </a:solidFill>
              </a:rPr>
              <a:t>납품’의</a:t>
            </a:r>
            <a:r>
              <a:rPr lang="ko-KR" altLang="en-US" sz="1000" b="1" dirty="0">
                <a:solidFill>
                  <a:schemeClr val="tx1"/>
                </a:solidFill>
              </a:rPr>
              <a:t> 진입장벽으로 작동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스마트 </a:t>
            </a:r>
            <a:r>
              <a:rPr lang="en-US" altLang="ko-KR" sz="1000" dirty="0">
                <a:solidFill>
                  <a:schemeClr val="tx1"/>
                </a:solidFill>
              </a:rPr>
              <a:t>HACCP </a:t>
            </a:r>
            <a:r>
              <a:rPr lang="ko-KR" altLang="en-US" sz="1000" dirty="0">
                <a:solidFill>
                  <a:schemeClr val="tx1"/>
                </a:solidFill>
              </a:rPr>
              <a:t>인증 보유 업체는 극히 제한적이며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의미 있는 규모의 제조사 중에서는 대상회사가 사실상 유일한 수준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이외 지역농협 등 공공 성격 가공시설 중심으로 상업적 대량 납품 역량과는 괴리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수요처의 식품안전 감사 및 데이터 기반 관리 요구가 강화되며 ‘인증 프리미엄’ 확대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7188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ko-KR" altLang="en-US" sz="1000" dirty="0">
                <a:solidFill>
                  <a:schemeClr val="tx1"/>
                </a:solidFill>
              </a:rPr>
              <a:t>인증 기반으로 신규 거래처 전환 및 장기 공급 계약에 유리한 구조 형성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D46F44-8325-A964-2327-FA44C14AD0CA}"/>
              </a:ext>
            </a:extLst>
          </p:cNvPr>
          <p:cNvSpPr/>
          <p:nvPr/>
        </p:nvSpPr>
        <p:spPr>
          <a:xfrm>
            <a:off x="5061000" y="5157950"/>
            <a:ext cx="4392000" cy="792000"/>
          </a:xfrm>
          <a:prstGeom prst="rect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en-US" altLang="ko-KR" sz="1000" b="1" dirty="0">
                <a:solidFill>
                  <a:schemeClr val="bg1"/>
                </a:solidFill>
              </a:rPr>
              <a:t>Market Winning Factor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규모 </a:t>
            </a:r>
            <a:r>
              <a:rPr lang="en-US" altLang="ko-KR" sz="1000" b="1" dirty="0">
                <a:solidFill>
                  <a:schemeClr val="bg1"/>
                </a:solidFill>
              </a:rPr>
              <a:t>· </a:t>
            </a:r>
            <a:r>
              <a:rPr lang="ko-KR" altLang="en-US" sz="1000" b="1" dirty="0">
                <a:solidFill>
                  <a:schemeClr val="bg1"/>
                </a:solidFill>
              </a:rPr>
              <a:t>품질관리 역량을 갖춘 상위 제조사로 거래선 및 물량 집중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고도화 인증 기반</a:t>
            </a:r>
            <a:r>
              <a:rPr lang="en-US" altLang="ko-KR" sz="1000" b="1" dirty="0">
                <a:solidFill>
                  <a:schemeClr val="bg1"/>
                </a:solidFill>
              </a:rPr>
              <a:t> </a:t>
            </a:r>
            <a:r>
              <a:rPr lang="ko-KR" altLang="en-US" sz="1000" b="1" dirty="0">
                <a:solidFill>
                  <a:schemeClr val="bg1"/>
                </a:solidFill>
              </a:rPr>
              <a:t>대형 </a:t>
            </a:r>
            <a:r>
              <a:rPr lang="en-US" altLang="ko-KR" sz="1000" b="1" dirty="0">
                <a:solidFill>
                  <a:schemeClr val="bg1"/>
                </a:solidFill>
              </a:rPr>
              <a:t>B2B </a:t>
            </a:r>
            <a:r>
              <a:rPr lang="ko-KR" altLang="en-US" sz="1000" b="1" dirty="0">
                <a:solidFill>
                  <a:schemeClr val="bg1"/>
                </a:solidFill>
              </a:rPr>
              <a:t>고객의 기준 충족 가능한 제조사 중심의 재편 가속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1A686D24-095F-543C-F586-62906EAC5FC1}"/>
              </a:ext>
            </a:extLst>
          </p:cNvPr>
          <p:cNvSpPr/>
          <p:nvPr/>
        </p:nvSpPr>
        <p:spPr>
          <a:xfrm rot="10800000">
            <a:off x="6356999" y="4941950"/>
            <a:ext cx="1800000" cy="144000"/>
          </a:xfrm>
          <a:prstGeom prst="triangle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972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A2F59-E21F-34E8-751D-3FE69A02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7B4E7A7-6637-AD6A-0D23-A8C356284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418694"/>
              </p:ext>
            </p:extLst>
          </p:nvPr>
        </p:nvGraphicFramePr>
        <p:xfrm>
          <a:off x="344438" y="2168525"/>
          <a:ext cx="3528000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400" b="0" kern="120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400" b="0" kern="120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Market Opportunity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all" spc="0" baseline="0" dirty="0">
                          <a:solidFill>
                            <a:srgbClr val="0F3A32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400" b="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0F3A32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Target Highlights</a:t>
                      </a:r>
                      <a:endParaRPr lang="ko-KR" altLang="en-US" sz="1400" b="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cs"/>
                        </a:rPr>
                        <a:t>Financial Summary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UITE Heavy"/>
                        <a:ea typeface="SUITE Heavy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277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E5AA6BC-BC19-4640-CDE1-DC3E58D35259}"/>
              </a:ext>
            </a:extLst>
          </p:cNvPr>
          <p:cNvSpPr txBox="1"/>
          <p:nvPr/>
        </p:nvSpPr>
        <p:spPr>
          <a:xfrm>
            <a:off x="452438" y="1368847"/>
            <a:ext cx="3247684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CONTENTS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CDC40A3C-E778-BBFC-C958-3E95A4A40B58}"/>
              </a:ext>
            </a:extLst>
          </p:cNvPr>
          <p:cNvSpPr txBox="1">
            <a:spLocks/>
          </p:cNvSpPr>
          <p:nvPr/>
        </p:nvSpPr>
        <p:spPr>
          <a:xfrm>
            <a:off x="452999" y="6177279"/>
            <a:ext cx="1548501" cy="131446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indent="0" defTabSz="914400" latinLnBrk="1">
              <a:lnSpc>
                <a:spcPts val="11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aseline="0">
                <a:solidFill>
                  <a:schemeClr val="bg1"/>
                </a:solidFill>
                <a:latin typeface="Outfit" pitchFamily="2" charset="0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800" dirty="0">
                <a:latin typeface="+mj-lt"/>
                <a:ea typeface="+mj-ea"/>
              </a:rPr>
              <a:t>Strictly Private &amp; Confidential</a:t>
            </a:r>
            <a:endParaRPr lang="ko-KR" altLang="en-US" sz="800" dirty="0">
              <a:latin typeface="+mj-lt"/>
              <a:ea typeface="+mj-ea"/>
            </a:endParaRP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FD90B5C0-020D-ED18-46FD-C43FFDA2D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97" y="549275"/>
            <a:ext cx="272432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23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80AA2-CC5A-37E2-6DD2-34A0A032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0F5873B-6013-BEB7-9943-EFFC5D37C0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Target</a:t>
            </a:r>
            <a:r>
              <a:rPr lang="ko-KR" altLang="en-US" dirty="0"/>
              <a:t> </a:t>
            </a:r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E82046-1BCB-9C68-7223-78BD6AD7C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 (1)</a:t>
            </a:r>
            <a:r>
              <a:rPr lang="ko-KR" altLang="en-US" dirty="0"/>
              <a:t> 연결 매출액과 </a:t>
            </a:r>
            <a:r>
              <a:rPr lang="en-US" altLang="ko-KR" dirty="0"/>
              <a:t>EBITDA</a:t>
            </a:r>
            <a:r>
              <a:rPr lang="ko-KR" altLang="en-US" dirty="0"/>
              <a:t>는 </a:t>
            </a:r>
            <a:r>
              <a:rPr lang="en-US" altLang="ko-KR" dirty="0"/>
              <a:t>H </a:t>
            </a:r>
            <a:r>
              <a:rPr lang="ko-KR" altLang="en-US" dirty="0"/>
              <a:t>농업회사법인과 </a:t>
            </a:r>
            <a:r>
              <a:rPr lang="en-US" altLang="ko-KR" dirty="0"/>
              <a:t>E </a:t>
            </a:r>
            <a:r>
              <a:rPr lang="ko-KR" altLang="en-US" dirty="0"/>
              <a:t>농업회사법인의 연결 재무제표 작성을 가정하여 작성한 </a:t>
            </a:r>
            <a:r>
              <a:rPr lang="en-US" altLang="ko-KR" dirty="0"/>
              <a:t>Pro Forma </a:t>
            </a:r>
            <a:r>
              <a:rPr lang="ko-KR" altLang="en-US" dirty="0"/>
              <a:t>재무제표 상 실적임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B59462-B9FD-611D-CF93-ADAF676A013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26A830-6CDD-A7E7-4708-FEB5330F29F0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대상회사 개요</a:t>
            </a:r>
            <a:r>
              <a:rPr lang="en-US" altLang="ko-KR" sz="1200" b="1" baseline="30000" dirty="0">
                <a:solidFill>
                  <a:schemeClr val="bg1"/>
                </a:solidFill>
              </a:rPr>
              <a:t>(1)</a:t>
            </a:r>
            <a:endParaRPr lang="ko-KR" altLang="en-US" sz="1200" b="1" baseline="300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455031-4B3D-182A-9A1E-79EFD8962C49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대상회사 연혁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FC2DE5-7EB7-AA44-E4AD-2522F728D47D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 </a:t>
            </a:r>
            <a:r>
              <a:rPr lang="en-US" altLang="ko-KR" sz="1400" b="1" dirty="0">
                <a:solidFill>
                  <a:srgbClr val="3D3D3D"/>
                </a:solidFill>
              </a:rPr>
              <a:t>1985</a:t>
            </a:r>
            <a:r>
              <a:rPr lang="ko-KR" altLang="en-US" sz="1400" b="1" dirty="0">
                <a:solidFill>
                  <a:srgbClr val="3D3D3D"/>
                </a:solidFill>
              </a:rPr>
              <a:t>년 설립된 고춧가루 제조 전문업체로</a:t>
            </a:r>
            <a:r>
              <a:rPr lang="en-US" altLang="ko-KR" sz="1400" b="1" dirty="0">
                <a:solidFill>
                  <a:srgbClr val="3D3D3D"/>
                </a:solidFill>
              </a:rPr>
              <a:t>, 2007</a:t>
            </a:r>
            <a:r>
              <a:rPr lang="ko-KR" altLang="en-US" sz="1400" b="1" dirty="0">
                <a:solidFill>
                  <a:srgbClr val="3D3D3D"/>
                </a:solidFill>
              </a:rPr>
              <a:t>년 경기도 최초 고춧가루 제조 </a:t>
            </a:r>
            <a:r>
              <a:rPr lang="en-US" altLang="ko-KR" sz="1400" b="1" dirty="0">
                <a:solidFill>
                  <a:srgbClr val="3D3D3D"/>
                </a:solidFill>
              </a:rPr>
              <a:t>HACCP </a:t>
            </a:r>
            <a:r>
              <a:rPr lang="ko-KR" altLang="en-US" sz="1400" b="1" dirty="0">
                <a:solidFill>
                  <a:srgbClr val="3D3D3D"/>
                </a:solidFill>
              </a:rPr>
              <a:t>인증</a:t>
            </a:r>
            <a:r>
              <a:rPr lang="en-US" altLang="ko-KR" sz="1400" b="1" dirty="0">
                <a:solidFill>
                  <a:srgbClr val="3D3D3D"/>
                </a:solidFill>
              </a:rPr>
              <a:t>, 2023</a:t>
            </a:r>
            <a:r>
              <a:rPr lang="ko-KR" altLang="en-US" sz="1400" b="1" dirty="0">
                <a:solidFill>
                  <a:srgbClr val="3D3D3D"/>
                </a:solidFill>
              </a:rPr>
              <a:t>년 스마트 </a:t>
            </a:r>
            <a:r>
              <a:rPr lang="en-US" altLang="ko-KR" sz="1400" b="1" dirty="0">
                <a:solidFill>
                  <a:srgbClr val="3D3D3D"/>
                </a:solidFill>
              </a:rPr>
              <a:t>HACCP </a:t>
            </a:r>
            <a:r>
              <a:rPr lang="ko-KR" altLang="en-US" sz="1400" b="1" dirty="0">
                <a:solidFill>
                  <a:srgbClr val="3D3D3D"/>
                </a:solidFill>
              </a:rPr>
              <a:t>인증</a:t>
            </a:r>
            <a:r>
              <a:rPr lang="en-US" altLang="ko-KR" sz="1400" b="1" dirty="0">
                <a:solidFill>
                  <a:srgbClr val="3D3D3D"/>
                </a:solidFill>
              </a:rPr>
              <a:t>, 2024</a:t>
            </a:r>
            <a:r>
              <a:rPr lang="ko-KR" altLang="en-US" sz="1400" b="1" dirty="0">
                <a:solidFill>
                  <a:srgbClr val="3D3D3D"/>
                </a:solidFill>
              </a:rPr>
              <a:t>년 매출액 </a:t>
            </a:r>
            <a:r>
              <a:rPr lang="en-US" altLang="ko-KR" sz="1400" b="1" dirty="0">
                <a:solidFill>
                  <a:srgbClr val="3D3D3D"/>
                </a:solidFill>
              </a:rPr>
              <a:t>337</a:t>
            </a:r>
            <a:r>
              <a:rPr lang="ko-KR" altLang="en-US" sz="1400" b="1" dirty="0">
                <a:solidFill>
                  <a:srgbClr val="3D3D3D"/>
                </a:solidFill>
              </a:rPr>
              <a:t>억원 달성 등 국내 고춧가루 시장을 선도하고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6A874B4-33B4-628B-360E-EE6CFCFA0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14857"/>
              </p:ext>
            </p:extLst>
          </p:nvPr>
        </p:nvGraphicFramePr>
        <p:xfrm>
          <a:off x="453000" y="2168525"/>
          <a:ext cx="4392000" cy="2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890793053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442093736"/>
                    </a:ext>
                  </a:extLst>
                </a:gridCol>
                <a:gridCol w="3024000">
                  <a:extLst>
                    <a:ext uri="{9D8B030D-6E8A-4147-A177-3AD203B41FA5}">
                      <a16:colId xmlns:a16="http://schemas.microsoft.com/office/drawing/2014/main" val="41851184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H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사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회사명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주식회사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H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농업회사법인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71612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설립일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1985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(M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농산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), 2009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(H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농업회사법인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65453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소재지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경기도 평택시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팽성읍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8589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주요사업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국산 고춧가루 제조 및 유통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62006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E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사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회사명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주식회사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E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농업회사법인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68187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설립일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18327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소재지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충청남도 천안시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성환읍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01417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rgbClr val="1C8F57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주요사업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수입산 고춧가루 제조 및 유통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05401"/>
                  </a:ext>
                </a:extLst>
              </a:tr>
            </a:tbl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416985DC-4F84-0966-EDFD-61E229C4C6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0954670"/>
              </p:ext>
            </p:extLst>
          </p:nvPr>
        </p:nvGraphicFramePr>
        <p:xfrm>
          <a:off x="452438" y="4257674"/>
          <a:ext cx="4392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9AF59D1-9BCC-A462-E67C-5DF8A41A7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08939"/>
              </p:ext>
            </p:extLst>
          </p:nvPr>
        </p:nvGraphicFramePr>
        <p:xfrm>
          <a:off x="5060999" y="2168525"/>
          <a:ext cx="4392000" cy="3781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442093736"/>
                    </a:ext>
                  </a:extLst>
                </a:gridCol>
                <a:gridCol w="3384000">
                  <a:extLst>
                    <a:ext uri="{9D8B030D-6E8A-4147-A177-3AD203B41FA5}">
                      <a16:colId xmlns:a16="http://schemas.microsoft.com/office/drawing/2014/main" val="4185118405"/>
                    </a:ext>
                  </a:extLst>
                </a:gridCol>
              </a:tblGrid>
              <a:tr h="267373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1985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평택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통복시장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내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M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농산 설립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716123"/>
                  </a:ext>
                </a:extLst>
              </a:tr>
              <a:tr h="267373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1990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조달본부 고춧가루 납품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654534"/>
                  </a:ext>
                </a:extLst>
              </a:tr>
              <a:tr h="267373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2006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공장 확장 이전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858944"/>
                  </a:ext>
                </a:extLst>
              </a:tr>
              <a:tr h="420158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2007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u="sng" dirty="0">
                          <a:solidFill>
                            <a:srgbClr val="1C8F57"/>
                          </a:solidFill>
                        </a:rPr>
                        <a:t>경기도 최초 고춧가루 제조 </a:t>
                      </a:r>
                      <a:r>
                        <a:rPr lang="en-US" altLang="ko-KR" sz="1000" b="1" u="sng" dirty="0">
                          <a:solidFill>
                            <a:srgbClr val="1C8F57"/>
                          </a:solidFill>
                        </a:rPr>
                        <a:t>HACCP </a:t>
                      </a:r>
                      <a:r>
                        <a:rPr lang="ko-KR" altLang="en-US" sz="1000" b="1" u="sng" dirty="0">
                          <a:solidFill>
                            <a:srgbClr val="1C8F57"/>
                          </a:solidFill>
                        </a:rPr>
                        <a:t>인증</a:t>
                      </a:r>
                      <a:endParaRPr lang="en-US" altLang="ko-KR" sz="1000" b="1" u="sng" dirty="0">
                        <a:solidFill>
                          <a:srgbClr val="1C8F57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CJ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프레시웨이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푸드머스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한화리조트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납품 계약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980781"/>
                  </a:ext>
                </a:extLst>
              </a:tr>
              <a:tr h="267373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2008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현대그린푸드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납품 계약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620060"/>
                  </a:ext>
                </a:extLst>
              </a:tr>
              <a:tr h="267373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2009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농업회사법인 설립 및 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공장 신축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992982"/>
                  </a:ext>
                </a:extLst>
              </a:tr>
              <a:tr h="267373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2010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전국 주요 초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고 및 대학교 학교급식 납품 계약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862707"/>
                  </a:ext>
                </a:extLst>
              </a:tr>
              <a:tr h="267373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2014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농림축산식품부 전통식품품질인증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681871"/>
                  </a:ext>
                </a:extLst>
              </a:tr>
              <a:tr h="267373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2017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품질경영시스템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ISO 9001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인증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183279"/>
                  </a:ext>
                </a:extLst>
              </a:tr>
              <a:tr h="267373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2018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한국 이슬람중앙회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할랄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인증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014175"/>
                  </a:ext>
                </a:extLst>
              </a:tr>
              <a:tr h="267373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2019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품질경영시스템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ISO 22000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인증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234103"/>
                  </a:ext>
                </a:extLst>
              </a:tr>
              <a:tr h="420158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2020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E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농업회사법인 설립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CJ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프레시웨이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국산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PB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상품 개발 및 납품 계약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704701"/>
                  </a:ext>
                </a:extLst>
              </a:tr>
              <a:tr h="267373"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1" dirty="0">
                          <a:solidFill>
                            <a:srgbClr val="1C8F57"/>
                          </a:solidFill>
                        </a:rPr>
                        <a:t>2023</a:t>
                      </a:r>
                      <a:r>
                        <a:rPr lang="ko-KR" altLang="en-US" sz="1000" b="1" dirty="0">
                          <a:solidFill>
                            <a:srgbClr val="1C8F57"/>
                          </a:solidFill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u="sng" dirty="0">
                          <a:solidFill>
                            <a:srgbClr val="1C8F57"/>
                          </a:solidFill>
                        </a:rPr>
                        <a:t>스마트 </a:t>
                      </a:r>
                      <a:r>
                        <a:rPr lang="en-US" altLang="ko-KR" sz="1000" b="1" u="sng" dirty="0">
                          <a:solidFill>
                            <a:srgbClr val="1C8F57"/>
                          </a:solidFill>
                        </a:rPr>
                        <a:t>HACCP </a:t>
                      </a:r>
                      <a:r>
                        <a:rPr lang="ko-KR" altLang="en-US" sz="1000" b="1" u="sng" dirty="0">
                          <a:solidFill>
                            <a:srgbClr val="1C8F57"/>
                          </a:solidFill>
                        </a:rPr>
                        <a:t>인증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56170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4211C6D-59DE-02BA-4E39-BCAC027E101D}"/>
              </a:ext>
            </a:extLst>
          </p:cNvPr>
          <p:cNvSpPr txBox="1"/>
          <p:nvPr/>
        </p:nvSpPr>
        <p:spPr>
          <a:xfrm>
            <a:off x="4261456" y="1780991"/>
            <a:ext cx="583544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>
                <a:solidFill>
                  <a:schemeClr val="bg1"/>
                </a:solidFill>
              </a:rPr>
              <a:t>억원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390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CDBCAF8-EAA6-7C17-5C98-05D1640C8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Target Highlights - (1) </a:t>
            </a:r>
            <a:r>
              <a:rPr lang="ko-KR" altLang="en-US" dirty="0"/>
              <a:t>차별화된 제품 포트폴리오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16BD32-0063-D85F-2740-59837D61D9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E59B0C-4849-D74B-61F3-0E066C06DE2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D71E03-BB6C-BDA8-B154-BD69341500CE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대상회사 주요 제품 포트폴리오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0C0702-695D-5ED6-6D48-B1AEFC5E1076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제품 원산지별 매출액 </a:t>
            </a:r>
            <a:r>
              <a:rPr lang="en-US" altLang="ko-KR" sz="1200" b="1" dirty="0">
                <a:solidFill>
                  <a:schemeClr val="bg1"/>
                </a:solidFill>
              </a:rPr>
              <a:t>Breakdown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625473-8380-B465-8206-285AB06EA4E9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 국산 프리미엄 브랜드와 수입산 가성비 제품군으로 구성된 </a:t>
            </a:r>
            <a:r>
              <a:rPr lang="en-US" altLang="ko-KR" sz="1400" b="1" dirty="0">
                <a:solidFill>
                  <a:srgbClr val="3D3D3D"/>
                </a:solidFill>
              </a:rPr>
              <a:t>Dual Brand </a:t>
            </a:r>
            <a:r>
              <a:rPr lang="ko-KR" altLang="en-US" sz="1400" b="1" dirty="0">
                <a:solidFill>
                  <a:srgbClr val="3D3D3D"/>
                </a:solidFill>
              </a:rPr>
              <a:t>구조를 기반으로 전방 시장의 모든 수요 세그먼트를 아우르는 고춧가루 </a:t>
            </a:r>
            <a:r>
              <a:rPr lang="en-US" altLang="ko-KR" sz="1400" b="1" dirty="0">
                <a:solidFill>
                  <a:srgbClr val="3D3D3D"/>
                </a:solidFill>
              </a:rPr>
              <a:t>Total Solution</a:t>
            </a:r>
            <a:r>
              <a:rPr lang="ko-KR" altLang="en-US" sz="1400" b="1" dirty="0">
                <a:solidFill>
                  <a:srgbClr val="3D3D3D"/>
                </a:solidFill>
              </a:rPr>
              <a:t>을 제공하고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774ADE-A721-28F4-973A-5D157243B0AF}"/>
              </a:ext>
            </a:extLst>
          </p:cNvPr>
          <p:cNvSpPr/>
          <p:nvPr/>
        </p:nvSpPr>
        <p:spPr>
          <a:xfrm>
            <a:off x="453000" y="5445950"/>
            <a:ext cx="9000000" cy="504000"/>
          </a:xfrm>
          <a:prstGeom prst="rect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국산 프리미엄 제품부터 수입산 가성비 제품까지 아우르는 광범위한 제품 포트폴리오를 통해 대형 가공식품업체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프랜차이즈 브랜드 등 고객사별 다양한 고춧가루 수요 흡수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고객군과 용도별 맞춤형 대응 가능한 제품 구조를 통해</a:t>
            </a:r>
            <a:r>
              <a:rPr lang="en-US" altLang="ko-KR" sz="1000" b="1" dirty="0">
                <a:solidFill>
                  <a:schemeClr val="bg1"/>
                </a:solidFill>
              </a:rPr>
              <a:t>,</a:t>
            </a:r>
            <a:r>
              <a:rPr lang="ko-KR" altLang="en-US" sz="1000" b="1" dirty="0">
                <a:solidFill>
                  <a:schemeClr val="bg1"/>
                </a:solidFill>
              </a:rPr>
              <a:t> 품질 요구수준이 높은 대형 고객사 확보</a:t>
            </a:r>
            <a:r>
              <a:rPr lang="en-US" altLang="ko-KR" sz="1000" b="1" dirty="0">
                <a:solidFill>
                  <a:schemeClr val="bg1"/>
                </a:solidFill>
              </a:rPr>
              <a:t>,</a:t>
            </a:r>
            <a:r>
              <a:rPr lang="ko-KR" altLang="en-US" sz="1000" b="1" dirty="0">
                <a:solidFill>
                  <a:schemeClr val="bg1"/>
                </a:solidFill>
              </a:rPr>
              <a:t> </a:t>
            </a:r>
            <a:r>
              <a:rPr lang="en-US" altLang="ko-KR" sz="1000" b="1" dirty="0">
                <a:solidFill>
                  <a:schemeClr val="bg1"/>
                </a:solidFill>
              </a:rPr>
              <a:t>Lock-In </a:t>
            </a:r>
            <a:r>
              <a:rPr lang="ko-KR" altLang="en-US" sz="1000" b="1" dirty="0">
                <a:solidFill>
                  <a:schemeClr val="bg1"/>
                </a:solidFill>
              </a:rPr>
              <a:t>및 납품 확대로 이어지는 안정적인 매출 구조 형성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56453E3-A9DB-1DF5-35A6-5B55E431C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108806"/>
              </p:ext>
            </p:extLst>
          </p:nvPr>
        </p:nvGraphicFramePr>
        <p:xfrm>
          <a:off x="453000" y="2168524"/>
          <a:ext cx="4392000" cy="31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494416672"/>
                    </a:ext>
                  </a:extLst>
                </a:gridCol>
                <a:gridCol w="3672000">
                  <a:extLst>
                    <a:ext uri="{9D8B030D-6E8A-4147-A177-3AD203B41FA5}">
                      <a16:colId xmlns:a16="http://schemas.microsoft.com/office/drawing/2014/main" val="1733313750"/>
                    </a:ext>
                  </a:extLst>
                </a:gridCol>
              </a:tblGrid>
              <a:tr h="1044000"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국산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NB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제품</a:t>
                      </a:r>
                    </a:p>
                  </a:txBody>
                  <a:tcPr marL="108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10000"/>
                        </a:lnSpc>
                        <a:spcAft>
                          <a:spcPts val="4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고품질의 국산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건고추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100%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사용한 제품군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Aft>
                          <a:spcPts val="4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프리미엄 상품화를 위한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“H”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브랜드 출시</a:t>
                      </a:r>
                    </a:p>
                  </a:txBody>
                  <a:tcPr marL="2232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965603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수입산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NB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제품</a:t>
                      </a:r>
                    </a:p>
                  </a:txBody>
                  <a:tcPr marL="108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10000"/>
                        </a:lnSpc>
                        <a:spcAft>
                          <a:spcPts val="4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중국산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베트남산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건고추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사용한 제품군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Aft>
                          <a:spcPts val="4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일부 제품의 경우 국산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수입산 혼합 배합</a:t>
                      </a:r>
                    </a:p>
                  </a:txBody>
                  <a:tcPr marL="2232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218700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국산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&amp;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수입산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PB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제품</a:t>
                      </a:r>
                    </a:p>
                  </a:txBody>
                  <a:tcPr marL="108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10000"/>
                        </a:lnSpc>
                        <a:spcAft>
                          <a:spcPts val="4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CJ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프레시웨이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화미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등 대형 고객사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제품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Aft>
                          <a:spcPts val="4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국산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수입산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혼합 등 고객사 맞춤 제품 생산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marL="2232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181814"/>
                  </a:ext>
                </a:extLst>
              </a:tr>
            </a:tbl>
          </a:graphicData>
        </a:graphic>
      </p:graphicFrame>
      <p:grpSp>
        <p:nvGrpSpPr>
          <p:cNvPr id="56" name="그룹 55">
            <a:extLst>
              <a:ext uri="{FF2B5EF4-FFF2-40B4-BE49-F238E27FC236}">
                <a16:creationId xmlns:a16="http://schemas.microsoft.com/office/drawing/2014/main" id="{A86284A9-CF42-DF15-8049-69DB958CAFE2}"/>
              </a:ext>
            </a:extLst>
          </p:cNvPr>
          <p:cNvGrpSpPr/>
          <p:nvPr/>
        </p:nvGrpSpPr>
        <p:grpSpPr>
          <a:xfrm>
            <a:off x="1353000" y="2276525"/>
            <a:ext cx="1872000" cy="828000"/>
            <a:chOff x="1281000" y="2276525"/>
            <a:chExt cx="1872000" cy="828000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8565F00E-AE98-DC7A-16DA-AAF3A0E11D6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86966" y="2276525"/>
              <a:ext cx="566034" cy="828000"/>
              <a:chOff x="3643223" y="103719"/>
              <a:chExt cx="1475360" cy="2158171"/>
            </a:xfrm>
          </p:grpSpPr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EDF2CDA2-3547-10FD-2A81-B37E9438AA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43223" y="103719"/>
                <a:ext cx="1475360" cy="2158171"/>
              </a:xfrm>
              <a:prstGeom prst="rect">
                <a:avLst/>
              </a:prstGeom>
            </p:spPr>
          </p:pic>
          <p:pic>
            <p:nvPicPr>
              <p:cNvPr id="30" name="그림 29">
                <a:extLst>
                  <a:ext uri="{FF2B5EF4-FFF2-40B4-BE49-F238E27FC236}">
                    <a16:creationId xmlns:a16="http://schemas.microsoft.com/office/drawing/2014/main" id="{67767D77-5C2B-E914-D8A2-0D324A7E1F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Glass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3805237" y="542924"/>
                <a:ext cx="247651" cy="278607"/>
              </a:xfrm>
              <a:prstGeom prst="rect">
                <a:avLst/>
              </a:prstGeom>
            </p:spPr>
          </p:pic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627D64E-2E9F-E8C8-E64B-9184F6F8CC6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935152" y="2276525"/>
              <a:ext cx="563696" cy="828000"/>
              <a:chOff x="1875218" y="65530"/>
              <a:chExt cx="1469263" cy="2158171"/>
            </a:xfrm>
          </p:grpSpPr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B60605AB-FAD2-F8ED-748E-29C697CD0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5218" y="65530"/>
                <a:ext cx="1469263" cy="215817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A548CE85-5398-0367-1F43-0881848D5C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Glass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2257425" y="509587"/>
                <a:ext cx="647700" cy="257176"/>
              </a:xfrm>
              <a:prstGeom prst="rect">
                <a:avLst/>
              </a:prstGeom>
            </p:spPr>
          </p:pic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EF2322F0-DC3B-64A6-FD78-CB5B60C882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Glass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924050" y="285751"/>
                <a:ext cx="188119" cy="280988"/>
              </a:xfrm>
              <a:prstGeom prst="rect">
                <a:avLst/>
              </a:prstGeom>
            </p:spPr>
          </p:pic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6D227506-A0D2-9E2E-99EA-21ED0A7E44A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81000" y="2276525"/>
              <a:ext cx="566034" cy="828000"/>
              <a:chOff x="152908" y="159138"/>
              <a:chExt cx="1475360" cy="2158171"/>
            </a:xfrm>
          </p:grpSpPr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E9EFA6BC-9B5A-8D5C-A148-F9397037EA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2908" y="159138"/>
                <a:ext cx="1475360" cy="2158171"/>
              </a:xfrm>
              <a:prstGeom prst="rect">
                <a:avLst/>
              </a:prstGeom>
            </p:spPr>
          </p:pic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812AA175-1E47-9CA4-A729-AE327D9519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artisticGlass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76262" y="857251"/>
                <a:ext cx="576263" cy="280988"/>
              </a:xfrm>
              <a:prstGeom prst="rect">
                <a:avLst/>
              </a:prstGeom>
            </p:spPr>
          </p:pic>
          <p:pic>
            <p:nvPicPr>
              <p:cNvPr id="38" name="그림 37">
                <a:extLst>
                  <a:ext uri="{FF2B5EF4-FFF2-40B4-BE49-F238E27FC236}">
                    <a16:creationId xmlns:a16="http://schemas.microsoft.com/office/drawing/2014/main" id="{CF533228-897F-1F02-76FE-AC37037F2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artisticGlass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264318" y="535781"/>
                <a:ext cx="216695" cy="288132"/>
              </a:xfrm>
              <a:prstGeom prst="rect">
                <a:avLst/>
              </a:prstGeom>
            </p:spPr>
          </p:pic>
        </p:grp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B3957EE-7BDA-69E7-3CFA-734770B42054}"/>
              </a:ext>
            </a:extLst>
          </p:cNvPr>
          <p:cNvGrpSpPr/>
          <p:nvPr/>
        </p:nvGrpSpPr>
        <p:grpSpPr>
          <a:xfrm>
            <a:off x="1353000" y="3320525"/>
            <a:ext cx="1872000" cy="828000"/>
            <a:chOff x="1353000" y="3320525"/>
            <a:chExt cx="1872000" cy="828000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60CAA66D-E8B4-2995-ED97-80649E66187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53000" y="3320525"/>
              <a:ext cx="575390" cy="828000"/>
              <a:chOff x="297494" y="2476039"/>
              <a:chExt cx="1499746" cy="2158171"/>
            </a:xfrm>
          </p:grpSpPr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id="{46993BC6-2D79-212B-F002-8C3B9919A1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97494" y="2476039"/>
                <a:ext cx="1499746" cy="2158171"/>
              </a:xfrm>
              <a:prstGeom prst="rect">
                <a:avLst/>
              </a:prstGeom>
            </p:spPr>
          </p:pic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C9813861-F32D-08C2-ACC7-2DAEC237BD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Glass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2462" y="3317081"/>
                <a:ext cx="800101" cy="257175"/>
              </a:xfrm>
              <a:prstGeom prst="rect">
                <a:avLst/>
              </a:prstGeom>
            </p:spPr>
          </p:pic>
          <p:pic>
            <p:nvPicPr>
              <p:cNvPr id="42" name="그림 41">
                <a:extLst>
                  <a:ext uri="{FF2B5EF4-FFF2-40B4-BE49-F238E27FC236}">
                    <a16:creationId xmlns:a16="http://schemas.microsoft.com/office/drawing/2014/main" id="{6ABB96EE-8171-0E1B-CC8F-FCAB7BB13A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artisticGlass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452438" y="2636044"/>
                <a:ext cx="190500" cy="230373"/>
              </a:xfrm>
              <a:prstGeom prst="rect">
                <a:avLst/>
              </a:prstGeom>
            </p:spPr>
          </p:pic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03AB1BEB-0970-01F4-ADA8-9245D40A79B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28559" y="3320525"/>
              <a:ext cx="596441" cy="828000"/>
              <a:chOff x="1836729" y="2437940"/>
              <a:chExt cx="1554615" cy="2158171"/>
            </a:xfrm>
          </p:grpSpPr>
          <p:pic>
            <p:nvPicPr>
              <p:cNvPr id="44" name="그림 43">
                <a:extLst>
                  <a:ext uri="{FF2B5EF4-FFF2-40B4-BE49-F238E27FC236}">
                    <a16:creationId xmlns:a16="http://schemas.microsoft.com/office/drawing/2014/main" id="{D1FB0650-FB0C-DFD4-426D-CE1B3F3FF2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36729" y="2437940"/>
                <a:ext cx="1554615" cy="2158171"/>
              </a:xfrm>
              <a:prstGeom prst="rect">
                <a:avLst/>
              </a:prstGeom>
            </p:spPr>
          </p:pic>
          <p:pic>
            <p:nvPicPr>
              <p:cNvPr id="45" name="그림 44">
                <a:extLst>
                  <a:ext uri="{FF2B5EF4-FFF2-40B4-BE49-F238E27FC236}">
                    <a16:creationId xmlns:a16="http://schemas.microsoft.com/office/drawing/2014/main" id="{A2A650B6-93D8-214D-C045-9AE640B915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 cstate="print">
                <a:extLst>
                  <a:ext uri="{BEBA8EAE-BF5A-486C-A8C5-ECC9F3942E4B}">
                    <a14:imgProps xmlns:a14="http://schemas.microsoft.com/office/drawing/2010/main">
                      <a14:imgLayer r:embed="rId22">
                        <a14:imgEffect>
                          <a14:artisticGlass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2221706" y="2866417"/>
                <a:ext cx="776288" cy="324255"/>
              </a:xfrm>
              <a:prstGeom prst="rect">
                <a:avLst/>
              </a:prstGeom>
            </p:spPr>
          </p:pic>
          <p:pic>
            <p:nvPicPr>
              <p:cNvPr id="46" name="그림 45">
                <a:extLst>
                  <a:ext uri="{FF2B5EF4-FFF2-40B4-BE49-F238E27FC236}">
                    <a16:creationId xmlns:a16="http://schemas.microsoft.com/office/drawing/2014/main" id="{F4DF4BCC-5CC5-2A42-8003-32B34FEA43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BEBA8EAE-BF5A-486C-A8C5-ECC9F3942E4B}">
                    <a14:imgProps xmlns:a14="http://schemas.microsoft.com/office/drawing/2010/main">
                      <a14:imgLayer r:embed="rId24">
                        <a14:imgEffect>
                          <a14:artisticGlass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928814" y="2664619"/>
                <a:ext cx="202406" cy="226220"/>
              </a:xfrm>
              <a:prstGeom prst="rect">
                <a:avLst/>
              </a:prstGeom>
            </p:spPr>
          </p:pic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82085BC5-A1E2-602D-89D2-7E30920C9EF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995457" y="3320525"/>
              <a:ext cx="566034" cy="828000"/>
              <a:chOff x="3535870" y="2401774"/>
              <a:chExt cx="1475360" cy="2158171"/>
            </a:xfrm>
          </p:grpSpPr>
          <p:pic>
            <p:nvPicPr>
              <p:cNvPr id="48" name="그림 47">
                <a:extLst>
                  <a:ext uri="{FF2B5EF4-FFF2-40B4-BE49-F238E27FC236}">
                    <a16:creationId xmlns:a16="http://schemas.microsoft.com/office/drawing/2014/main" id="{FBF6656A-B979-811C-1B51-A8228F8DB9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5870" y="2401774"/>
                <a:ext cx="1475360" cy="2158171"/>
              </a:xfrm>
              <a:prstGeom prst="rect">
                <a:avLst/>
              </a:prstGeom>
            </p:spPr>
          </p:pic>
          <p:pic>
            <p:nvPicPr>
              <p:cNvPr id="49" name="그림 48">
                <a:extLst>
                  <a:ext uri="{FF2B5EF4-FFF2-40B4-BE49-F238E27FC236}">
                    <a16:creationId xmlns:a16="http://schemas.microsoft.com/office/drawing/2014/main" id="{395E539B-7F81-D47F-5724-F01A24296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 cstate="print">
                <a:extLst>
                  <a:ext uri="{BEBA8EAE-BF5A-486C-A8C5-ECC9F3942E4B}">
                    <a14:imgProps xmlns:a14="http://schemas.microsoft.com/office/drawing/2010/main">
                      <a14:imgLayer r:embed="rId27">
                        <a14:imgEffect>
                          <a14:artisticGlass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3750469" y="2678907"/>
                <a:ext cx="226220" cy="242888"/>
              </a:xfrm>
              <a:prstGeom prst="rect">
                <a:avLst/>
              </a:prstGeom>
            </p:spPr>
          </p:pic>
        </p:grp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D21C8A7-F323-0FDA-5E7B-D2BC7FE6EACA}"/>
              </a:ext>
            </a:extLst>
          </p:cNvPr>
          <p:cNvGrpSpPr/>
          <p:nvPr/>
        </p:nvGrpSpPr>
        <p:grpSpPr>
          <a:xfrm>
            <a:off x="1353000" y="4364524"/>
            <a:ext cx="1872000" cy="828000"/>
            <a:chOff x="1281000" y="4364524"/>
            <a:chExt cx="1872000" cy="828000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6540B537-1D89-A873-E5F0-B7F5BBC36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81000" y="4364524"/>
              <a:ext cx="601758" cy="828000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F27F964A-BDC9-8EFE-CDF8-550E634A0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8981" y="4364524"/>
              <a:ext cx="587085" cy="828000"/>
            </a:xfrm>
            <a:prstGeom prst="rect">
              <a:avLst/>
            </a:prstGeom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76AFABC6-2995-DCDB-38FC-6C9CEB4C2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82288" y="4364524"/>
              <a:ext cx="570712" cy="828000"/>
            </a:xfrm>
            <a:prstGeom prst="rect">
              <a:avLst/>
            </a:prstGeom>
          </p:spPr>
        </p:pic>
      </p:grpSp>
      <p:graphicFrame>
        <p:nvGraphicFramePr>
          <p:cNvPr id="62" name="차트 61">
            <a:extLst>
              <a:ext uri="{FF2B5EF4-FFF2-40B4-BE49-F238E27FC236}">
                <a16:creationId xmlns:a16="http://schemas.microsoft.com/office/drawing/2014/main" id="{7681EDFB-FDF5-43D1-DA82-E022603208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813339"/>
              </p:ext>
            </p:extLst>
          </p:nvPr>
        </p:nvGraphicFramePr>
        <p:xfrm>
          <a:off x="5060999" y="2492525"/>
          <a:ext cx="1656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1031" name="TextBox 1030">
            <a:extLst>
              <a:ext uri="{FF2B5EF4-FFF2-40B4-BE49-F238E27FC236}">
                <a16:creationId xmlns:a16="http://schemas.microsoft.com/office/drawing/2014/main" id="{52798E33-2AD4-C88A-F784-C32B84D6CBE5}"/>
              </a:ext>
            </a:extLst>
          </p:cNvPr>
          <p:cNvSpPr txBox="1"/>
          <p:nvPr/>
        </p:nvSpPr>
        <p:spPr>
          <a:xfrm>
            <a:off x="5670189" y="3156858"/>
            <a:ext cx="437620" cy="3273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dirty="0"/>
              <a:t>2020</a:t>
            </a:r>
          </a:p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rgbClr val="1C8F57"/>
                </a:solidFill>
              </a:rPr>
              <a:t>173</a:t>
            </a:r>
            <a:r>
              <a:rPr lang="ko-KR" altLang="en-US" sz="1000" b="1" dirty="0">
                <a:solidFill>
                  <a:srgbClr val="1C8F57"/>
                </a:solidFill>
              </a:rPr>
              <a:t>억원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10EAE21C-C6D5-A99E-54BF-F5D4CC6F6473}"/>
              </a:ext>
            </a:extLst>
          </p:cNvPr>
          <p:cNvSpPr txBox="1"/>
          <p:nvPr/>
        </p:nvSpPr>
        <p:spPr>
          <a:xfrm>
            <a:off x="6205312" y="2913342"/>
            <a:ext cx="213200" cy="2215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chemeClr val="bg1"/>
                </a:solidFill>
              </a:rPr>
              <a:t>국산</a:t>
            </a:r>
            <a:endParaRPr lang="en-US" altLang="ko-KR" sz="800" b="1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32%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67B5B168-65AF-08AB-2FD3-6E23553B6185}"/>
              </a:ext>
            </a:extLst>
          </p:cNvPr>
          <p:cNvSpPr txBox="1"/>
          <p:nvPr/>
        </p:nvSpPr>
        <p:spPr>
          <a:xfrm>
            <a:off x="5356545" y="3556280"/>
            <a:ext cx="264496" cy="2215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chemeClr val="bg1"/>
                </a:solidFill>
              </a:rPr>
              <a:t>중국산</a:t>
            </a:r>
            <a:endParaRPr lang="en-US" altLang="ko-KR" sz="800" b="1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64%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C2BE5577-AF3F-F00F-43B7-EDDE49C40482}"/>
              </a:ext>
            </a:extLst>
          </p:cNvPr>
          <p:cNvSpPr txBox="1"/>
          <p:nvPr/>
        </p:nvSpPr>
        <p:spPr>
          <a:xfrm>
            <a:off x="5185825" y="2449245"/>
            <a:ext cx="605935" cy="2215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dirty="0"/>
              <a:t>베트남산 </a:t>
            </a:r>
            <a:r>
              <a:rPr lang="en-US" altLang="ko-KR" sz="800" b="1" dirty="0"/>
              <a:t>· </a:t>
            </a:r>
            <a:r>
              <a:rPr lang="ko-KR" altLang="en-US" sz="800" b="1" dirty="0"/>
              <a:t>기타</a:t>
            </a:r>
            <a:endParaRPr lang="en-US" altLang="ko-KR" sz="800" b="1" dirty="0"/>
          </a:p>
          <a:p>
            <a:pPr algn="ctr">
              <a:lnSpc>
                <a:spcPct val="90000"/>
              </a:lnSpc>
            </a:pPr>
            <a:r>
              <a:rPr lang="en-US" altLang="ko-KR" sz="800" dirty="0"/>
              <a:t>4%</a:t>
            </a:r>
            <a:endParaRPr lang="ko-KR" altLang="en-US" sz="800" dirty="0" err="1"/>
          </a:p>
        </p:txBody>
      </p:sp>
      <p:graphicFrame>
        <p:nvGraphicFramePr>
          <p:cNvPr id="1036" name="차트 1035">
            <a:extLst>
              <a:ext uri="{FF2B5EF4-FFF2-40B4-BE49-F238E27FC236}">
                <a16:creationId xmlns:a16="http://schemas.microsoft.com/office/drawing/2014/main" id="{E15A2300-DA6E-5613-5D8E-8C99B9BA50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841411"/>
              </p:ext>
            </p:extLst>
          </p:nvPr>
        </p:nvGraphicFramePr>
        <p:xfrm>
          <a:off x="7148999" y="2168525"/>
          <a:ext cx="2304000" cy="23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2"/>
          </a:graphicData>
        </a:graphic>
      </p:graphicFrame>
      <p:sp>
        <p:nvSpPr>
          <p:cNvPr id="1029" name="TextBox 1028">
            <a:extLst>
              <a:ext uri="{FF2B5EF4-FFF2-40B4-BE49-F238E27FC236}">
                <a16:creationId xmlns:a16="http://schemas.microsoft.com/office/drawing/2014/main" id="{8D7968F2-5577-5486-692E-D886CE8E24C1}"/>
              </a:ext>
            </a:extLst>
          </p:cNvPr>
          <p:cNvSpPr txBox="1"/>
          <p:nvPr/>
        </p:nvSpPr>
        <p:spPr>
          <a:xfrm>
            <a:off x="8094541" y="3156858"/>
            <a:ext cx="458459" cy="3273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dirty="0"/>
              <a:t>2024</a:t>
            </a:r>
          </a:p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rgbClr val="1C8F57"/>
                </a:solidFill>
              </a:rPr>
              <a:t>337</a:t>
            </a:r>
            <a:r>
              <a:rPr lang="ko-KR" altLang="en-US" sz="1000" b="1" dirty="0">
                <a:solidFill>
                  <a:srgbClr val="1C8F57"/>
                </a:solidFill>
              </a:rPr>
              <a:t>억원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DF5D84D9-5A36-BA05-6E89-86F889C9A93A}"/>
              </a:ext>
            </a:extLst>
          </p:cNvPr>
          <p:cNvSpPr txBox="1"/>
          <p:nvPr/>
        </p:nvSpPr>
        <p:spPr>
          <a:xfrm>
            <a:off x="7301081" y="2168525"/>
            <a:ext cx="782265" cy="11080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dirty="0"/>
              <a:t>베트남산 </a:t>
            </a:r>
            <a:r>
              <a:rPr lang="en-US" altLang="ko-KR" sz="800" b="1" dirty="0"/>
              <a:t>· </a:t>
            </a:r>
            <a:r>
              <a:rPr lang="ko-KR" altLang="en-US" sz="800" b="1" dirty="0"/>
              <a:t>기타 </a:t>
            </a:r>
            <a:r>
              <a:rPr lang="en-US" altLang="ko-KR" sz="800" dirty="0"/>
              <a:t>4%</a:t>
            </a:r>
            <a:endParaRPr lang="ko-KR" altLang="en-US" sz="800" dirty="0" err="1"/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A44054A1-0810-A72C-3919-0845A17EA878}"/>
              </a:ext>
            </a:extLst>
          </p:cNvPr>
          <p:cNvSpPr txBox="1"/>
          <p:nvPr/>
        </p:nvSpPr>
        <p:spPr>
          <a:xfrm>
            <a:off x="8827862" y="2856192"/>
            <a:ext cx="213200" cy="2215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chemeClr val="bg1"/>
                </a:solidFill>
              </a:rPr>
              <a:t>국산</a:t>
            </a:r>
            <a:endParaRPr lang="en-US" altLang="ko-KR" sz="800" b="1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32%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A9EE14CC-0DF2-CB26-2AD1-7CC8FD4D96A5}"/>
              </a:ext>
            </a:extLst>
          </p:cNvPr>
          <p:cNvSpPr txBox="1"/>
          <p:nvPr/>
        </p:nvSpPr>
        <p:spPr>
          <a:xfrm>
            <a:off x="7617145" y="3740430"/>
            <a:ext cx="264496" cy="2215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chemeClr val="bg1"/>
                </a:solidFill>
              </a:rPr>
              <a:t>중국산</a:t>
            </a:r>
            <a:endParaRPr lang="en-US" altLang="ko-KR" sz="800" b="1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64%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FD897D33-2F06-43E9-6611-761D4A942F7C}"/>
              </a:ext>
            </a:extLst>
          </p:cNvPr>
          <p:cNvSpPr txBox="1"/>
          <p:nvPr/>
        </p:nvSpPr>
        <p:spPr>
          <a:xfrm>
            <a:off x="5060999" y="4570516"/>
            <a:ext cx="4392000" cy="73000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171450" indent="-171450" algn="l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/>
              <a:t>국산 </a:t>
            </a:r>
            <a:r>
              <a:rPr lang="en-US" altLang="ko-KR" sz="1000" dirty="0"/>
              <a:t>- </a:t>
            </a:r>
            <a:r>
              <a:rPr lang="ko-KR" altLang="en-US" sz="1000" dirty="0"/>
              <a:t>수입산 제품의 </a:t>
            </a:r>
            <a:r>
              <a:rPr lang="en-US" altLang="ko-KR" sz="1000" dirty="0"/>
              <a:t>Dual Branding </a:t>
            </a:r>
            <a:r>
              <a:rPr lang="ko-KR" altLang="en-US" sz="1000" dirty="0"/>
              <a:t>전략을 통한 전방위 시장 지배력 확대</a:t>
            </a:r>
            <a:endParaRPr lang="en-US" altLang="ko-KR" sz="1000" dirty="0"/>
          </a:p>
          <a:p>
            <a:pPr marL="358775" indent="-171450" algn="l">
              <a:lnSpc>
                <a:spcPct val="110000"/>
              </a:lnSpc>
              <a:spcAft>
                <a:spcPts val="100"/>
              </a:spcAft>
              <a:buFont typeface="Pretendard" panose="02000503000000020004" pitchFamily="50" charset="-127"/>
              <a:buChar char="-"/>
            </a:pPr>
            <a:r>
              <a:rPr lang="ko-KR" altLang="en-US" sz="1000" spc="-30" dirty="0"/>
              <a:t>국산 프리미엄 제품군 통해 원산지 민감도가 높은 학교</a:t>
            </a:r>
            <a:r>
              <a:rPr lang="en-US" altLang="ko-KR" sz="1000" spc="-30" dirty="0"/>
              <a:t> </a:t>
            </a:r>
            <a:r>
              <a:rPr lang="ko-KR" altLang="en-US" sz="1000" spc="-30" dirty="0"/>
              <a:t>급식</a:t>
            </a:r>
            <a:r>
              <a:rPr lang="en-US" altLang="ko-KR" sz="1000" spc="-30" dirty="0"/>
              <a:t> </a:t>
            </a:r>
            <a:r>
              <a:rPr lang="ko-KR" altLang="en-US" sz="1000" spc="-30" dirty="0"/>
              <a:t>및 고급 식자재 시장 공략</a:t>
            </a:r>
            <a:endParaRPr lang="en-US" altLang="ko-KR" sz="1000" spc="-30" dirty="0"/>
          </a:p>
          <a:p>
            <a:pPr marL="358775" indent="-171450" algn="l">
              <a:lnSpc>
                <a:spcPct val="110000"/>
              </a:lnSpc>
              <a:spcAft>
                <a:spcPts val="100"/>
              </a:spcAft>
              <a:buFont typeface="Pretendard" panose="02000503000000020004" pitchFamily="50" charset="-127"/>
              <a:buChar char="-"/>
            </a:pPr>
            <a:r>
              <a:rPr lang="ko-KR" altLang="en-US" sz="1000" spc="-30" dirty="0"/>
              <a:t>가격 경쟁력 높은 수입산 제품군 통해 대형 가공식품 및 프랜차이즈 시장 장악</a:t>
            </a:r>
            <a:endParaRPr lang="en-US" altLang="ko-KR" sz="1000" dirty="0"/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en-US" altLang="ko-KR" sz="1000" dirty="0"/>
              <a:t>CJ</a:t>
            </a:r>
            <a:r>
              <a:rPr lang="ko-KR" altLang="en-US" sz="1000" dirty="0" err="1"/>
              <a:t>프레시웨이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화미</a:t>
            </a:r>
            <a:r>
              <a:rPr lang="ko-KR" altLang="en-US" sz="1000" dirty="0"/>
              <a:t> 등 </a:t>
            </a:r>
            <a:r>
              <a:rPr lang="en-US" altLang="ko-KR" sz="1000" dirty="0"/>
              <a:t>Top-tier </a:t>
            </a:r>
            <a:r>
              <a:rPr lang="ko-KR" altLang="en-US" sz="1000" dirty="0"/>
              <a:t>고객사 </a:t>
            </a:r>
            <a:r>
              <a:rPr lang="en-US" altLang="ko-KR" sz="1000" dirty="0"/>
              <a:t>PB </a:t>
            </a:r>
            <a:r>
              <a:rPr lang="ko-KR" altLang="en-US" sz="1000" dirty="0"/>
              <a:t>제품 납품 통한 고객사 </a:t>
            </a:r>
            <a:r>
              <a:rPr lang="en-US" altLang="ko-KR" sz="1000" dirty="0"/>
              <a:t>Lock-In </a:t>
            </a:r>
            <a:r>
              <a:rPr lang="ko-KR" altLang="en-US" sz="1000" dirty="0"/>
              <a:t>강화</a:t>
            </a:r>
          </a:p>
        </p:txBody>
      </p:sp>
      <p:cxnSp>
        <p:nvCxnSpPr>
          <p:cNvPr id="1044" name="직선 연결선 1043">
            <a:extLst>
              <a:ext uri="{FF2B5EF4-FFF2-40B4-BE49-F238E27FC236}">
                <a16:creationId xmlns:a16="http://schemas.microsoft.com/office/drawing/2014/main" id="{F326851D-1885-6B2C-A85C-A0DB5AF8A749}"/>
              </a:ext>
            </a:extLst>
          </p:cNvPr>
          <p:cNvCxnSpPr>
            <a:cxnSpLocks/>
          </p:cNvCxnSpPr>
          <p:nvPr/>
        </p:nvCxnSpPr>
        <p:spPr>
          <a:xfrm flipV="1">
            <a:off x="5888999" y="2307119"/>
            <a:ext cx="2358726" cy="304372"/>
          </a:xfrm>
          <a:prstGeom prst="line">
            <a:avLst/>
          </a:prstGeom>
          <a:ln w="6350">
            <a:solidFill>
              <a:srgbClr val="6A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직선 연결선 1048">
            <a:extLst>
              <a:ext uri="{FF2B5EF4-FFF2-40B4-BE49-F238E27FC236}">
                <a16:creationId xmlns:a16="http://schemas.microsoft.com/office/drawing/2014/main" id="{0D40BE91-FCDE-4A97-9CDA-5E64A39518A5}"/>
              </a:ext>
            </a:extLst>
          </p:cNvPr>
          <p:cNvCxnSpPr>
            <a:cxnSpLocks/>
          </p:cNvCxnSpPr>
          <p:nvPr/>
        </p:nvCxnSpPr>
        <p:spPr>
          <a:xfrm>
            <a:off x="5888999" y="4024133"/>
            <a:ext cx="2358726" cy="304372"/>
          </a:xfrm>
          <a:prstGeom prst="line">
            <a:avLst/>
          </a:prstGeom>
          <a:ln w="6350">
            <a:solidFill>
              <a:srgbClr val="6A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0" name="이등변 삼각형 1049">
            <a:extLst>
              <a:ext uri="{FF2B5EF4-FFF2-40B4-BE49-F238E27FC236}">
                <a16:creationId xmlns:a16="http://schemas.microsoft.com/office/drawing/2014/main" id="{B301E284-6EC1-013B-6AAE-8C4EA3FF53A7}"/>
              </a:ext>
            </a:extLst>
          </p:cNvPr>
          <p:cNvSpPr/>
          <p:nvPr/>
        </p:nvSpPr>
        <p:spPr>
          <a:xfrm rot="5400000">
            <a:off x="6644999" y="3212525"/>
            <a:ext cx="576000" cy="216000"/>
          </a:xfrm>
          <a:prstGeom prst="triangle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51" name="직사각형 1050">
            <a:extLst>
              <a:ext uri="{FF2B5EF4-FFF2-40B4-BE49-F238E27FC236}">
                <a16:creationId xmlns:a16="http://schemas.microsoft.com/office/drawing/2014/main" id="{B378FC0F-C6C8-0F14-F17B-C5C701B45F5A}"/>
              </a:ext>
            </a:extLst>
          </p:cNvPr>
          <p:cNvSpPr/>
          <p:nvPr/>
        </p:nvSpPr>
        <p:spPr>
          <a:xfrm>
            <a:off x="8336244" y="3661457"/>
            <a:ext cx="1056642" cy="601143"/>
          </a:xfrm>
          <a:prstGeom prst="rect">
            <a:avLst/>
          </a:prstGeom>
          <a:solidFill>
            <a:srgbClr val="FF383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2024</a:t>
            </a:r>
            <a:r>
              <a:rPr lang="ko-KR" altLang="en-US" sz="1000" b="1" dirty="0">
                <a:solidFill>
                  <a:schemeClr val="bg1"/>
                </a:solidFill>
              </a:rPr>
              <a:t>년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Breakdown </a:t>
            </a:r>
            <a:r>
              <a:rPr lang="ko-KR" altLang="en-US" sz="1000" b="1" dirty="0">
                <a:solidFill>
                  <a:schemeClr val="bg1"/>
                </a:solidFill>
              </a:rPr>
              <a:t>필요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2F34C5-213E-617F-EE7C-2F2A1F8EAE32}"/>
              </a:ext>
            </a:extLst>
          </p:cNvPr>
          <p:cNvSpPr/>
          <p:nvPr/>
        </p:nvSpPr>
        <p:spPr>
          <a:xfrm>
            <a:off x="5384800" y="52034"/>
            <a:ext cx="4392000" cy="468010"/>
          </a:xfrm>
          <a:prstGeom prst="rect">
            <a:avLst/>
          </a:prstGeom>
          <a:solidFill>
            <a:srgbClr val="FF383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PETRA</a:t>
            </a:r>
            <a:r>
              <a:rPr lang="ko-KR" altLang="en-US" sz="1000" b="1" dirty="0">
                <a:solidFill>
                  <a:schemeClr val="bg1"/>
                </a:solidFill>
              </a:rPr>
              <a:t> </a:t>
            </a:r>
            <a:r>
              <a:rPr lang="en-US" altLang="ko-KR" sz="1000" b="1" dirty="0">
                <a:solidFill>
                  <a:schemeClr val="bg1"/>
                </a:solidFill>
              </a:rPr>
              <a:t>Note</a:t>
            </a: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2024</a:t>
            </a:r>
            <a:r>
              <a:rPr lang="ko-KR" altLang="en-US" sz="800" dirty="0">
                <a:solidFill>
                  <a:schemeClr val="bg1"/>
                </a:solidFill>
              </a:rPr>
              <a:t>년 원산지별 매출액 </a:t>
            </a:r>
            <a:r>
              <a:rPr lang="en-US" altLang="ko-KR" sz="800" dirty="0">
                <a:solidFill>
                  <a:schemeClr val="bg1"/>
                </a:solidFill>
              </a:rPr>
              <a:t>Breakdown </a:t>
            </a:r>
            <a:r>
              <a:rPr lang="ko-KR" altLang="en-US" sz="800" dirty="0">
                <a:solidFill>
                  <a:schemeClr val="bg1"/>
                </a:solidFill>
              </a:rPr>
              <a:t>자료 요청 드립니다</a:t>
            </a:r>
            <a:r>
              <a:rPr lang="en-US" altLang="ko-KR" sz="800" dirty="0">
                <a:solidFill>
                  <a:schemeClr val="bg1"/>
                </a:solidFill>
              </a:rPr>
              <a:t>. </a:t>
            </a:r>
            <a:r>
              <a:rPr lang="ko-KR" altLang="en-US" sz="800" dirty="0">
                <a:solidFill>
                  <a:schemeClr val="bg1"/>
                </a:solidFill>
              </a:rPr>
              <a:t>자료 수령 후 </a:t>
            </a:r>
            <a:r>
              <a:rPr lang="en-US" altLang="ko-KR" sz="800" dirty="0">
                <a:solidFill>
                  <a:schemeClr val="bg1"/>
                </a:solidFill>
              </a:rPr>
              <a:t>Update </a:t>
            </a:r>
            <a:r>
              <a:rPr lang="ko-KR" altLang="en-US" sz="800" dirty="0">
                <a:solidFill>
                  <a:schemeClr val="bg1"/>
                </a:solidFill>
              </a:rPr>
              <a:t>하도록 하겠습니다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234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D950-C6F5-135A-3F01-109AE044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C043ADC-4FFC-C33E-95A7-57244D9242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Target Highlights - (2) </a:t>
            </a:r>
            <a:r>
              <a:rPr lang="ko-KR" altLang="en-US" dirty="0"/>
              <a:t>안정적인 대형 고객 네트워크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673F32-5987-875D-BDB5-492350501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3CF284-F700-F7D6-BF13-396D8511C89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8997AA-80A5-F5F5-11F0-B93A7CF5B70D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대상회사 </a:t>
            </a:r>
            <a:r>
              <a:rPr lang="ko-KR" altLang="en-US" sz="1200" b="1">
                <a:solidFill>
                  <a:schemeClr val="bg1"/>
                </a:solidFill>
              </a:rPr>
              <a:t>주요 고객사 네트워크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E6C261-B0A9-0A4D-D334-02B5A92BF466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주요 고객사별 매출액 </a:t>
            </a:r>
            <a:r>
              <a:rPr lang="en-US" altLang="ko-KR" sz="1200" b="1" dirty="0">
                <a:solidFill>
                  <a:schemeClr val="bg1"/>
                </a:solidFill>
              </a:rPr>
              <a:t>Breakdown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97B99-51B8-C719-A752-38D5F2616C22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 </a:t>
            </a:r>
            <a:r>
              <a:rPr lang="ko-KR" altLang="en-US" sz="1400" b="1" dirty="0" err="1">
                <a:solidFill>
                  <a:srgbClr val="3D3D3D"/>
                </a:solidFill>
              </a:rPr>
              <a:t>삼성웰스토리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 err="1">
                <a:solidFill>
                  <a:srgbClr val="3D3D3D"/>
                </a:solidFill>
              </a:rPr>
              <a:t>아워홈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 err="1">
                <a:solidFill>
                  <a:srgbClr val="3D3D3D"/>
                </a:solidFill>
              </a:rPr>
              <a:t>현대그린푸드</a:t>
            </a:r>
            <a:r>
              <a:rPr lang="en-US" altLang="ko-KR" sz="1400" b="1" dirty="0">
                <a:solidFill>
                  <a:srgbClr val="3D3D3D"/>
                </a:solidFill>
              </a:rPr>
              <a:t>, CJ</a:t>
            </a:r>
            <a:r>
              <a:rPr lang="ko-KR" altLang="en-US" sz="1400" b="1" dirty="0" err="1">
                <a:solidFill>
                  <a:srgbClr val="3D3D3D"/>
                </a:solidFill>
              </a:rPr>
              <a:t>프레시웨이</a:t>
            </a:r>
            <a:r>
              <a:rPr lang="ko-KR" altLang="en-US" sz="1400" b="1" dirty="0">
                <a:solidFill>
                  <a:srgbClr val="3D3D3D"/>
                </a:solidFill>
              </a:rPr>
              <a:t> 등 국내 </a:t>
            </a:r>
            <a:r>
              <a:rPr lang="en-US" altLang="ko-KR" sz="1400" b="1" dirty="0">
                <a:solidFill>
                  <a:srgbClr val="3D3D3D"/>
                </a:solidFill>
              </a:rPr>
              <a:t>Top-4</a:t>
            </a:r>
            <a:r>
              <a:rPr lang="ko-KR" altLang="en-US" sz="1400" b="1" dirty="0">
                <a:solidFill>
                  <a:srgbClr val="3D3D3D"/>
                </a:solidFill>
              </a:rPr>
              <a:t> 식자재 </a:t>
            </a:r>
            <a:r>
              <a:rPr lang="ko-KR" altLang="en-US" sz="1400" b="1" dirty="0" err="1">
                <a:solidFill>
                  <a:srgbClr val="3D3D3D"/>
                </a:solidFill>
              </a:rPr>
              <a:t>유통사</a:t>
            </a:r>
            <a:r>
              <a:rPr lang="ko-KR" altLang="en-US" sz="1400" b="1" dirty="0">
                <a:solidFill>
                  <a:srgbClr val="3D3D3D"/>
                </a:solidFill>
              </a:rPr>
              <a:t> 모두를 핵심 고객사로 확보하고 있으며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이를 기반으로 중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대형 식품 제조사 네트워크를 확장하며 고객사 다변화를 통한 성장을 기록하고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B075A3-D22A-1ED1-54AA-241E9B48C1C7}"/>
              </a:ext>
            </a:extLst>
          </p:cNvPr>
          <p:cNvSpPr/>
          <p:nvPr/>
        </p:nvSpPr>
        <p:spPr>
          <a:xfrm>
            <a:off x="453000" y="5445950"/>
            <a:ext cx="9000000" cy="504000"/>
          </a:xfrm>
          <a:prstGeom prst="rect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국내 </a:t>
            </a:r>
            <a:r>
              <a:rPr lang="en-US" altLang="ko-KR" sz="1000" b="1" dirty="0">
                <a:solidFill>
                  <a:schemeClr val="bg1"/>
                </a:solidFill>
              </a:rPr>
              <a:t>Top-4 </a:t>
            </a:r>
            <a:r>
              <a:rPr lang="ko-KR" altLang="en-US" sz="1000" b="1" dirty="0">
                <a:solidFill>
                  <a:schemeClr val="bg1"/>
                </a:solidFill>
              </a:rPr>
              <a:t>식자재 유통사를 포함한 국내 식품업계 주요 중 </a:t>
            </a:r>
            <a:r>
              <a:rPr lang="en-US" altLang="ko-KR" sz="1000" b="1" dirty="0">
                <a:solidFill>
                  <a:schemeClr val="bg1"/>
                </a:solidFill>
              </a:rPr>
              <a:t>· </a:t>
            </a:r>
            <a:r>
              <a:rPr lang="ko-KR" altLang="en-US" sz="1000" b="1" dirty="0">
                <a:solidFill>
                  <a:schemeClr val="bg1"/>
                </a:solidFill>
              </a:rPr>
              <a:t>대형 고객사 중심의 고객 포트폴리오를 통해 안정적 </a:t>
            </a:r>
            <a:r>
              <a:rPr lang="en-US" altLang="ko-KR" sz="1000" b="1" dirty="0">
                <a:solidFill>
                  <a:schemeClr val="bg1"/>
                </a:solidFill>
              </a:rPr>
              <a:t>· </a:t>
            </a:r>
            <a:r>
              <a:rPr lang="ko-KR" altLang="en-US" sz="1000" b="1" dirty="0">
                <a:solidFill>
                  <a:schemeClr val="bg1"/>
                </a:solidFill>
              </a:rPr>
              <a:t>지속적인 매출 성장 기반 확보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향후 국내 외식산업 대형화 및 </a:t>
            </a:r>
            <a:r>
              <a:rPr lang="en-US" altLang="ko-KR" sz="1000" b="1" dirty="0">
                <a:solidFill>
                  <a:schemeClr val="bg1"/>
                </a:solidFill>
              </a:rPr>
              <a:t>K-</a:t>
            </a:r>
            <a:r>
              <a:rPr lang="ko-KR" altLang="en-US" sz="1000" b="1" dirty="0" err="1">
                <a:solidFill>
                  <a:schemeClr val="bg1"/>
                </a:solidFill>
              </a:rPr>
              <a:t>푸드</a:t>
            </a:r>
            <a:r>
              <a:rPr lang="ko-KR" altLang="en-US" sz="1000" b="1" dirty="0">
                <a:solidFill>
                  <a:schemeClr val="bg1"/>
                </a:solidFill>
              </a:rPr>
              <a:t> 수출 확대에 따른 대규모 </a:t>
            </a:r>
            <a:r>
              <a:rPr lang="en-US" altLang="ko-KR" sz="1000" b="1" dirty="0">
                <a:solidFill>
                  <a:schemeClr val="bg1"/>
                </a:solidFill>
              </a:rPr>
              <a:t>B2B </a:t>
            </a:r>
            <a:r>
              <a:rPr lang="ko-KR" altLang="en-US" sz="1000" b="1" dirty="0">
                <a:solidFill>
                  <a:schemeClr val="bg1"/>
                </a:solidFill>
              </a:rPr>
              <a:t>식자재 수요 증가 국면에서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대형 고객 포트폴리오 기반 전방시장 </a:t>
            </a:r>
            <a:r>
              <a:rPr lang="en-US" altLang="ko-KR" sz="1000" b="1" dirty="0">
                <a:solidFill>
                  <a:schemeClr val="bg1"/>
                </a:solidFill>
              </a:rPr>
              <a:t>Upside</a:t>
            </a:r>
            <a:r>
              <a:rPr lang="ko-KR" altLang="en-US" sz="1000" b="1" dirty="0">
                <a:solidFill>
                  <a:schemeClr val="bg1"/>
                </a:solidFill>
              </a:rPr>
              <a:t>의</a:t>
            </a:r>
            <a:r>
              <a:rPr lang="en-US" altLang="ko-KR" sz="1000" b="1" dirty="0">
                <a:solidFill>
                  <a:schemeClr val="bg1"/>
                </a:solidFill>
              </a:rPr>
              <a:t> </a:t>
            </a:r>
            <a:r>
              <a:rPr lang="ko-KR" altLang="en-US" sz="1000" b="1" dirty="0">
                <a:solidFill>
                  <a:schemeClr val="bg1"/>
                </a:solidFill>
              </a:rPr>
              <a:t>직접적 </a:t>
            </a:r>
            <a:r>
              <a:rPr lang="en-US" altLang="ko-KR" sz="1000" b="1" dirty="0">
                <a:solidFill>
                  <a:schemeClr val="bg1"/>
                </a:solidFill>
              </a:rPr>
              <a:t>· </a:t>
            </a:r>
            <a:r>
              <a:rPr lang="ko-KR" altLang="en-US" sz="1000" b="1" dirty="0">
                <a:solidFill>
                  <a:schemeClr val="bg1"/>
                </a:solidFill>
              </a:rPr>
              <a:t>구조적 수혜 가능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7DDE9395-25B1-D4B8-CEED-E9EB6F98BE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6361415"/>
              </p:ext>
            </p:extLst>
          </p:nvPr>
        </p:nvGraphicFramePr>
        <p:xfrm>
          <a:off x="5060999" y="2492525"/>
          <a:ext cx="1656000" cy="16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2FAB8FF-4F87-48E5-7F54-34A1FDDB9EB0}"/>
              </a:ext>
            </a:extLst>
          </p:cNvPr>
          <p:cNvSpPr txBox="1"/>
          <p:nvPr/>
        </p:nvSpPr>
        <p:spPr>
          <a:xfrm>
            <a:off x="5670189" y="3156858"/>
            <a:ext cx="437620" cy="3273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dirty="0"/>
              <a:t>2020</a:t>
            </a:r>
          </a:p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rgbClr val="1C8F57"/>
                </a:solidFill>
              </a:rPr>
              <a:t>173</a:t>
            </a:r>
            <a:r>
              <a:rPr lang="ko-KR" altLang="en-US" sz="1000" b="1" dirty="0">
                <a:solidFill>
                  <a:srgbClr val="1C8F57"/>
                </a:solidFill>
              </a:rPr>
              <a:t>억원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875690-0EA5-0BFD-FCC9-B0D39EFD2291}"/>
              </a:ext>
            </a:extLst>
          </p:cNvPr>
          <p:cNvSpPr txBox="1"/>
          <p:nvPr/>
        </p:nvSpPr>
        <p:spPr>
          <a:xfrm>
            <a:off x="6023957" y="2725643"/>
            <a:ext cx="542259" cy="257951"/>
          </a:xfrm>
          <a:prstGeom prst="rect">
            <a:avLst/>
          </a:prstGeom>
          <a:solidFill>
            <a:srgbClr val="1C8F57"/>
          </a:solidFill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spc="-30" dirty="0" err="1">
                <a:solidFill>
                  <a:schemeClr val="bg1"/>
                </a:solidFill>
              </a:rPr>
              <a:t>현대그린푸드</a:t>
            </a:r>
            <a:endParaRPr lang="en-US" altLang="ko-KR" sz="800" b="1" spc="-30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20%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FD1221-9631-3676-6317-FE99539BC5A9}"/>
              </a:ext>
            </a:extLst>
          </p:cNvPr>
          <p:cNvSpPr txBox="1"/>
          <p:nvPr/>
        </p:nvSpPr>
        <p:spPr>
          <a:xfrm>
            <a:off x="5263513" y="3209726"/>
            <a:ext cx="216406" cy="2215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chemeClr val="bg1"/>
                </a:solidFill>
              </a:rPr>
              <a:t>기타</a:t>
            </a:r>
            <a:endParaRPr lang="en-US" altLang="ko-KR" sz="800" b="1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43%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0E60D7AD-3FAA-D633-B5EA-7E11C255C6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8592608"/>
              </p:ext>
            </p:extLst>
          </p:nvPr>
        </p:nvGraphicFramePr>
        <p:xfrm>
          <a:off x="7148999" y="2168525"/>
          <a:ext cx="2304000" cy="23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3E49E64B-109C-B434-762D-2D503D9FDEA7}"/>
              </a:ext>
            </a:extLst>
          </p:cNvPr>
          <p:cNvSpPr txBox="1"/>
          <p:nvPr/>
        </p:nvSpPr>
        <p:spPr>
          <a:xfrm>
            <a:off x="8094541" y="3156858"/>
            <a:ext cx="458459" cy="3273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000" dirty="0"/>
              <a:t>2024</a:t>
            </a:r>
          </a:p>
          <a:p>
            <a:pPr algn="ctr">
              <a:lnSpc>
                <a:spcPct val="110000"/>
              </a:lnSpc>
            </a:pPr>
            <a:r>
              <a:rPr lang="en-US" altLang="ko-KR" sz="1000" b="1" dirty="0">
                <a:solidFill>
                  <a:srgbClr val="1C8F57"/>
                </a:solidFill>
              </a:rPr>
              <a:t>337</a:t>
            </a:r>
            <a:r>
              <a:rPr lang="ko-KR" altLang="en-US" sz="1000" b="1" dirty="0">
                <a:solidFill>
                  <a:srgbClr val="1C8F57"/>
                </a:solidFill>
              </a:rPr>
              <a:t>억원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B9B2D3-B16A-E904-6015-A23D5C9B4D00}"/>
              </a:ext>
            </a:extLst>
          </p:cNvPr>
          <p:cNvSpPr txBox="1"/>
          <p:nvPr/>
        </p:nvSpPr>
        <p:spPr>
          <a:xfrm>
            <a:off x="5060999" y="4570516"/>
            <a:ext cx="4392000" cy="73000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/>
              <a:t>국내 </a:t>
            </a:r>
            <a:r>
              <a:rPr lang="en-US" altLang="ko-KR" sz="1000" dirty="0"/>
              <a:t>Top-4 </a:t>
            </a:r>
            <a:r>
              <a:rPr lang="ko-KR" altLang="en-US" sz="1000" dirty="0"/>
              <a:t>식자재 </a:t>
            </a:r>
            <a:r>
              <a:rPr lang="ko-KR" altLang="en-US" sz="1000" dirty="0" err="1"/>
              <a:t>유통사</a:t>
            </a:r>
            <a:r>
              <a:rPr lang="ko-KR" altLang="en-US" sz="1000" dirty="0"/>
              <a:t> 납품 통한 안정적인 매출 기반 구축</a:t>
            </a:r>
            <a:endParaRPr lang="en-US" altLang="ko-KR" sz="1000" dirty="0"/>
          </a:p>
          <a:p>
            <a:pPr marL="358775" indent="-171450">
              <a:lnSpc>
                <a:spcPct val="110000"/>
              </a:lnSpc>
              <a:spcAft>
                <a:spcPts val="100"/>
              </a:spcAft>
              <a:buFont typeface="Pretendard" panose="02000503000000020004" pitchFamily="50" charset="-127"/>
              <a:buChar char="-"/>
            </a:pPr>
            <a:r>
              <a:rPr lang="ko-KR" altLang="en-US" sz="1000" dirty="0" err="1"/>
              <a:t>삼성웰스토리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아워홈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현대그린푸드</a:t>
            </a:r>
            <a:r>
              <a:rPr lang="en-US" altLang="ko-KR" sz="1000" dirty="0"/>
              <a:t>, CJ</a:t>
            </a:r>
            <a:r>
              <a:rPr lang="ko-KR" altLang="en-US" sz="1000" dirty="0" err="1"/>
              <a:t>프레시웨이</a:t>
            </a:r>
            <a:r>
              <a:rPr lang="ko-KR" altLang="en-US" sz="1000" dirty="0"/>
              <a:t> 등 </a:t>
            </a:r>
            <a:r>
              <a:rPr lang="en-US" altLang="ko-KR" sz="1000" dirty="0"/>
              <a:t>4</a:t>
            </a:r>
            <a:r>
              <a:rPr lang="ko-KR" altLang="en-US" sz="1000" dirty="0"/>
              <a:t>개사向 매출 비중 </a:t>
            </a:r>
            <a:r>
              <a:rPr lang="en-US" altLang="ko-KR" sz="1000" dirty="0"/>
              <a:t>57%</a:t>
            </a:r>
            <a:endParaRPr lang="ko-KR" altLang="en-US" sz="1000" dirty="0"/>
          </a:p>
          <a:p>
            <a:pPr marL="171450" indent="-171450" algn="l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/>
              <a:t>중 </a:t>
            </a:r>
            <a:r>
              <a:rPr lang="en-US" altLang="ko-KR" sz="1000" dirty="0"/>
              <a:t>· </a:t>
            </a:r>
            <a:r>
              <a:rPr lang="ko-KR" altLang="en-US" sz="1000" dirty="0"/>
              <a:t>대형 식품사 중심의 지속적인 신규 고객사 발굴 통한 매출처 다변화 및 외형적 성장</a:t>
            </a:r>
            <a:endParaRPr lang="en-US" altLang="ko-KR" sz="1000" dirty="0"/>
          </a:p>
          <a:p>
            <a:pPr marL="358775" indent="-171450" algn="l">
              <a:lnSpc>
                <a:spcPct val="110000"/>
              </a:lnSpc>
              <a:spcAft>
                <a:spcPts val="100"/>
              </a:spcAft>
              <a:buFont typeface="Pretendard" panose="02000503000000020004" pitchFamily="50" charset="-127"/>
              <a:buChar char="-"/>
            </a:pPr>
            <a:r>
              <a:rPr lang="ko-KR" altLang="en-US" sz="1000" dirty="0"/>
              <a:t>기타 고객사向 매출 비중은 </a:t>
            </a:r>
            <a:r>
              <a:rPr lang="en-US" altLang="ko-KR" sz="1000" dirty="0"/>
              <a:t>2020</a:t>
            </a:r>
            <a:r>
              <a:rPr lang="ko-KR" altLang="en-US" sz="1000" dirty="0"/>
              <a:t>년 </a:t>
            </a:r>
            <a:r>
              <a:rPr lang="en-US" altLang="ko-KR" sz="1000" dirty="0"/>
              <a:t>43%</a:t>
            </a:r>
            <a:r>
              <a:rPr lang="ko-KR" altLang="en-US" sz="1000" dirty="0"/>
              <a:t>에서 </a:t>
            </a:r>
            <a:r>
              <a:rPr lang="en-US" altLang="ko-KR" sz="1000" dirty="0"/>
              <a:t>2024</a:t>
            </a:r>
            <a:r>
              <a:rPr lang="ko-KR" altLang="en-US" sz="1000" dirty="0"/>
              <a:t>년 </a:t>
            </a:r>
            <a:r>
              <a:rPr lang="en-US" altLang="ko-KR" sz="1000" dirty="0"/>
              <a:t>00%</a:t>
            </a:r>
            <a:r>
              <a:rPr lang="ko-KR" altLang="en-US" sz="1000" dirty="0"/>
              <a:t>로 증가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BBDD2A7-6C43-DA99-FD24-2DE7F7A8001F}"/>
              </a:ext>
            </a:extLst>
          </p:cNvPr>
          <p:cNvCxnSpPr>
            <a:cxnSpLocks/>
          </p:cNvCxnSpPr>
          <p:nvPr/>
        </p:nvCxnSpPr>
        <p:spPr>
          <a:xfrm flipV="1">
            <a:off x="5888999" y="2307119"/>
            <a:ext cx="2358726" cy="304372"/>
          </a:xfrm>
          <a:prstGeom prst="line">
            <a:avLst/>
          </a:prstGeom>
          <a:ln w="6350">
            <a:solidFill>
              <a:srgbClr val="6A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3F4BD90-110C-03C9-FADB-FF3DE99279E5}"/>
              </a:ext>
            </a:extLst>
          </p:cNvPr>
          <p:cNvCxnSpPr>
            <a:cxnSpLocks/>
          </p:cNvCxnSpPr>
          <p:nvPr/>
        </p:nvCxnSpPr>
        <p:spPr>
          <a:xfrm>
            <a:off x="5888999" y="4024133"/>
            <a:ext cx="2358726" cy="304372"/>
          </a:xfrm>
          <a:prstGeom prst="line">
            <a:avLst/>
          </a:prstGeom>
          <a:ln w="6350">
            <a:solidFill>
              <a:srgbClr val="6A6A6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728015FB-E15D-4903-6D92-11C6906F248D}"/>
              </a:ext>
            </a:extLst>
          </p:cNvPr>
          <p:cNvSpPr/>
          <p:nvPr/>
        </p:nvSpPr>
        <p:spPr>
          <a:xfrm rot="5400000">
            <a:off x="6644999" y="3212525"/>
            <a:ext cx="576000" cy="216000"/>
          </a:xfrm>
          <a:prstGeom prst="triangle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520CBE34-453A-9937-E630-F5DEB83A2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450324"/>
              </p:ext>
            </p:extLst>
          </p:nvPr>
        </p:nvGraphicFramePr>
        <p:xfrm>
          <a:off x="453000" y="2168524"/>
          <a:ext cx="4392000" cy="31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494416672"/>
                    </a:ext>
                  </a:extLst>
                </a:gridCol>
                <a:gridCol w="3672000">
                  <a:extLst>
                    <a:ext uri="{9D8B030D-6E8A-4147-A177-3AD203B41FA5}">
                      <a16:colId xmlns:a16="http://schemas.microsoft.com/office/drawing/2014/main" val="1733313750"/>
                    </a:ext>
                  </a:extLst>
                </a:gridCol>
              </a:tblGrid>
              <a:tr h="1044000"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메이저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식자재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dirty="0" err="1">
                          <a:solidFill>
                            <a:schemeClr val="bg1"/>
                          </a:solidFill>
                        </a:rPr>
                        <a:t>유통사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108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10000"/>
                        </a:lnSpc>
                        <a:spcAft>
                          <a:spcPts val="4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국내 상위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 식자재 유통업체에 모두 납품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Aft>
                          <a:spcPts val="4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단체급식 및 프랜차이즈 수요 대응으로 지속 발주</a:t>
                      </a:r>
                    </a:p>
                  </a:txBody>
                  <a:tcPr marL="2232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965603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메이저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식품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제조사</a:t>
                      </a:r>
                    </a:p>
                  </a:txBody>
                  <a:tcPr marL="108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SPC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삼립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대상 등 국내 메이저 식품업체 납품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품질 기준이 높은 고객사 대상 장기 파트너십 유지</a:t>
                      </a:r>
                    </a:p>
                  </a:txBody>
                  <a:tcPr marL="2232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218700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중견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식품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latinLnBrk="0">
                        <a:lnSpc>
                          <a:spcPct val="11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제조사</a:t>
                      </a:r>
                    </a:p>
                  </a:txBody>
                  <a:tcPr marL="108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중견 식품업체 납품 통한 고객 네트워크 확대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A2A2A"/>
                        </a:solidFill>
                        <a:effectLst/>
                        <a:uLnTx/>
                        <a:uFillTx/>
                        <a:latin typeface="Pretendard"/>
                        <a:ea typeface="Pretendard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다양한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PB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2A2A"/>
                          </a:solidFill>
                          <a:effectLst/>
                          <a:uLnTx/>
                          <a:uFillTx/>
                          <a:latin typeface="Pretendard"/>
                          <a:ea typeface="Pretendard"/>
                          <a:cs typeface="+mn-cs"/>
                        </a:rPr>
                        <a:t>제품 납품 통한 안정적 매출 확보</a:t>
                      </a:r>
                    </a:p>
                  </a:txBody>
                  <a:tcPr marL="2232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181814"/>
                  </a:ext>
                </a:extLst>
              </a:tr>
            </a:tbl>
          </a:graphicData>
        </a:graphic>
      </p:graphicFrame>
      <p:pic>
        <p:nvPicPr>
          <p:cNvPr id="34" name="Picture 2" descr="삼성웰스토리, 주류사업 '기웃' - 딜사이트">
            <a:extLst>
              <a:ext uri="{FF2B5EF4-FFF2-40B4-BE49-F238E27FC236}">
                <a16:creationId xmlns:a16="http://schemas.microsoft.com/office/drawing/2014/main" id="{2F5C7456-0351-DB95-DE0B-529BAB5229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3000" y="2809720"/>
            <a:ext cx="1044000" cy="17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현대그린푸드, 구내식당서 '맛집' 투어… 연내 협업 메뉴 100개 선봬">
            <a:extLst>
              <a:ext uri="{FF2B5EF4-FFF2-40B4-BE49-F238E27FC236}">
                <a16:creationId xmlns:a16="http://schemas.microsoft.com/office/drawing/2014/main" id="{13700F9D-2FEF-B1C2-7D9E-ED34A5BBA9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3000" y="2359430"/>
            <a:ext cx="5628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" descr="아워홈] 25년 상반기 신입사원 (일반/장교) 공개채용 | 공모전 대외활동-링커리어">
            <a:extLst>
              <a:ext uri="{FF2B5EF4-FFF2-40B4-BE49-F238E27FC236}">
                <a16:creationId xmlns:a16="http://schemas.microsoft.com/office/drawing/2014/main" id="{A766EA74-E6E9-7A7C-828E-E3C12B44B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51909" y="2395430"/>
            <a:ext cx="567559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0" descr="CJ프레시웨이] 25년 상반기 단체급식 경로 영양사/조리사 초대졸 신입인턴 공개 채용(~02/02) | 공모전 대외활동-링커리어">
            <a:extLst>
              <a:ext uri="{FF2B5EF4-FFF2-40B4-BE49-F238E27FC236}">
                <a16:creationId xmlns:a16="http://schemas.microsoft.com/office/drawing/2014/main" id="{8E068284-7486-3B67-0743-EAC6AF5FEA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853" t="32077" r="13627" b="32241"/>
          <a:stretch>
            <a:fillRect/>
          </a:stretch>
        </p:blipFill>
        <p:spPr bwMode="auto">
          <a:xfrm>
            <a:off x="2545568" y="2769618"/>
            <a:ext cx="679432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0" descr="전자구매시스템">
            <a:extLst>
              <a:ext uri="{FF2B5EF4-FFF2-40B4-BE49-F238E27FC236}">
                <a16:creationId xmlns:a16="http://schemas.microsoft.com/office/drawing/2014/main" id="{B4DE115F-BD05-4AD6-F015-B8BBDD47C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55578" y="2377430"/>
            <a:ext cx="469422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5EB94779-A508-396F-606E-744B69614C08}"/>
              </a:ext>
            </a:extLst>
          </p:cNvPr>
          <p:cNvGrpSpPr/>
          <p:nvPr/>
        </p:nvGrpSpPr>
        <p:grpSpPr>
          <a:xfrm>
            <a:off x="1412086" y="3407333"/>
            <a:ext cx="1753828" cy="654382"/>
            <a:chOff x="1441600" y="3404855"/>
            <a:chExt cx="1753828" cy="654382"/>
          </a:xfrm>
        </p:grpSpPr>
        <p:pic>
          <p:nvPicPr>
            <p:cNvPr id="41" name="Picture 14" descr="대상그룹">
              <a:extLst>
                <a:ext uri="{FF2B5EF4-FFF2-40B4-BE49-F238E27FC236}">
                  <a16:creationId xmlns:a16="http://schemas.microsoft.com/office/drawing/2014/main" id="{9334D2D0-E2B4-13F1-2D10-520DC2F628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9028" y="3404855"/>
              <a:ext cx="806400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그래픽 41">
              <a:extLst>
                <a:ext uri="{FF2B5EF4-FFF2-40B4-BE49-F238E27FC236}">
                  <a16:creationId xmlns:a16="http://schemas.microsoft.com/office/drawing/2014/main" id="{47BD6040-39AD-3729-FD4A-4311F7ACF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41600" y="3807237"/>
              <a:ext cx="816479" cy="252000"/>
            </a:xfrm>
            <a:prstGeom prst="rect">
              <a:avLst/>
            </a:prstGeom>
          </p:spPr>
        </p:pic>
        <p:pic>
          <p:nvPicPr>
            <p:cNvPr id="43" name="Picture 22" descr="대한항공 C&amp;D, 밀키트 전문 기업 마이셰프 인수 - 플래텀">
              <a:extLst>
                <a:ext uri="{FF2B5EF4-FFF2-40B4-BE49-F238E27FC236}">
                  <a16:creationId xmlns:a16="http://schemas.microsoft.com/office/drawing/2014/main" id="{378B5019-BCE0-B25C-CCBB-0D185270CF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7422" y="3908029"/>
              <a:ext cx="569612" cy="1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0" descr="CJ제일제당 작년 영업익 1.6조원 전년비 20.2%↑ &lt; 산업 &lt; 산업 &lt; 기사본문 - 인더스트리뉴스">
              <a:extLst>
                <a:ext uri="{FF2B5EF4-FFF2-40B4-BE49-F238E27FC236}">
                  <a16:creationId xmlns:a16="http://schemas.microsoft.com/office/drawing/2014/main" id="{73D19E58-B567-39B7-7280-8C69E7CDCC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6497" y="3422855"/>
              <a:ext cx="626685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EA7C2DC-584B-9679-E292-7906BEE50E27}"/>
              </a:ext>
            </a:extLst>
          </p:cNvPr>
          <p:cNvGrpSpPr/>
          <p:nvPr/>
        </p:nvGrpSpPr>
        <p:grpSpPr>
          <a:xfrm>
            <a:off x="1353000" y="4406955"/>
            <a:ext cx="1872000" cy="743139"/>
            <a:chOff x="1353000" y="4434235"/>
            <a:chExt cx="1872000" cy="743139"/>
          </a:xfrm>
        </p:grpSpPr>
        <p:pic>
          <p:nvPicPr>
            <p:cNvPr id="48" name="Picture 12" descr="주식회사 화미">
              <a:extLst>
                <a:ext uri="{FF2B5EF4-FFF2-40B4-BE49-F238E27FC236}">
                  <a16:creationId xmlns:a16="http://schemas.microsoft.com/office/drawing/2014/main" id="{D0FB676A-E629-087E-46A8-F0CDAB2D73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5867" y="4434235"/>
              <a:ext cx="428188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18" descr="면사랑 채용공고 - 25년 하반기 신입/경력사원 공개 채용 | 자소서 문항, 지원자 스펙 분석까지">
              <a:extLst>
                <a:ext uri="{FF2B5EF4-FFF2-40B4-BE49-F238E27FC236}">
                  <a16:creationId xmlns:a16="http://schemas.microsoft.com/office/drawing/2014/main" id="{100C70EE-4F10-6A74-FC3D-EA8D67FD0A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4636" y="4434235"/>
              <a:ext cx="251578" cy="25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4" descr="몽고 진간장, '대한민국 NO.1 대상'에서 간장 부문 대상 수상 &lt; 일반 &lt; 생활·문화 &lt; 기사본문 - 더페어">
              <a:extLst>
                <a:ext uri="{FF2B5EF4-FFF2-40B4-BE49-F238E27FC236}">
                  <a16:creationId xmlns:a16="http://schemas.microsoft.com/office/drawing/2014/main" id="{FC504331-B005-E99D-FF9B-E7C905DB39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3012" t="12863" r="21915" b="27006"/>
            <a:stretch>
              <a:fillRect/>
            </a:stretch>
          </p:blipFill>
          <p:spPr bwMode="auto">
            <a:xfrm>
              <a:off x="1353000" y="4817374"/>
              <a:ext cx="541692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6" descr="영화식품">
              <a:extLst>
                <a:ext uri="{FF2B5EF4-FFF2-40B4-BE49-F238E27FC236}">
                  <a16:creationId xmlns:a16="http://schemas.microsoft.com/office/drawing/2014/main" id="{20530ADA-8221-587A-AAFA-4EB5360A1E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46154"/>
            <a:stretch>
              <a:fillRect/>
            </a:stretch>
          </p:blipFill>
          <p:spPr bwMode="auto">
            <a:xfrm>
              <a:off x="2436796" y="4488235"/>
              <a:ext cx="740574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8">
              <a:extLst>
                <a:ext uri="{FF2B5EF4-FFF2-40B4-BE49-F238E27FC236}">
                  <a16:creationId xmlns:a16="http://schemas.microsoft.com/office/drawing/2014/main" id="{5EC14C23-FD93-C998-71F8-51517E6828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8796" y="4853374"/>
              <a:ext cx="1166204" cy="28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057AD070-A006-4878-FB0A-DEDF48855705}"/>
              </a:ext>
            </a:extLst>
          </p:cNvPr>
          <p:cNvSpPr txBox="1"/>
          <p:nvPr/>
        </p:nvSpPr>
        <p:spPr>
          <a:xfrm>
            <a:off x="6241640" y="3255436"/>
            <a:ext cx="542259" cy="257951"/>
          </a:xfrm>
          <a:prstGeom prst="rect">
            <a:avLst/>
          </a:prstGeom>
          <a:solidFill>
            <a:srgbClr val="26C260"/>
          </a:solidFill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spc="-30" dirty="0" err="1">
                <a:solidFill>
                  <a:schemeClr val="bg1"/>
                </a:solidFill>
              </a:rPr>
              <a:t>삼성웰스토리</a:t>
            </a:r>
            <a:endParaRPr lang="en-US" altLang="ko-KR" sz="800" b="1" spc="-30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15%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55EEC0-C5EE-DF63-B978-52958A1F6D87}"/>
              </a:ext>
            </a:extLst>
          </p:cNvPr>
          <p:cNvSpPr txBox="1"/>
          <p:nvPr/>
        </p:nvSpPr>
        <p:spPr>
          <a:xfrm>
            <a:off x="6039137" y="3653146"/>
            <a:ext cx="289306" cy="257951"/>
          </a:xfrm>
          <a:prstGeom prst="rect">
            <a:avLst/>
          </a:prstGeom>
          <a:solidFill>
            <a:srgbClr val="A3E96B"/>
          </a:solidFill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spc="-30" dirty="0" err="1"/>
              <a:t>아워홈</a:t>
            </a:r>
            <a:endParaRPr lang="en-US" altLang="ko-KR" sz="800" b="1" spc="-30" dirty="0"/>
          </a:p>
          <a:p>
            <a:pPr algn="ctr">
              <a:lnSpc>
                <a:spcPct val="90000"/>
              </a:lnSpc>
            </a:pPr>
            <a:r>
              <a:rPr lang="en-US" altLang="ko-KR" sz="800" dirty="0"/>
              <a:t>12%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313B71-4C25-711D-A3FD-A35F56B39F23}"/>
              </a:ext>
            </a:extLst>
          </p:cNvPr>
          <p:cNvSpPr txBox="1"/>
          <p:nvPr/>
        </p:nvSpPr>
        <p:spPr>
          <a:xfrm>
            <a:off x="8419349" y="2558936"/>
            <a:ext cx="542259" cy="257951"/>
          </a:xfrm>
          <a:prstGeom prst="rect">
            <a:avLst/>
          </a:prstGeom>
          <a:solidFill>
            <a:srgbClr val="1C8F57"/>
          </a:solidFill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spc="-30" dirty="0" err="1">
                <a:solidFill>
                  <a:schemeClr val="bg1"/>
                </a:solidFill>
              </a:rPr>
              <a:t>현대그린푸드</a:t>
            </a:r>
            <a:endParaRPr lang="en-US" altLang="ko-KR" sz="800" b="1" spc="-30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20%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42202D-347C-7072-AF05-51D5A9C643B0}"/>
              </a:ext>
            </a:extLst>
          </p:cNvPr>
          <p:cNvSpPr txBox="1"/>
          <p:nvPr/>
        </p:nvSpPr>
        <p:spPr>
          <a:xfrm>
            <a:off x="8835818" y="3306525"/>
            <a:ext cx="542259" cy="257951"/>
          </a:xfrm>
          <a:prstGeom prst="rect">
            <a:avLst/>
          </a:prstGeom>
          <a:solidFill>
            <a:srgbClr val="26C260"/>
          </a:solidFill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spc="-30" dirty="0" err="1">
                <a:solidFill>
                  <a:schemeClr val="bg1"/>
                </a:solidFill>
              </a:rPr>
              <a:t>삼성웰스토리</a:t>
            </a:r>
            <a:endParaRPr lang="en-US" altLang="ko-KR" sz="800" b="1" spc="-30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15%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26EAAD-0409-0B2A-895D-A6BD2B387197}"/>
              </a:ext>
            </a:extLst>
          </p:cNvPr>
          <p:cNvSpPr txBox="1"/>
          <p:nvPr/>
        </p:nvSpPr>
        <p:spPr>
          <a:xfrm>
            <a:off x="8553737" y="3837296"/>
            <a:ext cx="289306" cy="257951"/>
          </a:xfrm>
          <a:prstGeom prst="rect">
            <a:avLst/>
          </a:prstGeom>
          <a:solidFill>
            <a:srgbClr val="A3E96B"/>
          </a:solidFill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spc="-30" dirty="0" err="1"/>
              <a:t>아워홈</a:t>
            </a:r>
            <a:endParaRPr lang="en-US" altLang="ko-KR" sz="800" b="1" spc="-30" dirty="0"/>
          </a:p>
          <a:p>
            <a:pPr algn="ctr">
              <a:lnSpc>
                <a:spcPct val="90000"/>
              </a:lnSpc>
            </a:pPr>
            <a:r>
              <a:rPr lang="en-US" altLang="ko-KR" sz="800" dirty="0"/>
              <a:t>12%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76DD8D-17D8-BFA8-FC23-1A951774B62B}"/>
              </a:ext>
            </a:extLst>
          </p:cNvPr>
          <p:cNvSpPr txBox="1"/>
          <p:nvPr/>
        </p:nvSpPr>
        <p:spPr>
          <a:xfrm>
            <a:off x="7422429" y="3209726"/>
            <a:ext cx="216406" cy="2215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chemeClr val="bg1"/>
                </a:solidFill>
              </a:rPr>
              <a:t>기타</a:t>
            </a:r>
            <a:endParaRPr lang="en-US" altLang="ko-KR" sz="800" b="1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43%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C73CDF2-78ED-C4D5-7789-F01006D64521}"/>
              </a:ext>
            </a:extLst>
          </p:cNvPr>
          <p:cNvSpPr/>
          <p:nvPr/>
        </p:nvSpPr>
        <p:spPr>
          <a:xfrm>
            <a:off x="6888623" y="2221999"/>
            <a:ext cx="1056642" cy="601143"/>
          </a:xfrm>
          <a:prstGeom prst="rect">
            <a:avLst/>
          </a:prstGeom>
          <a:solidFill>
            <a:srgbClr val="FF383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2024</a:t>
            </a:r>
            <a:r>
              <a:rPr lang="ko-KR" altLang="en-US" sz="1000" b="1" dirty="0">
                <a:solidFill>
                  <a:schemeClr val="bg1"/>
                </a:solidFill>
              </a:rPr>
              <a:t>년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Breakdown </a:t>
            </a:r>
            <a:r>
              <a:rPr lang="ko-KR" altLang="en-US" sz="1000" b="1" dirty="0">
                <a:solidFill>
                  <a:schemeClr val="bg1"/>
                </a:solidFill>
              </a:rPr>
              <a:t>필요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가능한 경우 세부적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1BEFEBF-AF7E-543B-C72D-BFCBF5FA1216}"/>
              </a:ext>
            </a:extLst>
          </p:cNvPr>
          <p:cNvSpPr txBox="1"/>
          <p:nvPr/>
        </p:nvSpPr>
        <p:spPr>
          <a:xfrm>
            <a:off x="5538012" y="3803764"/>
            <a:ext cx="411455" cy="257951"/>
          </a:xfrm>
          <a:prstGeom prst="rect">
            <a:avLst/>
          </a:prstGeom>
          <a:solidFill>
            <a:srgbClr val="E6FDD6"/>
          </a:solidFill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800" b="1" spc="-30" dirty="0"/>
              <a:t>CJ</a:t>
            </a:r>
            <a:r>
              <a:rPr lang="ko-KR" altLang="en-US" sz="800" b="1" spc="-30" dirty="0" err="1"/>
              <a:t>프레시</a:t>
            </a:r>
            <a:endParaRPr lang="en-US" altLang="ko-KR" sz="800" b="1" spc="-30" dirty="0"/>
          </a:p>
          <a:p>
            <a:pPr algn="ctr">
              <a:lnSpc>
                <a:spcPct val="90000"/>
              </a:lnSpc>
            </a:pPr>
            <a:r>
              <a:rPr lang="en-US" altLang="ko-KR" sz="800" dirty="0"/>
              <a:t>10%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4971ADD1-D020-E05C-3963-431314CC8B05}"/>
              </a:ext>
            </a:extLst>
          </p:cNvPr>
          <p:cNvSpPr txBox="1"/>
          <p:nvPr/>
        </p:nvSpPr>
        <p:spPr>
          <a:xfrm>
            <a:off x="7989276" y="3972594"/>
            <a:ext cx="411455" cy="257951"/>
          </a:xfrm>
          <a:prstGeom prst="rect">
            <a:avLst/>
          </a:prstGeom>
          <a:solidFill>
            <a:srgbClr val="E6FDD6"/>
          </a:solidFill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800" b="1" spc="-30" dirty="0"/>
              <a:t>CJ</a:t>
            </a:r>
            <a:r>
              <a:rPr lang="ko-KR" altLang="en-US" sz="800" b="1" spc="-30" dirty="0" err="1"/>
              <a:t>프레시</a:t>
            </a:r>
            <a:endParaRPr lang="en-US" altLang="ko-KR" sz="800" b="1" spc="-30" dirty="0"/>
          </a:p>
          <a:p>
            <a:pPr algn="ctr">
              <a:lnSpc>
                <a:spcPct val="90000"/>
              </a:lnSpc>
            </a:pPr>
            <a:r>
              <a:rPr lang="en-US" altLang="ko-KR" sz="800" dirty="0"/>
              <a:t>10%</a:t>
            </a:r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6BE1899F-FED0-4C8F-E221-E4727D817A0D}"/>
              </a:ext>
            </a:extLst>
          </p:cNvPr>
          <p:cNvSpPr/>
          <p:nvPr/>
        </p:nvSpPr>
        <p:spPr>
          <a:xfrm>
            <a:off x="8763403" y="4240673"/>
            <a:ext cx="1056642" cy="503999"/>
          </a:xfrm>
          <a:prstGeom prst="rect">
            <a:avLst/>
          </a:prstGeom>
          <a:solidFill>
            <a:srgbClr val="FF383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↓ </a:t>
            </a:r>
            <a:r>
              <a:rPr lang="en-US" altLang="ko-KR" sz="1000" b="1" dirty="0">
                <a:solidFill>
                  <a:schemeClr val="bg1"/>
                </a:solidFill>
              </a:rPr>
              <a:t>Dummy Text</a:t>
            </a:r>
          </a:p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실제 자료 분석 후 메시지 수정 계획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8D9A0C-7227-C1F5-AA03-B110E3607528}"/>
              </a:ext>
            </a:extLst>
          </p:cNvPr>
          <p:cNvSpPr/>
          <p:nvPr/>
        </p:nvSpPr>
        <p:spPr>
          <a:xfrm>
            <a:off x="5384800" y="52034"/>
            <a:ext cx="4392000" cy="468010"/>
          </a:xfrm>
          <a:prstGeom prst="rect">
            <a:avLst/>
          </a:prstGeom>
          <a:solidFill>
            <a:srgbClr val="FF383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PETRA</a:t>
            </a:r>
            <a:r>
              <a:rPr lang="ko-KR" altLang="en-US" sz="1000" b="1" dirty="0">
                <a:solidFill>
                  <a:schemeClr val="bg1"/>
                </a:solidFill>
              </a:rPr>
              <a:t> </a:t>
            </a:r>
            <a:r>
              <a:rPr lang="en-US" altLang="ko-KR" sz="1000" b="1" dirty="0">
                <a:solidFill>
                  <a:schemeClr val="bg1"/>
                </a:solidFill>
              </a:rPr>
              <a:t>Note</a:t>
            </a:r>
          </a:p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2024</a:t>
            </a:r>
            <a:r>
              <a:rPr lang="ko-KR" altLang="en-US" sz="800" dirty="0">
                <a:solidFill>
                  <a:schemeClr val="bg1"/>
                </a:solidFill>
              </a:rPr>
              <a:t>년 주요 고객사별 매출액 </a:t>
            </a:r>
            <a:r>
              <a:rPr lang="en-US" altLang="ko-KR" sz="800" dirty="0">
                <a:solidFill>
                  <a:schemeClr val="bg1"/>
                </a:solidFill>
              </a:rPr>
              <a:t>Breakdown </a:t>
            </a:r>
            <a:r>
              <a:rPr lang="ko-KR" altLang="en-US" sz="800" dirty="0">
                <a:solidFill>
                  <a:schemeClr val="bg1"/>
                </a:solidFill>
              </a:rPr>
              <a:t>자료 요청 드립니다</a:t>
            </a:r>
            <a:r>
              <a:rPr lang="en-US" altLang="ko-KR" sz="800" dirty="0">
                <a:solidFill>
                  <a:schemeClr val="bg1"/>
                </a:solidFill>
              </a:rPr>
              <a:t>. </a:t>
            </a:r>
            <a:r>
              <a:rPr lang="ko-KR" altLang="en-US" sz="800" dirty="0">
                <a:solidFill>
                  <a:schemeClr val="bg1"/>
                </a:solidFill>
              </a:rPr>
              <a:t>자료 수령 후 </a:t>
            </a:r>
            <a:r>
              <a:rPr lang="en-US" altLang="ko-KR" sz="800" dirty="0">
                <a:solidFill>
                  <a:schemeClr val="bg1"/>
                </a:solidFill>
              </a:rPr>
              <a:t>Update </a:t>
            </a:r>
            <a:r>
              <a:rPr lang="ko-KR" altLang="en-US" sz="800" dirty="0">
                <a:solidFill>
                  <a:schemeClr val="bg1"/>
                </a:solidFill>
              </a:rPr>
              <a:t>하도록 하겠습니다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111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CAE71FC-54A3-8EE5-A66E-7398E57BEF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Target Highlights - (3) </a:t>
            </a:r>
            <a:r>
              <a:rPr lang="ko-KR" altLang="en-US" dirty="0"/>
              <a:t>업계 표준을 선도하는 제조 인프라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ADCC4A-8DDD-D8D7-1BF5-FF14101F6F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 (1) Critical Control Point</a:t>
            </a:r>
            <a:r>
              <a:rPr lang="ko-KR" altLang="en-US" dirty="0"/>
              <a:t>의 </a:t>
            </a:r>
            <a:r>
              <a:rPr lang="ko-KR" altLang="en-US" dirty="0" err="1"/>
              <a:t>줄임말로</a:t>
            </a:r>
            <a:r>
              <a:rPr lang="en-US" altLang="ko-KR" dirty="0"/>
              <a:t>, HACCP </a:t>
            </a:r>
            <a:r>
              <a:rPr lang="ko-KR" altLang="en-US" dirty="0"/>
              <a:t>시스템 내 생물학적</a:t>
            </a:r>
            <a:r>
              <a:rPr lang="en-US" altLang="ko-KR" dirty="0"/>
              <a:t>(B)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/>
              <a:t>화학적</a:t>
            </a:r>
            <a:r>
              <a:rPr lang="en-US" altLang="ko-KR" dirty="0"/>
              <a:t>(C) · </a:t>
            </a:r>
            <a:r>
              <a:rPr lang="ko-KR" altLang="en-US" dirty="0"/>
              <a:t>물리적</a:t>
            </a:r>
            <a:r>
              <a:rPr lang="en-US" altLang="ko-KR" dirty="0"/>
              <a:t>(P) </a:t>
            </a:r>
            <a:r>
              <a:rPr lang="ko-KR" altLang="en-US" dirty="0"/>
              <a:t>위해 방지를 위한 핵심 제조단계 </a:t>
            </a:r>
            <a:r>
              <a:rPr lang="en-US" altLang="ko-KR" dirty="0"/>
              <a:t>· </a:t>
            </a:r>
            <a:r>
              <a:rPr lang="ko-KR" altLang="en-US" dirty="0"/>
              <a:t>공정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DA2628-FD7D-121A-AA10-3F0B8C26D5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EF5FED-CEAB-89CA-61FB-B33C3F5B1345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대상회사 제품 제조공정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13BEB0-CF2F-2CFC-B9DD-5CA860CB3B42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대상회사 핵심 </a:t>
            </a:r>
            <a:r>
              <a:rPr lang="ko-KR" altLang="en-US" sz="1200" b="1" dirty="0">
                <a:solidFill>
                  <a:schemeClr val="bg1"/>
                </a:solidFill>
              </a:rPr>
              <a:t>제조 경쟁력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C5EEA-62B8-46A4-E91F-C84F9CB4F800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>
                <a:solidFill>
                  <a:srgbClr val="3D3D3D"/>
                </a:solidFill>
              </a:rPr>
              <a:t>대상회사는 스마트 </a:t>
            </a:r>
            <a:r>
              <a:rPr lang="en-US" altLang="ko-KR" sz="1400" b="1">
                <a:solidFill>
                  <a:srgbClr val="3D3D3D"/>
                </a:solidFill>
              </a:rPr>
              <a:t>HACCP, ISO 22000, FSSC 22000 </a:t>
            </a:r>
            <a:r>
              <a:rPr lang="ko-KR" altLang="en-US" sz="1400" b="1">
                <a:solidFill>
                  <a:srgbClr val="3D3D3D"/>
                </a:solidFill>
              </a:rPr>
              <a:t>등 글로벌 수준 식품안전 인증과 다단계 </a:t>
            </a:r>
            <a:r>
              <a:rPr lang="en-US" altLang="ko-KR" sz="1400" b="1">
                <a:solidFill>
                  <a:srgbClr val="3D3D3D"/>
                </a:solidFill>
              </a:rPr>
              <a:t>CCP </a:t>
            </a:r>
            <a:r>
              <a:rPr lang="ko-KR" altLang="en-US" sz="1400" b="1">
                <a:solidFill>
                  <a:srgbClr val="3D3D3D"/>
                </a:solidFill>
              </a:rPr>
              <a:t>기반 공정 운영을 통해 대형 식품사 및 프랜차이즈 고객이 요구하는 품질 기준을 충족하는 업계 선도 수준의 제조 인프라를 구축하고 있습니다</a:t>
            </a:r>
            <a:r>
              <a:rPr lang="en-US" altLang="ko-KR" sz="1400" b="1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4AF334-595F-77B7-C812-1FC481154849}"/>
              </a:ext>
            </a:extLst>
          </p:cNvPr>
          <p:cNvSpPr/>
          <p:nvPr/>
        </p:nvSpPr>
        <p:spPr>
          <a:xfrm>
            <a:off x="453000" y="5084763"/>
            <a:ext cx="9000000" cy="504000"/>
          </a:xfrm>
          <a:prstGeom prst="rect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글로벌 식품안전 인증과 다단계 </a:t>
            </a:r>
            <a:r>
              <a:rPr lang="en-US" altLang="ko-KR" sz="1000" b="1" dirty="0">
                <a:solidFill>
                  <a:schemeClr val="bg1"/>
                </a:solidFill>
              </a:rPr>
              <a:t>CCP </a:t>
            </a:r>
            <a:r>
              <a:rPr lang="ko-KR" altLang="en-US" sz="1000" b="1" dirty="0">
                <a:solidFill>
                  <a:schemeClr val="bg1"/>
                </a:solidFill>
              </a:rPr>
              <a:t>기반 공정 운영을 통해 대형 고객 납품이 가능한 업계 선도 수준 제조 인프라 구축</a:t>
            </a: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높은 품질 기준을 요구하는 주요 고객 대응 역량을 기반으로 안정적 거래 유지 및 신규 대형 고객사 확장 기반 마련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CC301CAA-D9BD-C97F-1D3C-F36BC31002F4}"/>
              </a:ext>
            </a:extLst>
          </p:cNvPr>
          <p:cNvGrpSpPr/>
          <p:nvPr/>
        </p:nvGrpSpPr>
        <p:grpSpPr>
          <a:xfrm>
            <a:off x="453000" y="2240664"/>
            <a:ext cx="4392000" cy="1115998"/>
            <a:chOff x="453000" y="2024526"/>
            <a:chExt cx="4392000" cy="1115998"/>
          </a:xfrm>
        </p:grpSpPr>
        <p:pic>
          <p:nvPicPr>
            <p:cNvPr id="69" name="그림 68" descr="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EFA789C-1593-5C12-ABA6-6C7E2D178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53000" y="2168526"/>
              <a:ext cx="972000" cy="763871"/>
            </a:xfrm>
            <a:prstGeom prst="rect">
              <a:avLst/>
            </a:prstGeom>
          </p:spPr>
        </p:pic>
        <p:pic>
          <p:nvPicPr>
            <p:cNvPr id="70" name="그림 69" descr="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B1DBD5C-600F-F785-F60D-DD5C2A845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593000" y="2168526"/>
              <a:ext cx="972000" cy="763871"/>
            </a:xfrm>
            <a:prstGeom prst="rect">
              <a:avLst/>
            </a:prstGeom>
          </p:spPr>
        </p:pic>
        <p:pic>
          <p:nvPicPr>
            <p:cNvPr id="72" name="그림 71" descr="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76743E5-ED53-3361-1B94-CD1742BD9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733000" y="2168526"/>
              <a:ext cx="972000" cy="763871"/>
            </a:xfrm>
            <a:prstGeom prst="rect">
              <a:avLst/>
            </a:prstGeom>
          </p:spPr>
        </p:pic>
        <p:pic>
          <p:nvPicPr>
            <p:cNvPr id="73" name="그림 72" descr="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2B4142B-F00A-9D7E-29A2-A6E66088D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873000" y="2168526"/>
              <a:ext cx="972000" cy="763871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3120B11-F9B1-A7DA-AE80-B9588FD3027D}"/>
                </a:ext>
              </a:extLst>
            </p:cNvPr>
            <p:cNvSpPr txBox="1"/>
            <p:nvPr/>
          </p:nvSpPr>
          <p:spPr>
            <a:xfrm>
              <a:off x="703359" y="2982467"/>
              <a:ext cx="471283" cy="15805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000" b="1" dirty="0"/>
                <a:t>이물 선별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6CD2948-43DD-05A5-32A7-16191078AAB1}"/>
                </a:ext>
              </a:extLst>
            </p:cNvPr>
            <p:cNvSpPr txBox="1"/>
            <p:nvPr/>
          </p:nvSpPr>
          <p:spPr>
            <a:xfrm>
              <a:off x="1663021" y="2982467"/>
              <a:ext cx="831959" cy="15805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1000" b="1"/>
              </a:lvl1pPr>
            </a:lstStyle>
            <a:p>
              <a:r>
                <a:rPr lang="ko-KR" altLang="en-US" dirty="0"/>
                <a:t>에어세척 및 분쇄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D3E52CD-6187-6054-E6D7-0B85241B52F3}"/>
                </a:ext>
              </a:extLst>
            </p:cNvPr>
            <p:cNvSpPr txBox="1"/>
            <p:nvPr/>
          </p:nvSpPr>
          <p:spPr>
            <a:xfrm>
              <a:off x="2983359" y="2982467"/>
              <a:ext cx="471283" cy="15805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1000" b="1"/>
              </a:lvl1pPr>
            </a:lstStyle>
            <a:p>
              <a:r>
                <a:rPr lang="ko-KR" altLang="en-US" dirty="0"/>
                <a:t>입도 선별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0D688E0-D552-92A2-0503-E0842715E7AD}"/>
                </a:ext>
              </a:extLst>
            </p:cNvPr>
            <p:cNvSpPr txBox="1"/>
            <p:nvPr/>
          </p:nvSpPr>
          <p:spPr>
            <a:xfrm>
              <a:off x="3943021" y="2982467"/>
              <a:ext cx="831959" cy="15805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1000" b="1"/>
              </a:lvl1pPr>
            </a:lstStyle>
            <a:p>
              <a:r>
                <a:rPr lang="ko-KR" altLang="en-US" dirty="0"/>
                <a:t>금속성 이물 제거</a:t>
              </a:r>
            </a:p>
          </p:txBody>
        </p:sp>
        <p:sp>
          <p:nvSpPr>
            <p:cNvPr id="83" name="이등변 삼각형 82">
              <a:extLst>
                <a:ext uri="{FF2B5EF4-FFF2-40B4-BE49-F238E27FC236}">
                  <a16:creationId xmlns:a16="http://schemas.microsoft.com/office/drawing/2014/main" id="{ECC0C402-5092-87DA-D247-7F83A1538F4C}"/>
                </a:ext>
              </a:extLst>
            </p:cNvPr>
            <p:cNvSpPr/>
            <p:nvPr/>
          </p:nvSpPr>
          <p:spPr>
            <a:xfrm rot="5400000">
              <a:off x="3645000" y="2514461"/>
              <a:ext cx="288000" cy="72000"/>
            </a:xfrm>
            <a:prstGeom prst="triangle">
              <a:avLst/>
            </a:prstGeom>
            <a:solidFill>
              <a:srgbClr val="1C8F5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4" name="이등변 삼각형 83">
              <a:extLst>
                <a:ext uri="{FF2B5EF4-FFF2-40B4-BE49-F238E27FC236}">
                  <a16:creationId xmlns:a16="http://schemas.microsoft.com/office/drawing/2014/main" id="{8DE3A1B3-6DF4-78CA-0523-A1F045ACF048}"/>
                </a:ext>
              </a:extLst>
            </p:cNvPr>
            <p:cNvSpPr/>
            <p:nvPr/>
          </p:nvSpPr>
          <p:spPr>
            <a:xfrm rot="5400000">
              <a:off x="2505000" y="2514461"/>
              <a:ext cx="288000" cy="72000"/>
            </a:xfrm>
            <a:prstGeom prst="triangle">
              <a:avLst/>
            </a:prstGeom>
            <a:solidFill>
              <a:srgbClr val="1C8F5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5" name="이등변 삼각형 84">
              <a:extLst>
                <a:ext uri="{FF2B5EF4-FFF2-40B4-BE49-F238E27FC236}">
                  <a16:creationId xmlns:a16="http://schemas.microsoft.com/office/drawing/2014/main" id="{004AC995-C40A-1018-4C00-2F5D8F260532}"/>
                </a:ext>
              </a:extLst>
            </p:cNvPr>
            <p:cNvSpPr/>
            <p:nvPr/>
          </p:nvSpPr>
          <p:spPr>
            <a:xfrm rot="5400000">
              <a:off x="1365000" y="2514461"/>
              <a:ext cx="288000" cy="72000"/>
            </a:xfrm>
            <a:prstGeom prst="triangle">
              <a:avLst/>
            </a:prstGeom>
            <a:solidFill>
              <a:srgbClr val="1C8F5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94" name="그래픽 93">
              <a:extLst>
                <a:ext uri="{FF2B5EF4-FFF2-40B4-BE49-F238E27FC236}">
                  <a16:creationId xmlns:a16="http://schemas.microsoft.com/office/drawing/2014/main" id="{2A12C1ED-4E70-B838-5A30-89EEF685A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3000" y="2024526"/>
              <a:ext cx="288000" cy="288000"/>
            </a:xfrm>
            <a:prstGeom prst="rect">
              <a:avLst/>
            </a:prstGeom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BCEA6CB-3867-5114-80CB-2B3E8ECE5428}"/>
                </a:ext>
              </a:extLst>
            </p:cNvPr>
            <p:cNvSpPr txBox="1"/>
            <p:nvPr/>
          </p:nvSpPr>
          <p:spPr>
            <a:xfrm>
              <a:off x="779100" y="2024526"/>
              <a:ext cx="370294" cy="12644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800" b="1" i="1" dirty="0">
                  <a:solidFill>
                    <a:srgbClr val="26C260"/>
                  </a:solidFill>
                </a:rPr>
                <a:t>CCP-1P</a:t>
              </a:r>
              <a:endParaRPr lang="ko-KR" altLang="en-US" sz="800" b="1" i="1" dirty="0" err="1">
                <a:solidFill>
                  <a:srgbClr val="26C260"/>
                </a:solidFill>
              </a:endParaRPr>
            </a:p>
          </p:txBody>
        </p:sp>
        <p:pic>
          <p:nvPicPr>
            <p:cNvPr id="98" name="그래픽 97">
              <a:extLst>
                <a:ext uri="{FF2B5EF4-FFF2-40B4-BE49-F238E27FC236}">
                  <a16:creationId xmlns:a16="http://schemas.microsoft.com/office/drawing/2014/main" id="{5FA6A68A-6183-EBF6-96AA-ED1F2D4A2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73000" y="2024526"/>
              <a:ext cx="288000" cy="288000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7316593-A2E8-CE27-7A07-0C194761C46F}"/>
                </a:ext>
              </a:extLst>
            </p:cNvPr>
            <p:cNvSpPr txBox="1"/>
            <p:nvPr/>
          </p:nvSpPr>
          <p:spPr>
            <a:xfrm>
              <a:off x="4199100" y="2024526"/>
              <a:ext cx="384721" cy="12644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800" b="1" i="1" dirty="0">
                  <a:solidFill>
                    <a:srgbClr val="26C260"/>
                  </a:solidFill>
                </a:rPr>
                <a:t>CCP-2P</a:t>
              </a:r>
              <a:endParaRPr lang="ko-KR" altLang="en-US" sz="800" b="1" i="1" dirty="0" err="1">
                <a:solidFill>
                  <a:srgbClr val="26C260"/>
                </a:solidFill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7924585A-0D30-9225-13AA-8D3F4A23D5E6}"/>
              </a:ext>
            </a:extLst>
          </p:cNvPr>
          <p:cNvGrpSpPr/>
          <p:nvPr/>
        </p:nvGrpSpPr>
        <p:grpSpPr>
          <a:xfrm>
            <a:off x="903000" y="3644664"/>
            <a:ext cx="3372000" cy="1116000"/>
            <a:chOff x="903000" y="3284550"/>
            <a:chExt cx="3372000" cy="1116000"/>
          </a:xfrm>
        </p:grpSpPr>
        <p:pic>
          <p:nvPicPr>
            <p:cNvPr id="67" name="그림 66" descr="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A391DEE-72BF-85EA-7C8C-89D47B500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303000" y="3428550"/>
              <a:ext cx="972000" cy="763871"/>
            </a:xfrm>
            <a:prstGeom prst="rect">
              <a:avLst/>
            </a:prstGeom>
          </p:spPr>
        </p:pic>
        <p:pic>
          <p:nvPicPr>
            <p:cNvPr id="68" name="그림 67" descr="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35016F3-E3A0-6FF9-5CEB-E9F82F97C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163000" y="3428550"/>
              <a:ext cx="972000" cy="763871"/>
            </a:xfrm>
            <a:prstGeom prst="rect">
              <a:avLst/>
            </a:prstGeom>
          </p:spPr>
        </p:pic>
        <p:pic>
          <p:nvPicPr>
            <p:cNvPr id="71" name="그림 70" descr="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C31EB26-A20E-AFC6-26E4-5ECA576FD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023000" y="3428550"/>
              <a:ext cx="972000" cy="763871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E401F0A-3599-1CD6-8576-28B25688FFA3}"/>
                </a:ext>
              </a:extLst>
            </p:cNvPr>
            <p:cNvSpPr txBox="1"/>
            <p:nvPr/>
          </p:nvSpPr>
          <p:spPr>
            <a:xfrm>
              <a:off x="1148324" y="4242493"/>
              <a:ext cx="721352" cy="15805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1000" b="1"/>
              </a:lvl1pPr>
            </a:lstStyle>
            <a:p>
              <a:r>
                <a:rPr lang="ko-KR" altLang="en-US" dirty="0"/>
                <a:t>진동 이물 선별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240418B-9D7E-E08A-2189-81EB368F466C}"/>
                </a:ext>
              </a:extLst>
            </p:cNvPr>
            <p:cNvSpPr txBox="1"/>
            <p:nvPr/>
          </p:nvSpPr>
          <p:spPr>
            <a:xfrm>
              <a:off x="2358055" y="4242493"/>
              <a:ext cx="581891" cy="15805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1000" b="1"/>
              </a:lvl1pPr>
            </a:lstStyle>
            <a:p>
              <a:r>
                <a:rPr lang="ko-KR" altLang="en-US" dirty="0"/>
                <a:t>자외선 살균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B270271-5E54-EC9E-2E82-A040BE8258B4}"/>
                </a:ext>
              </a:extLst>
            </p:cNvPr>
            <p:cNvSpPr txBox="1"/>
            <p:nvPr/>
          </p:nvSpPr>
          <p:spPr>
            <a:xfrm>
              <a:off x="3358594" y="4242493"/>
              <a:ext cx="860813" cy="15805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110000"/>
                </a:lnSpc>
                <a:defRPr sz="1000" b="1"/>
              </a:lvl1pPr>
            </a:lstStyle>
            <a:p>
              <a:r>
                <a:rPr lang="ko-KR" altLang="en-US" dirty="0"/>
                <a:t>포장 및 금속 검출</a:t>
              </a:r>
            </a:p>
          </p:txBody>
        </p:sp>
        <p:sp>
          <p:nvSpPr>
            <p:cNvPr id="86" name="이등변 삼각형 85">
              <a:extLst>
                <a:ext uri="{FF2B5EF4-FFF2-40B4-BE49-F238E27FC236}">
                  <a16:creationId xmlns:a16="http://schemas.microsoft.com/office/drawing/2014/main" id="{9BFE2139-FFEF-A40D-13FA-54185FB02D1C}"/>
                </a:ext>
              </a:extLst>
            </p:cNvPr>
            <p:cNvSpPr/>
            <p:nvPr/>
          </p:nvSpPr>
          <p:spPr>
            <a:xfrm rot="5400000">
              <a:off x="1935000" y="3774485"/>
              <a:ext cx="288000" cy="72000"/>
            </a:xfrm>
            <a:prstGeom prst="triangle">
              <a:avLst/>
            </a:prstGeom>
            <a:solidFill>
              <a:srgbClr val="1C8F5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7" name="이등변 삼각형 86">
              <a:extLst>
                <a:ext uri="{FF2B5EF4-FFF2-40B4-BE49-F238E27FC236}">
                  <a16:creationId xmlns:a16="http://schemas.microsoft.com/office/drawing/2014/main" id="{1B48011D-3CAA-6B1C-EC25-5F3AE7B47AD5}"/>
                </a:ext>
              </a:extLst>
            </p:cNvPr>
            <p:cNvSpPr/>
            <p:nvPr/>
          </p:nvSpPr>
          <p:spPr>
            <a:xfrm rot="5400000">
              <a:off x="3075000" y="3774485"/>
              <a:ext cx="288000" cy="72000"/>
            </a:xfrm>
            <a:prstGeom prst="triangle">
              <a:avLst/>
            </a:prstGeom>
            <a:solidFill>
              <a:srgbClr val="1C8F5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9" name="이등변 삼각형 88">
              <a:extLst>
                <a:ext uri="{FF2B5EF4-FFF2-40B4-BE49-F238E27FC236}">
                  <a16:creationId xmlns:a16="http://schemas.microsoft.com/office/drawing/2014/main" id="{23FA0A68-216E-2233-69DB-4867440578EA}"/>
                </a:ext>
              </a:extLst>
            </p:cNvPr>
            <p:cNvSpPr/>
            <p:nvPr/>
          </p:nvSpPr>
          <p:spPr>
            <a:xfrm rot="5400000">
              <a:off x="795000" y="3774485"/>
              <a:ext cx="288000" cy="72000"/>
            </a:xfrm>
            <a:prstGeom prst="triangle">
              <a:avLst/>
            </a:prstGeom>
            <a:solidFill>
              <a:srgbClr val="1C8F5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102" name="그래픽 101">
              <a:extLst>
                <a:ext uri="{FF2B5EF4-FFF2-40B4-BE49-F238E27FC236}">
                  <a16:creationId xmlns:a16="http://schemas.microsoft.com/office/drawing/2014/main" id="{565B0482-BAC7-B1C3-BEEA-B3A0BC49E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03000" y="3284550"/>
              <a:ext cx="288000" cy="288000"/>
            </a:xfrm>
            <a:prstGeom prst="rect">
              <a:avLst/>
            </a:prstGeom>
          </p:spPr>
        </p:pic>
        <p:pic>
          <p:nvPicPr>
            <p:cNvPr id="103" name="그래픽 102">
              <a:extLst>
                <a:ext uri="{FF2B5EF4-FFF2-40B4-BE49-F238E27FC236}">
                  <a16:creationId xmlns:a16="http://schemas.microsoft.com/office/drawing/2014/main" id="{9DA253EB-423A-B6BB-35DB-CA1BC44B4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63000" y="3284550"/>
              <a:ext cx="288000" cy="288000"/>
            </a:xfrm>
            <a:prstGeom prst="rect">
              <a:avLst/>
            </a:prstGeom>
          </p:spPr>
        </p:pic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C2A5A03-899A-B7D4-52DB-708700AD1703}"/>
                </a:ext>
              </a:extLst>
            </p:cNvPr>
            <p:cNvSpPr txBox="1"/>
            <p:nvPr/>
          </p:nvSpPr>
          <p:spPr>
            <a:xfrm>
              <a:off x="2489100" y="3284550"/>
              <a:ext cx="389530" cy="12644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800" b="1" i="1" dirty="0">
                  <a:solidFill>
                    <a:srgbClr val="26C260"/>
                  </a:solidFill>
                </a:rPr>
                <a:t>CCP-3B</a:t>
              </a:r>
              <a:endParaRPr lang="ko-KR" altLang="en-US" sz="800" b="1" i="1" dirty="0" err="1">
                <a:solidFill>
                  <a:srgbClr val="26C260"/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692B70B-A870-E880-2965-D45884EA319F}"/>
                </a:ext>
              </a:extLst>
            </p:cNvPr>
            <p:cNvSpPr txBox="1"/>
            <p:nvPr/>
          </p:nvSpPr>
          <p:spPr>
            <a:xfrm>
              <a:off x="3629099" y="3284550"/>
              <a:ext cx="389530" cy="12644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en-US" altLang="ko-KR" sz="800" b="1" i="1" dirty="0">
                  <a:solidFill>
                    <a:srgbClr val="26C260"/>
                  </a:solidFill>
                </a:rPr>
                <a:t>CCP-4P</a:t>
              </a:r>
              <a:endParaRPr lang="ko-KR" altLang="en-US" sz="800" b="1" i="1" dirty="0" err="1">
                <a:solidFill>
                  <a:srgbClr val="26C260"/>
                </a:solidFill>
              </a:endParaRP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23190066-334B-34D4-C506-68550D855001}"/>
              </a:ext>
            </a:extLst>
          </p:cNvPr>
          <p:cNvSpPr txBox="1"/>
          <p:nvPr/>
        </p:nvSpPr>
        <p:spPr>
          <a:xfrm>
            <a:off x="5060999" y="4159360"/>
            <a:ext cx="4392000" cy="78130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171450" indent="-171450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/>
              <a:t>스마트 </a:t>
            </a:r>
            <a:r>
              <a:rPr lang="en-US" altLang="ko-KR" sz="1000" dirty="0"/>
              <a:t>HACCP </a:t>
            </a:r>
            <a:r>
              <a:rPr lang="ko-KR" altLang="en-US" sz="1000" dirty="0"/>
              <a:t>및 글로벌 식품안전 인증 기반의 고도화된 품질관리 체계 구축</a:t>
            </a:r>
            <a:endParaRPr lang="en-US" altLang="ko-KR" sz="1000" dirty="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/>
              <a:t>다단계 </a:t>
            </a:r>
            <a:r>
              <a:rPr lang="en-US" altLang="ko-KR" sz="1000" dirty="0"/>
              <a:t>CCP </a:t>
            </a:r>
            <a:r>
              <a:rPr lang="ko-KR" altLang="en-US" sz="1000" dirty="0"/>
              <a:t>공정 운영을 통해 이물</a:t>
            </a:r>
            <a:r>
              <a:rPr lang="en-US" altLang="ko-KR" sz="1000" dirty="0"/>
              <a:t>, </a:t>
            </a:r>
            <a:r>
              <a:rPr lang="ko-KR" altLang="en-US" sz="1000" dirty="0"/>
              <a:t>미생물 등 위해요소의 구조적 차단</a:t>
            </a:r>
            <a:endParaRPr lang="en-US" altLang="ko-KR" sz="1000" dirty="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/>
              <a:t>대형 식품 </a:t>
            </a:r>
            <a:r>
              <a:rPr lang="en-US" altLang="ko-KR" sz="1000" dirty="0"/>
              <a:t>· </a:t>
            </a:r>
            <a:r>
              <a:rPr lang="ko-KR" altLang="en-US" sz="1000" dirty="0"/>
              <a:t>급식업체 납품 기준을 충족하는 산업 표준 이상의 제조 신뢰도 확보</a:t>
            </a:r>
            <a:endParaRPr lang="en-US" altLang="ko-KR" sz="1000" dirty="0"/>
          </a:p>
          <a:p>
            <a:pPr marL="171450" indent="-171450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/>
              <a:t>엄격한 품질기준 대응 역량을 기반으로 신규 대형 고객사 진입장벽 형성</a:t>
            </a: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492D66D2-6080-849D-780D-0ADA32397AC3}"/>
              </a:ext>
            </a:extLst>
          </p:cNvPr>
          <p:cNvGrpSpPr/>
          <p:nvPr/>
        </p:nvGrpSpPr>
        <p:grpSpPr>
          <a:xfrm>
            <a:off x="5060999" y="2168525"/>
            <a:ext cx="1010053" cy="216000"/>
            <a:chOff x="5060999" y="2168525"/>
            <a:chExt cx="1010053" cy="216000"/>
          </a:xfrm>
        </p:grpSpPr>
        <p:pic>
          <p:nvPicPr>
            <p:cNvPr id="113" name="그래픽 112">
              <a:extLst>
                <a:ext uri="{FF2B5EF4-FFF2-40B4-BE49-F238E27FC236}">
                  <a16:creationId xmlns:a16="http://schemas.microsoft.com/office/drawing/2014/main" id="{09E4012D-5717-B4DE-FD19-D53E460D2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060999" y="2168525"/>
              <a:ext cx="216000" cy="216000"/>
            </a:xfrm>
            <a:prstGeom prst="rect">
              <a:avLst/>
            </a:prstGeom>
          </p:spPr>
        </p:pic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3099EA0-941F-9799-34E8-C1699F90E5C8}"/>
                </a:ext>
              </a:extLst>
            </p:cNvPr>
            <p:cNvSpPr txBox="1"/>
            <p:nvPr/>
          </p:nvSpPr>
          <p:spPr>
            <a:xfrm>
              <a:off x="5276998" y="2197497"/>
              <a:ext cx="794054" cy="158057"/>
            </a:xfrm>
            <a:prstGeom prst="rect">
              <a:avLst/>
            </a:prstGeom>
            <a:noFill/>
          </p:spPr>
          <p:txBody>
            <a:bodyPr wrap="none" lIns="7200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000" b="1" dirty="0">
                  <a:solidFill>
                    <a:srgbClr val="1C8F57"/>
                  </a:solidFill>
                </a:rPr>
                <a:t>주요 인증 현황</a:t>
              </a: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DF03D047-2BD2-6505-A849-3787130D7F9A}"/>
              </a:ext>
            </a:extLst>
          </p:cNvPr>
          <p:cNvGrpSpPr/>
          <p:nvPr/>
        </p:nvGrpSpPr>
        <p:grpSpPr>
          <a:xfrm>
            <a:off x="7112999" y="2168525"/>
            <a:ext cx="1747435" cy="216000"/>
            <a:chOff x="5060999" y="2168525"/>
            <a:chExt cx="1747435" cy="216000"/>
          </a:xfrm>
        </p:grpSpPr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4AE7AE45-F765-025C-1BC5-B4234A20C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060999" y="2168525"/>
              <a:ext cx="216000" cy="216000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E4DEB19-A407-3C03-F473-90F4AD1C066E}"/>
                </a:ext>
              </a:extLst>
            </p:cNvPr>
            <p:cNvSpPr txBox="1"/>
            <p:nvPr/>
          </p:nvSpPr>
          <p:spPr>
            <a:xfrm>
              <a:off x="5276998" y="2197497"/>
              <a:ext cx="1531436" cy="158057"/>
            </a:xfrm>
            <a:prstGeom prst="rect">
              <a:avLst/>
            </a:prstGeom>
            <a:noFill/>
          </p:spPr>
          <p:txBody>
            <a:bodyPr wrap="none" lIns="72000" tIns="0" rIns="0" bIns="0" rtlCol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lang="ko-KR" altLang="en-US" sz="1000" b="1" dirty="0">
                  <a:solidFill>
                    <a:srgbClr val="1C8F57"/>
                  </a:solidFill>
                </a:rPr>
                <a:t>중요관리점</a:t>
              </a:r>
              <a:r>
                <a:rPr lang="en-US" altLang="ko-KR" sz="800" dirty="0">
                  <a:solidFill>
                    <a:srgbClr val="1C8F57"/>
                  </a:solidFill>
                </a:rPr>
                <a:t>(CCP)</a:t>
              </a:r>
              <a:r>
                <a:rPr lang="en-US" altLang="ko-KR" sz="1000" b="1" dirty="0">
                  <a:solidFill>
                    <a:srgbClr val="1C8F57"/>
                  </a:solidFill>
                </a:rPr>
                <a:t> </a:t>
              </a:r>
              <a:r>
                <a:rPr lang="ko-KR" altLang="en-US" sz="1000" b="1" dirty="0">
                  <a:solidFill>
                    <a:srgbClr val="1C8F57"/>
                  </a:solidFill>
                </a:rPr>
                <a:t>프로세스</a:t>
              </a:r>
              <a:r>
                <a:rPr lang="en-US" altLang="ko-KR" sz="1000" b="1" baseline="30000" dirty="0">
                  <a:solidFill>
                    <a:srgbClr val="1C8F57"/>
                  </a:solidFill>
                </a:rPr>
                <a:t>(1)</a:t>
              </a:r>
              <a:endParaRPr lang="ko-KR" altLang="en-US" sz="1000" b="1" baseline="30000" dirty="0">
                <a:solidFill>
                  <a:srgbClr val="1C8F57"/>
                </a:solidFill>
              </a:endParaRPr>
            </a:p>
          </p:txBody>
        </p:sp>
      </p:grpSp>
      <p:pic>
        <p:nvPicPr>
          <p:cNvPr id="123" name="Picture 2" descr="예천 어무이 참기름">
            <a:extLst>
              <a:ext uri="{FF2B5EF4-FFF2-40B4-BE49-F238E27FC236}">
                <a16:creationId xmlns:a16="http://schemas.microsoft.com/office/drawing/2014/main" id="{41987E4E-F94B-5ECA-22D7-CA2F6E1890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68999" y="3328811"/>
            <a:ext cx="720000" cy="712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2" descr="FSSC 22000 Certification - Aloe Vera in Bulk for your products - AMB  Wellness">
            <a:extLst>
              <a:ext uri="{FF2B5EF4-FFF2-40B4-BE49-F238E27FC236}">
                <a16:creationId xmlns:a16="http://schemas.microsoft.com/office/drawing/2014/main" id="{82961147-14CC-0B93-A5FA-FC9320B43A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04999" y="3348563"/>
            <a:ext cx="720000" cy="673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2" descr="국가식품클러스터 입주 '쿠엔즈버킷ㆍ핀컴퍼니', 스마트HACCP 인증받아 &lt; 식품산업 &lt; News &lt; 기사본문 - 식품저널 foodnews">
            <a:extLst>
              <a:ext uri="{FF2B5EF4-FFF2-40B4-BE49-F238E27FC236}">
                <a16:creationId xmlns:a16="http://schemas.microsoft.com/office/drawing/2014/main" id="{229B5B14-0C4A-A1DE-EB63-8EC07EBBCF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68999" y="2492376"/>
            <a:ext cx="720000" cy="71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2" descr="예천 어무이 참기름">
            <a:extLst>
              <a:ext uri="{FF2B5EF4-FFF2-40B4-BE49-F238E27FC236}">
                <a16:creationId xmlns:a16="http://schemas.microsoft.com/office/drawing/2014/main" id="{35066856-11BE-7362-A993-21F99AF6E5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04999" y="2492376"/>
            <a:ext cx="720000" cy="71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202" name="표 8201">
            <a:extLst>
              <a:ext uri="{FF2B5EF4-FFF2-40B4-BE49-F238E27FC236}">
                <a16:creationId xmlns:a16="http://schemas.microsoft.com/office/drawing/2014/main" id="{0C4EF905-12B7-96A5-D87E-B703F0155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244283"/>
              </p:ext>
            </p:extLst>
          </p:nvPr>
        </p:nvGraphicFramePr>
        <p:xfrm>
          <a:off x="7112999" y="2492376"/>
          <a:ext cx="2340000" cy="15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327750799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926304704"/>
                    </a:ext>
                  </a:extLst>
                </a:gridCol>
              </a:tblGrid>
              <a:tr h="387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CCP-1P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육안으로 보이는 이물 선별</a:t>
                      </a: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683829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CCP-2P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spc="-30" baseline="0" dirty="0" err="1">
                          <a:solidFill>
                            <a:schemeClr val="tx1"/>
                          </a:solidFill>
                        </a:rPr>
                        <a:t>자석봉</a:t>
                      </a:r>
                      <a:r>
                        <a:rPr lang="ko-KR" altLang="en-US" sz="1000" b="0" spc="-3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spc="-30" baseline="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000" b="0" spc="-30" baseline="0" dirty="0">
                          <a:solidFill>
                            <a:schemeClr val="tx1"/>
                          </a:solidFill>
                        </a:rPr>
                        <a:t>개 이용 금속성 이물 제거</a:t>
                      </a: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366516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CCP-3B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자외선 살균 통한 미생물 제어</a:t>
                      </a: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210028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CCP-4P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금속검출기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이용 최종 이물 확인</a:t>
                      </a:r>
                    </a:p>
                  </a:txBody>
                  <a:tcPr marL="7200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659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576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7090C-93F6-912D-EBC5-722654C18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3892F22-51B1-A5F5-E355-4887B7ADBB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Target Highlights - (4) </a:t>
            </a:r>
            <a:r>
              <a:rPr lang="ko-KR" altLang="en-US" dirty="0" err="1"/>
              <a:t>선제적</a:t>
            </a:r>
            <a:r>
              <a:rPr lang="ko-KR" altLang="en-US" dirty="0"/>
              <a:t> 원재료 수급 및 재고관리 역량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F2746B-A338-EF3B-8251-727D2C3EED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F0E838-FF86-A36A-C9D5-325CFF42A7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7D284B-B309-3B9C-7476-DD42B5B6AEA9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대상회사 전략적 비축 재고자산 확보 추이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413DCA-517D-9940-A941-2F46CC79F6F1}"/>
              </a:ext>
            </a:extLst>
          </p:cNvPr>
          <p:cNvSpPr/>
          <p:nvPr/>
        </p:nvSpPr>
        <p:spPr>
          <a:xfrm>
            <a:off x="5060999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대상회사 핵심 원재료 수급 </a:t>
            </a:r>
            <a:r>
              <a:rPr lang="en-US" altLang="ko-KR" sz="1200" b="1" dirty="0">
                <a:solidFill>
                  <a:schemeClr val="bg1"/>
                </a:solidFill>
              </a:rPr>
              <a:t>· </a:t>
            </a:r>
            <a:r>
              <a:rPr lang="ko-KR" altLang="en-US" sz="1200" b="1" dirty="0">
                <a:solidFill>
                  <a:schemeClr val="bg1"/>
                </a:solidFill>
              </a:rPr>
              <a:t>재고관리 경쟁력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B33C74-9965-7E79-68C9-4631AE248FBD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 </a:t>
            </a:r>
            <a:r>
              <a:rPr lang="en-US" altLang="ko-KR" sz="1400" b="1" dirty="0">
                <a:solidFill>
                  <a:srgbClr val="3D3D3D"/>
                </a:solidFill>
              </a:rPr>
              <a:t>40</a:t>
            </a:r>
            <a:r>
              <a:rPr lang="ko-KR" altLang="en-US" sz="1400" b="1" dirty="0">
                <a:solidFill>
                  <a:srgbClr val="3D3D3D"/>
                </a:solidFill>
              </a:rPr>
              <a:t>년 이상 축적한 국내외 원재료 수급 네트워크와 가격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수요 데이터 기반 </a:t>
            </a:r>
            <a:r>
              <a:rPr lang="ko-KR" altLang="en-US" sz="1400" b="1" dirty="0" err="1">
                <a:solidFill>
                  <a:srgbClr val="3D3D3D"/>
                </a:solidFill>
              </a:rPr>
              <a:t>선제적</a:t>
            </a:r>
            <a:r>
              <a:rPr lang="ko-KR" altLang="en-US" sz="1400" b="1" dirty="0">
                <a:solidFill>
                  <a:srgbClr val="3D3D3D"/>
                </a:solidFill>
              </a:rPr>
              <a:t> 비축 전략을 통해 원재료 가격 변동성을 구조적으로 완화하고 안정적인 원가 구조 기반 수익성 방어력을 확보하고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520239-2B39-9894-28B4-4061F7C26F60}"/>
              </a:ext>
            </a:extLst>
          </p:cNvPr>
          <p:cNvSpPr/>
          <p:nvPr/>
        </p:nvSpPr>
        <p:spPr>
          <a:xfrm>
            <a:off x="453000" y="5084762"/>
            <a:ext cx="9000000" cy="504000"/>
          </a:xfrm>
          <a:prstGeom prst="rect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 err="1">
                <a:solidFill>
                  <a:schemeClr val="bg1"/>
                </a:solidFill>
              </a:rPr>
              <a:t>선제적</a:t>
            </a:r>
            <a:r>
              <a:rPr lang="ko-KR" altLang="en-US" sz="1000" b="1" dirty="0">
                <a:solidFill>
                  <a:schemeClr val="bg1"/>
                </a:solidFill>
              </a:rPr>
              <a:t> 원재료 비축 및 다변화된 글로벌 수급 네트워크를 기반으로 원재료 가격 변동성에 대한 구조적 대응력 확보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안정적 원가 구조를 바탕으로 수익성 방어 및 대형 고객사 납품 확대가 가능한 구조적 사업 경쟁력 확보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95AD0A07-EEAA-C8B0-0D5B-103FDF30FC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3035885"/>
              </p:ext>
            </p:extLst>
          </p:nvPr>
        </p:nvGraphicFramePr>
        <p:xfrm>
          <a:off x="453000" y="2168526"/>
          <a:ext cx="4392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4574ED0-60DC-AD51-FF78-85D46AF06126}"/>
              </a:ext>
            </a:extLst>
          </p:cNvPr>
          <p:cNvSpPr txBox="1"/>
          <p:nvPr/>
        </p:nvSpPr>
        <p:spPr>
          <a:xfrm>
            <a:off x="4261456" y="1780991"/>
            <a:ext cx="583544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>
                <a:solidFill>
                  <a:schemeClr val="bg1"/>
                </a:solidFill>
              </a:rPr>
              <a:t>억원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DA800B6-5D2F-4EA3-86AF-BD466201E928}"/>
              </a:ext>
            </a:extLst>
          </p:cNvPr>
          <p:cNvSpPr/>
          <p:nvPr/>
        </p:nvSpPr>
        <p:spPr>
          <a:xfrm>
            <a:off x="5061000" y="2168525"/>
            <a:ext cx="4392000" cy="1296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대형 중</a:t>
            </a:r>
            <a:r>
              <a:rPr lang="en-US" altLang="ko-KR" sz="1000" b="1" dirty="0">
                <a:solidFill>
                  <a:schemeClr val="tx1"/>
                </a:solidFill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</a:rPr>
              <a:t>도매상 네트워크 기반의 안정적인 </a:t>
            </a:r>
            <a:r>
              <a:rPr lang="ko-KR" altLang="en-US" sz="1000" b="1" dirty="0" err="1">
                <a:solidFill>
                  <a:schemeClr val="tx1"/>
                </a:solidFill>
              </a:rPr>
              <a:t>건고추</a:t>
            </a:r>
            <a:r>
              <a:rPr lang="ko-KR" altLang="en-US" sz="1000" b="1" dirty="0">
                <a:solidFill>
                  <a:schemeClr val="tx1"/>
                </a:solidFill>
              </a:rPr>
              <a:t> 수급 구조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국산 건고추는 국내 최대 산지인 경상도 지역의 대형 중</a:t>
            </a:r>
            <a:r>
              <a:rPr lang="en-US" altLang="ko-KR" sz="1000" dirty="0">
                <a:solidFill>
                  <a:schemeClr val="tx1"/>
                </a:solidFill>
              </a:rPr>
              <a:t>·</a:t>
            </a:r>
            <a:r>
              <a:rPr lang="ko-KR" altLang="en-US" sz="1000" dirty="0">
                <a:solidFill>
                  <a:schemeClr val="tx1"/>
                </a:solidFill>
              </a:rPr>
              <a:t>도매상과의 장기 파트너십을 통해 안정적으로 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수입산 건고추는 복수의 대형 수입업체를 통해 연중 안정적 물량 수급 체계 구축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산지 </a:t>
            </a:r>
            <a:r>
              <a:rPr lang="en-US" altLang="ko-KR" sz="1000" dirty="0">
                <a:solidFill>
                  <a:schemeClr val="tx1"/>
                </a:solidFill>
              </a:rPr>
              <a:t>- </a:t>
            </a:r>
            <a:r>
              <a:rPr lang="ko-KR" altLang="en-US" sz="1000" dirty="0">
                <a:solidFill>
                  <a:schemeClr val="tx1"/>
                </a:solidFill>
              </a:rPr>
              <a:t>가공 </a:t>
            </a:r>
            <a:r>
              <a:rPr lang="en-US" altLang="ko-KR" sz="1000" dirty="0">
                <a:solidFill>
                  <a:schemeClr val="tx1"/>
                </a:solidFill>
              </a:rPr>
              <a:t>- </a:t>
            </a:r>
            <a:r>
              <a:rPr lang="ko-KR" altLang="en-US" sz="1000" dirty="0">
                <a:solidFill>
                  <a:schemeClr val="tx1"/>
                </a:solidFill>
              </a:rPr>
              <a:t>보관의 원재료 수급 전 단계에 걸친 품질 관리 기준을 적용하여 품질 편차 및 감모 손실 최소화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0477CF-D350-CA6D-DE42-E04947997D64}"/>
              </a:ext>
            </a:extLst>
          </p:cNvPr>
          <p:cNvSpPr/>
          <p:nvPr/>
        </p:nvSpPr>
        <p:spPr>
          <a:xfrm>
            <a:off x="5061000" y="3644526"/>
            <a:ext cx="4392000" cy="1296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en-US" altLang="ko-KR" sz="1000" b="1" dirty="0">
                <a:solidFill>
                  <a:schemeClr val="tx1"/>
                </a:solidFill>
              </a:rPr>
              <a:t>40</a:t>
            </a:r>
            <a:r>
              <a:rPr lang="ko-KR" altLang="en-US" sz="1000" b="1" dirty="0">
                <a:solidFill>
                  <a:schemeClr val="tx1"/>
                </a:solidFill>
              </a:rPr>
              <a:t>년 이상의 노하우 </a:t>
            </a:r>
            <a:r>
              <a:rPr lang="en-US" altLang="ko-KR" sz="1000" b="1" dirty="0">
                <a:solidFill>
                  <a:schemeClr val="tx1"/>
                </a:solidFill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</a:rPr>
              <a:t>데이터 활용한 </a:t>
            </a:r>
            <a:r>
              <a:rPr lang="ko-KR" altLang="en-US" sz="1000" b="1" dirty="0" err="1">
                <a:solidFill>
                  <a:schemeClr val="tx1"/>
                </a:solidFill>
              </a:rPr>
              <a:t>선제적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 err="1">
                <a:solidFill>
                  <a:schemeClr val="tx1"/>
                </a:solidFill>
              </a:rPr>
              <a:t>건고추</a:t>
            </a:r>
            <a:r>
              <a:rPr lang="ko-KR" altLang="en-US" sz="1000" b="1" dirty="0">
                <a:solidFill>
                  <a:schemeClr val="tx1"/>
                </a:solidFill>
              </a:rPr>
              <a:t> 확보 전략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국산 </a:t>
            </a:r>
            <a:r>
              <a:rPr lang="ko-KR" altLang="en-US" sz="1000" dirty="0" err="1">
                <a:solidFill>
                  <a:schemeClr val="tx1"/>
                </a:solidFill>
              </a:rPr>
              <a:t>건고추</a:t>
            </a:r>
            <a:r>
              <a:rPr lang="ko-KR" altLang="en-US" sz="1000" dirty="0">
                <a:solidFill>
                  <a:schemeClr val="tx1"/>
                </a:solidFill>
              </a:rPr>
              <a:t> 가격이 수확기인 </a:t>
            </a:r>
            <a:r>
              <a:rPr lang="en-US" altLang="ko-KR" sz="1000" dirty="0">
                <a:solidFill>
                  <a:schemeClr val="tx1"/>
                </a:solidFill>
              </a:rPr>
              <a:t>8</a:t>
            </a:r>
            <a:r>
              <a:rPr lang="ko-KR" altLang="en-US" sz="1000" dirty="0">
                <a:solidFill>
                  <a:schemeClr val="tx1"/>
                </a:solidFill>
              </a:rPr>
              <a:t>월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이후 수급 상황에 따라 결정되는 구조를 활용하여 도매가격 예측 기반 </a:t>
            </a:r>
            <a:r>
              <a:rPr lang="ko-KR" altLang="en-US" sz="1000" dirty="0" err="1">
                <a:solidFill>
                  <a:schemeClr val="tx1"/>
                </a:solidFill>
              </a:rPr>
              <a:t>선제적</a:t>
            </a:r>
            <a:r>
              <a:rPr lang="ko-KR" altLang="en-US" sz="1000" dirty="0">
                <a:solidFill>
                  <a:schemeClr val="tx1"/>
                </a:solidFill>
              </a:rPr>
              <a:t> 매입 전략 수행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2021</a:t>
            </a:r>
            <a:r>
              <a:rPr lang="ko-KR" altLang="en-US" sz="1000" dirty="0">
                <a:solidFill>
                  <a:schemeClr val="tx1"/>
                </a:solidFill>
              </a:rPr>
              <a:t>년 이후 수급 불안정성 확대에 대응해 전략적 비축 규모를 단계적으로 확대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2024</a:t>
            </a:r>
            <a:r>
              <a:rPr lang="ko-KR" altLang="en-US" sz="1000" dirty="0">
                <a:solidFill>
                  <a:schemeClr val="tx1"/>
                </a:solidFill>
              </a:rPr>
              <a:t>년 기준 </a:t>
            </a: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 err="1">
                <a:solidFill>
                  <a:schemeClr val="tx1"/>
                </a:solidFill>
              </a:rPr>
              <a:t>개월치</a:t>
            </a:r>
            <a:r>
              <a:rPr lang="ko-KR" altLang="en-US" sz="1000" dirty="0">
                <a:solidFill>
                  <a:schemeClr val="tx1"/>
                </a:solidFill>
              </a:rPr>
              <a:t> 안전재고 대비 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배 이상의 비축재고를 확보하여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가격 상승기에도 안정적 원가 경쟁력 유지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256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18247-06B6-CDE7-974E-2BE1BD65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A112A9A-46DE-EADF-0E09-AD5191CAE8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en-US" altLang="ko-KR" dirty="0"/>
              <a:t>Target Highlights - (5) </a:t>
            </a:r>
            <a:r>
              <a:rPr lang="ko-KR" altLang="en-US" dirty="0"/>
              <a:t>수직 </a:t>
            </a:r>
            <a:r>
              <a:rPr lang="en-US" altLang="ko-KR" dirty="0"/>
              <a:t>· </a:t>
            </a:r>
            <a:r>
              <a:rPr lang="ko-KR" altLang="en-US" dirty="0"/>
              <a:t>수평적 확장 통한 </a:t>
            </a:r>
            <a:r>
              <a:rPr lang="en-US" altLang="ko-KR" dirty="0"/>
              <a:t>Upside</a:t>
            </a:r>
            <a:r>
              <a:rPr lang="ko-KR" altLang="en-US" dirty="0"/>
              <a:t> 실현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D9F06C-C1D1-19C7-CC7D-5EB16FBC6A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4CE8CE-5E3A-04E9-6C40-CC949346D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4A6F89B-CA6D-A8FC-8CD6-D6C776C24138}"/>
              </a:ext>
            </a:extLst>
          </p:cNvPr>
          <p:cNvSpPr/>
          <p:nvPr/>
        </p:nvSpPr>
        <p:spPr>
          <a:xfrm>
            <a:off x="453000" y="1700213"/>
            <a:ext cx="5040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대상회사 </a:t>
            </a:r>
            <a:r>
              <a:rPr lang="en-US" altLang="ko-KR" sz="1200" b="1" dirty="0">
                <a:solidFill>
                  <a:schemeClr val="bg1"/>
                </a:solidFill>
              </a:rPr>
              <a:t>Value Creation </a:t>
            </a:r>
            <a:r>
              <a:rPr lang="ko-KR" altLang="en-US" sz="1200" b="1" dirty="0">
                <a:solidFill>
                  <a:schemeClr val="bg1"/>
                </a:solidFill>
              </a:rPr>
              <a:t>전략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2EA6D-4F40-8BE9-C394-65E7674D1869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대상회사는 안정적인 </a:t>
            </a:r>
            <a:r>
              <a:rPr lang="en-US" altLang="ko-KR" sz="1400" b="1" dirty="0">
                <a:solidFill>
                  <a:srgbClr val="3D3D3D"/>
                </a:solidFill>
              </a:rPr>
              <a:t>B2B </a:t>
            </a:r>
            <a:r>
              <a:rPr lang="ko-KR" altLang="en-US" sz="1400" b="1" dirty="0">
                <a:solidFill>
                  <a:srgbClr val="3D3D3D"/>
                </a:solidFill>
              </a:rPr>
              <a:t>사업 기반을 바탕으로 </a:t>
            </a:r>
            <a:r>
              <a:rPr lang="en-US" altLang="ko-KR" sz="1400" b="1" dirty="0">
                <a:solidFill>
                  <a:srgbClr val="3D3D3D"/>
                </a:solidFill>
              </a:rPr>
              <a:t>B2C </a:t>
            </a:r>
            <a:r>
              <a:rPr lang="ko-KR" altLang="en-US" sz="1400" b="1" dirty="0">
                <a:solidFill>
                  <a:srgbClr val="3D3D3D"/>
                </a:solidFill>
              </a:rPr>
              <a:t>채널 확장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수직계열화 및 선택적 </a:t>
            </a:r>
            <a:r>
              <a:rPr lang="en-US" altLang="ko-KR" sz="1400" b="1" dirty="0">
                <a:solidFill>
                  <a:srgbClr val="3D3D3D"/>
                </a:solidFill>
              </a:rPr>
              <a:t>M&amp;A</a:t>
            </a:r>
            <a:r>
              <a:rPr lang="ko-KR" altLang="en-US" sz="1400" b="1" dirty="0">
                <a:solidFill>
                  <a:srgbClr val="3D3D3D"/>
                </a:solidFill>
              </a:rPr>
              <a:t>를 통한 추가 성장 잠재력을 단계적으로 실현할 수 있는 확장형 사업 구조를 보유하고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24E2BFC-3FEA-D19B-180D-E302A3476ECF}"/>
              </a:ext>
            </a:extLst>
          </p:cNvPr>
          <p:cNvSpPr/>
          <p:nvPr/>
        </p:nvSpPr>
        <p:spPr>
          <a:xfrm>
            <a:off x="452438" y="2636837"/>
            <a:ext cx="2808000" cy="2303687"/>
          </a:xfrm>
          <a:prstGeom prst="rect">
            <a:avLst/>
          </a:prstGeom>
          <a:solidFill>
            <a:schemeClr val="bg1"/>
          </a:solidFill>
          <a:ln w="15875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576000" rIns="144000" bIns="0" rtlCol="0" anchor="t"/>
          <a:lstStyle/>
          <a:p>
            <a:pPr algn="ctr">
              <a:spcAft>
                <a:spcPts val="300"/>
              </a:spcAft>
            </a:pPr>
            <a:r>
              <a:rPr lang="ko-KR" altLang="en-US" sz="1000" dirty="0">
                <a:solidFill>
                  <a:schemeClr val="tx1"/>
                </a:solidFill>
              </a:rPr>
              <a:t>전방시장 사업영역 확대 전략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spcAft>
                <a:spcPts val="300"/>
              </a:spcAft>
            </a:pPr>
            <a:r>
              <a:rPr lang="ko-KR" altLang="en-US" sz="1000" b="1" dirty="0">
                <a:solidFill>
                  <a:srgbClr val="1C8F57"/>
                </a:solidFill>
              </a:rPr>
              <a:t>홈쇼핑 등 </a:t>
            </a:r>
            <a:r>
              <a:rPr lang="en-US" altLang="ko-KR" sz="1000" b="1" dirty="0">
                <a:solidFill>
                  <a:srgbClr val="1C8F57"/>
                </a:solidFill>
              </a:rPr>
              <a:t>B2C </a:t>
            </a:r>
            <a:r>
              <a:rPr lang="ko-KR" altLang="en-US" sz="1000" b="1" dirty="0">
                <a:solidFill>
                  <a:srgbClr val="1C8F57"/>
                </a:solidFill>
              </a:rPr>
              <a:t>채널 확장</a:t>
            </a:r>
            <a:endParaRPr lang="en-US" altLang="ko-KR" sz="1000" b="1" dirty="0">
              <a:solidFill>
                <a:srgbClr val="1C8F57"/>
              </a:solidFill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핵심 전략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홈쇼핑 등 가정 소비자 접근성 높은 채널 진출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schemeClr val="tx1"/>
                </a:solidFill>
              </a:rPr>
              <a:t>B2B </a:t>
            </a:r>
            <a:r>
              <a:rPr lang="ko-KR" altLang="en-US" sz="1000" dirty="0">
                <a:solidFill>
                  <a:schemeClr val="tx1"/>
                </a:solidFill>
              </a:rPr>
              <a:t>중심 제품군의 </a:t>
            </a:r>
            <a:r>
              <a:rPr lang="en-US" altLang="ko-KR" sz="1000" dirty="0">
                <a:solidFill>
                  <a:schemeClr val="tx1"/>
                </a:solidFill>
              </a:rPr>
              <a:t>B2C</a:t>
            </a:r>
            <a:r>
              <a:rPr lang="ko-KR" altLang="en-US" sz="1000" dirty="0">
                <a:solidFill>
                  <a:schemeClr val="tx1"/>
                </a:solidFill>
              </a:rPr>
              <a:t> 상품화 및 브랜딩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기대효과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매출처 다각화 및 신규 </a:t>
            </a:r>
            <a:r>
              <a:rPr lang="ko-KR" altLang="en-US" sz="1000" dirty="0" err="1">
                <a:solidFill>
                  <a:schemeClr val="tx1"/>
                </a:solidFill>
              </a:rPr>
              <a:t>매출원</a:t>
            </a:r>
            <a:r>
              <a:rPr lang="ko-KR" altLang="en-US" sz="1000" dirty="0">
                <a:solidFill>
                  <a:schemeClr val="tx1"/>
                </a:solidFill>
              </a:rPr>
              <a:t> 창출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브랜드 인지도 제고 기반 중장기 </a:t>
            </a:r>
            <a:r>
              <a:rPr lang="en-US" altLang="ko-KR" sz="1000" dirty="0">
                <a:solidFill>
                  <a:schemeClr val="tx1"/>
                </a:solidFill>
              </a:rPr>
              <a:t>B2C </a:t>
            </a:r>
            <a:r>
              <a:rPr lang="ko-KR" altLang="en-US" sz="1000" dirty="0">
                <a:solidFill>
                  <a:schemeClr val="tx1"/>
                </a:solidFill>
              </a:rPr>
              <a:t>매출 확대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70714DB-1462-4969-7533-B581F3156A99}"/>
              </a:ext>
            </a:extLst>
          </p:cNvPr>
          <p:cNvSpPr/>
          <p:nvPr/>
        </p:nvSpPr>
        <p:spPr>
          <a:xfrm>
            <a:off x="3548718" y="2636837"/>
            <a:ext cx="2808000" cy="2303687"/>
          </a:xfrm>
          <a:prstGeom prst="rect">
            <a:avLst/>
          </a:prstGeom>
          <a:solidFill>
            <a:schemeClr val="bg1"/>
          </a:solidFill>
          <a:ln w="15875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576000" rIns="144000" bIns="0" rtlCol="0" anchor="t"/>
          <a:lstStyle/>
          <a:p>
            <a:pPr algn="ctr">
              <a:spcAft>
                <a:spcPts val="300"/>
              </a:spcAft>
            </a:pPr>
            <a:r>
              <a:rPr lang="ko-KR" altLang="en-US" sz="1000" dirty="0">
                <a:solidFill>
                  <a:schemeClr val="tx1"/>
                </a:solidFill>
              </a:rPr>
              <a:t>수직적 </a:t>
            </a:r>
            <a:r>
              <a:rPr lang="en-US" altLang="ko-KR" sz="1000" dirty="0">
                <a:solidFill>
                  <a:schemeClr val="tx1"/>
                </a:solidFill>
              </a:rPr>
              <a:t>Value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Chain</a:t>
            </a:r>
            <a:r>
              <a:rPr lang="ko-KR" altLang="en-US" sz="1000" dirty="0">
                <a:solidFill>
                  <a:schemeClr val="tx1"/>
                </a:solidFill>
              </a:rPr>
              <a:t> 통합 전략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spcAft>
                <a:spcPts val="300"/>
              </a:spcAft>
            </a:pPr>
            <a:r>
              <a:rPr lang="ko-KR" altLang="en-US" sz="1000" b="1" dirty="0">
                <a:solidFill>
                  <a:srgbClr val="1C8F57"/>
                </a:solidFill>
              </a:rPr>
              <a:t>수입산 냉동고추 건조업체 인수</a:t>
            </a:r>
            <a:endParaRPr lang="en-US" altLang="ko-KR" sz="1000" b="1" dirty="0">
              <a:solidFill>
                <a:srgbClr val="1C8F57"/>
              </a:solidFill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핵심 전략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장기 협력관계인 냉동고추 건조업체 인수 검토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 err="1">
                <a:solidFill>
                  <a:schemeClr val="tx1"/>
                </a:solidFill>
              </a:rPr>
              <a:t>전처리</a:t>
            </a:r>
            <a:r>
              <a:rPr lang="ko-KR" altLang="en-US" sz="1000" dirty="0">
                <a:solidFill>
                  <a:schemeClr val="tx1"/>
                </a:solidFill>
              </a:rPr>
              <a:t> 공정 내재화를 통한 생산체계 일원화</a:t>
            </a:r>
            <a:endParaRPr lang="en-US" altLang="ko-KR" sz="10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기대효과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 err="1">
                <a:solidFill>
                  <a:schemeClr val="tx1"/>
                </a:solidFill>
              </a:rPr>
              <a:t>전처리</a:t>
            </a:r>
            <a:r>
              <a:rPr lang="ko-KR" altLang="en-US" sz="1000" dirty="0">
                <a:solidFill>
                  <a:schemeClr val="tx1"/>
                </a:solidFill>
              </a:rPr>
              <a:t> 가공 마진 내재화에 따른 수익성 개선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공급 안정성 및 품질관리 통합 기반 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789360-6F7C-D725-8B74-61DEDA270B8E}"/>
              </a:ext>
            </a:extLst>
          </p:cNvPr>
          <p:cNvSpPr/>
          <p:nvPr/>
        </p:nvSpPr>
        <p:spPr>
          <a:xfrm>
            <a:off x="6645000" y="2636837"/>
            <a:ext cx="2808000" cy="2303687"/>
          </a:xfrm>
          <a:prstGeom prst="rect">
            <a:avLst/>
          </a:prstGeom>
          <a:solidFill>
            <a:schemeClr val="bg1"/>
          </a:solidFill>
          <a:ln w="15875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576000" rIns="144000" bIns="0" rtlCol="0" anchor="t"/>
          <a:lstStyle/>
          <a:p>
            <a:pPr algn="ctr">
              <a:spcAft>
                <a:spcPts val="300"/>
              </a:spcAft>
            </a:pPr>
            <a:r>
              <a:rPr lang="ko-KR" altLang="en-US" sz="1000" dirty="0">
                <a:solidFill>
                  <a:schemeClr val="tx1"/>
                </a:solidFill>
              </a:rPr>
              <a:t>수평적 </a:t>
            </a:r>
            <a:r>
              <a:rPr lang="en-US" altLang="ko-KR" sz="1000" dirty="0">
                <a:solidFill>
                  <a:schemeClr val="tx1"/>
                </a:solidFill>
              </a:rPr>
              <a:t>Value Chain </a:t>
            </a:r>
            <a:r>
              <a:rPr lang="ko-KR" altLang="en-US" sz="1000" dirty="0">
                <a:solidFill>
                  <a:schemeClr val="tx1"/>
                </a:solidFill>
              </a:rPr>
              <a:t>확장 전략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spcAft>
                <a:spcPts val="300"/>
              </a:spcAft>
            </a:pPr>
            <a:r>
              <a:rPr lang="ko-KR" altLang="en-US" sz="1000" b="1" dirty="0">
                <a:solidFill>
                  <a:srgbClr val="1C8F57"/>
                </a:solidFill>
              </a:rPr>
              <a:t>중소형 고춧가루 제조업체 인수</a:t>
            </a:r>
            <a:endParaRPr lang="en-US" altLang="ko-KR" sz="1000" b="1" dirty="0">
              <a:solidFill>
                <a:srgbClr val="1C8F57"/>
              </a:solidFill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핵심 전략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중소형 제조업체 대상 선별적 인수기회 탐색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인수 후 생산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유통 통합 통한 운영 효율화 추진</a:t>
            </a:r>
            <a:endParaRPr lang="en-US" altLang="ko-KR" sz="10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기대효과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 err="1">
                <a:solidFill>
                  <a:schemeClr val="tx1"/>
                </a:solidFill>
              </a:rPr>
              <a:t>즉시적인</a:t>
            </a:r>
            <a:r>
              <a:rPr lang="ko-KR" altLang="en-US" sz="1000" dirty="0">
                <a:solidFill>
                  <a:schemeClr val="tx1"/>
                </a:solidFill>
              </a:rPr>
              <a:t> 생산규모 확대 및 시장점유율 상승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규모의 경제 기반 수익성 개선 여력 확보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A0A5DA-E8DE-3826-5F42-806AED54CEA0}"/>
              </a:ext>
            </a:extLst>
          </p:cNvPr>
          <p:cNvSpPr/>
          <p:nvPr/>
        </p:nvSpPr>
        <p:spPr>
          <a:xfrm>
            <a:off x="453000" y="5084762"/>
            <a:ext cx="9000000" cy="504000"/>
          </a:xfrm>
          <a:prstGeom prst="rect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b="1" dirty="0">
                <a:solidFill>
                  <a:schemeClr val="bg1"/>
                </a:solidFill>
              </a:rPr>
              <a:t>B2C </a:t>
            </a:r>
            <a:r>
              <a:rPr lang="ko-KR" altLang="en-US" sz="1000" b="1" dirty="0">
                <a:solidFill>
                  <a:schemeClr val="bg1"/>
                </a:solidFill>
              </a:rPr>
              <a:t>채널 확장</a:t>
            </a:r>
            <a:r>
              <a:rPr lang="en-US" altLang="ko-KR" sz="1000" b="1" dirty="0">
                <a:solidFill>
                  <a:schemeClr val="bg1"/>
                </a:solidFill>
              </a:rPr>
              <a:t>, </a:t>
            </a:r>
            <a:r>
              <a:rPr lang="ko-KR" altLang="en-US" sz="1000" b="1" dirty="0">
                <a:solidFill>
                  <a:schemeClr val="bg1"/>
                </a:solidFill>
              </a:rPr>
              <a:t>수직계열화 및 선택적 </a:t>
            </a:r>
            <a:r>
              <a:rPr lang="en-US" altLang="ko-KR" sz="1000" b="1" dirty="0">
                <a:solidFill>
                  <a:schemeClr val="bg1"/>
                </a:solidFill>
              </a:rPr>
              <a:t>M&amp;A</a:t>
            </a:r>
            <a:r>
              <a:rPr lang="ko-KR" altLang="en-US" sz="1000" b="1" dirty="0">
                <a:solidFill>
                  <a:schemeClr val="bg1"/>
                </a:solidFill>
              </a:rPr>
              <a:t>를 통해 중장기 매출 성장 및 수익성 개선을 동시에 달성 가능한 구조적 </a:t>
            </a:r>
            <a:r>
              <a:rPr lang="en-US" altLang="ko-KR" sz="1000" b="1" dirty="0">
                <a:solidFill>
                  <a:schemeClr val="bg1"/>
                </a:solidFill>
              </a:rPr>
              <a:t>Upside </a:t>
            </a:r>
            <a:r>
              <a:rPr lang="ko-KR" altLang="en-US" sz="1000" b="1" dirty="0">
                <a:solidFill>
                  <a:schemeClr val="bg1"/>
                </a:solidFill>
              </a:rPr>
              <a:t>보유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b="1" dirty="0">
                <a:solidFill>
                  <a:schemeClr val="bg1"/>
                </a:solidFill>
              </a:rPr>
              <a:t>기존의 안정적 </a:t>
            </a:r>
            <a:r>
              <a:rPr lang="en-US" altLang="ko-KR" sz="1000" b="1" dirty="0">
                <a:solidFill>
                  <a:schemeClr val="bg1"/>
                </a:solidFill>
              </a:rPr>
              <a:t>B2B </a:t>
            </a:r>
            <a:r>
              <a:rPr lang="ko-KR" altLang="en-US" sz="1000" b="1" dirty="0">
                <a:solidFill>
                  <a:schemeClr val="bg1"/>
                </a:solidFill>
              </a:rPr>
              <a:t>사업 기반 위에서 추가 가치 창출이 가능한 확장형 사업 포지션 확보</a:t>
            </a:r>
            <a:endParaRPr lang="en-US" altLang="ko-KR" sz="1000" b="1" dirty="0">
              <a:solidFill>
                <a:schemeClr val="bg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DDADD37-B44C-89B1-F98A-49E5AECC4F18}"/>
              </a:ext>
            </a:extLst>
          </p:cNvPr>
          <p:cNvSpPr/>
          <p:nvPr/>
        </p:nvSpPr>
        <p:spPr>
          <a:xfrm>
            <a:off x="1388438" y="2168524"/>
            <a:ext cx="936000" cy="936000"/>
          </a:xfrm>
          <a:prstGeom prst="ellipse">
            <a:avLst/>
          </a:prstGeom>
          <a:solidFill>
            <a:srgbClr val="26C260"/>
          </a:solidFill>
          <a:ln w="6350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2019BB2-3F5F-0BDD-C7BB-DCE330777D78}"/>
              </a:ext>
            </a:extLst>
          </p:cNvPr>
          <p:cNvSpPr/>
          <p:nvPr/>
        </p:nvSpPr>
        <p:spPr>
          <a:xfrm>
            <a:off x="4484719" y="2168524"/>
            <a:ext cx="936000" cy="936000"/>
          </a:xfrm>
          <a:prstGeom prst="ellipse">
            <a:avLst/>
          </a:prstGeom>
          <a:solidFill>
            <a:srgbClr val="26C260"/>
          </a:solidFill>
          <a:ln w="6350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B72F8D7-A9A2-1937-A66B-E1284C4232D0}"/>
              </a:ext>
            </a:extLst>
          </p:cNvPr>
          <p:cNvSpPr/>
          <p:nvPr/>
        </p:nvSpPr>
        <p:spPr>
          <a:xfrm>
            <a:off x="7581000" y="2168524"/>
            <a:ext cx="936000" cy="936000"/>
          </a:xfrm>
          <a:prstGeom prst="ellipse">
            <a:avLst/>
          </a:prstGeom>
          <a:solidFill>
            <a:srgbClr val="26C260"/>
          </a:solidFill>
          <a:ln w="6350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42CCDEE-11FE-BA42-5E5F-5C999437FF06}"/>
              </a:ext>
            </a:extLst>
          </p:cNvPr>
          <p:cNvGrpSpPr>
            <a:grpSpLocks noChangeAspect="1"/>
          </p:cNvGrpSpPr>
          <p:nvPr/>
        </p:nvGrpSpPr>
        <p:grpSpPr>
          <a:xfrm>
            <a:off x="3188578" y="3572680"/>
            <a:ext cx="432000" cy="432000"/>
            <a:chOff x="1709737" y="-1200150"/>
            <a:chExt cx="360000" cy="360000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A16912B-1991-B55E-BB25-EAF5C413DD22}"/>
                </a:ext>
              </a:extLst>
            </p:cNvPr>
            <p:cNvSpPr/>
            <p:nvPr/>
          </p:nvSpPr>
          <p:spPr>
            <a:xfrm>
              <a:off x="1709737" y="-1200150"/>
              <a:ext cx="360000" cy="360000"/>
            </a:xfrm>
            <a:prstGeom prst="ellipse">
              <a:avLst/>
            </a:prstGeom>
            <a:solidFill>
              <a:srgbClr val="1C8F5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0" name="더하기 기호 19">
              <a:extLst>
                <a:ext uri="{FF2B5EF4-FFF2-40B4-BE49-F238E27FC236}">
                  <a16:creationId xmlns:a16="http://schemas.microsoft.com/office/drawing/2014/main" id="{D8D691EB-2BC0-88C4-CF14-D23BC2D0A992}"/>
                </a:ext>
              </a:extLst>
            </p:cNvPr>
            <p:cNvSpPr/>
            <p:nvPr/>
          </p:nvSpPr>
          <p:spPr>
            <a:xfrm>
              <a:off x="1727737" y="-1182150"/>
              <a:ext cx="324000" cy="324000"/>
            </a:xfrm>
            <a:prstGeom prst="mathPlus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3B3D113-2E94-5118-1DED-ABFE87196060}"/>
              </a:ext>
            </a:extLst>
          </p:cNvPr>
          <p:cNvGrpSpPr>
            <a:grpSpLocks noChangeAspect="1"/>
          </p:cNvGrpSpPr>
          <p:nvPr/>
        </p:nvGrpSpPr>
        <p:grpSpPr>
          <a:xfrm>
            <a:off x="6284859" y="3572680"/>
            <a:ext cx="432000" cy="432000"/>
            <a:chOff x="1709737" y="-1200150"/>
            <a:chExt cx="360000" cy="360000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D390685B-D2D5-BD36-3891-0DD5EEC028ED}"/>
                </a:ext>
              </a:extLst>
            </p:cNvPr>
            <p:cNvSpPr/>
            <p:nvPr/>
          </p:nvSpPr>
          <p:spPr>
            <a:xfrm>
              <a:off x="1709737" y="-1200150"/>
              <a:ext cx="360000" cy="360000"/>
            </a:xfrm>
            <a:prstGeom prst="ellipse">
              <a:avLst/>
            </a:prstGeom>
            <a:solidFill>
              <a:srgbClr val="1C8F5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더하기 기호 23">
              <a:extLst>
                <a:ext uri="{FF2B5EF4-FFF2-40B4-BE49-F238E27FC236}">
                  <a16:creationId xmlns:a16="http://schemas.microsoft.com/office/drawing/2014/main" id="{0DB7CF5E-099E-4E89-07DB-AEF3EBDBD188}"/>
                </a:ext>
              </a:extLst>
            </p:cNvPr>
            <p:cNvSpPr/>
            <p:nvPr/>
          </p:nvSpPr>
          <p:spPr>
            <a:xfrm>
              <a:off x="1727737" y="-1182150"/>
              <a:ext cx="324000" cy="324000"/>
            </a:xfrm>
            <a:prstGeom prst="mathPlus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28" name="그래픽 27">
            <a:extLst>
              <a:ext uri="{FF2B5EF4-FFF2-40B4-BE49-F238E27FC236}">
                <a16:creationId xmlns:a16="http://schemas.microsoft.com/office/drawing/2014/main" id="{8C3B1634-6955-E8E0-6FC5-528FF1267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4438" y="2384524"/>
            <a:ext cx="504000" cy="504000"/>
          </a:xfrm>
          <a:prstGeom prst="rect">
            <a:avLst/>
          </a:prstGeom>
        </p:spPr>
      </p:pic>
      <p:pic>
        <p:nvPicPr>
          <p:cNvPr id="41" name="그래픽 40">
            <a:extLst>
              <a:ext uri="{FF2B5EF4-FFF2-40B4-BE49-F238E27FC236}">
                <a16:creationId xmlns:a16="http://schemas.microsoft.com/office/drawing/2014/main" id="{522F0B53-BB84-7D52-7A3D-C86323AA9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0719" y="2384524"/>
            <a:ext cx="504000" cy="5040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AB8F0164-30AB-CA73-FEF3-21538BB53F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97000" y="2384524"/>
            <a:ext cx="504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00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D4A20-DC18-65EB-DBAE-0516E4265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0211ADE-A31B-6545-D718-B66298B23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491042"/>
              </p:ext>
            </p:extLst>
          </p:nvPr>
        </p:nvGraphicFramePr>
        <p:xfrm>
          <a:off x="344438" y="2168525"/>
          <a:ext cx="3528000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150886525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414802809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01</a:t>
                      </a:r>
                      <a:endParaRPr lang="ko-KR" altLang="en-US" sz="1400" b="0" kern="120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b="0" kern="120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n-cs"/>
                        </a:rPr>
                        <a:t>Executive Summary</a:t>
                      </a:r>
                      <a:endParaRPr lang="ko-KR" altLang="en-US" sz="1400" b="0" kern="120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13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02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Market Opportunity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061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none" spc="0" baseline="0" dirty="0">
                          <a:solidFill>
                            <a:schemeClr val="bg1"/>
                          </a:solidFill>
                          <a:latin typeface="+mj-lt"/>
                          <a:ea typeface="+mj-ea"/>
                        </a:rPr>
                        <a:t>03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UITE Heavy"/>
                          <a:ea typeface="SUITE Heavy"/>
                          <a:cs typeface="+mn-cs"/>
                        </a:rPr>
                        <a:t>Target Highlights</a:t>
                      </a:r>
                      <a:endParaRPr lang="ko-KR" altLang="en-US" sz="1400" b="0" cap="none" spc="0" baseline="0" dirty="0">
                        <a:solidFill>
                          <a:schemeClr val="bg1"/>
                        </a:solidFill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49245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cap="all" spc="0" baseline="0" dirty="0">
                          <a:solidFill>
                            <a:srgbClr val="0F3A32"/>
                          </a:solidFill>
                          <a:latin typeface="+mj-lt"/>
                          <a:ea typeface="+mj-ea"/>
                        </a:rPr>
                        <a:t>04</a:t>
                      </a:r>
                      <a:endParaRPr lang="ko-KR" altLang="en-US" sz="1400" b="0" cap="all" spc="0" baseline="0" dirty="0">
                        <a:solidFill>
                          <a:srgbClr val="0F3A32"/>
                        </a:solidFill>
                        <a:latin typeface="+mj-lt"/>
                        <a:ea typeface="+mj-ea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400" b="0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rgbClr val="0F3A32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+mn-cs"/>
                        </a:rPr>
                        <a:t>Financial Summary</a:t>
                      </a:r>
                      <a:endParaRPr kumimoji="0" lang="en-US" altLang="ko-KR" sz="1400" b="0" i="0" u="none" strike="noStrike" kern="1200" cap="all" spc="0" normalizeH="0" baseline="0" noProof="0" dirty="0">
                        <a:ln>
                          <a:noFill/>
                        </a:ln>
                        <a:solidFill>
                          <a:srgbClr val="0F3A32"/>
                        </a:solidFill>
                        <a:effectLst/>
                        <a:uLnTx/>
                        <a:uFillTx/>
                        <a:latin typeface="SUITE Heavy"/>
                        <a:ea typeface="SUITE Heavy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277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1B344C1-70C6-A62C-9100-C978EC76F73B}"/>
              </a:ext>
            </a:extLst>
          </p:cNvPr>
          <p:cNvSpPr txBox="1"/>
          <p:nvPr/>
        </p:nvSpPr>
        <p:spPr>
          <a:xfrm>
            <a:off x="452438" y="1368847"/>
            <a:ext cx="3247684" cy="3809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+mj-lt"/>
                <a:ea typeface="+mj-ea"/>
              </a:rPr>
              <a:t>TABLE OF CONTENTS</a:t>
            </a:r>
            <a:endParaRPr lang="ko-KR" altLang="en-US" sz="24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EF866064-5A2C-FE49-AC33-BCC861057616}"/>
              </a:ext>
            </a:extLst>
          </p:cNvPr>
          <p:cNvSpPr txBox="1">
            <a:spLocks/>
          </p:cNvSpPr>
          <p:nvPr/>
        </p:nvSpPr>
        <p:spPr>
          <a:xfrm>
            <a:off x="452999" y="6177279"/>
            <a:ext cx="1548501" cy="131446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indent="0" defTabSz="914400" latinLnBrk="1">
              <a:lnSpc>
                <a:spcPts val="11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aseline="0">
                <a:solidFill>
                  <a:schemeClr val="bg1"/>
                </a:solidFill>
                <a:latin typeface="Outfit" pitchFamily="2" charset="0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sz="800" dirty="0">
                <a:latin typeface="+mj-lt"/>
                <a:ea typeface="+mj-ea"/>
              </a:rPr>
              <a:t>Strictly Private &amp; Confidential</a:t>
            </a:r>
            <a:endParaRPr lang="ko-KR" altLang="en-US" sz="800" dirty="0">
              <a:latin typeface="+mj-lt"/>
              <a:ea typeface="+mj-ea"/>
            </a:endParaRP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734D3B2A-D61F-EF45-6CB3-9DDA37DDD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97" y="549275"/>
            <a:ext cx="272432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30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B011FD-5CD3-5F47-91A1-8364CEAA1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대상회사 </a:t>
            </a:r>
            <a:r>
              <a:rPr lang="en-US" altLang="ko-KR" dirty="0"/>
              <a:t>Pro-Forma </a:t>
            </a:r>
            <a:r>
              <a:rPr lang="ko-KR" altLang="en-US" dirty="0"/>
              <a:t>사업계획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6E0873-4825-8BD8-91A2-25DA095D48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96891A-E548-C83B-465A-D382FDC8863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53D7A8-1B3F-E013-DA00-112BC780D6AA}"/>
              </a:ext>
            </a:extLst>
          </p:cNvPr>
          <p:cNvSpPr/>
          <p:nvPr/>
        </p:nvSpPr>
        <p:spPr>
          <a:xfrm>
            <a:off x="453000" y="1196975"/>
            <a:ext cx="9000000" cy="4752975"/>
          </a:xfrm>
          <a:prstGeom prst="rect">
            <a:avLst/>
          </a:prstGeom>
          <a:solidFill>
            <a:srgbClr val="E6FDD6"/>
          </a:solidFill>
          <a:ln w="6350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Projection modeling </a:t>
            </a:r>
            <a:r>
              <a:rPr lang="ko-KR" altLang="en-US" sz="1000" dirty="0">
                <a:solidFill>
                  <a:schemeClr val="tx1"/>
                </a:solidFill>
              </a:rPr>
              <a:t>작업 후 </a:t>
            </a:r>
            <a:r>
              <a:rPr lang="en-US" altLang="ko-KR" sz="1000" dirty="0">
                <a:solidFill>
                  <a:schemeClr val="tx1"/>
                </a:solidFill>
              </a:rPr>
              <a:t>1-2</a:t>
            </a:r>
            <a:r>
              <a:rPr lang="ko-KR" altLang="en-US" sz="1000" dirty="0">
                <a:solidFill>
                  <a:schemeClr val="tx1"/>
                </a:solidFill>
              </a:rPr>
              <a:t>페이지 이내 작성 계획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EA08DD-FFEF-8717-4209-6C58F000EB6F}"/>
              </a:ext>
            </a:extLst>
          </p:cNvPr>
          <p:cNvSpPr/>
          <p:nvPr/>
        </p:nvSpPr>
        <p:spPr>
          <a:xfrm>
            <a:off x="5384800" y="52034"/>
            <a:ext cx="4392000" cy="468010"/>
          </a:xfrm>
          <a:prstGeom prst="rect">
            <a:avLst/>
          </a:prstGeom>
          <a:solidFill>
            <a:srgbClr val="FF383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PETRA</a:t>
            </a:r>
            <a:r>
              <a:rPr lang="ko-KR" altLang="en-US" sz="1000" b="1" dirty="0">
                <a:solidFill>
                  <a:schemeClr val="bg1"/>
                </a:solidFill>
              </a:rPr>
              <a:t> </a:t>
            </a:r>
            <a:r>
              <a:rPr lang="en-US" altLang="ko-KR" sz="1000" b="1" dirty="0">
                <a:solidFill>
                  <a:schemeClr val="bg1"/>
                </a:solidFill>
              </a:rPr>
              <a:t>Note</a:t>
            </a:r>
          </a:p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현재 </a:t>
            </a:r>
            <a:r>
              <a:rPr lang="en-US" altLang="ko-KR" sz="800" dirty="0">
                <a:solidFill>
                  <a:schemeClr val="bg1"/>
                </a:solidFill>
              </a:rPr>
              <a:t>Pro-Forma Modeling </a:t>
            </a:r>
            <a:r>
              <a:rPr lang="ko-KR" altLang="en-US" sz="800" dirty="0">
                <a:solidFill>
                  <a:schemeClr val="bg1"/>
                </a:solidFill>
              </a:rPr>
              <a:t>작업 중으로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작업 완료 후 해당 내용 반영하여 </a:t>
            </a:r>
            <a:r>
              <a:rPr lang="en-US" altLang="ko-KR" sz="800" dirty="0">
                <a:solidFill>
                  <a:schemeClr val="bg1"/>
                </a:solidFill>
              </a:rPr>
              <a:t>Update </a:t>
            </a:r>
            <a:r>
              <a:rPr lang="ko-KR" altLang="en-US" sz="800" dirty="0">
                <a:solidFill>
                  <a:schemeClr val="bg1"/>
                </a:solidFill>
              </a:rPr>
              <a:t>하도록 하겠습니다</a:t>
            </a:r>
            <a:r>
              <a:rPr lang="en-US" altLang="ko-KR" sz="800" dirty="0">
                <a:solidFill>
                  <a:schemeClr val="bg1"/>
                </a:solidFill>
              </a:rPr>
              <a:t>.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671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68B85-6FF8-95BD-5F0A-FE2DFE2C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D59E1A0-75CF-EB1F-6CE0-915CA6B4BD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대상회사 </a:t>
            </a:r>
            <a:r>
              <a:rPr lang="en-US" altLang="ko-KR" dirty="0"/>
              <a:t>Pro-Forma</a:t>
            </a:r>
            <a:r>
              <a:rPr lang="ko-KR" altLang="en-US" dirty="0"/>
              <a:t> 재무제표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86DEAD-A285-626E-1F1E-1FF71E19D5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Note:</a:t>
            </a:r>
            <a:r>
              <a:rPr lang="ko-KR" altLang="en-US" dirty="0"/>
              <a:t> </a:t>
            </a:r>
            <a:r>
              <a:rPr lang="en-US" altLang="ko-KR" dirty="0"/>
              <a:t>H </a:t>
            </a:r>
            <a:r>
              <a:rPr lang="ko-KR" altLang="en-US" dirty="0"/>
              <a:t>농업회사법인과 </a:t>
            </a:r>
            <a:r>
              <a:rPr lang="en-US" altLang="ko-KR" dirty="0"/>
              <a:t>E </a:t>
            </a:r>
            <a:r>
              <a:rPr lang="ko-KR" altLang="en-US" dirty="0"/>
              <a:t>농업회사법인의 연결 재무제표 작성을 가정하여 작성한 </a:t>
            </a:r>
            <a:r>
              <a:rPr lang="en-US" altLang="ko-KR" dirty="0"/>
              <a:t>Pro Forma </a:t>
            </a:r>
            <a:r>
              <a:rPr lang="ko-KR" altLang="en-US" dirty="0"/>
              <a:t>재무제표임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F5E8F0-9EB8-C542-B8CC-8420E5A602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21</a:t>
            </a:fld>
            <a:endParaRPr 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E8212AD-B578-E772-D45E-91125B103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816248"/>
              </p:ext>
            </p:extLst>
          </p:nvPr>
        </p:nvGraphicFramePr>
        <p:xfrm>
          <a:off x="453000" y="1196974"/>
          <a:ext cx="4392000" cy="4752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4740936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75321320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3951844446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618604958"/>
                    </a:ext>
                  </a:extLst>
                </a:gridCol>
              </a:tblGrid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단위</a:t>
                      </a: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백만원</a:t>
                      </a: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ko-KR" sz="9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57660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i="0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유동자산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12,863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15,312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34,221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379335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현금및현금성자산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1,690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1,368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16,835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868431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매출채권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4,707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2,581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4,051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15926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재고자산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5,408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10,058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10,931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282020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기타유동자산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1,058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1,305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1,659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356603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비유동자산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4,537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4,513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4,021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878300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투자자산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421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541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614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584938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유무형자산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3,500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3,345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2,776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827274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기타비유동자산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616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626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631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036415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자산총계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17,400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19,825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>
                          <a:solidFill>
                            <a:srgbClr val="1C8F57"/>
                          </a:solidFill>
                          <a:effectLst/>
                        </a:rPr>
                        <a:t>37,498</a:t>
                      </a:r>
                      <a:endParaRPr lang="en-US" altLang="ko-KR" sz="900" b="1" i="0" u="none" strike="noStrike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08215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유동부채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>
                          <a:solidFill>
                            <a:srgbClr val="1C8F57"/>
                          </a:solidFill>
                          <a:effectLst/>
                        </a:rPr>
                        <a:t>9,194</a:t>
                      </a:r>
                      <a:endParaRPr lang="en-US" altLang="ko-KR" sz="900" b="1" i="0" u="none" strike="noStrike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8,074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20,568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008207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매입채무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2,056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1,388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1,447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257393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단기차입금</a:t>
                      </a: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3,295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5,684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4,055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637722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전환사채 및 </a:t>
                      </a: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신주인수권부사채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2,791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2,954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17,077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076477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기타유동부채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1,052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1,002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895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288806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비유동부채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2,261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2,352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390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646193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장기차입금</a:t>
                      </a: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417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965309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신주인수권부사채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1,972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440796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기타비유동부채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1,844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380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390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845110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부채총계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11,455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10,426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20,958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821595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자본총계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>
                          <a:solidFill>
                            <a:srgbClr val="1C8F57"/>
                          </a:solidFill>
                          <a:effectLst/>
                        </a:rPr>
                        <a:t>5,945</a:t>
                      </a:r>
                      <a:endParaRPr lang="en-US" altLang="ko-KR" sz="900" b="1" i="0" u="none" strike="noStrike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9,399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16,539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867953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90F86A5-192A-0B6C-DE9C-FD4C8B930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060546"/>
              </p:ext>
            </p:extLst>
          </p:nvPr>
        </p:nvGraphicFramePr>
        <p:xfrm>
          <a:off x="5061000" y="1196974"/>
          <a:ext cx="4392000" cy="47520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4740936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75321320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426234545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4172933058"/>
                    </a:ext>
                  </a:extLst>
                </a:gridCol>
              </a:tblGrid>
              <a:tr h="2169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단위</a:t>
                      </a: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백만원</a:t>
                      </a: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ko-KR" sz="9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57660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매출액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24,201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26,763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33,722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750078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제품매출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24,200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26,763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33,722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75821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상품매출</a:t>
                      </a: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853981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매출원가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17,259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20,176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26,515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338989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제품매출원가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17,259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20,176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26,515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257096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매출총이익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6,943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6,588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7,207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07752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%GP</a:t>
                      </a:r>
                      <a:endParaRPr lang="en-US" sz="9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29%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25%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21%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69576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판관비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3,986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3,705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4,046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183225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인건비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1,771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841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899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87345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물류비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1,346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1,703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2,175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277603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상각비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215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431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226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37254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기타판관비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654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731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746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57188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영업이익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2,957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2,882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3,161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82548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%OP</a:t>
                      </a:r>
                      <a:endParaRPr lang="en-US" sz="9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12%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11%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9%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710209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당기순이익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2,487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2,415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2,111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70955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%NI</a:t>
                      </a:r>
                      <a:endParaRPr lang="en-US" sz="9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10%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9%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6%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765954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상각비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365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600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496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380209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EBITDA</a:t>
                      </a:r>
                      <a:endParaRPr 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3,322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3,482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3,658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76191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%EBITDA</a:t>
                      </a:r>
                      <a:endParaRPr lang="en-US" sz="9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14%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13%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11%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478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251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C9C8F-03AC-3D43-0BF5-F7768FBF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6579E5E-2A6F-4B20-DDDF-B361D2ABDC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H </a:t>
            </a:r>
            <a:r>
              <a:rPr lang="ko-KR" altLang="en-US" dirty="0"/>
              <a:t>농업회사법인 재무제표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862530-6AFF-8A7F-910A-8AD6A884DF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2BB617-F878-28FA-7F98-682C0FE7D0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22</a:t>
            </a:fld>
            <a:endParaRPr 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43E0F6F-3D0D-8647-F4EE-A7A30F7BA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060847"/>
              </p:ext>
            </p:extLst>
          </p:nvPr>
        </p:nvGraphicFramePr>
        <p:xfrm>
          <a:off x="453000" y="1196974"/>
          <a:ext cx="4392000" cy="47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4740936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75321320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3951844446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61860495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단위</a:t>
                      </a: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백만원</a:t>
                      </a: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ko-KR" sz="9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5766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i="0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유동자산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8,815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8,634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15,221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37933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현금및현금성자산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614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531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6,751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86843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매출채권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3,282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942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2,071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1592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재고자산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2,103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4,753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5,934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28202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기타유동자산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2,817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2,409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465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3566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비유동자산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2,388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2,272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2,042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8783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투자자산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397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493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551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58493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유무형자산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1,688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1,476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1,188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82727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기타비유동자산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304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304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304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0364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자산총계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11,203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10,906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>
                          <a:solidFill>
                            <a:srgbClr val="1C8F57"/>
                          </a:solidFill>
                          <a:effectLst/>
                        </a:rPr>
                        <a:t>17,263</a:t>
                      </a:r>
                      <a:endParaRPr lang="en-US" altLang="ko-KR" sz="900" b="1" i="0" u="none" strike="noStrike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082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유동부채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>
                          <a:solidFill>
                            <a:srgbClr val="1C8F57"/>
                          </a:solidFill>
                          <a:effectLst/>
                        </a:rPr>
                        <a:t>7,286</a:t>
                      </a:r>
                      <a:endParaRPr lang="en-US" altLang="ko-KR" sz="900" b="1" i="0" u="none" strike="noStrike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6,882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11,421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0082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매입채무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1,252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1,090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1,447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25739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단기차입금</a:t>
                      </a: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2,948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5,393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3,805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63772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전환사채 및 </a:t>
                      </a: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신주인수권부사채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2,791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2,954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8,191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07647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기타유동부채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295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399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883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2888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비유동부채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1,677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887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180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64619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장기차입금</a:t>
                      </a: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9653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신주인수권부사채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691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44079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기타비유동부채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1,677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196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180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8451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부채총계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8,963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>
                          <a:solidFill>
                            <a:srgbClr val="1C8F57"/>
                          </a:solidFill>
                          <a:effectLst/>
                        </a:rPr>
                        <a:t>7,769</a:t>
                      </a:r>
                      <a:endParaRPr lang="en-US" altLang="ko-KR" sz="900" b="1" i="0" u="none" strike="noStrike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11,601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82159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자본총계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>
                          <a:solidFill>
                            <a:srgbClr val="1C8F57"/>
                          </a:solidFill>
                          <a:effectLst/>
                        </a:rPr>
                        <a:t>2,240</a:t>
                      </a:r>
                      <a:endParaRPr lang="en-US" altLang="ko-KR" sz="900" b="1" i="0" u="none" strike="noStrike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3,138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5,662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867953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DFDDFA2-8161-1185-E4AF-990ED6336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03809"/>
              </p:ext>
            </p:extLst>
          </p:nvPr>
        </p:nvGraphicFramePr>
        <p:xfrm>
          <a:off x="5061000" y="1196974"/>
          <a:ext cx="4392000" cy="47520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4740936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75321320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426234545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4172933058"/>
                    </a:ext>
                  </a:extLst>
                </a:gridCol>
              </a:tblGrid>
              <a:tr h="2169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단위</a:t>
                      </a: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백만원</a:t>
                      </a: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ko-KR" sz="9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57660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매출액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8,988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7,740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12,128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750078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제품매출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8,988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7,740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12,128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75821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상품매출</a:t>
                      </a: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853981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매출원가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7,235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6,165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10,489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338989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제품매출원가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7,235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6,165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10,489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257096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매출총이익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1,754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1,575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1,639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07752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%GP</a:t>
                      </a:r>
                      <a:endParaRPr lang="en-US" sz="9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20%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20%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14%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69576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판관비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1,685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919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1,098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183225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인건비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1,131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345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469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87345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물류비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124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176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338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277603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상각비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112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145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40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37254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기타판관비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318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253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251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57188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영업이익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68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655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541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82548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%OP</a:t>
                      </a:r>
                      <a:endParaRPr lang="en-US" sz="9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8%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4%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710209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당기순이익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(111)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375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70955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%NI</a:t>
                      </a:r>
                      <a:endParaRPr lang="en-US" sz="9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-1%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5%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0%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765954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상각비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151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177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79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380209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EBITDA</a:t>
                      </a:r>
                      <a:endParaRPr 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219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832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619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76191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%EBITDA</a:t>
                      </a:r>
                      <a:endParaRPr lang="en-US" sz="9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2%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11%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5%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478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63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6F62C-087E-DA90-D59A-F1694EB2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0639922-0EB0-9F25-FAE0-F9969C0671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E </a:t>
            </a:r>
            <a:r>
              <a:rPr lang="ko-KR" altLang="en-US" dirty="0"/>
              <a:t>농업회사법인 재무제표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D10718-DCB5-4D24-0566-F13B35BC7A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9316A2-0D2B-BDE2-B718-D91ED6D1394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23</a:t>
            </a:fld>
            <a:endParaRPr 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4943E61-B167-3E30-CE34-50004B7BD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80675"/>
              </p:ext>
            </p:extLst>
          </p:nvPr>
        </p:nvGraphicFramePr>
        <p:xfrm>
          <a:off x="453000" y="1196974"/>
          <a:ext cx="4392000" cy="4752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4740936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75321320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3951844446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618604958"/>
                    </a:ext>
                  </a:extLst>
                </a:gridCol>
              </a:tblGrid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단위</a:t>
                      </a: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백만원</a:t>
                      </a: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ko-KR" sz="9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57660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i="0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유동자산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6,616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8,633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18,999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379335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현금및현금성자산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1,077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838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10,084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868431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매출채권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1,464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1,639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1,980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15926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재고자산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3,305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5,305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4,997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282020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기타유동자산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771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851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1,938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356603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비유동자산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2,149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2,240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1,979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878300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투자자산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63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584938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유무형자산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1,812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1,869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1,589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827274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기타비유동자산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312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323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328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036415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자산총계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8,765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10,873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20,979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08215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유동부채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>
                          <a:solidFill>
                            <a:srgbClr val="1C8F57"/>
                          </a:solidFill>
                          <a:effectLst/>
                        </a:rPr>
                        <a:t>4,475</a:t>
                      </a:r>
                      <a:endParaRPr lang="en-US" altLang="ko-KR" sz="900" b="1" i="0" u="none" strike="noStrike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>
                          <a:solidFill>
                            <a:srgbClr val="1C8F57"/>
                          </a:solidFill>
                          <a:effectLst/>
                        </a:rPr>
                        <a:t>3,147</a:t>
                      </a:r>
                      <a:endParaRPr lang="en-US" altLang="ko-KR" sz="900" b="1" i="0" u="none" strike="noStrike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9,891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008207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매입채무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843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298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257393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단기차입금</a:t>
                      </a: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347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292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250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637722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전환사채 및 </a:t>
                      </a: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신주인수권부사채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8,886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076477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기타유동부채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3,286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2,558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756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288806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비유동부채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584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1,465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210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646193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장기차입금</a:t>
                      </a: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417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965309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신주인수권부사채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1,281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440796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기타비유동부채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167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184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210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845110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부채총계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5,060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>
                          <a:solidFill>
                            <a:srgbClr val="1C8F57"/>
                          </a:solidFill>
                          <a:effectLst/>
                        </a:rPr>
                        <a:t>4,612</a:t>
                      </a:r>
                      <a:endParaRPr lang="en-US" altLang="ko-KR" sz="900" b="1" i="0" u="none" strike="noStrike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>
                          <a:solidFill>
                            <a:srgbClr val="1C8F57"/>
                          </a:solidFill>
                          <a:effectLst/>
                        </a:rPr>
                        <a:t>10,101</a:t>
                      </a:r>
                      <a:endParaRPr lang="en-US" altLang="ko-KR" sz="900" b="1" i="0" u="none" strike="noStrike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821595"/>
                  </a:ext>
                </a:extLst>
              </a:tr>
              <a:tr h="2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자본총계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>
                          <a:solidFill>
                            <a:srgbClr val="1C8F57"/>
                          </a:solidFill>
                          <a:effectLst/>
                        </a:rPr>
                        <a:t>3,705</a:t>
                      </a:r>
                      <a:endParaRPr lang="en-US" altLang="ko-KR" sz="900" b="1" i="0" u="none" strike="noStrike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6,261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10,877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867953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3A5D9D0-3B94-B88D-6874-0026B5070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363772"/>
              </p:ext>
            </p:extLst>
          </p:nvPr>
        </p:nvGraphicFramePr>
        <p:xfrm>
          <a:off x="5061000" y="1196974"/>
          <a:ext cx="4392000" cy="47520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4740936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75321320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426234545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4172933058"/>
                    </a:ext>
                  </a:extLst>
                </a:gridCol>
              </a:tblGrid>
              <a:tr h="2169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단위</a:t>
                      </a: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백만원</a:t>
                      </a:r>
                      <a:r>
                        <a:rPr lang="en-US" altLang="ko-KR" sz="90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ko-KR" sz="9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2022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2023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</a:rPr>
                        <a:t>2024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57660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매출액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15,676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19,023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21,594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750078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제품매출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15,675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19,023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21,594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75821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상품매출</a:t>
                      </a: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853981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매출원가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10,487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14,011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16,027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338989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제품매출원가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10,487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 dirty="0">
                          <a:effectLst/>
                        </a:rPr>
                        <a:t>14,011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16,027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257096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매출총이익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5,189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5,013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5,568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07752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%GP</a:t>
                      </a:r>
                      <a:endParaRPr lang="en-US" sz="9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33%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26%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26%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69576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판관비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2,300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2,786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2,947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183225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인건비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640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496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430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887345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물류비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1,222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1,527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1,838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277603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상각비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103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286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186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37254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기타판관비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335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477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494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57188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영업이익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2,889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2,227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2,620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82548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%OP</a:t>
                      </a:r>
                      <a:endParaRPr lang="en-US" sz="9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18%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12%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12%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710209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당기순이익</a:t>
                      </a:r>
                      <a:endParaRPr lang="ko-KR" alt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2,598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2,039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2,083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709552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%NI</a:t>
                      </a:r>
                      <a:endParaRPr lang="en-US" sz="9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17%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11%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10%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765954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상각비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214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423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u="none" strike="noStrike">
                          <a:effectLst/>
                        </a:rPr>
                        <a:t>418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380209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baseline="0" dirty="0">
                          <a:solidFill>
                            <a:srgbClr val="1C8F57"/>
                          </a:solidFill>
                          <a:effectLst/>
                          <a:latin typeface="+mn-lt"/>
                          <a:ea typeface="+mn-ea"/>
                        </a:rPr>
                        <a:t>EBITDA</a:t>
                      </a:r>
                      <a:endParaRPr lang="en-US" sz="900" b="1" i="0" u="none" strike="noStrike" baseline="0" dirty="0">
                        <a:solidFill>
                          <a:srgbClr val="1C8F5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3,103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2,650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1" u="none" strike="noStrike" dirty="0">
                          <a:solidFill>
                            <a:srgbClr val="1C8F57"/>
                          </a:solidFill>
                          <a:effectLst/>
                        </a:rPr>
                        <a:t>3,038</a:t>
                      </a:r>
                      <a:endParaRPr lang="en-US" altLang="ko-KR" sz="900" b="1" i="0" u="none" strike="noStrike" dirty="0">
                        <a:solidFill>
                          <a:srgbClr val="1C8F57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76191"/>
                  </a:ext>
                </a:extLst>
              </a:tr>
              <a:tr h="238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i="1" u="none" strike="noStrike" baseline="0" dirty="0">
                          <a:solidFill>
                            <a:srgbClr val="26C260"/>
                          </a:solidFill>
                          <a:effectLst/>
                          <a:latin typeface="+mn-lt"/>
                          <a:ea typeface="+mn-ea"/>
                        </a:rPr>
                        <a:t>%EBITDA</a:t>
                      </a:r>
                      <a:endParaRPr lang="en-US" sz="900" b="0" i="1" u="none" strike="noStrike" baseline="0" dirty="0">
                        <a:solidFill>
                          <a:srgbClr val="26C26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20%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14%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i="1" u="none" strike="noStrike" dirty="0">
                          <a:solidFill>
                            <a:srgbClr val="26C260"/>
                          </a:solidFill>
                          <a:effectLst/>
                        </a:rPr>
                        <a:t>14%</a:t>
                      </a:r>
                      <a:endParaRPr lang="en-US" altLang="ko-KR" sz="900" b="0" i="1" u="none" strike="noStrike" dirty="0">
                        <a:solidFill>
                          <a:srgbClr val="26C26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478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5793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4466A0D-A6F9-1395-11A6-57117DE4E88A}"/>
              </a:ext>
            </a:extLst>
          </p:cNvPr>
          <p:cNvSpPr txBox="1"/>
          <p:nvPr/>
        </p:nvSpPr>
        <p:spPr>
          <a:xfrm>
            <a:off x="453000" y="5488949"/>
            <a:ext cx="1631857" cy="819776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 defTabSz="252000">
              <a:lnSpc>
                <a:spcPct val="110000"/>
              </a:lnSpc>
            </a:pPr>
            <a:r>
              <a:rPr lang="ko-KR" altLang="en-US" sz="1000" dirty="0">
                <a:solidFill>
                  <a:schemeClr val="bg1"/>
                </a:solidFill>
              </a:rPr>
              <a:t>서울특별시 강남구 테헤란로 </a:t>
            </a:r>
            <a:r>
              <a:rPr lang="en-US" altLang="ko-KR" sz="1000" dirty="0">
                <a:solidFill>
                  <a:schemeClr val="bg1"/>
                </a:solidFill>
              </a:rPr>
              <a:t>521</a:t>
            </a:r>
          </a:p>
          <a:p>
            <a:pPr algn="l" defTabSz="252000">
              <a:lnSpc>
                <a:spcPct val="110000"/>
              </a:lnSpc>
            </a:pPr>
            <a:r>
              <a:rPr lang="ko-KR" altLang="en-US" sz="1000" dirty="0" err="1">
                <a:solidFill>
                  <a:schemeClr val="bg1"/>
                </a:solidFill>
              </a:rPr>
              <a:t>파르나스타워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29</a:t>
            </a:r>
            <a:r>
              <a:rPr lang="ko-KR" altLang="en-US" sz="1000" dirty="0">
                <a:solidFill>
                  <a:schemeClr val="bg1"/>
                </a:solidFill>
              </a:rPr>
              <a:t>층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l" defTabSz="252000">
              <a:lnSpc>
                <a:spcPct val="110000"/>
              </a:lnSpc>
              <a:spcBef>
                <a:spcPts val="1200"/>
              </a:spcBef>
            </a:pPr>
            <a:r>
              <a:rPr lang="en-US" altLang="ko-KR" sz="1000" dirty="0">
                <a:solidFill>
                  <a:schemeClr val="bg1"/>
                </a:solidFill>
              </a:rPr>
              <a:t>Tel.		02 6953 9930</a:t>
            </a:r>
          </a:p>
          <a:p>
            <a:pPr algn="l" defTabSz="252000">
              <a:lnSpc>
                <a:spcPct val="110000"/>
              </a:lnSpc>
            </a:pPr>
            <a:r>
              <a:rPr lang="en-US" altLang="ko-KR" sz="1000" dirty="0">
                <a:solidFill>
                  <a:schemeClr val="bg1"/>
                </a:solidFill>
              </a:rPr>
              <a:t>Fax.		02 6442 9930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F90BD-16F3-1CE9-55EF-913FEE61DC9D}"/>
              </a:ext>
            </a:extLst>
          </p:cNvPr>
          <p:cNvSpPr txBox="1"/>
          <p:nvPr/>
        </p:nvSpPr>
        <p:spPr>
          <a:xfrm>
            <a:off x="453000" y="1269275"/>
            <a:ext cx="2106987" cy="68435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 defTabSz="180000">
              <a:lnSpc>
                <a:spcPct val="110000"/>
              </a:lnSpc>
              <a:spcAft>
                <a:spcPts val="1200"/>
              </a:spcAft>
            </a:pPr>
            <a:r>
              <a:rPr lang="ko-KR" altLang="en-US" sz="1200" b="1" dirty="0">
                <a:solidFill>
                  <a:schemeClr val="bg1"/>
                </a:solidFill>
              </a:rPr>
              <a:t>주식회사 </a:t>
            </a:r>
            <a:r>
              <a:rPr lang="ko-KR" altLang="en-US" sz="1200" b="1" dirty="0" err="1">
                <a:solidFill>
                  <a:schemeClr val="bg1"/>
                </a:solidFill>
              </a:rPr>
              <a:t>페트라브릿지파트너스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algn="l" defTabSz="180000">
              <a:lnSpc>
                <a:spcPct val="110000"/>
              </a:lnSpc>
            </a:pPr>
            <a:r>
              <a:rPr lang="ko-KR" altLang="en-US" sz="1000" b="1" dirty="0">
                <a:solidFill>
                  <a:schemeClr val="bg1"/>
                </a:solidFill>
              </a:rPr>
              <a:t>김  양  태</a:t>
            </a:r>
            <a:r>
              <a:rPr lang="en-US" altLang="ko-KR" sz="1000" b="1" dirty="0">
                <a:solidFill>
                  <a:schemeClr val="bg1"/>
                </a:solidFill>
              </a:rPr>
              <a:t>	</a:t>
            </a:r>
            <a:r>
              <a:rPr lang="ko-KR" altLang="en-US" sz="1000" dirty="0">
                <a:solidFill>
                  <a:schemeClr val="bg1"/>
                </a:solidFill>
              </a:rPr>
              <a:t>대표이사</a:t>
            </a:r>
            <a:r>
              <a:rPr lang="en-US" altLang="ko-KR" sz="1000" dirty="0">
                <a:solidFill>
                  <a:schemeClr val="bg1"/>
                </a:solidFill>
              </a:rPr>
              <a:t>		ytkim@amic.kr</a:t>
            </a:r>
          </a:p>
          <a:p>
            <a:pPr algn="l" defTabSz="180000">
              <a:lnSpc>
                <a:spcPct val="110000"/>
              </a:lnSpc>
            </a:pPr>
            <a:r>
              <a:rPr lang="ko-KR" altLang="en-US" sz="1000" b="1" dirty="0">
                <a:solidFill>
                  <a:schemeClr val="bg1"/>
                </a:solidFill>
              </a:rPr>
              <a:t>조  우  상</a:t>
            </a:r>
            <a:r>
              <a:rPr lang="en-US" altLang="ko-KR" sz="1000" b="1" dirty="0">
                <a:solidFill>
                  <a:schemeClr val="bg1"/>
                </a:solidFill>
              </a:rPr>
              <a:t>	</a:t>
            </a:r>
            <a:r>
              <a:rPr lang="ko-KR" altLang="en-US" sz="1000" dirty="0">
                <a:solidFill>
                  <a:schemeClr val="bg1"/>
                </a:solidFill>
              </a:rPr>
              <a:t>이사</a:t>
            </a:r>
            <a:r>
              <a:rPr lang="en-US" altLang="ko-KR" sz="1000" dirty="0">
                <a:solidFill>
                  <a:schemeClr val="bg1"/>
                </a:solidFill>
              </a:rPr>
              <a:t>			wsjo@amic.kr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D3D021F0-7408-9F7C-917B-23395D2DB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97" y="549275"/>
            <a:ext cx="272432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7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AMIC_PETRA">
      <a:dk1>
        <a:srgbClr val="2A2A2A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SUITE Heavy"/>
        <a:ea typeface="SUITE Heavy"/>
        <a:cs typeface=""/>
      </a:majorFont>
      <a:minorFont>
        <a:latin typeface="Pretendard"/>
        <a:ea typeface="Pretendar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3F1FF"/>
        </a:solidFill>
        <a:ln w="6350">
          <a:solidFill>
            <a:srgbClr val="6A6A6A"/>
          </a:solidFill>
        </a:ln>
      </a:spPr>
      <a:bodyPr lIns="0" tIns="0" rIns="0" bIns="0" rtlCol="0" anchor="ctr"/>
      <a:lstStyle>
        <a:defPPr algn="ctr">
          <a:defRPr sz="1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6A6A6A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defRPr sz="1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38319</TotalTime>
  <Words>4488</Words>
  <Application>Microsoft Office PowerPoint</Application>
  <PresentationFormat>A4 용지(210x297mm)</PresentationFormat>
  <Paragraphs>1165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Pretendard</vt:lpstr>
      <vt:lpstr>SUIT Medium</vt:lpstr>
      <vt:lpstr>SUITE Heavy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 WooSang</dc:creator>
  <cp:lastModifiedBy>Woosang Jo</cp:lastModifiedBy>
  <cp:revision>1019</cp:revision>
  <cp:lastPrinted>2025-12-22T07:04:28Z</cp:lastPrinted>
  <dcterms:created xsi:type="dcterms:W3CDTF">2025-05-07T02:47:43Z</dcterms:created>
  <dcterms:modified xsi:type="dcterms:W3CDTF">2026-02-19T13:20:31Z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2025-05-07T02:47:43Z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98aec3aa-eeb3-4a62-8855-86f648c2b350</vt:lpwstr>
  </property>
  <property fmtid="{D5CDD505-2E9C-101B-9397-08002B2CF9AE}" pid="7" name="MSIP_Label_defa4170-0d19-0005-0004-bc88714345d2_ActionId">
    <vt:lpwstr>32e90476-9ae9-4ff3-95c1-e213571716bc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